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17"/>
  </p:sldIdLst>
  <p:sldSz cx="16898112" cy="12435840" type="screen4x3"/>
  <p:notesSz cx="6858000" cy="9144000"/>
  <p:embeddedFontLst>
    <p:embeddedFont>
      <p:font typeface="Liberation Serif"/>
      <p:regular r:id="rIdEmbeddedFont1"/>
      <p:bold r:id="rIdEmbeddedFont2"/>
      <p:italic r:id="rIdEmbeddedFont3"/>
    </p:embeddedFont>
    <p:embeddedFont>
      <p:font typeface="DejaVu Sans"/>
      <p:regular r:id="rIdEmbeddedFont4"/>
      <p:bold r:id="rIdEmbeddedFont5"/>
    </p:embeddedFont>
    <p:embeddedFont>
      <p:font typeface="Liberation Sans"/>
      <p:regular r:id="rIdEmbeddedFont6"/>
      <p:bold r:id="rIdEmbeddedFont7"/>
    </p:embeddedFont>
    <p:embeddedFont>
      <p:font typeface="Comic Sans MS"/>
      <p:regular r:id="rIdEmbeddedFont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EmbeddedFont1" Type="http://schemas.openxmlformats.org/officeDocument/2006/relationships/font" Target="fonts/font1.fntdata"/><Relationship Id="rIdEmbeddedFont2" Type="http://schemas.openxmlformats.org/officeDocument/2006/relationships/font" Target="fonts/font2.fntdata"/><Relationship Id="rIdEmbeddedFont3" Type="http://schemas.openxmlformats.org/officeDocument/2006/relationships/font" Target="fonts/font3.fntdata"/><Relationship Id="rIdEmbeddedFont4" Type="http://schemas.openxmlformats.org/officeDocument/2006/relationships/font" Target="fonts/font4.fntdata"/><Relationship Id="rIdEmbeddedFont5" Type="http://schemas.openxmlformats.org/officeDocument/2006/relationships/font" Target="fonts/font5.fntdata"/><Relationship Id="rIdEmbeddedFont6" Type="http://schemas.openxmlformats.org/officeDocument/2006/relationships/font" Target="fonts/font6.fntdata"/><Relationship Id="rIdEmbeddedFont7" Type="http://schemas.openxmlformats.org/officeDocument/2006/relationships/font" Target="fonts/font7.fntdata"/><Relationship Id="rIdEmbeddedFont8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the supplied reference. All diagram text, frames, arrows, numbered steps and basic icons are editable PowerPoint objects. Photographs, model outputs and logos are individually embedded images. Canvas ratio: 1848:1360. Handwritten text font: Comic Sans MS; headings: Liberation Serif and DejaVu Sans.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hite canvas"/>
          <p:cNvSpPr/>
          <p:nvPr/>
        </p:nvSpPr>
        <p:spPr>
          <a:xfrm>
            <a:off x="0" y="0"/>
            <a:ext cx="16898112" cy="1243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ge 1 title"/>
          <p:cNvSpPr txBox="1"/>
          <p:nvPr/>
        </p:nvSpPr>
        <p:spPr>
          <a:xfrm>
            <a:off x="457200" y="22860"/>
            <a:ext cx="13587984" cy="6204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2124" b="1" i="0" u="none" spc="-90" kern="0" lang="en-US">
                <a:solidFill>
                  <a:srgbClr val="225F99"/>
                </a:solidFill>
                <a:latin typeface="DejaVu Sans"/>
              </a:rPr>
              <a:t>Stage 1 : Generating Metric-scale Camera, Video Depth, Object Category, Object Mask and Size</a:t>
            </a:r>
          </a:p>
        </p:txBody>
      </p:sp>
      <p:sp>
        <p:nvSpPr>
          <p:cNvPr id="4" name="Raw data collection container"/>
          <p:cNvSpPr/>
          <p:nvPr/>
        </p:nvSpPr>
        <p:spPr>
          <a:xfrm>
            <a:off x="365760" y="658368"/>
            <a:ext cx="4114800" cy="5010912"/>
          </a:xfrm>
          <a:prstGeom prst="roundRect">
            <a:avLst>
              <a:gd name="adj" fmla="val 6888"/>
            </a:avLst>
          </a:prstGeom>
          <a:solidFill>
            <a:srgbClr val="FFFFFF"/>
          </a:solidFill>
          <a:ln w="50292">
            <a:solidFill>
              <a:srgbClr val="CCCCCC"/>
            </a:solidFill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werful foundation models container"/>
          <p:cNvSpPr/>
          <p:nvPr/>
        </p:nvSpPr>
        <p:spPr>
          <a:xfrm>
            <a:off x="4745736" y="667512"/>
            <a:ext cx="3557016" cy="5020056"/>
          </a:xfrm>
          <a:prstGeom prst="roundRect">
            <a:avLst>
              <a:gd name="adj" fmla="val 7712"/>
            </a:avLst>
          </a:prstGeom>
          <a:solidFill>
            <a:srgbClr val="FFEBEB"/>
          </a:solidFill>
          <a:ln w="45719">
            <a:solidFill>
              <a:srgbClr val="FF9EA3"/>
            </a:solidFill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ta filter strategy container"/>
          <p:cNvSpPr/>
          <p:nvPr/>
        </p:nvSpPr>
        <p:spPr>
          <a:xfrm>
            <a:off x="8595360" y="667512"/>
            <a:ext cx="3703320" cy="2980944"/>
          </a:xfrm>
          <a:prstGeom prst="roundRect">
            <a:avLst>
              <a:gd name="adj" fmla="val 7668"/>
            </a:avLst>
          </a:prstGeom>
          <a:solidFill>
            <a:srgbClr val="F7FCF9"/>
          </a:solidFill>
          <a:ln w="41148">
            <a:solidFill>
              <a:srgbClr val="82A776"/>
            </a:solidFill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ving object recovery container"/>
          <p:cNvSpPr/>
          <p:nvPr/>
        </p:nvSpPr>
        <p:spPr>
          <a:xfrm>
            <a:off x="8613648" y="4014216"/>
            <a:ext cx="3685032" cy="1655064"/>
          </a:xfrm>
          <a:prstGeom prst="roundRect">
            <a:avLst>
              <a:gd name="adj" fmla="val 8287"/>
            </a:avLst>
          </a:prstGeom>
          <a:solidFill>
            <a:srgbClr val="F3F6F6"/>
          </a:solidFill>
          <a:ln w="45719">
            <a:solidFill>
              <a:srgbClr val="90BAE0"/>
            </a:solidFill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ynamic bundle adjustment outer frame"/>
          <p:cNvSpPr/>
          <p:nvPr/>
        </p:nvSpPr>
        <p:spPr>
          <a:xfrm>
            <a:off x="12618720" y="649224"/>
            <a:ext cx="4105656" cy="4983480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32004">
            <a:solidFill>
              <a:srgbClr val="FFDC70"/>
            </a:solidFill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ynamic bundle adjustment inner frame"/>
          <p:cNvSpPr/>
          <p:nvPr/>
        </p:nvSpPr>
        <p:spPr>
          <a:xfrm>
            <a:off x="12710160" y="777240"/>
            <a:ext cx="3950208" cy="4800600"/>
          </a:xfrm>
          <a:prstGeom prst="roundRect">
            <a:avLst>
              <a:gd name="adj" fmla="val 4398"/>
            </a:avLst>
          </a:prstGeom>
          <a:solidFill>
            <a:srgbClr val="FCF9F6"/>
          </a:solidFill>
          <a:ln w="11887">
            <a:solidFill>
              <a:srgbClr val="D8D4D0"/>
            </a:solidFill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2D dataset platform"/>
          <p:cNvSpPr/>
          <p:nvPr/>
        </p:nvSpPr>
        <p:spPr>
          <a:xfrm>
            <a:off x="402336" y="2093976"/>
            <a:ext cx="4041648" cy="73152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fcfcfc"/>
              </a:gs>
              <a:gs pos="100000">
                <a:srgbClr val="bcbcb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camel_photo" descr="camel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768096"/>
            <a:ext cx="1499616" cy="914400"/>
          </a:xfrm>
          <a:prstGeom prst="rect">
            <a:avLst/>
          </a:prstGeom>
        </p:spPr>
      </p:pic>
      <p:pic>
        <p:nvPicPr>
          <p:cNvPr id="12" name="bear_photo" descr="bear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1554480" cy="914400"/>
          </a:xfrm>
          <a:prstGeom prst="rect">
            <a:avLst/>
          </a:prstGeom>
        </p:spPr>
      </p:pic>
      <p:pic>
        <p:nvPicPr>
          <p:cNvPr id="13" name="bike_photo" descr="bike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417320"/>
            <a:ext cx="905256" cy="749808"/>
          </a:xfrm>
          <a:prstGeom prst="rect">
            <a:avLst/>
          </a:prstGeom>
        </p:spPr>
      </p:pic>
      <p:pic>
        <p:nvPicPr>
          <p:cNvPr id="14" name="rhino_photo" descr="rhino_ph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1655064"/>
            <a:ext cx="1773936" cy="905256"/>
          </a:xfrm>
          <a:prstGeom prst="rect">
            <a:avLst/>
          </a:prstGeom>
        </p:spPr>
      </p:pic>
      <p:pic>
        <p:nvPicPr>
          <p:cNvPr id="15" name="train_photo" descr="train_pho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144" y="2057400"/>
            <a:ext cx="1746504" cy="566928"/>
          </a:xfrm>
          <a:prstGeom prst="rect">
            <a:avLst/>
          </a:prstGeom>
        </p:spPr>
      </p:pic>
      <p:pic>
        <p:nvPicPr>
          <p:cNvPr id="16" name="dancer_photo" descr="dancer_phot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504" y="1335024"/>
            <a:ext cx="1563624" cy="905256"/>
          </a:xfrm>
          <a:prstGeom prst="rect">
            <a:avLst/>
          </a:prstGeom>
        </p:spPr>
      </p:pic>
      <p:sp>
        <p:nvSpPr>
          <p:cNvPr id="17" name="Dataset image icon frame"/>
          <p:cNvSpPr/>
          <p:nvPr/>
        </p:nvSpPr>
        <p:spPr>
          <a:xfrm>
            <a:off x="630936" y="2944368"/>
            <a:ext cx="292608" cy="251643"/>
          </a:xfrm>
          <a:prstGeom prst="rect">
            <a:avLst/>
          </a:prstGeom>
          <a:noFill/>
          <a:ln w="36576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ataset image icon sun"/>
          <p:cNvSpPr/>
          <p:nvPr/>
        </p:nvSpPr>
        <p:spPr>
          <a:xfrm>
            <a:off x="685800" y="2990088"/>
            <a:ext cx="64008" cy="64008"/>
          </a:xfrm>
          <a:prstGeom prst="ellipse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taset image icon mountains"/>
          <p:cNvSpPr/>
          <p:nvPr/>
        </p:nvSpPr>
        <p:spPr>
          <a:xfrm>
            <a:off x="658368" y="3054096"/>
            <a:ext cx="246888" cy="118872"/>
          </a:xfrm>
          <a:custGeom>
            <a:avLst/>
            <a:gdLst/>
            <a:ahLst/>
            <a:cxnLst/>
            <a:rect l="l" t="t" r="r" b="b"/>
            <a:pathLst>
              <a:path w="27" h="13">
                <a:moveTo>
                  <a:pt x="0" y="13"/>
                </a:moveTo>
                <a:lnTo>
                  <a:pt x="12" y="0"/>
                </a:lnTo>
                <a:lnTo>
                  <a:pt x="27" y="13"/>
                </a:lnTo>
                <a:close/>
              </a:path>
            </a:pathLst>
          </a:custGeom>
          <a:noFill/>
          <a:ln w="27432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aw 2D video datasets with GT"/>
          <p:cNvSpPr txBox="1"/>
          <p:nvPr/>
        </p:nvSpPr>
        <p:spPr>
          <a:xfrm>
            <a:off x="1042416" y="2813609"/>
            <a:ext cx="3103331" cy="5110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49" b="1" i="0" u="none" spc="0" kern="0" lang="en-US">
                <a:solidFill>
                  <a:srgbClr val="050505"/>
                </a:solidFill>
                <a:latin typeface="Liberation Serif"/>
              </a:rPr>
              <a:t>Raw 2D video datasets with GT</a:t>
            </a:r>
          </a:p>
        </p:txBody>
      </p:sp>
      <p:sp>
        <p:nvSpPr>
          <p:cNvPr id="21" name="instance mask &amp; semantic label"/>
          <p:cNvSpPr txBox="1"/>
          <p:nvPr/>
        </p:nvSpPr>
        <p:spPr>
          <a:xfrm>
            <a:off x="1042416" y="3069641"/>
            <a:ext cx="3096944" cy="5110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49" b="1" i="0" u="none" spc="0" kern="0" lang="en-US">
                <a:solidFill>
                  <a:srgbClr val="050505"/>
                </a:solidFill>
                <a:latin typeface="Liberation Serif"/>
              </a:rPr>
              <a:t>instance mask &amp; semantic label</a:t>
            </a:r>
          </a:p>
        </p:txBody>
      </p:sp>
      <p:sp>
        <p:nvSpPr>
          <p:cNvPr id="22" name="3D dataset platform"/>
          <p:cNvSpPr/>
          <p:nvPr/>
        </p:nvSpPr>
        <p:spPr>
          <a:xfrm>
            <a:off x="411480" y="4288536"/>
            <a:ext cx="4023360" cy="749808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fcfcfc"/>
              </a:gs>
              <a:gs pos="100000">
                <a:srgbClr val="bcbcb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dynamic_3D_dataset_1" descr="dynamic_3D_dataset_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" y="3931920"/>
            <a:ext cx="1152144" cy="1088136"/>
          </a:xfrm>
          <a:prstGeom prst="rect">
            <a:avLst/>
          </a:prstGeom>
        </p:spPr>
      </p:pic>
      <p:pic>
        <p:nvPicPr>
          <p:cNvPr id="24" name="dynamic_3D_dataset_2" descr="dynamic_3D_dataset_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0472" y="3941064"/>
            <a:ext cx="1088136" cy="1078992"/>
          </a:xfrm>
          <a:prstGeom prst="rect">
            <a:avLst/>
          </a:prstGeom>
        </p:spPr>
      </p:pic>
      <p:pic>
        <p:nvPicPr>
          <p:cNvPr id="25" name="dynamic_3D_dataset_3" descr="dynamic_3D_dataset_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6584" y="3977640"/>
            <a:ext cx="1024128" cy="996696"/>
          </a:xfrm>
          <a:prstGeom prst="rect">
            <a:avLst/>
          </a:prstGeom>
        </p:spPr>
      </p:pic>
      <p:pic>
        <p:nvPicPr>
          <p:cNvPr id="26" name="dynamic_3D_dataset_4" descr="dynamic_3D_dataset_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8416" y="3867912"/>
            <a:ext cx="1014984" cy="1005840"/>
          </a:xfrm>
          <a:prstGeom prst="rect">
            <a:avLst/>
          </a:prstGeom>
        </p:spPr>
      </p:pic>
      <p:cxnSp>
        <p:nvCxnSpPr>
          <p:cNvPr id="27" name="Line"/>
          <p:cNvCxnSpPr/>
          <p:nvPr/>
        </p:nvCxnSpPr>
        <p:spPr>
          <a:xfrm>
            <a:off x="1078992" y="5221224"/>
            <a:ext cx="320040" cy="0"/>
          </a:xfrm>
          <a:prstGeom prst="line">
            <a:avLst/>
          </a:prstGeom>
          <a:ln w="36576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"/>
          <p:cNvSpPr/>
          <p:nvPr/>
        </p:nvSpPr>
        <p:spPr>
          <a:xfrm>
            <a:off x="1106424" y="5175504"/>
            <a:ext cx="91440" cy="91440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Line"/>
          <p:cNvCxnSpPr/>
          <p:nvPr/>
        </p:nvCxnSpPr>
        <p:spPr>
          <a:xfrm>
            <a:off x="1078992" y="5340096"/>
            <a:ext cx="320040" cy="0"/>
          </a:xfrm>
          <a:prstGeom prst="line">
            <a:avLst/>
          </a:prstGeom>
          <a:ln w="36576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lipse"/>
          <p:cNvSpPr/>
          <p:nvPr/>
        </p:nvSpPr>
        <p:spPr>
          <a:xfrm>
            <a:off x="1261872" y="5294376"/>
            <a:ext cx="91440" cy="91440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Line"/>
          <p:cNvCxnSpPr/>
          <p:nvPr/>
        </p:nvCxnSpPr>
        <p:spPr>
          <a:xfrm>
            <a:off x="1078992" y="5458968"/>
            <a:ext cx="320040" cy="0"/>
          </a:xfrm>
          <a:prstGeom prst="line">
            <a:avLst/>
          </a:prstGeom>
          <a:ln w="36576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lipse"/>
          <p:cNvSpPr/>
          <p:nvPr/>
        </p:nvSpPr>
        <p:spPr>
          <a:xfrm>
            <a:off x="1115568" y="5413248"/>
            <a:ext cx="91440" cy="91440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aw dynamic 3D datasets"/>
          <p:cNvSpPr txBox="1"/>
          <p:nvPr/>
        </p:nvSpPr>
        <p:spPr>
          <a:xfrm>
            <a:off x="1508760" y="5065776"/>
            <a:ext cx="2630700" cy="525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800" b="1" i="0" u="none" spc="0" kern="0" lang="en-US">
                <a:solidFill>
                  <a:srgbClr val="050505"/>
                </a:solidFill>
                <a:latin typeface="Liberation Serif"/>
              </a:rPr>
              <a:t>Raw dynamic 3D datasets</a:t>
            </a:r>
          </a:p>
        </p:txBody>
      </p:sp>
      <p:sp>
        <p:nvSpPr>
          <p:cNvPr id="34" name="with GT camera &amp; depth"/>
          <p:cNvSpPr txBox="1"/>
          <p:nvPr/>
        </p:nvSpPr>
        <p:spPr>
          <a:xfrm>
            <a:off x="1536192" y="5321808"/>
            <a:ext cx="2569178" cy="525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800" b="1" i="0" u="none" spc="0" kern="0" lang="en-US">
                <a:solidFill>
                  <a:srgbClr val="050505"/>
                </a:solidFill>
                <a:latin typeface="Liberation Serif"/>
              </a:rPr>
              <a:t>with GT camera &amp; depth</a:t>
            </a:r>
          </a:p>
        </p:txBody>
      </p:sp>
      <p:sp>
        <p:nvSpPr>
          <p:cNvPr id="35" name="UniDepth-V2 tile shadow"/>
          <p:cNvSpPr/>
          <p:nvPr/>
        </p:nvSpPr>
        <p:spPr>
          <a:xfrm>
            <a:off x="4956048" y="923544"/>
            <a:ext cx="1499616" cy="850392"/>
          </a:xfrm>
          <a:prstGeom prst="roundRect">
            <a:avLst>
              <a:gd name="adj" fmla="val 15053"/>
            </a:avLst>
          </a:prstGeom>
          <a:solidFill>
            <a:srgbClr val="EEEEEE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model_UniDepth_V2" descr="model_UniDepth_V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6048" y="923544"/>
            <a:ext cx="1499616" cy="850392"/>
          </a:xfrm>
          <a:prstGeom prst="rect">
            <a:avLst/>
          </a:prstGeom>
        </p:spPr>
      </p:pic>
      <p:sp>
        <p:nvSpPr>
          <p:cNvPr id="37" name="UniDepth-V2"/>
          <p:cNvSpPr txBox="1"/>
          <p:nvPr/>
        </p:nvSpPr>
        <p:spPr>
          <a:xfrm>
            <a:off x="5067462" y="1742846"/>
            <a:ext cx="1386516" cy="5131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56" b="1" i="0" u="none" spc="0" kern="0" lang="en-US">
                <a:solidFill>
                  <a:srgbClr val="050505"/>
                </a:solidFill>
                <a:latin typeface="Liberation Serif"/>
              </a:rPr>
              <a:t>UniDepth-V2</a:t>
            </a:r>
          </a:p>
        </p:txBody>
      </p:sp>
      <p:sp>
        <p:nvSpPr>
          <p:cNvPr id="38" name="SegAnyMo tile shadow"/>
          <p:cNvSpPr/>
          <p:nvPr/>
        </p:nvSpPr>
        <p:spPr>
          <a:xfrm>
            <a:off x="6592824" y="923544"/>
            <a:ext cx="1508760" cy="850392"/>
          </a:xfrm>
          <a:prstGeom prst="roundRect">
            <a:avLst>
              <a:gd name="adj" fmla="val 15053"/>
            </a:avLst>
          </a:prstGeom>
          <a:solidFill>
            <a:srgbClr val="EEEEEE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model_SegAnyMo" descr="model_SegAnyM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2824" y="923544"/>
            <a:ext cx="1508760" cy="850392"/>
          </a:xfrm>
          <a:prstGeom prst="rect">
            <a:avLst/>
          </a:prstGeom>
        </p:spPr>
      </p:pic>
      <p:sp>
        <p:nvSpPr>
          <p:cNvPr id="40" name="SegAnyMo"/>
          <p:cNvSpPr txBox="1"/>
          <p:nvPr/>
        </p:nvSpPr>
        <p:spPr>
          <a:xfrm>
            <a:off x="6815845" y="1742846"/>
            <a:ext cx="1163303" cy="5131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56" b="1" i="0" u="none" spc="0" kern="0" lang="en-US">
                <a:solidFill>
                  <a:srgbClr val="050505"/>
                </a:solidFill>
                <a:latin typeface="Liberation Serif"/>
              </a:rPr>
              <a:t>SegAnyMo</a:t>
            </a:r>
          </a:p>
        </p:txBody>
      </p:sp>
      <p:sp>
        <p:nvSpPr>
          <p:cNvPr id="41" name="UniMatch tile shadow"/>
          <p:cNvSpPr/>
          <p:nvPr/>
        </p:nvSpPr>
        <p:spPr>
          <a:xfrm>
            <a:off x="4965192" y="2112264"/>
            <a:ext cx="1490472" cy="859536"/>
          </a:xfrm>
          <a:prstGeom prst="roundRect">
            <a:avLst>
              <a:gd name="adj" fmla="val 14893"/>
            </a:avLst>
          </a:prstGeom>
          <a:solidFill>
            <a:srgbClr val="EEEEEE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model_UniMatch" descr="model_UniMatc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65192" y="2112264"/>
            <a:ext cx="1490472" cy="859536"/>
          </a:xfrm>
          <a:prstGeom prst="rect">
            <a:avLst/>
          </a:prstGeom>
        </p:spPr>
      </p:pic>
      <p:sp>
        <p:nvSpPr>
          <p:cNvPr id="43" name="UniMatch"/>
          <p:cNvSpPr txBox="1"/>
          <p:nvPr/>
        </p:nvSpPr>
        <p:spPr>
          <a:xfrm>
            <a:off x="5222481" y="2931566"/>
            <a:ext cx="1076477" cy="5131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56" b="1" i="0" u="none" spc="0" kern="0" lang="en-US">
                <a:solidFill>
                  <a:srgbClr val="050505"/>
                </a:solidFill>
                <a:latin typeface="Liberation Serif"/>
              </a:rPr>
              <a:t>UniMatch</a:t>
            </a:r>
          </a:p>
        </p:txBody>
      </p:sp>
      <p:sp>
        <p:nvSpPr>
          <p:cNvPr id="44" name="CoTracker-V3 tile shadow"/>
          <p:cNvSpPr/>
          <p:nvPr/>
        </p:nvSpPr>
        <p:spPr>
          <a:xfrm>
            <a:off x="6611112" y="2112264"/>
            <a:ext cx="1499616" cy="859536"/>
          </a:xfrm>
          <a:prstGeom prst="roundRect">
            <a:avLst>
              <a:gd name="adj" fmla="val 14893"/>
            </a:avLst>
          </a:prstGeom>
          <a:solidFill>
            <a:srgbClr val="EEEEEE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model_CoTracker_V3" descr="model_CoTracker_V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1112" y="2112264"/>
            <a:ext cx="1499616" cy="859536"/>
          </a:xfrm>
          <a:prstGeom prst="rect">
            <a:avLst/>
          </a:prstGeom>
        </p:spPr>
      </p:pic>
      <p:sp>
        <p:nvSpPr>
          <p:cNvPr id="46" name="CoTracker-V3"/>
          <p:cNvSpPr txBox="1"/>
          <p:nvPr/>
        </p:nvSpPr>
        <p:spPr>
          <a:xfrm>
            <a:off x="6673227" y="2949854"/>
            <a:ext cx="1485114" cy="5131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56" b="1" i="0" u="none" spc="0" kern="0" lang="en-US">
                <a:solidFill>
                  <a:srgbClr val="050505"/>
                </a:solidFill>
                <a:latin typeface="Liberation Serif"/>
              </a:rPr>
              <a:t>CoTracker-V3</a:t>
            </a:r>
          </a:p>
        </p:txBody>
      </p:sp>
      <p:sp>
        <p:nvSpPr>
          <p:cNvPr id="47" name="SAM2 &amp; Variants tile shadow"/>
          <p:cNvSpPr/>
          <p:nvPr/>
        </p:nvSpPr>
        <p:spPr>
          <a:xfrm>
            <a:off x="4956048" y="3310128"/>
            <a:ext cx="1499616" cy="850392"/>
          </a:xfrm>
          <a:prstGeom prst="roundRect">
            <a:avLst>
              <a:gd name="adj" fmla="val 15053"/>
            </a:avLst>
          </a:prstGeom>
          <a:solidFill>
            <a:srgbClr val="EEEEEE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model_SAM2_Variants" descr="model_SAM2_Variant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6048" y="3310128"/>
            <a:ext cx="1499616" cy="850392"/>
          </a:xfrm>
          <a:prstGeom prst="rect">
            <a:avLst/>
          </a:prstGeom>
        </p:spPr>
      </p:pic>
      <p:sp>
        <p:nvSpPr>
          <p:cNvPr id="49" name="SAM2 &amp; Variants"/>
          <p:cNvSpPr txBox="1"/>
          <p:nvPr/>
        </p:nvSpPr>
        <p:spPr>
          <a:xfrm>
            <a:off x="4850499" y="4138574"/>
            <a:ext cx="1820442" cy="5131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56" b="1" i="0" u="none" spc="0" kern="0" lang="en-US">
                <a:solidFill>
                  <a:srgbClr val="050505"/>
                </a:solidFill>
                <a:latin typeface="Liberation Serif"/>
              </a:rPr>
              <a:t>SAM2 &amp; Variants</a:t>
            </a:r>
          </a:p>
        </p:txBody>
      </p:sp>
      <p:sp>
        <p:nvSpPr>
          <p:cNvPr id="50" name="VGGT tile shadow"/>
          <p:cNvSpPr/>
          <p:nvPr/>
        </p:nvSpPr>
        <p:spPr>
          <a:xfrm>
            <a:off x="6611112" y="3310128"/>
            <a:ext cx="1508760" cy="850392"/>
          </a:xfrm>
          <a:prstGeom prst="roundRect">
            <a:avLst>
              <a:gd name="adj" fmla="val 15053"/>
            </a:avLst>
          </a:prstGeom>
          <a:solidFill>
            <a:srgbClr val="EEEEEE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model_VGGT" descr="model_VGG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1112" y="3310128"/>
            <a:ext cx="1508760" cy="850392"/>
          </a:xfrm>
          <a:prstGeom prst="rect">
            <a:avLst/>
          </a:prstGeom>
        </p:spPr>
      </p:pic>
      <p:sp>
        <p:nvSpPr>
          <p:cNvPr id="52" name="VGGT"/>
          <p:cNvSpPr txBox="1"/>
          <p:nvPr/>
        </p:nvSpPr>
        <p:spPr>
          <a:xfrm>
            <a:off x="7032400" y="4156862"/>
            <a:ext cx="766767" cy="5131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56" b="1" i="0" u="none" spc="0" kern="0" lang="en-US">
                <a:solidFill>
                  <a:srgbClr val="050505"/>
                </a:solidFill>
                <a:latin typeface="Liberation Serif"/>
              </a:rPr>
              <a:t>VGGT</a:t>
            </a:r>
          </a:p>
        </p:txBody>
      </p:sp>
      <p:sp>
        <p:nvSpPr>
          <p:cNvPr id="53" name="Epipolar Errors tile shadow"/>
          <p:cNvSpPr/>
          <p:nvPr/>
        </p:nvSpPr>
        <p:spPr>
          <a:xfrm>
            <a:off x="4956048" y="4507992"/>
            <a:ext cx="1545336" cy="850392"/>
          </a:xfrm>
          <a:prstGeom prst="roundRect">
            <a:avLst>
              <a:gd name="adj" fmla="val 15053"/>
            </a:avLst>
          </a:prstGeom>
          <a:solidFill>
            <a:srgbClr val="EEEEEE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model_Epipolar_Errors" descr="model_Epipolar_Error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6048" y="4507992"/>
            <a:ext cx="1545336" cy="850392"/>
          </a:xfrm>
          <a:prstGeom prst="rect">
            <a:avLst/>
          </a:prstGeom>
        </p:spPr>
      </p:pic>
      <p:sp>
        <p:nvSpPr>
          <p:cNvPr id="55" name="Epipolar Errors"/>
          <p:cNvSpPr txBox="1"/>
          <p:nvPr/>
        </p:nvSpPr>
        <p:spPr>
          <a:xfrm>
            <a:off x="4947440" y="5327294"/>
            <a:ext cx="1644848" cy="5131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56" b="1" i="0" u="none" spc="0" kern="0" lang="en-US">
                <a:solidFill>
                  <a:srgbClr val="050505"/>
                </a:solidFill>
                <a:latin typeface="Liberation Serif"/>
              </a:rPr>
              <a:t>Epipolar Errors</a:t>
            </a:r>
          </a:p>
        </p:txBody>
      </p:sp>
      <p:pic>
        <p:nvPicPr>
          <p:cNvPr id="56" name="Language_model_logos" descr="Language_model_logo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11112" y="4480560"/>
            <a:ext cx="1600200" cy="877824"/>
          </a:xfrm>
          <a:prstGeom prst="rect">
            <a:avLst/>
          </a:prstGeom>
        </p:spPr>
      </p:pic>
      <p:sp>
        <p:nvSpPr>
          <p:cNvPr id="57" name="Language Models"/>
          <p:cNvSpPr txBox="1"/>
          <p:nvPr/>
        </p:nvSpPr>
        <p:spPr>
          <a:xfrm>
            <a:off x="6536631" y="5337353"/>
            <a:ext cx="1794881" cy="5110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49" b="1" i="0" u="none" spc="0" kern="0" lang="en-US">
                <a:solidFill>
                  <a:srgbClr val="050505"/>
                </a:solidFill>
                <a:latin typeface="Liberation Serif"/>
              </a:rPr>
              <a:t>Language Models</a:t>
            </a:r>
          </a:p>
        </p:txBody>
      </p:sp>
      <p:sp>
        <p:nvSpPr>
          <p:cNvPr id="58" name="Step 1 circle"/>
          <p:cNvSpPr/>
          <p:nvPr/>
        </p:nvSpPr>
        <p:spPr>
          <a:xfrm>
            <a:off x="8878824" y="960120"/>
            <a:ext cx="329184" cy="329184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505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tep 1 number"/>
          <p:cNvSpPr txBox="1"/>
          <p:nvPr/>
        </p:nvSpPr>
        <p:spPr>
          <a:xfrm>
            <a:off x="8969350" y="940369"/>
            <a:ext cx="257861" cy="681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2332" b="0" i="1" u="none" spc="0" kern="0" lang="en-US">
                <a:solidFill>
                  <a:srgbClr val="050505"/>
                </a:solidFill>
                <a:latin typeface="Liberation Serif"/>
              </a:rPr>
              <a:t>1</a:t>
            </a:r>
          </a:p>
        </p:txBody>
      </p:sp>
      <p:sp>
        <p:nvSpPr>
          <p:cNvPr id="60" name="Proximal Depth Verification"/>
          <p:cNvSpPr txBox="1"/>
          <p:nvPr/>
        </p:nvSpPr>
        <p:spPr>
          <a:xfrm>
            <a:off x="9308592" y="960120"/>
            <a:ext cx="2751258" cy="504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28" b="1" i="0" u="none" spc="0" kern="0" lang="en-US">
                <a:solidFill>
                  <a:srgbClr val="050505"/>
                </a:solidFill>
                <a:latin typeface="Liberation Serif"/>
              </a:rPr>
              <a:t>Proximal Depth Verification</a:t>
            </a:r>
          </a:p>
        </p:txBody>
      </p:sp>
      <p:sp>
        <p:nvSpPr>
          <p:cNvPr id="61" name="Step 2 circle"/>
          <p:cNvSpPr/>
          <p:nvPr/>
        </p:nvSpPr>
        <p:spPr>
          <a:xfrm>
            <a:off x="8878824" y="1353312"/>
            <a:ext cx="329184" cy="329184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505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tep 2 number"/>
          <p:cNvSpPr txBox="1"/>
          <p:nvPr/>
        </p:nvSpPr>
        <p:spPr>
          <a:xfrm>
            <a:off x="8969350" y="1333561"/>
            <a:ext cx="257861" cy="681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2332" b="0" i="1" u="none" spc="0" kern="0" lang="en-US">
                <a:solidFill>
                  <a:srgbClr val="050505"/>
                </a:solidFill>
                <a:latin typeface="Liberation Serif"/>
              </a:rPr>
              <a:t>2</a:t>
            </a:r>
          </a:p>
        </p:txBody>
      </p:sp>
      <p:sp>
        <p:nvSpPr>
          <p:cNvPr id="63" name="Dynamic Object Coverage"/>
          <p:cNvSpPr txBox="1"/>
          <p:nvPr/>
        </p:nvSpPr>
        <p:spPr>
          <a:xfrm>
            <a:off x="9308592" y="1353312"/>
            <a:ext cx="2584052" cy="504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28" b="1" i="0" u="none" spc="0" kern="0" lang="en-US">
                <a:solidFill>
                  <a:srgbClr val="050505"/>
                </a:solidFill>
                <a:latin typeface="Liberation Serif"/>
              </a:rPr>
              <a:t>Dynamic Object Coverage</a:t>
            </a:r>
          </a:p>
        </p:txBody>
      </p:sp>
      <p:sp>
        <p:nvSpPr>
          <p:cNvPr id="64" name="Step 3 circle"/>
          <p:cNvSpPr/>
          <p:nvPr/>
        </p:nvSpPr>
        <p:spPr>
          <a:xfrm>
            <a:off x="8878824" y="1810512"/>
            <a:ext cx="329184" cy="329184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505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tep 3 number"/>
          <p:cNvSpPr txBox="1"/>
          <p:nvPr/>
        </p:nvSpPr>
        <p:spPr>
          <a:xfrm>
            <a:off x="8969350" y="1790761"/>
            <a:ext cx="257861" cy="681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2332" b="0" i="1" u="none" spc="0" kern="0" lang="en-US">
                <a:solidFill>
                  <a:srgbClr val="050505"/>
                </a:solidFill>
                <a:latin typeface="Liberation Serif"/>
              </a:rPr>
              <a:t>3</a:t>
            </a:r>
          </a:p>
        </p:txBody>
      </p:sp>
      <p:sp>
        <p:nvSpPr>
          <p:cNvPr id="66" name="Focal-Length Stability"/>
          <p:cNvSpPr txBox="1"/>
          <p:nvPr/>
        </p:nvSpPr>
        <p:spPr>
          <a:xfrm>
            <a:off x="9308592" y="1810512"/>
            <a:ext cx="2212962" cy="504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28" b="1" i="0" u="none" spc="0" kern="0" lang="en-US">
                <a:solidFill>
                  <a:srgbClr val="050505"/>
                </a:solidFill>
                <a:latin typeface="Liberation Serif"/>
              </a:rPr>
              <a:t>Focal-Length Stability</a:t>
            </a:r>
          </a:p>
        </p:txBody>
      </p:sp>
      <p:sp>
        <p:nvSpPr>
          <p:cNvPr id="67" name="Step 4 circle"/>
          <p:cNvSpPr/>
          <p:nvPr/>
        </p:nvSpPr>
        <p:spPr>
          <a:xfrm>
            <a:off x="8878824" y="2267712"/>
            <a:ext cx="329184" cy="329184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505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tep 4 number"/>
          <p:cNvSpPr txBox="1"/>
          <p:nvPr/>
        </p:nvSpPr>
        <p:spPr>
          <a:xfrm>
            <a:off x="8969350" y="2247961"/>
            <a:ext cx="257861" cy="681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2332" b="0" i="1" u="none" spc="0" kern="0" lang="en-US">
                <a:solidFill>
                  <a:srgbClr val="050505"/>
                </a:solidFill>
                <a:latin typeface="Liberation Serif"/>
              </a:rPr>
              <a:t>4</a:t>
            </a:r>
          </a:p>
        </p:txBody>
      </p:sp>
      <p:sp>
        <p:nvSpPr>
          <p:cNvPr id="69" name="Video Blur Degree"/>
          <p:cNvSpPr txBox="1"/>
          <p:nvPr/>
        </p:nvSpPr>
        <p:spPr>
          <a:xfrm>
            <a:off x="9308592" y="2267712"/>
            <a:ext cx="1836758" cy="504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28" b="1" i="0" u="none" spc="0" kern="0" lang="en-US">
                <a:solidFill>
                  <a:srgbClr val="050505"/>
                </a:solidFill>
                <a:latin typeface="Liberation Serif"/>
              </a:rPr>
              <a:t>Video Blur Degree</a:t>
            </a:r>
          </a:p>
        </p:txBody>
      </p:sp>
      <p:sp>
        <p:nvSpPr>
          <p:cNvPr id="70" name="Step 5 circle"/>
          <p:cNvSpPr/>
          <p:nvPr/>
        </p:nvSpPr>
        <p:spPr>
          <a:xfrm>
            <a:off x="8878824" y="2734056"/>
            <a:ext cx="329184" cy="329184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505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tep 5 number"/>
          <p:cNvSpPr txBox="1"/>
          <p:nvPr/>
        </p:nvSpPr>
        <p:spPr>
          <a:xfrm>
            <a:off x="8969350" y="2714305"/>
            <a:ext cx="257861" cy="681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2332" b="0" i="1" u="none" spc="0" kern="0" lang="en-US">
                <a:solidFill>
                  <a:srgbClr val="050505"/>
                </a:solidFill>
                <a:latin typeface="Liberation Serif"/>
              </a:rPr>
              <a:t>5</a:t>
            </a:r>
          </a:p>
        </p:txBody>
      </p:sp>
      <p:sp>
        <p:nvSpPr>
          <p:cNvPr id="72" name="Camera Motion Smoothness"/>
          <p:cNvSpPr txBox="1"/>
          <p:nvPr/>
        </p:nvSpPr>
        <p:spPr>
          <a:xfrm>
            <a:off x="9308592" y="2734056"/>
            <a:ext cx="2767503" cy="504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28" b="1" i="0" u="none" spc="0" kern="0" lang="en-US">
                <a:solidFill>
                  <a:srgbClr val="050505"/>
                </a:solidFill>
                <a:latin typeface="Liberation Serif"/>
              </a:rPr>
              <a:t>Camera Motion Smoothness</a:t>
            </a:r>
          </a:p>
        </p:txBody>
      </p:sp>
      <p:sp>
        <p:nvSpPr>
          <p:cNvPr id="73" name="Step 6 circle"/>
          <p:cNvSpPr/>
          <p:nvPr/>
        </p:nvSpPr>
        <p:spPr>
          <a:xfrm>
            <a:off x="8878824" y="3191256"/>
            <a:ext cx="329184" cy="329184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505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tep 6 number"/>
          <p:cNvSpPr txBox="1"/>
          <p:nvPr/>
        </p:nvSpPr>
        <p:spPr>
          <a:xfrm>
            <a:off x="8969350" y="3171505"/>
            <a:ext cx="257861" cy="681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2332" b="0" i="1" u="none" spc="0" kern="0" lang="en-US">
                <a:solidFill>
                  <a:srgbClr val="050505"/>
                </a:solidFill>
                <a:latin typeface="Liberation Serif"/>
              </a:rPr>
              <a:t>6</a:t>
            </a:r>
          </a:p>
        </p:txBody>
      </p:sp>
      <p:sp>
        <p:nvSpPr>
          <p:cNvPr id="75" name="VLM Judgement"/>
          <p:cNvSpPr txBox="1"/>
          <p:nvPr/>
        </p:nvSpPr>
        <p:spPr>
          <a:xfrm>
            <a:off x="9308592" y="3191256"/>
            <a:ext cx="1712943" cy="504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28" b="1" i="0" u="none" spc="0" kern="0" lang="en-US">
                <a:solidFill>
                  <a:srgbClr val="050505"/>
                </a:solidFill>
                <a:latin typeface="Liberation Serif"/>
              </a:rPr>
              <a:t>VLM Judgement</a:t>
            </a:r>
          </a:p>
        </p:txBody>
      </p:sp>
      <p:sp>
        <p:nvSpPr>
          <p:cNvPr id="76" name="Random forest tree"/>
          <p:cNvSpPr/>
          <p:nvPr/>
        </p:nvSpPr>
        <p:spPr>
          <a:xfrm>
            <a:off x="11576304" y="1938528"/>
            <a:ext cx="201168" cy="365760"/>
          </a:xfrm>
          <a:custGeom>
            <a:avLst/>
            <a:gdLst/>
            <a:ahLst/>
            <a:cxnLst/>
            <a:rect l="l" t="t" r="r" b="b"/>
            <a:pathLst>
              <a:path w="22" h="40">
                <a:moveTo>
                  <a:pt x="11" y="0"/>
                </a:moveTo>
                <a:lnTo>
                  <a:pt x="0" y="31"/>
                </a:lnTo>
                <a:lnTo>
                  <a:pt x="8" y="31"/>
                </a:lnTo>
                <a:lnTo>
                  <a:pt x="8" y="40"/>
                </a:lnTo>
                <a:lnTo>
                  <a:pt x="15" y="40"/>
                </a:lnTo>
                <a:lnTo>
                  <a:pt x="15" y="31"/>
                </a:lnTo>
                <a:lnTo>
                  <a:pt x="22" y="31"/>
                </a:lnTo>
                <a:close/>
              </a:path>
            </a:pathLst>
          </a:custGeom>
          <a:solidFill>
            <a:srgbClr val="FFFFFF"/>
          </a:solidFill>
          <a:ln w="27432">
            <a:solidFill>
              <a:srgbClr val="709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andom forest tree"/>
          <p:cNvSpPr/>
          <p:nvPr/>
        </p:nvSpPr>
        <p:spPr>
          <a:xfrm>
            <a:off x="11731752" y="1792224"/>
            <a:ext cx="274320" cy="493776"/>
          </a:xfrm>
          <a:custGeom>
            <a:avLst/>
            <a:gdLst/>
            <a:ahLst/>
            <a:cxnLst/>
            <a:rect l="l" t="t" r="r" b="b"/>
            <a:pathLst>
              <a:path w="30" h="54">
                <a:moveTo>
                  <a:pt x="15" y="0"/>
                </a:moveTo>
                <a:lnTo>
                  <a:pt x="0" y="42"/>
                </a:lnTo>
                <a:lnTo>
                  <a:pt x="11" y="42"/>
                </a:lnTo>
                <a:lnTo>
                  <a:pt x="11" y="54"/>
                </a:lnTo>
                <a:lnTo>
                  <a:pt x="20" y="54"/>
                </a:lnTo>
                <a:lnTo>
                  <a:pt x="20" y="42"/>
                </a:lnTo>
                <a:lnTo>
                  <a:pt x="30" y="42"/>
                </a:lnTo>
                <a:close/>
              </a:path>
            </a:pathLst>
          </a:custGeom>
          <a:solidFill>
            <a:srgbClr val="FFFFFF"/>
          </a:solidFill>
          <a:ln w="27432">
            <a:solidFill>
              <a:srgbClr val="709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andom forest tree"/>
          <p:cNvSpPr/>
          <p:nvPr/>
        </p:nvSpPr>
        <p:spPr>
          <a:xfrm>
            <a:off x="11932920" y="1911096"/>
            <a:ext cx="210312" cy="374904"/>
          </a:xfrm>
          <a:custGeom>
            <a:avLst/>
            <a:gdLst/>
            <a:ahLst/>
            <a:cxnLst/>
            <a:rect l="l" t="t" r="r" b="b"/>
            <a:pathLst>
              <a:path w="23" h="41">
                <a:moveTo>
                  <a:pt x="11" y="0"/>
                </a:moveTo>
                <a:lnTo>
                  <a:pt x="0" y="32"/>
                </a:lnTo>
                <a:lnTo>
                  <a:pt x="8" y="32"/>
                </a:lnTo>
                <a:lnTo>
                  <a:pt x="8" y="41"/>
                </a:lnTo>
                <a:lnTo>
                  <a:pt x="15" y="41"/>
                </a:lnTo>
                <a:lnTo>
                  <a:pt x="15" y="32"/>
                </a:lnTo>
                <a:lnTo>
                  <a:pt x="23" y="32"/>
                </a:lnTo>
                <a:close/>
              </a:path>
            </a:pathLst>
          </a:custGeom>
          <a:solidFill>
            <a:srgbClr val="FFFFFF"/>
          </a:solidFill>
          <a:ln w="27432">
            <a:solidFill>
              <a:srgbClr val="709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andom"/>
          <p:cNvSpPr txBox="1"/>
          <p:nvPr/>
        </p:nvSpPr>
        <p:spPr>
          <a:xfrm>
            <a:off x="11575247" y="2338944"/>
            <a:ext cx="733635" cy="40400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83" b="0" i="0" u="none" spc="0" kern="0" lang="en-US">
                <a:solidFill>
                  <a:srgbClr val="518663"/>
                </a:solidFill>
                <a:latin typeface="Comic Sans MS"/>
              </a:rPr>
              <a:t>Random</a:t>
            </a:r>
          </a:p>
        </p:txBody>
      </p:sp>
      <p:sp>
        <p:nvSpPr>
          <p:cNvPr id="80" name="forest"/>
          <p:cNvSpPr txBox="1"/>
          <p:nvPr/>
        </p:nvSpPr>
        <p:spPr>
          <a:xfrm>
            <a:off x="11622053" y="2549256"/>
            <a:ext cx="640023" cy="40400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83" b="0" i="0" u="none" spc="0" kern="0" lang="en-US">
                <a:solidFill>
                  <a:srgbClr val="518663"/>
                </a:solidFill>
                <a:latin typeface="Comic Sans MS"/>
              </a:rPr>
              <a:t>forest</a:t>
            </a:r>
          </a:p>
        </p:txBody>
      </p:sp>
      <p:sp>
        <p:nvSpPr>
          <p:cNvPr id="81" name="Step 1 circle"/>
          <p:cNvSpPr/>
          <p:nvPr/>
        </p:nvSpPr>
        <p:spPr>
          <a:xfrm>
            <a:off x="8919972" y="4357116"/>
            <a:ext cx="228600" cy="2286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505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tep 1 number"/>
          <p:cNvSpPr txBox="1"/>
          <p:nvPr/>
        </p:nvSpPr>
        <p:spPr>
          <a:xfrm>
            <a:off x="8982837" y="4343400"/>
            <a:ext cx="212598" cy="4732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20" b="0" i="1" u="none" spc="0" kern="0" lang="en-US">
                <a:solidFill>
                  <a:srgbClr val="050505"/>
                </a:solidFill>
                <a:latin typeface="Liberation Serif"/>
              </a:rPr>
              <a:t>1</a:t>
            </a:r>
          </a:p>
        </p:txBody>
      </p:sp>
      <p:sp>
        <p:nvSpPr>
          <p:cNvPr id="83" name="VLM-based object recognition"/>
          <p:cNvSpPr txBox="1"/>
          <p:nvPr/>
        </p:nvSpPr>
        <p:spPr>
          <a:xfrm>
            <a:off x="9253728" y="4324198"/>
            <a:ext cx="2863186" cy="4858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63" b="1" i="0" u="none" spc="0" kern="0" lang="en-US">
                <a:solidFill>
                  <a:srgbClr val="050505"/>
                </a:solidFill>
                <a:latin typeface="Liberation Serif"/>
              </a:rPr>
              <a:t>VLM-based object recognition</a:t>
            </a:r>
          </a:p>
        </p:txBody>
      </p:sp>
      <p:sp>
        <p:nvSpPr>
          <p:cNvPr id="84" name="Step 2 circle"/>
          <p:cNvSpPr/>
          <p:nvPr/>
        </p:nvSpPr>
        <p:spPr>
          <a:xfrm>
            <a:off x="8919972" y="4768596"/>
            <a:ext cx="228600" cy="2286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505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tep 2 number"/>
          <p:cNvSpPr txBox="1"/>
          <p:nvPr/>
        </p:nvSpPr>
        <p:spPr>
          <a:xfrm>
            <a:off x="8982837" y="4754880"/>
            <a:ext cx="212598" cy="4732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20" b="0" i="1" u="none" spc="0" kern="0" lang="en-US">
                <a:solidFill>
                  <a:srgbClr val="050505"/>
                </a:solidFill>
                <a:latin typeface="Liberation Serif"/>
              </a:rPr>
              <a:t>2</a:t>
            </a:r>
          </a:p>
        </p:txBody>
      </p:sp>
      <p:sp>
        <p:nvSpPr>
          <p:cNvPr id="86" name="Semantic-based Segmentation"/>
          <p:cNvSpPr txBox="1"/>
          <p:nvPr/>
        </p:nvSpPr>
        <p:spPr>
          <a:xfrm>
            <a:off x="9253728" y="4735678"/>
            <a:ext cx="2814480" cy="4858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63" b="1" i="0" u="none" spc="0" kern="0" lang="en-US">
                <a:solidFill>
                  <a:srgbClr val="050505"/>
                </a:solidFill>
                <a:latin typeface="Liberation Serif"/>
              </a:rPr>
              <a:t>Semantic-based Segmentation</a:t>
            </a:r>
          </a:p>
        </p:txBody>
      </p:sp>
      <p:sp>
        <p:nvSpPr>
          <p:cNvPr id="87" name="Step 3 circle"/>
          <p:cNvSpPr/>
          <p:nvPr/>
        </p:nvSpPr>
        <p:spPr>
          <a:xfrm>
            <a:off x="8919972" y="5189220"/>
            <a:ext cx="228600" cy="2286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505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tep 3 number"/>
          <p:cNvSpPr txBox="1"/>
          <p:nvPr/>
        </p:nvSpPr>
        <p:spPr>
          <a:xfrm>
            <a:off x="8982837" y="5175504"/>
            <a:ext cx="212598" cy="4732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20" b="0" i="1" u="none" spc="0" kern="0" lang="en-US">
                <a:solidFill>
                  <a:srgbClr val="050505"/>
                </a:solidFill>
                <a:latin typeface="Liberation Serif"/>
              </a:rPr>
              <a:t>3</a:t>
            </a:r>
          </a:p>
        </p:txBody>
      </p:sp>
      <p:sp>
        <p:nvSpPr>
          <p:cNvPr id="89" name="Physical-aware Size Extraction"/>
          <p:cNvSpPr txBox="1"/>
          <p:nvPr/>
        </p:nvSpPr>
        <p:spPr>
          <a:xfrm>
            <a:off x="9253728" y="5156302"/>
            <a:ext cx="2909907" cy="4858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63" b="1" i="0" u="none" spc="0" kern="0" lang="en-US">
                <a:solidFill>
                  <a:srgbClr val="050505"/>
                </a:solidFill>
                <a:latin typeface="Liberation Serif"/>
              </a:rPr>
              <a:t>Physical-aware Size Extraction</a:t>
            </a:r>
          </a:p>
        </p:txBody>
      </p:sp>
      <p:sp>
        <p:nvSpPr>
          <p:cNvPr id="90" name="Dynamic Masking"/>
          <p:cNvSpPr/>
          <p:nvPr/>
        </p:nvSpPr>
        <p:spPr>
          <a:xfrm>
            <a:off x="12966192" y="978408"/>
            <a:ext cx="3410712" cy="585216"/>
          </a:xfrm>
          <a:prstGeom prst="roundRect">
            <a:avLst>
              <a:gd name="adj" fmla="val 9375"/>
            </a:avLst>
          </a:prstGeom>
          <a:solidFill>
            <a:srgbClr val="FFB500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ynamic Masking"/>
          <p:cNvSpPr txBox="1"/>
          <p:nvPr/>
        </p:nvSpPr>
        <p:spPr>
          <a:xfrm>
            <a:off x="13783237" y="1133856"/>
            <a:ext cx="1886350" cy="4837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55" b="1" i="0" u="none" spc="0" kern="0" lang="en-US">
                <a:solidFill>
                  <a:srgbClr val="FFFFFF"/>
                </a:solidFill>
                <a:latin typeface="Liberation Sans"/>
              </a:rPr>
              <a:t>Dynamic Masking</a:t>
            </a:r>
          </a:p>
        </p:txBody>
      </p:sp>
      <p:cxnSp>
        <p:nvCxnSpPr>
          <p:cNvPr id="92" name="Line"/>
          <p:cNvCxnSpPr/>
          <p:nvPr/>
        </p:nvCxnSpPr>
        <p:spPr>
          <a:xfrm>
            <a:off x="14666976" y="1572768"/>
            <a:ext cx="0" cy="128016"/>
          </a:xfrm>
          <a:prstGeom prst="line">
            <a:avLst/>
          </a:prstGeom>
          <a:ln w="27432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Downward process arrow"/>
          <p:cNvSpPr/>
          <p:nvPr/>
        </p:nvSpPr>
        <p:spPr>
          <a:xfrm>
            <a:off x="14612112" y="1682496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0" y="0"/>
                </a:moveTo>
                <a:lnTo>
                  <a:pt x="12" y="0"/>
                </a:lnTo>
                <a:lnTo>
                  <a:pt x="6" y="1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oarse Camera Initialization"/>
          <p:cNvSpPr/>
          <p:nvPr/>
        </p:nvSpPr>
        <p:spPr>
          <a:xfrm>
            <a:off x="12966192" y="1783080"/>
            <a:ext cx="3410712" cy="694944"/>
          </a:xfrm>
          <a:prstGeom prst="roundRect">
            <a:avLst>
              <a:gd name="adj" fmla="val 7894"/>
            </a:avLst>
          </a:prstGeom>
          <a:solidFill>
            <a:srgbClr val="DB982F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Coarse Camera Initialization"/>
          <p:cNvSpPr txBox="1"/>
          <p:nvPr/>
        </p:nvSpPr>
        <p:spPr>
          <a:xfrm>
            <a:off x="13263143" y="1993392"/>
            <a:ext cx="2926537" cy="4837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55" b="1" i="0" u="none" spc="0" kern="0" lang="en-US">
                <a:solidFill>
                  <a:srgbClr val="FFFFFF"/>
                </a:solidFill>
                <a:latin typeface="Liberation Sans"/>
              </a:rPr>
              <a:t>Coarse Camera Initialization</a:t>
            </a:r>
          </a:p>
        </p:txBody>
      </p:sp>
      <p:cxnSp>
        <p:nvCxnSpPr>
          <p:cNvPr id="96" name="Line"/>
          <p:cNvCxnSpPr/>
          <p:nvPr/>
        </p:nvCxnSpPr>
        <p:spPr>
          <a:xfrm>
            <a:off x="14666976" y="2487168"/>
            <a:ext cx="0" cy="146304"/>
          </a:xfrm>
          <a:prstGeom prst="line">
            <a:avLst/>
          </a:prstGeom>
          <a:ln w="27432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Downward process arrow"/>
          <p:cNvSpPr/>
          <p:nvPr/>
        </p:nvSpPr>
        <p:spPr>
          <a:xfrm>
            <a:off x="14612112" y="2615184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0" y="0"/>
                </a:moveTo>
                <a:lnTo>
                  <a:pt x="12" y="0"/>
                </a:lnTo>
                <a:lnTo>
                  <a:pt x="6" y="1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tatic Area / Bundle Adjustment"/>
          <p:cNvSpPr/>
          <p:nvPr/>
        </p:nvSpPr>
        <p:spPr>
          <a:xfrm>
            <a:off x="12966192" y="2715768"/>
            <a:ext cx="3410712" cy="694944"/>
          </a:xfrm>
          <a:prstGeom prst="roundRect">
            <a:avLst>
              <a:gd name="adj" fmla="val 7894"/>
            </a:avLst>
          </a:prstGeom>
          <a:solidFill>
            <a:srgbClr val="C77B11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tatic Area"/>
          <p:cNvSpPr txBox="1"/>
          <p:nvPr/>
        </p:nvSpPr>
        <p:spPr>
          <a:xfrm>
            <a:off x="14126037" y="2798064"/>
            <a:ext cx="1200750" cy="4837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55" b="1" i="0" u="none" spc="0" kern="0" lang="en-US">
                <a:solidFill>
                  <a:srgbClr val="FFFFFF"/>
                </a:solidFill>
                <a:latin typeface="Liberation Sans"/>
              </a:rPr>
              <a:t>Static Area</a:t>
            </a:r>
          </a:p>
        </p:txBody>
      </p:sp>
      <p:sp>
        <p:nvSpPr>
          <p:cNvPr id="100" name="Bundle Adjustment"/>
          <p:cNvSpPr txBox="1"/>
          <p:nvPr/>
        </p:nvSpPr>
        <p:spPr>
          <a:xfrm>
            <a:off x="13711507" y="3063240"/>
            <a:ext cx="2029811" cy="4837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55" b="1" i="0" u="none" spc="0" kern="0" lang="en-US">
                <a:solidFill>
                  <a:srgbClr val="FFFFFF"/>
                </a:solidFill>
                <a:latin typeface="Liberation Sans"/>
              </a:rPr>
              <a:t>Bundle Adjustment</a:t>
            </a:r>
          </a:p>
        </p:txBody>
      </p:sp>
      <p:cxnSp>
        <p:nvCxnSpPr>
          <p:cNvPr id="101" name="Line"/>
          <p:cNvCxnSpPr/>
          <p:nvPr/>
        </p:nvCxnSpPr>
        <p:spPr>
          <a:xfrm>
            <a:off x="14666976" y="3419856"/>
            <a:ext cx="0" cy="155448"/>
          </a:xfrm>
          <a:prstGeom prst="line">
            <a:avLst/>
          </a:prstGeom>
          <a:ln w="27432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Downward process arrow"/>
          <p:cNvSpPr/>
          <p:nvPr/>
        </p:nvSpPr>
        <p:spPr>
          <a:xfrm>
            <a:off x="14612112" y="3557016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0" y="0"/>
                </a:moveTo>
                <a:lnTo>
                  <a:pt x="12" y="0"/>
                </a:lnTo>
                <a:lnTo>
                  <a:pt x="6" y="1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Non-Rigid / Bundle Adjustment"/>
          <p:cNvSpPr/>
          <p:nvPr/>
        </p:nvSpPr>
        <p:spPr>
          <a:xfrm>
            <a:off x="12966192" y="3657600"/>
            <a:ext cx="3410712" cy="694944"/>
          </a:xfrm>
          <a:prstGeom prst="roundRect">
            <a:avLst>
              <a:gd name="adj" fmla="val 7894"/>
            </a:avLst>
          </a:prstGeom>
          <a:solidFill>
            <a:srgbClr val="A0602A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Non-Rigid"/>
          <p:cNvSpPr txBox="1"/>
          <p:nvPr/>
        </p:nvSpPr>
        <p:spPr>
          <a:xfrm>
            <a:off x="14169271" y="3739896"/>
            <a:ext cx="1114282" cy="4837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55" b="1" i="0" u="none" spc="0" kern="0" lang="en-US">
                <a:solidFill>
                  <a:srgbClr val="FFFFFF"/>
                </a:solidFill>
                <a:latin typeface="Liberation Sans"/>
              </a:rPr>
              <a:t>Non-Rigid</a:t>
            </a:r>
          </a:p>
        </p:txBody>
      </p:sp>
      <p:sp>
        <p:nvSpPr>
          <p:cNvPr id="105" name="Bundle Adjustment"/>
          <p:cNvSpPr txBox="1"/>
          <p:nvPr/>
        </p:nvSpPr>
        <p:spPr>
          <a:xfrm>
            <a:off x="13711507" y="4005072"/>
            <a:ext cx="2029811" cy="4837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55" b="1" i="0" u="none" spc="0" kern="0" lang="en-US">
                <a:solidFill>
                  <a:srgbClr val="FFFFFF"/>
                </a:solidFill>
                <a:latin typeface="Liberation Sans"/>
              </a:rPr>
              <a:t>Bundle Adjustment</a:t>
            </a:r>
          </a:p>
        </p:txBody>
      </p:sp>
      <p:cxnSp>
        <p:nvCxnSpPr>
          <p:cNvPr id="106" name="Line"/>
          <p:cNvCxnSpPr/>
          <p:nvPr/>
        </p:nvCxnSpPr>
        <p:spPr>
          <a:xfrm>
            <a:off x="14666976" y="4361688"/>
            <a:ext cx="0" cy="118872"/>
          </a:xfrm>
          <a:prstGeom prst="line">
            <a:avLst/>
          </a:prstGeom>
          <a:ln w="27432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Downward process arrow"/>
          <p:cNvSpPr/>
          <p:nvPr/>
        </p:nvSpPr>
        <p:spPr>
          <a:xfrm>
            <a:off x="14612112" y="4462272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0" y="0"/>
                </a:moveTo>
                <a:lnTo>
                  <a:pt x="12" y="0"/>
                </a:lnTo>
                <a:lnTo>
                  <a:pt x="6" y="1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liding Window / Global Refinement"/>
          <p:cNvSpPr/>
          <p:nvPr/>
        </p:nvSpPr>
        <p:spPr>
          <a:xfrm>
            <a:off x="12966192" y="4562856"/>
            <a:ext cx="3410712" cy="685800"/>
          </a:xfrm>
          <a:prstGeom prst="roundRect">
            <a:avLst>
              <a:gd name="adj" fmla="val 8000"/>
            </a:avLst>
          </a:prstGeom>
          <a:solidFill>
            <a:srgbClr val="665033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Sliding Window"/>
          <p:cNvSpPr txBox="1"/>
          <p:nvPr/>
        </p:nvSpPr>
        <p:spPr>
          <a:xfrm>
            <a:off x="13889779" y="4640580"/>
            <a:ext cx="1673266" cy="4837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55" b="1" i="0" u="none" spc="0" kern="0" lang="en-US">
                <a:solidFill>
                  <a:srgbClr val="FFFFFF"/>
                </a:solidFill>
                <a:latin typeface="Liberation Sans"/>
              </a:rPr>
              <a:t>Sliding Window</a:t>
            </a:r>
          </a:p>
        </p:txBody>
      </p:sp>
      <p:sp>
        <p:nvSpPr>
          <p:cNvPr id="110" name="Global Refinement"/>
          <p:cNvSpPr txBox="1"/>
          <p:nvPr/>
        </p:nvSpPr>
        <p:spPr>
          <a:xfrm>
            <a:off x="13742518" y="4905756"/>
            <a:ext cx="1967789" cy="4837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655" b="1" i="0" u="none" spc="0" kern="0" lang="en-US">
                <a:solidFill>
                  <a:srgbClr val="FFFFFF"/>
                </a:solidFill>
                <a:latin typeface="Liberation Sans"/>
              </a:rPr>
              <a:t>Global Refinement</a:t>
            </a:r>
          </a:p>
        </p:txBody>
      </p:sp>
      <p:sp>
        <p:nvSpPr>
          <p:cNvPr id="111" name="Raw data to foundation models"/>
          <p:cNvSpPr/>
          <p:nvPr/>
        </p:nvSpPr>
        <p:spPr>
          <a:xfrm>
            <a:off x="4434840" y="2971800"/>
            <a:ext cx="292608" cy="493776"/>
          </a:xfrm>
          <a:custGeom>
            <a:avLst/>
            <a:gdLst/>
            <a:ahLst/>
            <a:cxnLst/>
            <a:rect l="l" t="t" r="r" b="b"/>
            <a:pathLst>
              <a:path w="32" h="54">
                <a:moveTo>
                  <a:pt x="0" y="12"/>
                </a:moveTo>
                <a:lnTo>
                  <a:pt x="20" y="12"/>
                </a:lnTo>
                <a:lnTo>
                  <a:pt x="20" y="0"/>
                </a:lnTo>
                <a:lnTo>
                  <a:pt x="32" y="27"/>
                </a:lnTo>
                <a:lnTo>
                  <a:pt x="20" y="54"/>
                </a:lnTo>
                <a:lnTo>
                  <a:pt x="20" y="42"/>
                </a:lnTo>
                <a:lnTo>
                  <a:pt x="0" y="42"/>
                </a:lnTo>
                <a:close/>
              </a:path>
            </a:pathLst>
          </a:custGeom>
          <a:solidFill>
            <a:srgbClr val="BCB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oundation models to data filter"/>
          <p:cNvSpPr/>
          <p:nvPr/>
        </p:nvSpPr>
        <p:spPr>
          <a:xfrm>
            <a:off x="8266176" y="1965960"/>
            <a:ext cx="347472" cy="512064"/>
          </a:xfrm>
          <a:custGeom>
            <a:avLst/>
            <a:gdLst/>
            <a:ahLst/>
            <a:cxnLst/>
            <a:rect l="l" t="t" r="r" b="b"/>
            <a:pathLst>
              <a:path w="38" h="56">
                <a:moveTo>
                  <a:pt x="0" y="13"/>
                </a:moveTo>
                <a:lnTo>
                  <a:pt x="24" y="13"/>
                </a:lnTo>
                <a:lnTo>
                  <a:pt x="24" y="0"/>
                </a:lnTo>
                <a:lnTo>
                  <a:pt x="38" y="28"/>
                </a:lnTo>
                <a:lnTo>
                  <a:pt x="24" y="56"/>
                </a:lnTo>
                <a:lnTo>
                  <a:pt x="24" y="43"/>
                </a:lnTo>
                <a:lnTo>
                  <a:pt x="0" y="43"/>
                </a:lnTo>
                <a:close/>
              </a:path>
            </a:pathLst>
          </a:custGeom>
          <a:ln>
            <a:noFill/>
          </a:ln>
          <a:effectLst/>
          <a:gradFill>
            <a:gsLst>
              <a:gs pos="0">
                <a:srgbClr val="ffb0b5"/>
              </a:gs>
              <a:gs pos="100000">
                <a:srgbClr val="ff122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oundation models to object recovery"/>
          <p:cNvSpPr/>
          <p:nvPr/>
        </p:nvSpPr>
        <p:spPr>
          <a:xfrm>
            <a:off x="8302752" y="4471416"/>
            <a:ext cx="329184" cy="512064"/>
          </a:xfrm>
          <a:custGeom>
            <a:avLst/>
            <a:gdLst/>
            <a:ahLst/>
            <a:cxnLst/>
            <a:rect l="l" t="t" r="r" b="b"/>
            <a:pathLst>
              <a:path w="36" h="56">
                <a:moveTo>
                  <a:pt x="0" y="13"/>
                </a:moveTo>
                <a:lnTo>
                  <a:pt x="23" y="13"/>
                </a:lnTo>
                <a:lnTo>
                  <a:pt x="23" y="0"/>
                </a:lnTo>
                <a:lnTo>
                  <a:pt x="36" y="28"/>
                </a:lnTo>
                <a:lnTo>
                  <a:pt x="23" y="56"/>
                </a:lnTo>
                <a:lnTo>
                  <a:pt x="23" y="43"/>
                </a:lnTo>
                <a:lnTo>
                  <a:pt x="0" y="43"/>
                </a:lnTo>
                <a:close/>
              </a:path>
            </a:pathLst>
          </a:custGeom>
          <a:ln>
            <a:noFill/>
          </a:ln>
          <a:effectLst/>
          <a:gradFill>
            <a:gsLst>
              <a:gs pos="0">
                <a:srgbClr val="ffb0b5"/>
              </a:gs>
              <a:gs pos="100000">
                <a:srgbClr val="ff122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Data filter to bundle adjustment"/>
          <p:cNvSpPr/>
          <p:nvPr/>
        </p:nvSpPr>
        <p:spPr>
          <a:xfrm>
            <a:off x="12289536" y="2011680"/>
            <a:ext cx="338328" cy="521208"/>
          </a:xfrm>
          <a:custGeom>
            <a:avLst/>
            <a:gdLst/>
            <a:ahLst/>
            <a:cxnLst/>
            <a:rect l="l" t="t" r="r" b="b"/>
            <a:pathLst>
              <a:path w="37" h="57">
                <a:moveTo>
                  <a:pt x="0" y="13"/>
                </a:moveTo>
                <a:lnTo>
                  <a:pt x="23" y="13"/>
                </a:lnTo>
                <a:lnTo>
                  <a:pt x="23" y="0"/>
                </a:lnTo>
                <a:lnTo>
                  <a:pt x="37" y="28"/>
                </a:lnTo>
                <a:lnTo>
                  <a:pt x="23" y="57"/>
                </a:lnTo>
                <a:lnTo>
                  <a:pt x="23" y="44"/>
                </a:lnTo>
                <a:lnTo>
                  <a:pt x="0" y="44"/>
                </a:lnTo>
                <a:close/>
              </a:path>
            </a:pathLst>
          </a:custGeom>
          <a:ln>
            <a:noFill/>
          </a:ln>
          <a:effectLst/>
          <a:gradFill>
            <a:gsLst>
              <a:gs pos="0">
                <a:srgbClr val="9fc381"/>
              </a:gs>
              <a:gs pos="100000">
                <a:srgbClr val="49782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bject recovery to bundle adjustment"/>
          <p:cNvSpPr/>
          <p:nvPr/>
        </p:nvSpPr>
        <p:spPr>
          <a:xfrm>
            <a:off x="12289536" y="4489704"/>
            <a:ext cx="338328" cy="512064"/>
          </a:xfrm>
          <a:custGeom>
            <a:avLst/>
            <a:gdLst/>
            <a:ahLst/>
            <a:cxnLst/>
            <a:rect l="l" t="t" r="r" b="b"/>
            <a:pathLst>
              <a:path w="37" h="56">
                <a:moveTo>
                  <a:pt x="0" y="13"/>
                </a:moveTo>
                <a:lnTo>
                  <a:pt x="23" y="13"/>
                </a:lnTo>
                <a:lnTo>
                  <a:pt x="23" y="0"/>
                </a:lnTo>
                <a:lnTo>
                  <a:pt x="37" y="28"/>
                </a:lnTo>
                <a:lnTo>
                  <a:pt x="23" y="56"/>
                </a:lnTo>
                <a:lnTo>
                  <a:pt x="23" y="43"/>
                </a:lnTo>
                <a:lnTo>
                  <a:pt x="0" y="43"/>
                </a:lnTo>
                <a:close/>
              </a:path>
            </a:pathLst>
          </a:custGeom>
          <a:ln>
            <a:noFill/>
          </a:ln>
          <a:effectLst/>
          <a:gradFill>
            <a:gsLst>
              <a:gs pos="0">
                <a:srgbClr val="b2d1ec"/>
              </a:gs>
              <a:gs pos="100000">
                <a:srgbClr val="6c9bc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aw collection header background"/>
          <p:cNvSpPr/>
          <p:nvPr/>
        </p:nvSpPr>
        <p:spPr>
          <a:xfrm>
            <a:off x="1207008" y="438912"/>
            <a:ext cx="2441448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"/>
          <p:cNvSpPr/>
          <p:nvPr/>
        </p:nvSpPr>
        <p:spPr>
          <a:xfrm>
            <a:off x="1252728" y="539496"/>
            <a:ext cx="246888" cy="228600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llipse"/>
          <p:cNvSpPr/>
          <p:nvPr/>
        </p:nvSpPr>
        <p:spPr>
          <a:xfrm>
            <a:off x="1243584" y="676656"/>
            <a:ext cx="265176" cy="91440"/>
          </a:xfrm>
          <a:prstGeom prst="ellipse">
            <a:avLst/>
          </a:prstGeom>
          <a:solidFill>
            <a:srgbClr val="FFFFFF"/>
          </a:solidFill>
          <a:ln w="2194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llipse"/>
          <p:cNvSpPr/>
          <p:nvPr/>
        </p:nvSpPr>
        <p:spPr>
          <a:xfrm>
            <a:off x="1243584" y="621792"/>
            <a:ext cx="265176" cy="91440"/>
          </a:xfrm>
          <a:prstGeom prst="ellipse">
            <a:avLst/>
          </a:prstGeom>
          <a:solidFill>
            <a:srgbClr val="FFFFFF"/>
          </a:solidFill>
          <a:ln w="2194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llipse"/>
          <p:cNvSpPr/>
          <p:nvPr/>
        </p:nvSpPr>
        <p:spPr>
          <a:xfrm>
            <a:off x="1243584" y="566928"/>
            <a:ext cx="265176" cy="91440"/>
          </a:xfrm>
          <a:prstGeom prst="ellipse">
            <a:avLst/>
          </a:prstGeom>
          <a:solidFill>
            <a:srgbClr val="FFFFFF"/>
          </a:solidFill>
          <a:ln w="2194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llipse"/>
          <p:cNvSpPr/>
          <p:nvPr/>
        </p:nvSpPr>
        <p:spPr>
          <a:xfrm>
            <a:off x="1243584" y="484632"/>
            <a:ext cx="265176" cy="91440"/>
          </a:xfrm>
          <a:prstGeom prst="ellipse">
            <a:avLst/>
          </a:prstGeom>
          <a:solidFill>
            <a:srgbClr val="FFFFFF"/>
          </a:solidFill>
          <a:ln w="2194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aw Data Collection"/>
          <p:cNvSpPr txBox="1"/>
          <p:nvPr/>
        </p:nvSpPr>
        <p:spPr>
          <a:xfrm>
            <a:off x="1618488" y="484632"/>
            <a:ext cx="2128737" cy="525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800" b="1" i="0" u="none" spc="0" kern="0" lang="en-US">
                <a:solidFill>
                  <a:srgbClr val="050505"/>
                </a:solidFill>
                <a:latin typeface="Liberation Serif"/>
              </a:rPr>
              <a:t>Raw Data Collection</a:t>
            </a:r>
          </a:p>
        </p:txBody>
      </p:sp>
      <p:sp>
        <p:nvSpPr>
          <p:cNvPr id="123" name="Foundation model header background"/>
          <p:cNvSpPr/>
          <p:nvPr/>
        </p:nvSpPr>
        <p:spPr>
          <a:xfrm>
            <a:off x="4892040" y="429768"/>
            <a:ext cx="320954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4" name="Foundation_model_header_icon" descr="Foundation_model_header_ico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92040" y="429768"/>
            <a:ext cx="402336" cy="347472"/>
          </a:xfrm>
          <a:prstGeom prst="rect">
            <a:avLst/>
          </a:prstGeom>
        </p:spPr>
      </p:pic>
      <p:sp>
        <p:nvSpPr>
          <p:cNvPr id="125" name="Powerful Foundation Models"/>
          <p:cNvSpPr txBox="1"/>
          <p:nvPr/>
        </p:nvSpPr>
        <p:spPr>
          <a:xfrm>
            <a:off x="5303520" y="483718"/>
            <a:ext cx="2852185" cy="5068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35" b="1" i="0" u="none" spc="0" kern="0" lang="en-US">
                <a:solidFill>
                  <a:srgbClr val="050505"/>
                </a:solidFill>
                <a:latin typeface="Liberation Serif"/>
              </a:rPr>
              <a:t>Powerful Foundation Models</a:t>
            </a:r>
          </a:p>
        </p:txBody>
      </p:sp>
      <p:sp>
        <p:nvSpPr>
          <p:cNvPr id="126" name="Filter header background"/>
          <p:cNvSpPr/>
          <p:nvPr/>
        </p:nvSpPr>
        <p:spPr>
          <a:xfrm>
            <a:off x="9308592" y="420624"/>
            <a:ext cx="227685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ilter funnel icon"/>
          <p:cNvSpPr/>
          <p:nvPr/>
        </p:nvSpPr>
        <p:spPr>
          <a:xfrm>
            <a:off x="9317736" y="484632"/>
            <a:ext cx="192024" cy="246888"/>
          </a:xfrm>
          <a:custGeom>
            <a:avLst/>
            <a:gdLst/>
            <a:ahLst/>
            <a:cxnLst/>
            <a:rect l="l" t="t" r="r" b="b"/>
            <a:pathLst>
              <a:path w="21" h="27">
                <a:moveTo>
                  <a:pt x="0" y="0"/>
                </a:moveTo>
                <a:lnTo>
                  <a:pt x="7" y="0"/>
                </a:lnTo>
                <a:lnTo>
                  <a:pt x="21" y="16"/>
                </a:lnTo>
                <a:lnTo>
                  <a:pt x="21" y="27"/>
                </a:lnTo>
                <a:lnTo>
                  <a:pt x="14" y="27"/>
                </a:lnTo>
                <a:lnTo>
                  <a:pt x="1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Polygon"/>
          <p:cNvSpPr/>
          <p:nvPr/>
        </p:nvSpPr>
        <p:spPr>
          <a:xfrm>
            <a:off x="9473184" y="475488"/>
            <a:ext cx="91440" cy="45720"/>
          </a:xfrm>
          <a:custGeom>
            <a:avLst/>
            <a:gdLst/>
            <a:ahLst/>
            <a:cxnLst/>
            <a:rect l="l" t="t" r="r" b="b"/>
            <a:pathLst>
              <a:path w="10" h="5">
                <a:moveTo>
                  <a:pt x="0" y="0"/>
                </a:moveTo>
                <a:lnTo>
                  <a:pt x="10" y="0"/>
                </a:lnTo>
                <a:lnTo>
                  <a:pt x="5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Line"/>
          <p:cNvCxnSpPr/>
          <p:nvPr/>
        </p:nvCxnSpPr>
        <p:spPr>
          <a:xfrm>
            <a:off x="9372600" y="429768"/>
            <a:ext cx="210312" cy="210312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Data Filter Strategy"/>
          <p:cNvSpPr txBox="1"/>
          <p:nvPr/>
        </p:nvSpPr>
        <p:spPr>
          <a:xfrm>
            <a:off x="9628632" y="480060"/>
            <a:ext cx="2021667" cy="5152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64" b="1" i="0" u="none" spc="0" kern="0" lang="en-US">
                <a:solidFill>
                  <a:srgbClr val="050505"/>
                </a:solidFill>
                <a:latin typeface="Liberation Serif"/>
              </a:rPr>
              <a:t>Data Filter Strategy</a:t>
            </a:r>
          </a:p>
        </p:txBody>
      </p:sp>
      <p:sp>
        <p:nvSpPr>
          <p:cNvPr id="131" name="Object recovery header background"/>
          <p:cNvSpPr/>
          <p:nvPr/>
        </p:nvSpPr>
        <p:spPr>
          <a:xfrm>
            <a:off x="9098280" y="3840480"/>
            <a:ext cx="26974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Instance mask icon"/>
          <p:cNvSpPr/>
          <p:nvPr/>
        </p:nvSpPr>
        <p:spPr>
          <a:xfrm>
            <a:off x="9144000" y="3867912"/>
            <a:ext cx="192024" cy="210312"/>
          </a:xfrm>
          <a:custGeom>
            <a:avLst/>
            <a:gdLst/>
            <a:ahLst/>
            <a:cxnLst/>
            <a:rect l="l" t="t" r="r" b="b"/>
            <a:pathLst>
              <a:path w="21" h="23">
                <a:moveTo>
                  <a:pt x="0" y="8"/>
                </a:moveTo>
                <a:lnTo>
                  <a:pt x="12" y="0"/>
                </a:lnTo>
                <a:lnTo>
                  <a:pt x="21" y="5"/>
                </a:lnTo>
                <a:lnTo>
                  <a:pt x="21" y="23"/>
                </a:lnTo>
                <a:lnTo>
                  <a:pt x="0" y="23"/>
                </a:lnTo>
                <a:close/>
              </a:path>
            </a:pathLst>
          </a:custGeom>
          <a:noFill/>
          <a:ln w="14630">
            <a:solidFill>
              <a:srgbClr val="2929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Line"/>
          <p:cNvCxnSpPr/>
          <p:nvPr/>
        </p:nvCxnSpPr>
        <p:spPr>
          <a:xfrm flipV="1">
            <a:off x="9162288" y="3909974"/>
            <a:ext cx="154168" cy="168250"/>
          </a:xfrm>
          <a:prstGeom prst="line">
            <a:avLst/>
          </a:prstGeom>
          <a:ln w="9144">
            <a:solidFill>
              <a:srgbClr val="292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Line"/>
          <p:cNvCxnSpPr/>
          <p:nvPr/>
        </p:nvCxnSpPr>
        <p:spPr>
          <a:xfrm flipV="1">
            <a:off x="9162288" y="3896258"/>
            <a:ext cx="154168" cy="136246"/>
          </a:xfrm>
          <a:prstGeom prst="line">
            <a:avLst/>
          </a:prstGeom>
          <a:ln w="9144">
            <a:solidFill>
              <a:srgbClr val="292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Line"/>
          <p:cNvCxnSpPr/>
          <p:nvPr/>
        </p:nvCxnSpPr>
        <p:spPr>
          <a:xfrm flipV="1">
            <a:off x="9162288" y="3882542"/>
            <a:ext cx="154168" cy="104242"/>
          </a:xfrm>
          <a:prstGeom prst="line">
            <a:avLst/>
          </a:prstGeom>
          <a:ln w="9144">
            <a:solidFill>
              <a:srgbClr val="292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Line"/>
          <p:cNvCxnSpPr/>
          <p:nvPr/>
        </p:nvCxnSpPr>
        <p:spPr>
          <a:xfrm flipV="1">
            <a:off x="9162288" y="3868826"/>
            <a:ext cx="154168" cy="72238"/>
          </a:xfrm>
          <a:prstGeom prst="line">
            <a:avLst/>
          </a:prstGeom>
          <a:ln w="9144">
            <a:solidFill>
              <a:srgbClr val="2929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Moving Object Recovery"/>
          <p:cNvSpPr txBox="1"/>
          <p:nvPr/>
        </p:nvSpPr>
        <p:spPr>
          <a:xfrm>
            <a:off x="9400032" y="3834079"/>
            <a:ext cx="2518029" cy="5194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78" b="1" i="0" u="none" spc="0" kern="0" lang="en-US">
                <a:solidFill>
                  <a:srgbClr val="050505"/>
                </a:solidFill>
                <a:latin typeface="Liberation Serif"/>
              </a:rPr>
              <a:t>Moving Object Recovery</a:t>
            </a:r>
          </a:p>
        </p:txBody>
      </p:sp>
      <p:sp>
        <p:nvSpPr>
          <p:cNvPr id="138" name="Bundle adjustment header background"/>
          <p:cNvSpPr/>
          <p:nvPr/>
        </p:nvSpPr>
        <p:spPr>
          <a:xfrm>
            <a:off x="12920472" y="356616"/>
            <a:ext cx="341985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Bundle_adjustment_header_icon" descr="Bundle_adjustment_header_ico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938760" y="310896"/>
            <a:ext cx="521208" cy="448056"/>
          </a:xfrm>
          <a:prstGeom prst="rect">
            <a:avLst/>
          </a:prstGeom>
        </p:spPr>
      </p:pic>
      <p:sp>
        <p:nvSpPr>
          <p:cNvPr id="140" name="Dynamic Bundle Adjustment"/>
          <p:cNvSpPr txBox="1"/>
          <p:nvPr/>
        </p:nvSpPr>
        <p:spPr>
          <a:xfrm>
            <a:off x="13505688" y="483718"/>
            <a:ext cx="2840226" cy="5068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35" b="1" i="0" u="none" spc="0" kern="0" lang="en-US">
                <a:solidFill>
                  <a:srgbClr val="050505"/>
                </a:solidFill>
                <a:latin typeface="Liberation Serif"/>
              </a:rPr>
              <a:t>Dynamic Bundle Adjustment</a:t>
            </a:r>
          </a:p>
        </p:txBody>
      </p:sp>
      <p:cxnSp>
        <p:nvCxnSpPr>
          <p:cNvPr id="141" name="Divider shadow"/>
          <p:cNvCxnSpPr/>
          <p:nvPr/>
        </p:nvCxnSpPr>
        <p:spPr>
          <a:xfrm>
            <a:off x="82296" y="6153912"/>
            <a:ext cx="16815816" cy="0"/>
          </a:xfrm>
          <a:prstGeom prst="line">
            <a:avLst/>
          </a:prstGeom>
          <a:ln w="82296">
            <a:solidFill>
              <a:srgbClr val="C7C7C7"/>
            </a:solidFill>
            <a:custDash>
              <a:ds d="388889" sp="277778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age divider"/>
          <p:cNvCxnSpPr/>
          <p:nvPr/>
        </p:nvCxnSpPr>
        <p:spPr>
          <a:xfrm>
            <a:off x="82296" y="6126480"/>
            <a:ext cx="16815816" cy="0"/>
          </a:xfrm>
          <a:prstGeom prst="line">
            <a:avLst/>
          </a:prstGeom>
          <a:ln w="73152">
            <a:solidFill>
              <a:srgbClr val="777777"/>
            </a:solidFill>
            <a:custDash>
              <a:ds d="437500" sp="3125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Stage 2 title"/>
          <p:cNvSpPr txBox="1"/>
          <p:nvPr/>
        </p:nvSpPr>
        <p:spPr>
          <a:xfrm>
            <a:off x="466344" y="6263640"/>
            <a:ext cx="13469112" cy="6099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2088" b="1" i="0" u="none" spc="-70" kern="0" lang="en-US">
                <a:solidFill>
                  <a:srgbClr val="397F22"/>
                </a:solidFill>
                <a:latin typeface="DejaVu Sans"/>
              </a:rPr>
              <a:t>Stage 2 : Generating Fine-grained Captions For Moving Objects, Cameras and Dynamic Scenes</a:t>
            </a:r>
          </a:p>
        </p:txBody>
      </p:sp>
      <p:sp>
        <p:nvSpPr>
          <p:cNvPr id="144" name="Moving object caption container"/>
          <p:cNvSpPr/>
          <p:nvPr/>
        </p:nvSpPr>
        <p:spPr>
          <a:xfrm>
            <a:off x="374904" y="6894576"/>
            <a:ext cx="6894576" cy="5522976"/>
          </a:xfrm>
          <a:prstGeom prst="roundRect">
            <a:avLst>
              <a:gd name="adj" fmla="val 6953"/>
            </a:avLst>
          </a:prstGeom>
          <a:solidFill>
            <a:srgbClr val="FFFFFF"/>
          </a:solidFill>
          <a:ln w="45719">
            <a:solidFill>
              <a:srgbClr val="ADADAD"/>
            </a:solidFill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Dynamic scene caption container"/>
          <p:cNvSpPr/>
          <p:nvPr/>
        </p:nvSpPr>
        <p:spPr>
          <a:xfrm>
            <a:off x="7488936" y="6885432"/>
            <a:ext cx="6071616" cy="5532120"/>
          </a:xfrm>
          <a:prstGeom prst="roundRect">
            <a:avLst>
              <a:gd name="adj" fmla="val 3801"/>
            </a:avLst>
          </a:prstGeom>
          <a:solidFill>
            <a:srgbClr val="FFFFFF"/>
          </a:solidFill>
          <a:ln w="50292">
            <a:solidFill>
              <a:srgbClr val="AFADCE"/>
            </a:solidFill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Camera motion caption container"/>
          <p:cNvSpPr/>
          <p:nvPr/>
        </p:nvSpPr>
        <p:spPr>
          <a:xfrm>
            <a:off x="13844016" y="6922008"/>
            <a:ext cx="2935224" cy="5495544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 w="41148">
            <a:solidFill>
              <a:srgbClr val="EEE0EF"/>
            </a:solidFill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Moving object caption to dynamic scene caption"/>
          <p:cNvSpPr/>
          <p:nvPr/>
        </p:nvSpPr>
        <p:spPr>
          <a:xfrm>
            <a:off x="7242048" y="9208008"/>
            <a:ext cx="283464" cy="512064"/>
          </a:xfrm>
          <a:custGeom>
            <a:avLst/>
            <a:gdLst/>
            <a:ahLst/>
            <a:cxnLst/>
            <a:rect l="l" t="t" r="r" b="b"/>
            <a:pathLst>
              <a:path w="31" h="56">
                <a:moveTo>
                  <a:pt x="0" y="13"/>
                </a:moveTo>
                <a:lnTo>
                  <a:pt x="20" y="13"/>
                </a:lnTo>
                <a:lnTo>
                  <a:pt x="20" y="0"/>
                </a:lnTo>
                <a:lnTo>
                  <a:pt x="31" y="28"/>
                </a:lnTo>
                <a:lnTo>
                  <a:pt x="20" y="56"/>
                </a:lnTo>
                <a:lnTo>
                  <a:pt x="20" y="43"/>
                </a:lnTo>
                <a:lnTo>
                  <a:pt x="0" y="43"/>
                </a:lnTo>
                <a:close/>
              </a:path>
            </a:pathLst>
          </a:cu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Dynamic scene caption to camera caption"/>
          <p:cNvSpPr/>
          <p:nvPr/>
        </p:nvSpPr>
        <p:spPr>
          <a:xfrm>
            <a:off x="13542264" y="9217152"/>
            <a:ext cx="301752" cy="512064"/>
          </a:xfrm>
          <a:custGeom>
            <a:avLst/>
            <a:gdLst/>
            <a:ahLst/>
            <a:cxnLst/>
            <a:rect l="l" t="t" r="r" b="b"/>
            <a:pathLst>
              <a:path w="33" h="56">
                <a:moveTo>
                  <a:pt x="0" y="13"/>
                </a:moveTo>
                <a:lnTo>
                  <a:pt x="21" y="13"/>
                </a:lnTo>
                <a:lnTo>
                  <a:pt x="21" y="0"/>
                </a:lnTo>
                <a:lnTo>
                  <a:pt x="33" y="28"/>
                </a:lnTo>
                <a:lnTo>
                  <a:pt x="21" y="56"/>
                </a:lnTo>
                <a:lnTo>
                  <a:pt x="21" y="43"/>
                </a:lnTo>
                <a:lnTo>
                  <a:pt x="0" y="43"/>
                </a:lnTo>
                <a:close/>
              </a:path>
            </a:pathLst>
          </a:custGeom>
          <a:solidFill>
            <a:srgbClr val="AFA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Raw_video_frames" descr="Raw_video_frame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8368" y="7068312"/>
            <a:ext cx="1197864" cy="1901952"/>
          </a:xfrm>
          <a:prstGeom prst="rect">
            <a:avLst/>
          </a:prstGeom>
        </p:spPr>
      </p:pic>
      <p:sp>
        <p:nvSpPr>
          <p:cNvPr id="150" name="Video icon"/>
          <p:cNvSpPr/>
          <p:nvPr/>
        </p:nvSpPr>
        <p:spPr>
          <a:xfrm>
            <a:off x="667512" y="9052560"/>
            <a:ext cx="182880" cy="126187"/>
          </a:xfrm>
          <a:prstGeom prst="rect">
            <a:avLst/>
          </a:prstGeom>
          <a:solidFill>
            <a:srgbClr val="3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Polygon"/>
          <p:cNvSpPr/>
          <p:nvPr/>
        </p:nvSpPr>
        <p:spPr>
          <a:xfrm>
            <a:off x="740664" y="9079992"/>
            <a:ext cx="64008" cy="64008"/>
          </a:xfrm>
          <a:custGeom>
            <a:avLst/>
            <a:gdLst/>
            <a:ahLst/>
            <a:cxnLst/>
            <a:rect l="l" t="t" r="r" b="b"/>
            <a:pathLst>
              <a:path w="7" h="7">
                <a:moveTo>
                  <a:pt x="0" y="0"/>
                </a:moveTo>
                <a:lnTo>
                  <a:pt x="0" y="7"/>
                </a:lnTo>
                <a:lnTo>
                  <a:pt x="7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Polygon"/>
          <p:cNvSpPr/>
          <p:nvPr/>
        </p:nvSpPr>
        <p:spPr>
          <a:xfrm>
            <a:off x="667512" y="8997696"/>
            <a:ext cx="182880" cy="64008"/>
          </a:xfrm>
          <a:custGeom>
            <a:avLst/>
            <a:gdLst/>
            <a:ahLst/>
            <a:cxnLst/>
            <a:rect l="l" t="t" r="r" b="b"/>
            <a:pathLst>
              <a:path w="20" h="7">
                <a:moveTo>
                  <a:pt x="0" y="1"/>
                </a:moveTo>
                <a:lnTo>
                  <a:pt x="20" y="0"/>
                </a:lnTo>
                <a:lnTo>
                  <a:pt x="20" y="6"/>
                </a:lnTo>
                <a:lnTo>
                  <a:pt x="0" y="7"/>
                </a:lnTo>
                <a:close/>
              </a:path>
            </a:pathLst>
          </a:custGeom>
          <a:solidFill>
            <a:srgbClr val="3C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Line"/>
          <p:cNvCxnSpPr/>
          <p:nvPr/>
        </p:nvCxnSpPr>
        <p:spPr>
          <a:xfrm>
            <a:off x="694944" y="9006840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Line"/>
          <p:cNvCxnSpPr/>
          <p:nvPr/>
        </p:nvCxnSpPr>
        <p:spPr>
          <a:xfrm>
            <a:off x="758952" y="9006840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Line"/>
          <p:cNvCxnSpPr/>
          <p:nvPr/>
        </p:nvCxnSpPr>
        <p:spPr>
          <a:xfrm>
            <a:off x="822960" y="9006840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aw Videos"/>
          <p:cNvSpPr txBox="1"/>
          <p:nvPr/>
        </p:nvSpPr>
        <p:spPr>
          <a:xfrm>
            <a:off x="896112" y="8951976"/>
            <a:ext cx="1121269" cy="4626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584" b="1" i="0" u="none" spc="0" kern="0" lang="en-US">
                <a:solidFill>
                  <a:srgbClr val="050505"/>
                </a:solidFill>
                <a:latin typeface="Liberation Serif"/>
              </a:rPr>
              <a:t>Raw Videos</a:t>
            </a:r>
          </a:p>
        </p:txBody>
      </p:sp>
      <p:pic>
        <p:nvPicPr>
          <p:cNvPr id="157" name="Moving_instance_mask_frames" descr="Moving_instance_mask_frames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9224" y="9272016"/>
            <a:ext cx="1170432" cy="1911096"/>
          </a:xfrm>
          <a:prstGeom prst="rect">
            <a:avLst/>
          </a:prstGeom>
        </p:spPr>
      </p:pic>
      <p:sp>
        <p:nvSpPr>
          <p:cNvPr id="158" name="Instance mask icon"/>
          <p:cNvSpPr/>
          <p:nvPr/>
        </p:nvSpPr>
        <p:spPr>
          <a:xfrm>
            <a:off x="585216" y="11201400"/>
            <a:ext cx="173736" cy="18288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7"/>
                </a:moveTo>
                <a:lnTo>
                  <a:pt x="11" y="0"/>
                </a:lnTo>
                <a:lnTo>
                  <a:pt x="19" y="4"/>
                </a:lnTo>
                <a:lnTo>
                  <a:pt x="19" y="20"/>
                </a:lnTo>
                <a:lnTo>
                  <a:pt x="0" y="20"/>
                </a:lnTo>
                <a:close/>
              </a:path>
            </a:pathLst>
          </a:custGeom>
          <a:noFill/>
          <a:ln w="14630">
            <a:solidFill>
              <a:srgbClr val="E68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Line"/>
          <p:cNvCxnSpPr/>
          <p:nvPr/>
        </p:nvCxnSpPr>
        <p:spPr>
          <a:xfrm flipV="1">
            <a:off x="603504" y="11237976"/>
            <a:ext cx="131674" cy="146304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Line"/>
          <p:cNvCxnSpPr/>
          <p:nvPr/>
        </p:nvCxnSpPr>
        <p:spPr>
          <a:xfrm flipV="1">
            <a:off x="603504" y="11224260"/>
            <a:ext cx="131674" cy="114300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Line"/>
          <p:cNvCxnSpPr/>
          <p:nvPr/>
        </p:nvCxnSpPr>
        <p:spPr>
          <a:xfrm flipV="1">
            <a:off x="603504" y="11210544"/>
            <a:ext cx="131674" cy="82296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Line"/>
          <p:cNvCxnSpPr/>
          <p:nvPr/>
        </p:nvCxnSpPr>
        <p:spPr>
          <a:xfrm flipV="1">
            <a:off x="603504" y="11196828"/>
            <a:ext cx="131674" cy="50292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Instance Masks"/>
          <p:cNvSpPr txBox="1"/>
          <p:nvPr/>
        </p:nvSpPr>
        <p:spPr>
          <a:xfrm>
            <a:off x="813816" y="11199571"/>
            <a:ext cx="1396832" cy="4458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526" b="1" i="0" u="none" spc="0" kern="0" lang="en-US">
                <a:solidFill>
                  <a:srgbClr val="050505"/>
                </a:solidFill>
                <a:latin typeface="Liberation Serif"/>
              </a:rPr>
              <a:t>Instance Masks</a:t>
            </a:r>
          </a:p>
        </p:txBody>
      </p:sp>
      <p:sp>
        <p:nvSpPr>
          <p:cNvPr id="164" name="“A Young Boy”"/>
          <p:cNvSpPr txBox="1"/>
          <p:nvPr/>
        </p:nvSpPr>
        <p:spPr>
          <a:xfrm>
            <a:off x="585216" y="11679357"/>
            <a:ext cx="1490472" cy="4990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08" b="0" i="0" u="none" spc="-22" kern="0" lang="en-US">
                <a:solidFill>
                  <a:srgbClr val="050505"/>
                </a:solidFill>
                <a:latin typeface="Comic Sans MS"/>
              </a:rPr>
              <a:t>“A Young Boy”</a:t>
            </a:r>
          </a:p>
        </p:txBody>
      </p:sp>
      <p:sp>
        <p:nvSpPr>
          <p:cNvPr id="165" name="Instance label icon"/>
          <p:cNvSpPr/>
          <p:nvPr/>
        </p:nvSpPr>
        <p:spPr>
          <a:xfrm>
            <a:off x="585216" y="12060936"/>
            <a:ext cx="210312" cy="210312"/>
          </a:xfrm>
          <a:prstGeom prst="rect">
            <a:avLst/>
          </a:prstGeom>
          <a:solidFill>
            <a:srgbClr val="FFFFFF"/>
          </a:solidFill>
          <a:ln w="18288">
            <a:solidFill>
              <a:srgbClr val="699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"/>
          <p:cNvSpPr txBox="1"/>
          <p:nvPr/>
        </p:nvSpPr>
        <p:spPr>
          <a:xfrm>
            <a:off x="633958" y="12050420"/>
            <a:ext cx="222556" cy="4256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457" b="1" i="0" u="none" spc="0" kern="0" lang="en-US">
                <a:solidFill>
                  <a:srgbClr val="699B7C"/>
                </a:solidFill>
                <a:latin typeface="Liberation Sans"/>
              </a:rPr>
              <a:t>T</a:t>
            </a:r>
          </a:p>
        </p:txBody>
      </p:sp>
      <p:sp>
        <p:nvSpPr>
          <p:cNvPr id="167" name="Instance Label"/>
          <p:cNvSpPr txBox="1"/>
          <p:nvPr/>
        </p:nvSpPr>
        <p:spPr>
          <a:xfrm>
            <a:off x="841248" y="12049049"/>
            <a:ext cx="1337953" cy="4479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533" b="1" i="0" u="none" spc="0" kern="0" lang="en-US">
                <a:solidFill>
                  <a:srgbClr val="050505"/>
                </a:solidFill>
                <a:latin typeface="Liberation Serif"/>
              </a:rPr>
              <a:t>Instance Label</a:t>
            </a:r>
          </a:p>
        </p:txBody>
      </p:sp>
      <p:sp>
        <p:nvSpPr>
          <p:cNvPr id="168" name="Object prompt background"/>
          <p:cNvSpPr/>
          <p:nvPr/>
        </p:nvSpPr>
        <p:spPr>
          <a:xfrm>
            <a:off x="2066544" y="7068312"/>
            <a:ext cx="5020056" cy="649224"/>
          </a:xfrm>
          <a:prstGeom prst="roundRect">
            <a:avLst>
              <a:gd name="adj" fmla="val 12676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bject response background"/>
          <p:cNvSpPr/>
          <p:nvPr/>
        </p:nvSpPr>
        <p:spPr>
          <a:xfrm>
            <a:off x="2057400" y="7735824"/>
            <a:ext cx="5047488" cy="1801368"/>
          </a:xfrm>
          <a:prstGeom prst="roundRect">
            <a:avLst>
              <a:gd name="adj" fmla="val 11675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bject response text card"/>
          <p:cNvSpPr/>
          <p:nvPr/>
        </p:nvSpPr>
        <p:spPr>
          <a:xfrm>
            <a:off x="2148840" y="7973568"/>
            <a:ext cx="4846320" cy="1435608"/>
          </a:xfrm>
          <a:prstGeom prst="roundRect">
            <a:avLst>
              <a:gd name="adj" fmla="val 13375"/>
            </a:avLst>
          </a:prstGeom>
          <a:solidFill>
            <a:srgbClr val="FBFEFE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bject rephrasing background"/>
          <p:cNvSpPr/>
          <p:nvPr/>
        </p:nvSpPr>
        <p:spPr>
          <a:xfrm>
            <a:off x="2057400" y="9646920"/>
            <a:ext cx="5047488" cy="2642616"/>
          </a:xfrm>
          <a:prstGeom prst="roundRect">
            <a:avLst>
              <a:gd name="adj" fmla="val 9688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bject rephrasing text card"/>
          <p:cNvSpPr/>
          <p:nvPr/>
        </p:nvSpPr>
        <p:spPr>
          <a:xfrm>
            <a:off x="2221992" y="9948672"/>
            <a:ext cx="4745736" cy="2203704"/>
          </a:xfrm>
          <a:prstGeom prst="roundRect">
            <a:avLst>
              <a:gd name="adj" fmla="val 10373"/>
            </a:avLst>
          </a:prstGeom>
          <a:solidFill>
            <a:srgbClr val="F8FDFF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Scene prompt background"/>
          <p:cNvSpPr/>
          <p:nvPr/>
        </p:nvSpPr>
        <p:spPr>
          <a:xfrm>
            <a:off x="7589520" y="7040880"/>
            <a:ext cx="5861304" cy="603504"/>
          </a:xfrm>
          <a:prstGeom prst="roundRect">
            <a:avLst>
              <a:gd name="adj" fmla="val 1515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cene response background"/>
          <p:cNvSpPr/>
          <p:nvPr/>
        </p:nvSpPr>
        <p:spPr>
          <a:xfrm>
            <a:off x="7571232" y="7671816"/>
            <a:ext cx="5897880" cy="2167128"/>
          </a:xfrm>
          <a:prstGeom prst="roundRect">
            <a:avLst>
              <a:gd name="adj" fmla="val 9282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Scene response text card"/>
          <p:cNvSpPr/>
          <p:nvPr/>
        </p:nvSpPr>
        <p:spPr>
          <a:xfrm>
            <a:off x="7699248" y="7909560"/>
            <a:ext cx="5632704" cy="1810512"/>
          </a:xfrm>
          <a:prstGeom prst="roundRect">
            <a:avLst>
              <a:gd name="adj" fmla="val 11111"/>
            </a:avLst>
          </a:prstGeom>
          <a:solidFill>
            <a:srgbClr val="FBFEFE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Scene rephrasing background"/>
          <p:cNvSpPr/>
          <p:nvPr/>
        </p:nvSpPr>
        <p:spPr>
          <a:xfrm>
            <a:off x="7580376" y="9857232"/>
            <a:ext cx="5888736" cy="2432304"/>
          </a:xfrm>
          <a:prstGeom prst="roundRect">
            <a:avLst>
              <a:gd name="adj" fmla="val 1015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cene rephrasing text card"/>
          <p:cNvSpPr/>
          <p:nvPr/>
        </p:nvSpPr>
        <p:spPr>
          <a:xfrm>
            <a:off x="7735824" y="10149840"/>
            <a:ext cx="5596128" cy="1975104"/>
          </a:xfrm>
          <a:prstGeom prst="roundRect">
            <a:avLst>
              <a:gd name="adj" fmla="val 11574"/>
            </a:avLst>
          </a:prstGeom>
          <a:solidFill>
            <a:srgbClr val="F8FDFF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Camera prompt background"/>
          <p:cNvSpPr/>
          <p:nvPr/>
        </p:nvSpPr>
        <p:spPr>
          <a:xfrm>
            <a:off x="13944600" y="7095744"/>
            <a:ext cx="2679192" cy="1124712"/>
          </a:xfrm>
          <a:prstGeom prst="roundRect">
            <a:avLst>
              <a:gd name="adj" fmla="val 1300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Camera response background"/>
          <p:cNvSpPr/>
          <p:nvPr/>
        </p:nvSpPr>
        <p:spPr>
          <a:xfrm>
            <a:off x="13944600" y="8348472"/>
            <a:ext cx="2679192" cy="1764792"/>
          </a:xfrm>
          <a:prstGeom prst="roundRect">
            <a:avLst>
              <a:gd name="adj" fmla="val 8290"/>
            </a:avLst>
          </a:prstGeom>
          <a:solidFill>
            <a:srgbClr val="F7E6F5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Camera response text card"/>
          <p:cNvSpPr/>
          <p:nvPr/>
        </p:nvSpPr>
        <p:spPr>
          <a:xfrm>
            <a:off x="14036040" y="8613648"/>
            <a:ext cx="2487168" cy="13716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Camera alignment background"/>
          <p:cNvSpPr/>
          <p:nvPr/>
        </p:nvSpPr>
        <p:spPr>
          <a:xfrm>
            <a:off x="13944600" y="10296144"/>
            <a:ext cx="2679192" cy="1993392"/>
          </a:xfrm>
          <a:prstGeom prst="roundRect">
            <a:avLst>
              <a:gd name="adj" fmla="val 7339"/>
            </a:avLst>
          </a:prstGeom>
          <a:solidFill>
            <a:srgbClr val="F7E6F5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Camera alignment text card"/>
          <p:cNvSpPr/>
          <p:nvPr/>
        </p:nvSpPr>
        <p:spPr>
          <a:xfrm>
            <a:off x="14036040" y="10533888"/>
            <a:ext cx="2487168" cy="1618488"/>
          </a:xfrm>
          <a:prstGeom prst="roundRect">
            <a:avLst>
              <a:gd name="adj" fmla="val 9604"/>
            </a:avLst>
          </a:prstGeom>
          <a:solidFill>
            <a:srgbClr val="F7F7F7"/>
          </a:solidFill>
          <a:ln>
            <a:noFill/>
          </a:ln>
          <a:effectLst>
            <a:outerShdw blurRad="22860" dist="23774" dir="2700000" algn="tl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Moving object caption heading background"/>
          <p:cNvSpPr/>
          <p:nvPr/>
        </p:nvSpPr>
        <p:spPr>
          <a:xfrm>
            <a:off x="2487168" y="6592824"/>
            <a:ext cx="273405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4" name="DAM_header_logo" descr="DAM_header_logo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87168" y="6592824"/>
            <a:ext cx="429768" cy="420624"/>
          </a:xfrm>
          <a:prstGeom prst="rect">
            <a:avLst/>
          </a:prstGeom>
        </p:spPr>
      </p:pic>
      <p:sp>
        <p:nvSpPr>
          <p:cNvPr id="185" name="Moving Object Caption"/>
          <p:cNvSpPr txBox="1"/>
          <p:nvPr/>
        </p:nvSpPr>
        <p:spPr>
          <a:xfrm>
            <a:off x="2953512" y="6693408"/>
            <a:ext cx="2421045" cy="525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800" b="1" i="0" u="none" spc="0" kern="0" lang="en-US">
                <a:solidFill>
                  <a:srgbClr val="050505"/>
                </a:solidFill>
                <a:latin typeface="Liberation Serif"/>
              </a:rPr>
              <a:t>Moving Object Caption</a:t>
            </a:r>
          </a:p>
        </p:txBody>
      </p:sp>
      <p:sp>
        <p:nvSpPr>
          <p:cNvPr id="186" name="Dynamic scene heading background"/>
          <p:cNvSpPr/>
          <p:nvPr/>
        </p:nvSpPr>
        <p:spPr>
          <a:xfrm>
            <a:off x="9180576" y="6574536"/>
            <a:ext cx="2898648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" name="Scene_model_header_logo" descr="Scene_model_header_logo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08008" y="6574536"/>
            <a:ext cx="493776" cy="457200"/>
          </a:xfrm>
          <a:prstGeom prst="rect">
            <a:avLst/>
          </a:prstGeom>
        </p:spPr>
      </p:pic>
      <p:sp>
        <p:nvSpPr>
          <p:cNvPr id="188" name="Dynamic Scene Caption"/>
          <p:cNvSpPr txBox="1"/>
          <p:nvPr/>
        </p:nvSpPr>
        <p:spPr>
          <a:xfrm>
            <a:off x="9729216" y="6653174"/>
            <a:ext cx="2390427" cy="5131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56" b="1" i="0" u="none" spc="0" kern="0" lang="en-US">
                <a:solidFill>
                  <a:srgbClr val="050505"/>
                </a:solidFill>
                <a:latin typeface="Liberation Serif"/>
              </a:rPr>
              <a:t>Dynamic Scene Caption</a:t>
            </a:r>
          </a:p>
        </p:txBody>
      </p:sp>
      <p:sp>
        <p:nvSpPr>
          <p:cNvPr id="189" name="Camera heading background"/>
          <p:cNvSpPr/>
          <p:nvPr/>
        </p:nvSpPr>
        <p:spPr>
          <a:xfrm>
            <a:off x="13862304" y="6583680"/>
            <a:ext cx="2807208" cy="521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0" name="Camera_model_header_logo" descr="Camera_model_header_logo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862304" y="6583680"/>
            <a:ext cx="539496" cy="493776"/>
          </a:xfrm>
          <a:prstGeom prst="rect">
            <a:avLst/>
          </a:prstGeom>
        </p:spPr>
      </p:pic>
      <p:sp>
        <p:nvSpPr>
          <p:cNvPr id="191" name="Camera Motion Caption"/>
          <p:cNvSpPr txBox="1"/>
          <p:nvPr/>
        </p:nvSpPr>
        <p:spPr>
          <a:xfrm>
            <a:off x="14292072" y="6784848"/>
            <a:ext cx="2413873" cy="504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28" b="1" i="0" u="none" spc="0" kern="0" lang="en-US">
                <a:solidFill>
                  <a:srgbClr val="050505"/>
                </a:solidFill>
                <a:latin typeface="Liberation Serif"/>
              </a:rPr>
              <a:t>Camera Motion Caption</a:t>
            </a:r>
          </a:p>
        </p:txBody>
      </p:sp>
      <p:sp>
        <p:nvSpPr>
          <p:cNvPr id="192" name="Response (object-level)"/>
          <p:cNvSpPr txBox="1"/>
          <p:nvPr/>
        </p:nvSpPr>
        <p:spPr>
          <a:xfrm>
            <a:off x="3446502" y="7712964"/>
            <a:ext cx="2305860" cy="5152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64" b="1" i="0" u="none" spc="0" kern="0" lang="en-US">
                <a:solidFill>
                  <a:srgbClr val="050505"/>
                </a:solidFill>
                <a:latin typeface="Liberation Serif"/>
              </a:rPr>
              <a:t>Response (object-level)</a:t>
            </a:r>
          </a:p>
        </p:txBody>
      </p:sp>
      <p:sp>
        <p:nvSpPr>
          <p:cNvPr id="193" name="LLM-rephrased"/>
          <p:cNvSpPr txBox="1"/>
          <p:nvPr/>
        </p:nvSpPr>
        <p:spPr>
          <a:xfrm>
            <a:off x="3743796" y="9628632"/>
            <a:ext cx="1692983" cy="525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800" b="1" i="0" u="none" spc="0" kern="0" lang="en-US">
                <a:solidFill>
                  <a:srgbClr val="050505"/>
                </a:solidFill>
                <a:latin typeface="Liberation Serif"/>
              </a:rPr>
              <a:t>LLM-rephrased</a:t>
            </a:r>
          </a:p>
        </p:txBody>
      </p:sp>
      <p:sp>
        <p:nvSpPr>
          <p:cNvPr id="194" name="Response (scene-level)"/>
          <p:cNvSpPr txBox="1"/>
          <p:nvPr/>
        </p:nvSpPr>
        <p:spPr>
          <a:xfrm>
            <a:off x="9463983" y="7630668"/>
            <a:ext cx="2231250" cy="5152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64" b="1" i="0" u="none" spc="0" kern="0" lang="en-US">
                <a:solidFill>
                  <a:srgbClr val="050505"/>
                </a:solidFill>
                <a:latin typeface="Liberation Serif"/>
              </a:rPr>
              <a:t>Response (scene-level)</a:t>
            </a:r>
          </a:p>
        </p:txBody>
      </p:sp>
      <p:sp>
        <p:nvSpPr>
          <p:cNvPr id="195" name="LLM-rephrased"/>
          <p:cNvSpPr txBox="1"/>
          <p:nvPr/>
        </p:nvSpPr>
        <p:spPr>
          <a:xfrm>
            <a:off x="9733116" y="9848088"/>
            <a:ext cx="1692983" cy="525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800" b="1" i="0" u="none" spc="0" kern="0" lang="en-US">
                <a:solidFill>
                  <a:srgbClr val="050505"/>
                </a:solidFill>
                <a:latin typeface="Liberation Serif"/>
              </a:rPr>
              <a:t>LLM-rephrased</a:t>
            </a:r>
          </a:p>
        </p:txBody>
      </p:sp>
      <p:sp>
        <p:nvSpPr>
          <p:cNvPr id="196" name="Response"/>
          <p:cNvSpPr txBox="1"/>
          <p:nvPr/>
        </p:nvSpPr>
        <p:spPr>
          <a:xfrm>
            <a:off x="14676063" y="8325612"/>
            <a:ext cx="1005954" cy="5152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64" b="1" i="0" u="none" spc="0" kern="0" lang="en-US">
                <a:solidFill>
                  <a:srgbClr val="050505"/>
                </a:solidFill>
                <a:latin typeface="Liberation Serif"/>
              </a:rPr>
              <a:t>Response</a:t>
            </a:r>
          </a:p>
        </p:txBody>
      </p:sp>
      <p:sp>
        <p:nvSpPr>
          <p:cNvPr id="197" name="LLM-aligned"/>
          <p:cNvSpPr txBox="1"/>
          <p:nvPr/>
        </p:nvSpPr>
        <p:spPr>
          <a:xfrm>
            <a:off x="14464879" y="10245852"/>
            <a:ext cx="1391745" cy="5152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764" b="1" i="0" u="none" spc="0" kern="0" lang="en-US">
                <a:solidFill>
                  <a:srgbClr val="050505"/>
                </a:solidFill>
                <a:latin typeface="Liberation Serif"/>
              </a:rPr>
              <a:t>LLM-aligned</a:t>
            </a:r>
          </a:p>
        </p:txBody>
      </p:sp>
      <p:pic>
        <p:nvPicPr>
          <p:cNvPr id="198" name="DAM_response_logo" descr="DAM_response_logo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64808" y="7662672"/>
            <a:ext cx="384048" cy="384048"/>
          </a:xfrm>
          <a:prstGeom prst="rect">
            <a:avLst/>
          </a:prstGeom>
        </p:spPr>
      </p:pic>
      <p:pic>
        <p:nvPicPr>
          <p:cNvPr id="199" name="Object_rephrase_LLM_logo" descr="Object_rephrase_LLM_logo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46520" y="9601200"/>
            <a:ext cx="402336" cy="402336"/>
          </a:xfrm>
          <a:prstGeom prst="rect">
            <a:avLst/>
          </a:prstGeom>
        </p:spPr>
      </p:pic>
      <p:pic>
        <p:nvPicPr>
          <p:cNvPr id="200" name="Scene_response_LLM_logo" descr="Scene_response_LLM_logo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048488" y="7616952"/>
            <a:ext cx="411480" cy="411480"/>
          </a:xfrm>
          <a:prstGeom prst="rect">
            <a:avLst/>
          </a:prstGeom>
        </p:spPr>
      </p:pic>
      <p:pic>
        <p:nvPicPr>
          <p:cNvPr id="201" name="Scene_rephrase_LLM_logo" descr="Scene_rephrase_LLM_logo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021056" y="9811512"/>
            <a:ext cx="411480" cy="402336"/>
          </a:xfrm>
          <a:prstGeom prst="rect">
            <a:avLst/>
          </a:prstGeom>
        </p:spPr>
      </p:pic>
      <p:pic>
        <p:nvPicPr>
          <p:cNvPr id="202" name="Camera_response_LLM_logo" descr="Camera_response_LLM_logo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194024" y="8211312"/>
            <a:ext cx="420624" cy="429768"/>
          </a:xfrm>
          <a:prstGeom prst="rect">
            <a:avLst/>
          </a:prstGeom>
        </p:spPr>
      </p:pic>
      <p:pic>
        <p:nvPicPr>
          <p:cNvPr id="203" name="Camera_aligned_LLM_logo" descr="Camera_aligned_LLM_logo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6194024" y="10195560"/>
            <a:ext cx="420624" cy="402336"/>
          </a:xfrm>
          <a:prstGeom prst="rect">
            <a:avLst/>
          </a:prstGeom>
        </p:spPr>
      </p:pic>
      <p:sp>
        <p:nvSpPr>
          <p:cNvPr id="204" name="Editable text line"/>
          <p:cNvSpPr txBox="1"/>
          <p:nvPr/>
        </p:nvSpPr>
        <p:spPr>
          <a:xfrm>
            <a:off x="2130552" y="7064325"/>
            <a:ext cx="2441448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1" i="0" u="none" spc="-29" kern="0" lang="en-US">
                <a:solidFill>
                  <a:srgbClr val="050505"/>
                </a:solidFill>
                <a:latin typeface="Liberation Serif"/>
              </a:rPr>
              <a:t>Prompt: </a:t>
            </a:r>
            <a:r>
              <a:rPr sz="1399" b="0" i="0" u="none" spc="-29" kern="0" lang="en-US">
                <a:solidFill>
                  <a:srgbClr val="050505"/>
                </a:solidFill>
                <a:latin typeface="Comic Sans MS"/>
              </a:rPr>
              <a:t>Given the &lt;raw video&gt;</a:t>
            </a:r>
          </a:p>
        </p:txBody>
      </p:sp>
      <p:sp>
        <p:nvSpPr>
          <p:cNvPr id="205" name="Video icon"/>
          <p:cNvSpPr/>
          <p:nvPr/>
        </p:nvSpPr>
        <p:spPr>
          <a:xfrm>
            <a:off x="4480560" y="7168896"/>
            <a:ext cx="173736" cy="119878"/>
          </a:xfrm>
          <a:prstGeom prst="rect">
            <a:avLst/>
          </a:prstGeom>
          <a:solidFill>
            <a:srgbClr val="3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Polygon"/>
          <p:cNvSpPr/>
          <p:nvPr/>
        </p:nvSpPr>
        <p:spPr>
          <a:xfrm>
            <a:off x="4553712" y="7196328"/>
            <a:ext cx="54864" cy="54864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0" y="0"/>
                </a:moveTo>
                <a:lnTo>
                  <a:pt x="0" y="6"/>
                </a:lnTo>
                <a:lnTo>
                  <a:pt x="6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Polygon"/>
          <p:cNvSpPr/>
          <p:nvPr/>
        </p:nvSpPr>
        <p:spPr>
          <a:xfrm>
            <a:off x="4480560" y="7114032"/>
            <a:ext cx="173736" cy="64008"/>
          </a:xfrm>
          <a:custGeom>
            <a:avLst/>
            <a:gdLst/>
            <a:ahLst/>
            <a:cxnLst/>
            <a:rect l="l" t="t" r="r" b="b"/>
            <a:pathLst>
              <a:path w="19" h="7">
                <a:moveTo>
                  <a:pt x="0" y="1"/>
                </a:moveTo>
                <a:lnTo>
                  <a:pt x="19" y="0"/>
                </a:lnTo>
                <a:lnTo>
                  <a:pt x="19" y="6"/>
                </a:lnTo>
                <a:lnTo>
                  <a:pt x="0" y="7"/>
                </a:lnTo>
                <a:close/>
              </a:path>
            </a:pathLst>
          </a:custGeom>
          <a:solidFill>
            <a:srgbClr val="3C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Line"/>
          <p:cNvCxnSpPr/>
          <p:nvPr/>
        </p:nvCxnSpPr>
        <p:spPr>
          <a:xfrm>
            <a:off x="4507992" y="7123176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Line"/>
          <p:cNvCxnSpPr/>
          <p:nvPr/>
        </p:nvCxnSpPr>
        <p:spPr>
          <a:xfrm>
            <a:off x="4572000" y="7123176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Line"/>
          <p:cNvCxnSpPr/>
          <p:nvPr/>
        </p:nvCxnSpPr>
        <p:spPr>
          <a:xfrm>
            <a:off x="4636008" y="7123176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Editable text line"/>
          <p:cNvSpPr txBox="1"/>
          <p:nvPr/>
        </p:nvSpPr>
        <p:spPr>
          <a:xfrm>
            <a:off x="4681728" y="7064325"/>
            <a:ext cx="1993392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-37" kern="0" lang="en-US">
                <a:solidFill>
                  <a:srgbClr val="050505"/>
                </a:solidFill>
                <a:latin typeface="Comic Sans MS"/>
              </a:rPr>
              <a:t>, </a:t>
            </a:r>
            <a:r>
              <a:rPr sz="1399" b="0" i="0" u="none" spc="-37" kern="0" lang="en-US">
                <a:solidFill>
                  <a:srgbClr val="E88741"/>
                </a:solidFill>
                <a:latin typeface="Comic Sans MS"/>
              </a:rPr>
              <a:t>&lt;moving instance mask&gt;</a:t>
            </a:r>
          </a:p>
        </p:txBody>
      </p:sp>
      <p:sp>
        <p:nvSpPr>
          <p:cNvPr id="212" name="Instance mask icon"/>
          <p:cNvSpPr/>
          <p:nvPr/>
        </p:nvSpPr>
        <p:spPr>
          <a:xfrm>
            <a:off x="6601968" y="7095744"/>
            <a:ext cx="146304" cy="155448"/>
          </a:xfrm>
          <a:custGeom>
            <a:avLst/>
            <a:gdLst/>
            <a:ahLst/>
            <a:cxnLst/>
            <a:rect l="l" t="t" r="r" b="b"/>
            <a:pathLst>
              <a:path w="16" h="17">
                <a:moveTo>
                  <a:pt x="0" y="6"/>
                </a:moveTo>
                <a:lnTo>
                  <a:pt x="9" y="0"/>
                </a:lnTo>
                <a:lnTo>
                  <a:pt x="16" y="4"/>
                </a:lnTo>
                <a:lnTo>
                  <a:pt x="16" y="17"/>
                </a:lnTo>
                <a:lnTo>
                  <a:pt x="0" y="17"/>
                </a:lnTo>
                <a:close/>
              </a:path>
            </a:pathLst>
          </a:custGeom>
          <a:noFill/>
          <a:ln w="14630">
            <a:solidFill>
              <a:srgbClr val="E68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3" name="Line"/>
          <p:cNvCxnSpPr/>
          <p:nvPr/>
        </p:nvCxnSpPr>
        <p:spPr>
          <a:xfrm flipV="1">
            <a:off x="6620256" y="7126834"/>
            <a:ext cx="109179" cy="124358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Line"/>
          <p:cNvCxnSpPr/>
          <p:nvPr/>
        </p:nvCxnSpPr>
        <p:spPr>
          <a:xfrm flipV="1">
            <a:off x="6620256" y="7113118"/>
            <a:ext cx="109179" cy="92354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Line"/>
          <p:cNvCxnSpPr/>
          <p:nvPr/>
        </p:nvCxnSpPr>
        <p:spPr>
          <a:xfrm flipV="1">
            <a:off x="6620256" y="7099402"/>
            <a:ext cx="109179" cy="60350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Line"/>
          <p:cNvCxnSpPr/>
          <p:nvPr/>
        </p:nvCxnSpPr>
        <p:spPr>
          <a:xfrm flipV="1">
            <a:off x="6620256" y="7085686"/>
            <a:ext cx="109179" cy="28346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Editable text line"/>
          <p:cNvSpPr txBox="1"/>
          <p:nvPr/>
        </p:nvSpPr>
        <p:spPr>
          <a:xfrm>
            <a:off x="6784848" y="7064325"/>
            <a:ext cx="374904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-89" kern="0" lang="en-US">
                <a:solidFill>
                  <a:srgbClr val="050505"/>
                </a:solidFill>
                <a:latin typeface="Comic Sans MS"/>
              </a:rPr>
              <a:t>and</a:t>
            </a:r>
          </a:p>
        </p:txBody>
      </p:sp>
      <p:sp>
        <p:nvSpPr>
          <p:cNvPr id="218" name="Editable text line"/>
          <p:cNvSpPr txBox="1"/>
          <p:nvPr/>
        </p:nvSpPr>
        <p:spPr>
          <a:xfrm>
            <a:off x="2139696" y="7274637"/>
            <a:ext cx="1261872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-58" kern="0" lang="en-US">
                <a:solidFill>
                  <a:srgbClr val="699B7C"/>
                </a:solidFill>
                <a:latin typeface="Comic Sans MS"/>
              </a:rPr>
              <a:t>&lt;instance label&gt;</a:t>
            </a:r>
          </a:p>
        </p:txBody>
      </p:sp>
      <p:sp>
        <p:nvSpPr>
          <p:cNvPr id="219" name="Instance label icon"/>
          <p:cNvSpPr/>
          <p:nvPr/>
        </p:nvSpPr>
        <p:spPr>
          <a:xfrm>
            <a:off x="3355848" y="7296912"/>
            <a:ext cx="155448" cy="155448"/>
          </a:xfrm>
          <a:prstGeom prst="rect">
            <a:avLst/>
          </a:prstGeom>
          <a:solidFill>
            <a:srgbClr val="FFFFFF"/>
          </a:solidFill>
          <a:ln w="18288">
            <a:solidFill>
              <a:srgbClr val="699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"/>
          <p:cNvSpPr txBox="1"/>
          <p:nvPr/>
        </p:nvSpPr>
        <p:spPr>
          <a:xfrm>
            <a:off x="3391681" y="7289140"/>
            <a:ext cx="193510" cy="314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077" b="1" i="0" u="none" spc="0" kern="0" lang="en-US">
                <a:solidFill>
                  <a:srgbClr val="699B7C"/>
                </a:solidFill>
                <a:latin typeface="Liberation Sans"/>
              </a:rPr>
              <a:t>T</a:t>
            </a:r>
          </a:p>
        </p:txBody>
      </p:sp>
      <p:sp>
        <p:nvSpPr>
          <p:cNvPr id="221" name="Editable text line"/>
          <p:cNvSpPr txBox="1"/>
          <p:nvPr/>
        </p:nvSpPr>
        <p:spPr>
          <a:xfrm>
            <a:off x="3529584" y="7274637"/>
            <a:ext cx="3621024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-48" kern="0" lang="en-US">
                <a:solidFill>
                  <a:srgbClr val="050505"/>
                </a:solidFill>
                <a:latin typeface="Comic Sans MS"/>
              </a:rPr>
              <a:t>. Provide a description of the moving instance.</a:t>
            </a:r>
          </a:p>
        </p:txBody>
      </p:sp>
      <p:sp>
        <p:nvSpPr>
          <p:cNvPr id="222" name="Editable text line"/>
          <p:cNvSpPr txBox="1"/>
          <p:nvPr/>
        </p:nvSpPr>
        <p:spPr>
          <a:xfrm>
            <a:off x="2130552" y="7487171"/>
            <a:ext cx="4958305" cy="382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09" b="0" i="0" u="none" spc="0" kern="0" lang="en-US">
                <a:solidFill>
                  <a:srgbClr val="050505"/>
                </a:solidFill>
                <a:latin typeface="Comic Sans MS"/>
              </a:rPr>
              <a:t>Focus on its action and attributes (e.g., color, shape, material).</a:t>
            </a:r>
          </a:p>
        </p:txBody>
      </p:sp>
      <p:sp>
        <p:nvSpPr>
          <p:cNvPr id="223" name="Editable text line"/>
          <p:cNvSpPr txBox="1"/>
          <p:nvPr/>
        </p:nvSpPr>
        <p:spPr>
          <a:xfrm>
            <a:off x="7635240" y="7022738"/>
            <a:ext cx="2276856" cy="3992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66" b="1" i="0" u="none" spc="-61" kern="0" lang="en-US">
                <a:solidFill>
                  <a:srgbClr val="050505"/>
                </a:solidFill>
                <a:latin typeface="Liberation Serif"/>
              </a:rPr>
              <a:t>Prompt: </a:t>
            </a:r>
            <a:r>
              <a:rPr sz="1366" b="0" i="0" u="none" spc="-61" kern="0" lang="en-US">
                <a:solidFill>
                  <a:srgbClr val="050505"/>
                </a:solidFill>
                <a:latin typeface="Comic Sans MS"/>
              </a:rPr>
              <a:t>Given the &lt;raw video&gt;</a:t>
            </a:r>
          </a:p>
        </p:txBody>
      </p:sp>
      <p:sp>
        <p:nvSpPr>
          <p:cNvPr id="224" name="Video icon"/>
          <p:cNvSpPr/>
          <p:nvPr/>
        </p:nvSpPr>
        <p:spPr>
          <a:xfrm>
            <a:off x="9811512" y="7114032"/>
            <a:ext cx="173736" cy="119878"/>
          </a:xfrm>
          <a:prstGeom prst="rect">
            <a:avLst/>
          </a:prstGeom>
          <a:solidFill>
            <a:srgbClr val="3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Polygon"/>
          <p:cNvSpPr/>
          <p:nvPr/>
        </p:nvSpPr>
        <p:spPr>
          <a:xfrm>
            <a:off x="9884664" y="7141464"/>
            <a:ext cx="54864" cy="54864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0" y="0"/>
                </a:moveTo>
                <a:lnTo>
                  <a:pt x="0" y="6"/>
                </a:lnTo>
                <a:lnTo>
                  <a:pt x="6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Polygon"/>
          <p:cNvSpPr/>
          <p:nvPr/>
        </p:nvSpPr>
        <p:spPr>
          <a:xfrm>
            <a:off x="9811512" y="7059168"/>
            <a:ext cx="173736" cy="64008"/>
          </a:xfrm>
          <a:custGeom>
            <a:avLst/>
            <a:gdLst/>
            <a:ahLst/>
            <a:cxnLst/>
            <a:rect l="l" t="t" r="r" b="b"/>
            <a:pathLst>
              <a:path w="19" h="7">
                <a:moveTo>
                  <a:pt x="0" y="1"/>
                </a:moveTo>
                <a:lnTo>
                  <a:pt x="19" y="0"/>
                </a:lnTo>
                <a:lnTo>
                  <a:pt x="19" y="6"/>
                </a:lnTo>
                <a:lnTo>
                  <a:pt x="0" y="7"/>
                </a:lnTo>
                <a:close/>
              </a:path>
            </a:pathLst>
          </a:custGeom>
          <a:solidFill>
            <a:srgbClr val="3C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Line"/>
          <p:cNvCxnSpPr/>
          <p:nvPr/>
        </p:nvCxnSpPr>
        <p:spPr>
          <a:xfrm>
            <a:off x="9838944" y="7068312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Line"/>
          <p:cNvCxnSpPr/>
          <p:nvPr/>
        </p:nvCxnSpPr>
        <p:spPr>
          <a:xfrm>
            <a:off x="9902952" y="7068312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Line"/>
          <p:cNvCxnSpPr/>
          <p:nvPr/>
        </p:nvCxnSpPr>
        <p:spPr>
          <a:xfrm>
            <a:off x="9966960" y="7068312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Editable text line"/>
          <p:cNvSpPr txBox="1"/>
          <p:nvPr/>
        </p:nvSpPr>
        <p:spPr>
          <a:xfrm>
            <a:off x="10021824" y="7022738"/>
            <a:ext cx="1911096" cy="3992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66" b="0" i="0" u="none" spc="-77" kern="0" lang="en-US">
                <a:solidFill>
                  <a:srgbClr val="E88741"/>
                </a:solidFill>
                <a:latin typeface="Comic Sans MS"/>
              </a:rPr>
              <a:t>, &lt;moving instance masks&gt;</a:t>
            </a:r>
          </a:p>
        </p:txBody>
      </p:sp>
      <p:sp>
        <p:nvSpPr>
          <p:cNvPr id="231" name="Instance mask icon"/>
          <p:cNvSpPr/>
          <p:nvPr/>
        </p:nvSpPr>
        <p:spPr>
          <a:xfrm>
            <a:off x="11868912" y="7050024"/>
            <a:ext cx="146304" cy="155448"/>
          </a:xfrm>
          <a:custGeom>
            <a:avLst/>
            <a:gdLst/>
            <a:ahLst/>
            <a:cxnLst/>
            <a:rect l="l" t="t" r="r" b="b"/>
            <a:pathLst>
              <a:path w="16" h="17">
                <a:moveTo>
                  <a:pt x="0" y="6"/>
                </a:moveTo>
                <a:lnTo>
                  <a:pt x="9" y="0"/>
                </a:lnTo>
                <a:lnTo>
                  <a:pt x="16" y="4"/>
                </a:lnTo>
                <a:lnTo>
                  <a:pt x="16" y="17"/>
                </a:lnTo>
                <a:lnTo>
                  <a:pt x="0" y="17"/>
                </a:lnTo>
                <a:close/>
              </a:path>
            </a:pathLst>
          </a:custGeom>
          <a:noFill/>
          <a:ln w="14630">
            <a:solidFill>
              <a:srgbClr val="E68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Line"/>
          <p:cNvCxnSpPr/>
          <p:nvPr/>
        </p:nvCxnSpPr>
        <p:spPr>
          <a:xfrm flipV="1">
            <a:off x="11887200" y="7081114"/>
            <a:ext cx="109179" cy="124358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Line"/>
          <p:cNvCxnSpPr/>
          <p:nvPr/>
        </p:nvCxnSpPr>
        <p:spPr>
          <a:xfrm flipV="1">
            <a:off x="11887200" y="7067398"/>
            <a:ext cx="109179" cy="92354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Line"/>
          <p:cNvCxnSpPr/>
          <p:nvPr/>
        </p:nvCxnSpPr>
        <p:spPr>
          <a:xfrm flipV="1">
            <a:off x="11887200" y="7053682"/>
            <a:ext cx="109179" cy="60350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Line"/>
          <p:cNvCxnSpPr/>
          <p:nvPr/>
        </p:nvCxnSpPr>
        <p:spPr>
          <a:xfrm flipV="1">
            <a:off x="11887200" y="7039966"/>
            <a:ext cx="109179" cy="28346"/>
          </a:xfrm>
          <a:prstGeom prst="line">
            <a:avLst/>
          </a:prstGeom>
          <a:ln w="9144">
            <a:solidFill>
              <a:srgbClr val="E68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Editable text line"/>
          <p:cNvSpPr txBox="1"/>
          <p:nvPr/>
        </p:nvSpPr>
        <p:spPr>
          <a:xfrm>
            <a:off x="12060936" y="7022738"/>
            <a:ext cx="1261872" cy="3992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66" b="0" i="0" u="none" spc="-86" kern="0" lang="en-US">
                <a:solidFill>
                  <a:srgbClr val="699B7C"/>
                </a:solidFill>
                <a:latin typeface="Comic Sans MS"/>
              </a:rPr>
              <a:t>, &lt;instance label&gt;</a:t>
            </a:r>
          </a:p>
        </p:txBody>
      </p:sp>
      <p:sp>
        <p:nvSpPr>
          <p:cNvPr id="237" name="Instance label icon"/>
          <p:cNvSpPr/>
          <p:nvPr/>
        </p:nvSpPr>
        <p:spPr>
          <a:xfrm>
            <a:off x="13258800" y="7059168"/>
            <a:ext cx="155448" cy="155448"/>
          </a:xfrm>
          <a:prstGeom prst="rect">
            <a:avLst/>
          </a:prstGeom>
          <a:solidFill>
            <a:srgbClr val="FFFFFF"/>
          </a:solidFill>
          <a:ln w="18288">
            <a:solidFill>
              <a:srgbClr val="699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"/>
          <p:cNvSpPr txBox="1"/>
          <p:nvPr/>
        </p:nvSpPr>
        <p:spPr>
          <a:xfrm>
            <a:off x="13294633" y="7051396"/>
            <a:ext cx="193510" cy="314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077" b="1" i="0" u="none" spc="0" kern="0" lang="en-US">
                <a:solidFill>
                  <a:srgbClr val="699B7C"/>
                </a:solidFill>
                <a:latin typeface="Liberation Sans"/>
              </a:rPr>
              <a:t>T</a:t>
            </a:r>
          </a:p>
        </p:txBody>
      </p:sp>
      <p:sp>
        <p:nvSpPr>
          <p:cNvPr id="239" name="Editable text line"/>
          <p:cNvSpPr txBox="1"/>
          <p:nvPr/>
        </p:nvSpPr>
        <p:spPr>
          <a:xfrm>
            <a:off x="7635240" y="7225973"/>
            <a:ext cx="2350008" cy="394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50" b="0" i="0" u="none" spc="-29" kern="0" lang="en-US">
                <a:solidFill>
                  <a:srgbClr val="050505"/>
                </a:solidFill>
                <a:latin typeface="Comic Sans MS"/>
              </a:rPr>
              <a:t>and </a:t>
            </a:r>
            <a:r>
              <a:rPr sz="1350" b="0" i="0" u="none" spc="-29" kern="0" lang="en-US">
                <a:solidFill>
                  <a:srgbClr val="FFC000"/>
                </a:solidFill>
                <a:latin typeface="Comic Sans MS"/>
              </a:rPr>
              <a:t>&lt;moving instance caption&gt;</a:t>
            </a:r>
          </a:p>
        </p:txBody>
      </p:sp>
      <p:sp>
        <p:nvSpPr>
          <p:cNvPr id="240" name="Rounded rectangle"/>
          <p:cNvSpPr/>
          <p:nvPr/>
        </p:nvSpPr>
        <p:spPr>
          <a:xfrm>
            <a:off x="9875520" y="7287768"/>
            <a:ext cx="173736" cy="126827"/>
          </a:xfrm>
          <a:prstGeom prst="rect">
            <a:avLst/>
          </a:prstGeom>
          <a:noFill/>
          <a:ln w="13716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Line"/>
          <p:cNvCxnSpPr/>
          <p:nvPr/>
        </p:nvCxnSpPr>
        <p:spPr>
          <a:xfrm>
            <a:off x="9902952" y="7342632"/>
            <a:ext cx="109728" cy="0"/>
          </a:xfrm>
          <a:prstGeom prst="line">
            <a:avLst/>
          </a:prstGeom>
          <a:ln w="12801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Line"/>
          <p:cNvCxnSpPr/>
          <p:nvPr/>
        </p:nvCxnSpPr>
        <p:spPr>
          <a:xfrm>
            <a:off x="9902952" y="7388352"/>
            <a:ext cx="73152" cy="0"/>
          </a:xfrm>
          <a:prstGeom prst="line">
            <a:avLst/>
          </a:prstGeom>
          <a:ln w="12801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Polygon"/>
          <p:cNvSpPr/>
          <p:nvPr/>
        </p:nvSpPr>
        <p:spPr>
          <a:xfrm>
            <a:off x="10012680" y="7223760"/>
            <a:ext cx="54864" cy="73152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0" y="4"/>
                </a:moveTo>
                <a:lnTo>
                  <a:pt x="3" y="0"/>
                </a:lnTo>
                <a:lnTo>
                  <a:pt x="6" y="4"/>
                </a:lnTo>
                <a:lnTo>
                  <a:pt x="3" y="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text line"/>
          <p:cNvSpPr txBox="1"/>
          <p:nvPr/>
        </p:nvSpPr>
        <p:spPr>
          <a:xfrm>
            <a:off x="10058400" y="7225973"/>
            <a:ext cx="3410712" cy="394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50" b="0" i="0" u="none" spc="-47" kern="0" lang="en-US">
                <a:solidFill>
                  <a:srgbClr val="050505"/>
                </a:solidFill>
                <a:latin typeface="Comic Sans MS"/>
              </a:rPr>
              <a:t>. Provide a description of the dynamic scene.</a:t>
            </a:r>
          </a:p>
        </p:txBody>
      </p:sp>
      <p:sp>
        <p:nvSpPr>
          <p:cNvPr id="245" name="Editable text line"/>
          <p:cNvSpPr txBox="1"/>
          <p:nvPr/>
        </p:nvSpPr>
        <p:spPr>
          <a:xfrm>
            <a:off x="7635240" y="7430396"/>
            <a:ext cx="5843016" cy="3659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252" b="0" i="0" u="none" spc="-42" kern="0" lang="en-US">
                <a:solidFill>
                  <a:srgbClr val="050505"/>
                </a:solidFill>
                <a:latin typeface="Comic Sans MS"/>
              </a:rPr>
              <a:t>Focus on the scene type, instance-scene interaction, instance’s motion pattern, etc.</a:t>
            </a:r>
          </a:p>
        </p:txBody>
      </p:sp>
      <p:sp>
        <p:nvSpPr>
          <p:cNvPr id="246" name="Editable text line"/>
          <p:cNvSpPr txBox="1"/>
          <p:nvPr/>
        </p:nvSpPr>
        <p:spPr>
          <a:xfrm>
            <a:off x="13972032" y="7107101"/>
            <a:ext cx="2276856" cy="394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50" b="1" i="0" u="none" spc="-54" kern="0" lang="en-US">
                <a:solidFill>
                  <a:srgbClr val="050505"/>
                </a:solidFill>
                <a:latin typeface="Liberation Serif"/>
              </a:rPr>
              <a:t>Prompt: </a:t>
            </a:r>
            <a:r>
              <a:rPr sz="1350" b="0" i="0" u="none" spc="-54" kern="0" lang="en-US">
                <a:solidFill>
                  <a:srgbClr val="050505"/>
                </a:solidFill>
                <a:latin typeface="Comic Sans MS"/>
              </a:rPr>
              <a:t>Given the &lt;raw video&gt;</a:t>
            </a:r>
          </a:p>
        </p:txBody>
      </p:sp>
      <p:sp>
        <p:nvSpPr>
          <p:cNvPr id="247" name="Video icon"/>
          <p:cNvSpPr/>
          <p:nvPr/>
        </p:nvSpPr>
        <p:spPr>
          <a:xfrm>
            <a:off x="16166592" y="7187184"/>
            <a:ext cx="173736" cy="119878"/>
          </a:xfrm>
          <a:prstGeom prst="rect">
            <a:avLst/>
          </a:prstGeom>
          <a:solidFill>
            <a:srgbClr val="3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Polygon"/>
          <p:cNvSpPr/>
          <p:nvPr/>
        </p:nvSpPr>
        <p:spPr>
          <a:xfrm>
            <a:off x="16239744" y="7214616"/>
            <a:ext cx="54864" cy="54864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0" y="0"/>
                </a:moveTo>
                <a:lnTo>
                  <a:pt x="0" y="6"/>
                </a:lnTo>
                <a:lnTo>
                  <a:pt x="6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olygon"/>
          <p:cNvSpPr/>
          <p:nvPr/>
        </p:nvSpPr>
        <p:spPr>
          <a:xfrm>
            <a:off x="16166592" y="7132320"/>
            <a:ext cx="173736" cy="64008"/>
          </a:xfrm>
          <a:custGeom>
            <a:avLst/>
            <a:gdLst/>
            <a:ahLst/>
            <a:cxnLst/>
            <a:rect l="l" t="t" r="r" b="b"/>
            <a:pathLst>
              <a:path w="19" h="7">
                <a:moveTo>
                  <a:pt x="0" y="1"/>
                </a:moveTo>
                <a:lnTo>
                  <a:pt x="19" y="0"/>
                </a:lnTo>
                <a:lnTo>
                  <a:pt x="19" y="6"/>
                </a:lnTo>
                <a:lnTo>
                  <a:pt x="0" y="7"/>
                </a:lnTo>
                <a:close/>
              </a:path>
            </a:pathLst>
          </a:custGeom>
          <a:solidFill>
            <a:srgbClr val="3C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Line"/>
          <p:cNvCxnSpPr/>
          <p:nvPr/>
        </p:nvCxnSpPr>
        <p:spPr>
          <a:xfrm>
            <a:off x="16194024" y="7141464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Line"/>
          <p:cNvCxnSpPr/>
          <p:nvPr/>
        </p:nvCxnSpPr>
        <p:spPr>
          <a:xfrm>
            <a:off x="16258032" y="7141464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Line"/>
          <p:cNvCxnSpPr/>
          <p:nvPr/>
        </p:nvCxnSpPr>
        <p:spPr>
          <a:xfrm>
            <a:off x="16322040" y="7141464"/>
            <a:ext cx="27432" cy="45720"/>
          </a:xfrm>
          <a:prstGeom prst="line">
            <a:avLst/>
          </a:prstGeom>
          <a:ln w="914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Editable text line"/>
          <p:cNvSpPr txBox="1"/>
          <p:nvPr/>
        </p:nvSpPr>
        <p:spPr>
          <a:xfrm>
            <a:off x="13972032" y="7317413"/>
            <a:ext cx="1261872" cy="394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50" b="0" i="0" u="none" spc="-38" kern="0" lang="en-US">
                <a:solidFill>
                  <a:srgbClr val="699B7C"/>
                </a:solidFill>
                <a:latin typeface="Comic Sans MS"/>
              </a:rPr>
              <a:t>&lt;instance label&gt;</a:t>
            </a:r>
          </a:p>
        </p:txBody>
      </p:sp>
      <p:sp>
        <p:nvSpPr>
          <p:cNvPr id="254" name="Instance label icon"/>
          <p:cNvSpPr/>
          <p:nvPr/>
        </p:nvSpPr>
        <p:spPr>
          <a:xfrm>
            <a:off x="15160752" y="7342632"/>
            <a:ext cx="155448" cy="155448"/>
          </a:xfrm>
          <a:prstGeom prst="rect">
            <a:avLst/>
          </a:prstGeom>
          <a:solidFill>
            <a:srgbClr val="FFFFFF"/>
          </a:solidFill>
          <a:ln w="18288">
            <a:solidFill>
              <a:srgbClr val="699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"/>
          <p:cNvSpPr txBox="1"/>
          <p:nvPr/>
        </p:nvSpPr>
        <p:spPr>
          <a:xfrm>
            <a:off x="15196585" y="7334860"/>
            <a:ext cx="193510" cy="314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077" b="1" i="0" u="none" spc="0" kern="0" lang="en-US">
                <a:solidFill>
                  <a:srgbClr val="699B7C"/>
                </a:solidFill>
                <a:latin typeface="Liberation Sans"/>
              </a:rPr>
              <a:t>T</a:t>
            </a:r>
          </a:p>
        </p:txBody>
      </p:sp>
      <p:sp>
        <p:nvSpPr>
          <p:cNvPr id="256" name="Editable text line"/>
          <p:cNvSpPr txBox="1"/>
          <p:nvPr/>
        </p:nvSpPr>
        <p:spPr>
          <a:xfrm>
            <a:off x="15352776" y="7319479"/>
            <a:ext cx="1325880" cy="389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34" b="0" i="0" u="none" spc="-82" kern="0" lang="en-US">
                <a:solidFill>
                  <a:srgbClr val="050505"/>
                </a:solidFill>
                <a:latin typeface="Comic Sans MS"/>
              </a:rPr>
              <a:t>, </a:t>
            </a:r>
            <a:r>
              <a:rPr sz="1334" b="0" i="0" u="none" spc="-82" kern="0" lang="en-US">
                <a:solidFill>
                  <a:srgbClr val="FFC000"/>
                </a:solidFill>
                <a:latin typeface="Comic Sans MS"/>
              </a:rPr>
              <a:t>&lt;moving instance</a:t>
            </a:r>
          </a:p>
        </p:txBody>
      </p:sp>
      <p:sp>
        <p:nvSpPr>
          <p:cNvPr id="257" name="Editable text line"/>
          <p:cNvSpPr txBox="1"/>
          <p:nvPr/>
        </p:nvSpPr>
        <p:spPr>
          <a:xfrm>
            <a:off x="13972032" y="7529791"/>
            <a:ext cx="704088" cy="389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34" b="0" i="0" u="none" spc="-44" kern="0" lang="en-US">
                <a:solidFill>
                  <a:srgbClr val="FFC000"/>
                </a:solidFill>
                <a:latin typeface="Comic Sans MS"/>
              </a:rPr>
              <a:t>caption&gt;</a:t>
            </a:r>
          </a:p>
        </p:txBody>
      </p:sp>
      <p:sp>
        <p:nvSpPr>
          <p:cNvPr id="258" name="Rounded rectangle"/>
          <p:cNvSpPr/>
          <p:nvPr/>
        </p:nvSpPr>
        <p:spPr>
          <a:xfrm>
            <a:off x="14593824" y="7589520"/>
            <a:ext cx="173736" cy="126827"/>
          </a:xfrm>
          <a:prstGeom prst="rect">
            <a:avLst/>
          </a:prstGeom>
          <a:noFill/>
          <a:ln w="13716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Line"/>
          <p:cNvCxnSpPr/>
          <p:nvPr/>
        </p:nvCxnSpPr>
        <p:spPr>
          <a:xfrm>
            <a:off x="14621256" y="7644384"/>
            <a:ext cx="109728" cy="0"/>
          </a:xfrm>
          <a:prstGeom prst="line">
            <a:avLst/>
          </a:prstGeom>
          <a:ln w="12801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Line"/>
          <p:cNvCxnSpPr/>
          <p:nvPr/>
        </p:nvCxnSpPr>
        <p:spPr>
          <a:xfrm>
            <a:off x="14621256" y="7690104"/>
            <a:ext cx="73152" cy="0"/>
          </a:xfrm>
          <a:prstGeom prst="line">
            <a:avLst/>
          </a:prstGeom>
          <a:ln w="12801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Polygon"/>
          <p:cNvSpPr/>
          <p:nvPr/>
        </p:nvSpPr>
        <p:spPr>
          <a:xfrm>
            <a:off x="14730984" y="7525512"/>
            <a:ext cx="54864" cy="73152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0" y="4"/>
                </a:moveTo>
                <a:lnTo>
                  <a:pt x="3" y="0"/>
                </a:lnTo>
                <a:lnTo>
                  <a:pt x="6" y="4"/>
                </a:lnTo>
                <a:lnTo>
                  <a:pt x="3" y="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text line"/>
          <p:cNvSpPr txBox="1"/>
          <p:nvPr/>
        </p:nvSpPr>
        <p:spPr>
          <a:xfrm>
            <a:off x="14804136" y="7529791"/>
            <a:ext cx="1718643" cy="389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34" b="0" i="0" u="none" spc="0" kern="0" lang="en-US">
                <a:solidFill>
                  <a:srgbClr val="050505"/>
                </a:solidFill>
                <a:latin typeface="Comic Sans MS"/>
              </a:rPr>
              <a:t>, and </a:t>
            </a:r>
            <a:r>
              <a:rPr sz="1334" b="0" i="0" u="none" spc="0" kern="0" lang="en-US">
                <a:solidFill>
                  <a:srgbClr val="A9A4CB"/>
                </a:solidFill>
                <a:latin typeface="Comic Sans MS"/>
              </a:rPr>
              <a:t>&lt;dynamic scene</a:t>
            </a:r>
          </a:p>
        </p:txBody>
      </p:sp>
      <p:sp>
        <p:nvSpPr>
          <p:cNvPr id="263" name="Editable text line"/>
          <p:cNvSpPr txBox="1"/>
          <p:nvPr/>
        </p:nvSpPr>
        <p:spPr>
          <a:xfrm>
            <a:off x="13972032" y="7730959"/>
            <a:ext cx="713232" cy="389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34" b="0" i="0" u="none" spc="-33" kern="0" lang="en-US">
                <a:solidFill>
                  <a:srgbClr val="A9A4CB"/>
                </a:solidFill>
                <a:latin typeface="Comic Sans MS"/>
              </a:rPr>
              <a:t>caption&gt;</a:t>
            </a:r>
          </a:p>
        </p:txBody>
      </p:sp>
      <p:sp>
        <p:nvSpPr>
          <p:cNvPr id="264" name="Rounded rectangle"/>
          <p:cNvSpPr/>
          <p:nvPr/>
        </p:nvSpPr>
        <p:spPr>
          <a:xfrm>
            <a:off x="14602968" y="7781544"/>
            <a:ext cx="118872" cy="155448"/>
          </a:xfrm>
          <a:prstGeom prst="rect">
            <a:avLst/>
          </a:prstGeom>
          <a:noFill/>
          <a:ln w="9144">
            <a:solidFill>
              <a:srgbClr val="A9A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" name="Line"/>
          <p:cNvCxnSpPr/>
          <p:nvPr/>
        </p:nvCxnSpPr>
        <p:spPr>
          <a:xfrm>
            <a:off x="14630400" y="7808976"/>
            <a:ext cx="73152" cy="0"/>
          </a:xfrm>
          <a:prstGeom prst="line">
            <a:avLst/>
          </a:prstGeom>
          <a:ln w="9144">
            <a:solidFill>
              <a:srgbClr val="A9A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Line"/>
          <p:cNvCxnSpPr/>
          <p:nvPr/>
        </p:nvCxnSpPr>
        <p:spPr>
          <a:xfrm>
            <a:off x="14630400" y="7836408"/>
            <a:ext cx="73152" cy="0"/>
          </a:xfrm>
          <a:prstGeom prst="line">
            <a:avLst/>
          </a:prstGeom>
          <a:ln w="9144">
            <a:solidFill>
              <a:srgbClr val="A9A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Line"/>
          <p:cNvCxnSpPr/>
          <p:nvPr/>
        </p:nvCxnSpPr>
        <p:spPr>
          <a:xfrm>
            <a:off x="14630400" y="7863840"/>
            <a:ext cx="73152" cy="0"/>
          </a:xfrm>
          <a:prstGeom prst="line">
            <a:avLst/>
          </a:prstGeom>
          <a:ln w="9144">
            <a:solidFill>
              <a:srgbClr val="A9A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Line"/>
          <p:cNvCxnSpPr/>
          <p:nvPr/>
        </p:nvCxnSpPr>
        <p:spPr>
          <a:xfrm>
            <a:off x="14630400" y="7891272"/>
            <a:ext cx="73152" cy="0"/>
          </a:xfrm>
          <a:prstGeom prst="line">
            <a:avLst/>
          </a:prstGeom>
          <a:ln w="9144">
            <a:solidFill>
              <a:srgbClr val="A9A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Editable text line"/>
          <p:cNvSpPr txBox="1"/>
          <p:nvPr/>
        </p:nvSpPr>
        <p:spPr>
          <a:xfrm>
            <a:off x="14758416" y="7730959"/>
            <a:ext cx="1883664" cy="389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34" b="0" i="0" u="none" spc="-62" kern="0" lang="en-US">
                <a:solidFill>
                  <a:srgbClr val="050505"/>
                </a:solidFill>
                <a:latin typeface="Comic Sans MS"/>
              </a:rPr>
              <a:t>. Provide a description of</a:t>
            </a:r>
          </a:p>
        </p:txBody>
      </p:sp>
      <p:sp>
        <p:nvSpPr>
          <p:cNvPr id="270" name="Editable text line"/>
          <p:cNvSpPr txBox="1"/>
          <p:nvPr/>
        </p:nvSpPr>
        <p:spPr>
          <a:xfrm>
            <a:off x="13972032" y="7930061"/>
            <a:ext cx="1637833" cy="394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50" b="0" i="0" u="none" spc="0" kern="0" lang="en-US">
                <a:solidFill>
                  <a:srgbClr val="050505"/>
                </a:solidFill>
                <a:latin typeface="Comic Sans MS"/>
              </a:rPr>
              <a:t>the camera motion.</a:t>
            </a:r>
          </a:p>
        </p:txBody>
      </p:sp>
      <p:sp>
        <p:nvSpPr>
          <p:cNvPr id="271" name="Object response line 1"/>
          <p:cNvSpPr txBox="1"/>
          <p:nvPr/>
        </p:nvSpPr>
        <p:spPr>
          <a:xfrm>
            <a:off x="2212848" y="7979758"/>
            <a:ext cx="4809744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18" kern="0" lang="en-US">
                <a:solidFill>
                  <a:srgbClr val="126DB2"/>
                </a:solidFill>
                <a:latin typeface="Comic Sans MS"/>
              </a:rPr>
              <a:t>&lt;think&gt;</a:t>
            </a:r>
            <a:r>
              <a:rPr sz="1391" b="0" i="0" u="none" spc="18" kern="0" lang="en-US">
                <a:solidFill>
                  <a:srgbClr val="050505"/>
                </a:solidFill>
                <a:latin typeface="Comic Sans MS"/>
              </a:rPr>
              <a:t> Alright, let's break down the attributes </a:t>
            </a:r>
            <a:r>
              <a:rPr sz="1391" b="0" i="0" u="none" spc="18" kern="0" lang="en-US">
                <a:solidFill>
                  <a:srgbClr val="2AA9DF"/>
                </a:solidFill>
                <a:latin typeface="Comic Sans MS"/>
              </a:rPr>
              <a:t>step by</a:t>
            </a:r>
          </a:p>
        </p:txBody>
      </p:sp>
      <p:sp>
        <p:nvSpPr>
          <p:cNvPr id="272" name="Object response line 2"/>
          <p:cNvSpPr txBox="1"/>
          <p:nvPr/>
        </p:nvSpPr>
        <p:spPr>
          <a:xfrm>
            <a:off x="2212848" y="8169954"/>
            <a:ext cx="4809744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25" kern="0" lang="en-US">
                <a:solidFill>
                  <a:srgbClr val="2AA9DF"/>
                </a:solidFill>
                <a:latin typeface="Comic Sans MS"/>
              </a:rPr>
              <a:t>step:</a:t>
            </a:r>
            <a:r>
              <a:rPr sz="1391" b="0" i="0" u="none" spc="25" kern="0" lang="en-US">
                <a:solidFill>
                  <a:srgbClr val="050505"/>
                </a:solidFill>
                <a:latin typeface="Comic Sans MS"/>
              </a:rPr>
              <a:t> First, observe the boy’s action: stand, crouch, ... .</a:t>
            </a:r>
          </a:p>
        </p:txBody>
      </p:sp>
      <p:sp>
        <p:nvSpPr>
          <p:cNvPr id="273" name="Object response line 3"/>
          <p:cNvSpPr txBox="1"/>
          <p:nvPr/>
        </p:nvSpPr>
        <p:spPr>
          <a:xfrm>
            <a:off x="2212848" y="8360149"/>
            <a:ext cx="4809744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6" kern="0" lang="en-US">
                <a:solidFill>
                  <a:srgbClr val="050505"/>
                </a:solidFill>
                <a:latin typeface="Comic Sans MS"/>
              </a:rPr>
              <a:t>Then, see the boy’s </a:t>
            </a:r>
            <a:r>
              <a:rPr sz="1391" b="0" i="0" u="none" spc="36" kern="0" lang="en-US">
                <a:solidFill>
                  <a:srgbClr val="6A9FCB"/>
                </a:solidFill>
                <a:latin typeface="Comic Sans MS"/>
              </a:rPr>
              <a:t>attire</a:t>
            </a:r>
            <a:r>
              <a:rPr sz="1391" b="0" i="0" u="none" spc="36" kern="0" lang="en-US">
                <a:solidFill>
                  <a:srgbClr val="050505"/>
                </a:solidFill>
                <a:latin typeface="Comic Sans MS"/>
              </a:rPr>
              <a:t>: light green shirt, ... . Next,</a:t>
            </a:r>
          </a:p>
        </p:txBody>
      </p:sp>
      <p:sp>
        <p:nvSpPr>
          <p:cNvPr id="274" name="Object response line 4"/>
          <p:cNvSpPr txBox="1"/>
          <p:nvPr/>
        </p:nvSpPr>
        <p:spPr>
          <a:xfrm>
            <a:off x="2212848" y="8550344"/>
            <a:ext cx="4809744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27" kern="0" lang="en-US">
                <a:solidFill>
                  <a:srgbClr val="050505"/>
                </a:solidFill>
                <a:latin typeface="Comic Sans MS"/>
              </a:rPr>
              <a:t>note the </a:t>
            </a:r>
            <a:r>
              <a:rPr sz="1391" b="0" i="0" u="none" spc="27" kern="0" lang="en-US">
                <a:solidFill>
                  <a:srgbClr val="6A9FCB"/>
                </a:solidFill>
                <a:latin typeface="Comic Sans MS"/>
              </a:rPr>
              <a:t>shape and movement</a:t>
            </a:r>
            <a:r>
              <a:rPr sz="1391" b="0" i="0" u="none" spc="27" kern="0" lang="en-US">
                <a:solidFill>
                  <a:srgbClr val="050505"/>
                </a:solidFill>
                <a:latin typeface="Comic Sans MS"/>
              </a:rPr>
              <a:t>: agile, ... . Then, consider</a:t>
            </a:r>
          </a:p>
        </p:txBody>
      </p:sp>
      <p:sp>
        <p:nvSpPr>
          <p:cNvPr id="275" name="Object response line 5"/>
          <p:cNvSpPr txBox="1"/>
          <p:nvPr/>
        </p:nvSpPr>
        <p:spPr>
          <a:xfrm>
            <a:off x="2212848" y="8740539"/>
            <a:ext cx="4652850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the </a:t>
            </a:r>
            <a:r>
              <a:rPr sz="1391" b="0" i="0" u="none" spc="37" kern="0" lang="en-US">
                <a:solidFill>
                  <a:srgbClr val="6A9FCB"/>
                </a:solidFill>
                <a:latin typeface="Comic Sans MS"/>
              </a:rPr>
              <a:t>material</a:t>
            </a: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 of the clothing: lightweight, ... . Finally,</a:t>
            </a:r>
          </a:p>
        </p:txBody>
      </p:sp>
      <p:sp>
        <p:nvSpPr>
          <p:cNvPr id="276" name="Object response line 6"/>
          <p:cNvSpPr txBox="1"/>
          <p:nvPr/>
        </p:nvSpPr>
        <p:spPr>
          <a:xfrm>
            <a:off x="2212848" y="8930734"/>
            <a:ext cx="4809744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9" kern="0" lang="en-US">
                <a:solidFill>
                  <a:srgbClr val="050505"/>
                </a:solidFill>
                <a:latin typeface="Comic Sans MS"/>
              </a:rPr>
              <a:t>take into account the </a:t>
            </a:r>
            <a:r>
              <a:rPr sz="1391" b="0" i="0" u="none" spc="9" kern="0" lang="en-US">
                <a:solidFill>
                  <a:srgbClr val="6A9FCB"/>
                </a:solidFill>
                <a:latin typeface="Comic Sans MS"/>
              </a:rPr>
              <a:t>setting</a:t>
            </a:r>
            <a:r>
              <a:rPr sz="1391" b="0" i="0" u="none" spc="9" kern="0" lang="en-US">
                <a:solidFill>
                  <a:srgbClr val="050505"/>
                </a:solidFill>
                <a:latin typeface="Comic Sans MS"/>
              </a:rPr>
              <a:t> and the boy's </a:t>
            </a:r>
            <a:r>
              <a:rPr sz="1391" b="0" i="0" u="none" spc="9" kern="0" lang="en-US">
                <a:solidFill>
                  <a:srgbClr val="6A9FCB"/>
                </a:solidFill>
                <a:latin typeface="Comic Sans MS"/>
              </a:rPr>
              <a:t>engagement:</a:t>
            </a:r>
          </a:p>
        </p:txBody>
      </p:sp>
      <p:sp>
        <p:nvSpPr>
          <p:cNvPr id="277" name="Object response line 7"/>
          <p:cNvSpPr txBox="1"/>
          <p:nvPr/>
        </p:nvSpPr>
        <p:spPr>
          <a:xfrm>
            <a:off x="2212848" y="9120930"/>
            <a:ext cx="4809744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-12" kern="0" lang="en-US">
                <a:solidFill>
                  <a:srgbClr val="050505"/>
                </a:solidFill>
                <a:latin typeface="Comic Sans MS"/>
              </a:rPr>
              <a:t>indoor trampoline park, ... .</a:t>
            </a:r>
            <a:r>
              <a:rPr sz="1391" b="0" i="0" u="none" spc="-12" kern="0" lang="en-US">
                <a:solidFill>
                  <a:srgbClr val="126DB2"/>
                </a:solidFill>
                <a:latin typeface="Comic Sans MS"/>
              </a:rPr>
              <a:t>&lt;/think&gt;.</a:t>
            </a:r>
            <a:r>
              <a:rPr sz="1391" b="0" i="0" u="none" spc="-12" kern="0" lang="en-US">
                <a:solidFill>
                  <a:srgbClr val="050505"/>
                </a:solidFill>
                <a:latin typeface="Comic Sans MS"/>
              </a:rPr>
              <a:t> </a:t>
            </a:r>
            <a:r>
              <a:rPr sz="1391" b="0" i="0" u="none" spc="-12" kern="0" lang="en-US">
                <a:solidFill>
                  <a:srgbClr val="F00000"/>
                </a:solidFill>
                <a:latin typeface="Comic Sans MS"/>
              </a:rPr>
              <a:t>&lt;answer&gt;</a:t>
            </a:r>
            <a:r>
              <a:rPr sz="1391" b="0" i="0" u="none" spc="-12" kern="0" lang="en-US">
                <a:solidFill>
                  <a:srgbClr val="050505"/>
                </a:solidFill>
                <a:latin typeface="Comic Sans MS"/>
              </a:rPr>
              <a:t> {...} </a:t>
            </a:r>
            <a:r>
              <a:rPr sz="1391" b="0" i="0" u="none" spc="-12" kern="0" lang="en-US">
                <a:solidFill>
                  <a:srgbClr val="F00000"/>
                </a:solidFill>
                <a:latin typeface="Comic Sans MS"/>
              </a:rPr>
              <a:t>&lt;/answer&gt;</a:t>
            </a:r>
          </a:p>
        </p:txBody>
      </p:sp>
      <p:sp>
        <p:nvSpPr>
          <p:cNvPr id="278" name="Rephrased object caption line 1"/>
          <p:cNvSpPr txBox="1"/>
          <p:nvPr/>
        </p:nvSpPr>
        <p:spPr>
          <a:xfrm>
            <a:off x="2340864" y="9973150"/>
            <a:ext cx="975282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F00000"/>
                </a:solidFill>
                <a:latin typeface="Comic Sans MS"/>
              </a:rPr>
              <a:t>&lt;answer&gt;</a:t>
            </a: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 {</a:t>
            </a:r>
          </a:p>
        </p:txBody>
      </p:sp>
      <p:sp>
        <p:nvSpPr>
          <p:cNvPr id="279" name="Rephrased object caption line 2"/>
          <p:cNvSpPr txBox="1"/>
          <p:nvPr/>
        </p:nvSpPr>
        <p:spPr>
          <a:xfrm>
            <a:off x="2340864" y="10162431"/>
            <a:ext cx="4293697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      A young boy in a vibrant green vest with red</a:t>
            </a:r>
          </a:p>
        </p:txBody>
      </p:sp>
      <p:sp>
        <p:nvSpPr>
          <p:cNvPr id="280" name="Rephrased object caption line 3"/>
          <p:cNvSpPr txBox="1"/>
          <p:nvPr/>
        </p:nvSpPr>
        <p:spPr>
          <a:xfrm>
            <a:off x="2340864" y="10351712"/>
            <a:ext cx="4461838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trim and dark pants performs a dynamic sequence.</a:t>
            </a:r>
          </a:p>
        </p:txBody>
      </p:sp>
      <p:sp>
        <p:nvSpPr>
          <p:cNvPr id="281" name="Rephrased object caption line 4"/>
          <p:cNvSpPr txBox="1"/>
          <p:nvPr/>
        </p:nvSpPr>
        <p:spPr>
          <a:xfrm>
            <a:off x="2340864" y="10540993"/>
            <a:ext cx="4506192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Beginning in profile, they turn, extending arms and</a:t>
            </a:r>
          </a:p>
        </p:txBody>
      </p:sp>
      <p:sp>
        <p:nvSpPr>
          <p:cNvPr id="282" name="Rephrased object caption line 5"/>
          <p:cNvSpPr txBox="1"/>
          <p:nvPr/>
        </p:nvSpPr>
        <p:spPr>
          <a:xfrm>
            <a:off x="2340864" y="10730274"/>
            <a:ext cx="4004086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balancing on ready legs. Fluidly shifting from</a:t>
            </a:r>
          </a:p>
        </p:txBody>
      </p:sp>
      <p:sp>
        <p:nvSpPr>
          <p:cNvPr id="283" name="Rephrased object caption line 6"/>
          <p:cNvSpPr txBox="1"/>
          <p:nvPr/>
        </p:nvSpPr>
        <p:spPr>
          <a:xfrm>
            <a:off x="2340864" y="10919554"/>
            <a:ext cx="4168967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standing to a focused crouch, their movements</a:t>
            </a:r>
          </a:p>
        </p:txBody>
      </p:sp>
      <p:sp>
        <p:nvSpPr>
          <p:cNvPr id="284" name="Rephrased object caption line 7"/>
          <p:cNvSpPr txBox="1"/>
          <p:nvPr/>
        </p:nvSpPr>
        <p:spPr>
          <a:xfrm>
            <a:off x="2340864" y="11108835"/>
            <a:ext cx="4494619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display agility and control. The energetic sequence</a:t>
            </a:r>
          </a:p>
        </p:txBody>
      </p:sp>
      <p:sp>
        <p:nvSpPr>
          <p:cNvPr id="285" name="Rephrased object caption line 8"/>
          <p:cNvSpPr txBox="1"/>
          <p:nvPr/>
        </p:nvSpPr>
        <p:spPr>
          <a:xfrm>
            <a:off x="2340864" y="11298116"/>
            <a:ext cx="4636008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5" kern="0" lang="en-US">
                <a:solidFill>
                  <a:srgbClr val="050505"/>
                </a:solidFill>
                <a:latin typeface="Comic Sans MS"/>
              </a:rPr>
              <a:t>concludes with them seated, relaxed yet purposeful,</a:t>
            </a:r>
          </a:p>
        </p:txBody>
      </p:sp>
      <p:sp>
        <p:nvSpPr>
          <p:cNvPr id="286" name="Rephrased object caption line 9"/>
          <p:cNvSpPr txBox="1"/>
          <p:nvPr/>
        </p:nvSpPr>
        <p:spPr>
          <a:xfrm>
            <a:off x="2340864" y="11487397"/>
            <a:ext cx="4307967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embodying athleticism and grace throughout the</a:t>
            </a:r>
          </a:p>
        </p:txBody>
      </p:sp>
      <p:sp>
        <p:nvSpPr>
          <p:cNvPr id="287" name="Rephrased object caption line 10"/>
          <p:cNvSpPr txBox="1"/>
          <p:nvPr/>
        </p:nvSpPr>
        <p:spPr>
          <a:xfrm>
            <a:off x="2340864" y="11676678"/>
            <a:ext cx="1095720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transitions.</a:t>
            </a:r>
          </a:p>
        </p:txBody>
      </p:sp>
      <p:sp>
        <p:nvSpPr>
          <p:cNvPr id="288" name="Rephrased object caption line 11"/>
          <p:cNvSpPr txBox="1"/>
          <p:nvPr/>
        </p:nvSpPr>
        <p:spPr>
          <a:xfrm>
            <a:off x="2340864" y="11865958"/>
            <a:ext cx="1012858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}</a:t>
            </a:r>
            <a:r>
              <a:rPr sz="1391" b="0" i="0" u="none" spc="37" kern="0" lang="en-US">
                <a:solidFill>
                  <a:srgbClr val="F00000"/>
                </a:solidFill>
                <a:latin typeface="Comic Sans MS"/>
              </a:rPr>
              <a:t>&lt;/answer&gt;</a:t>
            </a:r>
          </a:p>
        </p:txBody>
      </p:sp>
      <p:sp>
        <p:nvSpPr>
          <p:cNvPr id="289" name="Scene response line 1"/>
          <p:cNvSpPr txBox="1"/>
          <p:nvPr/>
        </p:nvSpPr>
        <p:spPr>
          <a:xfrm>
            <a:off x="7763256" y="7896429"/>
            <a:ext cx="5464966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37" kern="0" lang="en-US">
                <a:solidFill>
                  <a:srgbClr val="126DB2"/>
                </a:solidFill>
                <a:latin typeface="Comic Sans MS"/>
              </a:rPr>
              <a:t>&lt;think&gt;</a:t>
            </a:r>
            <a:r>
              <a:rPr sz="1399" b="0" i="0" u="none" spc="37" kern="0" lang="en-US">
                <a:solidFill>
                  <a:srgbClr val="050505"/>
                </a:solidFill>
                <a:latin typeface="Comic Sans MS"/>
              </a:rPr>
              <a:t> Alright, let's break down the attributes </a:t>
            </a:r>
            <a:r>
              <a:rPr sz="1399" b="0" i="0" u="none" spc="37" kern="0" lang="en-US">
                <a:solidFill>
                  <a:srgbClr val="2AA9DF"/>
                </a:solidFill>
                <a:latin typeface="Comic Sans MS"/>
              </a:rPr>
              <a:t>step by step:</a:t>
            </a:r>
          </a:p>
        </p:txBody>
      </p:sp>
      <p:sp>
        <p:nvSpPr>
          <p:cNvPr id="290" name="Scene response line 2"/>
          <p:cNvSpPr txBox="1"/>
          <p:nvPr/>
        </p:nvSpPr>
        <p:spPr>
          <a:xfrm>
            <a:off x="7763256" y="8086624"/>
            <a:ext cx="5398252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37" kern="0" lang="en-US">
                <a:solidFill>
                  <a:srgbClr val="050505"/>
                </a:solidFill>
                <a:latin typeface="Comic Sans MS"/>
              </a:rPr>
              <a:t>First, identify the </a:t>
            </a:r>
            <a:r>
              <a:rPr sz="1399" b="0" i="0" u="none" spc="37" kern="0" lang="en-US">
                <a:solidFill>
                  <a:srgbClr val="6A9FCB"/>
                </a:solidFill>
                <a:latin typeface="Comic Sans MS"/>
              </a:rPr>
              <a:t>scene type</a:t>
            </a:r>
            <a:r>
              <a:rPr sz="1399" b="0" i="0" u="none" spc="37" kern="0" lang="en-US">
                <a:solidFill>
                  <a:srgbClr val="050505"/>
                </a:solidFill>
                <a:latin typeface="Comic Sans MS"/>
              </a:rPr>
              <a:t>: an indoor trampoline park, ... .</a:t>
            </a:r>
          </a:p>
        </p:txBody>
      </p:sp>
      <p:sp>
        <p:nvSpPr>
          <p:cNvPr id="291" name="Scene response line 3"/>
          <p:cNvSpPr txBox="1"/>
          <p:nvPr/>
        </p:nvSpPr>
        <p:spPr>
          <a:xfrm>
            <a:off x="7763256" y="8276820"/>
            <a:ext cx="5355664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37" kern="0" lang="en-US">
                <a:solidFill>
                  <a:srgbClr val="050505"/>
                </a:solidFill>
                <a:latin typeface="Comic Sans MS"/>
              </a:rPr>
              <a:t>Then, note the </a:t>
            </a:r>
            <a:r>
              <a:rPr sz="1399" b="0" i="0" u="none" spc="37" kern="0" lang="en-US">
                <a:solidFill>
                  <a:srgbClr val="6A9FCB"/>
                </a:solidFill>
                <a:latin typeface="Comic Sans MS"/>
              </a:rPr>
              <a:t>primary interactive entities</a:t>
            </a:r>
            <a:r>
              <a:rPr sz="1399" b="0" i="0" u="none" spc="37" kern="0" lang="en-US">
                <a:solidFill>
                  <a:srgbClr val="050505"/>
                </a:solidFill>
                <a:latin typeface="Comic Sans MS"/>
              </a:rPr>
              <a:t>: a young boy, ... .</a:t>
            </a:r>
          </a:p>
        </p:txBody>
      </p:sp>
      <p:sp>
        <p:nvSpPr>
          <p:cNvPr id="292" name="Scene response line 4"/>
          <p:cNvSpPr txBox="1"/>
          <p:nvPr/>
        </p:nvSpPr>
        <p:spPr>
          <a:xfrm>
            <a:off x="7763256" y="8467015"/>
            <a:ext cx="5531854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37" kern="0" lang="en-US">
                <a:solidFill>
                  <a:srgbClr val="050505"/>
                </a:solidFill>
                <a:latin typeface="Comic Sans MS"/>
              </a:rPr>
              <a:t>Next, observe the instance’s </a:t>
            </a:r>
            <a:r>
              <a:rPr sz="1399" b="0" i="0" u="none" spc="37" kern="0" lang="en-US">
                <a:solidFill>
                  <a:srgbClr val="6A9FCB"/>
                </a:solidFill>
                <a:latin typeface="Comic Sans MS"/>
              </a:rPr>
              <a:t>motion patterns</a:t>
            </a:r>
            <a:r>
              <a:rPr sz="1399" b="0" i="0" u="none" spc="37" kern="0" lang="en-US">
                <a:solidFill>
                  <a:srgbClr val="050505"/>
                </a:solidFill>
                <a:latin typeface="Comic Sans MS"/>
              </a:rPr>
              <a:t>: jumps, spins, ....</a:t>
            </a:r>
          </a:p>
        </p:txBody>
      </p:sp>
      <p:sp>
        <p:nvSpPr>
          <p:cNvPr id="293" name="Scene response line 5"/>
          <p:cNvSpPr txBox="1"/>
          <p:nvPr/>
        </p:nvSpPr>
        <p:spPr>
          <a:xfrm>
            <a:off x="7763256" y="8657210"/>
            <a:ext cx="5115202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37" kern="0" lang="en-US">
                <a:solidFill>
                  <a:srgbClr val="050505"/>
                </a:solidFill>
                <a:latin typeface="Comic Sans MS"/>
              </a:rPr>
              <a:t>Then consider the </a:t>
            </a:r>
            <a:r>
              <a:rPr sz="1399" b="0" i="0" u="none" spc="37" kern="0" lang="en-US">
                <a:solidFill>
                  <a:srgbClr val="6A9FCB"/>
                </a:solidFill>
                <a:latin typeface="Comic Sans MS"/>
              </a:rPr>
              <a:t>static background components</a:t>
            </a:r>
            <a:r>
              <a:rPr sz="1399" b="0" i="0" u="none" spc="37" kern="0" lang="en-US">
                <a:solidFill>
                  <a:srgbClr val="050505"/>
                </a:solidFill>
                <a:latin typeface="Comic Sans MS"/>
              </a:rPr>
              <a:t>: Padded</a:t>
            </a:r>
          </a:p>
        </p:txBody>
      </p:sp>
      <p:sp>
        <p:nvSpPr>
          <p:cNvPr id="294" name="Scene response line 6"/>
          <p:cNvSpPr txBox="1"/>
          <p:nvPr/>
        </p:nvSpPr>
        <p:spPr>
          <a:xfrm>
            <a:off x="7763256" y="8847405"/>
            <a:ext cx="5623560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26" kern="0" lang="en-US">
                <a:solidFill>
                  <a:srgbClr val="050505"/>
                </a:solidFill>
                <a:latin typeface="Comic Sans MS"/>
              </a:rPr>
              <a:t>Walls, ... . Finally, take into account the </a:t>
            </a:r>
            <a:r>
              <a:rPr sz="1399" b="0" i="0" u="none" spc="26" kern="0" lang="en-US">
                <a:solidFill>
                  <a:srgbClr val="6A9FCB"/>
                </a:solidFill>
                <a:latin typeface="Comic Sans MS"/>
              </a:rPr>
              <a:t>spatial relationships and</a:t>
            </a:r>
          </a:p>
        </p:txBody>
      </p:sp>
      <p:sp>
        <p:nvSpPr>
          <p:cNvPr id="295" name="Scene response line 7"/>
          <p:cNvSpPr txBox="1"/>
          <p:nvPr/>
        </p:nvSpPr>
        <p:spPr>
          <a:xfrm>
            <a:off x="7763256" y="9037600"/>
            <a:ext cx="5623560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12" kern="0" lang="en-US">
                <a:solidFill>
                  <a:srgbClr val="6A9FCB"/>
                </a:solidFill>
                <a:latin typeface="Comic Sans MS"/>
              </a:rPr>
              <a:t>interactions among different moving instances and the scene</a:t>
            </a:r>
            <a:r>
              <a:rPr sz="1399" b="0" i="0" u="none" spc="12" kern="0" lang="en-US">
                <a:solidFill>
                  <a:srgbClr val="050505"/>
                </a:solidFill>
                <a:latin typeface="Comic Sans MS"/>
              </a:rPr>
              <a:t>: the</a:t>
            </a:r>
          </a:p>
        </p:txBody>
      </p:sp>
      <p:sp>
        <p:nvSpPr>
          <p:cNvPr id="296" name="Scene response line 8"/>
          <p:cNvSpPr txBox="1"/>
          <p:nvPr/>
        </p:nvSpPr>
        <p:spPr>
          <a:xfrm>
            <a:off x="7763256" y="9227796"/>
            <a:ext cx="4943278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37" kern="0" lang="en-US">
                <a:solidFill>
                  <a:srgbClr val="050505"/>
                </a:solidFill>
                <a:latin typeface="Comic Sans MS"/>
              </a:rPr>
              <a:t>boy actively interacts on the trampoline by jumping and</a:t>
            </a:r>
          </a:p>
        </p:txBody>
      </p:sp>
      <p:sp>
        <p:nvSpPr>
          <p:cNvPr id="297" name="Scene response line 9"/>
          <p:cNvSpPr txBox="1"/>
          <p:nvPr/>
        </p:nvSpPr>
        <p:spPr>
          <a:xfrm>
            <a:off x="7763256" y="9417991"/>
            <a:ext cx="5623560" cy="408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9" b="0" i="0" u="none" spc="-27" kern="0" lang="en-US">
                <a:solidFill>
                  <a:srgbClr val="050505"/>
                </a:solidFill>
                <a:latin typeface="Comic Sans MS"/>
              </a:rPr>
              <a:t>performing various acrobatic actions. </a:t>
            </a:r>
            <a:r>
              <a:rPr sz="1399" b="0" i="0" u="none" spc="-27" kern="0" lang="en-US">
                <a:solidFill>
                  <a:srgbClr val="126DB2"/>
                </a:solidFill>
                <a:latin typeface="Comic Sans MS"/>
              </a:rPr>
              <a:t>&lt;/think&gt;.</a:t>
            </a:r>
            <a:r>
              <a:rPr sz="1399" b="0" i="0" u="none" spc="-27" kern="0" lang="en-US">
                <a:solidFill>
                  <a:srgbClr val="050505"/>
                </a:solidFill>
                <a:latin typeface="Comic Sans MS"/>
              </a:rPr>
              <a:t> </a:t>
            </a:r>
            <a:r>
              <a:rPr sz="1399" b="0" i="0" u="none" spc="-27" kern="0" lang="en-US">
                <a:solidFill>
                  <a:srgbClr val="F00000"/>
                </a:solidFill>
                <a:latin typeface="Comic Sans MS"/>
              </a:rPr>
              <a:t>&lt;answer&gt;</a:t>
            </a:r>
            <a:r>
              <a:rPr sz="1399" b="0" i="0" u="none" spc="-27" kern="0" lang="en-US">
                <a:solidFill>
                  <a:srgbClr val="050505"/>
                </a:solidFill>
                <a:latin typeface="Comic Sans MS"/>
              </a:rPr>
              <a:t> {...} </a:t>
            </a:r>
            <a:r>
              <a:rPr sz="1399" b="0" i="0" u="none" spc="-27" kern="0" lang="en-US">
                <a:solidFill>
                  <a:srgbClr val="F00000"/>
                </a:solidFill>
                <a:latin typeface="Comic Sans MS"/>
              </a:rPr>
              <a:t>&lt;/answer&gt;</a:t>
            </a:r>
          </a:p>
        </p:txBody>
      </p:sp>
      <p:sp>
        <p:nvSpPr>
          <p:cNvPr id="298" name="Rephrased scene caption line 1"/>
          <p:cNvSpPr txBox="1"/>
          <p:nvPr/>
        </p:nvSpPr>
        <p:spPr>
          <a:xfrm>
            <a:off x="7863840" y="10220038"/>
            <a:ext cx="975282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F00000"/>
                </a:solidFill>
                <a:latin typeface="Comic Sans MS"/>
              </a:rPr>
              <a:t>&lt;answer&gt;</a:t>
            </a: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 {</a:t>
            </a:r>
          </a:p>
        </p:txBody>
      </p:sp>
      <p:sp>
        <p:nvSpPr>
          <p:cNvPr id="299" name="Rephrased scene caption line 2"/>
          <p:cNvSpPr txBox="1"/>
          <p:nvPr/>
        </p:nvSpPr>
        <p:spPr>
          <a:xfrm>
            <a:off x="7863840" y="10409319"/>
            <a:ext cx="5269584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     Inside a vibrant indoor trampoline park, a young boy in a</a:t>
            </a:r>
          </a:p>
        </p:txBody>
      </p:sp>
      <p:sp>
        <p:nvSpPr>
          <p:cNvPr id="300" name="Rephrased scene caption line 3"/>
          <p:cNvSpPr txBox="1"/>
          <p:nvPr/>
        </p:nvSpPr>
        <p:spPr>
          <a:xfrm>
            <a:off x="7863840" y="10598600"/>
            <a:ext cx="5440680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27" kern="0" lang="en-US">
                <a:solidFill>
                  <a:srgbClr val="050505"/>
                </a:solidFill>
                <a:latin typeface="Comic Sans MS"/>
              </a:rPr>
              <a:t>turquoise shirt dynamically jumps, spins, and flips. Brightly lit,</a:t>
            </a:r>
          </a:p>
        </p:txBody>
      </p:sp>
      <p:sp>
        <p:nvSpPr>
          <p:cNvPr id="301" name="Rephrased scene caption line 4"/>
          <p:cNvSpPr txBox="1"/>
          <p:nvPr/>
        </p:nvSpPr>
        <p:spPr>
          <a:xfrm>
            <a:off x="7863840" y="10787881"/>
            <a:ext cx="5392934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the park features multiple trampolines with blue padding and</a:t>
            </a:r>
          </a:p>
        </p:txBody>
      </p:sp>
      <p:sp>
        <p:nvSpPr>
          <p:cNvPr id="302" name="Rephrased scene caption line 5"/>
          <p:cNvSpPr txBox="1"/>
          <p:nvPr/>
        </p:nvSpPr>
        <p:spPr>
          <a:xfrm>
            <a:off x="7863840" y="10977162"/>
            <a:ext cx="5365842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colorful play structures like orange and red climbing frames.</a:t>
            </a:r>
          </a:p>
        </p:txBody>
      </p:sp>
      <p:sp>
        <p:nvSpPr>
          <p:cNvPr id="303" name="Rephrased scene caption line 6"/>
          <p:cNvSpPr txBox="1"/>
          <p:nvPr/>
        </p:nvSpPr>
        <p:spPr>
          <a:xfrm>
            <a:off x="7863840" y="11166442"/>
            <a:ext cx="4924970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Other children in white and pink shirts enjoy the lively,</a:t>
            </a:r>
          </a:p>
        </p:txBody>
      </p:sp>
      <p:sp>
        <p:nvSpPr>
          <p:cNvPr id="304" name="Rephrased scene caption line 7"/>
          <p:cNvSpPr txBox="1"/>
          <p:nvPr/>
        </p:nvSpPr>
        <p:spPr>
          <a:xfrm>
            <a:off x="7863840" y="11355723"/>
            <a:ext cx="5440680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2" kern="0" lang="en-US">
                <a:solidFill>
                  <a:srgbClr val="050505"/>
                </a:solidFill>
                <a:latin typeface="Comic Sans MS"/>
              </a:rPr>
              <a:t>energetic atmosphere as the boy's joyful acrobatics highlight</a:t>
            </a:r>
          </a:p>
        </p:txBody>
      </p:sp>
      <p:sp>
        <p:nvSpPr>
          <p:cNvPr id="305" name="Rephrased scene caption line 8"/>
          <p:cNvSpPr txBox="1"/>
          <p:nvPr/>
        </p:nvSpPr>
        <p:spPr>
          <a:xfrm>
            <a:off x="7863840" y="11545004"/>
            <a:ext cx="4236821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the scene's playful activity and vibrant setting.</a:t>
            </a:r>
          </a:p>
        </p:txBody>
      </p:sp>
      <p:sp>
        <p:nvSpPr>
          <p:cNvPr id="306" name="Rephrased scene caption line 9"/>
          <p:cNvSpPr txBox="1"/>
          <p:nvPr/>
        </p:nvSpPr>
        <p:spPr>
          <a:xfrm>
            <a:off x="7863840" y="11734285"/>
            <a:ext cx="1012858" cy="406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91" b="0" i="0" u="none" spc="37" kern="0" lang="en-US">
                <a:solidFill>
                  <a:srgbClr val="050505"/>
                </a:solidFill>
                <a:latin typeface="Comic Sans MS"/>
              </a:rPr>
              <a:t>}</a:t>
            </a:r>
            <a:r>
              <a:rPr sz="1391" b="0" i="0" u="none" spc="37" kern="0" lang="en-US">
                <a:solidFill>
                  <a:srgbClr val="F00000"/>
                </a:solidFill>
                <a:latin typeface="Comic Sans MS"/>
              </a:rPr>
              <a:t>&lt;/answer&gt;</a:t>
            </a:r>
          </a:p>
        </p:txBody>
      </p:sp>
      <p:sp>
        <p:nvSpPr>
          <p:cNvPr id="307" name="Camera response line 1"/>
          <p:cNvSpPr txBox="1"/>
          <p:nvPr/>
        </p:nvSpPr>
        <p:spPr>
          <a:xfrm>
            <a:off x="14264640" y="8623972"/>
            <a:ext cx="915486" cy="396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58" b="0" i="0" u="none" spc="0" kern="0" lang="en-US">
                <a:solidFill>
                  <a:srgbClr val="F00000"/>
                </a:solidFill>
                <a:latin typeface="Comic Sans MS"/>
              </a:rPr>
              <a:t>&lt;answer&gt;</a:t>
            </a:r>
            <a:r>
              <a:rPr sz="1358" b="0" i="0" u="none" spc="0" kern="0" lang="en-US">
                <a:solidFill>
                  <a:srgbClr val="050505"/>
                </a:solidFill>
                <a:latin typeface="Comic Sans MS"/>
              </a:rPr>
              <a:t> {</a:t>
            </a:r>
          </a:p>
        </p:txBody>
      </p:sp>
      <p:sp>
        <p:nvSpPr>
          <p:cNvPr id="308" name="Camera response line 2"/>
          <p:cNvSpPr txBox="1"/>
          <p:nvPr/>
        </p:nvSpPr>
        <p:spPr>
          <a:xfrm>
            <a:off x="14264640" y="8827883"/>
            <a:ext cx="2131252" cy="396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58" b="0" i="0" u="none" spc="0" kern="0" lang="en-US">
                <a:solidFill>
                  <a:srgbClr val="050505"/>
                </a:solidFill>
                <a:latin typeface="Comic Sans MS"/>
              </a:rPr>
              <a:t>      The camera smoothly</a:t>
            </a:r>
          </a:p>
        </p:txBody>
      </p:sp>
      <p:sp>
        <p:nvSpPr>
          <p:cNvPr id="309" name="Camera response line 3"/>
          <p:cNvSpPr txBox="1"/>
          <p:nvPr/>
        </p:nvSpPr>
        <p:spPr>
          <a:xfrm>
            <a:off x="14264640" y="9031794"/>
            <a:ext cx="2014023" cy="396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58" b="0" i="0" u="none" spc="0" kern="0" lang="en-US">
                <a:solidFill>
                  <a:srgbClr val="050505"/>
                </a:solidFill>
                <a:latin typeface="Comic Sans MS"/>
              </a:rPr>
              <a:t>pans right, tracking the</a:t>
            </a:r>
          </a:p>
        </p:txBody>
      </p:sp>
      <p:sp>
        <p:nvSpPr>
          <p:cNvPr id="310" name="Camera response line 4"/>
          <p:cNvSpPr txBox="1"/>
          <p:nvPr/>
        </p:nvSpPr>
        <p:spPr>
          <a:xfrm>
            <a:off x="14264640" y="9235705"/>
            <a:ext cx="2276127" cy="396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58" b="0" i="0" u="none" spc="0" kern="0" lang="en-US">
                <a:solidFill>
                  <a:srgbClr val="050505"/>
                </a:solidFill>
                <a:latin typeface="Comic Sans MS"/>
              </a:rPr>
              <a:t>subject from the side with</a:t>
            </a:r>
          </a:p>
        </p:txBody>
      </p:sp>
      <p:sp>
        <p:nvSpPr>
          <p:cNvPr id="311" name="Camera response line 5"/>
          <p:cNvSpPr txBox="1"/>
          <p:nvPr/>
        </p:nvSpPr>
        <p:spPr>
          <a:xfrm>
            <a:off x="14264640" y="9439616"/>
            <a:ext cx="1392403" cy="396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58" b="0" i="0" u="none" spc="0" kern="0" lang="en-US">
                <a:solidFill>
                  <a:srgbClr val="050505"/>
                </a:solidFill>
                <a:latin typeface="Comic Sans MS"/>
              </a:rPr>
              <a:t>minimal shaking.</a:t>
            </a:r>
          </a:p>
        </p:txBody>
      </p:sp>
      <p:sp>
        <p:nvSpPr>
          <p:cNvPr id="312" name="Camera response line 6"/>
          <p:cNvSpPr txBox="1"/>
          <p:nvPr/>
        </p:nvSpPr>
        <p:spPr>
          <a:xfrm>
            <a:off x="14264640" y="9643528"/>
            <a:ext cx="952276" cy="396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58" b="0" i="0" u="none" spc="0" kern="0" lang="en-US">
                <a:solidFill>
                  <a:srgbClr val="050505"/>
                </a:solidFill>
                <a:latin typeface="Comic Sans MS"/>
              </a:rPr>
              <a:t>}</a:t>
            </a:r>
            <a:r>
              <a:rPr sz="1358" b="0" i="0" u="none" spc="0" kern="0" lang="en-US">
                <a:solidFill>
                  <a:srgbClr val="F00000"/>
                </a:solidFill>
                <a:latin typeface="Comic Sans MS"/>
              </a:rPr>
              <a:t>&lt;/answer&gt;</a:t>
            </a:r>
          </a:p>
        </p:txBody>
      </p:sp>
      <p:sp>
        <p:nvSpPr>
          <p:cNvPr id="313" name="Camera aligned caption line 1"/>
          <p:cNvSpPr txBox="1"/>
          <p:nvPr/>
        </p:nvSpPr>
        <p:spPr>
          <a:xfrm>
            <a:off x="14173200" y="10648929"/>
            <a:ext cx="894155" cy="3873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26" b="0" i="0" u="none" spc="0" kern="0" lang="en-US">
                <a:solidFill>
                  <a:srgbClr val="F00000"/>
                </a:solidFill>
                <a:latin typeface="Comic Sans MS"/>
              </a:rPr>
              <a:t>&lt;answer&gt;</a:t>
            </a:r>
            <a:r>
              <a:rPr sz="1326" b="0" i="0" u="none" spc="0" kern="0" lang="en-US">
                <a:solidFill>
                  <a:srgbClr val="050505"/>
                </a:solidFill>
                <a:latin typeface="Comic Sans MS"/>
              </a:rPr>
              <a:t> {</a:t>
            </a:r>
          </a:p>
        </p:txBody>
      </p:sp>
      <p:sp>
        <p:nvSpPr>
          <p:cNvPr id="314" name="Camera aligned caption line 2"/>
          <p:cNvSpPr txBox="1"/>
          <p:nvPr/>
        </p:nvSpPr>
        <p:spPr>
          <a:xfrm>
            <a:off x="14173200" y="10852840"/>
            <a:ext cx="2350008" cy="3873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26" b="0" i="0" u="none" spc="-34" kern="0" lang="en-US">
                <a:solidFill>
                  <a:srgbClr val="050505"/>
                </a:solidFill>
                <a:latin typeface="Comic Sans MS"/>
              </a:rPr>
              <a:t>      The camera smoothly pans</a:t>
            </a:r>
          </a:p>
        </p:txBody>
      </p:sp>
      <p:sp>
        <p:nvSpPr>
          <p:cNvPr id="315" name="Camera aligned caption line 3"/>
          <p:cNvSpPr txBox="1"/>
          <p:nvPr/>
        </p:nvSpPr>
        <p:spPr>
          <a:xfrm>
            <a:off x="14173200" y="11056751"/>
            <a:ext cx="2350008" cy="3873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26" b="0" i="0" u="none" spc="-10" kern="0" lang="en-US">
                <a:solidFill>
                  <a:srgbClr val="050505"/>
                </a:solidFill>
                <a:latin typeface="Comic Sans MS"/>
              </a:rPr>
              <a:t>right, tracking </a:t>
            </a:r>
            <a:r>
              <a:rPr sz="1326" b="0" i="0" u="sng" spc="-10" kern="0" lang="en-US">
                <a:solidFill>
                  <a:srgbClr val="050505"/>
                </a:solidFill>
                <a:latin typeface="Comic Sans MS"/>
              </a:rPr>
              <a:t>the young boy</a:t>
            </a:r>
          </a:p>
        </p:txBody>
      </p:sp>
      <p:sp>
        <p:nvSpPr>
          <p:cNvPr id="316" name="Camera aligned caption line 4"/>
          <p:cNvSpPr txBox="1"/>
          <p:nvPr/>
        </p:nvSpPr>
        <p:spPr>
          <a:xfrm>
            <a:off x="14173200" y="11260662"/>
            <a:ext cx="1985162" cy="3873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26" b="0" i="0" u="none" spc="0" kern="0" lang="en-US">
                <a:solidFill>
                  <a:srgbClr val="050505"/>
                </a:solidFill>
                <a:latin typeface="Comic Sans MS"/>
              </a:rPr>
              <a:t>in the </a:t>
            </a:r>
            <a:r>
              <a:rPr sz="1326" b="0" i="0" u="sng" spc="0" kern="0" lang="en-US">
                <a:solidFill>
                  <a:srgbClr val="050505"/>
                </a:solidFill>
                <a:latin typeface="Comic Sans MS"/>
              </a:rPr>
              <a:t>indoor trampoline</a:t>
            </a:r>
          </a:p>
        </p:txBody>
      </p:sp>
      <p:sp>
        <p:nvSpPr>
          <p:cNvPr id="317" name="Camera aligned caption line 5"/>
          <p:cNvSpPr txBox="1"/>
          <p:nvPr/>
        </p:nvSpPr>
        <p:spPr>
          <a:xfrm>
            <a:off x="14173200" y="11464573"/>
            <a:ext cx="2145525" cy="3873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26" b="0" i="0" u="sng" spc="0" kern="0" lang="en-US">
                <a:solidFill>
                  <a:srgbClr val="050505"/>
                </a:solidFill>
                <a:latin typeface="Comic Sans MS"/>
              </a:rPr>
              <a:t>park</a:t>
            </a:r>
            <a:r>
              <a:rPr sz="1326" b="0" i="0" u="none" spc="0" kern="0" lang="en-US">
                <a:solidFill>
                  <a:srgbClr val="050505"/>
                </a:solidFill>
                <a:latin typeface="Comic Sans MS"/>
              </a:rPr>
              <a:t> with minimal shaking.</a:t>
            </a:r>
          </a:p>
        </p:txBody>
      </p:sp>
      <p:sp>
        <p:nvSpPr>
          <p:cNvPr id="318" name="Camera aligned caption line 6"/>
          <p:cNvSpPr txBox="1"/>
          <p:nvPr/>
        </p:nvSpPr>
        <p:spPr>
          <a:xfrm>
            <a:off x="14173200" y="11668485"/>
            <a:ext cx="929973" cy="3873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326" b="0" i="0" u="none" spc="0" kern="0" lang="en-US">
                <a:solidFill>
                  <a:srgbClr val="050505"/>
                </a:solidFill>
                <a:latin typeface="Comic Sans MS"/>
              </a:rPr>
              <a:t>}</a:t>
            </a:r>
            <a:r>
              <a:rPr sz="1326" b="0" i="0" u="none" spc="0" kern="0" lang="en-US">
                <a:solidFill>
                  <a:srgbClr val="F00000"/>
                </a:solidFill>
                <a:latin typeface="Comic Sans MS"/>
              </a:rPr>
              <a:t>&lt;/answer&gt;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DynamicVerse A Physically-Aware Multimodal Framework for 4D World Model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898112" cy="1243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DynamicVerse — Editable Framework Diagram</dc:title>
  <dc:subject>Reconstruction of the supplied DynamicVerse framework reference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