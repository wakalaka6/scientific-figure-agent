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</p:sldIdLst>
  <p:notesMasterIdLst>
    <p:notesMasterId r:id="rId3"/>
  </p:notesMasterIdLst>
  <p:sldSz cx="15179040" cy="7315200"/>
  <p:notesSz cx="7315200" cy="1517904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78" y="135025"/>
            <a:ext cx="8304015" cy="7172232"/>
          </a:xfrm>
          <a:prstGeom prst="roundRect">
            <a:avLst>
              <a:gd name="adj" fmla="val 6199"/>
            </a:avLst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46913" y="135025"/>
            <a:ext cx="6724188" cy="7172232"/>
          </a:xfrm>
          <a:prstGeom prst="roundRect">
            <a:avLst>
              <a:gd name="adj" fmla="val 6612"/>
            </a:avLst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19229" y="182681"/>
            <a:ext cx="7065557" cy="357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20" b="1" dirty="0">
                <a:solidFill>
                  <a:srgbClr val="171717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Data Collection Pipeline with Reasoning Bootstrapping</a:t>
            </a:r>
            <a:endParaRPr lang="en-US" sz="2520" dirty="0"/>
          </a:p>
        </p:txBody>
      </p:sp>
      <p:sp>
        <p:nvSpPr>
          <p:cNvPr id="5" name="Text 3"/>
          <p:cNvSpPr txBox="1"/>
          <p:nvPr/>
        </p:nvSpPr>
        <p:spPr>
          <a:xfrm>
            <a:off x="9526594" y="174739"/>
            <a:ext cx="4525132" cy="357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736" b="1" dirty="0">
                <a:solidFill>
                  <a:srgbClr val="171717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GUI-Critic-R1</a:t>
            </a:r>
            <a:endParaRPr lang="en-US" sz="2736" dirty="0"/>
          </a:p>
        </p:txBody>
      </p:sp>
      <p:sp>
        <p:nvSpPr>
          <p:cNvPr id="6" name="Shape 4"/>
          <p:cNvSpPr/>
          <p:nvPr/>
        </p:nvSpPr>
        <p:spPr>
          <a:xfrm>
            <a:off x="142899" y="611586"/>
            <a:ext cx="3501023" cy="6584474"/>
          </a:xfrm>
          <a:prstGeom prst="roundRect">
            <a:avLst>
              <a:gd name="adj" fmla="val 7483"/>
            </a:avLst>
          </a:prstGeom>
          <a:solidFill>
            <a:srgbClr val="FFFFFF"/>
          </a:solidFill>
          <a:ln w="19050">
            <a:solidFill>
              <a:srgbClr val="F2B4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15372" y="611586"/>
            <a:ext cx="4501316" cy="6584474"/>
          </a:xfrm>
          <a:prstGeom prst="roundRect">
            <a:avLst>
              <a:gd name="adj" fmla="val 7584"/>
            </a:avLst>
          </a:prstGeom>
          <a:solidFill>
            <a:srgbClr val="FFFFFF"/>
          </a:solidFill>
          <a:ln w="19050">
            <a:solidFill>
              <a:srgbClr val="6AA8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81874" y="532159"/>
            <a:ext cx="6517778" cy="2176292"/>
          </a:xfrm>
          <a:prstGeom prst="roundRect">
            <a:avLst>
              <a:gd name="adj" fmla="val 9849"/>
            </a:avLst>
          </a:prstGeom>
          <a:solidFill>
            <a:srgbClr val="FFFFFF"/>
          </a:solidFill>
          <a:ln w="19050">
            <a:solidFill>
              <a:srgbClr val="5B9B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58057" y="2914960"/>
            <a:ext cx="6549533" cy="4281100"/>
          </a:xfrm>
          <a:prstGeom prst="roundRect">
            <a:avLst>
              <a:gd name="adj" fmla="val 7232"/>
            </a:avLst>
          </a:prstGeom>
          <a:solidFill>
            <a:srgbClr val="FFFFFF"/>
          </a:solidFill>
          <a:ln w="19050">
            <a:solidFill>
              <a:srgbClr val="5B9BD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7859" y="659242"/>
            <a:ext cx="3215226" cy="357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88" b="1" dirty="0">
                <a:solidFill>
                  <a:srgbClr val="171717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GUI Operations Collection</a:t>
            </a:r>
            <a:endParaRPr lang="en-US" sz="2088" dirty="0"/>
          </a:p>
        </p:txBody>
      </p:sp>
      <p:sp>
        <p:nvSpPr>
          <p:cNvPr id="11" name="Text 9"/>
          <p:cNvSpPr txBox="1"/>
          <p:nvPr/>
        </p:nvSpPr>
        <p:spPr>
          <a:xfrm>
            <a:off x="3953537" y="659242"/>
            <a:ext cx="4009108" cy="357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88" b="1" dirty="0">
                <a:solidFill>
                  <a:srgbClr val="171717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GUI Critiques Generation</a:t>
            </a:r>
            <a:endParaRPr lang="en-US" sz="2088" dirty="0"/>
          </a:p>
        </p:txBody>
      </p:sp>
      <p:sp>
        <p:nvSpPr>
          <p:cNvPr id="12" name="Shape 10"/>
          <p:cNvSpPr/>
          <p:nvPr/>
        </p:nvSpPr>
        <p:spPr>
          <a:xfrm>
            <a:off x="261981" y="1024605"/>
            <a:ext cx="3350186" cy="1080203"/>
          </a:xfrm>
          <a:prstGeom prst="rect">
            <a:avLst/>
          </a:prstGeom>
          <a:solidFill>
            <a:srgbClr val="F6F7F8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3737" y="1056375"/>
            <a:ext cx="452513" cy="1000777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 w="9525">
            <a:solidFill>
              <a:srgbClr val="6C6C6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7553" y="1088146"/>
            <a:ext cx="404880" cy="79427"/>
          </a:xfrm>
          <a:prstGeom prst="roundRect">
            <a:avLst>
              <a:gd name="adj" fmla="val 19990"/>
            </a:avLst>
          </a:prstGeom>
          <a:solidFill>
            <a:srgbClr val="EEEE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9782" y="1110385"/>
            <a:ext cx="34931" cy="34948"/>
          </a:xfrm>
          <a:prstGeom prst="ellipse">
            <a:avLst/>
          </a:prstGeom>
          <a:solidFill>
            <a:srgbClr val="5064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7247" y="1231114"/>
            <a:ext cx="63511" cy="63541"/>
          </a:xfrm>
          <a:prstGeom prst="roundRect">
            <a:avLst>
              <a:gd name="adj" fmla="val 25000"/>
            </a:avLst>
          </a:prstGeom>
          <a:solidFill>
            <a:srgbClr val="D48A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0452" y="1231114"/>
            <a:ext cx="63511" cy="63541"/>
          </a:xfrm>
          <a:prstGeom prst="roundRect">
            <a:avLst>
              <a:gd name="adj" fmla="val 25000"/>
            </a:avLst>
          </a:prstGeom>
          <a:solidFill>
            <a:srgbClr val="4A8F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3657" y="1231114"/>
            <a:ext cx="63511" cy="63541"/>
          </a:xfrm>
          <a:prstGeom prst="roundRect">
            <a:avLst>
              <a:gd name="adj" fmla="val 25000"/>
            </a:avLst>
          </a:prstGeom>
          <a:solidFill>
            <a:srgbClr val="C452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7247" y="1374082"/>
            <a:ext cx="63511" cy="63541"/>
          </a:xfrm>
          <a:prstGeom prst="roundRect">
            <a:avLst>
              <a:gd name="adj" fmla="val 25000"/>
            </a:avLst>
          </a:prstGeom>
          <a:solidFill>
            <a:srgbClr val="4A8F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0452" y="1374082"/>
            <a:ext cx="63511" cy="63541"/>
          </a:xfrm>
          <a:prstGeom prst="roundRect">
            <a:avLst>
              <a:gd name="adj" fmla="val 25000"/>
            </a:avLst>
          </a:prstGeom>
          <a:solidFill>
            <a:srgbClr val="C452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3657" y="1374082"/>
            <a:ext cx="63511" cy="63541"/>
          </a:xfrm>
          <a:prstGeom prst="roundRect">
            <a:avLst>
              <a:gd name="adj" fmla="val 25000"/>
            </a:avLst>
          </a:prstGeom>
          <a:solidFill>
            <a:srgbClr val="6B5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7247" y="1517050"/>
            <a:ext cx="63511" cy="63541"/>
          </a:xfrm>
          <a:prstGeom prst="roundRect">
            <a:avLst>
              <a:gd name="adj" fmla="val 25000"/>
            </a:avLst>
          </a:prstGeom>
          <a:solidFill>
            <a:srgbClr val="C452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452" y="1517050"/>
            <a:ext cx="63511" cy="63541"/>
          </a:xfrm>
          <a:prstGeom prst="roundRect">
            <a:avLst>
              <a:gd name="adj" fmla="val 25000"/>
            </a:avLst>
          </a:prstGeom>
          <a:solidFill>
            <a:srgbClr val="6B5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3657" y="1517050"/>
            <a:ext cx="63511" cy="63541"/>
          </a:xfrm>
          <a:prstGeom prst="roundRect">
            <a:avLst>
              <a:gd name="adj" fmla="val 25000"/>
            </a:avLst>
          </a:prstGeom>
          <a:solidFill>
            <a:srgbClr val="3B8BA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7247" y="1660018"/>
            <a:ext cx="63511" cy="63541"/>
          </a:xfrm>
          <a:prstGeom prst="roundRect">
            <a:avLst>
              <a:gd name="adj" fmla="val 25000"/>
            </a:avLst>
          </a:prstGeom>
          <a:solidFill>
            <a:srgbClr val="6B5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0452" y="1660018"/>
            <a:ext cx="63511" cy="63541"/>
          </a:xfrm>
          <a:prstGeom prst="roundRect">
            <a:avLst>
              <a:gd name="adj" fmla="val 25000"/>
            </a:avLst>
          </a:prstGeom>
          <a:solidFill>
            <a:srgbClr val="3B8BA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3657" y="1660018"/>
            <a:ext cx="63511" cy="63541"/>
          </a:xfrm>
          <a:prstGeom prst="roundRect">
            <a:avLst>
              <a:gd name="adj" fmla="val 25000"/>
            </a:avLst>
          </a:prstGeom>
          <a:solidFill>
            <a:srgbClr val="5064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8005" y="1056375"/>
            <a:ext cx="460452" cy="1000777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6C6C6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1822" y="1088146"/>
            <a:ext cx="412819" cy="79427"/>
          </a:xfrm>
          <a:prstGeom prst="roundRect">
            <a:avLst>
              <a:gd name="adj" fmla="val 19990"/>
            </a:avLst>
          </a:prstGeom>
          <a:solidFill>
            <a:srgbClr val="EEEE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4050" y="1110385"/>
            <a:ext cx="34931" cy="34948"/>
          </a:xfrm>
          <a:prstGeom prst="ellipse">
            <a:avLst/>
          </a:prstGeom>
          <a:solidFill>
            <a:srgbClr val="D48A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5638" y="1215229"/>
            <a:ext cx="365186" cy="380295"/>
          </a:xfrm>
          <a:prstGeom prst="roundRect">
            <a:avLst>
              <a:gd name="adj" fmla="val 4348"/>
            </a:avLst>
          </a:prstGeom>
          <a:solidFill>
            <a:srgbClr val="FFF3D8"/>
          </a:solidFill>
          <a:ln w="4763">
            <a:solidFill>
              <a:srgbClr val="DDDD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9455" y="1246999"/>
            <a:ext cx="317553" cy="240186"/>
          </a:xfrm>
          <a:prstGeom prst="roundRect">
            <a:avLst>
              <a:gd name="adj" fmla="val 6611"/>
            </a:avLst>
          </a:prstGeom>
          <a:solidFill>
            <a:srgbClr val="D48A13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516" y="1676857"/>
            <a:ext cx="333431" cy="0"/>
          </a:xfrm>
          <a:prstGeom prst="line">
            <a:avLst/>
          </a:prstGeom>
          <a:noFill/>
          <a:ln w="9525">
            <a:solidFill>
              <a:srgbClr val="A9A9A9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841516" y="1756919"/>
            <a:ext cx="277859" cy="0"/>
          </a:xfrm>
          <a:prstGeom prst="line">
            <a:avLst/>
          </a:prstGeom>
          <a:noFill/>
          <a:ln w="9525">
            <a:solidFill>
              <a:srgbClr val="B9B9B9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841516" y="1836981"/>
            <a:ext cx="317553" cy="0"/>
          </a:xfrm>
          <a:prstGeom prst="line">
            <a:avLst/>
          </a:prstGeom>
          <a:noFill/>
          <a:ln w="9525">
            <a:solidFill>
              <a:srgbClr val="C8C8C8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841516" y="1930069"/>
            <a:ext cx="333431" cy="63541"/>
          </a:xfrm>
          <a:prstGeom prst="roundRect">
            <a:avLst>
              <a:gd name="adj" fmla="val 37482"/>
            </a:avLst>
          </a:prstGeom>
          <a:solidFill>
            <a:srgbClr val="FFF3D8"/>
          </a:solidFill>
          <a:ln w="5715">
            <a:solidFill>
              <a:srgbClr val="D48A1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70213" y="1056375"/>
            <a:ext cx="468391" cy="1000777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6C6C6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294029" y="1088146"/>
            <a:ext cx="420758" cy="79427"/>
          </a:xfrm>
          <a:prstGeom prst="roundRect">
            <a:avLst>
              <a:gd name="adj" fmla="val 19990"/>
            </a:avLst>
          </a:prstGeom>
          <a:solidFill>
            <a:srgbClr val="EEEE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16258" y="1110385"/>
            <a:ext cx="34931" cy="34948"/>
          </a:xfrm>
          <a:prstGeom prst="ellipse">
            <a:avLst/>
          </a:prstGeom>
          <a:solidFill>
            <a:srgbClr val="4A8F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17846" y="1215229"/>
            <a:ext cx="373125" cy="380295"/>
          </a:xfrm>
          <a:prstGeom prst="roundRect">
            <a:avLst>
              <a:gd name="adj" fmla="val 4255"/>
            </a:avLst>
          </a:prstGeom>
          <a:solidFill>
            <a:srgbClr val="EBF6EA"/>
          </a:solidFill>
          <a:ln w="4763">
            <a:solidFill>
              <a:srgbClr val="DDDD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41662" y="1246999"/>
            <a:ext cx="325492" cy="240186"/>
          </a:xfrm>
          <a:prstGeom prst="roundRect">
            <a:avLst>
              <a:gd name="adj" fmla="val 6611"/>
            </a:avLst>
          </a:prstGeom>
          <a:solidFill>
            <a:srgbClr val="4A8F52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33723" y="1676857"/>
            <a:ext cx="341370" cy="0"/>
          </a:xfrm>
          <a:prstGeom prst="line">
            <a:avLst/>
          </a:prstGeom>
          <a:noFill/>
          <a:ln w="9525">
            <a:solidFill>
              <a:srgbClr val="A9A9A9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1333723" y="1756919"/>
            <a:ext cx="285798" cy="0"/>
          </a:xfrm>
          <a:prstGeom prst="line">
            <a:avLst/>
          </a:prstGeom>
          <a:noFill/>
          <a:ln w="9525">
            <a:solidFill>
              <a:srgbClr val="B9B9B9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1333723" y="1836981"/>
            <a:ext cx="325492" cy="0"/>
          </a:xfrm>
          <a:prstGeom prst="line">
            <a:avLst/>
          </a:prstGeom>
          <a:noFill/>
          <a:ln w="9525">
            <a:solidFill>
              <a:srgbClr val="C8C8C8"/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1333723" y="1930069"/>
            <a:ext cx="341370" cy="63541"/>
          </a:xfrm>
          <a:prstGeom prst="roundRect">
            <a:avLst>
              <a:gd name="adj" fmla="val 37482"/>
            </a:avLst>
          </a:prstGeom>
          <a:solidFill>
            <a:srgbClr val="EBF6EA"/>
          </a:solidFill>
          <a:ln w="5715">
            <a:solidFill>
              <a:srgbClr val="4A8F5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770359" y="1056375"/>
            <a:ext cx="460452" cy="1000777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6C6C6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94175" y="1088146"/>
            <a:ext cx="412819" cy="79427"/>
          </a:xfrm>
          <a:prstGeom prst="roundRect">
            <a:avLst>
              <a:gd name="adj" fmla="val 19990"/>
            </a:avLst>
          </a:prstGeom>
          <a:solidFill>
            <a:srgbClr val="EEEE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816404" y="1110385"/>
            <a:ext cx="34931" cy="34948"/>
          </a:xfrm>
          <a:prstGeom prst="ellipse">
            <a:avLst/>
          </a:prstGeom>
          <a:solidFill>
            <a:srgbClr val="C452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817992" y="1215229"/>
            <a:ext cx="365186" cy="380295"/>
          </a:xfrm>
          <a:prstGeom prst="roundRect">
            <a:avLst>
              <a:gd name="adj" fmla="val 4348"/>
            </a:avLst>
          </a:prstGeom>
          <a:solidFill>
            <a:srgbClr val="F7E7E7"/>
          </a:solidFill>
          <a:ln w="4763">
            <a:solidFill>
              <a:srgbClr val="DDDDD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41808" y="1246999"/>
            <a:ext cx="317553" cy="240186"/>
          </a:xfrm>
          <a:prstGeom prst="roundRect">
            <a:avLst>
              <a:gd name="adj" fmla="val 6611"/>
            </a:avLst>
          </a:prstGeom>
          <a:solidFill>
            <a:srgbClr val="C45252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33869" y="1676857"/>
            <a:ext cx="333431" cy="0"/>
          </a:xfrm>
          <a:prstGeom prst="line">
            <a:avLst/>
          </a:prstGeom>
          <a:noFill/>
          <a:ln w="9525">
            <a:solidFill>
              <a:srgbClr val="A9A9A9"/>
            </a:solidFill>
            <a:prstDash val="solid"/>
            <a:headEnd type="none"/>
            <a:tailEnd type="none"/>
          </a:ln>
        </p:spPr>
      </p:sp>
      <p:sp>
        <p:nvSpPr>
          <p:cNvPr id="52" name="Shape 50"/>
          <p:cNvSpPr/>
          <p:nvPr/>
        </p:nvSpPr>
        <p:spPr>
          <a:xfrm>
            <a:off x="1833869" y="1756919"/>
            <a:ext cx="277859" cy="0"/>
          </a:xfrm>
          <a:prstGeom prst="line">
            <a:avLst/>
          </a:prstGeom>
          <a:noFill/>
          <a:ln w="9525">
            <a:solidFill>
              <a:srgbClr val="B9B9B9"/>
            </a:solidFill>
            <a:prstDash val="solid"/>
            <a:headEnd type="none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1833869" y="1836981"/>
            <a:ext cx="317553" cy="0"/>
          </a:xfrm>
          <a:prstGeom prst="line">
            <a:avLst/>
          </a:prstGeom>
          <a:noFill/>
          <a:ln w="9525">
            <a:solidFill>
              <a:srgbClr val="C8C8C8"/>
            </a:solidFill>
            <a:prstDash val="solid"/>
            <a:headEnd type="none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1833869" y="1930069"/>
            <a:ext cx="333431" cy="63541"/>
          </a:xfrm>
          <a:prstGeom prst="roundRect">
            <a:avLst>
              <a:gd name="adj" fmla="val 37482"/>
            </a:avLst>
          </a:prstGeom>
          <a:solidFill>
            <a:srgbClr val="F7E7E7"/>
          </a:solidFill>
          <a:ln w="5715">
            <a:solidFill>
              <a:srgbClr val="C4525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262566" y="1056375"/>
            <a:ext cx="500146" cy="1000777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9525">
            <a:solidFill>
              <a:srgbClr val="6C6C6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286383" y="1088146"/>
            <a:ext cx="452513" cy="79427"/>
          </a:xfrm>
          <a:prstGeom prst="roundRect">
            <a:avLst>
              <a:gd name="adj" fmla="val 19990"/>
            </a:avLst>
          </a:prstGeom>
          <a:solidFill>
            <a:srgbClr val="EEEE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308611" y="1110385"/>
            <a:ext cx="34931" cy="34948"/>
          </a:xfrm>
          <a:prstGeom prst="ellipse">
            <a:avLst/>
          </a:prstGeom>
          <a:solidFill>
            <a:srgbClr val="6B5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10199" y="1215229"/>
            <a:ext cx="404880" cy="380295"/>
          </a:xfrm>
          <a:prstGeom prst="roundRect">
            <a:avLst>
              <a:gd name="adj" fmla="val 4175"/>
            </a:avLst>
          </a:prstGeom>
          <a:solidFill>
            <a:srgbClr val="EBE7FA"/>
          </a:solidFill>
          <a:ln w="4763">
            <a:solidFill>
              <a:srgbClr val="DDDDD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34016" y="1246999"/>
            <a:ext cx="357247" cy="240186"/>
          </a:xfrm>
          <a:prstGeom prst="roundRect">
            <a:avLst>
              <a:gd name="adj" fmla="val 6611"/>
            </a:avLst>
          </a:prstGeom>
          <a:solidFill>
            <a:srgbClr val="6B58C9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26077" y="1676857"/>
            <a:ext cx="373125" cy="0"/>
          </a:xfrm>
          <a:prstGeom prst="line">
            <a:avLst/>
          </a:prstGeom>
          <a:noFill/>
          <a:ln w="9525">
            <a:solidFill>
              <a:srgbClr val="A9A9A9"/>
            </a:solidFill>
            <a:prstDash val="solid"/>
            <a:headEnd type="none"/>
            <a:tailEnd type="none"/>
          </a:ln>
        </p:spPr>
      </p:sp>
      <p:sp>
        <p:nvSpPr>
          <p:cNvPr id="61" name="Shape 59"/>
          <p:cNvSpPr/>
          <p:nvPr/>
        </p:nvSpPr>
        <p:spPr>
          <a:xfrm>
            <a:off x="2326077" y="1756919"/>
            <a:ext cx="317553" cy="0"/>
          </a:xfrm>
          <a:prstGeom prst="line">
            <a:avLst/>
          </a:prstGeom>
          <a:noFill/>
          <a:ln w="9525">
            <a:solidFill>
              <a:srgbClr val="B9B9B9"/>
            </a:solidFill>
            <a:prstDash val="solid"/>
            <a:headEnd type="none"/>
            <a:tailEnd type="none"/>
          </a:ln>
        </p:spPr>
      </p:sp>
      <p:sp>
        <p:nvSpPr>
          <p:cNvPr id="62" name="Shape 60"/>
          <p:cNvSpPr/>
          <p:nvPr/>
        </p:nvSpPr>
        <p:spPr>
          <a:xfrm>
            <a:off x="2326077" y="1836981"/>
            <a:ext cx="357247" cy="0"/>
          </a:xfrm>
          <a:prstGeom prst="line">
            <a:avLst/>
          </a:prstGeom>
          <a:noFill/>
          <a:ln w="9525">
            <a:solidFill>
              <a:srgbClr val="C8C8C8"/>
            </a:solidFill>
            <a:prstDash val="solid"/>
            <a:headEnd type="none"/>
            <a:tailEnd type="none"/>
          </a:ln>
        </p:spPr>
      </p:sp>
      <p:sp>
        <p:nvSpPr>
          <p:cNvPr id="63" name="Shape 61"/>
          <p:cNvSpPr/>
          <p:nvPr/>
        </p:nvSpPr>
        <p:spPr>
          <a:xfrm>
            <a:off x="2326077" y="1930069"/>
            <a:ext cx="373125" cy="63541"/>
          </a:xfrm>
          <a:prstGeom prst="roundRect">
            <a:avLst>
              <a:gd name="adj" fmla="val 37482"/>
            </a:avLst>
          </a:prstGeom>
          <a:solidFill>
            <a:srgbClr val="EBE7FA"/>
          </a:solidFill>
          <a:ln w="5715">
            <a:solidFill>
              <a:srgbClr val="6B58C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104082" y="1056375"/>
            <a:ext cx="476330" cy="1000777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6C6C6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127898" y="1088146"/>
            <a:ext cx="428697" cy="79427"/>
          </a:xfrm>
          <a:prstGeom prst="roundRect">
            <a:avLst>
              <a:gd name="adj" fmla="val 19990"/>
            </a:avLst>
          </a:prstGeom>
          <a:solidFill>
            <a:srgbClr val="EEEE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150127" y="1110385"/>
            <a:ext cx="34931" cy="34948"/>
          </a:xfrm>
          <a:prstGeom prst="ellipse">
            <a:avLst/>
          </a:prstGeom>
          <a:solidFill>
            <a:srgbClr val="3B8BA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151715" y="1215229"/>
            <a:ext cx="381064" cy="380295"/>
          </a:xfrm>
          <a:prstGeom prst="roundRect">
            <a:avLst>
              <a:gd name="adj" fmla="val 4175"/>
            </a:avLst>
          </a:prstGeom>
          <a:solidFill>
            <a:srgbClr val="E9F5F8"/>
          </a:solidFill>
          <a:ln w="4763">
            <a:solidFill>
              <a:srgbClr val="DDDDD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175531" y="1246999"/>
            <a:ext cx="333431" cy="240186"/>
          </a:xfrm>
          <a:prstGeom prst="roundRect">
            <a:avLst>
              <a:gd name="adj" fmla="val 6611"/>
            </a:avLst>
          </a:prstGeom>
          <a:solidFill>
            <a:srgbClr val="3B8BA0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167593" y="1676857"/>
            <a:ext cx="349308" cy="0"/>
          </a:xfrm>
          <a:prstGeom prst="line">
            <a:avLst/>
          </a:prstGeom>
          <a:noFill/>
          <a:ln w="9525">
            <a:solidFill>
              <a:srgbClr val="A9A9A9"/>
            </a:solidFill>
            <a:prstDash val="solid"/>
            <a:headEnd type="none"/>
            <a:tailEnd type="none"/>
          </a:ln>
        </p:spPr>
      </p:sp>
      <p:sp>
        <p:nvSpPr>
          <p:cNvPr id="70" name="Shape 68"/>
          <p:cNvSpPr/>
          <p:nvPr/>
        </p:nvSpPr>
        <p:spPr>
          <a:xfrm>
            <a:off x="3167593" y="1756919"/>
            <a:ext cx="293737" cy="0"/>
          </a:xfrm>
          <a:prstGeom prst="line">
            <a:avLst/>
          </a:prstGeom>
          <a:noFill/>
          <a:ln w="9525">
            <a:solidFill>
              <a:srgbClr val="B9B9B9"/>
            </a:solidFill>
            <a:prstDash val="solid"/>
            <a:headEnd type="none"/>
            <a:tailEnd type="none"/>
          </a:ln>
        </p:spPr>
      </p:sp>
      <p:sp>
        <p:nvSpPr>
          <p:cNvPr id="71" name="Shape 69"/>
          <p:cNvSpPr/>
          <p:nvPr/>
        </p:nvSpPr>
        <p:spPr>
          <a:xfrm>
            <a:off x="3167593" y="1836981"/>
            <a:ext cx="333431" cy="0"/>
          </a:xfrm>
          <a:prstGeom prst="line">
            <a:avLst/>
          </a:prstGeom>
          <a:noFill/>
          <a:ln w="9525">
            <a:solidFill>
              <a:srgbClr val="C8C8C8"/>
            </a:solidFill>
            <a:prstDash val="solid"/>
            <a:headEnd type="none"/>
            <a:tailEnd type="none"/>
          </a:ln>
        </p:spPr>
      </p:sp>
      <p:sp>
        <p:nvSpPr>
          <p:cNvPr id="72" name="Shape 70"/>
          <p:cNvSpPr/>
          <p:nvPr/>
        </p:nvSpPr>
        <p:spPr>
          <a:xfrm>
            <a:off x="3167593" y="1930069"/>
            <a:ext cx="349308" cy="63541"/>
          </a:xfrm>
          <a:prstGeom prst="roundRect">
            <a:avLst>
              <a:gd name="adj" fmla="val 37482"/>
            </a:avLst>
          </a:prstGeom>
          <a:solidFill>
            <a:srgbClr val="E9F5F8"/>
          </a:solidFill>
          <a:ln w="5715">
            <a:solidFill>
              <a:srgbClr val="3B8BA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48602" y="1149304"/>
            <a:ext cx="100029" cy="100078"/>
          </a:xfrm>
          <a:prstGeom prst="ellipse">
            <a:avLst/>
          </a:prstGeom>
          <a:solidFill>
            <a:srgbClr val="F5A623"/>
          </a:solidFill>
          <a:ln w="9525">
            <a:solidFill>
              <a:srgbClr val="D987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98617" y="1242234"/>
            <a:ext cx="14290" cy="107226"/>
          </a:xfrm>
          <a:prstGeom prst="line">
            <a:avLst/>
          </a:prstGeom>
          <a:noFill/>
          <a:ln w="42863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75" name="Shape 73"/>
          <p:cNvSpPr/>
          <p:nvPr/>
        </p:nvSpPr>
        <p:spPr>
          <a:xfrm>
            <a:off x="712907" y="1342311"/>
            <a:ext cx="57160" cy="-64336"/>
          </a:xfrm>
          <a:prstGeom prst="line">
            <a:avLst/>
          </a:prstGeom>
          <a:noFill/>
          <a:ln w="3429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76" name="Shape 74"/>
          <p:cNvSpPr/>
          <p:nvPr/>
        </p:nvSpPr>
        <p:spPr>
          <a:xfrm>
            <a:off x="712907" y="1342311"/>
            <a:ext cx="-57160" cy="-50039"/>
          </a:xfrm>
          <a:prstGeom prst="line">
            <a:avLst/>
          </a:prstGeom>
          <a:noFill/>
          <a:ln w="3429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77" name="Shape 75"/>
          <p:cNvSpPr/>
          <p:nvPr/>
        </p:nvSpPr>
        <p:spPr>
          <a:xfrm>
            <a:off x="1355158" y="1093706"/>
            <a:ext cx="100029" cy="100078"/>
          </a:xfrm>
          <a:prstGeom prst="ellipse">
            <a:avLst/>
          </a:prstGeom>
          <a:solidFill>
            <a:srgbClr val="F5A623"/>
          </a:solidFill>
          <a:ln w="9525">
            <a:solidFill>
              <a:srgbClr val="D987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405173" y="1186635"/>
            <a:ext cx="14290" cy="107226"/>
          </a:xfrm>
          <a:prstGeom prst="line">
            <a:avLst/>
          </a:prstGeom>
          <a:noFill/>
          <a:ln w="42863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79" name="Shape 77"/>
          <p:cNvSpPr/>
          <p:nvPr/>
        </p:nvSpPr>
        <p:spPr>
          <a:xfrm>
            <a:off x="1419463" y="1286713"/>
            <a:ext cx="57160" cy="-64336"/>
          </a:xfrm>
          <a:prstGeom prst="line">
            <a:avLst/>
          </a:prstGeom>
          <a:noFill/>
          <a:ln w="3429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80" name="Shape 78"/>
          <p:cNvSpPr/>
          <p:nvPr/>
        </p:nvSpPr>
        <p:spPr>
          <a:xfrm>
            <a:off x="1419463" y="1286713"/>
            <a:ext cx="-57160" cy="-50039"/>
          </a:xfrm>
          <a:prstGeom prst="line">
            <a:avLst/>
          </a:prstGeom>
          <a:noFill/>
          <a:ln w="3429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81" name="Shape 79"/>
          <p:cNvSpPr/>
          <p:nvPr/>
        </p:nvSpPr>
        <p:spPr>
          <a:xfrm>
            <a:off x="1775916" y="1236674"/>
            <a:ext cx="100029" cy="100078"/>
          </a:xfrm>
          <a:prstGeom prst="ellipse">
            <a:avLst/>
          </a:prstGeom>
          <a:solidFill>
            <a:srgbClr val="F5A623"/>
          </a:solidFill>
          <a:ln w="9525">
            <a:solidFill>
              <a:srgbClr val="D987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825931" y="1329603"/>
            <a:ext cx="14290" cy="107226"/>
          </a:xfrm>
          <a:prstGeom prst="line">
            <a:avLst/>
          </a:prstGeom>
          <a:noFill/>
          <a:ln w="42863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83" name="Shape 81"/>
          <p:cNvSpPr/>
          <p:nvPr/>
        </p:nvSpPr>
        <p:spPr>
          <a:xfrm>
            <a:off x="1840220" y="1429681"/>
            <a:ext cx="57160" cy="-64336"/>
          </a:xfrm>
          <a:prstGeom prst="line">
            <a:avLst/>
          </a:prstGeom>
          <a:noFill/>
          <a:ln w="3429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84" name="Shape 82"/>
          <p:cNvSpPr/>
          <p:nvPr/>
        </p:nvSpPr>
        <p:spPr>
          <a:xfrm>
            <a:off x="1840220" y="1429681"/>
            <a:ext cx="-57160" cy="-50039"/>
          </a:xfrm>
          <a:prstGeom prst="line">
            <a:avLst/>
          </a:prstGeom>
          <a:noFill/>
          <a:ln w="3429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85" name="Shape 83"/>
          <p:cNvSpPr/>
          <p:nvPr/>
        </p:nvSpPr>
        <p:spPr>
          <a:xfrm>
            <a:off x="2371328" y="1117534"/>
            <a:ext cx="100029" cy="100078"/>
          </a:xfrm>
          <a:prstGeom prst="ellipse">
            <a:avLst/>
          </a:prstGeom>
          <a:solidFill>
            <a:srgbClr val="F5A623"/>
          </a:solidFill>
          <a:ln w="9525">
            <a:solidFill>
              <a:srgbClr val="D9870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421343" y="1210463"/>
            <a:ext cx="14290" cy="107226"/>
          </a:xfrm>
          <a:prstGeom prst="line">
            <a:avLst/>
          </a:prstGeom>
          <a:noFill/>
          <a:ln w="42863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87" name="Shape 85"/>
          <p:cNvSpPr/>
          <p:nvPr/>
        </p:nvSpPr>
        <p:spPr>
          <a:xfrm>
            <a:off x="2435633" y="1310541"/>
            <a:ext cx="57160" cy="-64336"/>
          </a:xfrm>
          <a:prstGeom prst="line">
            <a:avLst/>
          </a:prstGeom>
          <a:noFill/>
          <a:ln w="3429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88" name="Shape 86"/>
          <p:cNvSpPr/>
          <p:nvPr/>
        </p:nvSpPr>
        <p:spPr>
          <a:xfrm>
            <a:off x="2435633" y="1310541"/>
            <a:ext cx="-57160" cy="-50039"/>
          </a:xfrm>
          <a:prstGeom prst="line">
            <a:avLst/>
          </a:prstGeom>
          <a:noFill/>
          <a:ln w="3429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89" name="Shape 87"/>
          <p:cNvSpPr/>
          <p:nvPr/>
        </p:nvSpPr>
        <p:spPr>
          <a:xfrm>
            <a:off x="2657126" y="1729119"/>
            <a:ext cx="100029" cy="100078"/>
          </a:xfrm>
          <a:prstGeom prst="ellipse">
            <a:avLst/>
          </a:prstGeom>
          <a:solidFill>
            <a:srgbClr val="F5A623"/>
          </a:solidFill>
          <a:ln w="9525">
            <a:solidFill>
              <a:srgbClr val="D987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707141" y="1822049"/>
            <a:ext cx="14290" cy="107226"/>
          </a:xfrm>
          <a:prstGeom prst="line">
            <a:avLst/>
          </a:prstGeom>
          <a:noFill/>
          <a:ln w="42863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91" name="Shape 89"/>
          <p:cNvSpPr/>
          <p:nvPr/>
        </p:nvSpPr>
        <p:spPr>
          <a:xfrm>
            <a:off x="2721430" y="1922126"/>
            <a:ext cx="57160" cy="-64336"/>
          </a:xfrm>
          <a:prstGeom prst="line">
            <a:avLst/>
          </a:prstGeom>
          <a:noFill/>
          <a:ln w="3429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92" name="Shape 90"/>
          <p:cNvSpPr/>
          <p:nvPr/>
        </p:nvSpPr>
        <p:spPr>
          <a:xfrm>
            <a:off x="2721430" y="1922126"/>
            <a:ext cx="-57160" cy="-50039"/>
          </a:xfrm>
          <a:prstGeom prst="line">
            <a:avLst/>
          </a:prstGeom>
          <a:noFill/>
          <a:ln w="3429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93" name="Shape 91"/>
          <p:cNvSpPr/>
          <p:nvPr/>
        </p:nvSpPr>
        <p:spPr>
          <a:xfrm>
            <a:off x="3427192" y="1252559"/>
            <a:ext cx="100029" cy="100078"/>
          </a:xfrm>
          <a:prstGeom prst="ellipse">
            <a:avLst/>
          </a:prstGeom>
          <a:solidFill>
            <a:srgbClr val="F5A623"/>
          </a:solidFill>
          <a:ln w="9525">
            <a:solidFill>
              <a:srgbClr val="D9870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477207" y="1345488"/>
            <a:ext cx="14290" cy="107226"/>
          </a:xfrm>
          <a:prstGeom prst="line">
            <a:avLst/>
          </a:prstGeom>
          <a:noFill/>
          <a:ln w="42863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95" name="Shape 93"/>
          <p:cNvSpPr/>
          <p:nvPr/>
        </p:nvSpPr>
        <p:spPr>
          <a:xfrm>
            <a:off x="3491497" y="1445566"/>
            <a:ext cx="57160" cy="-64336"/>
          </a:xfrm>
          <a:prstGeom prst="line">
            <a:avLst/>
          </a:prstGeom>
          <a:noFill/>
          <a:ln w="3429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96" name="Shape 94"/>
          <p:cNvSpPr/>
          <p:nvPr/>
        </p:nvSpPr>
        <p:spPr>
          <a:xfrm>
            <a:off x="3491497" y="1445566"/>
            <a:ext cx="-57160" cy="-50039"/>
          </a:xfrm>
          <a:prstGeom prst="line">
            <a:avLst/>
          </a:prstGeom>
          <a:noFill/>
          <a:ln w="3429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97" name="Shape 95"/>
          <p:cNvSpPr/>
          <p:nvPr/>
        </p:nvSpPr>
        <p:spPr>
          <a:xfrm>
            <a:off x="682739" y="1223171"/>
            <a:ext cx="389003" cy="198567"/>
          </a:xfrm>
          <a:prstGeom prst="line">
            <a:avLst/>
          </a:prstGeom>
          <a:noFill/>
          <a:ln w="19050">
            <a:solidFill>
              <a:srgbClr val="F2B400"/>
            </a:solidFill>
            <a:prstDash val="solid"/>
            <a:headEnd type="none"/>
            <a:tailEnd type="none"/>
          </a:ln>
        </p:spPr>
      </p:sp>
      <p:sp>
        <p:nvSpPr>
          <p:cNvPr id="98" name="Shape 96"/>
          <p:cNvSpPr/>
          <p:nvPr/>
        </p:nvSpPr>
        <p:spPr>
          <a:xfrm>
            <a:off x="1071742" y="1421738"/>
            <a:ext cx="325492" cy="-262108"/>
          </a:xfrm>
          <a:prstGeom prst="line">
            <a:avLst/>
          </a:prstGeom>
          <a:noFill/>
          <a:ln w="19050">
            <a:solidFill>
              <a:srgbClr val="F2B400"/>
            </a:solidFill>
            <a:prstDash val="solid"/>
            <a:headEnd type="none"/>
            <a:tailEnd type="none"/>
          </a:ln>
        </p:spPr>
      </p:sp>
      <p:sp>
        <p:nvSpPr>
          <p:cNvPr id="99" name="Shape 97"/>
          <p:cNvSpPr/>
          <p:nvPr/>
        </p:nvSpPr>
        <p:spPr>
          <a:xfrm>
            <a:off x="1397234" y="1159630"/>
            <a:ext cx="428697" cy="150911"/>
          </a:xfrm>
          <a:prstGeom prst="line">
            <a:avLst/>
          </a:prstGeom>
          <a:noFill/>
          <a:ln w="19050">
            <a:solidFill>
              <a:srgbClr val="F2B400"/>
            </a:solidFill>
            <a:prstDash val="solid"/>
            <a:headEnd type="none"/>
            <a:tailEnd type="none"/>
          </a:ln>
        </p:spPr>
      </p:sp>
      <p:sp>
        <p:nvSpPr>
          <p:cNvPr id="100" name="Shape 98"/>
          <p:cNvSpPr/>
          <p:nvPr/>
        </p:nvSpPr>
        <p:spPr>
          <a:xfrm>
            <a:off x="1825931" y="1310541"/>
            <a:ext cx="611290" cy="-111197"/>
          </a:xfrm>
          <a:prstGeom prst="line">
            <a:avLst/>
          </a:prstGeom>
          <a:noFill/>
          <a:ln w="19050">
            <a:solidFill>
              <a:srgbClr val="F2B400"/>
            </a:solidFill>
            <a:prstDash val="solid"/>
            <a:headEnd type="none"/>
            <a:tailEnd type="none"/>
          </a:ln>
        </p:spPr>
      </p:sp>
      <p:sp>
        <p:nvSpPr>
          <p:cNvPr id="101" name="Shape 99"/>
          <p:cNvSpPr/>
          <p:nvPr/>
        </p:nvSpPr>
        <p:spPr>
          <a:xfrm>
            <a:off x="2437220" y="1199343"/>
            <a:ext cx="254043" cy="548044"/>
          </a:xfrm>
          <a:prstGeom prst="line">
            <a:avLst/>
          </a:prstGeom>
          <a:noFill/>
          <a:ln w="19050">
            <a:solidFill>
              <a:srgbClr val="F2B400"/>
            </a:solidFill>
            <a:prstDash val="solid"/>
            <a:headEnd type="none"/>
            <a:tailEnd type="none"/>
          </a:ln>
        </p:spPr>
      </p:sp>
      <p:sp>
        <p:nvSpPr>
          <p:cNvPr id="102" name="Shape 100"/>
          <p:cNvSpPr/>
          <p:nvPr/>
        </p:nvSpPr>
        <p:spPr>
          <a:xfrm>
            <a:off x="2691263" y="1747388"/>
            <a:ext cx="420758" cy="-222395"/>
          </a:xfrm>
          <a:prstGeom prst="line">
            <a:avLst/>
          </a:prstGeom>
          <a:noFill/>
          <a:ln w="19050">
            <a:solidFill>
              <a:srgbClr val="F2B400"/>
            </a:solidFill>
            <a:prstDash val="solid"/>
            <a:headEnd type="none"/>
            <a:tailEnd type="none"/>
          </a:ln>
        </p:spPr>
      </p:sp>
      <p:sp>
        <p:nvSpPr>
          <p:cNvPr id="103" name="Shape 101"/>
          <p:cNvSpPr/>
          <p:nvPr/>
        </p:nvSpPr>
        <p:spPr>
          <a:xfrm>
            <a:off x="3112021" y="1524993"/>
            <a:ext cx="365186" cy="-198567"/>
          </a:xfrm>
          <a:prstGeom prst="line">
            <a:avLst/>
          </a:prstGeom>
          <a:noFill/>
          <a:ln w="19050">
            <a:solidFill>
              <a:srgbClr val="F2B400"/>
            </a:solidFill>
            <a:prstDash val="solid"/>
            <a:headEnd type="none"/>
            <a:tailEnd type="triangle"/>
          </a:ln>
        </p:spPr>
      </p:sp>
      <p:sp>
        <p:nvSpPr>
          <p:cNvPr id="104" name="Text 102"/>
          <p:cNvSpPr txBox="1"/>
          <p:nvPr/>
        </p:nvSpPr>
        <p:spPr>
          <a:xfrm>
            <a:off x="2802406" y="1350254"/>
            <a:ext cx="222287" cy="31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88" b="1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⋯</a:t>
            </a:r>
            <a:endParaRPr lang="en-US" sz="2088" dirty="0"/>
          </a:p>
        </p:txBody>
      </p:sp>
      <p:sp>
        <p:nvSpPr>
          <p:cNvPr id="105" name="Shape 103"/>
          <p:cNvSpPr/>
          <p:nvPr/>
        </p:nvSpPr>
        <p:spPr>
          <a:xfrm>
            <a:off x="889149" y="2065094"/>
            <a:ext cx="0" cy="174739"/>
          </a:xfrm>
          <a:prstGeom prst="line">
            <a:avLst/>
          </a:prstGeom>
          <a:noFill/>
          <a:ln w="28575">
            <a:solidFill>
              <a:srgbClr val="F2B400"/>
            </a:solidFill>
            <a:prstDash val="solid"/>
            <a:headEnd type="none"/>
            <a:tailEnd type="triangle"/>
          </a:ln>
        </p:spPr>
      </p:sp>
      <p:sp>
        <p:nvSpPr>
          <p:cNvPr id="106" name="Shape 104"/>
          <p:cNvSpPr/>
          <p:nvPr/>
        </p:nvSpPr>
        <p:spPr>
          <a:xfrm>
            <a:off x="2738896" y="2065094"/>
            <a:ext cx="158777" cy="182681"/>
          </a:xfrm>
          <a:prstGeom prst="line">
            <a:avLst/>
          </a:prstGeom>
          <a:noFill/>
          <a:ln w="28575">
            <a:solidFill>
              <a:srgbClr val="F2B400"/>
            </a:solidFill>
            <a:prstDash val="solid"/>
            <a:headEnd type="none"/>
            <a:tailEnd type="triangle"/>
          </a:ln>
        </p:spPr>
      </p:sp>
      <p:sp>
        <p:nvSpPr>
          <p:cNvPr id="107" name="Text 105"/>
          <p:cNvSpPr txBox="1"/>
          <p:nvPr/>
        </p:nvSpPr>
        <p:spPr>
          <a:xfrm>
            <a:off x="269920" y="2231891"/>
            <a:ext cx="3294614" cy="198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2" b="1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Task Instruction: </a:t>
            </a:r>
            <a:pPr indent="0" marL="0">
              <a:buNone/>
            </a:pPr>
            <a:r>
              <a:rPr lang="en-US" sz="1512" dirty="0">
                <a:solidFill>
                  <a:srgbClr val="66666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Search for someone’s post</a:t>
            </a:r>
            <a:endParaRPr lang="en-US" sz="1512" dirty="0"/>
          </a:p>
        </p:txBody>
      </p:sp>
      <p:sp>
        <p:nvSpPr>
          <p:cNvPr id="108" name="Text 106"/>
          <p:cNvSpPr txBox="1"/>
          <p:nvPr/>
        </p:nvSpPr>
        <p:spPr>
          <a:xfrm>
            <a:off x="269920" y="2414572"/>
            <a:ext cx="3286675" cy="349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96" dirty="0">
                <a:solidFill>
                  <a:srgbClr val="66666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on Twitter and send it to tom33@gmail.com</a:t>
            </a:r>
            <a:endParaRPr lang="en-US" sz="1296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96" dirty="0">
                <a:solidFill>
                  <a:srgbClr val="66666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via Google Mail</a:t>
            </a:r>
            <a:endParaRPr lang="en-US" sz="1296" dirty="0"/>
          </a:p>
        </p:txBody>
      </p:sp>
      <p:sp>
        <p:nvSpPr>
          <p:cNvPr id="109" name="Text 107"/>
          <p:cNvSpPr txBox="1"/>
          <p:nvPr/>
        </p:nvSpPr>
        <p:spPr>
          <a:xfrm>
            <a:off x="269920" y="2795820"/>
            <a:ext cx="3294614" cy="19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96" b="1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Operation History:  </a:t>
            </a:r>
            <a:pPr indent="0" marL="0">
              <a:buNone/>
            </a:pPr>
            <a:r>
              <a:rPr lang="en-US" sz="1296" dirty="0">
                <a:solidFill>
                  <a:srgbClr val="66666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1. Open Twitter  2. Click the</a:t>
            </a:r>
            <a:endParaRPr lang="en-US" sz="1296" dirty="0"/>
          </a:p>
        </p:txBody>
      </p:sp>
      <p:sp>
        <p:nvSpPr>
          <p:cNvPr id="110" name="Text 108"/>
          <p:cNvSpPr txBox="1"/>
          <p:nvPr/>
        </p:nvSpPr>
        <p:spPr>
          <a:xfrm>
            <a:off x="269920" y="2978502"/>
            <a:ext cx="3286675" cy="3653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24" dirty="0">
                <a:solidFill>
                  <a:srgbClr val="66666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search icon  3. Click on the search box  4. Click on</a:t>
            </a:r>
            <a:endParaRPr lang="en-US" sz="1224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24" dirty="0">
                <a:solidFill>
                  <a:srgbClr val="66666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Musk in Recent for a quick access</a:t>
            </a:r>
            <a:endParaRPr lang="en-US" sz="1224" dirty="0"/>
          </a:p>
        </p:txBody>
      </p:sp>
      <p:sp>
        <p:nvSpPr>
          <p:cNvPr id="111" name="Text 109"/>
          <p:cNvSpPr txBox="1"/>
          <p:nvPr/>
        </p:nvSpPr>
        <p:spPr>
          <a:xfrm>
            <a:off x="269920" y="3335922"/>
            <a:ext cx="3294614" cy="19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96" b="1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Correct Action: </a:t>
            </a:r>
            <a:pPr indent="0" marL="0">
              <a:buNone/>
            </a:pPr>
            <a:r>
              <a:rPr lang="en-US" sz="1296" dirty="0">
                <a:solidFill>
                  <a:srgbClr val="66666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Click share button of first post</a:t>
            </a:r>
            <a:endParaRPr lang="en-US" sz="1296" dirty="0"/>
          </a:p>
        </p:txBody>
      </p:sp>
      <p:sp>
        <p:nvSpPr>
          <p:cNvPr id="112" name="Shape 110"/>
          <p:cNvSpPr/>
          <p:nvPr/>
        </p:nvSpPr>
        <p:spPr>
          <a:xfrm>
            <a:off x="285798" y="2748164"/>
            <a:ext cx="3215226" cy="0"/>
          </a:xfrm>
          <a:prstGeom prst="line">
            <a:avLst/>
          </a:prstGeom>
          <a:noFill/>
          <a:ln w="14288">
            <a:solidFill>
              <a:srgbClr val="F2B400"/>
            </a:solidFill>
            <a:prstDash val="solid"/>
            <a:headEnd type="none"/>
            <a:tailEnd type="none"/>
          </a:ln>
        </p:spPr>
      </p:sp>
      <p:sp>
        <p:nvSpPr>
          <p:cNvPr id="113" name="Shape 111"/>
          <p:cNvSpPr/>
          <p:nvPr/>
        </p:nvSpPr>
        <p:spPr>
          <a:xfrm>
            <a:off x="277859" y="3566259"/>
            <a:ext cx="3239042" cy="0"/>
          </a:xfrm>
          <a:prstGeom prst="line">
            <a:avLst/>
          </a:prstGeom>
          <a:noFill/>
          <a:ln w="14288">
            <a:solidFill>
              <a:srgbClr val="F2B400"/>
            </a:solidFill>
            <a:prstDash val="solid"/>
            <a:headEnd type="none"/>
            <a:tailEnd type="none"/>
          </a:ln>
        </p:spPr>
      </p:sp>
      <p:sp>
        <p:nvSpPr>
          <p:cNvPr id="114" name="Text 112"/>
          <p:cNvSpPr txBox="1"/>
          <p:nvPr/>
        </p:nvSpPr>
        <p:spPr>
          <a:xfrm>
            <a:off x="325492" y="3582145"/>
            <a:ext cx="3096143" cy="3018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71717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Negative Operations Sampling</a:t>
            </a:r>
            <a:endParaRPr lang="en-US" sz="1800" dirty="0"/>
          </a:p>
        </p:txBody>
      </p:sp>
      <p:sp>
        <p:nvSpPr>
          <p:cNvPr id="115" name="Shape 113"/>
          <p:cNvSpPr/>
          <p:nvPr/>
        </p:nvSpPr>
        <p:spPr>
          <a:xfrm>
            <a:off x="238165" y="3828367"/>
            <a:ext cx="3334308" cy="1453509"/>
          </a:xfrm>
          <a:prstGeom prst="roundRect">
            <a:avLst>
              <a:gd name="adj" fmla="val 5462"/>
            </a:avLst>
          </a:prstGeom>
          <a:solidFill>
            <a:srgbClr val="FFFBEA"/>
          </a:solidFill>
          <a:ln w="9525">
            <a:solidFill>
              <a:srgbClr val="FFFBE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87473" y="3971336"/>
            <a:ext cx="730372" cy="1151687"/>
          </a:xfrm>
          <a:prstGeom prst="rect">
            <a:avLst/>
          </a:prstGeom>
          <a:solidFill>
            <a:srgbClr val="FFFFFF"/>
          </a:solidFill>
          <a:ln w="9525">
            <a:solidFill>
              <a:srgbClr val="A7A7A7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00146" y="4026934"/>
            <a:ext cx="730372" cy="1151687"/>
          </a:xfrm>
          <a:prstGeom prst="rect">
            <a:avLst/>
          </a:prstGeom>
          <a:solidFill>
            <a:srgbClr val="FFFFFF"/>
          </a:solidFill>
          <a:ln w="9525">
            <a:solidFill>
              <a:srgbClr val="A7A7A7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12819" y="4082533"/>
            <a:ext cx="730372" cy="1151687"/>
          </a:xfrm>
          <a:prstGeom prst="rect">
            <a:avLst/>
          </a:prstGeom>
          <a:solidFill>
            <a:srgbClr val="FFFFFF"/>
          </a:solidFill>
          <a:ln w="9525">
            <a:solidFill>
              <a:srgbClr val="A7A7A7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12819" y="4082533"/>
            <a:ext cx="730372" cy="1151687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516024" y="4130189"/>
            <a:ext cx="571596" cy="142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92" dirty="0">
                <a:solidFill>
                  <a:srgbClr val="77777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Instruction</a:t>
            </a:r>
            <a:endParaRPr lang="en-US" sz="792" dirty="0"/>
          </a:p>
        </p:txBody>
      </p:sp>
      <p:sp>
        <p:nvSpPr>
          <p:cNvPr id="121" name="Text 119"/>
          <p:cNvSpPr txBox="1"/>
          <p:nvPr/>
        </p:nvSpPr>
        <p:spPr>
          <a:xfrm>
            <a:off x="428697" y="4296985"/>
            <a:ext cx="682739" cy="2621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36" b="1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Instruction</a:t>
            </a:r>
            <a:endParaRPr lang="en-US" sz="936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36" b="1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History</a:t>
            </a:r>
            <a:endParaRPr lang="en-US" sz="936" dirty="0"/>
          </a:p>
        </p:txBody>
      </p:sp>
      <p:sp>
        <p:nvSpPr>
          <p:cNvPr id="122" name="Shape 120"/>
          <p:cNvSpPr/>
          <p:nvPr/>
        </p:nvSpPr>
        <p:spPr>
          <a:xfrm>
            <a:off x="563657" y="4582921"/>
            <a:ext cx="357247" cy="5718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6C6C6C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87473" y="4614692"/>
            <a:ext cx="309614" cy="79427"/>
          </a:xfrm>
          <a:prstGeom prst="roundRect">
            <a:avLst>
              <a:gd name="adj" fmla="val 19990"/>
            </a:avLst>
          </a:prstGeom>
          <a:solidFill>
            <a:srgbClr val="EEEE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09702" y="4636931"/>
            <a:ext cx="34931" cy="34948"/>
          </a:xfrm>
          <a:prstGeom prst="ellipse">
            <a:avLst/>
          </a:prstGeom>
          <a:solidFill>
            <a:srgbClr val="4A8F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11290" y="4741775"/>
            <a:ext cx="261981" cy="217311"/>
          </a:xfrm>
          <a:prstGeom prst="roundRect">
            <a:avLst>
              <a:gd name="adj" fmla="val 7306"/>
            </a:avLst>
          </a:prstGeom>
          <a:solidFill>
            <a:srgbClr val="EBF6EA"/>
          </a:solidFill>
          <a:ln w="4763">
            <a:solidFill>
              <a:srgbClr val="DDDDDD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35106" y="4773545"/>
            <a:ext cx="214348" cy="137249"/>
          </a:xfrm>
          <a:prstGeom prst="roundRect">
            <a:avLst>
              <a:gd name="adj" fmla="val 11569"/>
            </a:avLst>
          </a:prstGeom>
          <a:solidFill>
            <a:srgbClr val="4A8F52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27167" y="4937482"/>
            <a:ext cx="230226" cy="0"/>
          </a:xfrm>
          <a:prstGeom prst="line">
            <a:avLst/>
          </a:prstGeom>
          <a:noFill/>
          <a:ln w="9525">
            <a:solidFill>
              <a:srgbClr val="A9A9A9"/>
            </a:solidFill>
            <a:prstDash val="solid"/>
            <a:headEnd type="none"/>
            <a:tailEnd type="none"/>
          </a:ln>
        </p:spPr>
      </p:sp>
      <p:sp>
        <p:nvSpPr>
          <p:cNvPr id="128" name="Shape 126"/>
          <p:cNvSpPr/>
          <p:nvPr/>
        </p:nvSpPr>
        <p:spPr>
          <a:xfrm>
            <a:off x="627167" y="4983232"/>
            <a:ext cx="174654" cy="0"/>
          </a:xfrm>
          <a:prstGeom prst="line">
            <a:avLst/>
          </a:prstGeom>
          <a:noFill/>
          <a:ln w="9525">
            <a:solidFill>
              <a:srgbClr val="B9B9B9"/>
            </a:solidFill>
            <a:prstDash val="solid"/>
            <a:headEnd type="none"/>
            <a:tailEnd type="none"/>
          </a:ln>
        </p:spPr>
      </p:sp>
      <p:sp>
        <p:nvSpPr>
          <p:cNvPr id="129" name="Shape 127"/>
          <p:cNvSpPr/>
          <p:nvPr/>
        </p:nvSpPr>
        <p:spPr>
          <a:xfrm>
            <a:off x="627167" y="5028982"/>
            <a:ext cx="214348" cy="0"/>
          </a:xfrm>
          <a:prstGeom prst="line">
            <a:avLst/>
          </a:prstGeom>
          <a:noFill/>
          <a:ln w="9525">
            <a:solidFill>
              <a:srgbClr val="C8C8C8"/>
            </a:solidFill>
            <a:prstDash val="solid"/>
            <a:headEnd type="none"/>
            <a:tailEnd type="none"/>
          </a:ln>
        </p:spPr>
      </p:sp>
      <p:sp>
        <p:nvSpPr>
          <p:cNvPr id="130" name="Shape 128"/>
          <p:cNvSpPr/>
          <p:nvPr/>
        </p:nvSpPr>
        <p:spPr>
          <a:xfrm>
            <a:off x="627167" y="5027711"/>
            <a:ext cx="230226" cy="63541"/>
          </a:xfrm>
          <a:prstGeom prst="roundRect">
            <a:avLst>
              <a:gd name="adj" fmla="val 37482"/>
            </a:avLst>
          </a:prstGeom>
          <a:solidFill>
            <a:srgbClr val="EBF6EA"/>
          </a:solidFill>
          <a:ln w="5715">
            <a:solidFill>
              <a:srgbClr val="4A8F52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410730" y="4278717"/>
            <a:ext cx="242928" cy="243046"/>
          </a:xfrm>
          <a:prstGeom prst="star4">
            <a:avLst/>
          </a:prstGeom>
          <a:solidFill>
            <a:srgbClr val="7657E8"/>
          </a:solidFill>
          <a:ln w="12700">
            <a:solidFill>
              <a:srgbClr val="7657E8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498454" y="4366483"/>
            <a:ext cx="67480" cy="67513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151130" y="4662348"/>
            <a:ext cx="658923" cy="0"/>
          </a:xfrm>
          <a:prstGeom prst="line">
            <a:avLst/>
          </a:prstGeom>
          <a:noFill/>
          <a:ln w="19050">
            <a:solidFill>
              <a:srgbClr val="171717"/>
            </a:solidFill>
            <a:prstDash val="solid"/>
            <a:headEnd type="none"/>
            <a:tailEnd type="triangle"/>
          </a:ln>
        </p:spPr>
      </p:sp>
      <p:sp>
        <p:nvSpPr>
          <p:cNvPr id="134" name="Shape 132"/>
          <p:cNvSpPr/>
          <p:nvPr/>
        </p:nvSpPr>
        <p:spPr>
          <a:xfrm>
            <a:off x="2341954" y="3788654"/>
            <a:ext cx="1214641" cy="1111974"/>
          </a:xfrm>
          <a:prstGeom prst="rect">
            <a:avLst/>
          </a:prstGeom>
          <a:solidFill>
            <a:srgbClr val="FFFFFF"/>
          </a:solidFill>
          <a:ln w="9525">
            <a:solidFill>
              <a:srgbClr val="A7A7A7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2254627" y="3844253"/>
            <a:ext cx="1214641" cy="1111974"/>
          </a:xfrm>
          <a:prstGeom prst="rect">
            <a:avLst/>
          </a:prstGeom>
          <a:solidFill>
            <a:srgbClr val="FFFFFF"/>
          </a:solidFill>
          <a:ln w="9525">
            <a:solidFill>
              <a:srgbClr val="A7A7A7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2167300" y="3899851"/>
            <a:ext cx="1214641" cy="1111974"/>
          </a:xfrm>
          <a:prstGeom prst="rect">
            <a:avLst/>
          </a:prstGeom>
          <a:solidFill>
            <a:srgbClr val="FFFFFF"/>
          </a:solidFill>
          <a:ln w="9525">
            <a:solidFill>
              <a:srgbClr val="A7A7A7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167300" y="3899851"/>
            <a:ext cx="1214641" cy="1111974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849747" y="4122246"/>
            <a:ext cx="1317846" cy="1040490"/>
          </a:xfrm>
          <a:prstGeom prst="rect">
            <a:avLst/>
          </a:prstGeom>
          <a:solidFill>
            <a:srgbClr val="FFFFFF"/>
          </a:solidFill>
          <a:ln w="66675">
            <a:solidFill>
              <a:srgbClr val="F1C54B"/>
            </a:solidFill>
            <a:prstDash val="solid"/>
          </a:ln>
        </p:spPr>
      </p:sp>
      <p:sp>
        <p:nvSpPr>
          <p:cNvPr id="139" name="Text 137"/>
          <p:cNvSpPr txBox="1"/>
          <p:nvPr/>
        </p:nvSpPr>
        <p:spPr>
          <a:xfrm>
            <a:off x="1921196" y="4225501"/>
            <a:ext cx="1190824" cy="3971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96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Action: Click the</a:t>
            </a:r>
            <a:endParaRPr lang="en-US" sz="1296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96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“Letter” button.</a:t>
            </a:r>
            <a:endParaRPr lang="en-US" sz="1296" dirty="0"/>
          </a:p>
        </p:txBody>
      </p:sp>
      <p:sp>
        <p:nvSpPr>
          <p:cNvPr id="140" name="Text 138"/>
          <p:cNvSpPr txBox="1"/>
          <p:nvPr/>
        </p:nvSpPr>
        <p:spPr>
          <a:xfrm>
            <a:off x="2048218" y="4614692"/>
            <a:ext cx="968537" cy="25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64" b="1" dirty="0">
                <a:solidFill>
                  <a:srgbClr val="E220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≠</a:t>
            </a:r>
            <a:endParaRPr lang="en-US" sz="2664" dirty="0"/>
          </a:p>
        </p:txBody>
      </p:sp>
      <p:sp>
        <p:nvSpPr>
          <p:cNvPr id="141" name="Text 139"/>
          <p:cNvSpPr txBox="1"/>
          <p:nvPr/>
        </p:nvSpPr>
        <p:spPr>
          <a:xfrm>
            <a:off x="1952952" y="4868857"/>
            <a:ext cx="1151130" cy="2462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2" dirty="0">
                <a:solidFill>
                  <a:srgbClr val="4F8B3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Click the stop</a:t>
            </a:r>
            <a:endParaRPr lang="en-US" sz="1152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2" dirty="0">
                <a:solidFill>
                  <a:srgbClr val="4F8B3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recording button</a:t>
            </a:r>
            <a:endParaRPr lang="en-US" sz="1152" dirty="0"/>
          </a:p>
        </p:txBody>
      </p:sp>
      <p:sp>
        <p:nvSpPr>
          <p:cNvPr id="142" name="Shape 140"/>
          <p:cNvSpPr/>
          <p:nvPr/>
        </p:nvSpPr>
        <p:spPr>
          <a:xfrm>
            <a:off x="3239042" y="4813259"/>
            <a:ext cx="79388" cy="79427"/>
          </a:xfrm>
          <a:prstGeom prst="ellipse">
            <a:avLst/>
          </a:prstGeom>
          <a:solidFill>
            <a:srgbClr val="1717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3350186" y="4781488"/>
            <a:ext cx="63511" cy="63541"/>
          </a:xfrm>
          <a:prstGeom prst="ellipse">
            <a:avLst/>
          </a:prstGeom>
          <a:solidFill>
            <a:srgbClr val="1717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445452" y="4749717"/>
            <a:ext cx="47633" cy="47656"/>
          </a:xfrm>
          <a:prstGeom prst="ellipse">
            <a:avLst/>
          </a:prstGeom>
          <a:solidFill>
            <a:srgbClr val="1717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" name="Text 143"/>
          <p:cNvSpPr txBox="1"/>
          <p:nvPr/>
        </p:nvSpPr>
        <p:spPr>
          <a:xfrm>
            <a:off x="333431" y="5361303"/>
            <a:ext cx="2064095" cy="3018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71717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Data Filtering</a:t>
            </a:r>
            <a:endParaRPr lang="en-US" sz="1800" dirty="0"/>
          </a:p>
        </p:txBody>
      </p:sp>
      <p:sp>
        <p:nvSpPr>
          <p:cNvPr id="146" name="Shape 144"/>
          <p:cNvSpPr/>
          <p:nvPr/>
        </p:nvSpPr>
        <p:spPr>
          <a:xfrm>
            <a:off x="230226" y="5663124"/>
            <a:ext cx="3366063" cy="1405853"/>
          </a:xfrm>
          <a:prstGeom prst="roundRect">
            <a:avLst>
              <a:gd name="adj" fmla="val 4518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484269" y="5901405"/>
            <a:ext cx="873271" cy="984891"/>
          </a:xfrm>
          <a:prstGeom prst="rect">
            <a:avLst/>
          </a:prstGeom>
          <a:solidFill>
            <a:srgbClr val="FFFFFF"/>
          </a:solidFill>
          <a:ln w="9525">
            <a:solidFill>
              <a:srgbClr val="A7A7A7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396941" y="5957003"/>
            <a:ext cx="873271" cy="984891"/>
          </a:xfrm>
          <a:prstGeom prst="rect">
            <a:avLst/>
          </a:prstGeom>
          <a:solidFill>
            <a:srgbClr val="FFFFFF"/>
          </a:solidFill>
          <a:ln w="9525">
            <a:solidFill>
              <a:srgbClr val="A7A7A7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309614" y="6012602"/>
            <a:ext cx="873271" cy="984891"/>
          </a:xfrm>
          <a:prstGeom prst="rect">
            <a:avLst/>
          </a:prstGeom>
          <a:solidFill>
            <a:srgbClr val="FFFFFF"/>
          </a:solidFill>
          <a:ln w="9525">
            <a:solidFill>
              <a:srgbClr val="A7A7A7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309614" y="6012602"/>
            <a:ext cx="873271" cy="984891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51" name="Text 149"/>
          <p:cNvSpPr txBox="1"/>
          <p:nvPr/>
        </p:nvSpPr>
        <p:spPr>
          <a:xfrm>
            <a:off x="404880" y="6004659"/>
            <a:ext cx="714495" cy="135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92" dirty="0">
                <a:solidFill>
                  <a:srgbClr val="77777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Instruction</a:t>
            </a:r>
            <a:endParaRPr lang="en-US" sz="792" dirty="0"/>
          </a:p>
        </p:txBody>
      </p:sp>
      <p:sp>
        <p:nvSpPr>
          <p:cNvPr id="152" name="Text 150"/>
          <p:cNvSpPr txBox="1"/>
          <p:nvPr/>
        </p:nvSpPr>
        <p:spPr>
          <a:xfrm>
            <a:off x="389003" y="6155570"/>
            <a:ext cx="754189" cy="2621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36" b="1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Instruction</a:t>
            </a:r>
            <a:endParaRPr lang="en-US" sz="936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36" b="1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History</a:t>
            </a:r>
            <a:endParaRPr lang="en-US" sz="936" dirty="0"/>
          </a:p>
        </p:txBody>
      </p:sp>
      <p:sp>
        <p:nvSpPr>
          <p:cNvPr id="153" name="Shape 151"/>
          <p:cNvSpPr/>
          <p:nvPr/>
        </p:nvSpPr>
        <p:spPr>
          <a:xfrm>
            <a:off x="579534" y="6473277"/>
            <a:ext cx="357247" cy="4765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6C6C6C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03351" y="6505048"/>
            <a:ext cx="309614" cy="79427"/>
          </a:xfrm>
          <a:prstGeom prst="roundRect">
            <a:avLst>
              <a:gd name="adj" fmla="val 19990"/>
            </a:avLst>
          </a:prstGeom>
          <a:solidFill>
            <a:srgbClr val="EEEE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625580" y="6527287"/>
            <a:ext cx="34931" cy="34948"/>
          </a:xfrm>
          <a:prstGeom prst="ellipse">
            <a:avLst/>
          </a:prstGeom>
          <a:solidFill>
            <a:srgbClr val="6B5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27167" y="6632130"/>
            <a:ext cx="261981" cy="181093"/>
          </a:xfrm>
          <a:prstGeom prst="roundRect">
            <a:avLst>
              <a:gd name="adj" fmla="val 8768"/>
            </a:avLst>
          </a:prstGeom>
          <a:solidFill>
            <a:srgbClr val="EBE7FA"/>
          </a:solidFill>
          <a:ln w="4763">
            <a:solidFill>
              <a:srgbClr val="DDDDDD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50984" y="6663901"/>
            <a:ext cx="214348" cy="114374"/>
          </a:xfrm>
          <a:prstGeom prst="roundRect">
            <a:avLst>
              <a:gd name="adj" fmla="val 13882"/>
            </a:avLst>
          </a:prstGeom>
          <a:solidFill>
            <a:srgbClr val="6B58C9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43045" y="6768744"/>
            <a:ext cx="230226" cy="0"/>
          </a:xfrm>
          <a:prstGeom prst="line">
            <a:avLst/>
          </a:prstGeom>
          <a:noFill/>
          <a:ln w="9525">
            <a:solidFill>
              <a:srgbClr val="A9A9A9"/>
            </a:solidFill>
            <a:prstDash val="solid"/>
            <a:headEnd type="none"/>
            <a:tailEnd type="none"/>
          </a:ln>
        </p:spPr>
      </p:sp>
      <p:sp>
        <p:nvSpPr>
          <p:cNvPr id="159" name="Shape 157"/>
          <p:cNvSpPr/>
          <p:nvPr/>
        </p:nvSpPr>
        <p:spPr>
          <a:xfrm>
            <a:off x="643045" y="6806869"/>
            <a:ext cx="174654" cy="0"/>
          </a:xfrm>
          <a:prstGeom prst="line">
            <a:avLst/>
          </a:prstGeom>
          <a:noFill/>
          <a:ln w="9525">
            <a:solidFill>
              <a:srgbClr val="B9B9B9"/>
            </a:solidFill>
            <a:prstDash val="solid"/>
            <a:headEnd type="none"/>
            <a:tailEnd type="none"/>
          </a:ln>
        </p:spPr>
      </p:sp>
      <p:sp>
        <p:nvSpPr>
          <p:cNvPr id="160" name="Shape 158"/>
          <p:cNvSpPr/>
          <p:nvPr/>
        </p:nvSpPr>
        <p:spPr>
          <a:xfrm>
            <a:off x="643045" y="6844994"/>
            <a:ext cx="214348" cy="0"/>
          </a:xfrm>
          <a:prstGeom prst="line">
            <a:avLst/>
          </a:prstGeom>
          <a:noFill/>
          <a:ln w="9525">
            <a:solidFill>
              <a:srgbClr val="C8C8C8"/>
            </a:solidFill>
            <a:prstDash val="solid"/>
            <a:headEnd type="none"/>
            <a:tailEnd type="none"/>
          </a:ln>
        </p:spPr>
      </p:sp>
      <p:sp>
        <p:nvSpPr>
          <p:cNvPr id="161" name="Shape 159"/>
          <p:cNvSpPr/>
          <p:nvPr/>
        </p:nvSpPr>
        <p:spPr>
          <a:xfrm>
            <a:off x="643045" y="6822754"/>
            <a:ext cx="230226" cy="63541"/>
          </a:xfrm>
          <a:prstGeom prst="roundRect">
            <a:avLst>
              <a:gd name="adj" fmla="val 37482"/>
            </a:avLst>
          </a:prstGeom>
          <a:solidFill>
            <a:srgbClr val="EBE7FA"/>
          </a:solidFill>
          <a:ln w="5715">
            <a:solidFill>
              <a:srgbClr val="6B58C9"/>
            </a:solidFill>
            <a:prstDash val="solid"/>
          </a:ln>
        </p:spPr>
      </p:sp>
      <p:sp>
        <p:nvSpPr>
          <p:cNvPr id="162" name="Text 160"/>
          <p:cNvSpPr txBox="1"/>
          <p:nvPr/>
        </p:nvSpPr>
        <p:spPr>
          <a:xfrm>
            <a:off x="396941" y="6544761"/>
            <a:ext cx="722433" cy="436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4" dirty="0">
                <a:solidFill>
                  <a:srgbClr val="E220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Click the</a:t>
            </a:r>
            <a:endParaRPr lang="en-US" sz="864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64" dirty="0">
                <a:solidFill>
                  <a:srgbClr val="E220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“Letter”</a:t>
            </a:r>
            <a:endParaRPr lang="en-US" sz="864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64" dirty="0">
                <a:solidFill>
                  <a:srgbClr val="E220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button is False.</a:t>
            </a:r>
            <a:endParaRPr lang="en-US" sz="864" dirty="0"/>
          </a:p>
        </p:txBody>
      </p:sp>
      <p:sp>
        <p:nvSpPr>
          <p:cNvPr id="163" name="Text 161"/>
          <p:cNvSpPr txBox="1"/>
          <p:nvPr/>
        </p:nvSpPr>
        <p:spPr>
          <a:xfrm>
            <a:off x="1357540" y="5686952"/>
            <a:ext cx="341370" cy="42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456" b="1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◎</a:t>
            </a:r>
            <a:endParaRPr lang="en-US" sz="3456" dirty="0"/>
          </a:p>
        </p:txBody>
      </p:sp>
      <p:sp>
        <p:nvSpPr>
          <p:cNvPr id="164" name="Shape 162"/>
          <p:cNvSpPr/>
          <p:nvPr/>
        </p:nvSpPr>
        <p:spPr>
          <a:xfrm>
            <a:off x="1198763" y="6266767"/>
            <a:ext cx="587473" cy="0"/>
          </a:xfrm>
          <a:prstGeom prst="line">
            <a:avLst/>
          </a:prstGeom>
          <a:noFill/>
          <a:ln w="19050">
            <a:solidFill>
              <a:srgbClr val="171717"/>
            </a:solidFill>
            <a:prstDash val="solid"/>
            <a:headEnd type="none"/>
            <a:tailEnd type="triangle"/>
          </a:ln>
        </p:spPr>
      </p:sp>
      <p:sp>
        <p:nvSpPr>
          <p:cNvPr id="165" name="Shape 163"/>
          <p:cNvSpPr/>
          <p:nvPr/>
        </p:nvSpPr>
        <p:spPr>
          <a:xfrm>
            <a:off x="2500731" y="5377188"/>
            <a:ext cx="1103497" cy="1127859"/>
          </a:xfrm>
          <a:prstGeom prst="rect">
            <a:avLst/>
          </a:prstGeom>
          <a:solidFill>
            <a:srgbClr val="FFFFFF"/>
          </a:solidFill>
          <a:ln w="9525">
            <a:solidFill>
              <a:srgbClr val="A7A7A7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2413404" y="5432787"/>
            <a:ext cx="1103497" cy="1127859"/>
          </a:xfrm>
          <a:prstGeom prst="rect">
            <a:avLst/>
          </a:prstGeom>
          <a:solidFill>
            <a:srgbClr val="FFFFFF"/>
          </a:solidFill>
          <a:ln w="9525">
            <a:solidFill>
              <a:srgbClr val="A7A7A7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2326077" y="5488386"/>
            <a:ext cx="1103497" cy="1127859"/>
          </a:xfrm>
          <a:prstGeom prst="rect">
            <a:avLst/>
          </a:prstGeom>
          <a:solidFill>
            <a:srgbClr val="FFFFFF"/>
          </a:solidFill>
          <a:ln w="9525">
            <a:solidFill>
              <a:srgbClr val="A7A7A7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2326077" y="5488386"/>
            <a:ext cx="1103497" cy="1127859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849747" y="5837863"/>
            <a:ext cx="1317846" cy="794267"/>
          </a:xfrm>
          <a:prstGeom prst="rect">
            <a:avLst/>
          </a:prstGeom>
          <a:solidFill>
            <a:srgbClr val="FFFFFF"/>
          </a:solidFill>
          <a:ln w="66675">
            <a:solidFill>
              <a:srgbClr val="F1C54B"/>
            </a:solidFill>
            <a:prstDash val="solid"/>
          </a:ln>
        </p:spPr>
      </p:sp>
      <p:sp>
        <p:nvSpPr>
          <p:cNvPr id="170" name="Text 168"/>
          <p:cNvSpPr txBox="1"/>
          <p:nvPr/>
        </p:nvSpPr>
        <p:spPr>
          <a:xfrm>
            <a:off x="1913258" y="5909347"/>
            <a:ext cx="1174947" cy="373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E220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Click the “Letter”</a:t>
            </a:r>
            <a:endParaRPr lang="en-US" sz="108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E220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button is False</a:t>
            </a:r>
            <a:endParaRPr lang="en-US" sz="1080" dirty="0"/>
          </a:p>
        </p:txBody>
      </p:sp>
      <p:sp>
        <p:nvSpPr>
          <p:cNvPr id="171" name="Shape 169"/>
          <p:cNvSpPr/>
          <p:nvPr/>
        </p:nvSpPr>
        <p:spPr>
          <a:xfrm>
            <a:off x="2524547" y="6632130"/>
            <a:ext cx="0" cy="127083"/>
          </a:xfrm>
          <a:prstGeom prst="line">
            <a:avLst/>
          </a:prstGeom>
          <a:noFill/>
          <a:ln w="19050">
            <a:solidFill>
              <a:srgbClr val="F2B400"/>
            </a:solidFill>
            <a:prstDash val="solid"/>
            <a:headEnd type="none"/>
            <a:tailEnd type="triangle"/>
          </a:ln>
        </p:spPr>
      </p:sp>
      <p:sp>
        <p:nvSpPr>
          <p:cNvPr id="172" name="Shape 170"/>
          <p:cNvSpPr/>
          <p:nvPr/>
        </p:nvSpPr>
        <p:spPr>
          <a:xfrm>
            <a:off x="1516316" y="6687729"/>
            <a:ext cx="2175239" cy="190624"/>
          </a:xfrm>
          <a:prstGeom prst="roundRect">
            <a:avLst>
              <a:gd name="adj" fmla="val 41647"/>
            </a:avLst>
          </a:prstGeom>
          <a:solidFill>
            <a:srgbClr val="FFF1B5"/>
          </a:solidFill>
          <a:ln w="14288">
            <a:solidFill>
              <a:srgbClr val="F2B400"/>
            </a:solidFill>
            <a:prstDash val="solid"/>
          </a:ln>
        </p:spPr>
      </p:sp>
      <p:sp>
        <p:nvSpPr>
          <p:cNvPr id="173" name="Text 171"/>
          <p:cNvSpPr txBox="1"/>
          <p:nvPr/>
        </p:nvSpPr>
        <p:spPr>
          <a:xfrm>
            <a:off x="2723018" y="6655958"/>
            <a:ext cx="905026" cy="22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24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☺ Select!</a:t>
            </a:r>
            <a:endParaRPr lang="en-US" sz="1224" dirty="0"/>
          </a:p>
        </p:txBody>
      </p:sp>
      <p:sp>
        <p:nvSpPr>
          <p:cNvPr id="174" name="Shape 172"/>
          <p:cNvSpPr/>
          <p:nvPr/>
        </p:nvSpPr>
        <p:spPr>
          <a:xfrm>
            <a:off x="1516316" y="6894238"/>
            <a:ext cx="2143484" cy="158853"/>
          </a:xfrm>
          <a:prstGeom prst="rect">
            <a:avLst/>
          </a:prstGeom>
          <a:solidFill>
            <a:srgbClr val="FFFFFF"/>
          </a:solidFill>
          <a:ln w="9525">
            <a:solidFill>
              <a:srgbClr val="F2B400"/>
            </a:solidFill>
            <a:prstDash val="solid"/>
          </a:ln>
        </p:spPr>
      </p:sp>
      <p:sp>
        <p:nvSpPr>
          <p:cNvPr id="175" name="Text 173"/>
          <p:cNvSpPr txBox="1"/>
          <p:nvPr/>
        </p:nvSpPr>
        <p:spPr>
          <a:xfrm>
            <a:off x="1595705" y="6878353"/>
            <a:ext cx="1968829" cy="174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92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&lt;score&gt;...&lt;/score&gt;   &lt;suggestion&gt;...&lt;/suggestion&gt;</a:t>
            </a:r>
            <a:endParaRPr lang="en-US" sz="792" dirty="0"/>
          </a:p>
        </p:txBody>
      </p:sp>
      <p:sp>
        <p:nvSpPr>
          <p:cNvPr id="176" name="Shape 174"/>
          <p:cNvSpPr/>
          <p:nvPr/>
        </p:nvSpPr>
        <p:spPr>
          <a:xfrm>
            <a:off x="3786821" y="961063"/>
            <a:ext cx="4310784" cy="2287489"/>
          </a:xfrm>
          <a:prstGeom prst="roundRect">
            <a:avLst>
              <a:gd name="adj" fmla="val 8676"/>
            </a:avLst>
          </a:prstGeom>
          <a:solidFill>
            <a:srgbClr val="F2F8EC"/>
          </a:solidFill>
          <a:ln w="9525">
            <a:solidFill>
              <a:srgbClr val="F2F8EC"/>
            </a:solidFill>
            <a:prstDash val="solid"/>
          </a:ln>
        </p:spPr>
      </p:sp>
      <p:sp>
        <p:nvSpPr>
          <p:cNvPr id="177" name="Text 175"/>
          <p:cNvSpPr txBox="1"/>
          <p:nvPr/>
        </p:nvSpPr>
        <p:spPr>
          <a:xfrm>
            <a:off x="3905904" y="984891"/>
            <a:ext cx="3493085" cy="3018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71717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Progressive CoT Paradigm</a:t>
            </a:r>
            <a:endParaRPr lang="en-US" sz="1800" dirty="0"/>
          </a:p>
        </p:txBody>
      </p:sp>
      <p:sp>
        <p:nvSpPr>
          <p:cNvPr id="178" name="Shape 176"/>
          <p:cNvSpPr/>
          <p:nvPr/>
        </p:nvSpPr>
        <p:spPr>
          <a:xfrm>
            <a:off x="3882087" y="1318483"/>
            <a:ext cx="4080558" cy="1667961"/>
          </a:xfrm>
          <a:prstGeom prst="roundRect">
            <a:avLst>
              <a:gd name="adj" fmla="val 8567"/>
            </a:avLst>
          </a:prstGeom>
          <a:solidFill>
            <a:srgbClr val="FFFFFF"/>
          </a:solidFill>
          <a:ln w="19050">
            <a:solidFill>
              <a:srgbClr val="29415D"/>
            </a:solidFill>
            <a:prstDash val="solid"/>
          </a:ln>
        </p:spPr>
      </p:sp>
      <p:sp>
        <p:nvSpPr>
          <p:cNvPr id="179" name="Text 177"/>
          <p:cNvSpPr txBox="1"/>
          <p:nvPr/>
        </p:nvSpPr>
        <p:spPr>
          <a:xfrm>
            <a:off x="3969414" y="1382025"/>
            <a:ext cx="3905904" cy="476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6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There is a multimodal agent that can perform a series of actions on a smart</a:t>
            </a:r>
            <a:endParaRPr lang="en-US" sz="936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36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device (phone or PC) ... In some steps, the action decided by the mobile agent may</a:t>
            </a:r>
            <a:endParaRPr lang="en-US" sz="936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36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be wrong. Now, you are a critic model used to evaluate the agent’s decision.</a:t>
            </a:r>
            <a:endParaRPr lang="en-US" sz="936" dirty="0"/>
          </a:p>
        </p:txBody>
      </p:sp>
      <p:sp>
        <p:nvSpPr>
          <p:cNvPr id="180" name="Text 178"/>
          <p:cNvSpPr txBox="1"/>
          <p:nvPr/>
        </p:nvSpPr>
        <p:spPr>
          <a:xfrm>
            <a:off x="3969414" y="1866528"/>
            <a:ext cx="3890026" cy="3971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 will provide you with the following information: 1. User instruction. 2. History: The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action history of the agent in the previous steps. 3. Decision: The decision of the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agent for this step. 4. Image: The screenshot before executing this action.</a:t>
            </a:r>
            <a:endParaRPr lang="en-US" sz="900" dirty="0"/>
          </a:p>
        </p:txBody>
      </p:sp>
      <p:sp>
        <p:nvSpPr>
          <p:cNvPr id="181" name="Text 179"/>
          <p:cNvSpPr txBox="1"/>
          <p:nvPr/>
        </p:nvSpPr>
        <p:spPr>
          <a:xfrm>
            <a:off x="3969414" y="2271604"/>
            <a:ext cx="3810638" cy="1509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220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&lt;thinking&gt;  </a:t>
            </a:r>
            <a:pPr indent="0" marL="0">
              <a:buNone/>
            </a:pPr>
            <a:r>
              <a:rPr lang="en-US" sz="900" b="1" dirty="0">
                <a:solidFill>
                  <a:srgbClr val="E220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**Observation**: Describe the screenshot.</a:t>
            </a:r>
            <a:endParaRPr lang="en-US" sz="900" dirty="0"/>
          </a:p>
        </p:txBody>
      </p:sp>
      <p:sp>
        <p:nvSpPr>
          <p:cNvPr id="182" name="Text 180"/>
          <p:cNvSpPr txBox="1"/>
          <p:nvPr/>
        </p:nvSpPr>
        <p:spPr>
          <a:xfrm>
            <a:off x="3969414" y="2430457"/>
            <a:ext cx="3810638" cy="1509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220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**Possible Result**: Analysis from the possible result perspective.</a:t>
            </a:r>
            <a:endParaRPr lang="en-US" sz="900" dirty="0"/>
          </a:p>
        </p:txBody>
      </p:sp>
      <p:sp>
        <p:nvSpPr>
          <p:cNvPr id="183" name="Text 181"/>
          <p:cNvSpPr txBox="1"/>
          <p:nvPr/>
        </p:nvSpPr>
        <p:spPr>
          <a:xfrm>
            <a:off x="3969414" y="2589311"/>
            <a:ext cx="3810638" cy="1509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220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**Critique**: Criticize why the decision is correct or incorrect. &lt;/thinking&gt;</a:t>
            </a:r>
            <a:endParaRPr lang="en-US" sz="900" dirty="0"/>
          </a:p>
        </p:txBody>
      </p:sp>
      <p:sp>
        <p:nvSpPr>
          <p:cNvPr id="184" name="Text 182"/>
          <p:cNvSpPr txBox="1"/>
          <p:nvPr/>
        </p:nvSpPr>
        <p:spPr>
          <a:xfrm>
            <a:off x="3969414" y="2748164"/>
            <a:ext cx="3810638" cy="142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4" b="1" dirty="0">
                <a:solidFill>
                  <a:srgbClr val="E220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&lt;score&gt; </a:t>
            </a:r>
            <a:pPr indent="0" marL="0">
              <a:buNone/>
            </a:pPr>
            <a:r>
              <a:rPr lang="en-US" sz="864" dirty="0">
                <a:solidFill>
                  <a:srgbClr val="E220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Correct or Incorrect</a:t>
            </a:r>
            <a:pPr indent="0" marL="0">
              <a:buNone/>
            </a:pPr>
            <a:r>
              <a:rPr lang="en-US" sz="864" b="1" dirty="0">
                <a:solidFill>
                  <a:srgbClr val="E220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&lt;/score&gt;</a:t>
            </a:r>
            <a:endParaRPr lang="en-US" sz="864" dirty="0"/>
          </a:p>
        </p:txBody>
      </p:sp>
      <p:sp>
        <p:nvSpPr>
          <p:cNvPr id="185" name="Text 183"/>
          <p:cNvSpPr txBox="1"/>
          <p:nvPr/>
        </p:nvSpPr>
        <p:spPr>
          <a:xfrm>
            <a:off x="3969414" y="2875247"/>
            <a:ext cx="3810638" cy="142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8" b="1" dirty="0">
                <a:solidFill>
                  <a:srgbClr val="E220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&lt;suggestion&gt; </a:t>
            </a:r>
            <a:pPr indent="0" marL="0">
              <a:buNone/>
            </a:pPr>
            <a:r>
              <a:rPr lang="en-US" sz="828" dirty="0">
                <a:solidFill>
                  <a:srgbClr val="E220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If incorrect, provide a brief summary; suggest a better decision. &lt;/suggestion&gt;</a:t>
            </a:r>
            <a:endParaRPr lang="en-US" sz="828" dirty="0"/>
          </a:p>
        </p:txBody>
      </p:sp>
      <p:sp>
        <p:nvSpPr>
          <p:cNvPr id="186" name="Text 184"/>
          <p:cNvSpPr txBox="1"/>
          <p:nvPr/>
        </p:nvSpPr>
        <p:spPr>
          <a:xfrm>
            <a:off x="6176409" y="2994387"/>
            <a:ext cx="714495" cy="23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Prompt</a:t>
            </a:r>
            <a:endParaRPr lang="en-US" sz="1800" dirty="0"/>
          </a:p>
        </p:txBody>
      </p:sp>
      <p:sp>
        <p:nvSpPr>
          <p:cNvPr id="187" name="Shape 185"/>
          <p:cNvSpPr/>
          <p:nvPr/>
        </p:nvSpPr>
        <p:spPr>
          <a:xfrm>
            <a:off x="6875025" y="3026158"/>
            <a:ext cx="0" cy="444790"/>
          </a:xfrm>
          <a:prstGeom prst="line">
            <a:avLst/>
          </a:prstGeom>
          <a:noFill/>
          <a:ln w="19050">
            <a:solidFill>
              <a:srgbClr val="171717"/>
            </a:solidFill>
            <a:prstDash val="solid"/>
            <a:headEnd type="none"/>
            <a:tailEnd type="triangle"/>
          </a:ln>
        </p:spPr>
      </p:sp>
      <p:sp>
        <p:nvSpPr>
          <p:cNvPr id="188" name="Shape 186"/>
          <p:cNvSpPr/>
          <p:nvPr/>
        </p:nvSpPr>
        <p:spPr>
          <a:xfrm>
            <a:off x="6976642" y="3088110"/>
            <a:ext cx="257218" cy="257343"/>
          </a:xfrm>
          <a:prstGeom prst="star4">
            <a:avLst/>
          </a:prstGeom>
          <a:solidFill>
            <a:srgbClr val="7657E8"/>
          </a:solidFill>
          <a:ln w="12700">
            <a:solidFill>
              <a:srgbClr val="7657E8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069527" y="3181040"/>
            <a:ext cx="71449" cy="71484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0" name="Text 188"/>
          <p:cNvSpPr txBox="1"/>
          <p:nvPr/>
        </p:nvSpPr>
        <p:spPr>
          <a:xfrm>
            <a:off x="7319600" y="3034100"/>
            <a:ext cx="396941" cy="38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312" b="1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◎</a:t>
            </a:r>
            <a:endParaRPr lang="en-US" sz="3312" dirty="0"/>
          </a:p>
        </p:txBody>
      </p:sp>
      <p:sp>
        <p:nvSpPr>
          <p:cNvPr id="191" name="Shape 189"/>
          <p:cNvSpPr/>
          <p:nvPr/>
        </p:nvSpPr>
        <p:spPr>
          <a:xfrm>
            <a:off x="3786821" y="3288266"/>
            <a:ext cx="4310784" cy="3788654"/>
          </a:xfrm>
          <a:prstGeom prst="roundRect">
            <a:avLst>
              <a:gd name="adj" fmla="val 4610"/>
            </a:avLst>
          </a:prstGeom>
          <a:solidFill>
            <a:srgbClr val="F2F8EC"/>
          </a:solidFill>
          <a:ln w="9525">
            <a:solidFill>
              <a:srgbClr val="F2F8EC"/>
            </a:solidFill>
            <a:prstDash val="solid"/>
          </a:ln>
        </p:spPr>
      </p:sp>
      <p:sp>
        <p:nvSpPr>
          <p:cNvPr id="192" name="Text 190"/>
          <p:cNvSpPr txBox="1"/>
          <p:nvPr/>
        </p:nvSpPr>
        <p:spPr>
          <a:xfrm>
            <a:off x="3905904" y="3296208"/>
            <a:ext cx="3175531" cy="3018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71717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Reasoning Bootstrapping.</a:t>
            </a:r>
            <a:endParaRPr lang="en-US" sz="1800" dirty="0"/>
          </a:p>
        </p:txBody>
      </p:sp>
      <p:sp>
        <p:nvSpPr>
          <p:cNvPr id="193" name="Shape 191"/>
          <p:cNvSpPr/>
          <p:nvPr/>
        </p:nvSpPr>
        <p:spPr>
          <a:xfrm>
            <a:off x="4787114" y="3542431"/>
            <a:ext cx="3302553" cy="1993610"/>
          </a:xfrm>
          <a:prstGeom prst="rect">
            <a:avLst/>
          </a:prstGeom>
          <a:solidFill>
            <a:srgbClr val="FFFFFF">
              <a:alpha val="96000"/>
            </a:srgbClr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4691848" y="3582145"/>
            <a:ext cx="3302553" cy="1993610"/>
          </a:xfrm>
          <a:prstGeom prst="rect">
            <a:avLst/>
          </a:prstGeom>
          <a:solidFill>
            <a:srgbClr val="FFFFFF">
              <a:alpha val="96000"/>
            </a:srgbClr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4596582" y="3621858"/>
            <a:ext cx="3302553" cy="1993610"/>
          </a:xfrm>
          <a:prstGeom prst="rect">
            <a:avLst/>
          </a:prstGeom>
          <a:solidFill>
            <a:srgbClr val="FFFFFF">
              <a:alpha val="96000"/>
            </a:srgbClr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4501316" y="3661571"/>
            <a:ext cx="3302553" cy="1993610"/>
          </a:xfrm>
          <a:prstGeom prst="rect">
            <a:avLst/>
          </a:prstGeom>
          <a:solidFill>
            <a:srgbClr val="FFFFFF">
              <a:alpha val="96000"/>
            </a:srgbClr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4406050" y="3701285"/>
            <a:ext cx="3302553" cy="1993610"/>
          </a:xfrm>
          <a:prstGeom prst="rect">
            <a:avLst/>
          </a:prstGeom>
          <a:solidFill>
            <a:srgbClr val="FFFFFF">
              <a:alpha val="96000"/>
            </a:srgbClr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3874148" y="3804539"/>
            <a:ext cx="3104082" cy="2033324"/>
          </a:xfrm>
          <a:prstGeom prst="roundRect">
            <a:avLst>
              <a:gd name="adj" fmla="val 3123"/>
            </a:avLst>
          </a:prstGeom>
          <a:solidFill>
            <a:srgbClr val="FFFFFF"/>
          </a:solidFill>
          <a:ln w="9525">
            <a:solidFill>
              <a:srgbClr val="D5D5D5"/>
            </a:solidFill>
            <a:prstDash val="solid"/>
          </a:ln>
        </p:spPr>
      </p:sp>
      <p:sp>
        <p:nvSpPr>
          <p:cNvPr id="199" name="Text 197"/>
          <p:cNvSpPr txBox="1"/>
          <p:nvPr/>
        </p:nvSpPr>
        <p:spPr>
          <a:xfrm>
            <a:off x="3977353" y="4018992"/>
            <a:ext cx="2850039" cy="174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6" b="1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&lt;thinking&gt;  </a:t>
            </a:r>
            <a:pPr indent="0" marL="0">
              <a:buNone/>
            </a:pPr>
            <a:r>
              <a:rPr lang="en-US" sz="936" b="1" dirty="0">
                <a:solidFill>
                  <a:srgbClr val="D974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**Observation**: </a:t>
            </a:r>
            <a:pPr indent="0" marL="0">
              <a:buNone/>
            </a:pPr>
            <a:r>
              <a:rPr lang="en-US" sz="936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screenshot shows</a:t>
            </a:r>
            <a:endParaRPr lang="en-US" sz="936" dirty="0"/>
          </a:p>
        </p:txBody>
      </p:sp>
      <p:sp>
        <p:nvSpPr>
          <p:cNvPr id="200" name="Text 198"/>
          <p:cNvSpPr txBox="1"/>
          <p:nvPr/>
        </p:nvSpPr>
        <p:spPr>
          <a:xfrm>
            <a:off x="3977353" y="4177845"/>
            <a:ext cx="2842101" cy="31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6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Twitter feed with a list of posts, including ...</a:t>
            </a:r>
            <a:endParaRPr lang="en-US" sz="936" dirty="0"/>
          </a:p>
        </p:txBody>
      </p:sp>
      <p:sp>
        <p:nvSpPr>
          <p:cNvPr id="201" name="Text 199"/>
          <p:cNvSpPr txBox="1"/>
          <p:nvPr/>
        </p:nvSpPr>
        <p:spPr>
          <a:xfrm>
            <a:off x="3977353" y="4439953"/>
            <a:ext cx="2826223" cy="1588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6" b="1" dirty="0">
                <a:solidFill>
                  <a:srgbClr val="D974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**Possible Result**: </a:t>
            </a:r>
            <a:pPr indent="0" marL="0">
              <a:buNone/>
            </a:pPr>
            <a:r>
              <a:rPr lang="en-US" sz="936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If the agent clicks the “Letter”</a:t>
            </a:r>
            <a:endParaRPr lang="en-US" sz="936" dirty="0"/>
          </a:p>
        </p:txBody>
      </p:sp>
      <p:sp>
        <p:nvSpPr>
          <p:cNvPr id="202" name="Text 200"/>
          <p:cNvSpPr txBox="1"/>
          <p:nvPr/>
        </p:nvSpPr>
        <p:spPr>
          <a:xfrm>
            <a:off x="3977353" y="4590864"/>
            <a:ext cx="2834162" cy="4527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6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button, it will likely not achieve any meaningful</a:t>
            </a:r>
            <a:endParaRPr lang="en-US" sz="936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36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action...  **Critique**: The decision to click the</a:t>
            </a:r>
            <a:endParaRPr lang="en-US" sz="936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36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“Letter” button is incorrect because it does not</a:t>
            </a:r>
            <a:endParaRPr lang="en-US" sz="936" dirty="0"/>
          </a:p>
        </p:txBody>
      </p:sp>
      <p:sp>
        <p:nvSpPr>
          <p:cNvPr id="203" name="Text 201"/>
          <p:cNvSpPr txBox="1"/>
          <p:nvPr/>
        </p:nvSpPr>
        <p:spPr>
          <a:xfrm>
            <a:off x="3977353" y="5051539"/>
            <a:ext cx="2850039" cy="23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6" b="1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align with the current state of the application...</a:t>
            </a:r>
            <a:endParaRPr lang="en-US" sz="936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36" b="1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&lt;/thinking&gt;</a:t>
            </a:r>
            <a:endParaRPr lang="en-US" sz="936" dirty="0"/>
          </a:p>
        </p:txBody>
      </p:sp>
      <p:sp>
        <p:nvSpPr>
          <p:cNvPr id="204" name="Text 202"/>
          <p:cNvSpPr txBox="1"/>
          <p:nvPr/>
        </p:nvSpPr>
        <p:spPr>
          <a:xfrm>
            <a:off x="3977353" y="5353360"/>
            <a:ext cx="2826223" cy="142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6" b="1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&lt;score&gt; </a:t>
            </a:r>
            <a:pPr indent="0" marL="0">
              <a:buNone/>
            </a:pPr>
            <a:r>
              <a:rPr lang="en-US" sz="936" dirty="0">
                <a:solidFill>
                  <a:srgbClr val="E220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Incorrect</a:t>
            </a:r>
            <a:pPr indent="0" marL="0">
              <a:buNone/>
            </a:pPr>
            <a:r>
              <a:rPr lang="en-US" sz="936" b="1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&lt;/score&gt;</a:t>
            </a:r>
            <a:endParaRPr lang="en-US" sz="936" dirty="0"/>
          </a:p>
        </p:txBody>
      </p:sp>
      <p:sp>
        <p:nvSpPr>
          <p:cNvPr id="205" name="Text 203"/>
          <p:cNvSpPr txBox="1"/>
          <p:nvPr/>
        </p:nvSpPr>
        <p:spPr>
          <a:xfrm>
            <a:off x="3977353" y="5520156"/>
            <a:ext cx="2826223" cy="309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6" b="1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&lt;suggestion&gt; </a:t>
            </a:r>
            <a:pPr indent="0" marL="0">
              <a:buNone/>
            </a:pPr>
            <a:r>
              <a:rPr lang="en-US" sz="936" dirty="0">
                <a:solidFill>
                  <a:srgbClr val="E220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agent should instead select a</a:t>
            </a:r>
            <a:endParaRPr lang="en-US" sz="936" dirty="0"/>
          </a:p>
        </p:txBody>
      </p:sp>
      <p:sp>
        <p:nvSpPr>
          <p:cNvPr id="206" name="Text 204"/>
          <p:cNvSpPr txBox="1"/>
          <p:nvPr/>
        </p:nvSpPr>
        <p:spPr>
          <a:xfrm>
            <a:off x="3977353" y="5655182"/>
            <a:ext cx="2794468" cy="22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6" dirty="0">
                <a:solidFill>
                  <a:srgbClr val="E220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desired tweet and click the share button of it.</a:t>
            </a:r>
            <a:endParaRPr lang="en-US" sz="936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36" dirty="0">
                <a:solidFill>
                  <a:srgbClr val="E220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&lt;/suggestion&gt;</a:t>
            </a:r>
            <a:endParaRPr lang="en-US" sz="936" dirty="0"/>
          </a:p>
        </p:txBody>
      </p:sp>
      <p:sp>
        <p:nvSpPr>
          <p:cNvPr id="207" name="Shape 205"/>
          <p:cNvSpPr/>
          <p:nvPr/>
        </p:nvSpPr>
        <p:spPr>
          <a:xfrm>
            <a:off x="5763589" y="5194507"/>
            <a:ext cx="222287" cy="22239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78E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5824718" y="5305704"/>
            <a:ext cx="41123" cy="40031"/>
          </a:xfrm>
          <a:prstGeom prst="line">
            <a:avLst/>
          </a:prstGeom>
          <a:noFill/>
          <a:ln w="23813">
            <a:solidFill>
              <a:srgbClr val="00A78E"/>
            </a:solidFill>
            <a:prstDash val="solid"/>
            <a:headEnd type="none"/>
            <a:tailEnd type="none"/>
          </a:ln>
        </p:spPr>
      </p:sp>
      <p:sp>
        <p:nvSpPr>
          <p:cNvPr id="209" name="Shape 207"/>
          <p:cNvSpPr/>
          <p:nvPr/>
        </p:nvSpPr>
        <p:spPr>
          <a:xfrm>
            <a:off x="5865842" y="5345735"/>
            <a:ext cx="64463" cy="-86734"/>
          </a:xfrm>
          <a:prstGeom prst="line">
            <a:avLst/>
          </a:prstGeom>
          <a:noFill/>
          <a:ln w="23813">
            <a:solidFill>
              <a:srgbClr val="00A78E"/>
            </a:solidFill>
            <a:prstDash val="solid"/>
            <a:headEnd type="none"/>
            <a:tailEnd type="none"/>
          </a:ln>
        </p:spPr>
      </p:sp>
      <p:sp>
        <p:nvSpPr>
          <p:cNvPr id="210" name="Shape 208"/>
          <p:cNvSpPr/>
          <p:nvPr/>
        </p:nvSpPr>
        <p:spPr>
          <a:xfrm>
            <a:off x="6779759" y="5440730"/>
            <a:ext cx="222287" cy="22239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78E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6840888" y="5551927"/>
            <a:ext cx="41123" cy="40031"/>
          </a:xfrm>
          <a:prstGeom prst="line">
            <a:avLst/>
          </a:prstGeom>
          <a:noFill/>
          <a:ln w="23813">
            <a:solidFill>
              <a:srgbClr val="00A78E"/>
            </a:solidFill>
            <a:prstDash val="solid"/>
            <a:headEnd type="none"/>
            <a:tailEnd type="none"/>
          </a:ln>
        </p:spPr>
      </p:sp>
      <p:sp>
        <p:nvSpPr>
          <p:cNvPr id="212" name="Shape 210"/>
          <p:cNvSpPr/>
          <p:nvPr/>
        </p:nvSpPr>
        <p:spPr>
          <a:xfrm>
            <a:off x="6882012" y="5591958"/>
            <a:ext cx="64463" cy="-86734"/>
          </a:xfrm>
          <a:prstGeom prst="line">
            <a:avLst/>
          </a:prstGeom>
          <a:noFill/>
          <a:ln w="23813">
            <a:solidFill>
              <a:srgbClr val="00A78E"/>
            </a:solidFill>
            <a:prstDash val="solid"/>
            <a:headEnd type="none"/>
            <a:tailEnd type="none"/>
          </a:ln>
        </p:spPr>
      </p:sp>
      <p:sp>
        <p:nvSpPr>
          <p:cNvPr id="213" name="Shape 211"/>
          <p:cNvSpPr/>
          <p:nvPr/>
        </p:nvSpPr>
        <p:spPr>
          <a:xfrm>
            <a:off x="7240212" y="5512214"/>
            <a:ext cx="79388" cy="79427"/>
          </a:xfrm>
          <a:prstGeom prst="ellipse">
            <a:avLst/>
          </a:prstGeom>
          <a:solidFill>
            <a:srgbClr val="1717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351355" y="5456615"/>
            <a:ext cx="79388" cy="79427"/>
          </a:xfrm>
          <a:prstGeom prst="ellipse">
            <a:avLst/>
          </a:prstGeom>
          <a:solidFill>
            <a:srgbClr val="1717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454560" y="5385131"/>
            <a:ext cx="79388" cy="79427"/>
          </a:xfrm>
          <a:prstGeom prst="ellipse">
            <a:avLst/>
          </a:prstGeom>
          <a:solidFill>
            <a:srgbClr val="1717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3890026" y="5901405"/>
            <a:ext cx="1595705" cy="5003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17" name="Text 215"/>
          <p:cNvSpPr txBox="1"/>
          <p:nvPr/>
        </p:nvSpPr>
        <p:spPr>
          <a:xfrm>
            <a:off x="3945598" y="5957003"/>
            <a:ext cx="1484561" cy="373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92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&lt;thinking&gt;...&lt;/thinking&gt;</a:t>
            </a:r>
            <a:endParaRPr lang="en-US" sz="792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92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&lt;score&gt;...&lt;/score&gt;</a:t>
            </a:r>
            <a:endParaRPr lang="en-US" sz="792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92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&lt;suggestion&gt;...&lt;/suggestion&gt;</a:t>
            </a:r>
            <a:endParaRPr lang="en-US" sz="792" dirty="0"/>
          </a:p>
        </p:txBody>
      </p:sp>
      <p:sp>
        <p:nvSpPr>
          <p:cNvPr id="218" name="Shape 216"/>
          <p:cNvSpPr/>
          <p:nvPr/>
        </p:nvSpPr>
        <p:spPr>
          <a:xfrm>
            <a:off x="5350770" y="6076143"/>
            <a:ext cx="111144" cy="111197"/>
          </a:xfrm>
          <a:prstGeom prst="ellipse">
            <a:avLst/>
          </a:prstGeom>
          <a:solidFill>
            <a:srgbClr val="FFFFFF"/>
          </a:solidFill>
          <a:ln w="14288">
            <a:solidFill>
              <a:srgbClr val="E22020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5381335" y="6106723"/>
            <a:ext cx="50015" cy="50039"/>
          </a:xfrm>
          <a:prstGeom prst="line">
            <a:avLst/>
          </a:prstGeom>
          <a:noFill/>
          <a:ln w="15240">
            <a:solidFill>
              <a:srgbClr val="E22020"/>
            </a:solidFill>
            <a:prstDash val="solid"/>
            <a:headEnd type="none"/>
            <a:tailEnd type="none"/>
          </a:ln>
        </p:spPr>
      </p:sp>
      <p:sp>
        <p:nvSpPr>
          <p:cNvPr id="220" name="Shape 218"/>
          <p:cNvSpPr/>
          <p:nvPr/>
        </p:nvSpPr>
        <p:spPr>
          <a:xfrm>
            <a:off x="5431349" y="6106723"/>
            <a:ext cx="-50015" cy="50039"/>
          </a:xfrm>
          <a:prstGeom prst="line">
            <a:avLst/>
          </a:prstGeom>
          <a:noFill/>
          <a:ln w="15240">
            <a:solidFill>
              <a:srgbClr val="E22020"/>
            </a:solidFill>
            <a:prstDash val="solid"/>
            <a:headEnd type="none"/>
            <a:tailEnd type="none"/>
          </a:ln>
        </p:spPr>
      </p:sp>
      <p:sp>
        <p:nvSpPr>
          <p:cNvPr id="221" name="Shape 219"/>
          <p:cNvSpPr/>
          <p:nvPr/>
        </p:nvSpPr>
        <p:spPr>
          <a:xfrm>
            <a:off x="5358709" y="6250882"/>
            <a:ext cx="95266" cy="953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78E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5384907" y="6298538"/>
            <a:ext cx="17624" cy="17156"/>
          </a:xfrm>
          <a:prstGeom prst="line">
            <a:avLst/>
          </a:prstGeom>
          <a:noFill/>
          <a:ln w="23813">
            <a:solidFill>
              <a:srgbClr val="00A78E"/>
            </a:solidFill>
            <a:prstDash val="solid"/>
            <a:headEnd type="none"/>
            <a:tailEnd type="none"/>
          </a:ln>
        </p:spPr>
      </p:sp>
      <p:sp>
        <p:nvSpPr>
          <p:cNvPr id="223" name="Shape 221"/>
          <p:cNvSpPr/>
          <p:nvPr/>
        </p:nvSpPr>
        <p:spPr>
          <a:xfrm>
            <a:off x="5402532" y="6315694"/>
            <a:ext cx="27627" cy="-37172"/>
          </a:xfrm>
          <a:prstGeom prst="line">
            <a:avLst/>
          </a:prstGeom>
          <a:noFill/>
          <a:ln w="23813">
            <a:solidFill>
              <a:srgbClr val="00A78E"/>
            </a:solidFill>
            <a:prstDash val="solid"/>
            <a:headEnd type="none"/>
            <a:tailEnd type="none"/>
          </a:ln>
        </p:spPr>
      </p:sp>
      <p:sp>
        <p:nvSpPr>
          <p:cNvPr id="224" name="Shape 222"/>
          <p:cNvSpPr/>
          <p:nvPr/>
        </p:nvSpPr>
        <p:spPr>
          <a:xfrm>
            <a:off x="5803284" y="5901405"/>
            <a:ext cx="1619521" cy="5003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25" name="Text 223"/>
          <p:cNvSpPr txBox="1"/>
          <p:nvPr/>
        </p:nvSpPr>
        <p:spPr>
          <a:xfrm>
            <a:off x="5866794" y="5957003"/>
            <a:ext cx="1484561" cy="373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92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&lt;thinking&gt;...&lt;/thinking&gt;</a:t>
            </a:r>
            <a:endParaRPr lang="en-US" sz="792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92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&lt;score&gt;...&lt;/score&gt;</a:t>
            </a:r>
            <a:endParaRPr lang="en-US" sz="792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92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&lt;suggestion&gt;...&lt;/suggestion&gt;</a:t>
            </a:r>
            <a:endParaRPr lang="en-US" sz="792" dirty="0"/>
          </a:p>
        </p:txBody>
      </p:sp>
      <p:sp>
        <p:nvSpPr>
          <p:cNvPr id="226" name="Shape 224"/>
          <p:cNvSpPr/>
          <p:nvPr/>
        </p:nvSpPr>
        <p:spPr>
          <a:xfrm>
            <a:off x="7287845" y="6076143"/>
            <a:ext cx="111144" cy="111197"/>
          </a:xfrm>
          <a:prstGeom prst="ellipse">
            <a:avLst/>
          </a:prstGeom>
          <a:solidFill>
            <a:srgbClr val="FFFFFF"/>
          </a:solidFill>
          <a:ln w="14288">
            <a:solidFill>
              <a:srgbClr val="E22020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7318409" y="6106723"/>
            <a:ext cx="50015" cy="50039"/>
          </a:xfrm>
          <a:prstGeom prst="line">
            <a:avLst/>
          </a:prstGeom>
          <a:noFill/>
          <a:ln w="15240">
            <a:solidFill>
              <a:srgbClr val="E22020"/>
            </a:solidFill>
            <a:prstDash val="solid"/>
            <a:headEnd type="none"/>
            <a:tailEnd type="none"/>
          </a:ln>
        </p:spPr>
      </p:sp>
      <p:sp>
        <p:nvSpPr>
          <p:cNvPr id="228" name="Shape 226"/>
          <p:cNvSpPr/>
          <p:nvPr/>
        </p:nvSpPr>
        <p:spPr>
          <a:xfrm>
            <a:off x="7368424" y="6106723"/>
            <a:ext cx="-50015" cy="50039"/>
          </a:xfrm>
          <a:prstGeom prst="line">
            <a:avLst/>
          </a:prstGeom>
          <a:noFill/>
          <a:ln w="15240">
            <a:solidFill>
              <a:srgbClr val="E22020"/>
            </a:solidFill>
            <a:prstDash val="solid"/>
            <a:headEnd type="none"/>
            <a:tailEnd type="none"/>
          </a:ln>
        </p:spPr>
      </p:sp>
      <p:sp>
        <p:nvSpPr>
          <p:cNvPr id="229" name="Shape 227"/>
          <p:cNvSpPr/>
          <p:nvPr/>
        </p:nvSpPr>
        <p:spPr>
          <a:xfrm>
            <a:off x="7295783" y="6250882"/>
            <a:ext cx="95266" cy="9531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E22020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7321981" y="6277093"/>
            <a:ext cx="42870" cy="42890"/>
          </a:xfrm>
          <a:prstGeom prst="line">
            <a:avLst/>
          </a:prstGeom>
          <a:noFill/>
          <a:ln w="15240">
            <a:solidFill>
              <a:srgbClr val="E22020"/>
            </a:solidFill>
            <a:prstDash val="solid"/>
            <a:headEnd type="none"/>
            <a:tailEnd type="none"/>
          </a:ln>
        </p:spPr>
      </p:sp>
      <p:sp>
        <p:nvSpPr>
          <p:cNvPr id="231" name="Shape 229"/>
          <p:cNvSpPr/>
          <p:nvPr/>
        </p:nvSpPr>
        <p:spPr>
          <a:xfrm>
            <a:off x="7364851" y="6277093"/>
            <a:ext cx="-42870" cy="42890"/>
          </a:xfrm>
          <a:prstGeom prst="line">
            <a:avLst/>
          </a:prstGeom>
          <a:noFill/>
          <a:ln w="15240">
            <a:solidFill>
              <a:srgbClr val="E22020"/>
            </a:solidFill>
            <a:prstDash val="solid"/>
            <a:headEnd type="none"/>
            <a:tailEnd type="none"/>
          </a:ln>
        </p:spPr>
      </p:sp>
      <p:sp>
        <p:nvSpPr>
          <p:cNvPr id="232" name="Shape 230"/>
          <p:cNvSpPr/>
          <p:nvPr/>
        </p:nvSpPr>
        <p:spPr>
          <a:xfrm>
            <a:off x="4040864" y="6449449"/>
            <a:ext cx="1563949" cy="571872"/>
          </a:xfrm>
          <a:prstGeom prst="rect">
            <a:avLst/>
          </a:prstGeom>
          <a:solidFill>
            <a:srgbClr val="FFFFFF"/>
          </a:solidFill>
          <a:ln w="11430">
            <a:solidFill>
              <a:srgbClr val="6AA84F"/>
            </a:solidFill>
            <a:prstDash val="solid"/>
          </a:ln>
        </p:spPr>
      </p:sp>
      <p:sp>
        <p:nvSpPr>
          <p:cNvPr id="233" name="Text 231"/>
          <p:cNvSpPr txBox="1"/>
          <p:nvPr/>
        </p:nvSpPr>
        <p:spPr>
          <a:xfrm>
            <a:off x="4120252" y="6497105"/>
            <a:ext cx="1421050" cy="436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92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&lt;thinking&gt;...&lt;/thinking&gt;</a:t>
            </a:r>
            <a:endParaRPr lang="en-US" sz="792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92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&lt;score&gt;...&lt;/score&gt;  ✓</a:t>
            </a:r>
            <a:endParaRPr lang="en-US" sz="792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92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&lt;suggestion&gt;...&lt;/suggestion&gt; ✓</a:t>
            </a:r>
            <a:endParaRPr lang="en-US" sz="792" dirty="0"/>
          </a:p>
        </p:txBody>
      </p:sp>
      <p:sp>
        <p:nvSpPr>
          <p:cNvPr id="234" name="Shape 232"/>
          <p:cNvSpPr/>
          <p:nvPr/>
        </p:nvSpPr>
        <p:spPr>
          <a:xfrm>
            <a:off x="5977938" y="6449449"/>
            <a:ext cx="1571888" cy="571872"/>
          </a:xfrm>
          <a:prstGeom prst="rect">
            <a:avLst/>
          </a:prstGeom>
          <a:solidFill>
            <a:srgbClr val="FFFFFF"/>
          </a:solidFill>
          <a:ln w="11430">
            <a:solidFill>
              <a:srgbClr val="6AA84F"/>
            </a:solidFill>
            <a:prstDash val="solid"/>
          </a:ln>
        </p:spPr>
      </p:sp>
      <p:sp>
        <p:nvSpPr>
          <p:cNvPr id="235" name="Text 233"/>
          <p:cNvSpPr txBox="1"/>
          <p:nvPr/>
        </p:nvSpPr>
        <p:spPr>
          <a:xfrm>
            <a:off x="6041448" y="6497105"/>
            <a:ext cx="1436928" cy="436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92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&lt;thinking&gt;...&lt;/thinking&gt;</a:t>
            </a:r>
            <a:endParaRPr lang="en-US" sz="792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92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&lt;score&gt;...&lt;/score&gt;  ✓</a:t>
            </a:r>
            <a:endParaRPr lang="en-US" sz="792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92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&lt;suggestion&gt;...&lt;/suggestion&gt; ✓</a:t>
            </a:r>
            <a:endParaRPr lang="en-US" sz="792" dirty="0"/>
          </a:p>
        </p:txBody>
      </p:sp>
      <p:sp>
        <p:nvSpPr>
          <p:cNvPr id="236" name="Shape 234"/>
          <p:cNvSpPr/>
          <p:nvPr/>
        </p:nvSpPr>
        <p:spPr>
          <a:xfrm>
            <a:off x="7160823" y="6370022"/>
            <a:ext cx="889149" cy="214452"/>
          </a:xfrm>
          <a:prstGeom prst="roundRect">
            <a:avLst>
              <a:gd name="adj" fmla="val 40721"/>
            </a:avLst>
          </a:prstGeom>
          <a:solidFill>
            <a:srgbClr val="FFF1B5"/>
          </a:solidFill>
          <a:ln w="14288">
            <a:solidFill>
              <a:srgbClr val="F2B400"/>
            </a:solidFill>
            <a:prstDash val="solid"/>
          </a:ln>
        </p:spPr>
      </p:sp>
      <p:sp>
        <p:nvSpPr>
          <p:cNvPr id="237" name="Text 235"/>
          <p:cNvSpPr txBox="1"/>
          <p:nvPr/>
        </p:nvSpPr>
        <p:spPr>
          <a:xfrm>
            <a:off x="7152884" y="6330309"/>
            <a:ext cx="889149" cy="23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24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☺ Select!</a:t>
            </a:r>
            <a:endParaRPr lang="en-US" sz="1224" dirty="0"/>
          </a:p>
        </p:txBody>
      </p:sp>
      <p:sp>
        <p:nvSpPr>
          <p:cNvPr id="238" name="Text 236"/>
          <p:cNvSpPr txBox="1"/>
          <p:nvPr/>
        </p:nvSpPr>
        <p:spPr>
          <a:xfrm>
            <a:off x="8708895" y="611586"/>
            <a:ext cx="1786236" cy="3018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2" b="1" dirty="0">
                <a:solidFill>
                  <a:srgbClr val="171717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RFT Cold-Start</a:t>
            </a:r>
            <a:endParaRPr lang="en-US" sz="1872" dirty="0"/>
          </a:p>
        </p:txBody>
      </p:sp>
      <p:sp>
        <p:nvSpPr>
          <p:cNvPr id="239" name="Shape 237"/>
          <p:cNvSpPr/>
          <p:nvPr/>
        </p:nvSpPr>
        <p:spPr>
          <a:xfrm>
            <a:off x="10518948" y="746611"/>
            <a:ext cx="3723311" cy="270051"/>
          </a:xfrm>
          <a:prstGeom prst="rect">
            <a:avLst/>
          </a:prstGeom>
          <a:solidFill>
            <a:srgbClr val="FFFFFF"/>
          </a:solidFill>
          <a:ln w="9525">
            <a:solidFill>
              <a:srgbClr val="8D8D8D"/>
            </a:solidFill>
            <a:prstDash val="solid"/>
          </a:ln>
        </p:spPr>
      </p:sp>
      <p:sp>
        <p:nvSpPr>
          <p:cNvPr id="240" name="Text 238"/>
          <p:cNvSpPr txBox="1"/>
          <p:nvPr/>
        </p:nvSpPr>
        <p:spPr>
          <a:xfrm>
            <a:off x="10582458" y="754554"/>
            <a:ext cx="3596289" cy="23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2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Task Instruction; Operation History; Screenshot; Action</a:t>
            </a:r>
            <a:endParaRPr lang="en-US" sz="1152" dirty="0"/>
          </a:p>
        </p:txBody>
      </p:sp>
      <p:sp>
        <p:nvSpPr>
          <p:cNvPr id="241" name="Shape 239"/>
          <p:cNvSpPr/>
          <p:nvPr/>
        </p:nvSpPr>
        <p:spPr>
          <a:xfrm>
            <a:off x="8661262" y="1088146"/>
            <a:ext cx="3334308" cy="1509107"/>
          </a:xfrm>
          <a:prstGeom prst="roundRect">
            <a:avLst>
              <a:gd name="adj" fmla="val 8943"/>
            </a:avLst>
          </a:prstGeom>
          <a:solidFill>
            <a:srgbClr val="EDF4FA"/>
          </a:solidFill>
          <a:ln w="9525">
            <a:solidFill>
              <a:srgbClr val="EDF4FA"/>
            </a:solidFill>
            <a:prstDash val="solid"/>
          </a:ln>
        </p:spPr>
      </p:sp>
      <p:sp>
        <p:nvSpPr>
          <p:cNvPr id="242" name="Text 240"/>
          <p:cNvSpPr txBox="1"/>
          <p:nvPr/>
        </p:nvSpPr>
        <p:spPr>
          <a:xfrm>
            <a:off x="9463084" y="1127859"/>
            <a:ext cx="1746542" cy="23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84" dirty="0">
                <a:solidFill>
                  <a:srgbClr val="171717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GUI-Critic Dataset</a:t>
            </a:r>
            <a:endParaRPr lang="en-US" sz="1584" dirty="0"/>
          </a:p>
        </p:txBody>
      </p:sp>
      <p:sp>
        <p:nvSpPr>
          <p:cNvPr id="243" name="Shape 241"/>
          <p:cNvSpPr/>
          <p:nvPr/>
        </p:nvSpPr>
        <p:spPr>
          <a:xfrm>
            <a:off x="8764467" y="1461451"/>
            <a:ext cx="1540133" cy="357420"/>
          </a:xfrm>
          <a:prstGeom prst="rect">
            <a:avLst/>
          </a:prstGeom>
          <a:solidFill>
            <a:srgbClr val="FFFBEA"/>
          </a:solidFill>
          <a:ln w="9525">
            <a:solidFill>
              <a:srgbClr val="F2B400"/>
            </a:solidFill>
            <a:prstDash val="solid"/>
          </a:ln>
        </p:spPr>
      </p:sp>
      <p:sp>
        <p:nvSpPr>
          <p:cNvPr id="244" name="Text 242"/>
          <p:cNvSpPr txBox="1"/>
          <p:nvPr/>
        </p:nvSpPr>
        <p:spPr>
          <a:xfrm>
            <a:off x="8827977" y="1461451"/>
            <a:ext cx="1413111" cy="309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92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&lt;score&gt;...&lt;/score&gt;</a:t>
            </a:r>
            <a:endParaRPr lang="en-US" sz="792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92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&lt;suggestion&gt;...&lt;/suggestion&gt;</a:t>
            </a:r>
            <a:endParaRPr lang="en-US" sz="792" dirty="0"/>
          </a:p>
        </p:txBody>
      </p:sp>
      <p:sp>
        <p:nvSpPr>
          <p:cNvPr id="245" name="Shape 243"/>
          <p:cNvSpPr/>
          <p:nvPr/>
        </p:nvSpPr>
        <p:spPr>
          <a:xfrm>
            <a:off x="10399865" y="1413795"/>
            <a:ext cx="1452806" cy="420962"/>
          </a:xfrm>
          <a:prstGeom prst="rect">
            <a:avLst/>
          </a:prstGeom>
          <a:solidFill>
            <a:srgbClr val="EAF4E2"/>
          </a:solidFill>
          <a:ln w="19050">
            <a:solidFill>
              <a:srgbClr val="6AA84F"/>
            </a:solidFill>
            <a:prstDash val="solid"/>
          </a:ln>
        </p:spPr>
      </p:sp>
      <p:sp>
        <p:nvSpPr>
          <p:cNvPr id="246" name="Text 244"/>
          <p:cNvSpPr txBox="1"/>
          <p:nvPr/>
        </p:nvSpPr>
        <p:spPr>
          <a:xfrm>
            <a:off x="10471315" y="1429681"/>
            <a:ext cx="1325784" cy="3653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92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&lt;thinking&gt;...&lt;/thinking&gt;</a:t>
            </a:r>
            <a:endParaRPr lang="en-US" sz="792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92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&lt;score&gt;...&lt;/score&gt;</a:t>
            </a:r>
            <a:endParaRPr lang="en-US" sz="792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92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&lt;suggestion&gt;...&lt;/suggestion&gt;</a:t>
            </a:r>
            <a:endParaRPr lang="en-US" sz="792" dirty="0"/>
          </a:p>
        </p:txBody>
      </p:sp>
      <p:sp>
        <p:nvSpPr>
          <p:cNvPr id="247" name="Text 245"/>
          <p:cNvSpPr txBox="1"/>
          <p:nvPr/>
        </p:nvSpPr>
        <p:spPr>
          <a:xfrm>
            <a:off x="9383695" y="1842700"/>
            <a:ext cx="254043" cy="285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⋮</a:t>
            </a:r>
            <a:endParaRPr lang="en-US" sz="2160" dirty="0"/>
          </a:p>
        </p:txBody>
      </p:sp>
      <p:sp>
        <p:nvSpPr>
          <p:cNvPr id="248" name="Text 246"/>
          <p:cNvSpPr txBox="1"/>
          <p:nvPr/>
        </p:nvSpPr>
        <p:spPr>
          <a:xfrm>
            <a:off x="11074666" y="1842700"/>
            <a:ext cx="254043" cy="285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⋮</a:t>
            </a:r>
            <a:endParaRPr lang="en-US" sz="2160" dirty="0"/>
          </a:p>
        </p:txBody>
      </p:sp>
      <p:sp>
        <p:nvSpPr>
          <p:cNvPr id="249" name="Shape 247"/>
          <p:cNvSpPr/>
          <p:nvPr/>
        </p:nvSpPr>
        <p:spPr>
          <a:xfrm>
            <a:off x="8764467" y="2168349"/>
            <a:ext cx="1540133" cy="357420"/>
          </a:xfrm>
          <a:prstGeom prst="rect">
            <a:avLst/>
          </a:prstGeom>
          <a:solidFill>
            <a:srgbClr val="FFFBEA"/>
          </a:solidFill>
          <a:ln w="9525">
            <a:solidFill>
              <a:srgbClr val="F2B400"/>
            </a:solidFill>
            <a:prstDash val="solid"/>
          </a:ln>
        </p:spPr>
      </p:sp>
      <p:sp>
        <p:nvSpPr>
          <p:cNvPr id="250" name="Text 248"/>
          <p:cNvSpPr txBox="1"/>
          <p:nvPr/>
        </p:nvSpPr>
        <p:spPr>
          <a:xfrm>
            <a:off x="8827977" y="2168349"/>
            <a:ext cx="1413111" cy="309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92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&lt;score&gt;...&lt;/score&gt;</a:t>
            </a:r>
            <a:endParaRPr lang="en-US" sz="792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92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&lt;suggestion&gt;...&lt;/suggestion&gt;</a:t>
            </a:r>
            <a:endParaRPr lang="en-US" sz="792" dirty="0"/>
          </a:p>
        </p:txBody>
      </p:sp>
      <p:sp>
        <p:nvSpPr>
          <p:cNvPr id="251" name="Shape 249"/>
          <p:cNvSpPr/>
          <p:nvPr/>
        </p:nvSpPr>
        <p:spPr>
          <a:xfrm>
            <a:off x="10399865" y="2120693"/>
            <a:ext cx="1452806" cy="420962"/>
          </a:xfrm>
          <a:prstGeom prst="rect">
            <a:avLst/>
          </a:prstGeom>
          <a:solidFill>
            <a:srgbClr val="EAF4E2"/>
          </a:solidFill>
          <a:ln w="19050">
            <a:solidFill>
              <a:srgbClr val="6AA84F"/>
            </a:solidFill>
            <a:prstDash val="solid"/>
          </a:ln>
        </p:spPr>
      </p:sp>
      <p:sp>
        <p:nvSpPr>
          <p:cNvPr id="252" name="Text 250"/>
          <p:cNvSpPr txBox="1"/>
          <p:nvPr/>
        </p:nvSpPr>
        <p:spPr>
          <a:xfrm>
            <a:off x="10471315" y="2136579"/>
            <a:ext cx="1325784" cy="3653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92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&lt;thinking&gt;...&lt;/thinking&gt;</a:t>
            </a:r>
            <a:endParaRPr lang="en-US" sz="792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92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&lt;score&gt;...&lt;/score&gt;</a:t>
            </a:r>
            <a:endParaRPr lang="en-US" sz="792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92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&lt;suggestion&gt;...&lt;/suggestion&gt;</a:t>
            </a:r>
            <a:endParaRPr lang="en-US" sz="792" dirty="0"/>
          </a:p>
        </p:txBody>
      </p:sp>
      <p:sp>
        <p:nvSpPr>
          <p:cNvPr id="253" name="Shape 251"/>
          <p:cNvSpPr/>
          <p:nvPr/>
        </p:nvSpPr>
        <p:spPr>
          <a:xfrm>
            <a:off x="12495716" y="1191401"/>
            <a:ext cx="0" cy="428904"/>
          </a:xfrm>
          <a:prstGeom prst="line">
            <a:avLst/>
          </a:prstGeom>
          <a:noFill/>
          <a:ln w="76200">
            <a:solidFill>
              <a:srgbClr val="5B9BD5"/>
            </a:solidFill>
            <a:prstDash val="solid"/>
            <a:headEnd type="none"/>
            <a:tailEnd type="triangle"/>
          </a:ln>
        </p:spPr>
      </p:sp>
      <p:sp>
        <p:nvSpPr>
          <p:cNvPr id="254" name="Shape 252"/>
          <p:cNvSpPr/>
          <p:nvPr/>
        </p:nvSpPr>
        <p:spPr>
          <a:xfrm>
            <a:off x="12503655" y="1829991"/>
            <a:ext cx="0" cy="64336"/>
          </a:xfrm>
          <a:prstGeom prst="line">
            <a:avLst/>
          </a:prstGeom>
          <a:noFill/>
          <a:ln w="19050">
            <a:solidFill>
              <a:srgbClr val="29415D"/>
            </a:solidFill>
            <a:prstDash val="solid"/>
            <a:headEnd type="none"/>
            <a:tailEnd type="none"/>
          </a:ln>
        </p:spPr>
      </p:sp>
      <p:sp>
        <p:nvSpPr>
          <p:cNvPr id="255" name="Shape 253"/>
          <p:cNvSpPr/>
          <p:nvPr/>
        </p:nvSpPr>
        <p:spPr>
          <a:xfrm>
            <a:off x="12482220" y="1787101"/>
            <a:ext cx="42870" cy="42890"/>
          </a:xfrm>
          <a:prstGeom prst="ellipse">
            <a:avLst/>
          </a:prstGeom>
          <a:solidFill>
            <a:srgbClr val="8EAADB"/>
          </a:solidFill>
          <a:ln w="14288">
            <a:solidFill>
              <a:srgbClr val="29415D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12332176" y="1887179"/>
            <a:ext cx="342957" cy="221601"/>
          </a:xfrm>
          <a:prstGeom prst="roundRect">
            <a:avLst>
              <a:gd name="adj" fmla="val 35467"/>
            </a:avLst>
          </a:prstGeom>
          <a:solidFill>
            <a:srgbClr val="EDF4FA"/>
          </a:solidFill>
          <a:ln w="19050">
            <a:solidFill>
              <a:srgbClr val="29415D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12403626" y="1951514"/>
            <a:ext cx="57160" cy="57187"/>
          </a:xfrm>
          <a:prstGeom prst="ellipse">
            <a:avLst/>
          </a:prstGeom>
          <a:solidFill>
            <a:srgbClr val="2E75B6"/>
          </a:solidFill>
          <a:ln w="9525">
            <a:solidFill>
              <a:srgbClr val="29415D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12546524" y="1951514"/>
            <a:ext cx="57160" cy="57187"/>
          </a:xfrm>
          <a:prstGeom prst="ellipse">
            <a:avLst/>
          </a:prstGeom>
          <a:solidFill>
            <a:srgbClr val="2E75B6"/>
          </a:solidFill>
          <a:ln w="9525">
            <a:solidFill>
              <a:srgbClr val="29415D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12439350" y="2051592"/>
            <a:ext cx="128609" cy="21445"/>
          </a:xfrm>
          <a:prstGeom prst="roundRect">
            <a:avLst>
              <a:gd name="adj" fmla="val 49976"/>
            </a:avLst>
          </a:prstGeom>
          <a:solidFill>
            <a:srgbClr val="2941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12296451" y="1972959"/>
            <a:ext cx="35725" cy="28594"/>
          </a:xfrm>
          <a:prstGeom prst="line">
            <a:avLst/>
          </a:prstGeom>
          <a:noFill/>
          <a:ln w="28575">
            <a:solidFill>
              <a:srgbClr val="29415D"/>
            </a:solidFill>
            <a:prstDash val="solid"/>
            <a:headEnd type="none"/>
            <a:tailEnd type="none"/>
          </a:ln>
        </p:spPr>
      </p:sp>
      <p:sp>
        <p:nvSpPr>
          <p:cNvPr id="261" name="Shape 259"/>
          <p:cNvSpPr/>
          <p:nvPr/>
        </p:nvSpPr>
        <p:spPr>
          <a:xfrm>
            <a:off x="12675134" y="2001553"/>
            <a:ext cx="35725" cy="-28594"/>
          </a:xfrm>
          <a:prstGeom prst="line">
            <a:avLst/>
          </a:prstGeom>
          <a:noFill/>
          <a:ln w="28575">
            <a:solidFill>
              <a:srgbClr val="29415D"/>
            </a:solidFill>
            <a:prstDash val="solid"/>
            <a:headEnd type="none"/>
            <a:tailEnd type="none"/>
          </a:ln>
        </p:spPr>
      </p:sp>
      <p:sp>
        <p:nvSpPr>
          <p:cNvPr id="262" name="Text 260"/>
          <p:cNvSpPr txBox="1"/>
          <p:nvPr/>
        </p:nvSpPr>
        <p:spPr>
          <a:xfrm>
            <a:off x="12106713" y="2192177"/>
            <a:ext cx="801822" cy="357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24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Baseline</a:t>
            </a:r>
            <a:endParaRPr lang="en-US" sz="1224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24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Model</a:t>
            </a:r>
            <a:endParaRPr lang="en-US" sz="1224" dirty="0"/>
          </a:p>
        </p:txBody>
      </p:sp>
      <p:sp>
        <p:nvSpPr>
          <p:cNvPr id="263" name="Shape 261"/>
          <p:cNvSpPr/>
          <p:nvPr/>
        </p:nvSpPr>
        <p:spPr>
          <a:xfrm>
            <a:off x="12757697" y="1993610"/>
            <a:ext cx="261981" cy="0"/>
          </a:xfrm>
          <a:prstGeom prst="line">
            <a:avLst/>
          </a:prstGeom>
          <a:noFill/>
          <a:ln w="47625">
            <a:solidFill>
              <a:srgbClr val="5B9BD5"/>
            </a:solidFill>
            <a:prstDash val="solid"/>
            <a:headEnd type="none"/>
            <a:tailEnd type="triangle"/>
          </a:ln>
        </p:spPr>
      </p:sp>
      <p:sp>
        <p:nvSpPr>
          <p:cNvPr id="264" name="Shape 262"/>
          <p:cNvSpPr/>
          <p:nvPr/>
        </p:nvSpPr>
        <p:spPr>
          <a:xfrm>
            <a:off x="12852963" y="1096089"/>
            <a:ext cx="1444867" cy="1445566"/>
          </a:xfrm>
          <a:prstGeom prst="ellipse">
            <a:avLst/>
          </a:prstGeom>
          <a:solidFill>
            <a:srgbClr val="EDF4FA"/>
          </a:solidFill>
          <a:ln w="9525">
            <a:solidFill>
              <a:srgbClr val="EDF4FA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13361048" y="1096089"/>
            <a:ext cx="428697" cy="428904"/>
          </a:xfrm>
          <a:prstGeom prst="ellipse">
            <a:avLst/>
          </a:prstGeom>
          <a:solidFill>
            <a:srgbClr val="F7D7C8"/>
          </a:solidFill>
          <a:ln w="9525">
            <a:solidFill>
              <a:srgbClr val="F7D7C8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13496008" y="1231114"/>
            <a:ext cx="158777" cy="158853"/>
          </a:xfrm>
          <a:prstGeom prst="ellipse">
            <a:avLst/>
          </a:prstGeom>
          <a:solidFill>
            <a:srgbClr val="FFD24D"/>
          </a:solidFill>
          <a:ln w="9525">
            <a:solidFill>
              <a:srgbClr val="FFD24D"/>
            </a:solidFill>
            <a:prstDash val="solid"/>
          </a:ln>
        </p:spPr>
      </p:sp>
      <p:sp>
        <p:nvSpPr>
          <p:cNvPr id="267" name="Text 265"/>
          <p:cNvSpPr txBox="1"/>
          <p:nvPr/>
        </p:nvSpPr>
        <p:spPr>
          <a:xfrm>
            <a:off x="13083189" y="1660018"/>
            <a:ext cx="984415" cy="4606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96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Reinforced</a:t>
            </a:r>
            <a:endParaRPr lang="en-US" sz="1296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96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Fine-Tuning</a:t>
            </a:r>
            <a:endParaRPr lang="en-US" sz="1296" dirty="0"/>
          </a:p>
        </p:txBody>
      </p:sp>
      <p:sp>
        <p:nvSpPr>
          <p:cNvPr id="268" name="Shape 266"/>
          <p:cNvSpPr/>
          <p:nvPr/>
        </p:nvSpPr>
        <p:spPr>
          <a:xfrm>
            <a:off x="13408681" y="2168349"/>
            <a:ext cx="333431" cy="333592"/>
          </a:xfrm>
          <a:prstGeom prst="roundRect">
            <a:avLst>
              <a:gd name="adj" fmla="val 21429"/>
            </a:avLst>
          </a:prstGeom>
          <a:solidFill>
            <a:srgbClr val="6A9CEB"/>
          </a:solidFill>
          <a:ln w="9525">
            <a:solidFill>
              <a:srgbClr val="6A9CEB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13472192" y="2231891"/>
            <a:ext cx="206410" cy="21445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13575397" y="2231891"/>
            <a:ext cx="0" cy="198567"/>
          </a:xfrm>
          <a:prstGeom prst="line">
            <a:avLst/>
          </a:prstGeom>
          <a:noFill/>
          <a:ln w="19050">
            <a:solidFill>
              <a:srgbClr val="E22020"/>
            </a:solidFill>
            <a:prstDash val="solid"/>
            <a:headEnd type="none"/>
            <a:tailEnd type="none"/>
          </a:ln>
        </p:spPr>
      </p:sp>
      <p:sp>
        <p:nvSpPr>
          <p:cNvPr id="271" name="Shape 269"/>
          <p:cNvSpPr/>
          <p:nvPr/>
        </p:nvSpPr>
        <p:spPr>
          <a:xfrm>
            <a:off x="14274014" y="1993610"/>
            <a:ext cx="111144" cy="0"/>
          </a:xfrm>
          <a:prstGeom prst="line">
            <a:avLst/>
          </a:prstGeom>
          <a:noFill/>
          <a:ln w="47625">
            <a:solidFill>
              <a:srgbClr val="5B9BD5"/>
            </a:solidFill>
            <a:prstDash val="solid"/>
            <a:headEnd type="none"/>
            <a:tailEnd type="triangle"/>
          </a:ln>
        </p:spPr>
      </p:sp>
      <p:sp>
        <p:nvSpPr>
          <p:cNvPr id="272" name="Shape 270"/>
          <p:cNvSpPr/>
          <p:nvPr/>
        </p:nvSpPr>
        <p:spPr>
          <a:xfrm>
            <a:off x="14543934" y="1829991"/>
            <a:ext cx="0" cy="64336"/>
          </a:xfrm>
          <a:prstGeom prst="line">
            <a:avLst/>
          </a:prstGeom>
          <a:noFill/>
          <a:ln w="19050">
            <a:solidFill>
              <a:srgbClr val="29415D"/>
            </a:solidFill>
            <a:prstDash val="solid"/>
            <a:headEnd type="none"/>
            <a:tailEnd type="none"/>
          </a:ln>
        </p:spPr>
      </p:sp>
      <p:sp>
        <p:nvSpPr>
          <p:cNvPr id="273" name="Shape 271"/>
          <p:cNvSpPr/>
          <p:nvPr/>
        </p:nvSpPr>
        <p:spPr>
          <a:xfrm>
            <a:off x="14522499" y="1787101"/>
            <a:ext cx="42870" cy="42890"/>
          </a:xfrm>
          <a:prstGeom prst="ellipse">
            <a:avLst/>
          </a:prstGeom>
          <a:solidFill>
            <a:srgbClr val="8EAADB"/>
          </a:solidFill>
          <a:ln w="14288">
            <a:solidFill>
              <a:srgbClr val="29415D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14372455" y="1887179"/>
            <a:ext cx="342957" cy="221601"/>
          </a:xfrm>
          <a:prstGeom prst="roundRect">
            <a:avLst>
              <a:gd name="adj" fmla="val 35467"/>
            </a:avLst>
          </a:prstGeom>
          <a:solidFill>
            <a:srgbClr val="EDF4FA"/>
          </a:solidFill>
          <a:ln w="19050">
            <a:solidFill>
              <a:srgbClr val="29415D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14443904" y="1951514"/>
            <a:ext cx="57160" cy="57187"/>
          </a:xfrm>
          <a:prstGeom prst="ellipse">
            <a:avLst/>
          </a:prstGeom>
          <a:solidFill>
            <a:srgbClr val="2E75B6"/>
          </a:solidFill>
          <a:ln w="9525">
            <a:solidFill>
              <a:srgbClr val="29415D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14586803" y="1951514"/>
            <a:ext cx="57160" cy="57187"/>
          </a:xfrm>
          <a:prstGeom prst="ellipse">
            <a:avLst/>
          </a:prstGeom>
          <a:solidFill>
            <a:srgbClr val="2E75B6"/>
          </a:solidFill>
          <a:ln w="9525">
            <a:solidFill>
              <a:srgbClr val="29415D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14479629" y="2051592"/>
            <a:ext cx="128609" cy="21445"/>
          </a:xfrm>
          <a:prstGeom prst="roundRect">
            <a:avLst>
              <a:gd name="adj" fmla="val 49976"/>
            </a:avLst>
          </a:prstGeom>
          <a:solidFill>
            <a:srgbClr val="2941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14336730" y="1972959"/>
            <a:ext cx="35725" cy="28594"/>
          </a:xfrm>
          <a:prstGeom prst="line">
            <a:avLst/>
          </a:prstGeom>
          <a:noFill/>
          <a:ln w="28575">
            <a:solidFill>
              <a:srgbClr val="29415D"/>
            </a:solidFill>
            <a:prstDash val="solid"/>
            <a:headEnd type="none"/>
            <a:tailEnd type="none"/>
          </a:ln>
        </p:spPr>
      </p:sp>
      <p:sp>
        <p:nvSpPr>
          <p:cNvPr id="279" name="Shape 277"/>
          <p:cNvSpPr/>
          <p:nvPr/>
        </p:nvSpPr>
        <p:spPr>
          <a:xfrm>
            <a:off x="14715412" y="2001553"/>
            <a:ext cx="35725" cy="-28594"/>
          </a:xfrm>
          <a:prstGeom prst="line">
            <a:avLst/>
          </a:prstGeom>
          <a:noFill/>
          <a:ln w="28575">
            <a:solidFill>
              <a:srgbClr val="29415D"/>
            </a:solidFill>
            <a:prstDash val="solid"/>
            <a:headEnd type="none"/>
            <a:tailEnd type="none"/>
          </a:ln>
        </p:spPr>
      </p:sp>
      <p:sp>
        <p:nvSpPr>
          <p:cNvPr id="280" name="Text 278"/>
          <p:cNvSpPr txBox="1"/>
          <p:nvPr/>
        </p:nvSpPr>
        <p:spPr>
          <a:xfrm>
            <a:off x="14162870" y="2192177"/>
            <a:ext cx="793883" cy="357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2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RFT Initialized</a:t>
            </a:r>
            <a:endParaRPr lang="en-US" sz="1152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2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Model</a:t>
            </a:r>
            <a:endParaRPr lang="en-US" sz="1152" dirty="0"/>
          </a:p>
        </p:txBody>
      </p:sp>
      <p:sp>
        <p:nvSpPr>
          <p:cNvPr id="281" name="Text 279"/>
          <p:cNvSpPr txBox="1"/>
          <p:nvPr/>
        </p:nvSpPr>
        <p:spPr>
          <a:xfrm>
            <a:off x="8685078" y="3002330"/>
            <a:ext cx="6295491" cy="3018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2" b="1" dirty="0">
                <a:solidFill>
                  <a:srgbClr val="171717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Suggestion-Aware Group Relative Policy Optimization (S-GRPO)</a:t>
            </a:r>
            <a:endParaRPr lang="en-US" sz="1872" dirty="0"/>
          </a:p>
        </p:txBody>
      </p:sp>
      <p:sp>
        <p:nvSpPr>
          <p:cNvPr id="282" name="Text 280"/>
          <p:cNvSpPr txBox="1"/>
          <p:nvPr/>
        </p:nvSpPr>
        <p:spPr>
          <a:xfrm>
            <a:off x="8962937" y="3455062"/>
            <a:ext cx="650984" cy="25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28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Query</a:t>
            </a:r>
            <a:endParaRPr lang="en-US" sz="1728" dirty="0"/>
          </a:p>
        </p:txBody>
      </p:sp>
      <p:sp>
        <p:nvSpPr>
          <p:cNvPr id="283" name="Shape 281"/>
          <p:cNvSpPr/>
          <p:nvPr/>
        </p:nvSpPr>
        <p:spPr>
          <a:xfrm>
            <a:off x="9598044" y="3383578"/>
            <a:ext cx="2635691" cy="524216"/>
          </a:xfrm>
          <a:prstGeom prst="rect">
            <a:avLst/>
          </a:prstGeom>
          <a:solidFill>
            <a:srgbClr val="FFFFFF"/>
          </a:solidFill>
          <a:ln w="9525">
            <a:solidFill>
              <a:srgbClr val="9C9C9C"/>
            </a:solidFill>
            <a:prstDash val="solid"/>
          </a:ln>
        </p:spPr>
      </p:sp>
      <p:sp>
        <p:nvSpPr>
          <p:cNvPr id="284" name="Text 282"/>
          <p:cNvSpPr txBox="1"/>
          <p:nvPr/>
        </p:nvSpPr>
        <p:spPr>
          <a:xfrm>
            <a:off x="9717126" y="3447119"/>
            <a:ext cx="2389587" cy="3891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2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Task Instruction; Operation History;</a:t>
            </a:r>
            <a:endParaRPr lang="en-US" sz="1152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2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Screenshot; Action</a:t>
            </a:r>
            <a:endParaRPr lang="en-US" sz="1152" dirty="0"/>
          </a:p>
        </p:txBody>
      </p:sp>
      <p:sp>
        <p:nvSpPr>
          <p:cNvPr id="285" name="Shape 283"/>
          <p:cNvSpPr/>
          <p:nvPr/>
        </p:nvSpPr>
        <p:spPr>
          <a:xfrm>
            <a:off x="10804746" y="3907794"/>
            <a:ext cx="0" cy="198567"/>
          </a:xfrm>
          <a:prstGeom prst="line">
            <a:avLst/>
          </a:prstGeom>
          <a:noFill/>
          <a:ln w="28575">
            <a:solidFill>
              <a:srgbClr val="2E75B6"/>
            </a:solidFill>
            <a:prstDash val="solid"/>
            <a:headEnd type="none"/>
            <a:tailEnd type="triangle"/>
          </a:ln>
        </p:spPr>
      </p:sp>
      <p:sp>
        <p:nvSpPr>
          <p:cNvPr id="286" name="Shape 284"/>
          <p:cNvSpPr/>
          <p:nvPr/>
        </p:nvSpPr>
        <p:spPr>
          <a:xfrm>
            <a:off x="10804746" y="4149251"/>
            <a:ext cx="0" cy="64336"/>
          </a:xfrm>
          <a:prstGeom prst="line">
            <a:avLst/>
          </a:prstGeom>
          <a:noFill/>
          <a:ln w="19050">
            <a:solidFill>
              <a:srgbClr val="29415D"/>
            </a:solidFill>
            <a:prstDash val="solid"/>
            <a:headEnd type="none"/>
            <a:tailEnd type="none"/>
          </a:ln>
        </p:spPr>
      </p:sp>
      <p:sp>
        <p:nvSpPr>
          <p:cNvPr id="287" name="Shape 285"/>
          <p:cNvSpPr/>
          <p:nvPr/>
        </p:nvSpPr>
        <p:spPr>
          <a:xfrm>
            <a:off x="10783311" y="4106361"/>
            <a:ext cx="42870" cy="42890"/>
          </a:xfrm>
          <a:prstGeom prst="ellipse">
            <a:avLst/>
          </a:prstGeom>
          <a:solidFill>
            <a:srgbClr val="8EAADB"/>
          </a:solidFill>
          <a:ln w="14288">
            <a:solidFill>
              <a:srgbClr val="29415D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10633267" y="4206439"/>
            <a:ext cx="342957" cy="221601"/>
          </a:xfrm>
          <a:prstGeom prst="roundRect">
            <a:avLst>
              <a:gd name="adj" fmla="val 35467"/>
            </a:avLst>
          </a:prstGeom>
          <a:solidFill>
            <a:srgbClr val="EDF4FA"/>
          </a:solidFill>
          <a:ln w="19050">
            <a:solidFill>
              <a:srgbClr val="29415D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10704716" y="4270774"/>
            <a:ext cx="57160" cy="57187"/>
          </a:xfrm>
          <a:prstGeom prst="ellipse">
            <a:avLst/>
          </a:prstGeom>
          <a:solidFill>
            <a:srgbClr val="2E75B6"/>
          </a:solidFill>
          <a:ln w="9525">
            <a:solidFill>
              <a:srgbClr val="29415D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10847615" y="4270774"/>
            <a:ext cx="57160" cy="57187"/>
          </a:xfrm>
          <a:prstGeom prst="ellipse">
            <a:avLst/>
          </a:prstGeom>
          <a:solidFill>
            <a:srgbClr val="2E75B6"/>
          </a:solidFill>
          <a:ln w="9525">
            <a:solidFill>
              <a:srgbClr val="29415D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10740441" y="4370852"/>
            <a:ext cx="128609" cy="21445"/>
          </a:xfrm>
          <a:prstGeom prst="roundRect">
            <a:avLst>
              <a:gd name="adj" fmla="val 49976"/>
            </a:avLst>
          </a:prstGeom>
          <a:solidFill>
            <a:srgbClr val="2941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10597542" y="4292219"/>
            <a:ext cx="35725" cy="28594"/>
          </a:xfrm>
          <a:prstGeom prst="line">
            <a:avLst/>
          </a:prstGeom>
          <a:noFill/>
          <a:ln w="28575">
            <a:solidFill>
              <a:srgbClr val="29415D"/>
            </a:solidFill>
            <a:prstDash val="solid"/>
            <a:headEnd type="none"/>
            <a:tailEnd type="none"/>
          </a:ln>
        </p:spPr>
      </p:sp>
      <p:sp>
        <p:nvSpPr>
          <p:cNvPr id="293" name="Shape 291"/>
          <p:cNvSpPr/>
          <p:nvPr/>
        </p:nvSpPr>
        <p:spPr>
          <a:xfrm>
            <a:off x="10976224" y="4320813"/>
            <a:ext cx="35725" cy="-28594"/>
          </a:xfrm>
          <a:prstGeom prst="line">
            <a:avLst/>
          </a:prstGeom>
          <a:noFill/>
          <a:ln w="28575">
            <a:solidFill>
              <a:srgbClr val="29415D"/>
            </a:solidFill>
            <a:prstDash val="solid"/>
            <a:headEnd type="none"/>
            <a:tailEnd type="none"/>
          </a:ln>
        </p:spPr>
      </p:sp>
      <p:sp>
        <p:nvSpPr>
          <p:cNvPr id="294" name="Shape 292"/>
          <p:cNvSpPr/>
          <p:nvPr/>
        </p:nvSpPr>
        <p:spPr>
          <a:xfrm>
            <a:off x="9510716" y="4042820"/>
            <a:ext cx="365186" cy="158853"/>
          </a:xfrm>
          <a:prstGeom prst="diamond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9891780" y="4312870"/>
            <a:ext cx="666862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headEnd type="none"/>
            <a:tailEnd type="triangle"/>
          </a:ln>
        </p:spPr>
      </p:sp>
      <p:sp>
        <p:nvSpPr>
          <p:cNvPr id="296" name="Text 294"/>
          <p:cNvSpPr txBox="1"/>
          <p:nvPr/>
        </p:nvSpPr>
        <p:spPr>
          <a:xfrm>
            <a:off x="9193163" y="4352584"/>
            <a:ext cx="1135252" cy="23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40" dirty="0">
                <a:solidFill>
                  <a:srgbClr val="5D82C2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Optimization</a:t>
            </a:r>
            <a:endParaRPr lang="en-US" sz="1440" dirty="0"/>
          </a:p>
        </p:txBody>
      </p:sp>
      <p:sp>
        <p:nvSpPr>
          <p:cNvPr id="297" name="Text 295"/>
          <p:cNvSpPr txBox="1"/>
          <p:nvPr/>
        </p:nvSpPr>
        <p:spPr>
          <a:xfrm>
            <a:off x="8962937" y="4741775"/>
            <a:ext cx="650984" cy="25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84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Output</a:t>
            </a:r>
            <a:endParaRPr lang="en-US" sz="1584" dirty="0"/>
          </a:p>
        </p:txBody>
      </p:sp>
      <p:sp>
        <p:nvSpPr>
          <p:cNvPr id="298" name="Text 296"/>
          <p:cNvSpPr txBox="1"/>
          <p:nvPr/>
        </p:nvSpPr>
        <p:spPr>
          <a:xfrm>
            <a:off x="8962937" y="5504271"/>
            <a:ext cx="650984" cy="25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84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Reward</a:t>
            </a:r>
            <a:endParaRPr lang="en-US" sz="1584" dirty="0"/>
          </a:p>
        </p:txBody>
      </p:sp>
      <p:sp>
        <p:nvSpPr>
          <p:cNvPr id="299" name="Text 297"/>
          <p:cNvSpPr txBox="1"/>
          <p:nvPr/>
        </p:nvSpPr>
        <p:spPr>
          <a:xfrm>
            <a:off x="8962937" y="6473277"/>
            <a:ext cx="857393" cy="25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84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Advantage</a:t>
            </a:r>
            <a:endParaRPr lang="en-US" sz="1584" dirty="0"/>
          </a:p>
        </p:txBody>
      </p:sp>
      <p:sp>
        <p:nvSpPr>
          <p:cNvPr id="300" name="Shape 298"/>
          <p:cNvSpPr/>
          <p:nvPr/>
        </p:nvSpPr>
        <p:spPr>
          <a:xfrm>
            <a:off x="10804746" y="4527322"/>
            <a:ext cx="-770066" cy="317707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headEnd type="none"/>
            <a:tailEnd type="none"/>
          </a:ln>
        </p:spPr>
      </p:sp>
      <p:sp>
        <p:nvSpPr>
          <p:cNvPr id="301" name="Shape 299"/>
          <p:cNvSpPr/>
          <p:nvPr/>
        </p:nvSpPr>
        <p:spPr>
          <a:xfrm>
            <a:off x="9701248" y="4908571"/>
            <a:ext cx="682739" cy="285936"/>
          </a:xfrm>
          <a:prstGeom prst="roundRect">
            <a:avLst>
              <a:gd name="adj" fmla="val 8329"/>
            </a:avLst>
          </a:prstGeom>
          <a:solidFill>
            <a:srgbClr val="AFC5E4"/>
          </a:solidFill>
          <a:ln w="9525">
            <a:solidFill>
              <a:srgbClr val="29415D"/>
            </a:solidFill>
            <a:prstDash val="solid"/>
          </a:ln>
        </p:spPr>
      </p:sp>
      <p:sp>
        <p:nvSpPr>
          <p:cNvPr id="302" name="Text 300"/>
          <p:cNvSpPr txBox="1"/>
          <p:nvPr/>
        </p:nvSpPr>
        <p:spPr>
          <a:xfrm>
            <a:off x="9701248" y="4892685"/>
            <a:ext cx="682739" cy="285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68" i="1" dirty="0">
                <a:solidFill>
                  <a:srgbClr val="FFFFF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o1</a:t>
            </a:r>
            <a:endParaRPr lang="en-US" sz="1368" dirty="0"/>
          </a:p>
        </p:txBody>
      </p:sp>
      <p:sp>
        <p:nvSpPr>
          <p:cNvPr id="303" name="Shape 301"/>
          <p:cNvSpPr/>
          <p:nvPr/>
        </p:nvSpPr>
        <p:spPr>
          <a:xfrm>
            <a:off x="10034679" y="5202450"/>
            <a:ext cx="0" cy="270051"/>
          </a:xfrm>
          <a:prstGeom prst="line">
            <a:avLst/>
          </a:prstGeom>
          <a:noFill/>
          <a:ln w="28575">
            <a:solidFill>
              <a:srgbClr val="2E75B6"/>
            </a:solidFill>
            <a:prstDash val="solid"/>
            <a:headEnd type="none"/>
            <a:tailEnd type="triangle"/>
          </a:ln>
        </p:spPr>
      </p:sp>
      <p:sp>
        <p:nvSpPr>
          <p:cNvPr id="304" name="Shape 302"/>
          <p:cNvSpPr/>
          <p:nvPr/>
        </p:nvSpPr>
        <p:spPr>
          <a:xfrm>
            <a:off x="9701248" y="5496328"/>
            <a:ext cx="682739" cy="293879"/>
          </a:xfrm>
          <a:prstGeom prst="roundRect">
            <a:avLst>
              <a:gd name="adj" fmla="val 8104"/>
            </a:avLst>
          </a:prstGeom>
          <a:solidFill>
            <a:srgbClr val="8EAADB"/>
          </a:solidFill>
          <a:ln w="9525">
            <a:solidFill>
              <a:srgbClr val="29415D"/>
            </a:solidFill>
            <a:prstDash val="solid"/>
          </a:ln>
        </p:spPr>
      </p:sp>
      <p:sp>
        <p:nvSpPr>
          <p:cNvPr id="305" name="Text 303"/>
          <p:cNvSpPr txBox="1"/>
          <p:nvPr/>
        </p:nvSpPr>
        <p:spPr>
          <a:xfrm>
            <a:off x="9701248" y="5480443"/>
            <a:ext cx="682739" cy="2938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96" i="1" dirty="0">
                <a:solidFill>
                  <a:srgbClr val="FFFFF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r1</a:t>
            </a:r>
            <a:endParaRPr lang="en-US" sz="1296" dirty="0"/>
          </a:p>
        </p:txBody>
      </p:sp>
      <p:sp>
        <p:nvSpPr>
          <p:cNvPr id="306" name="Shape 304"/>
          <p:cNvSpPr/>
          <p:nvPr/>
        </p:nvSpPr>
        <p:spPr>
          <a:xfrm>
            <a:off x="10034679" y="5798150"/>
            <a:ext cx="0" cy="262108"/>
          </a:xfrm>
          <a:prstGeom prst="line">
            <a:avLst/>
          </a:prstGeom>
          <a:noFill/>
          <a:ln w="28575">
            <a:solidFill>
              <a:srgbClr val="2E75B6"/>
            </a:solidFill>
            <a:prstDash val="solid"/>
            <a:headEnd type="none"/>
            <a:tailEnd type="triangle"/>
          </a:ln>
        </p:spPr>
      </p:sp>
      <p:sp>
        <p:nvSpPr>
          <p:cNvPr id="307" name="Shape 305"/>
          <p:cNvSpPr/>
          <p:nvPr/>
        </p:nvSpPr>
        <p:spPr>
          <a:xfrm>
            <a:off x="10804746" y="4527322"/>
            <a:ext cx="23816" cy="317707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headEnd type="none"/>
            <a:tailEnd type="triangle"/>
          </a:ln>
        </p:spPr>
      </p:sp>
      <p:sp>
        <p:nvSpPr>
          <p:cNvPr id="308" name="Shape 306"/>
          <p:cNvSpPr/>
          <p:nvPr/>
        </p:nvSpPr>
        <p:spPr>
          <a:xfrm>
            <a:off x="10495131" y="4908571"/>
            <a:ext cx="682739" cy="285936"/>
          </a:xfrm>
          <a:prstGeom prst="roundRect">
            <a:avLst>
              <a:gd name="adj" fmla="val 8329"/>
            </a:avLst>
          </a:prstGeom>
          <a:solidFill>
            <a:srgbClr val="AFC5E4"/>
          </a:solidFill>
          <a:ln w="9525">
            <a:solidFill>
              <a:srgbClr val="29415D"/>
            </a:solidFill>
            <a:prstDash val="solid"/>
          </a:ln>
        </p:spPr>
      </p:sp>
      <p:sp>
        <p:nvSpPr>
          <p:cNvPr id="309" name="Text 307"/>
          <p:cNvSpPr txBox="1"/>
          <p:nvPr/>
        </p:nvSpPr>
        <p:spPr>
          <a:xfrm>
            <a:off x="10495131" y="4892685"/>
            <a:ext cx="682739" cy="285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68" i="1" dirty="0">
                <a:solidFill>
                  <a:srgbClr val="FFFFF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o2</a:t>
            </a:r>
            <a:endParaRPr lang="en-US" sz="1368" dirty="0"/>
          </a:p>
        </p:txBody>
      </p:sp>
      <p:sp>
        <p:nvSpPr>
          <p:cNvPr id="310" name="Shape 308"/>
          <p:cNvSpPr/>
          <p:nvPr/>
        </p:nvSpPr>
        <p:spPr>
          <a:xfrm>
            <a:off x="10828562" y="5202450"/>
            <a:ext cx="0" cy="270051"/>
          </a:xfrm>
          <a:prstGeom prst="line">
            <a:avLst/>
          </a:prstGeom>
          <a:noFill/>
          <a:ln w="28575">
            <a:solidFill>
              <a:srgbClr val="2E75B6"/>
            </a:solidFill>
            <a:prstDash val="solid"/>
            <a:headEnd type="none"/>
            <a:tailEnd type="triangle"/>
          </a:ln>
        </p:spPr>
      </p:sp>
      <p:sp>
        <p:nvSpPr>
          <p:cNvPr id="311" name="Shape 309"/>
          <p:cNvSpPr/>
          <p:nvPr/>
        </p:nvSpPr>
        <p:spPr>
          <a:xfrm>
            <a:off x="10495131" y="5496328"/>
            <a:ext cx="682739" cy="293879"/>
          </a:xfrm>
          <a:prstGeom prst="roundRect">
            <a:avLst>
              <a:gd name="adj" fmla="val 8104"/>
            </a:avLst>
          </a:prstGeom>
          <a:solidFill>
            <a:srgbClr val="8EAADB"/>
          </a:solidFill>
          <a:ln w="9525">
            <a:solidFill>
              <a:srgbClr val="29415D"/>
            </a:solidFill>
            <a:prstDash val="solid"/>
          </a:ln>
        </p:spPr>
      </p:sp>
      <p:sp>
        <p:nvSpPr>
          <p:cNvPr id="312" name="Text 310"/>
          <p:cNvSpPr txBox="1"/>
          <p:nvPr/>
        </p:nvSpPr>
        <p:spPr>
          <a:xfrm>
            <a:off x="10495131" y="5480443"/>
            <a:ext cx="682739" cy="2938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96" i="1" dirty="0">
                <a:solidFill>
                  <a:srgbClr val="FFFFF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r2</a:t>
            </a:r>
            <a:endParaRPr lang="en-US" sz="1296" dirty="0"/>
          </a:p>
        </p:txBody>
      </p:sp>
      <p:sp>
        <p:nvSpPr>
          <p:cNvPr id="313" name="Shape 311"/>
          <p:cNvSpPr/>
          <p:nvPr/>
        </p:nvSpPr>
        <p:spPr>
          <a:xfrm>
            <a:off x="10828562" y="5798150"/>
            <a:ext cx="0" cy="262108"/>
          </a:xfrm>
          <a:prstGeom prst="line">
            <a:avLst/>
          </a:prstGeom>
          <a:noFill/>
          <a:ln w="28575">
            <a:solidFill>
              <a:srgbClr val="2E75B6"/>
            </a:solidFill>
            <a:prstDash val="solid"/>
            <a:headEnd type="none"/>
            <a:tailEnd type="triangle"/>
          </a:ln>
        </p:spPr>
      </p:sp>
      <p:sp>
        <p:nvSpPr>
          <p:cNvPr id="314" name="Shape 312"/>
          <p:cNvSpPr/>
          <p:nvPr/>
        </p:nvSpPr>
        <p:spPr>
          <a:xfrm>
            <a:off x="10804746" y="4527322"/>
            <a:ext cx="793883" cy="317707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  <a:headEnd type="none"/>
            <a:tailEnd type="none"/>
          </a:ln>
        </p:spPr>
      </p:sp>
      <p:sp>
        <p:nvSpPr>
          <p:cNvPr id="315" name="Shape 313"/>
          <p:cNvSpPr/>
          <p:nvPr/>
        </p:nvSpPr>
        <p:spPr>
          <a:xfrm>
            <a:off x="11265198" y="4908571"/>
            <a:ext cx="682739" cy="285936"/>
          </a:xfrm>
          <a:prstGeom prst="roundRect">
            <a:avLst>
              <a:gd name="adj" fmla="val 8329"/>
            </a:avLst>
          </a:prstGeom>
          <a:solidFill>
            <a:srgbClr val="AFC5E4"/>
          </a:solidFill>
          <a:ln w="9525">
            <a:solidFill>
              <a:srgbClr val="29415D"/>
            </a:solidFill>
            <a:prstDash val="solid"/>
          </a:ln>
        </p:spPr>
      </p:sp>
      <p:sp>
        <p:nvSpPr>
          <p:cNvPr id="316" name="Text 314"/>
          <p:cNvSpPr txBox="1"/>
          <p:nvPr/>
        </p:nvSpPr>
        <p:spPr>
          <a:xfrm>
            <a:off x="11265198" y="4892685"/>
            <a:ext cx="682739" cy="285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68" i="1" dirty="0">
                <a:solidFill>
                  <a:srgbClr val="FFFFF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o3</a:t>
            </a:r>
            <a:endParaRPr lang="en-US" sz="1368" dirty="0"/>
          </a:p>
        </p:txBody>
      </p:sp>
      <p:sp>
        <p:nvSpPr>
          <p:cNvPr id="317" name="Shape 315"/>
          <p:cNvSpPr/>
          <p:nvPr/>
        </p:nvSpPr>
        <p:spPr>
          <a:xfrm>
            <a:off x="11598628" y="5202450"/>
            <a:ext cx="0" cy="270051"/>
          </a:xfrm>
          <a:prstGeom prst="line">
            <a:avLst/>
          </a:prstGeom>
          <a:noFill/>
          <a:ln w="28575">
            <a:solidFill>
              <a:srgbClr val="2E75B6"/>
            </a:solidFill>
            <a:prstDash val="solid"/>
            <a:headEnd type="none"/>
            <a:tailEnd type="triangle"/>
          </a:ln>
        </p:spPr>
      </p:sp>
      <p:sp>
        <p:nvSpPr>
          <p:cNvPr id="318" name="Shape 316"/>
          <p:cNvSpPr/>
          <p:nvPr/>
        </p:nvSpPr>
        <p:spPr>
          <a:xfrm>
            <a:off x="11265198" y="5496328"/>
            <a:ext cx="682739" cy="293879"/>
          </a:xfrm>
          <a:prstGeom prst="roundRect">
            <a:avLst>
              <a:gd name="adj" fmla="val 8104"/>
            </a:avLst>
          </a:prstGeom>
          <a:solidFill>
            <a:srgbClr val="8EAADB"/>
          </a:solidFill>
          <a:ln w="9525">
            <a:solidFill>
              <a:srgbClr val="29415D"/>
            </a:solidFill>
            <a:prstDash val="solid"/>
          </a:ln>
        </p:spPr>
      </p:sp>
      <p:sp>
        <p:nvSpPr>
          <p:cNvPr id="319" name="Text 317"/>
          <p:cNvSpPr txBox="1"/>
          <p:nvPr/>
        </p:nvSpPr>
        <p:spPr>
          <a:xfrm>
            <a:off x="11265198" y="5480443"/>
            <a:ext cx="682739" cy="2938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96" i="1" dirty="0">
                <a:solidFill>
                  <a:srgbClr val="FFFFF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r3</a:t>
            </a:r>
            <a:endParaRPr lang="en-US" sz="1296" dirty="0"/>
          </a:p>
        </p:txBody>
      </p:sp>
      <p:sp>
        <p:nvSpPr>
          <p:cNvPr id="320" name="Shape 318"/>
          <p:cNvSpPr/>
          <p:nvPr/>
        </p:nvSpPr>
        <p:spPr>
          <a:xfrm>
            <a:off x="11598628" y="5798150"/>
            <a:ext cx="0" cy="262108"/>
          </a:xfrm>
          <a:prstGeom prst="line">
            <a:avLst/>
          </a:prstGeom>
          <a:noFill/>
          <a:ln w="28575">
            <a:solidFill>
              <a:srgbClr val="2E75B6"/>
            </a:solidFill>
            <a:prstDash val="solid"/>
            <a:headEnd type="none"/>
            <a:tailEnd type="triangle"/>
          </a:ln>
        </p:spPr>
      </p:sp>
      <p:sp>
        <p:nvSpPr>
          <p:cNvPr id="321" name="Shape 319"/>
          <p:cNvSpPr/>
          <p:nvPr/>
        </p:nvSpPr>
        <p:spPr>
          <a:xfrm>
            <a:off x="9717126" y="6068201"/>
            <a:ext cx="2254627" cy="285936"/>
          </a:xfrm>
          <a:prstGeom prst="roundRect">
            <a:avLst>
              <a:gd name="adj" fmla="val 8329"/>
            </a:avLst>
          </a:prstGeom>
          <a:solidFill>
            <a:srgbClr val="BCC7D8"/>
          </a:solidFill>
          <a:ln w="9525">
            <a:solidFill>
              <a:srgbClr val="29415D"/>
            </a:solidFill>
            <a:prstDash val="solid"/>
          </a:ln>
        </p:spPr>
      </p:sp>
      <p:sp>
        <p:nvSpPr>
          <p:cNvPr id="322" name="Text 320"/>
          <p:cNvSpPr txBox="1"/>
          <p:nvPr/>
        </p:nvSpPr>
        <p:spPr>
          <a:xfrm>
            <a:off x="9717126" y="6052315"/>
            <a:ext cx="2254627" cy="285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68" dirty="0">
                <a:solidFill>
                  <a:srgbClr val="FFFFF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Group Computation</a:t>
            </a:r>
            <a:endParaRPr lang="en-US" sz="1368" dirty="0"/>
          </a:p>
        </p:txBody>
      </p:sp>
      <p:sp>
        <p:nvSpPr>
          <p:cNvPr id="323" name="Shape 321"/>
          <p:cNvSpPr/>
          <p:nvPr/>
        </p:nvSpPr>
        <p:spPr>
          <a:xfrm>
            <a:off x="9701248" y="6473277"/>
            <a:ext cx="682739" cy="285936"/>
          </a:xfrm>
          <a:prstGeom prst="roundRect">
            <a:avLst>
              <a:gd name="adj" fmla="val 8329"/>
            </a:avLst>
          </a:prstGeom>
          <a:solidFill>
            <a:srgbClr val="83B0D8"/>
          </a:solidFill>
          <a:ln w="9525">
            <a:solidFill>
              <a:srgbClr val="29415D"/>
            </a:solidFill>
            <a:prstDash val="solid"/>
          </a:ln>
        </p:spPr>
      </p:sp>
      <p:sp>
        <p:nvSpPr>
          <p:cNvPr id="324" name="Text 322"/>
          <p:cNvSpPr txBox="1"/>
          <p:nvPr/>
        </p:nvSpPr>
        <p:spPr>
          <a:xfrm>
            <a:off x="9701248" y="6457392"/>
            <a:ext cx="682739" cy="285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68" i="1" dirty="0">
                <a:solidFill>
                  <a:srgbClr val="FFFFF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A1</a:t>
            </a:r>
            <a:endParaRPr lang="en-US" sz="1368" dirty="0"/>
          </a:p>
        </p:txBody>
      </p:sp>
      <p:sp>
        <p:nvSpPr>
          <p:cNvPr id="325" name="Shape 323"/>
          <p:cNvSpPr/>
          <p:nvPr/>
        </p:nvSpPr>
        <p:spPr>
          <a:xfrm>
            <a:off x="10495131" y="6473277"/>
            <a:ext cx="682739" cy="285936"/>
          </a:xfrm>
          <a:prstGeom prst="roundRect">
            <a:avLst>
              <a:gd name="adj" fmla="val 8329"/>
            </a:avLst>
          </a:prstGeom>
          <a:solidFill>
            <a:srgbClr val="83B0D8"/>
          </a:solidFill>
          <a:ln w="9525">
            <a:solidFill>
              <a:srgbClr val="29415D"/>
            </a:solidFill>
            <a:prstDash val="solid"/>
          </a:ln>
        </p:spPr>
      </p:sp>
      <p:sp>
        <p:nvSpPr>
          <p:cNvPr id="326" name="Text 324"/>
          <p:cNvSpPr txBox="1"/>
          <p:nvPr/>
        </p:nvSpPr>
        <p:spPr>
          <a:xfrm>
            <a:off x="10495131" y="6457392"/>
            <a:ext cx="682739" cy="285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68" i="1" dirty="0">
                <a:solidFill>
                  <a:srgbClr val="FFFFF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A2</a:t>
            </a:r>
            <a:endParaRPr lang="en-US" sz="1368" dirty="0"/>
          </a:p>
        </p:txBody>
      </p:sp>
      <p:sp>
        <p:nvSpPr>
          <p:cNvPr id="327" name="Shape 325"/>
          <p:cNvSpPr/>
          <p:nvPr/>
        </p:nvSpPr>
        <p:spPr>
          <a:xfrm>
            <a:off x="11265198" y="6473277"/>
            <a:ext cx="682739" cy="285936"/>
          </a:xfrm>
          <a:prstGeom prst="roundRect">
            <a:avLst>
              <a:gd name="adj" fmla="val 8329"/>
            </a:avLst>
          </a:prstGeom>
          <a:solidFill>
            <a:srgbClr val="83B0D8"/>
          </a:solidFill>
          <a:ln w="9525">
            <a:solidFill>
              <a:srgbClr val="29415D"/>
            </a:solidFill>
            <a:prstDash val="solid"/>
          </a:ln>
        </p:spPr>
      </p:sp>
      <p:sp>
        <p:nvSpPr>
          <p:cNvPr id="328" name="Text 326"/>
          <p:cNvSpPr txBox="1"/>
          <p:nvPr/>
        </p:nvSpPr>
        <p:spPr>
          <a:xfrm>
            <a:off x="11265198" y="6457392"/>
            <a:ext cx="682739" cy="285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68" i="1" dirty="0">
                <a:solidFill>
                  <a:srgbClr val="FFFFF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A3</a:t>
            </a:r>
            <a:endParaRPr lang="en-US" sz="1368" dirty="0"/>
          </a:p>
        </p:txBody>
      </p:sp>
      <p:sp>
        <p:nvSpPr>
          <p:cNvPr id="329" name="Shape 327"/>
          <p:cNvSpPr/>
          <p:nvPr/>
        </p:nvSpPr>
        <p:spPr>
          <a:xfrm>
            <a:off x="12265490" y="3685399"/>
            <a:ext cx="2643630" cy="3272380"/>
          </a:xfrm>
          <a:prstGeom prst="roundRect">
            <a:avLst>
              <a:gd name="adj" fmla="val 8108"/>
            </a:avLst>
          </a:prstGeom>
          <a:solidFill>
            <a:srgbClr val="E9EDF5"/>
          </a:solidFill>
          <a:ln w="9525">
            <a:solidFill>
              <a:srgbClr val="A4AAB4"/>
            </a:solidFill>
            <a:prstDash val="solid"/>
          </a:ln>
        </p:spPr>
      </p:sp>
      <p:sp>
        <p:nvSpPr>
          <p:cNvPr id="330" name="Text 328"/>
          <p:cNvSpPr txBox="1"/>
          <p:nvPr/>
        </p:nvSpPr>
        <p:spPr>
          <a:xfrm>
            <a:off x="12368695" y="3812482"/>
            <a:ext cx="2349893" cy="25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12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 Suggestion Reward</a:t>
            </a:r>
            <a:endParaRPr lang="en-US" sz="1512" dirty="0"/>
          </a:p>
        </p:txBody>
      </p:sp>
      <p:sp>
        <p:nvSpPr>
          <p:cNvPr id="331" name="Text 329"/>
          <p:cNvSpPr txBox="1"/>
          <p:nvPr/>
        </p:nvSpPr>
        <p:spPr>
          <a:xfrm>
            <a:off x="12360756" y="4098418"/>
            <a:ext cx="2437220" cy="1588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6" b="1" dirty="0">
                <a:solidFill>
                  <a:srgbClr val="E220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&lt;suggestion&gt; </a:t>
            </a:r>
            <a:pPr indent="0" marL="0">
              <a:buNone/>
            </a:pPr>
            <a:r>
              <a:rPr lang="en-US" sz="936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agent should instead</a:t>
            </a:r>
            <a:endParaRPr lang="en-US" sz="936" dirty="0"/>
          </a:p>
        </p:txBody>
      </p:sp>
      <p:sp>
        <p:nvSpPr>
          <p:cNvPr id="332" name="Text 330"/>
          <p:cNvSpPr txBox="1"/>
          <p:nvPr/>
        </p:nvSpPr>
        <p:spPr>
          <a:xfrm>
            <a:off x="12583043" y="4273157"/>
            <a:ext cx="2167300" cy="3494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6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select a desired tweet and clicking the</a:t>
            </a:r>
            <a:endParaRPr lang="en-US" sz="936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36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share button of it.</a:t>
            </a:r>
            <a:endParaRPr lang="en-US" sz="936" dirty="0"/>
          </a:p>
        </p:txBody>
      </p:sp>
      <p:sp>
        <p:nvSpPr>
          <p:cNvPr id="333" name="Text 331"/>
          <p:cNvSpPr txBox="1"/>
          <p:nvPr/>
        </p:nvSpPr>
        <p:spPr>
          <a:xfrm>
            <a:off x="12360756" y="4582921"/>
            <a:ext cx="2445159" cy="1509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6" b="1" dirty="0">
                <a:solidFill>
                  <a:srgbClr val="4F7C2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Annotation: </a:t>
            </a:r>
            <a:pPr indent="0" marL="0">
              <a:buNone/>
            </a:pPr>
            <a:r>
              <a:rPr lang="en-US" sz="936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Click share button of first post</a:t>
            </a:r>
            <a:endParaRPr lang="en-US" sz="936" dirty="0"/>
          </a:p>
        </p:txBody>
      </p:sp>
      <p:sp>
        <p:nvSpPr>
          <p:cNvPr id="334" name="Shape 332"/>
          <p:cNvSpPr/>
          <p:nvPr/>
        </p:nvSpPr>
        <p:spPr>
          <a:xfrm>
            <a:off x="12368695" y="4773545"/>
            <a:ext cx="2405465" cy="0"/>
          </a:xfrm>
          <a:prstGeom prst="line">
            <a:avLst/>
          </a:prstGeom>
          <a:noFill/>
          <a:ln w="9525">
            <a:solidFill>
              <a:srgbClr val="9E9E9E"/>
            </a:solidFill>
            <a:prstDash val="solid"/>
            <a:headEnd type="none"/>
            <a:tailEnd type="none"/>
          </a:ln>
        </p:spPr>
      </p:sp>
      <p:sp>
        <p:nvSpPr>
          <p:cNvPr id="335" name="Shape 333"/>
          <p:cNvSpPr/>
          <p:nvPr/>
        </p:nvSpPr>
        <p:spPr>
          <a:xfrm>
            <a:off x="13615091" y="4789431"/>
            <a:ext cx="0" cy="190624"/>
          </a:xfrm>
          <a:prstGeom prst="line">
            <a:avLst/>
          </a:prstGeom>
          <a:noFill/>
          <a:ln w="47625">
            <a:solidFill>
              <a:srgbClr val="5B9BD5"/>
            </a:solidFill>
            <a:prstDash val="solid"/>
            <a:headEnd type="none"/>
            <a:tailEnd type="triangle"/>
          </a:ln>
        </p:spPr>
      </p:sp>
      <p:sp>
        <p:nvSpPr>
          <p:cNvPr id="336" name="Text 334"/>
          <p:cNvSpPr txBox="1"/>
          <p:nvPr/>
        </p:nvSpPr>
        <p:spPr>
          <a:xfrm>
            <a:off x="12614798" y="5043596"/>
            <a:ext cx="817699" cy="373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8" b="1" i="1" dirty="0">
                <a:solidFill>
                  <a:srgbClr val="3A68C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Consistency</a:t>
            </a:r>
            <a:endParaRPr lang="en-US" sz="1008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8" b="1" i="1" dirty="0">
                <a:solidFill>
                  <a:srgbClr val="3A68C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Measurement</a:t>
            </a:r>
            <a:endParaRPr lang="en-US" sz="1008" dirty="0"/>
          </a:p>
        </p:txBody>
      </p:sp>
      <p:sp>
        <p:nvSpPr>
          <p:cNvPr id="337" name="Shape 335"/>
          <p:cNvSpPr/>
          <p:nvPr/>
        </p:nvSpPr>
        <p:spPr>
          <a:xfrm>
            <a:off x="13508710" y="5048362"/>
            <a:ext cx="228638" cy="228749"/>
          </a:xfrm>
          <a:prstGeom prst="star4">
            <a:avLst/>
          </a:prstGeom>
          <a:solidFill>
            <a:srgbClr val="7657E8"/>
          </a:solidFill>
          <a:ln w="12700">
            <a:solidFill>
              <a:srgbClr val="7657E8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13591274" y="5130965"/>
            <a:ext cx="63511" cy="63541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13813562" y="5162736"/>
            <a:ext cx="269920" cy="0"/>
          </a:xfrm>
          <a:prstGeom prst="line">
            <a:avLst/>
          </a:prstGeom>
          <a:noFill/>
          <a:ln w="47625">
            <a:solidFill>
              <a:srgbClr val="5B9BD5"/>
            </a:solidFill>
            <a:prstDash val="solid"/>
            <a:headEnd type="none"/>
            <a:tailEnd type="triangle"/>
          </a:ln>
        </p:spPr>
      </p:sp>
      <p:sp>
        <p:nvSpPr>
          <p:cNvPr id="340" name="Shape 338"/>
          <p:cNvSpPr/>
          <p:nvPr/>
        </p:nvSpPr>
        <p:spPr>
          <a:xfrm>
            <a:off x="14218442" y="5059481"/>
            <a:ext cx="206410" cy="20650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78E"/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14275204" y="5162736"/>
            <a:ext cx="38186" cy="37172"/>
          </a:xfrm>
          <a:prstGeom prst="line">
            <a:avLst/>
          </a:prstGeom>
          <a:noFill/>
          <a:ln w="23813">
            <a:solidFill>
              <a:srgbClr val="00A78E"/>
            </a:solidFill>
            <a:prstDash val="solid"/>
            <a:headEnd type="none"/>
            <a:tailEnd type="none"/>
          </a:ln>
        </p:spPr>
      </p:sp>
      <p:sp>
        <p:nvSpPr>
          <p:cNvPr id="342" name="Shape 340"/>
          <p:cNvSpPr/>
          <p:nvPr/>
        </p:nvSpPr>
        <p:spPr>
          <a:xfrm>
            <a:off x="14313390" y="5199908"/>
            <a:ext cx="59859" cy="-80539"/>
          </a:xfrm>
          <a:prstGeom prst="line">
            <a:avLst/>
          </a:prstGeom>
          <a:noFill/>
          <a:ln w="23813">
            <a:solidFill>
              <a:srgbClr val="00A78E"/>
            </a:solidFill>
            <a:prstDash val="solid"/>
            <a:headEnd type="none"/>
            <a:tailEnd type="none"/>
          </a:ln>
        </p:spPr>
      </p:sp>
      <p:sp>
        <p:nvSpPr>
          <p:cNvPr id="343" name="Shape 341"/>
          <p:cNvSpPr/>
          <p:nvPr/>
        </p:nvSpPr>
        <p:spPr>
          <a:xfrm>
            <a:off x="12281368" y="5536042"/>
            <a:ext cx="2611875" cy="0"/>
          </a:xfrm>
          <a:prstGeom prst="line">
            <a:avLst/>
          </a:prstGeom>
          <a:noFill/>
          <a:ln w="9525">
            <a:solidFill>
              <a:srgbClr val="A8A8A8"/>
            </a:solidFill>
            <a:prstDash val="solid"/>
            <a:headEnd type="none"/>
            <a:tailEnd type="none"/>
          </a:ln>
        </p:spPr>
      </p:sp>
      <p:sp>
        <p:nvSpPr>
          <p:cNvPr id="344" name="Text 342"/>
          <p:cNvSpPr txBox="1"/>
          <p:nvPr/>
        </p:nvSpPr>
        <p:spPr>
          <a:xfrm>
            <a:off x="12368695" y="5647239"/>
            <a:ext cx="2341954" cy="2462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12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 Accuracy Reward</a:t>
            </a:r>
            <a:endParaRPr lang="en-US" sz="1512" dirty="0"/>
          </a:p>
        </p:txBody>
      </p:sp>
      <p:sp>
        <p:nvSpPr>
          <p:cNvPr id="345" name="Text 343"/>
          <p:cNvSpPr txBox="1"/>
          <p:nvPr/>
        </p:nvSpPr>
        <p:spPr>
          <a:xfrm>
            <a:off x="12678309" y="5909347"/>
            <a:ext cx="1937074" cy="1826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6" b="1" dirty="0">
                <a:solidFill>
                  <a:srgbClr val="E220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&lt;score&gt; </a:t>
            </a:r>
            <a:pPr indent="0" marL="0">
              <a:buNone/>
            </a:pPr>
            <a:r>
              <a:rPr lang="en-US" sz="936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Incorrect</a:t>
            </a:r>
            <a:pPr indent="0" marL="0">
              <a:buNone/>
            </a:pPr>
            <a:r>
              <a:rPr lang="en-US" sz="936" b="1" dirty="0">
                <a:solidFill>
                  <a:srgbClr val="E220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&lt;/score&gt;</a:t>
            </a:r>
            <a:endParaRPr lang="en-US" sz="936" dirty="0"/>
          </a:p>
        </p:txBody>
      </p:sp>
      <p:sp>
        <p:nvSpPr>
          <p:cNvPr id="346" name="Shape 344"/>
          <p:cNvSpPr/>
          <p:nvPr/>
        </p:nvSpPr>
        <p:spPr>
          <a:xfrm>
            <a:off x="14496301" y="5845806"/>
            <a:ext cx="190532" cy="19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78E"/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14548697" y="5941118"/>
            <a:ext cx="35248" cy="34312"/>
          </a:xfrm>
          <a:prstGeom prst="line">
            <a:avLst/>
          </a:prstGeom>
          <a:noFill/>
          <a:ln w="23813">
            <a:solidFill>
              <a:srgbClr val="00A78E"/>
            </a:solidFill>
            <a:prstDash val="solid"/>
            <a:headEnd type="none"/>
            <a:tailEnd type="none"/>
          </a:ln>
        </p:spPr>
      </p:sp>
      <p:sp>
        <p:nvSpPr>
          <p:cNvPr id="348" name="Shape 346"/>
          <p:cNvSpPr/>
          <p:nvPr/>
        </p:nvSpPr>
        <p:spPr>
          <a:xfrm>
            <a:off x="14583945" y="5975430"/>
            <a:ext cx="55254" cy="-74343"/>
          </a:xfrm>
          <a:prstGeom prst="line">
            <a:avLst/>
          </a:prstGeom>
          <a:noFill/>
          <a:ln w="23813">
            <a:solidFill>
              <a:srgbClr val="00A78E"/>
            </a:solidFill>
            <a:prstDash val="solid"/>
            <a:headEnd type="none"/>
            <a:tailEnd type="none"/>
          </a:ln>
        </p:spPr>
      </p:sp>
      <p:sp>
        <p:nvSpPr>
          <p:cNvPr id="349" name="Shape 347"/>
          <p:cNvSpPr/>
          <p:nvPr/>
        </p:nvSpPr>
        <p:spPr>
          <a:xfrm>
            <a:off x="12281368" y="6155570"/>
            <a:ext cx="2611875" cy="0"/>
          </a:xfrm>
          <a:prstGeom prst="line">
            <a:avLst/>
          </a:prstGeom>
          <a:noFill/>
          <a:ln w="9525">
            <a:solidFill>
              <a:srgbClr val="A8A8A8"/>
            </a:solidFill>
            <a:prstDash val="solid"/>
            <a:headEnd type="none"/>
            <a:tailEnd type="none"/>
          </a:ln>
        </p:spPr>
      </p:sp>
      <p:sp>
        <p:nvSpPr>
          <p:cNvPr id="350" name="Text 348"/>
          <p:cNvSpPr txBox="1"/>
          <p:nvPr/>
        </p:nvSpPr>
        <p:spPr>
          <a:xfrm>
            <a:off x="12368695" y="6242939"/>
            <a:ext cx="2341954" cy="2462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12" dirty="0">
                <a:solidFill>
                  <a:srgbClr val="17171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 Format Reward</a:t>
            </a:r>
            <a:endParaRPr lang="en-US" sz="1512" dirty="0"/>
          </a:p>
        </p:txBody>
      </p:sp>
      <p:sp>
        <p:nvSpPr>
          <p:cNvPr id="351" name="Text 349"/>
          <p:cNvSpPr txBox="1"/>
          <p:nvPr/>
        </p:nvSpPr>
        <p:spPr>
          <a:xfrm>
            <a:off x="12678309" y="6489162"/>
            <a:ext cx="1786236" cy="42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E220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&lt;thinking&gt; ... &lt;/thinking&gt;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E220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&lt;score&gt; ... &lt;/score&gt;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E2202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&lt;suggestion&gt; ... &lt;/suggestion&gt;</a:t>
            </a:r>
            <a:endParaRPr lang="en-US" sz="900" dirty="0"/>
          </a:p>
        </p:txBody>
      </p:sp>
      <p:sp>
        <p:nvSpPr>
          <p:cNvPr id="352" name="Shape 350"/>
          <p:cNvSpPr/>
          <p:nvPr/>
        </p:nvSpPr>
        <p:spPr>
          <a:xfrm>
            <a:off x="14496301" y="6536818"/>
            <a:ext cx="190532" cy="19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78E"/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14548697" y="6632130"/>
            <a:ext cx="35248" cy="34312"/>
          </a:xfrm>
          <a:prstGeom prst="line">
            <a:avLst/>
          </a:prstGeom>
          <a:noFill/>
          <a:ln w="23813">
            <a:solidFill>
              <a:srgbClr val="00A78E"/>
            </a:solidFill>
            <a:prstDash val="solid"/>
            <a:headEnd type="none"/>
            <a:tailEnd type="none"/>
          </a:ln>
        </p:spPr>
      </p:sp>
      <p:sp>
        <p:nvSpPr>
          <p:cNvPr id="354" name="Shape 352"/>
          <p:cNvSpPr/>
          <p:nvPr/>
        </p:nvSpPr>
        <p:spPr>
          <a:xfrm>
            <a:off x="14583945" y="6666443"/>
            <a:ext cx="55254" cy="-74343"/>
          </a:xfrm>
          <a:prstGeom prst="line">
            <a:avLst/>
          </a:prstGeom>
          <a:noFill/>
          <a:ln w="23813">
            <a:solidFill>
              <a:srgbClr val="00A78E"/>
            </a:solidFill>
            <a:prstDash val="solid"/>
            <a:headEnd type="none"/>
            <a:tailEnd type="none"/>
          </a:ln>
        </p:spPr>
      </p:sp>
      <p:sp>
        <p:nvSpPr>
          <p:cNvPr id="355" name="Shape 353"/>
          <p:cNvSpPr/>
          <p:nvPr/>
        </p:nvSpPr>
        <p:spPr>
          <a:xfrm>
            <a:off x="11971753" y="5051539"/>
            <a:ext cx="293737" cy="-921350"/>
          </a:xfrm>
          <a:prstGeom prst="line">
            <a:avLst/>
          </a:prstGeom>
          <a:noFill/>
          <a:ln w="9525">
            <a:solidFill>
              <a:srgbClr val="989898"/>
            </a:solidFill>
            <a:prstDash val="solid"/>
            <a:headEnd type="none"/>
            <a:tailEnd type="none"/>
          </a:ln>
        </p:spPr>
      </p:sp>
      <p:sp>
        <p:nvSpPr>
          <p:cNvPr id="356" name="Shape 354"/>
          <p:cNvSpPr/>
          <p:nvPr/>
        </p:nvSpPr>
        <p:spPr>
          <a:xfrm>
            <a:off x="11971753" y="5631354"/>
            <a:ext cx="293737" cy="7943"/>
          </a:xfrm>
          <a:prstGeom prst="line">
            <a:avLst/>
          </a:prstGeom>
          <a:noFill/>
          <a:ln w="9525">
            <a:solidFill>
              <a:srgbClr val="989898"/>
            </a:solidFill>
            <a:prstDash val="solid"/>
            <a:headEnd type="none"/>
            <a:tailEnd type="none"/>
          </a:ln>
        </p:spPr>
      </p:sp>
      <p:sp>
        <p:nvSpPr>
          <p:cNvPr id="357" name="Shape 355"/>
          <p:cNvSpPr/>
          <p:nvPr/>
        </p:nvSpPr>
        <p:spPr>
          <a:xfrm>
            <a:off x="11971753" y="6211169"/>
            <a:ext cx="293737" cy="341535"/>
          </a:xfrm>
          <a:prstGeom prst="line">
            <a:avLst/>
          </a:prstGeom>
          <a:noFill/>
          <a:ln w="9525">
            <a:solidFill>
              <a:srgbClr val="98989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Look Before You Leap A GUI-Critic-R1 Model for Pre-Operative Error Diagnosis in GUI Automation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" y="0"/>
            <a:ext cx="15178444" cy="7315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jaVu Serif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ejaVu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GUI-Critic-R1 Data Collection and Training Pipeline</dc:title>
  <dc:subject>Editable recreation of GUI-Critic-R1 diagram</dc:subject>
  <dc:creator>OpenAI Codex</dc:creator>
  <cp:lastModifiedBy>OpenAI Codex</cp:lastModifiedBy>
  <cp:revision>1</cp:revision>
  <dcterms:created xsi:type="dcterms:W3CDTF">2026-09-07T14:20:43Z</dcterms:created>
  <dcterms:modified xsi:type="dcterms:W3CDTF">2026-09-07T14:20:43Z</dcterms:modified>
</cp:coreProperties>
</file>