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55954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799" y="76199"/>
            <a:ext cx="5873749" cy="1797049"/>
          </a:xfrm>
          <a:prstGeom prst="rect">
            <a:avLst/>
          </a:prstGeom>
          <a:solidFill>
            <a:srgbClr val="ED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799" y="1993899"/>
            <a:ext cx="5873749" cy="1758949"/>
          </a:xfrm>
          <a:prstGeom prst="rect">
            <a:avLst/>
          </a:prstGeom>
          <a:solidFill>
            <a:srgbClr val="FF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799" y="3867149"/>
            <a:ext cx="5873749" cy="2368549"/>
          </a:xfrm>
          <a:prstGeom prst="rect">
            <a:avLst/>
          </a:prstGeom>
          <a:solidFill>
            <a:srgbClr val="F2F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8849" y="76199"/>
            <a:ext cx="6102349" cy="1860549"/>
          </a:xfrm>
          <a:prstGeom prst="rect">
            <a:avLst/>
          </a:prstGeom>
          <a:solidFill>
            <a:srgbClr val="F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8849" y="1993899"/>
            <a:ext cx="6102349" cy="1758949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8849" y="3867149"/>
            <a:ext cx="6102349" cy="1085849"/>
          </a:xfrm>
          <a:prstGeom prst="rect">
            <a:avLst/>
          </a:prstGeom>
          <a:solidFill>
            <a:srgbClr val="F6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8849" y="5048249"/>
            <a:ext cx="6102349" cy="1187449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0499" y="114299"/>
            <a:ext cx="3111499" cy="241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Times New Roman"/>
              </a:rPr>
              <a:t>Multi-Frequency Augmentation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799" y="304799"/>
            <a:ext cx="57149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Times New Roman"/>
              </a:rPr>
              <a:t>▲ Value</a:t>
            </a:r>
          </a:p>
        </p:txBody>
      </p:sp>
      <p:sp>
        <p:nvSpPr>
          <p:cNvPr id="11" name="Freeform 10"/>
          <p:cNvSpPr/>
          <p:nvPr/>
        </p:nvSpPr>
        <p:spPr>
          <a:xfrm>
            <a:off x="241300" y="558800"/>
            <a:ext cx="2444750" cy="120650"/>
          </a:xfrm>
          <a:custGeom>
            <a:avLst/>
            <a:gdLst/>
            <a:ahLst/>
            <a:cxnLst/>
            <a:rect l="l" t="t" r="r" b="b"/>
            <a:pathLst>
              <a:path w="385" h="19">
                <a:moveTo>
                  <a:pt x="0" y="5"/>
                </a:moveTo>
                <a:lnTo>
                  <a:pt x="4" y="2"/>
                </a:lnTo>
                <a:lnTo>
                  <a:pt x="8" y="5"/>
                </a:lnTo>
                <a:lnTo>
                  <a:pt x="12" y="5"/>
                </a:lnTo>
                <a:lnTo>
                  <a:pt x="16" y="3"/>
                </a:lnTo>
                <a:lnTo>
                  <a:pt x="20" y="6"/>
                </a:lnTo>
                <a:lnTo>
                  <a:pt x="24" y="7"/>
                </a:lnTo>
                <a:lnTo>
                  <a:pt x="28" y="8"/>
                </a:lnTo>
                <a:lnTo>
                  <a:pt x="32" y="5"/>
                </a:lnTo>
                <a:lnTo>
                  <a:pt x="36" y="3"/>
                </a:lnTo>
                <a:lnTo>
                  <a:pt x="40" y="3"/>
                </a:lnTo>
                <a:lnTo>
                  <a:pt x="44" y="7"/>
                </a:lnTo>
                <a:lnTo>
                  <a:pt x="48" y="9"/>
                </a:lnTo>
                <a:lnTo>
                  <a:pt x="52" y="13"/>
                </a:lnTo>
                <a:lnTo>
                  <a:pt x="56" y="14"/>
                </a:lnTo>
                <a:lnTo>
                  <a:pt x="60" y="14"/>
                </a:lnTo>
                <a:lnTo>
                  <a:pt x="64" y="14"/>
                </a:lnTo>
                <a:lnTo>
                  <a:pt x="68" y="13"/>
                </a:lnTo>
                <a:lnTo>
                  <a:pt x="72" y="11"/>
                </a:lnTo>
                <a:lnTo>
                  <a:pt x="76" y="11"/>
                </a:lnTo>
                <a:lnTo>
                  <a:pt x="80" y="12"/>
                </a:lnTo>
                <a:lnTo>
                  <a:pt x="84" y="13"/>
                </a:lnTo>
                <a:lnTo>
                  <a:pt x="88" y="12"/>
                </a:lnTo>
                <a:lnTo>
                  <a:pt x="92" y="13"/>
                </a:lnTo>
                <a:lnTo>
                  <a:pt x="96" y="11"/>
                </a:lnTo>
                <a:lnTo>
                  <a:pt x="100" y="6"/>
                </a:lnTo>
                <a:lnTo>
                  <a:pt x="104" y="4"/>
                </a:lnTo>
                <a:lnTo>
                  <a:pt x="108" y="1"/>
                </a:lnTo>
                <a:lnTo>
                  <a:pt x="112" y="2"/>
                </a:lnTo>
                <a:lnTo>
                  <a:pt x="116" y="4"/>
                </a:lnTo>
                <a:lnTo>
                  <a:pt x="120" y="5"/>
                </a:lnTo>
                <a:lnTo>
                  <a:pt x="124" y="9"/>
                </a:lnTo>
                <a:lnTo>
                  <a:pt x="128" y="10"/>
                </a:lnTo>
                <a:lnTo>
                  <a:pt x="132" y="8"/>
                </a:lnTo>
                <a:lnTo>
                  <a:pt x="136" y="9"/>
                </a:lnTo>
                <a:lnTo>
                  <a:pt x="140" y="10"/>
                </a:lnTo>
                <a:lnTo>
                  <a:pt x="144" y="6"/>
                </a:lnTo>
                <a:lnTo>
                  <a:pt x="148" y="7"/>
                </a:lnTo>
                <a:lnTo>
                  <a:pt x="152" y="10"/>
                </a:lnTo>
                <a:lnTo>
                  <a:pt x="156" y="12"/>
                </a:lnTo>
                <a:lnTo>
                  <a:pt x="160" y="15"/>
                </a:lnTo>
                <a:lnTo>
                  <a:pt x="164" y="16"/>
                </a:lnTo>
                <a:lnTo>
                  <a:pt x="168" y="16"/>
                </a:lnTo>
                <a:lnTo>
                  <a:pt x="172" y="10"/>
                </a:lnTo>
                <a:lnTo>
                  <a:pt x="176" y="7"/>
                </a:lnTo>
                <a:lnTo>
                  <a:pt x="180" y="8"/>
                </a:lnTo>
                <a:lnTo>
                  <a:pt x="184" y="4"/>
                </a:lnTo>
                <a:lnTo>
                  <a:pt x="188" y="5"/>
                </a:lnTo>
                <a:lnTo>
                  <a:pt x="192" y="8"/>
                </a:lnTo>
                <a:lnTo>
                  <a:pt x="197" y="8"/>
                </a:lnTo>
                <a:lnTo>
                  <a:pt x="201" y="8"/>
                </a:lnTo>
                <a:lnTo>
                  <a:pt x="205" y="4"/>
                </a:lnTo>
                <a:lnTo>
                  <a:pt x="209" y="4"/>
                </a:lnTo>
                <a:lnTo>
                  <a:pt x="213" y="0"/>
                </a:lnTo>
                <a:lnTo>
                  <a:pt x="217" y="2"/>
                </a:lnTo>
                <a:lnTo>
                  <a:pt x="221" y="2"/>
                </a:lnTo>
                <a:lnTo>
                  <a:pt x="225" y="5"/>
                </a:lnTo>
                <a:lnTo>
                  <a:pt x="229" y="11"/>
                </a:lnTo>
                <a:lnTo>
                  <a:pt x="233" y="13"/>
                </a:lnTo>
                <a:lnTo>
                  <a:pt x="237" y="13"/>
                </a:lnTo>
                <a:lnTo>
                  <a:pt x="241" y="13"/>
                </a:lnTo>
                <a:lnTo>
                  <a:pt x="245" y="12"/>
                </a:lnTo>
                <a:lnTo>
                  <a:pt x="249" y="12"/>
                </a:lnTo>
                <a:lnTo>
                  <a:pt x="253" y="11"/>
                </a:lnTo>
                <a:lnTo>
                  <a:pt x="257" y="11"/>
                </a:lnTo>
                <a:lnTo>
                  <a:pt x="261" y="15"/>
                </a:lnTo>
                <a:lnTo>
                  <a:pt x="265" y="13"/>
                </a:lnTo>
                <a:lnTo>
                  <a:pt x="269" y="16"/>
                </a:lnTo>
                <a:lnTo>
                  <a:pt x="273" y="11"/>
                </a:lnTo>
                <a:lnTo>
                  <a:pt x="277" y="10"/>
                </a:lnTo>
                <a:lnTo>
                  <a:pt x="281" y="3"/>
                </a:lnTo>
                <a:lnTo>
                  <a:pt x="285" y="2"/>
                </a:lnTo>
                <a:lnTo>
                  <a:pt x="289" y="2"/>
                </a:lnTo>
                <a:lnTo>
                  <a:pt x="293" y="3"/>
                </a:lnTo>
                <a:lnTo>
                  <a:pt x="297" y="4"/>
                </a:lnTo>
                <a:lnTo>
                  <a:pt x="301" y="7"/>
                </a:lnTo>
                <a:lnTo>
                  <a:pt x="305" y="9"/>
                </a:lnTo>
                <a:lnTo>
                  <a:pt x="309" y="9"/>
                </a:lnTo>
                <a:lnTo>
                  <a:pt x="313" y="6"/>
                </a:lnTo>
                <a:lnTo>
                  <a:pt x="317" y="3"/>
                </a:lnTo>
                <a:lnTo>
                  <a:pt x="321" y="5"/>
                </a:lnTo>
                <a:lnTo>
                  <a:pt x="325" y="9"/>
                </a:lnTo>
                <a:lnTo>
                  <a:pt x="329" y="9"/>
                </a:lnTo>
                <a:lnTo>
                  <a:pt x="333" y="13"/>
                </a:lnTo>
                <a:lnTo>
                  <a:pt x="337" y="15"/>
                </a:lnTo>
                <a:lnTo>
                  <a:pt x="341" y="19"/>
                </a:lnTo>
                <a:lnTo>
                  <a:pt x="345" y="14"/>
                </a:lnTo>
                <a:lnTo>
                  <a:pt x="349" y="15"/>
                </a:lnTo>
                <a:lnTo>
                  <a:pt x="353" y="9"/>
                </a:lnTo>
                <a:lnTo>
                  <a:pt x="357" y="10"/>
                </a:lnTo>
                <a:lnTo>
                  <a:pt x="361" y="10"/>
                </a:lnTo>
                <a:lnTo>
                  <a:pt x="365" y="8"/>
                </a:lnTo>
                <a:lnTo>
                  <a:pt x="369" y="12"/>
                </a:lnTo>
                <a:lnTo>
                  <a:pt x="373" y="10"/>
                </a:lnTo>
                <a:lnTo>
                  <a:pt x="377" y="7"/>
                </a:lnTo>
                <a:lnTo>
                  <a:pt x="381" y="7"/>
                </a:lnTo>
                <a:lnTo>
                  <a:pt x="385" y="4"/>
                </a:lnTo>
              </a:path>
            </a:pathLst>
          </a:custGeom>
          <a:noFill/>
          <a:ln w="8382">
            <a:solidFill>
              <a:srgbClr val="EB6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41300" y="666750"/>
            <a:ext cx="2444750" cy="127000"/>
          </a:xfrm>
          <a:custGeom>
            <a:avLst/>
            <a:gdLst/>
            <a:ahLst/>
            <a:cxnLst/>
            <a:rect l="l" t="t" r="r" b="b"/>
            <a:pathLst>
              <a:path w="385" h="20">
                <a:moveTo>
                  <a:pt x="0" y="3"/>
                </a:moveTo>
                <a:lnTo>
                  <a:pt x="4" y="4"/>
                </a:lnTo>
                <a:lnTo>
                  <a:pt x="8" y="5"/>
                </a:lnTo>
                <a:lnTo>
                  <a:pt x="12" y="6"/>
                </a:lnTo>
                <a:lnTo>
                  <a:pt x="16" y="6"/>
                </a:lnTo>
                <a:lnTo>
                  <a:pt x="20" y="6"/>
                </a:lnTo>
                <a:lnTo>
                  <a:pt x="24" y="5"/>
                </a:lnTo>
                <a:lnTo>
                  <a:pt x="28" y="4"/>
                </a:lnTo>
                <a:lnTo>
                  <a:pt x="32" y="4"/>
                </a:lnTo>
                <a:lnTo>
                  <a:pt x="36" y="4"/>
                </a:lnTo>
                <a:lnTo>
                  <a:pt x="40" y="6"/>
                </a:lnTo>
                <a:lnTo>
                  <a:pt x="44" y="8"/>
                </a:lnTo>
                <a:lnTo>
                  <a:pt x="48" y="11"/>
                </a:lnTo>
                <a:lnTo>
                  <a:pt x="52" y="14"/>
                </a:lnTo>
                <a:lnTo>
                  <a:pt x="56" y="16"/>
                </a:lnTo>
                <a:lnTo>
                  <a:pt x="60" y="18"/>
                </a:lnTo>
                <a:lnTo>
                  <a:pt x="64" y="19"/>
                </a:lnTo>
                <a:lnTo>
                  <a:pt x="68" y="18"/>
                </a:lnTo>
                <a:lnTo>
                  <a:pt x="72" y="17"/>
                </a:lnTo>
                <a:lnTo>
                  <a:pt x="76" y="15"/>
                </a:lnTo>
                <a:lnTo>
                  <a:pt x="80" y="14"/>
                </a:lnTo>
                <a:lnTo>
                  <a:pt x="84" y="13"/>
                </a:lnTo>
                <a:lnTo>
                  <a:pt x="88" y="13"/>
                </a:lnTo>
                <a:lnTo>
                  <a:pt x="92" y="13"/>
                </a:lnTo>
                <a:lnTo>
                  <a:pt x="96" y="14"/>
                </a:lnTo>
                <a:lnTo>
                  <a:pt x="100" y="14"/>
                </a:lnTo>
                <a:lnTo>
                  <a:pt x="104" y="13"/>
                </a:lnTo>
                <a:lnTo>
                  <a:pt x="108" y="11"/>
                </a:lnTo>
                <a:lnTo>
                  <a:pt x="112" y="9"/>
                </a:lnTo>
                <a:lnTo>
                  <a:pt x="116" y="6"/>
                </a:lnTo>
                <a:lnTo>
                  <a:pt x="120" y="4"/>
                </a:lnTo>
                <a:lnTo>
                  <a:pt x="124" y="1"/>
                </a:lnTo>
                <a:lnTo>
                  <a:pt x="128" y="0"/>
                </a:lnTo>
                <a:lnTo>
                  <a:pt x="132" y="0"/>
                </a:lnTo>
                <a:lnTo>
                  <a:pt x="136" y="2"/>
                </a:lnTo>
                <a:lnTo>
                  <a:pt x="140" y="3"/>
                </a:lnTo>
                <a:lnTo>
                  <a:pt x="144" y="5"/>
                </a:lnTo>
                <a:lnTo>
                  <a:pt x="148" y="7"/>
                </a:lnTo>
                <a:lnTo>
                  <a:pt x="152" y="9"/>
                </a:lnTo>
                <a:lnTo>
                  <a:pt x="156" y="9"/>
                </a:lnTo>
                <a:lnTo>
                  <a:pt x="160" y="9"/>
                </a:lnTo>
                <a:lnTo>
                  <a:pt x="164" y="9"/>
                </a:lnTo>
                <a:lnTo>
                  <a:pt x="168" y="9"/>
                </a:lnTo>
                <a:lnTo>
                  <a:pt x="172" y="10"/>
                </a:lnTo>
                <a:lnTo>
                  <a:pt x="176" y="11"/>
                </a:lnTo>
                <a:lnTo>
                  <a:pt x="180" y="13"/>
                </a:lnTo>
                <a:lnTo>
                  <a:pt x="184" y="16"/>
                </a:lnTo>
                <a:lnTo>
                  <a:pt x="188" y="18"/>
                </a:lnTo>
                <a:lnTo>
                  <a:pt x="192" y="20"/>
                </a:lnTo>
                <a:lnTo>
                  <a:pt x="197" y="20"/>
                </a:lnTo>
                <a:lnTo>
                  <a:pt x="201" y="19"/>
                </a:lnTo>
                <a:lnTo>
                  <a:pt x="205" y="18"/>
                </a:lnTo>
                <a:lnTo>
                  <a:pt x="209" y="15"/>
                </a:lnTo>
                <a:lnTo>
                  <a:pt x="213" y="13"/>
                </a:lnTo>
                <a:lnTo>
                  <a:pt x="217" y="10"/>
                </a:lnTo>
                <a:lnTo>
                  <a:pt x="221" y="9"/>
                </a:lnTo>
                <a:lnTo>
                  <a:pt x="225" y="8"/>
                </a:lnTo>
                <a:lnTo>
                  <a:pt x="229" y="8"/>
                </a:lnTo>
                <a:lnTo>
                  <a:pt x="233" y="8"/>
                </a:lnTo>
                <a:lnTo>
                  <a:pt x="237" y="8"/>
                </a:lnTo>
                <a:lnTo>
                  <a:pt x="241" y="8"/>
                </a:lnTo>
                <a:lnTo>
                  <a:pt x="245" y="7"/>
                </a:lnTo>
                <a:lnTo>
                  <a:pt x="249" y="5"/>
                </a:lnTo>
                <a:lnTo>
                  <a:pt x="253" y="3"/>
                </a:lnTo>
                <a:lnTo>
                  <a:pt x="257" y="2"/>
                </a:lnTo>
                <a:lnTo>
                  <a:pt x="261" y="1"/>
                </a:lnTo>
                <a:lnTo>
                  <a:pt x="265" y="1"/>
                </a:lnTo>
                <a:lnTo>
                  <a:pt x="269" y="2"/>
                </a:lnTo>
                <a:lnTo>
                  <a:pt x="273" y="4"/>
                </a:lnTo>
                <a:lnTo>
                  <a:pt x="277" y="7"/>
                </a:lnTo>
                <a:lnTo>
                  <a:pt x="281" y="10"/>
                </a:lnTo>
                <a:lnTo>
                  <a:pt x="285" y="13"/>
                </a:lnTo>
                <a:lnTo>
                  <a:pt x="289" y="14"/>
                </a:lnTo>
                <a:lnTo>
                  <a:pt x="293" y="15"/>
                </a:lnTo>
                <a:lnTo>
                  <a:pt x="297" y="15"/>
                </a:lnTo>
                <a:lnTo>
                  <a:pt x="301" y="14"/>
                </a:lnTo>
                <a:lnTo>
                  <a:pt x="305" y="14"/>
                </a:lnTo>
                <a:lnTo>
                  <a:pt x="309" y="14"/>
                </a:lnTo>
                <a:lnTo>
                  <a:pt x="313" y="14"/>
                </a:lnTo>
                <a:lnTo>
                  <a:pt x="317" y="15"/>
                </a:lnTo>
                <a:lnTo>
                  <a:pt x="321" y="17"/>
                </a:lnTo>
                <a:lnTo>
                  <a:pt x="325" y="18"/>
                </a:lnTo>
                <a:lnTo>
                  <a:pt x="329" y="18"/>
                </a:lnTo>
                <a:lnTo>
                  <a:pt x="333" y="17"/>
                </a:lnTo>
                <a:lnTo>
                  <a:pt x="337" y="15"/>
                </a:lnTo>
                <a:lnTo>
                  <a:pt x="341" y="13"/>
                </a:lnTo>
                <a:lnTo>
                  <a:pt x="345" y="10"/>
                </a:lnTo>
                <a:lnTo>
                  <a:pt x="349" y="7"/>
                </a:lnTo>
                <a:lnTo>
                  <a:pt x="353" y="4"/>
                </a:lnTo>
                <a:lnTo>
                  <a:pt x="357" y="3"/>
                </a:lnTo>
                <a:lnTo>
                  <a:pt x="361" y="3"/>
                </a:lnTo>
                <a:lnTo>
                  <a:pt x="365" y="3"/>
                </a:lnTo>
                <a:lnTo>
                  <a:pt x="369" y="4"/>
                </a:lnTo>
                <a:lnTo>
                  <a:pt x="373" y="5"/>
                </a:lnTo>
                <a:lnTo>
                  <a:pt x="377" y="6"/>
                </a:lnTo>
                <a:lnTo>
                  <a:pt x="381" y="6"/>
                </a:lnTo>
                <a:lnTo>
                  <a:pt x="385" y="5"/>
                </a:lnTo>
              </a:path>
            </a:pathLst>
          </a:custGeom>
          <a:noFill/>
          <a:ln w="8382">
            <a:solidFill>
              <a:srgbClr val="5C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749" y="495299"/>
            <a:ext cx="57149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EB6B22"/>
                </a:solidFill>
                <a:latin typeface="Times New Roman"/>
              </a:rPr>
              <a:t>Region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4349" y="634999"/>
            <a:ext cx="55879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D3440"/>
                </a:solidFill>
                <a:latin typeface="Times New Roman"/>
              </a:rPr>
              <a:t>Region 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3199" y="819149"/>
            <a:ext cx="2622550" cy="0"/>
          </a:xfrm>
          <a:prstGeom prst="line">
            <a:avLst/>
          </a:prstGeom>
          <a:ln w="88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2800350" y="8001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17749" y="838199"/>
            <a:ext cx="41274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7499" y="495299"/>
            <a:ext cx="34924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1">
                <a:solidFill>
                  <a:srgbClr val="60A33C"/>
                </a:solidFill>
                <a:latin typeface="Times New Roman"/>
              </a:rPr>
              <a:t>FFT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2099" y="673099"/>
            <a:ext cx="279400" cy="0"/>
          </a:xfrm>
          <a:prstGeom prst="line">
            <a:avLst/>
          </a:prstGeom>
          <a:ln w="51561">
            <a:solidFill>
              <a:srgbClr val="60A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2984500" y="596900"/>
            <a:ext cx="127000" cy="152400"/>
          </a:xfrm>
          <a:custGeom>
            <a:avLst/>
            <a:gdLst/>
            <a:ahLst/>
            <a:cxnLst/>
            <a:rect l="l" t="t" r="r" b="b"/>
            <a:pathLst>
              <a:path w="20" h="24">
                <a:moveTo>
                  <a:pt x="20" y="12"/>
                </a:move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60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244849" y="838199"/>
            <a:ext cx="2616200" cy="0"/>
          </a:xfrm>
          <a:prstGeom prst="line">
            <a:avLst/>
          </a:prstGeom>
          <a:ln w="88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5835650" y="81915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251199" y="380999"/>
            <a:ext cx="0" cy="457200"/>
          </a:xfrm>
          <a:prstGeom prst="line">
            <a:avLst/>
          </a:prstGeom>
          <a:ln w="88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3232150" y="381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3" y="0"/>
                </a:moveTo>
                <a:lnTo>
                  <a:pt x="6" y="4"/>
                </a:lnTo>
                <a:lnTo>
                  <a:pt x="0" y="4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27399" y="342899"/>
            <a:ext cx="63499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Amplitude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4299" y="844549"/>
            <a:ext cx="5841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Frequency</a:t>
            </a:r>
          </a:p>
        </p:txBody>
      </p:sp>
      <p:sp>
        <p:nvSpPr>
          <p:cNvPr id="27" name="Freeform 26"/>
          <p:cNvSpPr/>
          <p:nvPr/>
        </p:nvSpPr>
        <p:spPr>
          <a:xfrm>
            <a:off x="3289300" y="520700"/>
            <a:ext cx="2387600" cy="266700"/>
          </a:xfrm>
          <a:custGeom>
            <a:avLst/>
            <a:gdLst/>
            <a:ahLst/>
            <a:cxnLst/>
            <a:rect l="l" t="t" r="r" b="b"/>
            <a:pathLst>
              <a:path w="376" h="42">
                <a:moveTo>
                  <a:pt x="0" y="21"/>
                </a:moveTo>
                <a:lnTo>
                  <a:pt x="4" y="19"/>
                </a:lnTo>
                <a:lnTo>
                  <a:pt x="8" y="16"/>
                </a:lnTo>
                <a:lnTo>
                  <a:pt x="12" y="13"/>
                </a:lnTo>
                <a:lnTo>
                  <a:pt x="16" y="10"/>
                </a:lnTo>
                <a:lnTo>
                  <a:pt x="20" y="7"/>
                </a:lnTo>
                <a:lnTo>
                  <a:pt x="24" y="4"/>
                </a:lnTo>
                <a:lnTo>
                  <a:pt x="28" y="2"/>
                </a:lnTo>
                <a:lnTo>
                  <a:pt x="32" y="0"/>
                </a:lnTo>
                <a:lnTo>
                  <a:pt x="36" y="0"/>
                </a:lnTo>
                <a:lnTo>
                  <a:pt x="40" y="0"/>
                </a:lnTo>
                <a:lnTo>
                  <a:pt x="44" y="3"/>
                </a:lnTo>
                <a:lnTo>
                  <a:pt x="48" y="7"/>
                </a:lnTo>
                <a:lnTo>
                  <a:pt x="52" y="13"/>
                </a:lnTo>
                <a:lnTo>
                  <a:pt x="56" y="20"/>
                </a:lnTo>
                <a:lnTo>
                  <a:pt x="60" y="27"/>
                </a:lnTo>
                <a:lnTo>
                  <a:pt x="64" y="34"/>
                </a:lnTo>
                <a:lnTo>
                  <a:pt x="68" y="39"/>
                </a:lnTo>
                <a:lnTo>
                  <a:pt x="72" y="42"/>
                </a:lnTo>
                <a:lnTo>
                  <a:pt x="76" y="42"/>
                </a:lnTo>
                <a:lnTo>
                  <a:pt x="80" y="37"/>
                </a:lnTo>
                <a:lnTo>
                  <a:pt x="84" y="30"/>
                </a:lnTo>
                <a:lnTo>
                  <a:pt x="88" y="20"/>
                </a:lnTo>
                <a:lnTo>
                  <a:pt x="92" y="10"/>
                </a:lnTo>
                <a:lnTo>
                  <a:pt x="96" y="2"/>
                </a:lnTo>
                <a:lnTo>
                  <a:pt x="100" y="0"/>
                </a:lnTo>
                <a:lnTo>
                  <a:pt x="104" y="2"/>
                </a:lnTo>
                <a:lnTo>
                  <a:pt x="108" y="11"/>
                </a:lnTo>
                <a:lnTo>
                  <a:pt x="112" y="23"/>
                </a:lnTo>
                <a:lnTo>
                  <a:pt x="116" y="34"/>
                </a:lnTo>
                <a:lnTo>
                  <a:pt x="120" y="41"/>
                </a:lnTo>
                <a:lnTo>
                  <a:pt x="124" y="41"/>
                </a:lnTo>
                <a:lnTo>
                  <a:pt x="128" y="33"/>
                </a:lnTo>
                <a:lnTo>
                  <a:pt x="132" y="20"/>
                </a:lnTo>
                <a:lnTo>
                  <a:pt x="136" y="7"/>
                </a:lnTo>
                <a:lnTo>
                  <a:pt x="140" y="0"/>
                </a:lnTo>
                <a:lnTo>
                  <a:pt x="144" y="2"/>
                </a:lnTo>
                <a:lnTo>
                  <a:pt x="148" y="14"/>
                </a:lnTo>
                <a:lnTo>
                  <a:pt x="152" y="30"/>
                </a:lnTo>
                <a:lnTo>
                  <a:pt x="156" y="41"/>
                </a:lnTo>
                <a:lnTo>
                  <a:pt x="160" y="41"/>
                </a:lnTo>
                <a:lnTo>
                  <a:pt x="164" y="29"/>
                </a:lnTo>
                <a:lnTo>
                  <a:pt x="168" y="12"/>
                </a:lnTo>
                <a:lnTo>
                  <a:pt x="172" y="1"/>
                </a:lnTo>
                <a:lnTo>
                  <a:pt x="176" y="2"/>
                </a:lnTo>
                <a:lnTo>
                  <a:pt x="180" y="17"/>
                </a:lnTo>
                <a:lnTo>
                  <a:pt x="184" y="34"/>
                </a:lnTo>
                <a:lnTo>
                  <a:pt x="188" y="42"/>
                </a:lnTo>
                <a:lnTo>
                  <a:pt x="192" y="34"/>
                </a:lnTo>
                <a:lnTo>
                  <a:pt x="196" y="15"/>
                </a:lnTo>
                <a:lnTo>
                  <a:pt x="200" y="1"/>
                </a:lnTo>
                <a:lnTo>
                  <a:pt x="204" y="3"/>
                </a:lnTo>
                <a:lnTo>
                  <a:pt x="208" y="21"/>
                </a:lnTo>
                <a:lnTo>
                  <a:pt x="212" y="39"/>
                </a:lnTo>
                <a:lnTo>
                  <a:pt x="216" y="40"/>
                </a:lnTo>
                <a:lnTo>
                  <a:pt x="220" y="23"/>
                </a:lnTo>
                <a:lnTo>
                  <a:pt x="224" y="3"/>
                </a:lnTo>
                <a:lnTo>
                  <a:pt x="228" y="2"/>
                </a:lnTo>
                <a:lnTo>
                  <a:pt x="232" y="20"/>
                </a:lnTo>
                <a:lnTo>
                  <a:pt x="236" y="40"/>
                </a:lnTo>
                <a:lnTo>
                  <a:pt x="240" y="39"/>
                </a:lnTo>
                <a:lnTo>
                  <a:pt x="244" y="17"/>
                </a:lnTo>
                <a:lnTo>
                  <a:pt x="248" y="0"/>
                </a:lnTo>
                <a:lnTo>
                  <a:pt x="252" y="8"/>
                </a:lnTo>
                <a:lnTo>
                  <a:pt x="256" y="32"/>
                </a:lnTo>
                <a:lnTo>
                  <a:pt x="260" y="42"/>
                </a:lnTo>
                <a:lnTo>
                  <a:pt x="264" y="25"/>
                </a:lnTo>
                <a:lnTo>
                  <a:pt x="268" y="2"/>
                </a:lnTo>
                <a:lnTo>
                  <a:pt x="272" y="5"/>
                </a:lnTo>
                <a:lnTo>
                  <a:pt x="276" y="30"/>
                </a:lnTo>
                <a:lnTo>
                  <a:pt x="280" y="42"/>
                </a:lnTo>
                <a:lnTo>
                  <a:pt x="284" y="24"/>
                </a:lnTo>
                <a:lnTo>
                  <a:pt x="288" y="1"/>
                </a:lnTo>
                <a:lnTo>
                  <a:pt x="292" y="9"/>
                </a:lnTo>
                <a:lnTo>
                  <a:pt x="296" y="35"/>
                </a:lnTo>
                <a:lnTo>
                  <a:pt x="300" y="39"/>
                </a:lnTo>
                <a:lnTo>
                  <a:pt x="304" y="13"/>
                </a:lnTo>
                <a:lnTo>
                  <a:pt x="308" y="0"/>
                </a:lnTo>
                <a:lnTo>
                  <a:pt x="312" y="22"/>
                </a:lnTo>
                <a:lnTo>
                  <a:pt x="316" y="42"/>
                </a:lnTo>
                <a:lnTo>
                  <a:pt x="320" y="25"/>
                </a:lnTo>
                <a:lnTo>
                  <a:pt x="324" y="0"/>
                </a:lnTo>
                <a:lnTo>
                  <a:pt x="328" y="13"/>
                </a:lnTo>
                <a:lnTo>
                  <a:pt x="332" y="40"/>
                </a:lnTo>
                <a:lnTo>
                  <a:pt x="336" y="31"/>
                </a:lnTo>
                <a:lnTo>
                  <a:pt x="340" y="2"/>
                </a:lnTo>
                <a:lnTo>
                  <a:pt x="344" y="10"/>
                </a:lnTo>
                <a:lnTo>
                  <a:pt x="348" y="40"/>
                </a:lnTo>
                <a:lnTo>
                  <a:pt x="352" y="31"/>
                </a:lnTo>
                <a:lnTo>
                  <a:pt x="356" y="2"/>
                </a:lnTo>
                <a:lnTo>
                  <a:pt x="360" y="13"/>
                </a:lnTo>
                <a:lnTo>
                  <a:pt x="364" y="41"/>
                </a:lnTo>
                <a:lnTo>
                  <a:pt x="368" y="26"/>
                </a:lnTo>
                <a:lnTo>
                  <a:pt x="372" y="0"/>
                </a:lnTo>
                <a:lnTo>
                  <a:pt x="376" y="21"/>
                </a:lnTo>
              </a:path>
            </a:pathLst>
          </a:custGeom>
          <a:noFill/>
          <a:ln w="8382">
            <a:solidFill>
              <a:srgbClr val="5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3299" y="533399"/>
            <a:ext cx="60324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40000"/>
                </a:solidFill>
                <a:latin typeface="Times New Roman"/>
              </a:rPr>
              <a:t>Frequency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2749" y="558799"/>
            <a:ext cx="60324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40000"/>
                </a:solidFill>
                <a:latin typeface="Times New Roman"/>
              </a:rPr>
              <a:t>Frequency 2</a:t>
            </a:r>
          </a:p>
        </p:txBody>
      </p:sp>
      <p:sp>
        <p:nvSpPr>
          <p:cNvPr id="30" name="Freeform 29"/>
          <p:cNvSpPr/>
          <p:nvPr/>
        </p:nvSpPr>
        <p:spPr>
          <a:xfrm>
            <a:off x="1403350" y="863600"/>
            <a:ext cx="3092450" cy="114300"/>
          </a:xfrm>
          <a:custGeom>
            <a:avLst/>
            <a:gdLst/>
            <a:ahLst/>
            <a:cxnLst/>
            <a:rect l="l" t="t" r="r" b="b"/>
            <a:pathLst>
              <a:path w="487" h="18">
                <a:moveTo>
                  <a:pt x="0" y="0"/>
                </a:moveTo>
                <a:lnTo>
                  <a:pt x="0" y="8"/>
                </a:lnTo>
                <a:lnTo>
                  <a:pt x="4" y="12"/>
                </a:lnTo>
                <a:lnTo>
                  <a:pt x="6" y="18"/>
                </a:lnTo>
                <a:lnTo>
                  <a:pt x="481" y="18"/>
                </a:lnTo>
                <a:lnTo>
                  <a:pt x="483" y="12"/>
                </a:lnTo>
                <a:lnTo>
                  <a:pt x="487" y="8"/>
                </a:lnTo>
                <a:lnTo>
                  <a:pt x="487" y="0"/>
                </a:lnTo>
              </a:path>
            </a:pathLst>
          </a:custGeom>
          <a:noFill/>
          <a:ln w="838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3199" y="863599"/>
            <a:ext cx="109219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40000"/>
                </a:solidFill>
                <a:latin typeface="Times New Roman"/>
              </a:rPr>
              <a:t>Random Threshold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9549" y="1028699"/>
            <a:ext cx="2501899" cy="247649"/>
          </a:xfrm>
          <a:prstGeom prst="rect">
            <a:avLst/>
          </a:prstGeom>
          <a:solidFill>
            <a:srgbClr val="FFFFFF"/>
          </a:solidFill>
          <a:ln w="698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41300" y="1054100"/>
            <a:ext cx="2438400" cy="190500"/>
          </a:xfrm>
          <a:custGeom>
            <a:avLst/>
            <a:gdLst/>
            <a:ahLst/>
            <a:cxnLst/>
            <a:rect l="l" t="t" r="r" b="b"/>
            <a:pathLst>
              <a:path w="384" h="30">
                <a:moveTo>
                  <a:pt x="0" y="15"/>
                </a:moveTo>
                <a:lnTo>
                  <a:pt x="4" y="13"/>
                </a:lnTo>
                <a:lnTo>
                  <a:pt x="8" y="12"/>
                </a:lnTo>
                <a:lnTo>
                  <a:pt x="12" y="10"/>
                </a:lnTo>
                <a:lnTo>
                  <a:pt x="16" y="8"/>
                </a:lnTo>
                <a:lnTo>
                  <a:pt x="20" y="6"/>
                </a:lnTo>
                <a:lnTo>
                  <a:pt x="24" y="4"/>
                </a:lnTo>
                <a:lnTo>
                  <a:pt x="28" y="2"/>
                </a:lnTo>
                <a:lnTo>
                  <a:pt x="32" y="1"/>
                </a:lnTo>
                <a:lnTo>
                  <a:pt x="36" y="0"/>
                </a:lnTo>
                <a:lnTo>
                  <a:pt x="40" y="1"/>
                </a:lnTo>
                <a:lnTo>
                  <a:pt x="44" y="2"/>
                </a:lnTo>
                <a:lnTo>
                  <a:pt x="48" y="5"/>
                </a:lnTo>
                <a:lnTo>
                  <a:pt x="52" y="8"/>
                </a:lnTo>
                <a:lnTo>
                  <a:pt x="56" y="13"/>
                </a:lnTo>
                <a:lnTo>
                  <a:pt x="60" y="17"/>
                </a:lnTo>
                <a:lnTo>
                  <a:pt x="64" y="22"/>
                </a:lnTo>
                <a:lnTo>
                  <a:pt x="68" y="26"/>
                </a:lnTo>
                <a:lnTo>
                  <a:pt x="72" y="29"/>
                </a:lnTo>
                <a:lnTo>
                  <a:pt x="76" y="30"/>
                </a:lnTo>
                <a:lnTo>
                  <a:pt x="80" y="28"/>
                </a:lnTo>
                <a:lnTo>
                  <a:pt x="84" y="23"/>
                </a:lnTo>
                <a:lnTo>
                  <a:pt x="88" y="17"/>
                </a:lnTo>
                <a:lnTo>
                  <a:pt x="92" y="11"/>
                </a:lnTo>
                <a:lnTo>
                  <a:pt x="96" y="5"/>
                </a:lnTo>
                <a:lnTo>
                  <a:pt x="100" y="1"/>
                </a:lnTo>
                <a:lnTo>
                  <a:pt x="104" y="1"/>
                </a:lnTo>
                <a:lnTo>
                  <a:pt x="108" y="4"/>
                </a:lnTo>
                <a:lnTo>
                  <a:pt x="112" y="11"/>
                </a:lnTo>
                <a:lnTo>
                  <a:pt x="116" y="19"/>
                </a:lnTo>
                <a:lnTo>
                  <a:pt x="120" y="26"/>
                </a:lnTo>
                <a:lnTo>
                  <a:pt x="124" y="30"/>
                </a:lnTo>
                <a:lnTo>
                  <a:pt x="128" y="28"/>
                </a:lnTo>
                <a:lnTo>
                  <a:pt x="132" y="21"/>
                </a:lnTo>
                <a:lnTo>
                  <a:pt x="136" y="12"/>
                </a:lnTo>
                <a:lnTo>
                  <a:pt x="140" y="4"/>
                </a:lnTo>
                <a:lnTo>
                  <a:pt x="144" y="0"/>
                </a:lnTo>
                <a:lnTo>
                  <a:pt x="148" y="4"/>
                </a:lnTo>
                <a:lnTo>
                  <a:pt x="152" y="13"/>
                </a:lnTo>
                <a:lnTo>
                  <a:pt x="156" y="23"/>
                </a:lnTo>
                <a:lnTo>
                  <a:pt x="160" y="29"/>
                </a:lnTo>
                <a:lnTo>
                  <a:pt x="164" y="28"/>
                </a:lnTo>
                <a:lnTo>
                  <a:pt x="168" y="19"/>
                </a:lnTo>
                <a:lnTo>
                  <a:pt x="172" y="8"/>
                </a:lnTo>
                <a:lnTo>
                  <a:pt x="176" y="1"/>
                </a:lnTo>
                <a:lnTo>
                  <a:pt x="180" y="3"/>
                </a:lnTo>
                <a:lnTo>
                  <a:pt x="184" y="13"/>
                </a:lnTo>
                <a:lnTo>
                  <a:pt x="188" y="24"/>
                </a:lnTo>
                <a:lnTo>
                  <a:pt x="192" y="30"/>
                </a:lnTo>
                <a:lnTo>
                  <a:pt x="196" y="24"/>
                </a:lnTo>
                <a:lnTo>
                  <a:pt x="200" y="12"/>
                </a:lnTo>
                <a:lnTo>
                  <a:pt x="204" y="2"/>
                </a:lnTo>
                <a:lnTo>
                  <a:pt x="208" y="2"/>
                </a:lnTo>
                <a:lnTo>
                  <a:pt x="212" y="14"/>
                </a:lnTo>
                <a:lnTo>
                  <a:pt x="216" y="26"/>
                </a:lnTo>
                <a:lnTo>
                  <a:pt x="220" y="29"/>
                </a:lnTo>
                <a:lnTo>
                  <a:pt x="224" y="19"/>
                </a:lnTo>
                <a:lnTo>
                  <a:pt x="228" y="5"/>
                </a:lnTo>
                <a:lnTo>
                  <a:pt x="232" y="1"/>
                </a:lnTo>
                <a:lnTo>
                  <a:pt x="236" y="11"/>
                </a:lnTo>
                <a:lnTo>
                  <a:pt x="240" y="25"/>
                </a:lnTo>
                <a:lnTo>
                  <a:pt x="244" y="29"/>
                </a:lnTo>
                <a:lnTo>
                  <a:pt x="248" y="17"/>
                </a:lnTo>
                <a:lnTo>
                  <a:pt x="252" y="3"/>
                </a:lnTo>
                <a:lnTo>
                  <a:pt x="256" y="2"/>
                </a:lnTo>
                <a:lnTo>
                  <a:pt x="260" y="17"/>
                </a:lnTo>
                <a:lnTo>
                  <a:pt x="264" y="29"/>
                </a:lnTo>
                <a:lnTo>
                  <a:pt x="268" y="24"/>
                </a:lnTo>
                <a:lnTo>
                  <a:pt x="272" y="8"/>
                </a:lnTo>
                <a:lnTo>
                  <a:pt x="276" y="1"/>
                </a:lnTo>
                <a:lnTo>
                  <a:pt x="280" y="13"/>
                </a:lnTo>
                <a:lnTo>
                  <a:pt x="284" y="28"/>
                </a:lnTo>
                <a:lnTo>
                  <a:pt x="288" y="25"/>
                </a:lnTo>
                <a:lnTo>
                  <a:pt x="292" y="8"/>
                </a:lnTo>
                <a:lnTo>
                  <a:pt x="296" y="1"/>
                </a:lnTo>
                <a:lnTo>
                  <a:pt x="300" y="15"/>
                </a:lnTo>
                <a:lnTo>
                  <a:pt x="304" y="29"/>
                </a:lnTo>
                <a:lnTo>
                  <a:pt x="308" y="22"/>
                </a:lnTo>
                <a:lnTo>
                  <a:pt x="312" y="4"/>
                </a:lnTo>
                <a:lnTo>
                  <a:pt x="316" y="4"/>
                </a:lnTo>
                <a:lnTo>
                  <a:pt x="320" y="22"/>
                </a:lnTo>
                <a:lnTo>
                  <a:pt x="324" y="29"/>
                </a:lnTo>
                <a:lnTo>
                  <a:pt x="328" y="12"/>
                </a:lnTo>
                <a:lnTo>
                  <a:pt x="332" y="0"/>
                </a:lnTo>
                <a:lnTo>
                  <a:pt x="336" y="15"/>
                </a:lnTo>
                <a:lnTo>
                  <a:pt x="340" y="30"/>
                </a:lnTo>
                <a:lnTo>
                  <a:pt x="344" y="17"/>
                </a:lnTo>
                <a:lnTo>
                  <a:pt x="348" y="1"/>
                </a:lnTo>
                <a:lnTo>
                  <a:pt x="352" y="11"/>
                </a:lnTo>
                <a:lnTo>
                  <a:pt x="356" y="29"/>
                </a:lnTo>
                <a:lnTo>
                  <a:pt x="360" y="19"/>
                </a:lnTo>
                <a:lnTo>
                  <a:pt x="364" y="1"/>
                </a:lnTo>
                <a:lnTo>
                  <a:pt x="368" y="11"/>
                </a:lnTo>
                <a:lnTo>
                  <a:pt x="372" y="29"/>
                </a:lnTo>
                <a:lnTo>
                  <a:pt x="376" y="17"/>
                </a:lnTo>
                <a:lnTo>
                  <a:pt x="380" y="0"/>
                </a:lnTo>
                <a:lnTo>
                  <a:pt x="384" y="15"/>
                </a:lnTo>
              </a:path>
            </a:pathLst>
          </a:custGeom>
          <a:noFill/>
          <a:ln w="7683">
            <a:solidFill>
              <a:srgbClr val="5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5649" y="1035049"/>
            <a:ext cx="1574799" cy="234949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6159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6603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048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492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937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381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826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9270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715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0159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0604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1048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1493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1937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2382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2826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3271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3715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4160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4604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5049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5493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5938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6382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16827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7271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7716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8160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8605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9049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9494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9938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20383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20827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212724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171699" y="103504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435099" y="1054099"/>
            <a:ext cx="69849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Truncate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51199" y="1022349"/>
            <a:ext cx="2463799" cy="253999"/>
          </a:xfrm>
          <a:prstGeom prst="rect">
            <a:avLst/>
          </a:prstGeom>
          <a:solidFill>
            <a:srgbClr val="FFFFFF"/>
          </a:solidFill>
          <a:ln w="698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3276600" y="1054100"/>
            <a:ext cx="2400300" cy="190500"/>
          </a:xfrm>
          <a:custGeom>
            <a:avLst/>
            <a:gdLst/>
            <a:ahLst/>
            <a:cxnLst/>
            <a:rect l="l" t="t" r="r" b="b"/>
            <a:pathLst>
              <a:path w="378" h="30">
                <a:moveTo>
                  <a:pt x="0" y="15"/>
                </a:moveTo>
                <a:lnTo>
                  <a:pt x="4" y="13"/>
                </a:lnTo>
                <a:lnTo>
                  <a:pt x="8" y="12"/>
                </a:lnTo>
                <a:lnTo>
                  <a:pt x="12" y="10"/>
                </a:lnTo>
                <a:lnTo>
                  <a:pt x="16" y="8"/>
                </a:lnTo>
                <a:lnTo>
                  <a:pt x="20" y="5"/>
                </a:lnTo>
                <a:lnTo>
                  <a:pt x="24" y="3"/>
                </a:lnTo>
                <a:lnTo>
                  <a:pt x="28" y="2"/>
                </a:lnTo>
                <a:lnTo>
                  <a:pt x="32" y="1"/>
                </a:lnTo>
                <a:lnTo>
                  <a:pt x="36" y="0"/>
                </a:lnTo>
                <a:lnTo>
                  <a:pt x="40" y="1"/>
                </a:lnTo>
                <a:lnTo>
                  <a:pt x="44" y="3"/>
                </a:lnTo>
                <a:lnTo>
                  <a:pt x="48" y="5"/>
                </a:lnTo>
                <a:lnTo>
                  <a:pt x="52" y="9"/>
                </a:lnTo>
                <a:lnTo>
                  <a:pt x="56" y="14"/>
                </a:lnTo>
                <a:lnTo>
                  <a:pt x="60" y="19"/>
                </a:lnTo>
                <a:lnTo>
                  <a:pt x="64" y="24"/>
                </a:lnTo>
                <a:lnTo>
                  <a:pt x="68" y="28"/>
                </a:lnTo>
                <a:lnTo>
                  <a:pt x="72" y="29"/>
                </a:lnTo>
                <a:lnTo>
                  <a:pt x="76" y="29"/>
                </a:lnTo>
                <a:lnTo>
                  <a:pt x="80" y="26"/>
                </a:lnTo>
                <a:lnTo>
                  <a:pt x="84" y="21"/>
                </a:lnTo>
                <a:lnTo>
                  <a:pt x="88" y="14"/>
                </a:lnTo>
                <a:lnTo>
                  <a:pt x="92" y="8"/>
                </a:lnTo>
                <a:lnTo>
                  <a:pt x="97" y="2"/>
                </a:lnTo>
                <a:lnTo>
                  <a:pt x="101" y="0"/>
                </a:lnTo>
                <a:lnTo>
                  <a:pt x="105" y="2"/>
                </a:lnTo>
                <a:lnTo>
                  <a:pt x="109" y="8"/>
                </a:lnTo>
                <a:lnTo>
                  <a:pt x="113" y="16"/>
                </a:lnTo>
                <a:lnTo>
                  <a:pt x="117" y="24"/>
                </a:lnTo>
                <a:lnTo>
                  <a:pt x="121" y="29"/>
                </a:lnTo>
                <a:lnTo>
                  <a:pt x="125" y="29"/>
                </a:lnTo>
                <a:lnTo>
                  <a:pt x="129" y="23"/>
                </a:lnTo>
                <a:lnTo>
                  <a:pt x="133" y="14"/>
                </a:lnTo>
                <a:lnTo>
                  <a:pt x="137" y="6"/>
                </a:lnTo>
                <a:lnTo>
                  <a:pt x="141" y="1"/>
                </a:lnTo>
                <a:lnTo>
                  <a:pt x="145" y="2"/>
                </a:lnTo>
                <a:lnTo>
                  <a:pt x="149" y="10"/>
                </a:lnTo>
                <a:lnTo>
                  <a:pt x="153" y="21"/>
                </a:lnTo>
                <a:lnTo>
                  <a:pt x="157" y="29"/>
                </a:lnTo>
                <a:lnTo>
                  <a:pt x="161" y="29"/>
                </a:lnTo>
                <a:lnTo>
                  <a:pt x="165" y="21"/>
                </a:lnTo>
                <a:lnTo>
                  <a:pt x="169" y="9"/>
                </a:lnTo>
                <a:lnTo>
                  <a:pt x="173" y="1"/>
                </a:lnTo>
                <a:lnTo>
                  <a:pt x="177" y="2"/>
                </a:lnTo>
                <a:lnTo>
                  <a:pt x="181" y="12"/>
                </a:lnTo>
                <a:lnTo>
                  <a:pt x="185" y="24"/>
                </a:lnTo>
                <a:lnTo>
                  <a:pt x="189" y="30"/>
                </a:lnTo>
                <a:lnTo>
                  <a:pt x="193" y="24"/>
                </a:lnTo>
                <a:lnTo>
                  <a:pt x="197" y="11"/>
                </a:lnTo>
                <a:lnTo>
                  <a:pt x="201" y="1"/>
                </a:lnTo>
                <a:lnTo>
                  <a:pt x="205" y="3"/>
                </a:lnTo>
                <a:lnTo>
                  <a:pt x="209" y="15"/>
                </a:lnTo>
                <a:lnTo>
                  <a:pt x="213" y="27"/>
                </a:lnTo>
                <a:lnTo>
                  <a:pt x="217" y="28"/>
                </a:lnTo>
                <a:lnTo>
                  <a:pt x="221" y="16"/>
                </a:lnTo>
                <a:lnTo>
                  <a:pt x="225" y="3"/>
                </a:lnTo>
                <a:lnTo>
                  <a:pt x="229" y="2"/>
                </a:lnTo>
                <a:lnTo>
                  <a:pt x="233" y="14"/>
                </a:lnTo>
                <a:lnTo>
                  <a:pt x="237" y="28"/>
                </a:lnTo>
                <a:lnTo>
                  <a:pt x="241" y="27"/>
                </a:lnTo>
                <a:lnTo>
                  <a:pt x="245" y="13"/>
                </a:lnTo>
                <a:lnTo>
                  <a:pt x="249" y="1"/>
                </a:lnTo>
                <a:lnTo>
                  <a:pt x="253" y="6"/>
                </a:lnTo>
                <a:lnTo>
                  <a:pt x="257" y="22"/>
                </a:lnTo>
                <a:lnTo>
                  <a:pt x="261" y="29"/>
                </a:lnTo>
                <a:lnTo>
                  <a:pt x="265" y="18"/>
                </a:lnTo>
                <a:lnTo>
                  <a:pt x="269" y="2"/>
                </a:lnTo>
                <a:lnTo>
                  <a:pt x="273" y="4"/>
                </a:lnTo>
                <a:lnTo>
                  <a:pt x="277" y="21"/>
                </a:lnTo>
                <a:lnTo>
                  <a:pt x="281" y="29"/>
                </a:lnTo>
                <a:lnTo>
                  <a:pt x="286" y="17"/>
                </a:lnTo>
                <a:lnTo>
                  <a:pt x="290" y="1"/>
                </a:lnTo>
                <a:lnTo>
                  <a:pt x="294" y="7"/>
                </a:lnTo>
                <a:lnTo>
                  <a:pt x="298" y="25"/>
                </a:lnTo>
                <a:lnTo>
                  <a:pt x="302" y="28"/>
                </a:lnTo>
                <a:lnTo>
                  <a:pt x="306" y="10"/>
                </a:lnTo>
                <a:lnTo>
                  <a:pt x="310" y="1"/>
                </a:lnTo>
                <a:lnTo>
                  <a:pt x="314" y="16"/>
                </a:lnTo>
                <a:lnTo>
                  <a:pt x="318" y="30"/>
                </a:lnTo>
                <a:lnTo>
                  <a:pt x="322" y="18"/>
                </a:lnTo>
                <a:lnTo>
                  <a:pt x="326" y="1"/>
                </a:lnTo>
                <a:lnTo>
                  <a:pt x="330" y="10"/>
                </a:lnTo>
                <a:lnTo>
                  <a:pt x="334" y="28"/>
                </a:lnTo>
                <a:lnTo>
                  <a:pt x="338" y="22"/>
                </a:lnTo>
                <a:lnTo>
                  <a:pt x="342" y="2"/>
                </a:lnTo>
                <a:lnTo>
                  <a:pt x="346" y="8"/>
                </a:lnTo>
                <a:lnTo>
                  <a:pt x="350" y="28"/>
                </a:lnTo>
                <a:lnTo>
                  <a:pt x="354" y="22"/>
                </a:lnTo>
                <a:lnTo>
                  <a:pt x="358" y="2"/>
                </a:lnTo>
                <a:lnTo>
                  <a:pt x="362" y="9"/>
                </a:lnTo>
                <a:lnTo>
                  <a:pt x="366" y="29"/>
                </a:lnTo>
                <a:lnTo>
                  <a:pt x="370" y="18"/>
                </a:lnTo>
                <a:lnTo>
                  <a:pt x="374" y="0"/>
                </a:lnTo>
                <a:lnTo>
                  <a:pt x="378" y="15"/>
                </a:lnTo>
              </a:path>
            </a:pathLst>
          </a:custGeom>
          <a:noFill/>
          <a:ln w="7683">
            <a:solidFill>
              <a:srgbClr val="5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57549" y="1028699"/>
            <a:ext cx="1193799" cy="234949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H="1">
            <a:off x="31178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31622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32067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32511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32956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33400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33845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34289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34734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5178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5623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36067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6512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6956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37401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37845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38290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38734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39179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39623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40068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40512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40957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41401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41846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422909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4273549" y="1028699"/>
            <a:ext cx="139700" cy="234950"/>
          </a:xfrm>
          <a:prstGeom prst="line">
            <a:avLst/>
          </a:prstGeom>
          <a:ln w="6350">
            <a:solidFill>
              <a:srgbClr val="D7D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549649" y="1041399"/>
            <a:ext cx="69849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Truncate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9799" y="1295399"/>
            <a:ext cx="41274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1">
                <a:solidFill>
                  <a:srgbClr val="EB6B22"/>
                </a:solidFill>
                <a:latin typeface="Times New Roman"/>
              </a:rPr>
              <a:t>iFFT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390649" y="1276349"/>
            <a:ext cx="0" cy="184150"/>
          </a:xfrm>
          <a:prstGeom prst="line">
            <a:avLst/>
          </a:prstGeom>
          <a:ln w="24307">
            <a:solidFill>
              <a:srgbClr val="EB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352550" y="1397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10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EB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381499" y="1295399"/>
            <a:ext cx="41274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1">
                <a:solidFill>
                  <a:srgbClr val="EB6B22"/>
                </a:solidFill>
                <a:latin typeface="Times New Roman"/>
              </a:rPr>
              <a:t>iFFT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4444999" y="1276349"/>
            <a:ext cx="0" cy="184150"/>
          </a:xfrm>
          <a:prstGeom prst="line">
            <a:avLst/>
          </a:prstGeom>
          <a:ln w="24307">
            <a:solidFill>
              <a:srgbClr val="EB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Freeform 107"/>
          <p:cNvSpPr/>
          <p:nvPr/>
        </p:nvSpPr>
        <p:spPr>
          <a:xfrm>
            <a:off x="4406900" y="1397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10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EB6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619249" y="1314449"/>
            <a:ext cx="120649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Hybrid Frequency Input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44799" y="1314449"/>
            <a:ext cx="30479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1">
                <a:solidFill>
                  <a:srgbClr val="E40000"/>
                </a:solidFill>
                <a:latin typeface="Times New Roman"/>
              </a:rPr>
              <a:t>xₐᵤg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143249" y="1314449"/>
            <a:ext cx="82549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with Raw Input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968749" y="1314449"/>
            <a:ext cx="17779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1">
                <a:solidFill>
                  <a:srgbClr val="E40000"/>
                </a:solidFill>
                <a:latin typeface="Times New Roman"/>
              </a:rPr>
              <a:t>xₑ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09549" y="1498599"/>
            <a:ext cx="5511799" cy="330199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60349" y="1536699"/>
            <a:ext cx="1295399" cy="253999"/>
          </a:xfrm>
          <a:prstGeom prst="rect">
            <a:avLst/>
          </a:prstGeom>
          <a:solidFill>
            <a:srgbClr val="FFFFFF"/>
          </a:solidFill>
          <a:ln w="6985">
            <a:solidFill>
              <a:srgbClr val="77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85750" y="1619250"/>
            <a:ext cx="1244600" cy="101600"/>
          </a:xfrm>
          <a:custGeom>
            <a:avLst/>
            <a:gdLst/>
            <a:ahLst/>
            <a:cxnLst/>
            <a:rect l="l" t="t" r="r" b="b"/>
            <a:pathLst>
              <a:path w="196" h="16">
                <a:moveTo>
                  <a:pt x="0" y="6"/>
                </a:moveTo>
                <a:lnTo>
                  <a:pt x="4" y="3"/>
                </a:lnTo>
                <a:lnTo>
                  <a:pt x="8" y="5"/>
                </a:lnTo>
                <a:lnTo>
                  <a:pt x="12" y="5"/>
                </a:lnTo>
                <a:lnTo>
                  <a:pt x="16" y="5"/>
                </a:lnTo>
                <a:lnTo>
                  <a:pt x="20" y="3"/>
                </a:lnTo>
                <a:lnTo>
                  <a:pt x="24" y="6"/>
                </a:lnTo>
                <a:lnTo>
                  <a:pt x="28" y="11"/>
                </a:lnTo>
                <a:lnTo>
                  <a:pt x="32" y="11"/>
                </a:lnTo>
                <a:lnTo>
                  <a:pt x="36" y="10"/>
                </a:lnTo>
                <a:lnTo>
                  <a:pt x="40" y="5"/>
                </a:lnTo>
                <a:lnTo>
                  <a:pt x="44" y="7"/>
                </a:lnTo>
                <a:lnTo>
                  <a:pt x="48" y="11"/>
                </a:lnTo>
                <a:lnTo>
                  <a:pt x="52" y="6"/>
                </a:lnTo>
                <a:lnTo>
                  <a:pt x="56" y="1"/>
                </a:lnTo>
                <a:lnTo>
                  <a:pt x="60" y="0"/>
                </a:lnTo>
                <a:lnTo>
                  <a:pt x="64" y="6"/>
                </a:lnTo>
                <a:lnTo>
                  <a:pt x="68" y="6"/>
                </a:lnTo>
                <a:lnTo>
                  <a:pt x="72" y="4"/>
                </a:lnTo>
                <a:lnTo>
                  <a:pt x="76" y="7"/>
                </a:lnTo>
                <a:lnTo>
                  <a:pt x="80" y="12"/>
                </a:lnTo>
                <a:lnTo>
                  <a:pt x="84" y="16"/>
                </a:lnTo>
                <a:lnTo>
                  <a:pt x="88" y="12"/>
                </a:lnTo>
                <a:lnTo>
                  <a:pt x="92" y="3"/>
                </a:lnTo>
                <a:lnTo>
                  <a:pt x="96" y="4"/>
                </a:lnTo>
                <a:lnTo>
                  <a:pt x="100" y="5"/>
                </a:lnTo>
                <a:lnTo>
                  <a:pt x="104" y="4"/>
                </a:lnTo>
                <a:lnTo>
                  <a:pt x="108" y="0"/>
                </a:lnTo>
                <a:lnTo>
                  <a:pt x="112" y="1"/>
                </a:lnTo>
                <a:lnTo>
                  <a:pt x="116" y="6"/>
                </a:lnTo>
                <a:lnTo>
                  <a:pt x="120" y="14"/>
                </a:lnTo>
                <a:lnTo>
                  <a:pt x="124" y="10"/>
                </a:lnTo>
                <a:lnTo>
                  <a:pt x="128" y="9"/>
                </a:lnTo>
                <a:lnTo>
                  <a:pt x="132" y="9"/>
                </a:lnTo>
                <a:lnTo>
                  <a:pt x="136" y="11"/>
                </a:lnTo>
                <a:lnTo>
                  <a:pt x="140" y="10"/>
                </a:lnTo>
                <a:lnTo>
                  <a:pt x="144" y="4"/>
                </a:lnTo>
                <a:lnTo>
                  <a:pt x="148" y="2"/>
                </a:lnTo>
                <a:lnTo>
                  <a:pt x="152" y="5"/>
                </a:lnTo>
                <a:lnTo>
                  <a:pt x="156" y="5"/>
                </a:lnTo>
                <a:lnTo>
                  <a:pt x="160" y="5"/>
                </a:lnTo>
                <a:lnTo>
                  <a:pt x="164" y="3"/>
                </a:lnTo>
                <a:lnTo>
                  <a:pt x="168" y="10"/>
                </a:lnTo>
                <a:lnTo>
                  <a:pt x="172" y="14"/>
                </a:lnTo>
                <a:lnTo>
                  <a:pt x="176" y="14"/>
                </a:lnTo>
                <a:lnTo>
                  <a:pt x="180" y="7"/>
                </a:lnTo>
                <a:lnTo>
                  <a:pt x="184" y="6"/>
                </a:lnTo>
                <a:lnTo>
                  <a:pt x="188" y="7"/>
                </a:lnTo>
                <a:lnTo>
                  <a:pt x="192" y="5"/>
                </a:lnTo>
                <a:lnTo>
                  <a:pt x="196" y="1"/>
                </a:lnTo>
              </a:path>
            </a:pathLst>
          </a:custGeom>
          <a:noFill/>
          <a:ln w="9080">
            <a:solidFill>
              <a:srgbClr val="4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600199" y="1536699"/>
            <a:ext cx="1295399" cy="253999"/>
          </a:xfrm>
          <a:prstGeom prst="rect">
            <a:avLst/>
          </a:prstGeom>
          <a:solidFill>
            <a:srgbClr val="FFFFFF"/>
          </a:solidFill>
          <a:ln w="6985">
            <a:solidFill>
              <a:srgbClr val="77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1625600" y="1612900"/>
            <a:ext cx="1244600" cy="101600"/>
          </a:xfrm>
          <a:custGeom>
            <a:avLst/>
            <a:gdLst/>
            <a:ahLst/>
            <a:cxnLst/>
            <a:rect l="l" t="t" r="r" b="b"/>
            <a:pathLst>
              <a:path w="196" h="16">
                <a:moveTo>
                  <a:pt x="0" y="9"/>
                </a:moveTo>
                <a:lnTo>
                  <a:pt x="4" y="4"/>
                </a:lnTo>
                <a:lnTo>
                  <a:pt x="8" y="5"/>
                </a:lnTo>
                <a:lnTo>
                  <a:pt x="12" y="6"/>
                </a:lnTo>
                <a:lnTo>
                  <a:pt x="16" y="7"/>
                </a:lnTo>
                <a:lnTo>
                  <a:pt x="20" y="5"/>
                </a:lnTo>
                <a:lnTo>
                  <a:pt x="24" y="8"/>
                </a:lnTo>
                <a:lnTo>
                  <a:pt x="28" y="12"/>
                </a:lnTo>
                <a:lnTo>
                  <a:pt x="32" y="16"/>
                </a:lnTo>
                <a:lnTo>
                  <a:pt x="36" y="10"/>
                </a:lnTo>
                <a:lnTo>
                  <a:pt x="40" y="8"/>
                </a:lnTo>
                <a:lnTo>
                  <a:pt x="44" y="12"/>
                </a:lnTo>
                <a:lnTo>
                  <a:pt x="48" y="10"/>
                </a:lnTo>
                <a:lnTo>
                  <a:pt x="52" y="6"/>
                </a:lnTo>
                <a:lnTo>
                  <a:pt x="56" y="1"/>
                </a:lnTo>
                <a:lnTo>
                  <a:pt x="60" y="0"/>
                </a:lnTo>
                <a:lnTo>
                  <a:pt x="64" y="9"/>
                </a:lnTo>
                <a:lnTo>
                  <a:pt x="68" y="11"/>
                </a:lnTo>
                <a:lnTo>
                  <a:pt x="72" y="5"/>
                </a:lnTo>
                <a:lnTo>
                  <a:pt x="76" y="9"/>
                </a:lnTo>
                <a:lnTo>
                  <a:pt x="80" y="15"/>
                </a:lnTo>
                <a:lnTo>
                  <a:pt x="84" y="16"/>
                </a:lnTo>
                <a:lnTo>
                  <a:pt x="88" y="11"/>
                </a:lnTo>
                <a:lnTo>
                  <a:pt x="92" y="4"/>
                </a:lnTo>
                <a:lnTo>
                  <a:pt x="96" y="7"/>
                </a:lnTo>
                <a:lnTo>
                  <a:pt x="100" y="9"/>
                </a:lnTo>
                <a:lnTo>
                  <a:pt x="104" y="5"/>
                </a:lnTo>
                <a:lnTo>
                  <a:pt x="108" y="1"/>
                </a:lnTo>
                <a:lnTo>
                  <a:pt x="112" y="1"/>
                </a:lnTo>
                <a:lnTo>
                  <a:pt x="116" y="8"/>
                </a:lnTo>
                <a:lnTo>
                  <a:pt x="120" y="14"/>
                </a:lnTo>
                <a:lnTo>
                  <a:pt x="124" y="12"/>
                </a:lnTo>
                <a:lnTo>
                  <a:pt x="128" y="8"/>
                </a:lnTo>
                <a:lnTo>
                  <a:pt x="132" y="9"/>
                </a:lnTo>
                <a:lnTo>
                  <a:pt x="136" y="15"/>
                </a:lnTo>
                <a:lnTo>
                  <a:pt x="140" y="9"/>
                </a:lnTo>
                <a:lnTo>
                  <a:pt x="144" y="2"/>
                </a:lnTo>
                <a:lnTo>
                  <a:pt x="148" y="1"/>
                </a:lnTo>
                <a:lnTo>
                  <a:pt x="152" y="7"/>
                </a:lnTo>
                <a:lnTo>
                  <a:pt x="156" y="6"/>
                </a:lnTo>
                <a:lnTo>
                  <a:pt x="160" y="4"/>
                </a:lnTo>
                <a:lnTo>
                  <a:pt x="164" y="7"/>
                </a:lnTo>
                <a:lnTo>
                  <a:pt x="168" y="10"/>
                </a:lnTo>
                <a:lnTo>
                  <a:pt x="172" y="16"/>
                </a:lnTo>
                <a:lnTo>
                  <a:pt x="176" y="16"/>
                </a:lnTo>
                <a:lnTo>
                  <a:pt x="180" y="9"/>
                </a:lnTo>
                <a:lnTo>
                  <a:pt x="184" y="8"/>
                </a:lnTo>
                <a:lnTo>
                  <a:pt x="188" y="10"/>
                </a:lnTo>
                <a:lnTo>
                  <a:pt x="192" y="7"/>
                </a:lnTo>
                <a:lnTo>
                  <a:pt x="196" y="1"/>
                </a:lnTo>
              </a:path>
            </a:pathLst>
          </a:custGeom>
          <a:noFill/>
          <a:ln w="9080">
            <a:solidFill>
              <a:srgbClr val="4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33699" y="1536699"/>
            <a:ext cx="1295399" cy="253999"/>
          </a:xfrm>
          <a:prstGeom prst="rect">
            <a:avLst/>
          </a:prstGeom>
          <a:solidFill>
            <a:srgbClr val="FFFFFF"/>
          </a:solidFill>
          <a:ln w="6985">
            <a:solidFill>
              <a:srgbClr val="77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959100" y="1593850"/>
            <a:ext cx="1244600" cy="139700"/>
          </a:xfrm>
          <a:custGeom>
            <a:avLst/>
            <a:gdLst/>
            <a:ahLst/>
            <a:cxnLst/>
            <a:rect l="l" t="t" r="r" b="b"/>
            <a:pathLst>
              <a:path w="196" h="22">
                <a:moveTo>
                  <a:pt x="0" y="3"/>
                </a:moveTo>
                <a:lnTo>
                  <a:pt x="4" y="5"/>
                </a:lnTo>
                <a:lnTo>
                  <a:pt x="8" y="6"/>
                </a:lnTo>
                <a:lnTo>
                  <a:pt x="12" y="5"/>
                </a:lnTo>
                <a:lnTo>
                  <a:pt x="16" y="4"/>
                </a:lnTo>
                <a:lnTo>
                  <a:pt x="20" y="6"/>
                </a:lnTo>
                <a:lnTo>
                  <a:pt x="24" y="11"/>
                </a:lnTo>
                <a:lnTo>
                  <a:pt x="28" y="18"/>
                </a:lnTo>
                <a:lnTo>
                  <a:pt x="32" y="21"/>
                </a:lnTo>
                <a:lnTo>
                  <a:pt x="36" y="19"/>
                </a:lnTo>
                <a:lnTo>
                  <a:pt x="40" y="16"/>
                </a:lnTo>
                <a:lnTo>
                  <a:pt x="44" y="14"/>
                </a:lnTo>
                <a:lnTo>
                  <a:pt x="48" y="15"/>
                </a:lnTo>
                <a:lnTo>
                  <a:pt x="52" y="15"/>
                </a:lnTo>
                <a:lnTo>
                  <a:pt x="56" y="12"/>
                </a:lnTo>
                <a:lnTo>
                  <a:pt x="60" y="6"/>
                </a:lnTo>
                <a:lnTo>
                  <a:pt x="64" y="1"/>
                </a:lnTo>
                <a:lnTo>
                  <a:pt x="68" y="0"/>
                </a:lnTo>
                <a:lnTo>
                  <a:pt x="72" y="4"/>
                </a:lnTo>
                <a:lnTo>
                  <a:pt x="76" y="8"/>
                </a:lnTo>
                <a:lnTo>
                  <a:pt x="80" y="10"/>
                </a:lnTo>
                <a:lnTo>
                  <a:pt x="84" y="10"/>
                </a:lnTo>
                <a:lnTo>
                  <a:pt x="88" y="11"/>
                </a:lnTo>
                <a:lnTo>
                  <a:pt x="92" y="15"/>
                </a:lnTo>
                <a:lnTo>
                  <a:pt x="96" y="20"/>
                </a:lnTo>
                <a:lnTo>
                  <a:pt x="100" y="22"/>
                </a:lnTo>
                <a:lnTo>
                  <a:pt x="104" y="20"/>
                </a:lnTo>
                <a:lnTo>
                  <a:pt x="108" y="14"/>
                </a:lnTo>
                <a:lnTo>
                  <a:pt x="112" y="10"/>
                </a:lnTo>
                <a:lnTo>
                  <a:pt x="116" y="9"/>
                </a:lnTo>
                <a:lnTo>
                  <a:pt x="120" y="9"/>
                </a:lnTo>
                <a:lnTo>
                  <a:pt x="124" y="8"/>
                </a:lnTo>
                <a:lnTo>
                  <a:pt x="128" y="4"/>
                </a:lnTo>
                <a:lnTo>
                  <a:pt x="132" y="1"/>
                </a:lnTo>
                <a:lnTo>
                  <a:pt x="136" y="1"/>
                </a:lnTo>
                <a:lnTo>
                  <a:pt x="140" y="7"/>
                </a:lnTo>
                <a:lnTo>
                  <a:pt x="144" y="13"/>
                </a:lnTo>
                <a:lnTo>
                  <a:pt x="148" y="16"/>
                </a:lnTo>
                <a:lnTo>
                  <a:pt x="152" y="16"/>
                </a:lnTo>
                <a:lnTo>
                  <a:pt x="156" y="15"/>
                </a:lnTo>
                <a:lnTo>
                  <a:pt x="160" y="16"/>
                </a:lnTo>
                <a:lnTo>
                  <a:pt x="164" y="19"/>
                </a:lnTo>
                <a:lnTo>
                  <a:pt x="168" y="20"/>
                </a:lnTo>
                <a:lnTo>
                  <a:pt x="172" y="17"/>
                </a:lnTo>
                <a:lnTo>
                  <a:pt x="176" y="10"/>
                </a:lnTo>
                <a:lnTo>
                  <a:pt x="180" y="4"/>
                </a:lnTo>
                <a:lnTo>
                  <a:pt x="184" y="3"/>
                </a:lnTo>
                <a:lnTo>
                  <a:pt x="188" y="5"/>
                </a:lnTo>
                <a:lnTo>
                  <a:pt x="192" y="6"/>
                </a:lnTo>
                <a:lnTo>
                  <a:pt x="196" y="6"/>
                </a:lnTo>
              </a:path>
            </a:pathLst>
          </a:custGeom>
          <a:noFill/>
          <a:ln w="9080">
            <a:solidFill>
              <a:srgbClr val="4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260849" y="1536699"/>
            <a:ext cx="1390649" cy="253999"/>
          </a:xfrm>
          <a:prstGeom prst="rect">
            <a:avLst/>
          </a:prstGeom>
          <a:solidFill>
            <a:srgbClr val="FFFFFF"/>
          </a:solidFill>
          <a:ln w="6985">
            <a:solidFill>
              <a:srgbClr val="77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286250" y="1606550"/>
            <a:ext cx="1339850" cy="107950"/>
          </a:xfrm>
          <a:custGeom>
            <a:avLst/>
            <a:gdLst/>
            <a:ahLst/>
            <a:cxnLst/>
            <a:rect l="l" t="t" r="r" b="b"/>
            <a:pathLst>
              <a:path w="211" h="17">
                <a:moveTo>
                  <a:pt x="0" y="7"/>
                </a:moveTo>
                <a:lnTo>
                  <a:pt x="4" y="3"/>
                </a:lnTo>
                <a:lnTo>
                  <a:pt x="8" y="4"/>
                </a:lnTo>
                <a:lnTo>
                  <a:pt x="12" y="9"/>
                </a:lnTo>
                <a:lnTo>
                  <a:pt x="16" y="6"/>
                </a:lnTo>
                <a:lnTo>
                  <a:pt x="20" y="3"/>
                </a:lnTo>
                <a:lnTo>
                  <a:pt x="24" y="4"/>
                </a:lnTo>
                <a:lnTo>
                  <a:pt x="28" y="13"/>
                </a:lnTo>
                <a:lnTo>
                  <a:pt x="32" y="15"/>
                </a:lnTo>
                <a:lnTo>
                  <a:pt x="37" y="13"/>
                </a:lnTo>
                <a:lnTo>
                  <a:pt x="41" y="10"/>
                </a:lnTo>
                <a:lnTo>
                  <a:pt x="45" y="8"/>
                </a:lnTo>
                <a:lnTo>
                  <a:pt x="49" y="12"/>
                </a:lnTo>
                <a:lnTo>
                  <a:pt x="53" y="11"/>
                </a:lnTo>
                <a:lnTo>
                  <a:pt x="57" y="3"/>
                </a:lnTo>
                <a:lnTo>
                  <a:pt x="61" y="1"/>
                </a:lnTo>
                <a:lnTo>
                  <a:pt x="65" y="5"/>
                </a:lnTo>
                <a:lnTo>
                  <a:pt x="69" y="9"/>
                </a:lnTo>
                <a:lnTo>
                  <a:pt x="73" y="10"/>
                </a:lnTo>
                <a:lnTo>
                  <a:pt x="77" y="10"/>
                </a:lnTo>
                <a:lnTo>
                  <a:pt x="81" y="8"/>
                </a:lnTo>
                <a:lnTo>
                  <a:pt x="85" y="12"/>
                </a:lnTo>
                <a:lnTo>
                  <a:pt x="89" y="17"/>
                </a:lnTo>
                <a:lnTo>
                  <a:pt x="93" y="12"/>
                </a:lnTo>
                <a:lnTo>
                  <a:pt x="97" y="6"/>
                </a:lnTo>
                <a:lnTo>
                  <a:pt x="101" y="6"/>
                </a:lnTo>
                <a:lnTo>
                  <a:pt x="105" y="7"/>
                </a:lnTo>
                <a:lnTo>
                  <a:pt x="110" y="10"/>
                </a:lnTo>
                <a:lnTo>
                  <a:pt x="114" y="7"/>
                </a:lnTo>
                <a:lnTo>
                  <a:pt x="118" y="0"/>
                </a:lnTo>
                <a:lnTo>
                  <a:pt x="122" y="6"/>
                </a:lnTo>
                <a:lnTo>
                  <a:pt x="126" y="13"/>
                </a:lnTo>
                <a:lnTo>
                  <a:pt x="130" y="12"/>
                </a:lnTo>
                <a:lnTo>
                  <a:pt x="134" y="11"/>
                </a:lnTo>
                <a:lnTo>
                  <a:pt x="138" y="12"/>
                </a:lnTo>
                <a:lnTo>
                  <a:pt x="142" y="13"/>
                </a:lnTo>
                <a:lnTo>
                  <a:pt x="146" y="15"/>
                </a:lnTo>
                <a:lnTo>
                  <a:pt x="150" y="12"/>
                </a:lnTo>
                <a:lnTo>
                  <a:pt x="154" y="7"/>
                </a:lnTo>
                <a:lnTo>
                  <a:pt x="158" y="2"/>
                </a:lnTo>
                <a:lnTo>
                  <a:pt x="162" y="6"/>
                </a:lnTo>
                <a:lnTo>
                  <a:pt x="166" y="9"/>
                </a:lnTo>
                <a:lnTo>
                  <a:pt x="170" y="9"/>
                </a:lnTo>
                <a:lnTo>
                  <a:pt x="174" y="7"/>
                </a:lnTo>
                <a:lnTo>
                  <a:pt x="179" y="10"/>
                </a:lnTo>
                <a:lnTo>
                  <a:pt x="183" y="12"/>
                </a:lnTo>
                <a:lnTo>
                  <a:pt x="187" y="15"/>
                </a:lnTo>
                <a:lnTo>
                  <a:pt x="191" y="13"/>
                </a:lnTo>
                <a:lnTo>
                  <a:pt x="195" y="11"/>
                </a:lnTo>
                <a:lnTo>
                  <a:pt x="199" y="10"/>
                </a:lnTo>
                <a:lnTo>
                  <a:pt x="203" y="12"/>
                </a:lnTo>
                <a:lnTo>
                  <a:pt x="207" y="9"/>
                </a:lnTo>
                <a:lnTo>
                  <a:pt x="211" y="6"/>
                </a:lnTo>
              </a:path>
            </a:pathLst>
          </a:custGeom>
          <a:noFill/>
          <a:ln w="9080">
            <a:solidFill>
              <a:srgbClr val="4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277099" y="114299"/>
            <a:ext cx="3619499" cy="241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Spatio-Temporal Metadata Fusion (STMF)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216649" y="406399"/>
            <a:ext cx="2178049" cy="273049"/>
          </a:xfrm>
          <a:prstGeom prst="rect">
            <a:avLst/>
          </a:prstGeom>
          <a:solidFill>
            <a:srgbClr val="FFFFFF"/>
          </a:solidFill>
          <a:ln w="6985">
            <a:solidFill>
              <a:srgbClr val="C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6242049" y="469900"/>
            <a:ext cx="2127250" cy="146050"/>
          </a:xfrm>
          <a:custGeom>
            <a:avLst/>
            <a:gdLst/>
            <a:ahLst/>
            <a:cxnLst/>
            <a:rect l="l" t="t" r="r" b="b"/>
            <a:pathLst>
              <a:path w="335" h="23">
                <a:moveTo>
                  <a:pt x="0" y="9"/>
                </a:moveTo>
                <a:lnTo>
                  <a:pt x="4" y="7"/>
                </a:lnTo>
                <a:lnTo>
                  <a:pt x="8" y="7"/>
                </a:lnTo>
                <a:lnTo>
                  <a:pt x="12" y="10"/>
                </a:lnTo>
                <a:lnTo>
                  <a:pt x="16" y="15"/>
                </a:lnTo>
                <a:lnTo>
                  <a:pt x="20" y="18"/>
                </a:lnTo>
                <a:lnTo>
                  <a:pt x="24" y="19"/>
                </a:lnTo>
                <a:lnTo>
                  <a:pt x="28" y="14"/>
                </a:lnTo>
                <a:lnTo>
                  <a:pt x="32" y="8"/>
                </a:lnTo>
                <a:lnTo>
                  <a:pt x="36" y="3"/>
                </a:lnTo>
                <a:lnTo>
                  <a:pt x="40" y="2"/>
                </a:lnTo>
                <a:lnTo>
                  <a:pt x="44" y="7"/>
                </a:lnTo>
                <a:lnTo>
                  <a:pt x="48" y="15"/>
                </a:lnTo>
                <a:lnTo>
                  <a:pt x="52" y="21"/>
                </a:lnTo>
                <a:lnTo>
                  <a:pt x="57" y="22"/>
                </a:lnTo>
                <a:lnTo>
                  <a:pt x="61" y="18"/>
                </a:lnTo>
                <a:lnTo>
                  <a:pt x="65" y="10"/>
                </a:lnTo>
                <a:lnTo>
                  <a:pt x="69" y="2"/>
                </a:lnTo>
                <a:lnTo>
                  <a:pt x="73" y="0"/>
                </a:lnTo>
                <a:lnTo>
                  <a:pt x="77" y="4"/>
                </a:lnTo>
                <a:lnTo>
                  <a:pt x="81" y="12"/>
                </a:lnTo>
                <a:lnTo>
                  <a:pt x="85" y="20"/>
                </a:lnTo>
                <a:lnTo>
                  <a:pt x="89" y="22"/>
                </a:lnTo>
                <a:lnTo>
                  <a:pt x="93" y="19"/>
                </a:lnTo>
                <a:lnTo>
                  <a:pt x="97" y="12"/>
                </a:lnTo>
                <a:lnTo>
                  <a:pt x="101" y="5"/>
                </a:lnTo>
                <a:lnTo>
                  <a:pt x="105" y="2"/>
                </a:lnTo>
                <a:lnTo>
                  <a:pt x="109" y="5"/>
                </a:lnTo>
                <a:lnTo>
                  <a:pt x="113" y="10"/>
                </a:lnTo>
                <a:lnTo>
                  <a:pt x="117" y="16"/>
                </a:lnTo>
                <a:lnTo>
                  <a:pt x="121" y="18"/>
                </a:lnTo>
                <a:lnTo>
                  <a:pt x="125" y="17"/>
                </a:lnTo>
                <a:lnTo>
                  <a:pt x="129" y="13"/>
                </a:lnTo>
                <a:lnTo>
                  <a:pt x="133" y="9"/>
                </a:lnTo>
                <a:lnTo>
                  <a:pt x="137" y="7"/>
                </a:lnTo>
                <a:lnTo>
                  <a:pt x="141" y="8"/>
                </a:lnTo>
                <a:lnTo>
                  <a:pt x="145" y="10"/>
                </a:lnTo>
                <a:lnTo>
                  <a:pt x="149" y="14"/>
                </a:lnTo>
                <a:lnTo>
                  <a:pt x="153" y="17"/>
                </a:lnTo>
                <a:lnTo>
                  <a:pt x="157" y="18"/>
                </a:lnTo>
                <a:lnTo>
                  <a:pt x="161" y="15"/>
                </a:lnTo>
                <a:lnTo>
                  <a:pt x="165" y="9"/>
                </a:lnTo>
                <a:lnTo>
                  <a:pt x="170" y="4"/>
                </a:lnTo>
                <a:lnTo>
                  <a:pt x="174" y="3"/>
                </a:lnTo>
                <a:lnTo>
                  <a:pt x="178" y="6"/>
                </a:lnTo>
                <a:lnTo>
                  <a:pt x="182" y="13"/>
                </a:lnTo>
                <a:lnTo>
                  <a:pt x="186" y="20"/>
                </a:lnTo>
                <a:lnTo>
                  <a:pt x="190" y="22"/>
                </a:lnTo>
                <a:lnTo>
                  <a:pt x="194" y="19"/>
                </a:lnTo>
                <a:lnTo>
                  <a:pt x="198" y="11"/>
                </a:lnTo>
                <a:lnTo>
                  <a:pt x="202" y="4"/>
                </a:lnTo>
                <a:lnTo>
                  <a:pt x="206" y="0"/>
                </a:lnTo>
                <a:lnTo>
                  <a:pt x="210" y="3"/>
                </a:lnTo>
                <a:lnTo>
                  <a:pt x="214" y="10"/>
                </a:lnTo>
                <a:lnTo>
                  <a:pt x="218" y="18"/>
                </a:lnTo>
                <a:lnTo>
                  <a:pt x="222" y="23"/>
                </a:lnTo>
                <a:lnTo>
                  <a:pt x="226" y="20"/>
                </a:lnTo>
                <a:lnTo>
                  <a:pt x="230" y="14"/>
                </a:lnTo>
                <a:lnTo>
                  <a:pt x="234" y="6"/>
                </a:lnTo>
                <a:lnTo>
                  <a:pt x="238" y="2"/>
                </a:lnTo>
                <a:lnTo>
                  <a:pt x="242" y="3"/>
                </a:lnTo>
                <a:lnTo>
                  <a:pt x="246" y="9"/>
                </a:lnTo>
                <a:lnTo>
                  <a:pt x="250" y="15"/>
                </a:lnTo>
                <a:lnTo>
                  <a:pt x="254" y="19"/>
                </a:lnTo>
                <a:lnTo>
                  <a:pt x="258" y="18"/>
                </a:lnTo>
                <a:lnTo>
                  <a:pt x="262" y="14"/>
                </a:lnTo>
                <a:lnTo>
                  <a:pt x="266" y="10"/>
                </a:lnTo>
                <a:lnTo>
                  <a:pt x="270" y="7"/>
                </a:lnTo>
                <a:lnTo>
                  <a:pt x="274" y="7"/>
                </a:lnTo>
                <a:lnTo>
                  <a:pt x="278" y="9"/>
                </a:lnTo>
                <a:lnTo>
                  <a:pt x="283" y="12"/>
                </a:lnTo>
                <a:lnTo>
                  <a:pt x="287" y="16"/>
                </a:lnTo>
                <a:lnTo>
                  <a:pt x="291" y="17"/>
                </a:lnTo>
                <a:lnTo>
                  <a:pt x="295" y="16"/>
                </a:lnTo>
                <a:lnTo>
                  <a:pt x="299" y="11"/>
                </a:lnTo>
                <a:lnTo>
                  <a:pt x="303" y="6"/>
                </a:lnTo>
                <a:lnTo>
                  <a:pt x="307" y="3"/>
                </a:lnTo>
                <a:lnTo>
                  <a:pt x="311" y="5"/>
                </a:lnTo>
                <a:lnTo>
                  <a:pt x="315" y="11"/>
                </a:lnTo>
                <a:lnTo>
                  <a:pt x="319" y="18"/>
                </a:lnTo>
                <a:lnTo>
                  <a:pt x="323" y="22"/>
                </a:lnTo>
                <a:lnTo>
                  <a:pt x="327" y="20"/>
                </a:lnTo>
                <a:lnTo>
                  <a:pt x="331" y="13"/>
                </a:lnTo>
                <a:lnTo>
                  <a:pt x="335" y="5"/>
                </a:lnTo>
              </a:path>
            </a:pathLst>
          </a:custGeom>
          <a:noFill/>
          <a:ln w="9080">
            <a:solidFill>
              <a:srgbClr val="78A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807199" y="450849"/>
            <a:ext cx="66674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Region 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38899" y="577849"/>
            <a:ext cx="2184399" cy="273049"/>
          </a:xfrm>
          <a:prstGeom prst="rect">
            <a:avLst/>
          </a:prstGeom>
          <a:solidFill>
            <a:srgbClr val="FFFFFF"/>
          </a:solidFill>
          <a:ln w="6985">
            <a:solidFill>
              <a:srgbClr val="C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6464299" y="641350"/>
            <a:ext cx="2133600" cy="146050"/>
          </a:xfrm>
          <a:custGeom>
            <a:avLst/>
            <a:gdLst/>
            <a:ahLst/>
            <a:cxnLst/>
            <a:rect l="l" t="t" r="r" b="b"/>
            <a:pathLst>
              <a:path w="336" h="23">
                <a:moveTo>
                  <a:pt x="0" y="9"/>
                </a:moveTo>
                <a:lnTo>
                  <a:pt x="4" y="7"/>
                </a:lnTo>
                <a:lnTo>
                  <a:pt x="8" y="7"/>
                </a:lnTo>
                <a:lnTo>
                  <a:pt x="12" y="10"/>
                </a:lnTo>
                <a:lnTo>
                  <a:pt x="16" y="15"/>
                </a:lnTo>
                <a:lnTo>
                  <a:pt x="20" y="18"/>
                </a:lnTo>
                <a:lnTo>
                  <a:pt x="24" y="19"/>
                </a:lnTo>
                <a:lnTo>
                  <a:pt x="28" y="15"/>
                </a:lnTo>
                <a:lnTo>
                  <a:pt x="32" y="9"/>
                </a:lnTo>
                <a:lnTo>
                  <a:pt x="36" y="3"/>
                </a:lnTo>
                <a:lnTo>
                  <a:pt x="40" y="2"/>
                </a:lnTo>
                <a:lnTo>
                  <a:pt x="44" y="6"/>
                </a:lnTo>
                <a:lnTo>
                  <a:pt x="48" y="13"/>
                </a:lnTo>
                <a:lnTo>
                  <a:pt x="52" y="20"/>
                </a:lnTo>
                <a:lnTo>
                  <a:pt x="56" y="23"/>
                </a:lnTo>
                <a:lnTo>
                  <a:pt x="60" y="19"/>
                </a:lnTo>
                <a:lnTo>
                  <a:pt x="64" y="11"/>
                </a:lnTo>
                <a:lnTo>
                  <a:pt x="68" y="3"/>
                </a:lnTo>
                <a:lnTo>
                  <a:pt x="72" y="0"/>
                </a:lnTo>
                <a:lnTo>
                  <a:pt x="76" y="3"/>
                </a:lnTo>
                <a:lnTo>
                  <a:pt x="80" y="10"/>
                </a:lnTo>
                <a:lnTo>
                  <a:pt x="84" y="18"/>
                </a:lnTo>
                <a:lnTo>
                  <a:pt x="88" y="22"/>
                </a:lnTo>
                <a:lnTo>
                  <a:pt x="92" y="20"/>
                </a:lnTo>
                <a:lnTo>
                  <a:pt x="96" y="14"/>
                </a:lnTo>
                <a:lnTo>
                  <a:pt x="100" y="7"/>
                </a:lnTo>
                <a:lnTo>
                  <a:pt x="104" y="3"/>
                </a:lnTo>
                <a:lnTo>
                  <a:pt x="108" y="3"/>
                </a:lnTo>
                <a:lnTo>
                  <a:pt x="112" y="8"/>
                </a:lnTo>
                <a:lnTo>
                  <a:pt x="116" y="14"/>
                </a:lnTo>
                <a:lnTo>
                  <a:pt x="120" y="18"/>
                </a:lnTo>
                <a:lnTo>
                  <a:pt x="124" y="18"/>
                </a:lnTo>
                <a:lnTo>
                  <a:pt x="128" y="15"/>
                </a:lnTo>
                <a:lnTo>
                  <a:pt x="132" y="11"/>
                </a:lnTo>
                <a:lnTo>
                  <a:pt x="136" y="8"/>
                </a:lnTo>
                <a:lnTo>
                  <a:pt x="140" y="8"/>
                </a:lnTo>
                <a:lnTo>
                  <a:pt x="144" y="8"/>
                </a:lnTo>
                <a:lnTo>
                  <a:pt x="148" y="12"/>
                </a:lnTo>
                <a:lnTo>
                  <a:pt x="152" y="16"/>
                </a:lnTo>
                <a:lnTo>
                  <a:pt x="156" y="18"/>
                </a:lnTo>
                <a:lnTo>
                  <a:pt x="160" y="17"/>
                </a:lnTo>
                <a:lnTo>
                  <a:pt x="164" y="12"/>
                </a:lnTo>
                <a:lnTo>
                  <a:pt x="168" y="7"/>
                </a:lnTo>
                <a:lnTo>
                  <a:pt x="172" y="3"/>
                </a:lnTo>
                <a:lnTo>
                  <a:pt x="176" y="4"/>
                </a:lnTo>
                <a:lnTo>
                  <a:pt x="180" y="9"/>
                </a:lnTo>
                <a:lnTo>
                  <a:pt x="184" y="16"/>
                </a:lnTo>
                <a:lnTo>
                  <a:pt x="188" y="21"/>
                </a:lnTo>
                <a:lnTo>
                  <a:pt x="192" y="21"/>
                </a:lnTo>
                <a:lnTo>
                  <a:pt x="196" y="16"/>
                </a:lnTo>
                <a:lnTo>
                  <a:pt x="200" y="8"/>
                </a:lnTo>
                <a:lnTo>
                  <a:pt x="204" y="1"/>
                </a:lnTo>
                <a:lnTo>
                  <a:pt x="208" y="0"/>
                </a:lnTo>
                <a:lnTo>
                  <a:pt x="212" y="5"/>
                </a:lnTo>
                <a:lnTo>
                  <a:pt x="216" y="14"/>
                </a:lnTo>
                <a:lnTo>
                  <a:pt x="220" y="21"/>
                </a:lnTo>
                <a:lnTo>
                  <a:pt x="224" y="23"/>
                </a:lnTo>
                <a:lnTo>
                  <a:pt x="228" y="19"/>
                </a:lnTo>
                <a:lnTo>
                  <a:pt x="232" y="11"/>
                </a:lnTo>
                <a:lnTo>
                  <a:pt x="236" y="4"/>
                </a:lnTo>
                <a:lnTo>
                  <a:pt x="240" y="2"/>
                </a:lnTo>
                <a:lnTo>
                  <a:pt x="244" y="4"/>
                </a:lnTo>
                <a:lnTo>
                  <a:pt x="248" y="10"/>
                </a:lnTo>
                <a:lnTo>
                  <a:pt x="252" y="16"/>
                </a:lnTo>
                <a:lnTo>
                  <a:pt x="256" y="19"/>
                </a:lnTo>
                <a:lnTo>
                  <a:pt x="260" y="18"/>
                </a:lnTo>
                <a:lnTo>
                  <a:pt x="264" y="13"/>
                </a:lnTo>
                <a:lnTo>
                  <a:pt x="268" y="9"/>
                </a:lnTo>
                <a:lnTo>
                  <a:pt x="272" y="6"/>
                </a:lnTo>
                <a:lnTo>
                  <a:pt x="276" y="7"/>
                </a:lnTo>
                <a:lnTo>
                  <a:pt x="280" y="10"/>
                </a:lnTo>
                <a:lnTo>
                  <a:pt x="284" y="13"/>
                </a:lnTo>
                <a:lnTo>
                  <a:pt x="288" y="16"/>
                </a:lnTo>
                <a:lnTo>
                  <a:pt x="292" y="17"/>
                </a:lnTo>
                <a:lnTo>
                  <a:pt x="296" y="15"/>
                </a:lnTo>
                <a:lnTo>
                  <a:pt x="300" y="10"/>
                </a:lnTo>
                <a:lnTo>
                  <a:pt x="304" y="5"/>
                </a:lnTo>
                <a:lnTo>
                  <a:pt x="308" y="3"/>
                </a:lnTo>
                <a:lnTo>
                  <a:pt x="312" y="6"/>
                </a:lnTo>
                <a:lnTo>
                  <a:pt x="316" y="12"/>
                </a:lnTo>
                <a:lnTo>
                  <a:pt x="320" y="18"/>
                </a:lnTo>
                <a:lnTo>
                  <a:pt x="324" y="22"/>
                </a:lnTo>
                <a:lnTo>
                  <a:pt x="328" y="20"/>
                </a:lnTo>
                <a:lnTo>
                  <a:pt x="332" y="13"/>
                </a:lnTo>
                <a:lnTo>
                  <a:pt x="336" y="5"/>
                </a:lnTo>
              </a:path>
            </a:pathLst>
          </a:custGeom>
          <a:noFill/>
          <a:ln w="9080">
            <a:solidFill>
              <a:srgbClr val="EB6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029449" y="622299"/>
            <a:ext cx="66674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Region 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673849" y="755649"/>
            <a:ext cx="2165349" cy="273049"/>
          </a:xfrm>
          <a:prstGeom prst="rect">
            <a:avLst/>
          </a:prstGeom>
          <a:solidFill>
            <a:srgbClr val="FFFFFF"/>
          </a:solidFill>
          <a:ln w="6985">
            <a:solidFill>
              <a:srgbClr val="C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6699249" y="819150"/>
            <a:ext cx="2114550" cy="146050"/>
          </a:xfrm>
          <a:custGeom>
            <a:avLst/>
            <a:gdLst/>
            <a:ahLst/>
            <a:cxnLst/>
            <a:rect l="l" t="t" r="r" b="b"/>
            <a:pathLst>
              <a:path w="333" h="23">
                <a:moveTo>
                  <a:pt x="0" y="9"/>
                </a:moveTo>
                <a:lnTo>
                  <a:pt x="4" y="7"/>
                </a:lnTo>
                <a:lnTo>
                  <a:pt x="8" y="7"/>
                </a:lnTo>
                <a:lnTo>
                  <a:pt x="12" y="10"/>
                </a:lnTo>
                <a:lnTo>
                  <a:pt x="16" y="15"/>
                </a:lnTo>
                <a:lnTo>
                  <a:pt x="20" y="18"/>
                </a:lnTo>
                <a:lnTo>
                  <a:pt x="24" y="19"/>
                </a:lnTo>
                <a:lnTo>
                  <a:pt x="28" y="14"/>
                </a:lnTo>
                <a:lnTo>
                  <a:pt x="32" y="8"/>
                </a:lnTo>
                <a:lnTo>
                  <a:pt x="36" y="3"/>
                </a:lnTo>
                <a:lnTo>
                  <a:pt x="40" y="2"/>
                </a:lnTo>
                <a:lnTo>
                  <a:pt x="44" y="7"/>
                </a:lnTo>
                <a:lnTo>
                  <a:pt x="48" y="15"/>
                </a:lnTo>
                <a:lnTo>
                  <a:pt x="52" y="21"/>
                </a:lnTo>
                <a:lnTo>
                  <a:pt x="56" y="22"/>
                </a:lnTo>
                <a:lnTo>
                  <a:pt x="60" y="18"/>
                </a:lnTo>
                <a:lnTo>
                  <a:pt x="64" y="10"/>
                </a:lnTo>
                <a:lnTo>
                  <a:pt x="68" y="2"/>
                </a:lnTo>
                <a:lnTo>
                  <a:pt x="72" y="0"/>
                </a:lnTo>
                <a:lnTo>
                  <a:pt x="76" y="4"/>
                </a:lnTo>
                <a:lnTo>
                  <a:pt x="80" y="12"/>
                </a:lnTo>
                <a:lnTo>
                  <a:pt x="84" y="20"/>
                </a:lnTo>
                <a:lnTo>
                  <a:pt x="88" y="22"/>
                </a:lnTo>
                <a:lnTo>
                  <a:pt x="92" y="19"/>
                </a:lnTo>
                <a:lnTo>
                  <a:pt x="96" y="12"/>
                </a:lnTo>
                <a:lnTo>
                  <a:pt x="100" y="5"/>
                </a:lnTo>
                <a:lnTo>
                  <a:pt x="104" y="2"/>
                </a:lnTo>
                <a:lnTo>
                  <a:pt x="108" y="5"/>
                </a:lnTo>
                <a:lnTo>
                  <a:pt x="112" y="10"/>
                </a:lnTo>
                <a:lnTo>
                  <a:pt x="116" y="16"/>
                </a:lnTo>
                <a:lnTo>
                  <a:pt x="120" y="18"/>
                </a:lnTo>
                <a:lnTo>
                  <a:pt x="124" y="17"/>
                </a:lnTo>
                <a:lnTo>
                  <a:pt x="128" y="13"/>
                </a:lnTo>
                <a:lnTo>
                  <a:pt x="132" y="9"/>
                </a:lnTo>
                <a:lnTo>
                  <a:pt x="136" y="7"/>
                </a:lnTo>
                <a:lnTo>
                  <a:pt x="140" y="8"/>
                </a:lnTo>
                <a:lnTo>
                  <a:pt x="144" y="10"/>
                </a:lnTo>
                <a:lnTo>
                  <a:pt x="148" y="14"/>
                </a:lnTo>
                <a:lnTo>
                  <a:pt x="152" y="17"/>
                </a:lnTo>
                <a:lnTo>
                  <a:pt x="156" y="18"/>
                </a:lnTo>
                <a:lnTo>
                  <a:pt x="160" y="15"/>
                </a:lnTo>
                <a:lnTo>
                  <a:pt x="164" y="9"/>
                </a:lnTo>
                <a:lnTo>
                  <a:pt x="169" y="4"/>
                </a:lnTo>
                <a:lnTo>
                  <a:pt x="173" y="3"/>
                </a:lnTo>
                <a:lnTo>
                  <a:pt x="177" y="6"/>
                </a:lnTo>
                <a:lnTo>
                  <a:pt x="181" y="13"/>
                </a:lnTo>
                <a:lnTo>
                  <a:pt x="185" y="20"/>
                </a:lnTo>
                <a:lnTo>
                  <a:pt x="189" y="22"/>
                </a:lnTo>
                <a:lnTo>
                  <a:pt x="193" y="19"/>
                </a:lnTo>
                <a:lnTo>
                  <a:pt x="197" y="11"/>
                </a:lnTo>
                <a:lnTo>
                  <a:pt x="201" y="4"/>
                </a:lnTo>
                <a:lnTo>
                  <a:pt x="205" y="0"/>
                </a:lnTo>
                <a:lnTo>
                  <a:pt x="209" y="3"/>
                </a:lnTo>
                <a:lnTo>
                  <a:pt x="213" y="10"/>
                </a:lnTo>
                <a:lnTo>
                  <a:pt x="217" y="18"/>
                </a:lnTo>
                <a:lnTo>
                  <a:pt x="221" y="23"/>
                </a:lnTo>
                <a:lnTo>
                  <a:pt x="225" y="20"/>
                </a:lnTo>
                <a:lnTo>
                  <a:pt x="229" y="14"/>
                </a:lnTo>
                <a:lnTo>
                  <a:pt x="233" y="6"/>
                </a:lnTo>
                <a:lnTo>
                  <a:pt x="237" y="2"/>
                </a:lnTo>
                <a:lnTo>
                  <a:pt x="241" y="3"/>
                </a:lnTo>
                <a:lnTo>
                  <a:pt x="245" y="9"/>
                </a:lnTo>
                <a:lnTo>
                  <a:pt x="249" y="15"/>
                </a:lnTo>
                <a:lnTo>
                  <a:pt x="253" y="19"/>
                </a:lnTo>
                <a:lnTo>
                  <a:pt x="257" y="18"/>
                </a:lnTo>
                <a:lnTo>
                  <a:pt x="261" y="14"/>
                </a:lnTo>
                <a:lnTo>
                  <a:pt x="265" y="10"/>
                </a:lnTo>
                <a:lnTo>
                  <a:pt x="269" y="7"/>
                </a:lnTo>
                <a:lnTo>
                  <a:pt x="273" y="7"/>
                </a:lnTo>
                <a:lnTo>
                  <a:pt x="277" y="9"/>
                </a:lnTo>
                <a:lnTo>
                  <a:pt x="281" y="12"/>
                </a:lnTo>
                <a:lnTo>
                  <a:pt x="285" y="16"/>
                </a:lnTo>
                <a:lnTo>
                  <a:pt x="289" y="17"/>
                </a:lnTo>
                <a:lnTo>
                  <a:pt x="293" y="16"/>
                </a:lnTo>
                <a:lnTo>
                  <a:pt x="297" y="11"/>
                </a:lnTo>
                <a:lnTo>
                  <a:pt x="301" y="6"/>
                </a:lnTo>
                <a:lnTo>
                  <a:pt x="305" y="3"/>
                </a:lnTo>
                <a:lnTo>
                  <a:pt x="309" y="5"/>
                </a:lnTo>
                <a:lnTo>
                  <a:pt x="313" y="11"/>
                </a:lnTo>
                <a:lnTo>
                  <a:pt x="317" y="18"/>
                </a:lnTo>
                <a:lnTo>
                  <a:pt x="321" y="22"/>
                </a:lnTo>
                <a:lnTo>
                  <a:pt x="325" y="20"/>
                </a:lnTo>
                <a:lnTo>
                  <a:pt x="329" y="13"/>
                </a:lnTo>
                <a:lnTo>
                  <a:pt x="333" y="5"/>
                </a:lnTo>
              </a:path>
            </a:pathLst>
          </a:custGeom>
          <a:noFill/>
          <a:ln w="9080">
            <a:solidFill>
              <a:srgbClr val="5A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64399" y="800099"/>
            <a:ext cx="66674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Region 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076949" y="546099"/>
            <a:ext cx="241299" cy="507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9D9D9D"/>
                </a:solidFill>
                <a:latin typeface="DejaVu Sans"/>
              </a:rPr>
              <a:t>↶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242049" y="1187449"/>
            <a:ext cx="209549" cy="1714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DejaVu Sans"/>
              </a:rPr>
              <a:t>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42049" y="1377949"/>
            <a:ext cx="209549" cy="1714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DejaVu Sans"/>
              </a:rPr>
              <a:t>⚭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254749" y="1568449"/>
            <a:ext cx="190499" cy="139699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254749" y="1568449"/>
            <a:ext cx="1904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50" b="0" i="0">
                <a:solidFill>
                  <a:srgbClr val="1E3245"/>
                </a:solidFill>
                <a:latin typeface="Times New Roman"/>
              </a:rPr>
              <a:t>WED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242049" y="1714499"/>
            <a:ext cx="209549" cy="1714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DejaVu Sans"/>
              </a:rPr>
              <a:t>⌖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21449" y="1130299"/>
            <a:ext cx="6222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Times New Roman"/>
              </a:rPr>
              <a:t>min-of-hour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521449" y="1263649"/>
            <a:ext cx="6222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Times New Roman"/>
              </a:rPr>
              <a:t>hour-of-day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521449" y="1396999"/>
            <a:ext cx="6222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Times New Roman"/>
              </a:rPr>
              <a:t>day-of-week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521449" y="1530349"/>
            <a:ext cx="6222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Times New Roman"/>
              </a:rPr>
              <a:t>day-of-month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521449" y="1663699"/>
            <a:ext cx="6222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11111"/>
                </a:solidFill>
                <a:latin typeface="Times New Roman"/>
              </a:rPr>
              <a:t>coordinate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169149" y="1149349"/>
            <a:ext cx="114299" cy="133349"/>
          </a:xfrm>
          <a:prstGeom prst="rect">
            <a:avLst/>
          </a:prstGeom>
          <a:solidFill>
            <a:srgbClr val="6F8498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283449" y="114934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397749" y="1149349"/>
            <a:ext cx="114299" cy="133349"/>
          </a:xfrm>
          <a:prstGeom prst="rect">
            <a:avLst/>
          </a:prstGeom>
          <a:solidFill>
            <a:srgbClr val="6F8498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512049" y="114934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626349" y="114934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169149" y="128269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283449" y="1282699"/>
            <a:ext cx="114299" cy="133349"/>
          </a:xfrm>
          <a:prstGeom prst="rect">
            <a:avLst/>
          </a:prstGeom>
          <a:solidFill>
            <a:srgbClr val="6F8498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397749" y="128269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512049" y="1282699"/>
            <a:ext cx="114299" cy="133349"/>
          </a:xfrm>
          <a:prstGeom prst="rect">
            <a:avLst/>
          </a:prstGeom>
          <a:solidFill>
            <a:srgbClr val="6F8498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626349" y="128269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169149" y="1416049"/>
            <a:ext cx="114299" cy="133349"/>
          </a:xfrm>
          <a:prstGeom prst="rect">
            <a:avLst/>
          </a:prstGeom>
          <a:solidFill>
            <a:srgbClr val="6F8498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283449" y="141604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397749" y="141604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512049" y="1416049"/>
            <a:ext cx="114299" cy="133349"/>
          </a:xfrm>
          <a:prstGeom prst="rect">
            <a:avLst/>
          </a:prstGeom>
          <a:solidFill>
            <a:srgbClr val="6F8498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626349" y="1416049"/>
            <a:ext cx="114299" cy="133349"/>
          </a:xfrm>
          <a:prstGeom prst="rect">
            <a:avLst/>
          </a:prstGeom>
          <a:solidFill>
            <a:srgbClr val="6F8498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169149" y="154939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283449" y="154939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397749" y="1549399"/>
            <a:ext cx="114299" cy="133349"/>
          </a:xfrm>
          <a:prstGeom prst="rect">
            <a:avLst/>
          </a:prstGeom>
          <a:solidFill>
            <a:srgbClr val="6F8498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512049" y="154939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626349" y="1549399"/>
            <a:ext cx="114299" cy="133349"/>
          </a:xfrm>
          <a:prstGeom prst="rect">
            <a:avLst/>
          </a:prstGeom>
          <a:solidFill>
            <a:srgbClr val="6F8498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169149" y="1682749"/>
            <a:ext cx="114299" cy="133349"/>
          </a:xfrm>
          <a:prstGeom prst="rect">
            <a:avLst/>
          </a:prstGeom>
          <a:solidFill>
            <a:srgbClr val="6F8498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283449" y="1682749"/>
            <a:ext cx="114299" cy="133349"/>
          </a:xfrm>
          <a:prstGeom prst="rect">
            <a:avLst/>
          </a:prstGeom>
          <a:solidFill>
            <a:srgbClr val="6F8498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397749" y="168274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512049" y="168274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626349" y="1682749"/>
            <a:ext cx="114299" cy="133349"/>
          </a:xfrm>
          <a:prstGeom prst="rect">
            <a:avLst/>
          </a:prstGeom>
          <a:solidFill>
            <a:srgbClr val="E5E5E5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797799" y="1168399"/>
            <a:ext cx="222249" cy="285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Times New Roman"/>
              </a:rPr>
              <a:t>E꜀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797799" y="1498599"/>
            <a:ext cx="222249" cy="285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11111"/>
                </a:solidFill>
                <a:latin typeface="Times New Roman"/>
              </a:rPr>
              <a:t>Eₙ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026399" y="1181099"/>
            <a:ext cx="609599" cy="228599"/>
          </a:xfrm>
          <a:prstGeom prst="roundRect">
            <a:avLst/>
          </a:prstGeom>
          <a:solidFill>
            <a:srgbClr val="FFD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026399" y="1181099"/>
            <a:ext cx="609599" cy="228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E3245"/>
                </a:solidFill>
                <a:latin typeface="Times New Roman"/>
              </a:rPr>
              <a:t>Linear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026399" y="1517649"/>
            <a:ext cx="609599" cy="228599"/>
          </a:xfrm>
          <a:prstGeom prst="roundRect">
            <a:avLst/>
          </a:prstGeom>
          <a:solidFill>
            <a:srgbClr val="FFD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026399" y="1517649"/>
            <a:ext cx="609599" cy="228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E3245"/>
                </a:solidFill>
                <a:latin typeface="Times New Roman"/>
              </a:rPr>
              <a:t>Linear</a:t>
            </a:r>
          </a:p>
        </p:txBody>
      </p:sp>
      <p:sp>
        <p:nvSpPr>
          <p:cNvPr id="174" name="Freeform 173"/>
          <p:cNvSpPr/>
          <p:nvPr/>
        </p:nvSpPr>
        <p:spPr>
          <a:xfrm>
            <a:off x="8458199" y="1238250"/>
            <a:ext cx="107950" cy="133350"/>
          </a:xfrm>
          <a:custGeom>
            <a:avLst/>
            <a:gdLst/>
            <a:ahLst/>
            <a:cxnLst/>
            <a:rect l="l" t="t" r="r" b="b"/>
            <a:pathLst>
              <a:path w="17" h="21">
                <a:moveTo>
                  <a:pt x="9" y="0"/>
                </a:moveTo>
                <a:lnTo>
                  <a:pt x="14" y="7"/>
                </a:lnTo>
                <a:lnTo>
                  <a:pt x="13" y="11"/>
                </a:lnTo>
                <a:lnTo>
                  <a:pt x="17" y="10"/>
                </a:lnTo>
                <a:lnTo>
                  <a:pt x="16" y="16"/>
                </a:lnTo>
                <a:lnTo>
                  <a:pt x="12" y="21"/>
                </a:lnTo>
                <a:lnTo>
                  <a:pt x="5" y="20"/>
                </a:lnTo>
                <a:lnTo>
                  <a:pt x="0" y="15"/>
                </a:lnTo>
                <a:lnTo>
                  <a:pt x="2" y="8"/>
                </a:lnTo>
                <a:lnTo>
                  <a:pt x="6" y="11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8496299" y="1282700"/>
            <a:ext cx="38100" cy="6985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3" y="0"/>
                </a:moveTo>
                <a:lnTo>
                  <a:pt x="6" y="6"/>
                </a:lnTo>
                <a:lnTo>
                  <a:pt x="4" y="11"/>
                </a:lnTo>
                <a:lnTo>
                  <a:pt x="0" y="9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8458199" y="1574800"/>
            <a:ext cx="107950" cy="133350"/>
          </a:xfrm>
          <a:custGeom>
            <a:avLst/>
            <a:gdLst/>
            <a:ahLst/>
            <a:cxnLst/>
            <a:rect l="l" t="t" r="r" b="b"/>
            <a:pathLst>
              <a:path w="17" h="21">
                <a:moveTo>
                  <a:pt x="9" y="0"/>
                </a:moveTo>
                <a:lnTo>
                  <a:pt x="14" y="7"/>
                </a:lnTo>
                <a:lnTo>
                  <a:pt x="13" y="11"/>
                </a:lnTo>
                <a:lnTo>
                  <a:pt x="17" y="10"/>
                </a:lnTo>
                <a:lnTo>
                  <a:pt x="16" y="16"/>
                </a:lnTo>
                <a:lnTo>
                  <a:pt x="12" y="21"/>
                </a:lnTo>
                <a:lnTo>
                  <a:pt x="5" y="20"/>
                </a:lnTo>
                <a:lnTo>
                  <a:pt x="0" y="15"/>
                </a:lnTo>
                <a:lnTo>
                  <a:pt x="2" y="8"/>
                </a:lnTo>
                <a:lnTo>
                  <a:pt x="6" y="11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8496299" y="1619250"/>
            <a:ext cx="38100" cy="6985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3" y="0"/>
                </a:moveTo>
                <a:lnTo>
                  <a:pt x="6" y="6"/>
                </a:lnTo>
                <a:lnTo>
                  <a:pt x="4" y="11"/>
                </a:lnTo>
                <a:lnTo>
                  <a:pt x="0" y="9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>
            <a:off x="7740649" y="1339849"/>
            <a:ext cx="26670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Freeform 178"/>
          <p:cNvSpPr/>
          <p:nvPr/>
        </p:nvSpPr>
        <p:spPr>
          <a:xfrm>
            <a:off x="7981949" y="13208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7740649" y="1670049"/>
            <a:ext cx="26670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reeform 180"/>
          <p:cNvSpPr/>
          <p:nvPr/>
        </p:nvSpPr>
        <p:spPr>
          <a:xfrm>
            <a:off x="7981949" y="16510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743949" y="1301749"/>
            <a:ext cx="222249" cy="393699"/>
          </a:xfrm>
          <a:prstGeom prst="rect">
            <a:avLst/>
          </a:prstGeom>
          <a:solidFill>
            <a:srgbClr val="FFFFFF"/>
          </a:solidFill>
          <a:ln w="698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756649" y="1314449"/>
            <a:ext cx="196849" cy="368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11111"/>
                </a:solidFill>
                <a:latin typeface="DejaVu Sans"/>
              </a:rPr>
              <a:t>concat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8635999" y="1301749"/>
            <a:ext cx="1079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Freeform 184"/>
          <p:cNvSpPr/>
          <p:nvPr/>
        </p:nvSpPr>
        <p:spPr>
          <a:xfrm>
            <a:off x="8718549" y="1282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6" name="Connector 185"/>
          <p:cNvCxnSpPr/>
          <p:nvPr/>
        </p:nvCxnSpPr>
        <p:spPr>
          <a:xfrm>
            <a:off x="8635999" y="1631949"/>
            <a:ext cx="1079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Freeform 186"/>
          <p:cNvSpPr/>
          <p:nvPr/>
        </p:nvSpPr>
        <p:spPr>
          <a:xfrm>
            <a:off x="8718549" y="16129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>
            <a:off x="8966199" y="1473199"/>
            <a:ext cx="2476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Freeform 188"/>
          <p:cNvSpPr/>
          <p:nvPr/>
        </p:nvSpPr>
        <p:spPr>
          <a:xfrm>
            <a:off x="9188449" y="145415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972549" y="1263649"/>
            <a:ext cx="26669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Times New Roman"/>
              </a:rPr>
              <a:t>Hₛₜ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762999" y="488949"/>
            <a:ext cx="62864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Times New Roman"/>
              </a:rPr>
              <a:t>Norm &amp;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762999" y="692149"/>
            <a:ext cx="62864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Times New Roman"/>
              </a:rPr>
              <a:t>Patchify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8693149" y="679449"/>
            <a:ext cx="7556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Freeform 193"/>
          <p:cNvSpPr/>
          <p:nvPr/>
        </p:nvSpPr>
        <p:spPr>
          <a:xfrm>
            <a:off x="9423399" y="6604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9493249" y="457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74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9728199" y="457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2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74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9963149" y="457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74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0198099" y="457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2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74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10433049" y="457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74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0667999" y="457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2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74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0902949" y="457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74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9493249" y="6477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EB6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9728199" y="6477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2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EB6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9963149" y="6477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EB6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0198099" y="6477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2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EB6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10433049" y="6477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EB6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10667999" y="6477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2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EB6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0902949" y="6477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EB6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9493249" y="838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6D9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9728199" y="838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2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6D9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9963149" y="838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6D9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0198099" y="838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2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6D9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10433049" y="838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6D9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10667999" y="838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2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6D9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10902949" y="838200"/>
            <a:ext cx="158750" cy="95250"/>
          </a:xfrm>
          <a:custGeom>
            <a:avLst/>
            <a:gdLst/>
            <a:ahLst/>
            <a:cxnLst/>
            <a:rect l="l" t="t" r="r" b="b"/>
            <a:pathLst>
              <a:path w="25" h="15">
                <a:moveTo>
                  <a:pt x="0" y="2"/>
                </a:moveTo>
                <a:lnTo>
                  <a:pt x="1" y="4"/>
                </a:lnTo>
                <a:lnTo>
                  <a:pt x="2" y="3"/>
                </a:lnTo>
                <a:lnTo>
                  <a:pt x="3" y="8"/>
                </a:lnTo>
                <a:lnTo>
                  <a:pt x="4" y="14"/>
                </a:lnTo>
                <a:lnTo>
                  <a:pt x="5" y="11"/>
                </a:lnTo>
                <a:lnTo>
                  <a:pt x="6" y="10"/>
                </a:lnTo>
                <a:lnTo>
                  <a:pt x="7" y="7"/>
                </a:lnTo>
                <a:lnTo>
                  <a:pt x="8" y="0"/>
                </a:lnTo>
                <a:lnTo>
                  <a:pt x="9" y="4"/>
                </a:lnTo>
                <a:lnTo>
                  <a:pt x="10" y="7"/>
                </a:lnTo>
                <a:lnTo>
                  <a:pt x="11" y="8"/>
                </a:lnTo>
                <a:lnTo>
                  <a:pt x="13" y="15"/>
                </a:lnTo>
                <a:lnTo>
                  <a:pt x="14" y="11"/>
                </a:lnTo>
                <a:lnTo>
                  <a:pt x="15" y="6"/>
                </a:lnTo>
                <a:lnTo>
                  <a:pt x="16" y="6"/>
                </a:lnTo>
                <a:lnTo>
                  <a:pt x="17" y="1"/>
                </a:lnTo>
                <a:lnTo>
                  <a:pt x="18" y="3"/>
                </a:lnTo>
                <a:lnTo>
                  <a:pt x="19" y="11"/>
                </a:lnTo>
                <a:lnTo>
                  <a:pt x="20" y="10"/>
                </a:lnTo>
                <a:lnTo>
                  <a:pt x="21" y="13"/>
                </a:lnTo>
                <a:lnTo>
                  <a:pt x="22" y="12"/>
                </a:lnTo>
                <a:lnTo>
                  <a:pt x="23" y="3"/>
                </a:lnTo>
                <a:lnTo>
                  <a:pt x="24" y="3"/>
                </a:lnTo>
                <a:lnTo>
                  <a:pt x="25" y="4"/>
                </a:lnTo>
              </a:path>
            </a:pathLst>
          </a:custGeom>
          <a:noFill/>
          <a:ln w="6985">
            <a:solidFill>
              <a:srgbClr val="6D9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11087099" y="685799"/>
            <a:ext cx="27940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Freeform 216"/>
          <p:cNvSpPr/>
          <p:nvPr/>
        </p:nvSpPr>
        <p:spPr>
          <a:xfrm>
            <a:off x="11341099" y="66675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11372849" y="450849"/>
            <a:ext cx="279399" cy="488949"/>
          </a:xfrm>
          <a:prstGeom prst="roundRect">
            <a:avLst/>
          </a:prstGeom>
          <a:solidFill>
            <a:srgbClr val="FFC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1372849" y="450849"/>
            <a:ext cx="279399" cy="4889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E3245"/>
                </a:solidFill>
                <a:latin typeface="Times New Roman"/>
              </a:rPr>
              <a:t>Linear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1531599" y="857249"/>
            <a:ext cx="120649" cy="120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2F91DD"/>
                </a:solidFill>
                <a:latin typeface="DejaVu Sans"/>
              </a:rPr>
              <a:t>❄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1715749" y="527049"/>
            <a:ext cx="247649" cy="177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Times New Roman"/>
              </a:rPr>
              <a:t>Hₜ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9226549" y="1085849"/>
            <a:ext cx="2393949" cy="755649"/>
          </a:xfrm>
          <a:prstGeom prst="rect">
            <a:avLst/>
          </a:prstGeom>
          <a:solidFill>
            <a:srgbClr val="FFFDFB"/>
          </a:solidFill>
          <a:ln w="6985">
            <a:solidFill>
              <a:srgbClr val="DEDED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251949" y="11302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77349" y="11556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290049" y="1168399"/>
            <a:ext cx="44449" cy="55033"/>
          </a:xfrm>
          <a:prstGeom prst="rect">
            <a:avLst/>
          </a:prstGeom>
          <a:solidFill>
            <a:srgbClr val="C486C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290049" y="1236133"/>
            <a:ext cx="44449" cy="55033"/>
          </a:xfrm>
          <a:prstGeom prst="rect">
            <a:avLst/>
          </a:prstGeom>
          <a:solidFill>
            <a:srgbClr val="E7959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290049" y="1303866"/>
            <a:ext cx="44449" cy="55033"/>
          </a:xfrm>
          <a:prstGeom prst="rect">
            <a:avLst/>
          </a:prstGeom>
          <a:solidFill>
            <a:srgbClr val="8AA7C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74199" y="11302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99599" y="11556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512299" y="1168399"/>
            <a:ext cx="44449" cy="55033"/>
          </a:xfrm>
          <a:prstGeom prst="rect">
            <a:avLst/>
          </a:prstGeom>
          <a:solidFill>
            <a:srgbClr val="BC84C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512299" y="1236133"/>
            <a:ext cx="44449" cy="55033"/>
          </a:xfrm>
          <a:prstGeom prst="rect">
            <a:avLst/>
          </a:prstGeom>
          <a:solidFill>
            <a:srgbClr val="EDA1A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512299" y="1303866"/>
            <a:ext cx="44449" cy="55033"/>
          </a:xfrm>
          <a:prstGeom prst="rect">
            <a:avLst/>
          </a:prstGeom>
          <a:solidFill>
            <a:srgbClr val="8CA6C3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696449" y="11302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721849" y="11556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734549" y="1168399"/>
            <a:ext cx="44449" cy="55033"/>
          </a:xfrm>
          <a:prstGeom prst="rect">
            <a:avLst/>
          </a:prstGeom>
          <a:solidFill>
            <a:srgbClr val="C486C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734549" y="1236133"/>
            <a:ext cx="44449" cy="55033"/>
          </a:xfrm>
          <a:prstGeom prst="rect">
            <a:avLst/>
          </a:prstGeom>
          <a:solidFill>
            <a:srgbClr val="E7959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734549" y="1303866"/>
            <a:ext cx="44449" cy="55033"/>
          </a:xfrm>
          <a:prstGeom prst="rect">
            <a:avLst/>
          </a:prstGeom>
          <a:solidFill>
            <a:srgbClr val="8AA7C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918699" y="11302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944099" y="11556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956799" y="1168399"/>
            <a:ext cx="44449" cy="55033"/>
          </a:xfrm>
          <a:prstGeom prst="rect">
            <a:avLst/>
          </a:prstGeom>
          <a:solidFill>
            <a:srgbClr val="BC84C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956799" y="1236133"/>
            <a:ext cx="44449" cy="55033"/>
          </a:xfrm>
          <a:prstGeom prst="rect">
            <a:avLst/>
          </a:prstGeom>
          <a:solidFill>
            <a:srgbClr val="EDA1A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956799" y="1303866"/>
            <a:ext cx="44449" cy="55033"/>
          </a:xfrm>
          <a:prstGeom prst="rect">
            <a:avLst/>
          </a:prstGeom>
          <a:solidFill>
            <a:srgbClr val="8CA6C3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140949" y="11302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0166349" y="11556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0179049" y="1168399"/>
            <a:ext cx="44449" cy="55033"/>
          </a:xfrm>
          <a:prstGeom prst="rect">
            <a:avLst/>
          </a:prstGeom>
          <a:solidFill>
            <a:srgbClr val="C486C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0179049" y="1236133"/>
            <a:ext cx="44449" cy="55033"/>
          </a:xfrm>
          <a:prstGeom prst="rect">
            <a:avLst/>
          </a:prstGeom>
          <a:solidFill>
            <a:srgbClr val="E7959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179049" y="1303866"/>
            <a:ext cx="44449" cy="55033"/>
          </a:xfrm>
          <a:prstGeom prst="rect">
            <a:avLst/>
          </a:prstGeom>
          <a:solidFill>
            <a:srgbClr val="8AA7C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363199" y="11302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388599" y="11556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0401299" y="1168399"/>
            <a:ext cx="44449" cy="55033"/>
          </a:xfrm>
          <a:prstGeom prst="rect">
            <a:avLst/>
          </a:prstGeom>
          <a:solidFill>
            <a:srgbClr val="BC84C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0401299" y="1236133"/>
            <a:ext cx="44449" cy="55033"/>
          </a:xfrm>
          <a:prstGeom prst="rect">
            <a:avLst/>
          </a:prstGeom>
          <a:solidFill>
            <a:srgbClr val="EDA1A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401299" y="1303866"/>
            <a:ext cx="44449" cy="55033"/>
          </a:xfrm>
          <a:prstGeom prst="rect">
            <a:avLst/>
          </a:prstGeom>
          <a:solidFill>
            <a:srgbClr val="8CA6C3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0585449" y="11302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0610849" y="11556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0623549" y="1168399"/>
            <a:ext cx="44449" cy="55033"/>
          </a:xfrm>
          <a:prstGeom prst="rect">
            <a:avLst/>
          </a:prstGeom>
          <a:solidFill>
            <a:srgbClr val="C486C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0623549" y="1236133"/>
            <a:ext cx="44449" cy="55033"/>
          </a:xfrm>
          <a:prstGeom prst="rect">
            <a:avLst/>
          </a:prstGeom>
          <a:solidFill>
            <a:srgbClr val="E7959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0623549" y="1303866"/>
            <a:ext cx="44449" cy="55033"/>
          </a:xfrm>
          <a:prstGeom prst="rect">
            <a:avLst/>
          </a:prstGeom>
          <a:solidFill>
            <a:srgbClr val="8AA7C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807699" y="11302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0833099" y="11556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845799" y="1168399"/>
            <a:ext cx="44449" cy="55033"/>
          </a:xfrm>
          <a:prstGeom prst="rect">
            <a:avLst/>
          </a:prstGeom>
          <a:solidFill>
            <a:srgbClr val="BC84C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0845799" y="1236133"/>
            <a:ext cx="44449" cy="55033"/>
          </a:xfrm>
          <a:prstGeom prst="rect">
            <a:avLst/>
          </a:prstGeom>
          <a:solidFill>
            <a:srgbClr val="EDA1A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0845799" y="1303866"/>
            <a:ext cx="44449" cy="55033"/>
          </a:xfrm>
          <a:prstGeom prst="rect">
            <a:avLst/>
          </a:prstGeom>
          <a:solidFill>
            <a:srgbClr val="8CA6C3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1029949" y="11302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1055349" y="11556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1068049" y="1168399"/>
            <a:ext cx="44449" cy="55033"/>
          </a:xfrm>
          <a:prstGeom prst="rect">
            <a:avLst/>
          </a:prstGeom>
          <a:solidFill>
            <a:srgbClr val="C486C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1068049" y="1236133"/>
            <a:ext cx="44449" cy="55033"/>
          </a:xfrm>
          <a:prstGeom prst="rect">
            <a:avLst/>
          </a:prstGeom>
          <a:solidFill>
            <a:srgbClr val="E7959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1068049" y="1303866"/>
            <a:ext cx="44449" cy="55033"/>
          </a:xfrm>
          <a:prstGeom prst="rect">
            <a:avLst/>
          </a:prstGeom>
          <a:solidFill>
            <a:srgbClr val="8AA7C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1252199" y="11302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1277599" y="11556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1290299" y="1168399"/>
            <a:ext cx="44449" cy="55033"/>
          </a:xfrm>
          <a:prstGeom prst="rect">
            <a:avLst/>
          </a:prstGeom>
          <a:solidFill>
            <a:srgbClr val="BC84C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1290299" y="1236133"/>
            <a:ext cx="44449" cy="55033"/>
          </a:xfrm>
          <a:prstGeom prst="rect">
            <a:avLst/>
          </a:prstGeom>
          <a:solidFill>
            <a:srgbClr val="EDA1A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1290299" y="1303866"/>
            <a:ext cx="44449" cy="55033"/>
          </a:xfrm>
          <a:prstGeom prst="rect">
            <a:avLst/>
          </a:prstGeom>
          <a:solidFill>
            <a:srgbClr val="8CA6C3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1474449" y="11302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1499849" y="11556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1512549" y="1168399"/>
            <a:ext cx="44449" cy="55033"/>
          </a:xfrm>
          <a:prstGeom prst="rect">
            <a:avLst/>
          </a:prstGeom>
          <a:solidFill>
            <a:srgbClr val="C486C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1512549" y="1236133"/>
            <a:ext cx="44449" cy="55033"/>
          </a:xfrm>
          <a:prstGeom prst="rect">
            <a:avLst/>
          </a:prstGeom>
          <a:solidFill>
            <a:srgbClr val="E7959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1512549" y="1303866"/>
            <a:ext cx="44449" cy="55033"/>
          </a:xfrm>
          <a:prstGeom prst="rect">
            <a:avLst/>
          </a:prstGeom>
          <a:solidFill>
            <a:srgbClr val="8AA7C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9277349" y="1396999"/>
            <a:ext cx="761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499599" y="1396999"/>
            <a:ext cx="761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9721849" y="1396999"/>
            <a:ext cx="761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9944099" y="1396999"/>
            <a:ext cx="761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0166349" y="1396999"/>
            <a:ext cx="761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0388599" y="1396999"/>
            <a:ext cx="761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0610849" y="1396999"/>
            <a:ext cx="761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0833099" y="1396999"/>
            <a:ext cx="761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1055349" y="1396999"/>
            <a:ext cx="761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1277599" y="1396999"/>
            <a:ext cx="761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1499849" y="1396999"/>
            <a:ext cx="761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9251949" y="149224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277349" y="151764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9290049" y="1530349"/>
            <a:ext cx="44449" cy="55033"/>
          </a:xfrm>
          <a:prstGeom prst="rect">
            <a:avLst/>
          </a:prstGeom>
          <a:solidFill>
            <a:srgbClr val="F2C72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9290049" y="1598083"/>
            <a:ext cx="44449" cy="55033"/>
          </a:xfrm>
          <a:prstGeom prst="rect">
            <a:avLst/>
          </a:prstGeom>
          <a:solidFill>
            <a:srgbClr val="78A7D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9290049" y="1665816"/>
            <a:ext cx="44449" cy="55033"/>
          </a:xfrm>
          <a:prstGeom prst="rect">
            <a:avLst/>
          </a:prstGeom>
          <a:solidFill>
            <a:srgbClr val="7CAC6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9474199" y="149224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499599" y="151764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9512299" y="1530349"/>
            <a:ext cx="44449" cy="55033"/>
          </a:xfrm>
          <a:prstGeom prst="rect">
            <a:avLst/>
          </a:prstGeom>
          <a:solidFill>
            <a:srgbClr val="F2C72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9512299" y="1598083"/>
            <a:ext cx="44449" cy="55033"/>
          </a:xfrm>
          <a:prstGeom prst="rect">
            <a:avLst/>
          </a:prstGeom>
          <a:solidFill>
            <a:srgbClr val="7D9CC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9512299" y="1665816"/>
            <a:ext cx="44449" cy="55033"/>
          </a:xfrm>
          <a:prstGeom prst="rect">
            <a:avLst/>
          </a:prstGeom>
          <a:solidFill>
            <a:srgbClr val="7DB56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9696449" y="149224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9721849" y="151764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734549" y="1530349"/>
            <a:ext cx="44449" cy="55033"/>
          </a:xfrm>
          <a:prstGeom prst="rect">
            <a:avLst/>
          </a:prstGeom>
          <a:solidFill>
            <a:srgbClr val="F2C72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9734549" y="1598083"/>
            <a:ext cx="44449" cy="55033"/>
          </a:xfrm>
          <a:prstGeom prst="rect">
            <a:avLst/>
          </a:prstGeom>
          <a:solidFill>
            <a:srgbClr val="78A7D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9734549" y="1665816"/>
            <a:ext cx="44449" cy="55033"/>
          </a:xfrm>
          <a:prstGeom prst="rect">
            <a:avLst/>
          </a:prstGeom>
          <a:solidFill>
            <a:srgbClr val="7CAC6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9918699" y="149224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944099" y="151764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9956799" y="1530349"/>
            <a:ext cx="44449" cy="55033"/>
          </a:xfrm>
          <a:prstGeom prst="rect">
            <a:avLst/>
          </a:prstGeom>
          <a:solidFill>
            <a:srgbClr val="F2C72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9956799" y="1598083"/>
            <a:ext cx="44449" cy="55033"/>
          </a:xfrm>
          <a:prstGeom prst="rect">
            <a:avLst/>
          </a:prstGeom>
          <a:solidFill>
            <a:srgbClr val="7D9CC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9956799" y="1665816"/>
            <a:ext cx="44449" cy="55033"/>
          </a:xfrm>
          <a:prstGeom prst="rect">
            <a:avLst/>
          </a:prstGeom>
          <a:solidFill>
            <a:srgbClr val="7DB56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0949" y="149224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66349" y="151764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79049" y="1530349"/>
            <a:ext cx="44449" cy="55033"/>
          </a:xfrm>
          <a:prstGeom prst="rect">
            <a:avLst/>
          </a:prstGeom>
          <a:solidFill>
            <a:srgbClr val="F2C72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79049" y="1598083"/>
            <a:ext cx="44449" cy="55033"/>
          </a:xfrm>
          <a:prstGeom prst="rect">
            <a:avLst/>
          </a:prstGeom>
          <a:solidFill>
            <a:srgbClr val="78A7D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79049" y="1665816"/>
            <a:ext cx="44449" cy="55033"/>
          </a:xfrm>
          <a:prstGeom prst="rect">
            <a:avLst/>
          </a:prstGeom>
          <a:solidFill>
            <a:srgbClr val="7CAC6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363199" y="149224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388599" y="151764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401299" y="1530349"/>
            <a:ext cx="44449" cy="55033"/>
          </a:xfrm>
          <a:prstGeom prst="rect">
            <a:avLst/>
          </a:prstGeom>
          <a:solidFill>
            <a:srgbClr val="F2C72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401299" y="1598083"/>
            <a:ext cx="44449" cy="55033"/>
          </a:xfrm>
          <a:prstGeom prst="rect">
            <a:avLst/>
          </a:prstGeom>
          <a:solidFill>
            <a:srgbClr val="7D9CC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401299" y="1665816"/>
            <a:ext cx="44449" cy="55033"/>
          </a:xfrm>
          <a:prstGeom prst="rect">
            <a:avLst/>
          </a:prstGeom>
          <a:solidFill>
            <a:srgbClr val="7DB56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585449" y="149224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610849" y="151764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623549" y="1530349"/>
            <a:ext cx="44449" cy="55033"/>
          </a:xfrm>
          <a:prstGeom prst="rect">
            <a:avLst/>
          </a:prstGeom>
          <a:solidFill>
            <a:srgbClr val="F2C72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623549" y="1598083"/>
            <a:ext cx="44449" cy="55033"/>
          </a:xfrm>
          <a:prstGeom prst="rect">
            <a:avLst/>
          </a:prstGeom>
          <a:solidFill>
            <a:srgbClr val="78A7D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623549" y="1665816"/>
            <a:ext cx="44449" cy="55033"/>
          </a:xfrm>
          <a:prstGeom prst="rect">
            <a:avLst/>
          </a:prstGeom>
          <a:solidFill>
            <a:srgbClr val="7CAC6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807699" y="149224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833099" y="151764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845799" y="1530349"/>
            <a:ext cx="44449" cy="55033"/>
          </a:xfrm>
          <a:prstGeom prst="rect">
            <a:avLst/>
          </a:prstGeom>
          <a:solidFill>
            <a:srgbClr val="F2C72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845799" y="1598083"/>
            <a:ext cx="44449" cy="55033"/>
          </a:xfrm>
          <a:prstGeom prst="rect">
            <a:avLst/>
          </a:prstGeom>
          <a:solidFill>
            <a:srgbClr val="7D9CC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845799" y="1665816"/>
            <a:ext cx="44449" cy="55033"/>
          </a:xfrm>
          <a:prstGeom prst="rect">
            <a:avLst/>
          </a:prstGeom>
          <a:solidFill>
            <a:srgbClr val="7DB56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1029949" y="149224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1055349" y="151764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1068049" y="1530349"/>
            <a:ext cx="44449" cy="55033"/>
          </a:xfrm>
          <a:prstGeom prst="rect">
            <a:avLst/>
          </a:prstGeom>
          <a:solidFill>
            <a:srgbClr val="F2C72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1068049" y="1598083"/>
            <a:ext cx="44449" cy="55033"/>
          </a:xfrm>
          <a:prstGeom prst="rect">
            <a:avLst/>
          </a:prstGeom>
          <a:solidFill>
            <a:srgbClr val="78A7D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1068049" y="1665816"/>
            <a:ext cx="44449" cy="55033"/>
          </a:xfrm>
          <a:prstGeom prst="rect">
            <a:avLst/>
          </a:prstGeom>
          <a:solidFill>
            <a:srgbClr val="7CAC6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1252199" y="149224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1277599" y="151764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1290299" y="1530349"/>
            <a:ext cx="44449" cy="55033"/>
          </a:xfrm>
          <a:prstGeom prst="rect">
            <a:avLst/>
          </a:prstGeom>
          <a:solidFill>
            <a:srgbClr val="F2C72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1290299" y="1598083"/>
            <a:ext cx="44449" cy="55033"/>
          </a:xfrm>
          <a:prstGeom prst="rect">
            <a:avLst/>
          </a:prstGeom>
          <a:solidFill>
            <a:srgbClr val="7D9CC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1290299" y="1665816"/>
            <a:ext cx="44449" cy="55033"/>
          </a:xfrm>
          <a:prstGeom prst="rect">
            <a:avLst/>
          </a:prstGeom>
          <a:solidFill>
            <a:srgbClr val="7DB56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1474449" y="149224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1499849" y="151764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1512549" y="1530349"/>
            <a:ext cx="44449" cy="55033"/>
          </a:xfrm>
          <a:prstGeom prst="rect">
            <a:avLst/>
          </a:prstGeom>
          <a:solidFill>
            <a:srgbClr val="F2C72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1512549" y="1598083"/>
            <a:ext cx="44449" cy="55033"/>
          </a:xfrm>
          <a:prstGeom prst="rect">
            <a:avLst/>
          </a:prstGeom>
          <a:solidFill>
            <a:srgbClr val="78A7D4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1512549" y="1665816"/>
            <a:ext cx="44449" cy="55033"/>
          </a:xfrm>
          <a:prstGeom prst="rect">
            <a:avLst/>
          </a:prstGeom>
          <a:solidFill>
            <a:srgbClr val="7CAC6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4" name="Connector 343"/>
          <p:cNvCxnSpPr/>
          <p:nvPr/>
        </p:nvCxnSpPr>
        <p:spPr>
          <a:xfrm>
            <a:off x="12052299" y="730249"/>
            <a:ext cx="0" cy="95885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1652249" y="730249"/>
            <a:ext cx="4000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H="1">
            <a:off x="11639549" y="1689099"/>
            <a:ext cx="4127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Freeform 346"/>
          <p:cNvSpPr/>
          <p:nvPr/>
        </p:nvSpPr>
        <p:spPr>
          <a:xfrm>
            <a:off x="11639549" y="167005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0" y="3"/>
                </a:moveTo>
                <a:lnTo>
                  <a:pt x="4" y="0"/>
                </a:lnTo>
                <a:lnTo>
                  <a:pt x="4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10413999" y="1854199"/>
            <a:ext cx="53974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Times New Roman"/>
              </a:rPr>
              <a:t>Hfused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765299" y="2031999"/>
            <a:ext cx="2476499" cy="241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Multi-Domain Prompting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565149" y="2266949"/>
            <a:ext cx="10794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99999"/>
                </a:solidFill>
                <a:latin typeface="Times New Roman"/>
              </a:rPr>
              <a:t>Norm &amp; Patchify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260349" y="2425699"/>
            <a:ext cx="1625599" cy="31114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304800" y="2508250"/>
            <a:ext cx="127000" cy="120650"/>
          </a:xfrm>
          <a:custGeom>
            <a:avLst/>
            <a:gdLst/>
            <a:ahLst/>
            <a:cxnLst/>
            <a:rect l="l" t="t" r="r" b="b"/>
            <a:pathLst>
              <a:path w="20" h="19">
                <a:moveTo>
                  <a:pt x="0" y="3"/>
                </a:moveTo>
                <a:lnTo>
                  <a:pt x="1" y="6"/>
                </a:lnTo>
                <a:lnTo>
                  <a:pt x="2" y="3"/>
                </a:lnTo>
                <a:lnTo>
                  <a:pt x="2" y="10"/>
                </a:lnTo>
                <a:lnTo>
                  <a:pt x="3" y="18"/>
                </a:lnTo>
                <a:lnTo>
                  <a:pt x="4" y="13"/>
                </a:lnTo>
                <a:lnTo>
                  <a:pt x="5" y="13"/>
                </a:lnTo>
                <a:lnTo>
                  <a:pt x="6" y="9"/>
                </a:lnTo>
                <a:lnTo>
                  <a:pt x="7" y="0"/>
                </a:lnTo>
                <a:lnTo>
                  <a:pt x="8" y="5"/>
                </a:lnTo>
                <a:lnTo>
                  <a:pt x="8" y="9"/>
                </a:lnTo>
                <a:lnTo>
                  <a:pt x="9" y="11"/>
                </a:lnTo>
                <a:lnTo>
                  <a:pt x="10" y="19"/>
                </a:lnTo>
                <a:lnTo>
                  <a:pt x="11" y="14"/>
                </a:lnTo>
                <a:lnTo>
                  <a:pt x="12" y="8"/>
                </a:lnTo>
                <a:lnTo>
                  <a:pt x="12" y="7"/>
                </a:lnTo>
                <a:lnTo>
                  <a:pt x="13" y="1"/>
                </a:lnTo>
                <a:lnTo>
                  <a:pt x="14" y="4"/>
                </a:lnTo>
                <a:lnTo>
                  <a:pt x="15" y="14"/>
                </a:lnTo>
                <a:lnTo>
                  <a:pt x="16" y="13"/>
                </a:lnTo>
                <a:lnTo>
                  <a:pt x="17" y="16"/>
                </a:lnTo>
                <a:lnTo>
                  <a:pt x="18" y="15"/>
                </a:lnTo>
                <a:lnTo>
                  <a:pt x="18" y="4"/>
                </a:lnTo>
                <a:lnTo>
                  <a:pt x="19" y="4"/>
                </a:lnTo>
                <a:lnTo>
                  <a:pt x="20" y="5"/>
                </a:lnTo>
              </a:path>
            </a:pathLst>
          </a:custGeom>
          <a:noFill/>
          <a:ln w="9080">
            <a:solidFill>
              <a:srgbClr val="252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495300" y="2508250"/>
            <a:ext cx="127000" cy="120650"/>
          </a:xfrm>
          <a:custGeom>
            <a:avLst/>
            <a:gdLst/>
            <a:ahLst/>
            <a:cxnLst/>
            <a:rect l="l" t="t" r="r" b="b"/>
            <a:pathLst>
              <a:path w="20" h="19">
                <a:moveTo>
                  <a:pt x="0" y="3"/>
                </a:moveTo>
                <a:lnTo>
                  <a:pt x="1" y="6"/>
                </a:lnTo>
                <a:lnTo>
                  <a:pt x="2" y="3"/>
                </a:lnTo>
                <a:lnTo>
                  <a:pt x="2" y="10"/>
                </a:lnTo>
                <a:lnTo>
                  <a:pt x="3" y="18"/>
                </a:lnTo>
                <a:lnTo>
                  <a:pt x="4" y="13"/>
                </a:lnTo>
                <a:lnTo>
                  <a:pt x="5" y="13"/>
                </a:lnTo>
                <a:lnTo>
                  <a:pt x="6" y="9"/>
                </a:lnTo>
                <a:lnTo>
                  <a:pt x="7" y="0"/>
                </a:lnTo>
                <a:lnTo>
                  <a:pt x="8" y="5"/>
                </a:lnTo>
                <a:lnTo>
                  <a:pt x="8" y="9"/>
                </a:lnTo>
                <a:lnTo>
                  <a:pt x="9" y="11"/>
                </a:lnTo>
                <a:lnTo>
                  <a:pt x="10" y="19"/>
                </a:lnTo>
                <a:lnTo>
                  <a:pt x="11" y="14"/>
                </a:lnTo>
                <a:lnTo>
                  <a:pt x="12" y="8"/>
                </a:lnTo>
                <a:lnTo>
                  <a:pt x="12" y="7"/>
                </a:lnTo>
                <a:lnTo>
                  <a:pt x="13" y="1"/>
                </a:lnTo>
                <a:lnTo>
                  <a:pt x="14" y="4"/>
                </a:lnTo>
                <a:lnTo>
                  <a:pt x="15" y="14"/>
                </a:lnTo>
                <a:lnTo>
                  <a:pt x="16" y="13"/>
                </a:lnTo>
                <a:lnTo>
                  <a:pt x="17" y="16"/>
                </a:lnTo>
                <a:lnTo>
                  <a:pt x="18" y="15"/>
                </a:lnTo>
                <a:lnTo>
                  <a:pt x="18" y="4"/>
                </a:lnTo>
                <a:lnTo>
                  <a:pt x="19" y="4"/>
                </a:lnTo>
                <a:lnTo>
                  <a:pt x="20" y="5"/>
                </a:lnTo>
              </a:path>
            </a:pathLst>
          </a:custGeom>
          <a:noFill/>
          <a:ln w="9080">
            <a:solidFill>
              <a:srgbClr val="252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685800" y="2508250"/>
            <a:ext cx="127000" cy="120650"/>
          </a:xfrm>
          <a:custGeom>
            <a:avLst/>
            <a:gdLst/>
            <a:ahLst/>
            <a:cxnLst/>
            <a:rect l="l" t="t" r="r" b="b"/>
            <a:pathLst>
              <a:path w="20" h="19">
                <a:moveTo>
                  <a:pt x="0" y="3"/>
                </a:moveTo>
                <a:lnTo>
                  <a:pt x="1" y="6"/>
                </a:lnTo>
                <a:lnTo>
                  <a:pt x="2" y="3"/>
                </a:lnTo>
                <a:lnTo>
                  <a:pt x="2" y="10"/>
                </a:lnTo>
                <a:lnTo>
                  <a:pt x="3" y="18"/>
                </a:lnTo>
                <a:lnTo>
                  <a:pt x="4" y="13"/>
                </a:lnTo>
                <a:lnTo>
                  <a:pt x="5" y="13"/>
                </a:lnTo>
                <a:lnTo>
                  <a:pt x="6" y="9"/>
                </a:lnTo>
                <a:lnTo>
                  <a:pt x="7" y="0"/>
                </a:lnTo>
                <a:lnTo>
                  <a:pt x="8" y="5"/>
                </a:lnTo>
                <a:lnTo>
                  <a:pt x="8" y="9"/>
                </a:lnTo>
                <a:lnTo>
                  <a:pt x="9" y="11"/>
                </a:lnTo>
                <a:lnTo>
                  <a:pt x="10" y="19"/>
                </a:lnTo>
                <a:lnTo>
                  <a:pt x="11" y="14"/>
                </a:lnTo>
                <a:lnTo>
                  <a:pt x="12" y="8"/>
                </a:lnTo>
                <a:lnTo>
                  <a:pt x="12" y="7"/>
                </a:lnTo>
                <a:lnTo>
                  <a:pt x="13" y="1"/>
                </a:lnTo>
                <a:lnTo>
                  <a:pt x="14" y="4"/>
                </a:lnTo>
                <a:lnTo>
                  <a:pt x="15" y="14"/>
                </a:lnTo>
                <a:lnTo>
                  <a:pt x="16" y="13"/>
                </a:lnTo>
                <a:lnTo>
                  <a:pt x="17" y="16"/>
                </a:lnTo>
                <a:lnTo>
                  <a:pt x="18" y="15"/>
                </a:lnTo>
                <a:lnTo>
                  <a:pt x="18" y="4"/>
                </a:lnTo>
                <a:lnTo>
                  <a:pt x="19" y="4"/>
                </a:lnTo>
                <a:lnTo>
                  <a:pt x="20" y="5"/>
                </a:lnTo>
              </a:path>
            </a:pathLst>
          </a:custGeom>
          <a:noFill/>
          <a:ln w="9080">
            <a:solidFill>
              <a:srgbClr val="252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876300" y="2508250"/>
            <a:ext cx="127000" cy="120650"/>
          </a:xfrm>
          <a:custGeom>
            <a:avLst/>
            <a:gdLst/>
            <a:ahLst/>
            <a:cxnLst/>
            <a:rect l="l" t="t" r="r" b="b"/>
            <a:pathLst>
              <a:path w="20" h="19">
                <a:moveTo>
                  <a:pt x="0" y="3"/>
                </a:moveTo>
                <a:lnTo>
                  <a:pt x="1" y="6"/>
                </a:lnTo>
                <a:lnTo>
                  <a:pt x="2" y="3"/>
                </a:lnTo>
                <a:lnTo>
                  <a:pt x="2" y="10"/>
                </a:lnTo>
                <a:lnTo>
                  <a:pt x="3" y="18"/>
                </a:lnTo>
                <a:lnTo>
                  <a:pt x="4" y="13"/>
                </a:lnTo>
                <a:lnTo>
                  <a:pt x="5" y="13"/>
                </a:lnTo>
                <a:lnTo>
                  <a:pt x="6" y="9"/>
                </a:lnTo>
                <a:lnTo>
                  <a:pt x="7" y="0"/>
                </a:lnTo>
                <a:lnTo>
                  <a:pt x="8" y="5"/>
                </a:lnTo>
                <a:lnTo>
                  <a:pt x="8" y="9"/>
                </a:lnTo>
                <a:lnTo>
                  <a:pt x="9" y="11"/>
                </a:lnTo>
                <a:lnTo>
                  <a:pt x="10" y="19"/>
                </a:lnTo>
                <a:lnTo>
                  <a:pt x="11" y="14"/>
                </a:lnTo>
                <a:lnTo>
                  <a:pt x="12" y="8"/>
                </a:lnTo>
                <a:lnTo>
                  <a:pt x="12" y="7"/>
                </a:lnTo>
                <a:lnTo>
                  <a:pt x="13" y="1"/>
                </a:lnTo>
                <a:lnTo>
                  <a:pt x="14" y="4"/>
                </a:lnTo>
                <a:lnTo>
                  <a:pt x="15" y="14"/>
                </a:lnTo>
                <a:lnTo>
                  <a:pt x="16" y="13"/>
                </a:lnTo>
                <a:lnTo>
                  <a:pt x="17" y="16"/>
                </a:lnTo>
                <a:lnTo>
                  <a:pt x="18" y="15"/>
                </a:lnTo>
                <a:lnTo>
                  <a:pt x="18" y="4"/>
                </a:lnTo>
                <a:lnTo>
                  <a:pt x="19" y="4"/>
                </a:lnTo>
                <a:lnTo>
                  <a:pt x="20" y="5"/>
                </a:lnTo>
              </a:path>
            </a:pathLst>
          </a:custGeom>
          <a:noFill/>
          <a:ln w="9080">
            <a:solidFill>
              <a:srgbClr val="252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1066800" y="2508250"/>
            <a:ext cx="127000" cy="120650"/>
          </a:xfrm>
          <a:custGeom>
            <a:avLst/>
            <a:gdLst/>
            <a:ahLst/>
            <a:cxnLst/>
            <a:rect l="l" t="t" r="r" b="b"/>
            <a:pathLst>
              <a:path w="20" h="19">
                <a:moveTo>
                  <a:pt x="0" y="3"/>
                </a:moveTo>
                <a:lnTo>
                  <a:pt x="1" y="6"/>
                </a:lnTo>
                <a:lnTo>
                  <a:pt x="2" y="3"/>
                </a:lnTo>
                <a:lnTo>
                  <a:pt x="2" y="10"/>
                </a:lnTo>
                <a:lnTo>
                  <a:pt x="3" y="18"/>
                </a:lnTo>
                <a:lnTo>
                  <a:pt x="4" y="13"/>
                </a:lnTo>
                <a:lnTo>
                  <a:pt x="5" y="13"/>
                </a:lnTo>
                <a:lnTo>
                  <a:pt x="6" y="9"/>
                </a:lnTo>
                <a:lnTo>
                  <a:pt x="7" y="0"/>
                </a:lnTo>
                <a:lnTo>
                  <a:pt x="8" y="5"/>
                </a:lnTo>
                <a:lnTo>
                  <a:pt x="8" y="9"/>
                </a:lnTo>
                <a:lnTo>
                  <a:pt x="9" y="11"/>
                </a:lnTo>
                <a:lnTo>
                  <a:pt x="10" y="19"/>
                </a:lnTo>
                <a:lnTo>
                  <a:pt x="11" y="14"/>
                </a:lnTo>
                <a:lnTo>
                  <a:pt x="12" y="8"/>
                </a:lnTo>
                <a:lnTo>
                  <a:pt x="12" y="7"/>
                </a:lnTo>
                <a:lnTo>
                  <a:pt x="13" y="1"/>
                </a:lnTo>
                <a:lnTo>
                  <a:pt x="14" y="4"/>
                </a:lnTo>
                <a:lnTo>
                  <a:pt x="15" y="14"/>
                </a:lnTo>
                <a:lnTo>
                  <a:pt x="16" y="13"/>
                </a:lnTo>
                <a:lnTo>
                  <a:pt x="17" y="16"/>
                </a:lnTo>
                <a:lnTo>
                  <a:pt x="18" y="15"/>
                </a:lnTo>
                <a:lnTo>
                  <a:pt x="18" y="4"/>
                </a:lnTo>
                <a:lnTo>
                  <a:pt x="19" y="4"/>
                </a:lnTo>
                <a:lnTo>
                  <a:pt x="20" y="5"/>
                </a:lnTo>
              </a:path>
            </a:pathLst>
          </a:custGeom>
          <a:noFill/>
          <a:ln w="9080">
            <a:solidFill>
              <a:srgbClr val="252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257300" y="2508250"/>
            <a:ext cx="127000" cy="120650"/>
          </a:xfrm>
          <a:custGeom>
            <a:avLst/>
            <a:gdLst/>
            <a:ahLst/>
            <a:cxnLst/>
            <a:rect l="l" t="t" r="r" b="b"/>
            <a:pathLst>
              <a:path w="20" h="19">
                <a:moveTo>
                  <a:pt x="0" y="3"/>
                </a:moveTo>
                <a:lnTo>
                  <a:pt x="1" y="6"/>
                </a:lnTo>
                <a:lnTo>
                  <a:pt x="2" y="3"/>
                </a:lnTo>
                <a:lnTo>
                  <a:pt x="2" y="10"/>
                </a:lnTo>
                <a:lnTo>
                  <a:pt x="3" y="18"/>
                </a:lnTo>
                <a:lnTo>
                  <a:pt x="4" y="13"/>
                </a:lnTo>
                <a:lnTo>
                  <a:pt x="5" y="13"/>
                </a:lnTo>
                <a:lnTo>
                  <a:pt x="6" y="9"/>
                </a:lnTo>
                <a:lnTo>
                  <a:pt x="7" y="0"/>
                </a:lnTo>
                <a:lnTo>
                  <a:pt x="8" y="5"/>
                </a:lnTo>
                <a:lnTo>
                  <a:pt x="8" y="9"/>
                </a:lnTo>
                <a:lnTo>
                  <a:pt x="9" y="11"/>
                </a:lnTo>
                <a:lnTo>
                  <a:pt x="10" y="19"/>
                </a:lnTo>
                <a:lnTo>
                  <a:pt x="11" y="14"/>
                </a:lnTo>
                <a:lnTo>
                  <a:pt x="12" y="8"/>
                </a:lnTo>
                <a:lnTo>
                  <a:pt x="12" y="7"/>
                </a:lnTo>
                <a:lnTo>
                  <a:pt x="13" y="1"/>
                </a:lnTo>
                <a:lnTo>
                  <a:pt x="14" y="4"/>
                </a:lnTo>
                <a:lnTo>
                  <a:pt x="15" y="14"/>
                </a:lnTo>
                <a:lnTo>
                  <a:pt x="16" y="13"/>
                </a:lnTo>
                <a:lnTo>
                  <a:pt x="17" y="16"/>
                </a:lnTo>
                <a:lnTo>
                  <a:pt x="18" y="15"/>
                </a:lnTo>
                <a:lnTo>
                  <a:pt x="18" y="4"/>
                </a:lnTo>
                <a:lnTo>
                  <a:pt x="19" y="4"/>
                </a:lnTo>
                <a:lnTo>
                  <a:pt x="20" y="5"/>
                </a:lnTo>
              </a:path>
            </a:pathLst>
          </a:custGeom>
          <a:noFill/>
          <a:ln w="9080">
            <a:solidFill>
              <a:srgbClr val="252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1447800" y="2508250"/>
            <a:ext cx="127000" cy="120650"/>
          </a:xfrm>
          <a:custGeom>
            <a:avLst/>
            <a:gdLst/>
            <a:ahLst/>
            <a:cxnLst/>
            <a:rect l="l" t="t" r="r" b="b"/>
            <a:pathLst>
              <a:path w="20" h="19">
                <a:moveTo>
                  <a:pt x="0" y="3"/>
                </a:moveTo>
                <a:lnTo>
                  <a:pt x="1" y="6"/>
                </a:lnTo>
                <a:lnTo>
                  <a:pt x="2" y="3"/>
                </a:lnTo>
                <a:lnTo>
                  <a:pt x="2" y="10"/>
                </a:lnTo>
                <a:lnTo>
                  <a:pt x="3" y="18"/>
                </a:lnTo>
                <a:lnTo>
                  <a:pt x="4" y="13"/>
                </a:lnTo>
                <a:lnTo>
                  <a:pt x="5" y="13"/>
                </a:lnTo>
                <a:lnTo>
                  <a:pt x="6" y="9"/>
                </a:lnTo>
                <a:lnTo>
                  <a:pt x="7" y="0"/>
                </a:lnTo>
                <a:lnTo>
                  <a:pt x="8" y="5"/>
                </a:lnTo>
                <a:lnTo>
                  <a:pt x="8" y="9"/>
                </a:lnTo>
                <a:lnTo>
                  <a:pt x="9" y="11"/>
                </a:lnTo>
                <a:lnTo>
                  <a:pt x="10" y="19"/>
                </a:lnTo>
                <a:lnTo>
                  <a:pt x="11" y="14"/>
                </a:lnTo>
                <a:lnTo>
                  <a:pt x="12" y="8"/>
                </a:lnTo>
                <a:lnTo>
                  <a:pt x="12" y="7"/>
                </a:lnTo>
                <a:lnTo>
                  <a:pt x="13" y="1"/>
                </a:lnTo>
                <a:lnTo>
                  <a:pt x="14" y="4"/>
                </a:lnTo>
                <a:lnTo>
                  <a:pt x="15" y="14"/>
                </a:lnTo>
                <a:lnTo>
                  <a:pt x="16" y="13"/>
                </a:lnTo>
                <a:lnTo>
                  <a:pt x="17" y="16"/>
                </a:lnTo>
                <a:lnTo>
                  <a:pt x="18" y="15"/>
                </a:lnTo>
                <a:lnTo>
                  <a:pt x="18" y="4"/>
                </a:lnTo>
                <a:lnTo>
                  <a:pt x="19" y="4"/>
                </a:lnTo>
                <a:lnTo>
                  <a:pt x="20" y="5"/>
                </a:lnTo>
              </a:path>
            </a:pathLst>
          </a:custGeom>
          <a:noFill/>
          <a:ln w="9080">
            <a:solidFill>
              <a:srgbClr val="252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1638300" y="2508250"/>
            <a:ext cx="127000" cy="120650"/>
          </a:xfrm>
          <a:custGeom>
            <a:avLst/>
            <a:gdLst/>
            <a:ahLst/>
            <a:cxnLst/>
            <a:rect l="l" t="t" r="r" b="b"/>
            <a:pathLst>
              <a:path w="20" h="19">
                <a:moveTo>
                  <a:pt x="0" y="3"/>
                </a:moveTo>
                <a:lnTo>
                  <a:pt x="1" y="6"/>
                </a:lnTo>
                <a:lnTo>
                  <a:pt x="2" y="3"/>
                </a:lnTo>
                <a:lnTo>
                  <a:pt x="2" y="10"/>
                </a:lnTo>
                <a:lnTo>
                  <a:pt x="3" y="18"/>
                </a:lnTo>
                <a:lnTo>
                  <a:pt x="4" y="13"/>
                </a:lnTo>
                <a:lnTo>
                  <a:pt x="5" y="13"/>
                </a:lnTo>
                <a:lnTo>
                  <a:pt x="6" y="9"/>
                </a:lnTo>
                <a:lnTo>
                  <a:pt x="7" y="0"/>
                </a:lnTo>
                <a:lnTo>
                  <a:pt x="8" y="5"/>
                </a:lnTo>
                <a:lnTo>
                  <a:pt x="8" y="9"/>
                </a:lnTo>
                <a:lnTo>
                  <a:pt x="9" y="11"/>
                </a:lnTo>
                <a:lnTo>
                  <a:pt x="10" y="19"/>
                </a:lnTo>
                <a:lnTo>
                  <a:pt x="11" y="14"/>
                </a:lnTo>
                <a:lnTo>
                  <a:pt x="12" y="8"/>
                </a:lnTo>
                <a:lnTo>
                  <a:pt x="12" y="7"/>
                </a:lnTo>
                <a:lnTo>
                  <a:pt x="13" y="1"/>
                </a:lnTo>
                <a:lnTo>
                  <a:pt x="14" y="4"/>
                </a:lnTo>
                <a:lnTo>
                  <a:pt x="15" y="14"/>
                </a:lnTo>
                <a:lnTo>
                  <a:pt x="16" y="13"/>
                </a:lnTo>
                <a:lnTo>
                  <a:pt x="17" y="16"/>
                </a:lnTo>
                <a:lnTo>
                  <a:pt x="18" y="15"/>
                </a:lnTo>
                <a:lnTo>
                  <a:pt x="18" y="4"/>
                </a:lnTo>
                <a:lnTo>
                  <a:pt x="19" y="4"/>
                </a:lnTo>
                <a:lnTo>
                  <a:pt x="20" y="5"/>
                </a:lnTo>
              </a:path>
            </a:pathLst>
          </a:custGeom>
          <a:noFill/>
          <a:ln w="9080">
            <a:solidFill>
              <a:srgbClr val="252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0" name="Connector 359"/>
          <p:cNvCxnSpPr/>
          <p:nvPr/>
        </p:nvCxnSpPr>
        <p:spPr>
          <a:xfrm>
            <a:off x="1892299" y="2578099"/>
            <a:ext cx="3873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Freeform 360"/>
          <p:cNvSpPr/>
          <p:nvPr/>
        </p:nvSpPr>
        <p:spPr>
          <a:xfrm>
            <a:off x="2254250" y="255905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2533649" y="2260599"/>
            <a:ext cx="65404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99999"/>
                </a:solidFill>
                <a:latin typeface="Times New Roman"/>
              </a:rPr>
              <a:t>Projection</a:t>
            </a:r>
          </a:p>
        </p:txBody>
      </p:sp>
      <p:sp>
        <p:nvSpPr>
          <p:cNvPr id="363" name="Rounded Rectangle 362"/>
          <p:cNvSpPr/>
          <p:nvPr/>
        </p:nvSpPr>
        <p:spPr>
          <a:xfrm>
            <a:off x="2279649" y="2444749"/>
            <a:ext cx="933449" cy="266699"/>
          </a:xfrm>
          <a:prstGeom prst="roundRect">
            <a:avLst/>
          </a:prstGeom>
          <a:solidFill>
            <a:srgbClr val="FF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2279649" y="2444749"/>
            <a:ext cx="933449" cy="266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3245"/>
                </a:solidFill>
                <a:latin typeface="Times New Roman"/>
              </a:rPr>
              <a:t>Linear</a:t>
            </a:r>
          </a:p>
        </p:txBody>
      </p:sp>
      <p:sp>
        <p:nvSpPr>
          <p:cNvPr id="365" name="Freeform 364"/>
          <p:cNvSpPr/>
          <p:nvPr/>
        </p:nvSpPr>
        <p:spPr>
          <a:xfrm>
            <a:off x="3041650" y="2501900"/>
            <a:ext cx="127000" cy="152400"/>
          </a:xfrm>
          <a:custGeom>
            <a:avLst/>
            <a:gdLst/>
            <a:ahLst/>
            <a:cxnLst/>
            <a:rect l="l" t="t" r="r" b="b"/>
            <a:pathLst>
              <a:path w="20" h="24">
                <a:moveTo>
                  <a:pt x="10" y="0"/>
                </a:moveTo>
                <a:lnTo>
                  <a:pt x="16" y="8"/>
                </a:lnTo>
                <a:lnTo>
                  <a:pt x="15" y="13"/>
                </a:lnTo>
                <a:lnTo>
                  <a:pt x="20" y="12"/>
                </a:lnTo>
                <a:lnTo>
                  <a:pt x="19" y="18"/>
                </a:lnTo>
                <a:lnTo>
                  <a:pt x="14" y="24"/>
                </a:lnTo>
                <a:lnTo>
                  <a:pt x="6" y="23"/>
                </a:lnTo>
                <a:lnTo>
                  <a:pt x="0" y="17"/>
                </a:lnTo>
                <a:lnTo>
                  <a:pt x="2" y="9"/>
                </a:lnTo>
                <a:lnTo>
                  <a:pt x="7" y="12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3086100" y="2552700"/>
            <a:ext cx="44450" cy="82550"/>
          </a:xfrm>
          <a:custGeom>
            <a:avLst/>
            <a:gdLst/>
            <a:ahLst/>
            <a:cxnLst/>
            <a:rect l="l" t="t" r="r" b="b"/>
            <a:pathLst>
              <a:path w="7" h="13">
                <a:moveTo>
                  <a:pt x="4" y="0"/>
                </a:moveTo>
                <a:lnTo>
                  <a:pt x="7" y="7"/>
                </a:lnTo>
                <a:lnTo>
                  <a:pt x="5" y="13"/>
                </a:lnTo>
                <a:lnTo>
                  <a:pt x="0" y="11"/>
                </a:lnTo>
                <a:lnTo>
                  <a:pt x="0" y="6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>
            <a:off x="3213099" y="2578099"/>
            <a:ext cx="4508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Freeform 367"/>
          <p:cNvSpPr/>
          <p:nvPr/>
        </p:nvSpPr>
        <p:spPr>
          <a:xfrm>
            <a:off x="3638550" y="255905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3670299" y="2305049"/>
            <a:ext cx="2051049" cy="45084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3727449" y="2355849"/>
            <a:ext cx="133349" cy="3492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3752849" y="2381249"/>
            <a:ext cx="82549" cy="2984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3765549" y="2393949"/>
            <a:ext cx="57149" cy="78316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3765549" y="2484966"/>
            <a:ext cx="57149" cy="78316"/>
          </a:xfrm>
          <a:prstGeom prst="rect">
            <a:avLst/>
          </a:prstGeom>
          <a:solidFill>
            <a:srgbClr val="5F8FC9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3765549" y="2575983"/>
            <a:ext cx="57149" cy="78316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4032249" y="2355849"/>
            <a:ext cx="133349" cy="3492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4057649" y="2381249"/>
            <a:ext cx="82549" cy="2984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4070349" y="2393949"/>
            <a:ext cx="57149" cy="78316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4070349" y="2484966"/>
            <a:ext cx="57149" cy="78316"/>
          </a:xfrm>
          <a:prstGeom prst="rect">
            <a:avLst/>
          </a:prstGeom>
          <a:solidFill>
            <a:srgbClr val="8AA9C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4070349" y="2575983"/>
            <a:ext cx="57149" cy="78316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4337049" y="2355849"/>
            <a:ext cx="133349" cy="3492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4362449" y="2381249"/>
            <a:ext cx="82549" cy="2984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4375149" y="2393949"/>
            <a:ext cx="57149" cy="78316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4375149" y="2484966"/>
            <a:ext cx="57149" cy="78316"/>
          </a:xfrm>
          <a:prstGeom prst="rect">
            <a:avLst/>
          </a:prstGeom>
          <a:solidFill>
            <a:srgbClr val="5F8FC9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4375149" y="2575983"/>
            <a:ext cx="57149" cy="78316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4641849" y="2355849"/>
            <a:ext cx="133349" cy="3492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4667249" y="2381249"/>
            <a:ext cx="82549" cy="2984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4679949" y="2393949"/>
            <a:ext cx="57149" cy="78316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4679949" y="2484966"/>
            <a:ext cx="57149" cy="78316"/>
          </a:xfrm>
          <a:prstGeom prst="rect">
            <a:avLst/>
          </a:prstGeom>
          <a:solidFill>
            <a:srgbClr val="8AA9C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4679949" y="2575983"/>
            <a:ext cx="57149" cy="78316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4946649" y="2355849"/>
            <a:ext cx="133349" cy="3492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4972049" y="2381249"/>
            <a:ext cx="82549" cy="2984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4984749" y="2393949"/>
            <a:ext cx="57149" cy="78316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4984749" y="2484966"/>
            <a:ext cx="57149" cy="78316"/>
          </a:xfrm>
          <a:prstGeom prst="rect">
            <a:avLst/>
          </a:prstGeom>
          <a:solidFill>
            <a:srgbClr val="5F8FC9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4984749" y="2575983"/>
            <a:ext cx="57149" cy="78316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5251449" y="2355849"/>
            <a:ext cx="133349" cy="3492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5276849" y="2381249"/>
            <a:ext cx="82549" cy="2984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5289549" y="2393949"/>
            <a:ext cx="57149" cy="78316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5289549" y="2484966"/>
            <a:ext cx="57149" cy="78316"/>
          </a:xfrm>
          <a:prstGeom prst="rect">
            <a:avLst/>
          </a:prstGeom>
          <a:solidFill>
            <a:srgbClr val="8AA9C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5289549" y="2575983"/>
            <a:ext cx="57149" cy="78316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5556249" y="2355849"/>
            <a:ext cx="133349" cy="3492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5581649" y="2381249"/>
            <a:ext cx="82549" cy="2984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5594349" y="2393949"/>
            <a:ext cx="57149" cy="78316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5594349" y="2484966"/>
            <a:ext cx="57149" cy="78316"/>
          </a:xfrm>
          <a:prstGeom prst="rect">
            <a:avLst/>
          </a:prstGeom>
          <a:solidFill>
            <a:srgbClr val="5F8FC9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5594349" y="2575983"/>
            <a:ext cx="57149" cy="78316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4127499" y="2781299"/>
            <a:ext cx="83819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EB6B22"/>
                </a:solidFill>
                <a:latin typeface="Times New Roman"/>
              </a:rPr>
              <a:t>Discrete Prompt Tokens</a:t>
            </a:r>
          </a:p>
        </p:txBody>
      </p:sp>
      <p:sp>
        <p:nvSpPr>
          <p:cNvPr id="406" name="Oval 405"/>
          <p:cNvSpPr/>
          <p:nvPr/>
        </p:nvSpPr>
        <p:spPr>
          <a:xfrm>
            <a:off x="4044949" y="2806699"/>
            <a:ext cx="120649" cy="120649"/>
          </a:xfrm>
          <a:prstGeom prst="ellipse">
            <a:avLst/>
          </a:prstGeom>
          <a:solidFill>
            <a:srgbClr val="FFFFFF"/>
          </a:solidFill>
          <a:ln w="6985">
            <a:solidFill>
              <a:srgbClr val="65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4044949" y="2800349"/>
            <a:ext cx="120649" cy="120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4946649" y="2781299"/>
            <a:ext cx="94614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3E6493"/>
                </a:solidFill>
                <a:latin typeface="Times New Roman"/>
              </a:rPr>
              <a:t>Continuous Input Tokens xₑ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584199" y="2819399"/>
            <a:ext cx="186689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99999"/>
                </a:solidFill>
                <a:latin typeface="Times New Roman"/>
              </a:rPr>
              <a:t>Top-k Similarity &amp; Softmax Calculation</a:t>
            </a:r>
          </a:p>
        </p:txBody>
      </p:sp>
      <p:cxnSp>
        <p:nvCxnSpPr>
          <p:cNvPr id="410" name="Connector 409"/>
          <p:cNvCxnSpPr/>
          <p:nvPr/>
        </p:nvCxnSpPr>
        <p:spPr>
          <a:xfrm>
            <a:off x="273049" y="2965449"/>
            <a:ext cx="5467350" cy="0"/>
          </a:xfrm>
          <a:prstGeom prst="line">
            <a:avLst/>
          </a:prstGeom>
          <a:ln w="7365">
            <a:solidFill>
              <a:srgbClr val="7B7B7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Rounded Rectangle 410"/>
          <p:cNvSpPr/>
          <p:nvPr/>
        </p:nvSpPr>
        <p:spPr>
          <a:xfrm>
            <a:off x="203199" y="3022599"/>
            <a:ext cx="292099" cy="666749"/>
          </a:xfrm>
          <a:prstGeom prst="roundRect">
            <a:avLst/>
          </a:prstGeom>
          <a:solidFill>
            <a:srgbClr val="FFC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03199" y="3022599"/>
            <a:ext cx="292099" cy="666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3245"/>
                </a:solidFill>
                <a:latin typeface="Times New Roman"/>
              </a:rPr>
              <a:t>Projection</a:t>
            </a:r>
          </a:p>
        </p:txBody>
      </p:sp>
      <p:sp>
        <p:nvSpPr>
          <p:cNvPr id="413" name="Freeform 412"/>
          <p:cNvSpPr/>
          <p:nvPr/>
        </p:nvSpPr>
        <p:spPr>
          <a:xfrm>
            <a:off x="336550" y="3486150"/>
            <a:ext cx="101600" cy="127000"/>
          </a:xfrm>
          <a:custGeom>
            <a:avLst/>
            <a:gdLst/>
            <a:ahLst/>
            <a:cxnLst/>
            <a:rect l="l" t="t" r="r" b="b"/>
            <a:pathLst>
              <a:path w="16" h="20">
                <a:moveTo>
                  <a:pt x="8" y="0"/>
                </a:moveTo>
                <a:lnTo>
                  <a:pt x="13" y="7"/>
                </a:lnTo>
                <a:lnTo>
                  <a:pt x="12" y="11"/>
                </a:lnTo>
                <a:lnTo>
                  <a:pt x="16" y="10"/>
                </a:lnTo>
                <a:lnTo>
                  <a:pt x="16" y="15"/>
                </a:lnTo>
                <a:lnTo>
                  <a:pt x="11" y="20"/>
                </a:lnTo>
                <a:lnTo>
                  <a:pt x="4" y="19"/>
                </a:lnTo>
                <a:lnTo>
                  <a:pt x="0" y="14"/>
                </a:lnTo>
                <a:lnTo>
                  <a:pt x="2" y="8"/>
                </a:lnTo>
                <a:lnTo>
                  <a:pt x="5" y="10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374650" y="3530600"/>
            <a:ext cx="31750" cy="635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3" y="0"/>
                </a:moveTo>
                <a:lnTo>
                  <a:pt x="5" y="5"/>
                </a:lnTo>
                <a:lnTo>
                  <a:pt x="3" y="10"/>
                </a:lnTo>
                <a:lnTo>
                  <a:pt x="0" y="9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5" name="Connector 414"/>
          <p:cNvCxnSpPr/>
          <p:nvPr/>
        </p:nvCxnSpPr>
        <p:spPr>
          <a:xfrm>
            <a:off x="495299" y="3321049"/>
            <a:ext cx="222250" cy="0"/>
          </a:xfrm>
          <a:prstGeom prst="line">
            <a:avLst/>
          </a:prstGeom>
          <a:ln w="10312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Freeform 415"/>
          <p:cNvSpPr/>
          <p:nvPr/>
        </p:nvSpPr>
        <p:spPr>
          <a:xfrm>
            <a:off x="692150" y="33020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730249" y="3073399"/>
            <a:ext cx="120649" cy="2857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755649" y="3098799"/>
            <a:ext cx="69849" cy="234949"/>
          </a:xfrm>
          <a:prstGeom prst="rect">
            <a:avLst/>
          </a:prstGeom>
          <a:solidFill>
            <a:srgbClr val="6B7B8A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768349" y="3111499"/>
            <a:ext cx="44449" cy="57149"/>
          </a:xfrm>
          <a:prstGeom prst="rect">
            <a:avLst/>
          </a:prstGeom>
          <a:solidFill>
            <a:srgbClr val="BDC7D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768349" y="3181349"/>
            <a:ext cx="44449" cy="57149"/>
          </a:xfrm>
          <a:prstGeom prst="rect">
            <a:avLst/>
          </a:prstGeom>
          <a:solidFill>
            <a:srgbClr val="BDC7D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768349" y="3251199"/>
            <a:ext cx="44449" cy="57149"/>
          </a:xfrm>
          <a:prstGeom prst="rect">
            <a:avLst/>
          </a:prstGeom>
          <a:solidFill>
            <a:srgbClr val="BDC7D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723899" y="3016249"/>
            <a:ext cx="152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Times New Roman"/>
              </a:rPr>
              <a:t>xₑ</a:t>
            </a:r>
          </a:p>
        </p:txBody>
      </p:sp>
      <p:sp>
        <p:nvSpPr>
          <p:cNvPr id="423" name="Oval 422"/>
          <p:cNvSpPr/>
          <p:nvPr/>
        </p:nvSpPr>
        <p:spPr>
          <a:xfrm>
            <a:off x="895349" y="3168649"/>
            <a:ext cx="126999" cy="126999"/>
          </a:xfrm>
          <a:prstGeom prst="ellipse">
            <a:avLst/>
          </a:prstGeom>
          <a:solidFill>
            <a:srgbClr val="FFFFFF"/>
          </a:solidFill>
          <a:ln w="6985">
            <a:solidFill>
              <a:srgbClr val="2F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895349" y="3168649"/>
            <a:ext cx="1269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cxnSp>
        <p:nvCxnSpPr>
          <p:cNvPr id="425" name="Connector 424"/>
          <p:cNvCxnSpPr/>
          <p:nvPr/>
        </p:nvCxnSpPr>
        <p:spPr>
          <a:xfrm>
            <a:off x="1022349" y="3232149"/>
            <a:ext cx="10160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Freeform 425"/>
          <p:cNvSpPr/>
          <p:nvPr/>
        </p:nvSpPr>
        <p:spPr>
          <a:xfrm>
            <a:off x="1098550" y="32131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117599" y="3060699"/>
            <a:ext cx="152399" cy="311149"/>
          </a:xfrm>
          <a:prstGeom prst="rect">
            <a:avLst/>
          </a:prstGeom>
          <a:solidFill>
            <a:srgbClr val="E59A98"/>
          </a:solidFill>
          <a:ln w="6985">
            <a:solidFill>
              <a:srgbClr val="6C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1117599" y="3022599"/>
            <a:ext cx="1523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p1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1346199" y="3060699"/>
            <a:ext cx="152399" cy="311149"/>
          </a:xfrm>
          <a:prstGeom prst="rect">
            <a:avLst/>
          </a:prstGeom>
          <a:solidFill>
            <a:srgbClr val="DB7777"/>
          </a:solidFill>
          <a:ln w="6985">
            <a:solidFill>
              <a:srgbClr val="6C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1346199" y="3022599"/>
            <a:ext cx="1523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p2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1574799" y="3060699"/>
            <a:ext cx="152399" cy="311149"/>
          </a:xfrm>
          <a:prstGeom prst="rect">
            <a:avLst/>
          </a:prstGeom>
          <a:solidFill>
            <a:srgbClr val="E59A98"/>
          </a:solidFill>
          <a:ln w="6985">
            <a:solidFill>
              <a:srgbClr val="6C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1574799" y="3022599"/>
            <a:ext cx="1523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p3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1803399" y="3060699"/>
            <a:ext cx="152399" cy="311149"/>
          </a:xfrm>
          <a:prstGeom prst="rect">
            <a:avLst/>
          </a:prstGeom>
          <a:solidFill>
            <a:srgbClr val="DB7777"/>
          </a:solidFill>
          <a:ln w="6985">
            <a:solidFill>
              <a:srgbClr val="6C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1803399" y="3022599"/>
            <a:ext cx="1523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p4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2031999" y="3060699"/>
            <a:ext cx="152399" cy="311149"/>
          </a:xfrm>
          <a:prstGeom prst="rect">
            <a:avLst/>
          </a:prstGeom>
          <a:solidFill>
            <a:srgbClr val="E59A98"/>
          </a:solidFill>
          <a:ln w="6985">
            <a:solidFill>
              <a:srgbClr val="6C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2031999" y="3022599"/>
            <a:ext cx="1523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p5</a:t>
            </a:r>
          </a:p>
        </p:txBody>
      </p:sp>
      <p:sp>
        <p:nvSpPr>
          <p:cNvPr id="437" name="Rectangle 436"/>
          <p:cNvSpPr/>
          <p:nvPr/>
        </p:nvSpPr>
        <p:spPr>
          <a:xfrm>
            <a:off x="2260599" y="3060699"/>
            <a:ext cx="152399" cy="311149"/>
          </a:xfrm>
          <a:prstGeom prst="rect">
            <a:avLst/>
          </a:prstGeom>
          <a:solidFill>
            <a:srgbClr val="DB7777"/>
          </a:solidFill>
          <a:ln w="6985">
            <a:solidFill>
              <a:srgbClr val="6C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2260599" y="3022599"/>
            <a:ext cx="1523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p6</a:t>
            </a:r>
          </a:p>
        </p:txBody>
      </p:sp>
      <p:sp>
        <p:nvSpPr>
          <p:cNvPr id="439" name="Rectangle 438"/>
          <p:cNvSpPr/>
          <p:nvPr/>
        </p:nvSpPr>
        <p:spPr>
          <a:xfrm>
            <a:off x="2489199" y="3060699"/>
            <a:ext cx="152399" cy="311149"/>
          </a:xfrm>
          <a:prstGeom prst="rect">
            <a:avLst/>
          </a:prstGeom>
          <a:solidFill>
            <a:srgbClr val="E59A98"/>
          </a:solidFill>
          <a:ln w="6985">
            <a:solidFill>
              <a:srgbClr val="6C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2489199" y="3022599"/>
            <a:ext cx="1523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p7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2717799" y="3060699"/>
            <a:ext cx="152399" cy="311149"/>
          </a:xfrm>
          <a:prstGeom prst="rect">
            <a:avLst/>
          </a:prstGeom>
          <a:solidFill>
            <a:srgbClr val="DB7777"/>
          </a:solidFill>
          <a:ln w="6985">
            <a:solidFill>
              <a:srgbClr val="6C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2717799" y="3022599"/>
            <a:ext cx="1523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p8</a:t>
            </a:r>
          </a:p>
        </p:txBody>
      </p:sp>
      <p:sp>
        <p:nvSpPr>
          <p:cNvPr id="443" name="Rectangle 442"/>
          <p:cNvSpPr/>
          <p:nvPr/>
        </p:nvSpPr>
        <p:spPr>
          <a:xfrm>
            <a:off x="1085849" y="3035299"/>
            <a:ext cx="215899" cy="387349"/>
          </a:xfrm>
          <a:prstGeom prst="rect">
            <a:avLst/>
          </a:prstGeom>
          <a:noFill/>
          <a:ln w="6985">
            <a:solidFill>
              <a:srgbClr val="E4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543049" y="3035299"/>
            <a:ext cx="215899" cy="387349"/>
          </a:xfrm>
          <a:prstGeom prst="rect">
            <a:avLst/>
          </a:prstGeom>
          <a:noFill/>
          <a:ln w="6985">
            <a:solidFill>
              <a:srgbClr val="E4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2000249" y="3035299"/>
            <a:ext cx="215899" cy="387349"/>
          </a:xfrm>
          <a:prstGeom prst="rect">
            <a:avLst/>
          </a:prstGeom>
          <a:noFill/>
          <a:ln w="6985">
            <a:solidFill>
              <a:srgbClr val="E4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1289049" y="3416299"/>
            <a:ext cx="26034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Times New Roman"/>
              </a:rPr>
              <a:t>α₁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1746249" y="3416299"/>
            <a:ext cx="26034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Times New Roman"/>
              </a:rPr>
              <a:t>α₂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2203449" y="3416299"/>
            <a:ext cx="26034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Times New Roman"/>
              </a:rPr>
              <a:t>α₃</a:t>
            </a:r>
          </a:p>
        </p:txBody>
      </p:sp>
      <p:cxnSp>
        <p:nvCxnSpPr>
          <p:cNvPr id="449" name="Connector 448"/>
          <p:cNvCxnSpPr/>
          <p:nvPr/>
        </p:nvCxnSpPr>
        <p:spPr>
          <a:xfrm flipV="1">
            <a:off x="1282699" y="3346449"/>
            <a:ext cx="63500" cy="133350"/>
          </a:xfrm>
          <a:prstGeom prst="line">
            <a:avLst/>
          </a:prstGeom>
          <a:ln w="10312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Freeform 449"/>
          <p:cNvSpPr/>
          <p:nvPr/>
        </p:nvSpPr>
        <p:spPr>
          <a:xfrm>
            <a:off x="1320800" y="3346450"/>
            <a:ext cx="31750" cy="3175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4" y="0"/>
                </a:moveTo>
                <a:lnTo>
                  <a:pt x="5" y="5"/>
                </a:lnTo>
                <a:lnTo>
                  <a:pt x="0" y="3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1" name="Connector 450"/>
          <p:cNvCxnSpPr/>
          <p:nvPr/>
        </p:nvCxnSpPr>
        <p:spPr>
          <a:xfrm flipV="1">
            <a:off x="1739899" y="3346449"/>
            <a:ext cx="63500" cy="133350"/>
          </a:xfrm>
          <a:prstGeom prst="line">
            <a:avLst/>
          </a:prstGeom>
          <a:ln w="10312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Freeform 451"/>
          <p:cNvSpPr/>
          <p:nvPr/>
        </p:nvSpPr>
        <p:spPr>
          <a:xfrm>
            <a:off x="1778000" y="3346450"/>
            <a:ext cx="31750" cy="3175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4" y="0"/>
                </a:moveTo>
                <a:lnTo>
                  <a:pt x="5" y="5"/>
                </a:lnTo>
                <a:lnTo>
                  <a:pt x="0" y="3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Connector 452"/>
          <p:cNvCxnSpPr/>
          <p:nvPr/>
        </p:nvCxnSpPr>
        <p:spPr>
          <a:xfrm flipV="1">
            <a:off x="2197099" y="3346449"/>
            <a:ext cx="63500" cy="133350"/>
          </a:xfrm>
          <a:prstGeom prst="line">
            <a:avLst/>
          </a:prstGeom>
          <a:ln w="10312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Freeform 453"/>
          <p:cNvSpPr/>
          <p:nvPr/>
        </p:nvSpPr>
        <p:spPr>
          <a:xfrm>
            <a:off x="2235200" y="3346450"/>
            <a:ext cx="31750" cy="3175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4" y="0"/>
                </a:moveTo>
                <a:lnTo>
                  <a:pt x="5" y="5"/>
                </a:lnTo>
                <a:lnTo>
                  <a:pt x="0" y="3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2654300" y="3244850"/>
            <a:ext cx="114300" cy="139700"/>
          </a:xfrm>
          <a:custGeom>
            <a:avLst/>
            <a:gdLst/>
            <a:ahLst/>
            <a:cxnLst/>
            <a:rect l="l" t="t" r="r" b="b"/>
            <a:pathLst>
              <a:path w="18" h="22">
                <a:moveTo>
                  <a:pt x="9" y="0"/>
                </a:moveTo>
                <a:lnTo>
                  <a:pt x="15" y="7"/>
                </a:lnTo>
                <a:lnTo>
                  <a:pt x="13" y="12"/>
                </a:lnTo>
                <a:lnTo>
                  <a:pt x="18" y="11"/>
                </a:lnTo>
                <a:lnTo>
                  <a:pt x="17" y="17"/>
                </a:lnTo>
                <a:lnTo>
                  <a:pt x="12" y="22"/>
                </a:lnTo>
                <a:lnTo>
                  <a:pt x="5" y="21"/>
                </a:lnTo>
                <a:lnTo>
                  <a:pt x="0" y="15"/>
                </a:lnTo>
                <a:lnTo>
                  <a:pt x="2" y="9"/>
                </a:lnTo>
                <a:lnTo>
                  <a:pt x="6" y="11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2698750" y="32893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3" y="0"/>
                </a:moveTo>
                <a:lnTo>
                  <a:pt x="6" y="6"/>
                </a:lnTo>
                <a:lnTo>
                  <a:pt x="4" y="12"/>
                </a:lnTo>
                <a:lnTo>
                  <a:pt x="0" y="10"/>
                </a:lnTo>
                <a:lnTo>
                  <a:pt x="0" y="6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7" name="Connector 456"/>
          <p:cNvCxnSpPr/>
          <p:nvPr/>
        </p:nvCxnSpPr>
        <p:spPr>
          <a:xfrm>
            <a:off x="2730499" y="3238499"/>
            <a:ext cx="311150" cy="0"/>
          </a:xfrm>
          <a:prstGeom prst="line">
            <a:avLst/>
          </a:prstGeom>
          <a:ln w="10312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Freeform 457"/>
          <p:cNvSpPr/>
          <p:nvPr/>
        </p:nvSpPr>
        <p:spPr>
          <a:xfrm>
            <a:off x="3016250" y="321945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3047999" y="3035299"/>
            <a:ext cx="406399" cy="42544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3111499" y="3067049"/>
            <a:ext cx="120649" cy="3492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3136899" y="3092449"/>
            <a:ext cx="69849" cy="2984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3149599" y="3105149"/>
            <a:ext cx="44449" cy="78316"/>
          </a:xfrm>
          <a:prstGeom prst="rect">
            <a:avLst/>
          </a:prstGeom>
          <a:solidFill>
            <a:srgbClr val="8BA3BA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3149599" y="3196166"/>
            <a:ext cx="44449" cy="78316"/>
          </a:xfrm>
          <a:prstGeom prst="rect">
            <a:avLst/>
          </a:prstGeom>
          <a:solidFill>
            <a:srgbClr val="8BA3BA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3149599" y="3287183"/>
            <a:ext cx="44449" cy="78316"/>
          </a:xfrm>
          <a:prstGeom prst="rect">
            <a:avLst/>
          </a:prstGeom>
          <a:solidFill>
            <a:srgbClr val="8BA3BA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3282949" y="3067049"/>
            <a:ext cx="120649" cy="3492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3308349" y="3092449"/>
            <a:ext cx="69849" cy="2984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3321049" y="3105149"/>
            <a:ext cx="44449" cy="78316"/>
          </a:xfrm>
          <a:prstGeom prst="rect">
            <a:avLst/>
          </a:prstGeom>
          <a:solidFill>
            <a:srgbClr val="8BA3BA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3321049" y="3196166"/>
            <a:ext cx="44449" cy="78316"/>
          </a:xfrm>
          <a:prstGeom prst="rect">
            <a:avLst/>
          </a:prstGeom>
          <a:solidFill>
            <a:srgbClr val="8BA3BA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3321049" y="3287183"/>
            <a:ext cx="44449" cy="78316"/>
          </a:xfrm>
          <a:prstGeom prst="rect">
            <a:avLst/>
          </a:prstGeom>
          <a:solidFill>
            <a:srgbClr val="8BA3BA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3130549" y="3479799"/>
            <a:ext cx="28574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E40000"/>
                </a:solidFill>
                <a:latin typeface="Times New Roman"/>
              </a:rPr>
              <a:t>xₚ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3587749" y="3054349"/>
            <a:ext cx="4571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77777"/>
                </a:solidFill>
                <a:latin typeface="Times New Roman"/>
              </a:rPr>
              <a:t>Concat</a:t>
            </a:r>
          </a:p>
        </p:txBody>
      </p:sp>
      <p:cxnSp>
        <p:nvCxnSpPr>
          <p:cNvPr id="472" name="Connector 471"/>
          <p:cNvCxnSpPr/>
          <p:nvPr/>
        </p:nvCxnSpPr>
        <p:spPr>
          <a:xfrm>
            <a:off x="3460749" y="3244849"/>
            <a:ext cx="3492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Freeform 472"/>
          <p:cNvSpPr/>
          <p:nvPr/>
        </p:nvSpPr>
        <p:spPr>
          <a:xfrm>
            <a:off x="3784600" y="32258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3803649" y="3206749"/>
            <a:ext cx="1917699" cy="31114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ounded Rectangle 474"/>
          <p:cNvSpPr/>
          <p:nvPr/>
        </p:nvSpPr>
        <p:spPr>
          <a:xfrm>
            <a:off x="3854449" y="3251199"/>
            <a:ext cx="184149" cy="215899"/>
          </a:xfrm>
          <a:prstGeom prst="roundRect">
            <a:avLst/>
          </a:prstGeom>
          <a:solidFill>
            <a:srgbClr val="DCE4EE"/>
          </a:solidFill>
          <a:ln w="6985">
            <a:solidFill>
              <a:srgbClr val="44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3854449" y="3251199"/>
            <a:ext cx="18414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*1</a:t>
            </a:r>
          </a:p>
        </p:txBody>
      </p:sp>
      <p:sp>
        <p:nvSpPr>
          <p:cNvPr id="477" name="Rounded Rectangle 476"/>
          <p:cNvSpPr/>
          <p:nvPr/>
        </p:nvSpPr>
        <p:spPr>
          <a:xfrm>
            <a:off x="4076699" y="3251199"/>
            <a:ext cx="158749" cy="215899"/>
          </a:xfrm>
          <a:prstGeom prst="roundRect">
            <a:avLst/>
          </a:prstGeom>
          <a:solidFill>
            <a:srgbClr val="DCE4EE"/>
          </a:solidFill>
          <a:ln w="6985">
            <a:solidFill>
              <a:srgbClr val="44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4076699" y="3251199"/>
            <a:ext cx="15874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…</a:t>
            </a:r>
          </a:p>
        </p:txBody>
      </p:sp>
      <p:sp>
        <p:nvSpPr>
          <p:cNvPr id="479" name="Rounded Rectangle 478"/>
          <p:cNvSpPr/>
          <p:nvPr/>
        </p:nvSpPr>
        <p:spPr>
          <a:xfrm>
            <a:off x="4273549" y="3251199"/>
            <a:ext cx="184149" cy="215899"/>
          </a:xfrm>
          <a:prstGeom prst="roundRect">
            <a:avLst/>
          </a:prstGeom>
          <a:solidFill>
            <a:srgbClr val="DCE4EE"/>
          </a:solidFill>
          <a:ln w="6985">
            <a:solidFill>
              <a:srgbClr val="44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4273549" y="3251199"/>
            <a:ext cx="18414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*N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4495799" y="3251199"/>
            <a:ext cx="184149" cy="215899"/>
          </a:xfrm>
          <a:prstGeom prst="roundRect">
            <a:avLst/>
          </a:prstGeom>
          <a:solidFill>
            <a:srgbClr val="DCE4EE"/>
          </a:solidFill>
          <a:ln w="6985">
            <a:solidFill>
              <a:srgbClr val="44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4495799" y="3251199"/>
            <a:ext cx="18414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*0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4718049" y="3251199"/>
            <a:ext cx="184149" cy="215899"/>
          </a:xfrm>
          <a:prstGeom prst="roundRect">
            <a:avLst/>
          </a:prstGeom>
          <a:solidFill>
            <a:srgbClr val="DCE4EE"/>
          </a:solidFill>
          <a:ln w="6985">
            <a:solidFill>
              <a:srgbClr val="44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4718049" y="3251199"/>
            <a:ext cx="18414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*1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4940299" y="3251199"/>
            <a:ext cx="184149" cy="215899"/>
          </a:xfrm>
          <a:prstGeom prst="roundRect">
            <a:avLst/>
          </a:prstGeom>
          <a:solidFill>
            <a:srgbClr val="DCE4EE"/>
          </a:solidFill>
          <a:ln w="6985">
            <a:solidFill>
              <a:srgbClr val="44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4940299" y="3251199"/>
            <a:ext cx="18414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*2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5162549" y="3251199"/>
            <a:ext cx="158749" cy="215899"/>
          </a:xfrm>
          <a:prstGeom prst="roundRect">
            <a:avLst/>
          </a:prstGeom>
          <a:solidFill>
            <a:srgbClr val="DCE4EE"/>
          </a:solidFill>
          <a:ln w="6985">
            <a:solidFill>
              <a:srgbClr val="44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TextBox 487"/>
          <p:cNvSpPr txBox="1"/>
          <p:nvPr/>
        </p:nvSpPr>
        <p:spPr>
          <a:xfrm>
            <a:off x="5162549" y="3251199"/>
            <a:ext cx="15874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…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5359399" y="3251199"/>
            <a:ext cx="184149" cy="215899"/>
          </a:xfrm>
          <a:prstGeom prst="roundRect">
            <a:avLst/>
          </a:prstGeom>
          <a:solidFill>
            <a:srgbClr val="DCE4EE"/>
          </a:solidFill>
          <a:ln w="6985">
            <a:solidFill>
              <a:srgbClr val="445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5359399" y="3251199"/>
            <a:ext cx="18414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*L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4775199" y="3009899"/>
            <a:ext cx="933449" cy="1714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40000"/>
                </a:solidFill>
                <a:latin typeface="Times New Roman"/>
              </a:rPr>
              <a:t>Contextual Input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5079999" y="3524249"/>
            <a:ext cx="539749" cy="146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E40000"/>
                </a:solidFill>
                <a:latin typeface="Times New Roman"/>
              </a:rPr>
              <a:t>xctx</a:t>
            </a:r>
          </a:p>
        </p:txBody>
      </p:sp>
      <p:cxnSp>
        <p:nvCxnSpPr>
          <p:cNvPr id="493" name="Connector 492"/>
          <p:cNvCxnSpPr/>
          <p:nvPr/>
        </p:nvCxnSpPr>
        <p:spPr>
          <a:xfrm>
            <a:off x="4825999" y="3511549"/>
            <a:ext cx="0" cy="361950"/>
          </a:xfrm>
          <a:prstGeom prst="line">
            <a:avLst/>
          </a:prstGeom>
          <a:ln w="7365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TextBox 493"/>
          <p:cNvSpPr txBox="1"/>
          <p:nvPr/>
        </p:nvSpPr>
        <p:spPr>
          <a:xfrm>
            <a:off x="7391399" y="2019299"/>
            <a:ext cx="3397249" cy="241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Spatio-Temporal Filtering (STF)</a:t>
            </a:r>
          </a:p>
        </p:txBody>
      </p:sp>
      <p:sp>
        <p:nvSpPr>
          <p:cNvPr id="495" name="Rectangle 494"/>
          <p:cNvSpPr/>
          <p:nvPr/>
        </p:nvSpPr>
        <p:spPr>
          <a:xfrm>
            <a:off x="6134099" y="2273299"/>
            <a:ext cx="2647949" cy="71119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6" name="Connector 495"/>
          <p:cNvCxnSpPr/>
          <p:nvPr/>
        </p:nvCxnSpPr>
        <p:spPr>
          <a:xfrm flipV="1">
            <a:off x="6222999" y="2368549"/>
            <a:ext cx="114300" cy="171450"/>
          </a:xfrm>
          <a:prstGeom prst="line">
            <a:avLst/>
          </a:prstGeom>
          <a:ln w="7365">
            <a:solidFill>
              <a:srgbClr val="4257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6337299" y="2368549"/>
            <a:ext cx="222250" cy="44450"/>
          </a:xfrm>
          <a:prstGeom prst="line">
            <a:avLst/>
          </a:prstGeom>
          <a:ln w="7365">
            <a:solidFill>
              <a:srgbClr val="4257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6559549" y="2412999"/>
            <a:ext cx="120650" cy="127000"/>
          </a:xfrm>
          <a:prstGeom prst="line">
            <a:avLst/>
          </a:prstGeom>
          <a:ln w="7365">
            <a:solidFill>
              <a:srgbClr val="4257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H="1">
            <a:off x="6483349" y="2539999"/>
            <a:ext cx="196850" cy="88900"/>
          </a:xfrm>
          <a:prstGeom prst="line">
            <a:avLst/>
          </a:prstGeom>
          <a:ln w="7365">
            <a:solidFill>
              <a:srgbClr val="4257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H="1" flipV="1">
            <a:off x="6222999" y="2539999"/>
            <a:ext cx="260350" cy="88900"/>
          </a:xfrm>
          <a:prstGeom prst="line">
            <a:avLst/>
          </a:prstGeom>
          <a:ln w="7365">
            <a:solidFill>
              <a:srgbClr val="4257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6337299" y="2368549"/>
            <a:ext cx="146050" cy="260350"/>
          </a:xfrm>
          <a:prstGeom prst="line">
            <a:avLst/>
          </a:prstGeom>
          <a:ln w="7365">
            <a:solidFill>
              <a:srgbClr val="4257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H="1">
            <a:off x="6356349" y="2628899"/>
            <a:ext cx="127000" cy="120650"/>
          </a:xfrm>
          <a:prstGeom prst="line">
            <a:avLst/>
          </a:prstGeom>
          <a:ln w="7365">
            <a:solidFill>
              <a:srgbClr val="4257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6356349" y="2749549"/>
            <a:ext cx="234950" cy="38100"/>
          </a:xfrm>
          <a:prstGeom prst="line">
            <a:avLst/>
          </a:prstGeom>
          <a:ln w="7365">
            <a:solidFill>
              <a:srgbClr val="4257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6591299" y="2539999"/>
            <a:ext cx="88900" cy="247650"/>
          </a:xfrm>
          <a:prstGeom prst="line">
            <a:avLst/>
          </a:prstGeom>
          <a:ln w="7365">
            <a:solidFill>
              <a:srgbClr val="4257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6222999" y="2539999"/>
            <a:ext cx="133350" cy="209550"/>
          </a:xfrm>
          <a:prstGeom prst="line">
            <a:avLst/>
          </a:prstGeom>
          <a:ln w="7365">
            <a:solidFill>
              <a:srgbClr val="4257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Oval 505"/>
          <p:cNvSpPr/>
          <p:nvPr/>
        </p:nvSpPr>
        <p:spPr>
          <a:xfrm>
            <a:off x="6184899" y="2501899"/>
            <a:ext cx="76199" cy="76199"/>
          </a:xfrm>
          <a:prstGeom prst="ellipse">
            <a:avLst/>
          </a:prstGeom>
          <a:solidFill>
            <a:srgbClr val="5C9BD0"/>
          </a:solidFill>
          <a:ln w="6985">
            <a:solidFill>
              <a:srgbClr val="3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6299199" y="2330449"/>
            <a:ext cx="76199" cy="76199"/>
          </a:xfrm>
          <a:prstGeom prst="ellipse">
            <a:avLst/>
          </a:prstGeom>
          <a:solidFill>
            <a:srgbClr val="5C9BD0"/>
          </a:solidFill>
          <a:ln w="6985">
            <a:solidFill>
              <a:srgbClr val="3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6521449" y="2374899"/>
            <a:ext cx="76199" cy="76199"/>
          </a:xfrm>
          <a:prstGeom prst="ellipse">
            <a:avLst/>
          </a:prstGeom>
          <a:solidFill>
            <a:srgbClr val="5C9BD0"/>
          </a:solidFill>
          <a:ln w="6985">
            <a:solidFill>
              <a:srgbClr val="3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6445249" y="2590799"/>
            <a:ext cx="76199" cy="76199"/>
          </a:xfrm>
          <a:prstGeom prst="ellipse">
            <a:avLst/>
          </a:prstGeom>
          <a:solidFill>
            <a:srgbClr val="5C9BD0"/>
          </a:solidFill>
          <a:ln w="6985">
            <a:solidFill>
              <a:srgbClr val="3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6642099" y="2501899"/>
            <a:ext cx="76199" cy="76199"/>
          </a:xfrm>
          <a:prstGeom prst="ellipse">
            <a:avLst/>
          </a:prstGeom>
          <a:solidFill>
            <a:srgbClr val="5C9BD0"/>
          </a:solidFill>
          <a:ln w="6985">
            <a:solidFill>
              <a:srgbClr val="3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6553199" y="2749549"/>
            <a:ext cx="76199" cy="76199"/>
          </a:xfrm>
          <a:prstGeom prst="ellipse">
            <a:avLst/>
          </a:prstGeom>
          <a:solidFill>
            <a:srgbClr val="5C9BD0"/>
          </a:solidFill>
          <a:ln w="6985">
            <a:solidFill>
              <a:srgbClr val="3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6318249" y="2711449"/>
            <a:ext cx="76199" cy="76199"/>
          </a:xfrm>
          <a:prstGeom prst="ellipse">
            <a:avLst/>
          </a:prstGeom>
          <a:solidFill>
            <a:srgbClr val="5C9BD0"/>
          </a:solidFill>
          <a:ln w="6985">
            <a:solidFill>
              <a:srgbClr val="3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TextBox 512"/>
          <p:cNvSpPr txBox="1"/>
          <p:nvPr/>
        </p:nvSpPr>
        <p:spPr>
          <a:xfrm>
            <a:off x="6203949" y="2787649"/>
            <a:ext cx="63499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Adjacency Matrix</a:t>
            </a:r>
          </a:p>
        </p:txBody>
      </p:sp>
      <p:sp>
        <p:nvSpPr>
          <p:cNvPr id="514" name="Rectangle 513"/>
          <p:cNvSpPr/>
          <p:nvPr/>
        </p:nvSpPr>
        <p:spPr>
          <a:xfrm>
            <a:off x="6661149" y="23240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6750049" y="23240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6838949" y="23240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6927849" y="23240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7016749" y="23240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7105649" y="23240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6661149" y="24129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6750049" y="24129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6838949" y="24129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6927849" y="24129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7016749" y="24129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7105649" y="24129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6661149" y="25018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6750049" y="25018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6838949" y="25018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6927849" y="25018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7016749" y="25018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7105649" y="25018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6661149" y="25907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6750049" y="25907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6838949" y="25907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6927849" y="25907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7016749" y="25907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7105649" y="25907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6661149" y="26796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6750049" y="26796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6838949" y="26796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6927849" y="26796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7016749" y="26796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7105649" y="26796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6661149" y="2768599"/>
            <a:ext cx="88899" cy="88899"/>
          </a:xfrm>
          <a:prstGeom prst="rect">
            <a:avLst/>
          </a:prstGeom>
          <a:solidFill>
            <a:srgbClr val="212121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6750049" y="27685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6838949" y="27685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6927849" y="27685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7016749" y="27685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7105649" y="2768599"/>
            <a:ext cx="88899" cy="88899"/>
          </a:xfrm>
          <a:prstGeom prst="rect">
            <a:avLst/>
          </a:prstGeom>
          <a:solidFill>
            <a:srgbClr val="FFFFFF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7232649" y="2482849"/>
            <a:ext cx="133349" cy="133349"/>
          </a:xfrm>
          <a:prstGeom prst="ellipse">
            <a:avLst/>
          </a:prstGeom>
          <a:solidFill>
            <a:srgbClr val="FFFFFF"/>
          </a:solidFill>
          <a:ln w="698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TextBox 550"/>
          <p:cNvSpPr txBox="1"/>
          <p:nvPr/>
        </p:nvSpPr>
        <p:spPr>
          <a:xfrm>
            <a:off x="7232649" y="2482849"/>
            <a:ext cx="13334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Times New Roman"/>
              </a:rPr>
              <a:t>×</a:t>
            </a:r>
          </a:p>
        </p:txBody>
      </p:sp>
      <p:sp>
        <p:nvSpPr>
          <p:cNvPr id="552" name="Rectangle 551"/>
          <p:cNvSpPr/>
          <p:nvPr/>
        </p:nvSpPr>
        <p:spPr>
          <a:xfrm>
            <a:off x="7416799" y="23113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7499349" y="231139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7581899" y="23113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7664449" y="231139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7746999" y="23113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7829549" y="231139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7912099" y="23113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7416799" y="24193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7499349" y="24193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7581899" y="24193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7664449" y="24193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7746999" y="24193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7829549" y="24193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7912099" y="24193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7416799" y="25272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7499349" y="252729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7581899" y="25272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7664449" y="252729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7746999" y="25272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7829549" y="252729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7912099" y="25272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7416799" y="26352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7499349" y="26352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7581899" y="26352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7664449" y="26352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7746999" y="26352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7829549" y="26352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7912099" y="263524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7416799" y="27431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7499349" y="274319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7581899" y="27431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7664449" y="274319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7746999" y="27431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7829549" y="2743199"/>
            <a:ext cx="82549" cy="107949"/>
          </a:xfrm>
          <a:prstGeom prst="rect">
            <a:avLst/>
          </a:prstGeom>
          <a:solidFill>
            <a:srgbClr val="8351AA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7912099" y="2743199"/>
            <a:ext cx="82549" cy="107949"/>
          </a:xfrm>
          <a:prstGeom prst="rect">
            <a:avLst/>
          </a:prstGeom>
          <a:solidFill>
            <a:srgbClr val="A96DC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7518399" y="2838449"/>
            <a:ext cx="533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Spatial Affinity</a:t>
            </a:r>
          </a:p>
        </p:txBody>
      </p:sp>
      <p:sp>
        <p:nvSpPr>
          <p:cNvPr id="588" name="TextBox 587"/>
          <p:cNvSpPr txBox="1"/>
          <p:nvPr/>
        </p:nvSpPr>
        <p:spPr>
          <a:xfrm>
            <a:off x="8007349" y="2571749"/>
            <a:ext cx="24129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Times New Roman"/>
              </a:rPr>
              <a:t>Sₛ</a:t>
            </a:r>
          </a:p>
        </p:txBody>
      </p:sp>
      <p:sp>
        <p:nvSpPr>
          <p:cNvPr id="589" name="Rectangle 588"/>
          <p:cNvSpPr/>
          <p:nvPr/>
        </p:nvSpPr>
        <p:spPr>
          <a:xfrm>
            <a:off x="8216899" y="2362199"/>
            <a:ext cx="495299" cy="304799"/>
          </a:xfrm>
          <a:prstGeom prst="rect">
            <a:avLst/>
          </a:prstGeom>
          <a:solidFill>
            <a:srgbClr val="FFFFFF"/>
          </a:solidFill>
          <a:ln w="698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8267699" y="2406649"/>
            <a:ext cx="368299" cy="1142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8293099" y="2432049"/>
            <a:ext cx="317499" cy="63499"/>
          </a:xfrm>
          <a:prstGeom prst="rect">
            <a:avLst/>
          </a:prstGeom>
          <a:solidFill>
            <a:srgbClr val="EAF0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8305799" y="2444749"/>
            <a:ext cx="292099" cy="38099"/>
          </a:xfrm>
          <a:prstGeom prst="rect">
            <a:avLst/>
          </a:prstGeom>
          <a:solidFill>
            <a:srgbClr val="8AA6C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8305799" y="2495549"/>
            <a:ext cx="292099" cy="38099"/>
          </a:xfrm>
          <a:prstGeom prst="rect">
            <a:avLst/>
          </a:prstGeom>
          <a:solidFill>
            <a:srgbClr val="8AA6C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8305799" y="2546349"/>
            <a:ext cx="292099" cy="38099"/>
          </a:xfrm>
          <a:prstGeom prst="rect">
            <a:avLst/>
          </a:prstGeom>
          <a:solidFill>
            <a:srgbClr val="8AA6C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8229599" y="2686049"/>
            <a:ext cx="5460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Eₙ ⊗ Hₛₜ</a:t>
            </a:r>
          </a:p>
        </p:txBody>
      </p:sp>
      <p:sp>
        <p:nvSpPr>
          <p:cNvPr id="596" name="Rectangle 595"/>
          <p:cNvSpPr/>
          <p:nvPr/>
        </p:nvSpPr>
        <p:spPr>
          <a:xfrm>
            <a:off x="8274049" y="2825749"/>
            <a:ext cx="380999" cy="1079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8299449" y="2851149"/>
            <a:ext cx="330199" cy="57149"/>
          </a:xfrm>
          <a:prstGeom prst="rect">
            <a:avLst/>
          </a:prstGeom>
          <a:solidFill>
            <a:srgbClr val="FFFFFF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8312149" y="2863849"/>
            <a:ext cx="304799" cy="38099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8312149" y="2914649"/>
            <a:ext cx="304799" cy="38099"/>
          </a:xfrm>
          <a:prstGeom prst="rect">
            <a:avLst/>
          </a:prstGeom>
          <a:solidFill>
            <a:srgbClr val="5F8FC9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8312149" y="2965449"/>
            <a:ext cx="304799" cy="38099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8832849" y="2273299"/>
            <a:ext cx="1396999" cy="71119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8934449" y="23113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9016999" y="231139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9099549" y="23113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9182099" y="231139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9264649" y="23113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9347199" y="231139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9429749" y="23113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8934449" y="24193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9016999" y="24193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9099549" y="24193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9182099" y="24193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9264649" y="24193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9347199" y="24193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9429749" y="24193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8934449" y="25272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9016999" y="252729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9099549" y="25272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9182099" y="252729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9264649" y="25272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9347199" y="252729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9429749" y="25272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8934449" y="26352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9016999" y="26352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9099549" y="26352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9182099" y="26352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9264649" y="26352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9347199" y="26352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9429749" y="263524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8934449" y="27431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9016999" y="274319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9099549" y="27431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9182099" y="274319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9264649" y="27431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9347199" y="2743199"/>
            <a:ext cx="82549" cy="107949"/>
          </a:xfrm>
          <a:prstGeom prst="rect">
            <a:avLst/>
          </a:prstGeom>
          <a:solidFill>
            <a:srgbClr val="DF7E84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9429749" y="2743199"/>
            <a:ext cx="82549" cy="107949"/>
          </a:xfrm>
          <a:prstGeom prst="rect">
            <a:avLst/>
          </a:prstGeom>
          <a:solidFill>
            <a:srgbClr val="ED999D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9055099" y="2838449"/>
            <a:ext cx="4952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Temporal Affinity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9461499" y="2571749"/>
            <a:ext cx="22859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Times New Roman"/>
              </a:rPr>
              <a:t>Sₜ</a:t>
            </a:r>
          </a:p>
        </p:txBody>
      </p:sp>
      <p:sp>
        <p:nvSpPr>
          <p:cNvPr id="639" name="Rectangle 638"/>
          <p:cNvSpPr/>
          <p:nvPr/>
        </p:nvSpPr>
        <p:spPr>
          <a:xfrm>
            <a:off x="9772649" y="2362199"/>
            <a:ext cx="393699" cy="304799"/>
          </a:xfrm>
          <a:prstGeom prst="rect">
            <a:avLst/>
          </a:prstGeom>
          <a:solidFill>
            <a:srgbClr val="FFFFFF"/>
          </a:solidFill>
          <a:ln w="698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9817099" y="2406649"/>
            <a:ext cx="292099" cy="1142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9842499" y="2432049"/>
            <a:ext cx="241299" cy="63499"/>
          </a:xfrm>
          <a:prstGeom prst="rect">
            <a:avLst/>
          </a:prstGeom>
          <a:solidFill>
            <a:srgbClr val="EAF0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9855199" y="2444749"/>
            <a:ext cx="215899" cy="38099"/>
          </a:xfrm>
          <a:prstGeom prst="rect">
            <a:avLst/>
          </a:prstGeom>
          <a:solidFill>
            <a:srgbClr val="8AA6C8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9855199" y="2495549"/>
            <a:ext cx="215899" cy="38099"/>
          </a:xfrm>
          <a:prstGeom prst="rect">
            <a:avLst/>
          </a:prstGeom>
          <a:solidFill>
            <a:srgbClr val="E99B9E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9855199" y="2546349"/>
            <a:ext cx="215899" cy="38099"/>
          </a:xfrm>
          <a:prstGeom prst="rect">
            <a:avLst/>
          </a:prstGeom>
          <a:solidFill>
            <a:srgbClr val="B98AC7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TextBox 644"/>
          <p:cNvSpPr txBox="1"/>
          <p:nvPr/>
        </p:nvSpPr>
        <p:spPr>
          <a:xfrm>
            <a:off x="9683749" y="2686049"/>
            <a:ext cx="5460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Eₙ ⊗ Hₛₜ</a:t>
            </a:r>
          </a:p>
        </p:txBody>
      </p:sp>
      <p:sp>
        <p:nvSpPr>
          <p:cNvPr id="646" name="Rectangle 645"/>
          <p:cNvSpPr/>
          <p:nvPr/>
        </p:nvSpPr>
        <p:spPr>
          <a:xfrm>
            <a:off x="9823449" y="2825749"/>
            <a:ext cx="292099" cy="1079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9848849" y="2851149"/>
            <a:ext cx="241299" cy="57149"/>
          </a:xfrm>
          <a:prstGeom prst="rect">
            <a:avLst/>
          </a:prstGeom>
          <a:solidFill>
            <a:srgbClr val="FFFFFF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9861549" y="2863849"/>
            <a:ext cx="215899" cy="38099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9861549" y="2914649"/>
            <a:ext cx="215899" cy="38099"/>
          </a:xfrm>
          <a:prstGeom prst="rect">
            <a:avLst/>
          </a:prstGeom>
          <a:solidFill>
            <a:srgbClr val="5F8FC9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9861549" y="2965449"/>
            <a:ext cx="215899" cy="38099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0394949" y="2273299"/>
            <a:ext cx="1695449" cy="71119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10483849" y="23113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10566399" y="231139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10648949" y="23113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10731499" y="231139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10814049" y="23113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10896599" y="231139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10979149" y="23113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10483849" y="24193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10566399" y="24193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10648949" y="24193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10731499" y="24193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10814049" y="24193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10896599" y="24193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10979149" y="24193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10483849" y="25272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10566399" y="252729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0648949" y="25272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10731499" y="252729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10814049" y="25272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10896599" y="252729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10979149" y="25272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10483849" y="26352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Rectangle 673"/>
          <p:cNvSpPr/>
          <p:nvPr/>
        </p:nvSpPr>
        <p:spPr>
          <a:xfrm>
            <a:off x="10566399" y="26352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10648949" y="26352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10731499" y="26352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Rectangle 676"/>
          <p:cNvSpPr/>
          <p:nvPr/>
        </p:nvSpPr>
        <p:spPr>
          <a:xfrm>
            <a:off x="10814049" y="26352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10896599" y="26352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Rectangle 678"/>
          <p:cNvSpPr/>
          <p:nvPr/>
        </p:nvSpPr>
        <p:spPr>
          <a:xfrm>
            <a:off x="10979149" y="263524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10483849" y="27431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10566399" y="274319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Rectangle 681"/>
          <p:cNvSpPr/>
          <p:nvPr/>
        </p:nvSpPr>
        <p:spPr>
          <a:xfrm>
            <a:off x="10648949" y="27431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10731499" y="274319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10814049" y="27431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Rectangle 684"/>
          <p:cNvSpPr/>
          <p:nvPr/>
        </p:nvSpPr>
        <p:spPr>
          <a:xfrm>
            <a:off x="10896599" y="2743199"/>
            <a:ext cx="82549" cy="107949"/>
          </a:xfrm>
          <a:prstGeom prst="rect">
            <a:avLst/>
          </a:prstGeom>
          <a:solidFill>
            <a:srgbClr val="6F93C7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Rectangle 685"/>
          <p:cNvSpPr/>
          <p:nvPr/>
        </p:nvSpPr>
        <p:spPr>
          <a:xfrm>
            <a:off x="10979149" y="2743199"/>
            <a:ext cx="82549" cy="107949"/>
          </a:xfrm>
          <a:prstGeom prst="rect">
            <a:avLst/>
          </a:prstGeom>
          <a:solidFill>
            <a:srgbClr val="88A9D2"/>
          </a:solidFill>
          <a:ln w="508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10528299" y="2838449"/>
            <a:ext cx="787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Time-Lagged Affinity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11112499" y="2571749"/>
            <a:ext cx="22859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11111"/>
                </a:solidFill>
                <a:latin typeface="Times New Roman"/>
              </a:rPr>
              <a:t>S𝒹</a:t>
            </a:r>
          </a:p>
        </p:txBody>
      </p:sp>
      <p:sp>
        <p:nvSpPr>
          <p:cNvPr id="689" name="Rectangle 688"/>
          <p:cNvSpPr/>
          <p:nvPr/>
        </p:nvSpPr>
        <p:spPr>
          <a:xfrm>
            <a:off x="11391899" y="2336799"/>
            <a:ext cx="609599" cy="349249"/>
          </a:xfrm>
          <a:prstGeom prst="rect">
            <a:avLst/>
          </a:prstGeom>
          <a:solidFill>
            <a:srgbClr val="FFFFFF"/>
          </a:solidFill>
          <a:ln w="698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11449049" y="2374899"/>
            <a:ext cx="431799" cy="222249"/>
          </a:xfrm>
          <a:prstGeom prst="rect">
            <a:avLst/>
          </a:prstGeom>
          <a:solidFill>
            <a:srgbClr val="FFFFFF"/>
          </a:solidFill>
          <a:ln w="5588">
            <a:solidFill>
              <a:srgbClr val="445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11512549" y="2419349"/>
            <a:ext cx="298449" cy="1333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11537949" y="2444749"/>
            <a:ext cx="247649" cy="82549"/>
          </a:xfrm>
          <a:prstGeom prst="rect">
            <a:avLst/>
          </a:prstGeom>
          <a:solidFill>
            <a:srgbClr val="FFFFFF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11550649" y="2457449"/>
            <a:ext cx="222249" cy="38099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11550649" y="2508249"/>
            <a:ext cx="222249" cy="38099"/>
          </a:xfrm>
          <a:prstGeom prst="rect">
            <a:avLst/>
          </a:prstGeom>
          <a:solidFill>
            <a:srgbClr val="5F8FC9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11550649" y="2559049"/>
            <a:ext cx="222249" cy="38099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11499849" y="2400299"/>
            <a:ext cx="431799" cy="222249"/>
          </a:xfrm>
          <a:prstGeom prst="rect">
            <a:avLst/>
          </a:prstGeom>
          <a:solidFill>
            <a:srgbClr val="FFFFFF"/>
          </a:solidFill>
          <a:ln w="5588">
            <a:solidFill>
              <a:srgbClr val="445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11563349" y="2444749"/>
            <a:ext cx="298449" cy="1333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11588749" y="2470149"/>
            <a:ext cx="247649" cy="82549"/>
          </a:xfrm>
          <a:prstGeom prst="rect">
            <a:avLst/>
          </a:prstGeom>
          <a:solidFill>
            <a:srgbClr val="FFFFFF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11601449" y="2482849"/>
            <a:ext cx="222249" cy="38099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11601449" y="2533649"/>
            <a:ext cx="222249" cy="38099"/>
          </a:xfrm>
          <a:prstGeom prst="rect">
            <a:avLst/>
          </a:prstGeom>
          <a:solidFill>
            <a:srgbClr val="5F8FC9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11601449" y="2584449"/>
            <a:ext cx="222249" cy="38099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11550649" y="2425699"/>
            <a:ext cx="431799" cy="222249"/>
          </a:xfrm>
          <a:prstGeom prst="rect">
            <a:avLst/>
          </a:prstGeom>
          <a:solidFill>
            <a:srgbClr val="FFFFFF"/>
          </a:solidFill>
          <a:ln w="5588">
            <a:solidFill>
              <a:srgbClr val="445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11614149" y="2470149"/>
            <a:ext cx="298449" cy="1333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11639549" y="2495549"/>
            <a:ext cx="247649" cy="82549"/>
          </a:xfrm>
          <a:prstGeom prst="rect">
            <a:avLst/>
          </a:prstGeom>
          <a:solidFill>
            <a:srgbClr val="FFFFFF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11652249" y="2508249"/>
            <a:ext cx="222249" cy="38099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11652249" y="2559049"/>
            <a:ext cx="222249" cy="38099"/>
          </a:xfrm>
          <a:prstGeom prst="rect">
            <a:avLst/>
          </a:prstGeom>
          <a:solidFill>
            <a:srgbClr val="5F8FC9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11652249" y="2609849"/>
            <a:ext cx="222249" cy="38099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TextBox 707"/>
          <p:cNvSpPr txBox="1"/>
          <p:nvPr/>
        </p:nvSpPr>
        <p:spPr>
          <a:xfrm>
            <a:off x="11334749" y="2692399"/>
            <a:ext cx="6984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Hₛₜᵈ ⊗ Hₛₜ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11499849" y="2825749"/>
            <a:ext cx="387349" cy="1079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11525249" y="2851149"/>
            <a:ext cx="336549" cy="57149"/>
          </a:xfrm>
          <a:prstGeom prst="rect">
            <a:avLst/>
          </a:prstGeom>
          <a:solidFill>
            <a:srgbClr val="FFFFFF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11537949" y="2863849"/>
            <a:ext cx="311149" cy="38099"/>
          </a:xfrm>
          <a:prstGeom prst="rect">
            <a:avLst/>
          </a:prstGeom>
          <a:solidFill>
            <a:srgbClr val="F5C82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11537949" y="2914649"/>
            <a:ext cx="311149" cy="38099"/>
          </a:xfrm>
          <a:prstGeom prst="rect">
            <a:avLst/>
          </a:prstGeom>
          <a:solidFill>
            <a:srgbClr val="5F8FC9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11537949" y="2965449"/>
            <a:ext cx="311149" cy="38099"/>
          </a:xfrm>
          <a:prstGeom prst="rect">
            <a:avLst/>
          </a:prstGeom>
          <a:solidFill>
            <a:srgbClr val="60A33C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6134099" y="3016249"/>
            <a:ext cx="1930399" cy="68579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6197599" y="3143249"/>
            <a:ext cx="146049" cy="222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11111"/>
                </a:solidFill>
                <a:latin typeface="Times New Roman"/>
              </a:rPr>
              <a:t>N</a:t>
            </a:r>
          </a:p>
        </p:txBody>
      </p:sp>
      <p:sp>
        <p:nvSpPr>
          <p:cNvPr id="716" name="TextBox 715"/>
          <p:cNvSpPr txBox="1"/>
          <p:nvPr/>
        </p:nvSpPr>
        <p:spPr>
          <a:xfrm>
            <a:off x="6343649" y="3194049"/>
            <a:ext cx="15874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│×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6483349" y="3092449"/>
            <a:ext cx="24129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L</a:t>
            </a:r>
          </a:p>
        </p:txBody>
      </p:sp>
      <p:cxnSp>
        <p:nvCxnSpPr>
          <p:cNvPr id="718" name="Connector 717"/>
          <p:cNvCxnSpPr/>
          <p:nvPr/>
        </p:nvCxnSpPr>
        <p:spPr>
          <a:xfrm>
            <a:off x="6483349" y="3225799"/>
            <a:ext cx="2222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TextBox 718"/>
          <p:cNvSpPr txBox="1"/>
          <p:nvPr/>
        </p:nvSpPr>
        <p:spPr>
          <a:xfrm>
            <a:off x="6489699" y="3238499"/>
            <a:ext cx="24129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R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6730999" y="3168649"/>
            <a:ext cx="196849" cy="165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Times New Roman"/>
              </a:rPr>
              <a:t>⊙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6921499" y="3143249"/>
            <a:ext cx="158749" cy="222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11111"/>
                </a:solidFill>
                <a:latin typeface="Times New Roman"/>
              </a:rPr>
              <a:t>R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7061199" y="3194049"/>
            <a:ext cx="152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│×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7200899" y="3092449"/>
            <a:ext cx="23494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L</a:t>
            </a:r>
          </a:p>
        </p:txBody>
      </p:sp>
      <p:cxnSp>
        <p:nvCxnSpPr>
          <p:cNvPr id="724" name="Connector 723"/>
          <p:cNvCxnSpPr/>
          <p:nvPr/>
        </p:nvCxnSpPr>
        <p:spPr>
          <a:xfrm>
            <a:off x="7200899" y="3225799"/>
            <a:ext cx="2222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7213599" y="3238499"/>
            <a:ext cx="23494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N</a:t>
            </a:r>
          </a:p>
        </p:txBody>
      </p:sp>
      <p:sp>
        <p:nvSpPr>
          <p:cNvPr id="726" name="TextBox 725"/>
          <p:cNvSpPr txBox="1"/>
          <p:nvPr/>
        </p:nvSpPr>
        <p:spPr>
          <a:xfrm>
            <a:off x="7448549" y="3111499"/>
            <a:ext cx="406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99999"/>
                </a:solidFill>
                <a:latin typeface="Times New Roman"/>
              </a:rPr>
              <a:t>top-k</a:t>
            </a:r>
          </a:p>
        </p:txBody>
      </p:sp>
      <p:cxnSp>
        <p:nvCxnSpPr>
          <p:cNvPr id="727" name="Connector 726"/>
          <p:cNvCxnSpPr/>
          <p:nvPr/>
        </p:nvCxnSpPr>
        <p:spPr>
          <a:xfrm>
            <a:off x="7442199" y="3270249"/>
            <a:ext cx="387350" cy="0"/>
          </a:xfrm>
          <a:prstGeom prst="line">
            <a:avLst/>
          </a:prstGeom>
          <a:ln w="8102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Freeform 727"/>
          <p:cNvSpPr/>
          <p:nvPr/>
        </p:nvSpPr>
        <p:spPr>
          <a:xfrm>
            <a:off x="7804149" y="32512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7365999" y="33210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7454899" y="33210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7543799" y="33210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7632699" y="33210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7721599" y="33210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7365999" y="33972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7454899" y="33972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7543799" y="33972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7632699" y="33972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7721599" y="33972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7365999" y="34734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7454899" y="34734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7543799" y="34734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7632699" y="34734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7721599" y="34734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7365999" y="35496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7454899" y="35496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7543799" y="35496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7632699" y="35496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7721599" y="3549649"/>
            <a:ext cx="88899" cy="76199"/>
          </a:xfrm>
          <a:prstGeom prst="rect">
            <a:avLst/>
          </a:prstGeom>
          <a:solidFill>
            <a:srgbClr val="8351AA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TextBox 748"/>
          <p:cNvSpPr txBox="1"/>
          <p:nvPr/>
        </p:nvSpPr>
        <p:spPr>
          <a:xfrm>
            <a:off x="6686549" y="3460749"/>
            <a:ext cx="660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99999"/>
                </a:solidFill>
                <a:latin typeface="Times New Roman"/>
              </a:rPr>
              <a:t>dynamic filter</a:t>
            </a:r>
          </a:p>
        </p:txBody>
      </p:sp>
      <p:sp>
        <p:nvSpPr>
          <p:cNvPr id="750" name="Rectangle 749"/>
          <p:cNvSpPr/>
          <p:nvPr/>
        </p:nvSpPr>
        <p:spPr>
          <a:xfrm>
            <a:off x="6248399" y="3486149"/>
            <a:ext cx="431799" cy="1079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6273799" y="3511549"/>
            <a:ext cx="380999" cy="57149"/>
          </a:xfrm>
          <a:prstGeom prst="rect">
            <a:avLst/>
          </a:prstGeom>
          <a:solidFill>
            <a:srgbClr val="FFFFFF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6286499" y="3524249"/>
            <a:ext cx="355599" cy="38099"/>
          </a:xfrm>
          <a:prstGeom prst="rect">
            <a:avLst/>
          </a:prstGeom>
          <a:solidFill>
            <a:srgbClr val="D5B47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6286499" y="3575049"/>
            <a:ext cx="355599" cy="38099"/>
          </a:xfrm>
          <a:prstGeom prst="rect">
            <a:avLst/>
          </a:prstGeom>
          <a:solidFill>
            <a:srgbClr val="8351AA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Rectangle 753"/>
          <p:cNvSpPr/>
          <p:nvPr/>
        </p:nvSpPr>
        <p:spPr>
          <a:xfrm>
            <a:off x="6286499" y="3625849"/>
            <a:ext cx="355599" cy="38099"/>
          </a:xfrm>
          <a:prstGeom prst="rect">
            <a:avLst/>
          </a:prstGeom>
          <a:solidFill>
            <a:srgbClr val="6F9B7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7499349" y="3530599"/>
            <a:ext cx="47624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351AA"/>
                </a:solidFill>
                <a:latin typeface="Times New Roman"/>
              </a:rPr>
              <a:t>αₛ Mₛ</a:t>
            </a:r>
          </a:p>
        </p:txBody>
      </p:sp>
      <p:sp>
        <p:nvSpPr>
          <p:cNvPr id="756" name="Freeform 755"/>
          <p:cNvSpPr/>
          <p:nvPr/>
        </p:nvSpPr>
        <p:spPr>
          <a:xfrm>
            <a:off x="7924799" y="3511550"/>
            <a:ext cx="88900" cy="114300"/>
          </a:xfrm>
          <a:custGeom>
            <a:avLst/>
            <a:gdLst/>
            <a:ahLst/>
            <a:cxnLst/>
            <a:rect l="l" t="t" r="r" b="b"/>
            <a:pathLst>
              <a:path w="14" h="18">
                <a:moveTo>
                  <a:pt x="7" y="0"/>
                </a:moveTo>
                <a:lnTo>
                  <a:pt x="12" y="6"/>
                </a:lnTo>
                <a:lnTo>
                  <a:pt x="11" y="10"/>
                </a:lnTo>
                <a:lnTo>
                  <a:pt x="14" y="9"/>
                </a:lnTo>
                <a:lnTo>
                  <a:pt x="14" y="13"/>
                </a:lnTo>
                <a:lnTo>
                  <a:pt x="10" y="18"/>
                </a:lnTo>
                <a:lnTo>
                  <a:pt x="4" y="17"/>
                </a:lnTo>
                <a:lnTo>
                  <a:pt x="0" y="13"/>
                </a:lnTo>
                <a:lnTo>
                  <a:pt x="1" y="7"/>
                </a:lnTo>
                <a:lnTo>
                  <a:pt x="4" y="9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7956549" y="3549650"/>
            <a:ext cx="31750" cy="5715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3" y="0"/>
                </a:moveTo>
                <a:lnTo>
                  <a:pt x="5" y="5"/>
                </a:lnTo>
                <a:lnTo>
                  <a:pt x="3" y="9"/>
                </a:lnTo>
                <a:lnTo>
                  <a:pt x="0" y="8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7994649" y="3352799"/>
            <a:ext cx="139699" cy="139699"/>
          </a:xfrm>
          <a:prstGeom prst="ellipse">
            <a:avLst/>
          </a:prstGeom>
          <a:solidFill>
            <a:srgbClr val="FFFFFF"/>
          </a:solidFill>
          <a:ln w="6985">
            <a:solidFill>
              <a:srgbClr val="64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TextBox 758"/>
          <p:cNvSpPr txBox="1"/>
          <p:nvPr/>
        </p:nvSpPr>
        <p:spPr>
          <a:xfrm>
            <a:off x="7994649" y="3346449"/>
            <a:ext cx="1396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760" name="Rectangle 759"/>
          <p:cNvSpPr/>
          <p:nvPr/>
        </p:nvSpPr>
        <p:spPr>
          <a:xfrm>
            <a:off x="8191499" y="3016249"/>
            <a:ext cx="1930399" cy="68579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8254999" y="3143249"/>
            <a:ext cx="146049" cy="222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11111"/>
                </a:solidFill>
                <a:latin typeface="Times New Roman"/>
              </a:rPr>
              <a:t>N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8401049" y="3194049"/>
            <a:ext cx="15874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│×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8540749" y="3092449"/>
            <a:ext cx="24129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L</a:t>
            </a:r>
          </a:p>
        </p:txBody>
      </p:sp>
      <p:cxnSp>
        <p:nvCxnSpPr>
          <p:cNvPr id="764" name="Connector 763"/>
          <p:cNvCxnSpPr/>
          <p:nvPr/>
        </p:nvCxnSpPr>
        <p:spPr>
          <a:xfrm>
            <a:off x="8540749" y="3225799"/>
            <a:ext cx="2222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5" name="TextBox 764"/>
          <p:cNvSpPr txBox="1"/>
          <p:nvPr/>
        </p:nvSpPr>
        <p:spPr>
          <a:xfrm>
            <a:off x="8547099" y="3238499"/>
            <a:ext cx="24129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R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8788399" y="3168649"/>
            <a:ext cx="196849" cy="165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Times New Roman"/>
              </a:rPr>
              <a:t>⊙</a:t>
            </a:r>
          </a:p>
        </p:txBody>
      </p:sp>
      <p:sp>
        <p:nvSpPr>
          <p:cNvPr id="767" name="TextBox 766"/>
          <p:cNvSpPr txBox="1"/>
          <p:nvPr/>
        </p:nvSpPr>
        <p:spPr>
          <a:xfrm>
            <a:off x="8978899" y="3143249"/>
            <a:ext cx="158749" cy="222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11111"/>
                </a:solidFill>
                <a:latin typeface="Times New Roman"/>
              </a:rPr>
              <a:t>R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9118599" y="3194049"/>
            <a:ext cx="152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│×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9258299" y="3092449"/>
            <a:ext cx="23494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L</a:t>
            </a:r>
          </a:p>
        </p:txBody>
      </p:sp>
      <p:cxnSp>
        <p:nvCxnSpPr>
          <p:cNvPr id="770" name="Connector 769"/>
          <p:cNvCxnSpPr/>
          <p:nvPr/>
        </p:nvCxnSpPr>
        <p:spPr>
          <a:xfrm>
            <a:off x="9258299" y="3225799"/>
            <a:ext cx="2222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1" name="TextBox 770"/>
          <p:cNvSpPr txBox="1"/>
          <p:nvPr/>
        </p:nvSpPr>
        <p:spPr>
          <a:xfrm>
            <a:off x="9270999" y="3238499"/>
            <a:ext cx="23494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N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9505949" y="3111499"/>
            <a:ext cx="406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99999"/>
                </a:solidFill>
                <a:latin typeface="Times New Roman"/>
              </a:rPr>
              <a:t>top-k</a:t>
            </a:r>
          </a:p>
        </p:txBody>
      </p:sp>
      <p:cxnSp>
        <p:nvCxnSpPr>
          <p:cNvPr id="773" name="Connector 772"/>
          <p:cNvCxnSpPr/>
          <p:nvPr/>
        </p:nvCxnSpPr>
        <p:spPr>
          <a:xfrm>
            <a:off x="9499599" y="3270249"/>
            <a:ext cx="387350" cy="0"/>
          </a:xfrm>
          <a:prstGeom prst="line">
            <a:avLst/>
          </a:prstGeom>
          <a:ln w="8102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4" name="Freeform 773"/>
          <p:cNvSpPr/>
          <p:nvPr/>
        </p:nvSpPr>
        <p:spPr>
          <a:xfrm>
            <a:off x="9861549" y="32512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9423399" y="33210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9512299" y="33210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9601199" y="33210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9690099" y="33210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Rectangle 778"/>
          <p:cNvSpPr/>
          <p:nvPr/>
        </p:nvSpPr>
        <p:spPr>
          <a:xfrm>
            <a:off x="9778999" y="33210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9423399" y="33972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9512299" y="33972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9601199" y="33972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9690099" y="33972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9778999" y="33972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9423399" y="34734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9512299" y="34734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9601199" y="34734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9690099" y="34734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9778999" y="34734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9423399" y="35496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9512299" y="35496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9601199" y="35496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Rectangle 792"/>
          <p:cNvSpPr/>
          <p:nvPr/>
        </p:nvSpPr>
        <p:spPr>
          <a:xfrm>
            <a:off x="9690099" y="35496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ectangle 793"/>
          <p:cNvSpPr/>
          <p:nvPr/>
        </p:nvSpPr>
        <p:spPr>
          <a:xfrm>
            <a:off x="9778999" y="3549649"/>
            <a:ext cx="88899" cy="76199"/>
          </a:xfrm>
          <a:prstGeom prst="rect">
            <a:avLst/>
          </a:prstGeom>
          <a:solidFill>
            <a:srgbClr val="D44B50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TextBox 794"/>
          <p:cNvSpPr txBox="1"/>
          <p:nvPr/>
        </p:nvSpPr>
        <p:spPr>
          <a:xfrm>
            <a:off x="8743949" y="3460749"/>
            <a:ext cx="660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99999"/>
                </a:solidFill>
                <a:latin typeface="Times New Roman"/>
              </a:rPr>
              <a:t>dynamic filter</a:t>
            </a:r>
          </a:p>
        </p:txBody>
      </p:sp>
      <p:sp>
        <p:nvSpPr>
          <p:cNvPr id="796" name="Rectangle 795"/>
          <p:cNvSpPr/>
          <p:nvPr/>
        </p:nvSpPr>
        <p:spPr>
          <a:xfrm>
            <a:off x="8305799" y="3486149"/>
            <a:ext cx="431799" cy="1079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Rectangle 796"/>
          <p:cNvSpPr/>
          <p:nvPr/>
        </p:nvSpPr>
        <p:spPr>
          <a:xfrm>
            <a:off x="8331199" y="3511549"/>
            <a:ext cx="380999" cy="57149"/>
          </a:xfrm>
          <a:prstGeom prst="rect">
            <a:avLst/>
          </a:prstGeom>
          <a:solidFill>
            <a:srgbClr val="FFFFFF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Rectangle 797"/>
          <p:cNvSpPr/>
          <p:nvPr/>
        </p:nvSpPr>
        <p:spPr>
          <a:xfrm>
            <a:off x="8343899" y="3524249"/>
            <a:ext cx="355599" cy="38099"/>
          </a:xfrm>
          <a:prstGeom prst="rect">
            <a:avLst/>
          </a:prstGeom>
          <a:solidFill>
            <a:srgbClr val="D5B47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Rectangle 798"/>
          <p:cNvSpPr/>
          <p:nvPr/>
        </p:nvSpPr>
        <p:spPr>
          <a:xfrm>
            <a:off x="8343899" y="3575049"/>
            <a:ext cx="355599" cy="38099"/>
          </a:xfrm>
          <a:prstGeom prst="rect">
            <a:avLst/>
          </a:prstGeom>
          <a:solidFill>
            <a:srgbClr val="D44B5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Rectangle 799"/>
          <p:cNvSpPr/>
          <p:nvPr/>
        </p:nvSpPr>
        <p:spPr>
          <a:xfrm>
            <a:off x="8343899" y="3625849"/>
            <a:ext cx="355599" cy="38099"/>
          </a:xfrm>
          <a:prstGeom prst="rect">
            <a:avLst/>
          </a:prstGeom>
          <a:solidFill>
            <a:srgbClr val="6F9B7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TextBox 800"/>
          <p:cNvSpPr txBox="1"/>
          <p:nvPr/>
        </p:nvSpPr>
        <p:spPr>
          <a:xfrm>
            <a:off x="9556749" y="3530599"/>
            <a:ext cx="47624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D44B50"/>
                </a:solidFill>
                <a:latin typeface="Times New Roman"/>
              </a:rPr>
              <a:t>αₜ Mₜ</a:t>
            </a:r>
          </a:p>
        </p:txBody>
      </p:sp>
      <p:sp>
        <p:nvSpPr>
          <p:cNvPr id="802" name="Freeform 801"/>
          <p:cNvSpPr/>
          <p:nvPr/>
        </p:nvSpPr>
        <p:spPr>
          <a:xfrm>
            <a:off x="9982199" y="3511550"/>
            <a:ext cx="88900" cy="114300"/>
          </a:xfrm>
          <a:custGeom>
            <a:avLst/>
            <a:gdLst/>
            <a:ahLst/>
            <a:cxnLst/>
            <a:rect l="l" t="t" r="r" b="b"/>
            <a:pathLst>
              <a:path w="14" h="18">
                <a:moveTo>
                  <a:pt x="7" y="0"/>
                </a:moveTo>
                <a:lnTo>
                  <a:pt x="12" y="6"/>
                </a:lnTo>
                <a:lnTo>
                  <a:pt x="11" y="10"/>
                </a:lnTo>
                <a:lnTo>
                  <a:pt x="14" y="9"/>
                </a:lnTo>
                <a:lnTo>
                  <a:pt x="14" y="13"/>
                </a:lnTo>
                <a:lnTo>
                  <a:pt x="10" y="18"/>
                </a:lnTo>
                <a:lnTo>
                  <a:pt x="4" y="17"/>
                </a:lnTo>
                <a:lnTo>
                  <a:pt x="0" y="13"/>
                </a:lnTo>
                <a:lnTo>
                  <a:pt x="1" y="7"/>
                </a:lnTo>
                <a:lnTo>
                  <a:pt x="4" y="9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10013949" y="3549650"/>
            <a:ext cx="31750" cy="5715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3" y="0"/>
                </a:moveTo>
                <a:lnTo>
                  <a:pt x="5" y="5"/>
                </a:lnTo>
                <a:lnTo>
                  <a:pt x="3" y="9"/>
                </a:lnTo>
                <a:lnTo>
                  <a:pt x="0" y="8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10090149" y="3352799"/>
            <a:ext cx="139699" cy="139699"/>
          </a:xfrm>
          <a:prstGeom prst="ellipse">
            <a:avLst/>
          </a:prstGeom>
          <a:solidFill>
            <a:srgbClr val="FFFFFF"/>
          </a:solidFill>
          <a:ln w="6985">
            <a:solidFill>
              <a:srgbClr val="64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TextBox 804"/>
          <p:cNvSpPr txBox="1"/>
          <p:nvPr/>
        </p:nvSpPr>
        <p:spPr>
          <a:xfrm>
            <a:off x="10090149" y="3346449"/>
            <a:ext cx="1396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Times New Roman"/>
              </a:rPr>
              <a:t>+</a:t>
            </a:r>
          </a:p>
        </p:txBody>
      </p:sp>
      <p:sp>
        <p:nvSpPr>
          <p:cNvPr id="806" name="Rectangle 805"/>
          <p:cNvSpPr/>
          <p:nvPr/>
        </p:nvSpPr>
        <p:spPr>
          <a:xfrm>
            <a:off x="10204449" y="3016249"/>
            <a:ext cx="1930399" cy="68579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TextBox 806"/>
          <p:cNvSpPr txBox="1"/>
          <p:nvPr/>
        </p:nvSpPr>
        <p:spPr>
          <a:xfrm>
            <a:off x="10267949" y="3143249"/>
            <a:ext cx="146049" cy="222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11111"/>
                </a:solidFill>
                <a:latin typeface="Times New Roman"/>
              </a:rPr>
              <a:t>N</a:t>
            </a:r>
          </a:p>
        </p:txBody>
      </p:sp>
      <p:sp>
        <p:nvSpPr>
          <p:cNvPr id="808" name="TextBox 807"/>
          <p:cNvSpPr txBox="1"/>
          <p:nvPr/>
        </p:nvSpPr>
        <p:spPr>
          <a:xfrm>
            <a:off x="10413999" y="3194049"/>
            <a:ext cx="15874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│×</a:t>
            </a:r>
          </a:p>
        </p:txBody>
      </p:sp>
      <p:sp>
        <p:nvSpPr>
          <p:cNvPr id="809" name="TextBox 808"/>
          <p:cNvSpPr txBox="1"/>
          <p:nvPr/>
        </p:nvSpPr>
        <p:spPr>
          <a:xfrm>
            <a:off x="10553699" y="3092449"/>
            <a:ext cx="24129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L</a:t>
            </a:r>
          </a:p>
        </p:txBody>
      </p:sp>
      <p:cxnSp>
        <p:nvCxnSpPr>
          <p:cNvPr id="810" name="Connector 809"/>
          <p:cNvCxnSpPr/>
          <p:nvPr/>
        </p:nvCxnSpPr>
        <p:spPr>
          <a:xfrm>
            <a:off x="10553699" y="3225799"/>
            <a:ext cx="2222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TextBox 810"/>
          <p:cNvSpPr txBox="1"/>
          <p:nvPr/>
        </p:nvSpPr>
        <p:spPr>
          <a:xfrm>
            <a:off x="10560049" y="3238499"/>
            <a:ext cx="24129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R</a:t>
            </a:r>
          </a:p>
        </p:txBody>
      </p:sp>
      <p:sp>
        <p:nvSpPr>
          <p:cNvPr id="812" name="TextBox 811"/>
          <p:cNvSpPr txBox="1"/>
          <p:nvPr/>
        </p:nvSpPr>
        <p:spPr>
          <a:xfrm>
            <a:off x="10801349" y="3168649"/>
            <a:ext cx="196849" cy="165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Times New Roman"/>
              </a:rPr>
              <a:t>⊙</a:t>
            </a:r>
          </a:p>
        </p:txBody>
      </p:sp>
      <p:sp>
        <p:nvSpPr>
          <p:cNvPr id="813" name="TextBox 812"/>
          <p:cNvSpPr txBox="1"/>
          <p:nvPr/>
        </p:nvSpPr>
        <p:spPr>
          <a:xfrm>
            <a:off x="10991849" y="3143249"/>
            <a:ext cx="158749" cy="222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11111"/>
                </a:solidFill>
                <a:latin typeface="Times New Roman"/>
              </a:rPr>
              <a:t>R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11131549" y="3194049"/>
            <a:ext cx="152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│×</a:t>
            </a:r>
          </a:p>
        </p:txBody>
      </p:sp>
      <p:sp>
        <p:nvSpPr>
          <p:cNvPr id="815" name="TextBox 814"/>
          <p:cNvSpPr txBox="1"/>
          <p:nvPr/>
        </p:nvSpPr>
        <p:spPr>
          <a:xfrm>
            <a:off x="11271249" y="3092449"/>
            <a:ext cx="23494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L</a:t>
            </a:r>
          </a:p>
        </p:txBody>
      </p:sp>
      <p:cxnSp>
        <p:nvCxnSpPr>
          <p:cNvPr id="816" name="Connector 815"/>
          <p:cNvCxnSpPr/>
          <p:nvPr/>
        </p:nvCxnSpPr>
        <p:spPr>
          <a:xfrm>
            <a:off x="11271249" y="3225799"/>
            <a:ext cx="2222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7" name="TextBox 816"/>
          <p:cNvSpPr txBox="1"/>
          <p:nvPr/>
        </p:nvSpPr>
        <p:spPr>
          <a:xfrm>
            <a:off x="11283949" y="3238499"/>
            <a:ext cx="23494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N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11518899" y="3111499"/>
            <a:ext cx="406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99999"/>
                </a:solidFill>
                <a:latin typeface="Times New Roman"/>
              </a:rPr>
              <a:t>top-k</a:t>
            </a:r>
          </a:p>
        </p:txBody>
      </p:sp>
      <p:cxnSp>
        <p:nvCxnSpPr>
          <p:cNvPr id="819" name="Connector 818"/>
          <p:cNvCxnSpPr/>
          <p:nvPr/>
        </p:nvCxnSpPr>
        <p:spPr>
          <a:xfrm>
            <a:off x="11512549" y="3270249"/>
            <a:ext cx="387350" cy="0"/>
          </a:xfrm>
          <a:prstGeom prst="line">
            <a:avLst/>
          </a:prstGeom>
          <a:ln w="8102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0" name="Freeform 819"/>
          <p:cNvSpPr/>
          <p:nvPr/>
        </p:nvSpPr>
        <p:spPr>
          <a:xfrm>
            <a:off x="11874499" y="32512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Rectangle 820"/>
          <p:cNvSpPr/>
          <p:nvPr/>
        </p:nvSpPr>
        <p:spPr>
          <a:xfrm>
            <a:off x="11436349" y="33210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Rectangle 821"/>
          <p:cNvSpPr/>
          <p:nvPr/>
        </p:nvSpPr>
        <p:spPr>
          <a:xfrm>
            <a:off x="11525249" y="33210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Rectangle 822"/>
          <p:cNvSpPr/>
          <p:nvPr/>
        </p:nvSpPr>
        <p:spPr>
          <a:xfrm>
            <a:off x="11614149" y="33210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Rectangle 823"/>
          <p:cNvSpPr/>
          <p:nvPr/>
        </p:nvSpPr>
        <p:spPr>
          <a:xfrm>
            <a:off x="11703049" y="33210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Rectangle 824"/>
          <p:cNvSpPr/>
          <p:nvPr/>
        </p:nvSpPr>
        <p:spPr>
          <a:xfrm>
            <a:off x="11791949" y="33210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Rectangle 825"/>
          <p:cNvSpPr/>
          <p:nvPr/>
        </p:nvSpPr>
        <p:spPr>
          <a:xfrm>
            <a:off x="11436349" y="33972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Rectangle 826"/>
          <p:cNvSpPr/>
          <p:nvPr/>
        </p:nvSpPr>
        <p:spPr>
          <a:xfrm>
            <a:off x="11525249" y="33972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Rectangle 827"/>
          <p:cNvSpPr/>
          <p:nvPr/>
        </p:nvSpPr>
        <p:spPr>
          <a:xfrm>
            <a:off x="11614149" y="33972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Rectangle 828"/>
          <p:cNvSpPr/>
          <p:nvPr/>
        </p:nvSpPr>
        <p:spPr>
          <a:xfrm>
            <a:off x="11703049" y="33972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Rectangle 829"/>
          <p:cNvSpPr/>
          <p:nvPr/>
        </p:nvSpPr>
        <p:spPr>
          <a:xfrm>
            <a:off x="11791949" y="33972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Rectangle 830"/>
          <p:cNvSpPr/>
          <p:nvPr/>
        </p:nvSpPr>
        <p:spPr>
          <a:xfrm>
            <a:off x="11436349" y="34734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Rectangle 831"/>
          <p:cNvSpPr/>
          <p:nvPr/>
        </p:nvSpPr>
        <p:spPr>
          <a:xfrm>
            <a:off x="11525249" y="34734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Rectangle 832"/>
          <p:cNvSpPr/>
          <p:nvPr/>
        </p:nvSpPr>
        <p:spPr>
          <a:xfrm>
            <a:off x="11614149" y="34734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Rectangle 833"/>
          <p:cNvSpPr/>
          <p:nvPr/>
        </p:nvSpPr>
        <p:spPr>
          <a:xfrm>
            <a:off x="11703049" y="34734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Rectangle 834"/>
          <p:cNvSpPr/>
          <p:nvPr/>
        </p:nvSpPr>
        <p:spPr>
          <a:xfrm>
            <a:off x="11791949" y="3473449"/>
            <a:ext cx="88899" cy="76199"/>
          </a:xfrm>
          <a:prstGeom prst="rect">
            <a:avLst/>
          </a:prstGeom>
          <a:solidFill>
            <a:srgbClr val="FFFFFF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Rectangle 835"/>
          <p:cNvSpPr/>
          <p:nvPr/>
        </p:nvSpPr>
        <p:spPr>
          <a:xfrm>
            <a:off x="11436349" y="35496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Rectangle 836"/>
          <p:cNvSpPr/>
          <p:nvPr/>
        </p:nvSpPr>
        <p:spPr>
          <a:xfrm>
            <a:off x="11525249" y="35496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Rectangle 837"/>
          <p:cNvSpPr/>
          <p:nvPr/>
        </p:nvSpPr>
        <p:spPr>
          <a:xfrm>
            <a:off x="11614149" y="35496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Rectangle 838"/>
          <p:cNvSpPr/>
          <p:nvPr/>
        </p:nvSpPr>
        <p:spPr>
          <a:xfrm>
            <a:off x="11703049" y="35496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Rectangle 839"/>
          <p:cNvSpPr/>
          <p:nvPr/>
        </p:nvSpPr>
        <p:spPr>
          <a:xfrm>
            <a:off x="11791949" y="3549649"/>
            <a:ext cx="88899" cy="76199"/>
          </a:xfrm>
          <a:prstGeom prst="rect">
            <a:avLst/>
          </a:prstGeom>
          <a:solidFill>
            <a:srgbClr val="5C81B9"/>
          </a:solidFill>
          <a:ln w="508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10756899" y="3460749"/>
            <a:ext cx="6603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99999"/>
                </a:solidFill>
                <a:latin typeface="Times New Roman"/>
              </a:rPr>
              <a:t>dynamic filter</a:t>
            </a:r>
          </a:p>
        </p:txBody>
      </p:sp>
      <p:sp>
        <p:nvSpPr>
          <p:cNvPr id="842" name="Rectangle 841"/>
          <p:cNvSpPr/>
          <p:nvPr/>
        </p:nvSpPr>
        <p:spPr>
          <a:xfrm>
            <a:off x="10318749" y="3486149"/>
            <a:ext cx="431799" cy="1079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Rectangle 842"/>
          <p:cNvSpPr/>
          <p:nvPr/>
        </p:nvSpPr>
        <p:spPr>
          <a:xfrm>
            <a:off x="10344149" y="3511549"/>
            <a:ext cx="380999" cy="57149"/>
          </a:xfrm>
          <a:prstGeom prst="rect">
            <a:avLst/>
          </a:prstGeom>
          <a:solidFill>
            <a:srgbClr val="FFFFFF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Rectangle 843"/>
          <p:cNvSpPr/>
          <p:nvPr/>
        </p:nvSpPr>
        <p:spPr>
          <a:xfrm>
            <a:off x="10356849" y="3524249"/>
            <a:ext cx="355599" cy="38099"/>
          </a:xfrm>
          <a:prstGeom prst="rect">
            <a:avLst/>
          </a:prstGeom>
          <a:solidFill>
            <a:srgbClr val="D5B47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Rectangle 844"/>
          <p:cNvSpPr/>
          <p:nvPr/>
        </p:nvSpPr>
        <p:spPr>
          <a:xfrm>
            <a:off x="10356849" y="3575049"/>
            <a:ext cx="355599" cy="38099"/>
          </a:xfrm>
          <a:prstGeom prst="rect">
            <a:avLst/>
          </a:prstGeom>
          <a:solidFill>
            <a:srgbClr val="5C81B9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Rectangle 845"/>
          <p:cNvSpPr/>
          <p:nvPr/>
        </p:nvSpPr>
        <p:spPr>
          <a:xfrm>
            <a:off x="10356849" y="3625849"/>
            <a:ext cx="355599" cy="38099"/>
          </a:xfrm>
          <a:prstGeom prst="rect">
            <a:avLst/>
          </a:prstGeom>
          <a:solidFill>
            <a:srgbClr val="6F9B7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11569699" y="3530599"/>
            <a:ext cx="47624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C81B9"/>
                </a:solidFill>
                <a:latin typeface="Times New Roman"/>
              </a:rPr>
              <a:t>α𝒹 M𝒹</a:t>
            </a:r>
          </a:p>
        </p:txBody>
      </p:sp>
      <p:sp>
        <p:nvSpPr>
          <p:cNvPr id="848" name="Freeform 847"/>
          <p:cNvSpPr/>
          <p:nvPr/>
        </p:nvSpPr>
        <p:spPr>
          <a:xfrm>
            <a:off x="11995149" y="3511550"/>
            <a:ext cx="88900" cy="114300"/>
          </a:xfrm>
          <a:custGeom>
            <a:avLst/>
            <a:gdLst/>
            <a:ahLst/>
            <a:cxnLst/>
            <a:rect l="l" t="t" r="r" b="b"/>
            <a:pathLst>
              <a:path w="14" h="18">
                <a:moveTo>
                  <a:pt x="7" y="0"/>
                </a:moveTo>
                <a:lnTo>
                  <a:pt x="12" y="6"/>
                </a:lnTo>
                <a:lnTo>
                  <a:pt x="11" y="10"/>
                </a:lnTo>
                <a:lnTo>
                  <a:pt x="14" y="9"/>
                </a:lnTo>
                <a:lnTo>
                  <a:pt x="14" y="13"/>
                </a:lnTo>
                <a:lnTo>
                  <a:pt x="10" y="18"/>
                </a:lnTo>
                <a:lnTo>
                  <a:pt x="4" y="17"/>
                </a:lnTo>
                <a:lnTo>
                  <a:pt x="0" y="13"/>
                </a:lnTo>
                <a:lnTo>
                  <a:pt x="1" y="7"/>
                </a:lnTo>
                <a:lnTo>
                  <a:pt x="4" y="9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12026899" y="3549650"/>
            <a:ext cx="31750" cy="5715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3" y="0"/>
                </a:moveTo>
                <a:lnTo>
                  <a:pt x="5" y="5"/>
                </a:lnTo>
                <a:lnTo>
                  <a:pt x="3" y="9"/>
                </a:lnTo>
                <a:lnTo>
                  <a:pt x="0" y="8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0" name="Connector 849"/>
          <p:cNvCxnSpPr/>
          <p:nvPr/>
        </p:nvCxnSpPr>
        <p:spPr>
          <a:xfrm>
            <a:off x="7016749" y="3708399"/>
            <a:ext cx="0" cy="165100"/>
          </a:xfrm>
          <a:prstGeom prst="line">
            <a:avLst/>
          </a:prstGeom>
          <a:ln w="7365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1" name="TextBox 850"/>
          <p:cNvSpPr txBox="1"/>
          <p:nvPr/>
        </p:nvSpPr>
        <p:spPr>
          <a:xfrm>
            <a:off x="1784349" y="3892549"/>
            <a:ext cx="2412999" cy="241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Multi-Task Pretraining</a:t>
            </a:r>
          </a:p>
        </p:txBody>
      </p:sp>
      <p:sp>
        <p:nvSpPr>
          <p:cNvPr id="852" name="TextBox 851"/>
          <p:cNvSpPr txBox="1"/>
          <p:nvPr/>
        </p:nvSpPr>
        <p:spPr>
          <a:xfrm>
            <a:off x="196849" y="4317999"/>
            <a:ext cx="45084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Encoder</a:t>
            </a:r>
          </a:p>
        </p:txBody>
      </p:sp>
      <p:sp>
        <p:nvSpPr>
          <p:cNvPr id="853" name="TextBox 852"/>
          <p:cNvSpPr txBox="1"/>
          <p:nvPr/>
        </p:nvSpPr>
        <p:spPr>
          <a:xfrm>
            <a:off x="196849" y="4902199"/>
            <a:ext cx="45084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Decoder</a:t>
            </a:r>
          </a:p>
        </p:txBody>
      </p:sp>
      <p:sp>
        <p:nvSpPr>
          <p:cNvPr id="854" name="Rounded Rectangle 853"/>
          <p:cNvSpPr/>
          <p:nvPr/>
        </p:nvSpPr>
        <p:spPr>
          <a:xfrm>
            <a:off x="717549" y="4184649"/>
            <a:ext cx="4686299" cy="260349"/>
          </a:xfrm>
          <a:prstGeom prst="roundRect">
            <a:avLst/>
          </a:prstGeom>
          <a:solidFill>
            <a:srgbClr val="E2F2D8"/>
          </a:solidFill>
          <a:ln w="8382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800100" y="4229100"/>
            <a:ext cx="101600" cy="127000"/>
          </a:xfrm>
          <a:custGeom>
            <a:avLst/>
            <a:gdLst/>
            <a:ahLst/>
            <a:cxnLst/>
            <a:rect l="l" t="t" r="r" b="b"/>
            <a:pathLst>
              <a:path w="16" h="20">
                <a:moveTo>
                  <a:pt x="8" y="0"/>
                </a:moveTo>
                <a:lnTo>
                  <a:pt x="13" y="7"/>
                </a:lnTo>
                <a:lnTo>
                  <a:pt x="12" y="11"/>
                </a:lnTo>
                <a:lnTo>
                  <a:pt x="16" y="10"/>
                </a:lnTo>
                <a:lnTo>
                  <a:pt x="16" y="15"/>
                </a:lnTo>
                <a:lnTo>
                  <a:pt x="11" y="20"/>
                </a:lnTo>
                <a:lnTo>
                  <a:pt x="4" y="19"/>
                </a:lnTo>
                <a:lnTo>
                  <a:pt x="0" y="14"/>
                </a:lnTo>
                <a:lnTo>
                  <a:pt x="2" y="8"/>
                </a:lnTo>
                <a:lnTo>
                  <a:pt x="5" y="10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838200" y="4273550"/>
            <a:ext cx="31750" cy="635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3" y="0"/>
                </a:moveTo>
                <a:lnTo>
                  <a:pt x="5" y="5"/>
                </a:lnTo>
                <a:lnTo>
                  <a:pt x="3" y="10"/>
                </a:lnTo>
                <a:lnTo>
                  <a:pt x="0" y="9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TextBox 856"/>
          <p:cNvSpPr txBox="1"/>
          <p:nvPr/>
        </p:nvSpPr>
        <p:spPr>
          <a:xfrm>
            <a:off x="2082799" y="4184649"/>
            <a:ext cx="3098799" cy="260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Times New Roman"/>
              </a:rPr>
              <a:t>Multi-Head Attention</a:t>
            </a:r>
          </a:p>
        </p:txBody>
      </p:sp>
      <p:sp>
        <p:nvSpPr>
          <p:cNvPr id="858" name="Rounded Rectangle 857"/>
          <p:cNvSpPr/>
          <p:nvPr/>
        </p:nvSpPr>
        <p:spPr>
          <a:xfrm>
            <a:off x="717549" y="4476749"/>
            <a:ext cx="4686299" cy="215899"/>
          </a:xfrm>
          <a:prstGeom prst="roundRect">
            <a:avLst/>
          </a:prstGeom>
          <a:solidFill>
            <a:srgbClr val="E8EBF1"/>
          </a:solidFill>
          <a:ln w="8382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800100" y="4521200"/>
            <a:ext cx="101600" cy="127000"/>
          </a:xfrm>
          <a:custGeom>
            <a:avLst/>
            <a:gdLst/>
            <a:ahLst/>
            <a:cxnLst/>
            <a:rect l="l" t="t" r="r" b="b"/>
            <a:pathLst>
              <a:path w="16" h="20">
                <a:moveTo>
                  <a:pt x="8" y="0"/>
                </a:moveTo>
                <a:lnTo>
                  <a:pt x="13" y="7"/>
                </a:lnTo>
                <a:lnTo>
                  <a:pt x="12" y="11"/>
                </a:lnTo>
                <a:lnTo>
                  <a:pt x="16" y="10"/>
                </a:lnTo>
                <a:lnTo>
                  <a:pt x="16" y="15"/>
                </a:lnTo>
                <a:lnTo>
                  <a:pt x="11" y="20"/>
                </a:lnTo>
                <a:lnTo>
                  <a:pt x="4" y="19"/>
                </a:lnTo>
                <a:lnTo>
                  <a:pt x="0" y="14"/>
                </a:lnTo>
                <a:lnTo>
                  <a:pt x="2" y="8"/>
                </a:lnTo>
                <a:lnTo>
                  <a:pt x="5" y="10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838200" y="4565650"/>
            <a:ext cx="31750" cy="635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3" y="0"/>
                </a:moveTo>
                <a:lnTo>
                  <a:pt x="5" y="5"/>
                </a:lnTo>
                <a:lnTo>
                  <a:pt x="3" y="10"/>
                </a:lnTo>
                <a:lnTo>
                  <a:pt x="0" y="9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TextBox 860"/>
          <p:cNvSpPr txBox="1"/>
          <p:nvPr/>
        </p:nvSpPr>
        <p:spPr>
          <a:xfrm>
            <a:off x="2082799" y="4476749"/>
            <a:ext cx="30987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Times New Roman"/>
              </a:rPr>
              <a:t>Feed Forward Network</a:t>
            </a:r>
          </a:p>
        </p:txBody>
      </p:sp>
      <p:sp>
        <p:nvSpPr>
          <p:cNvPr id="862" name="Rounded Rectangle 861"/>
          <p:cNvSpPr/>
          <p:nvPr/>
        </p:nvSpPr>
        <p:spPr>
          <a:xfrm>
            <a:off x="717549" y="4737099"/>
            <a:ext cx="4686299" cy="215899"/>
          </a:xfrm>
          <a:prstGeom prst="roundRect">
            <a:avLst/>
          </a:prstGeom>
          <a:solidFill>
            <a:srgbClr val="E2F2D8"/>
          </a:solidFill>
          <a:ln w="8382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800100" y="4781550"/>
            <a:ext cx="101600" cy="127000"/>
          </a:xfrm>
          <a:custGeom>
            <a:avLst/>
            <a:gdLst/>
            <a:ahLst/>
            <a:cxnLst/>
            <a:rect l="l" t="t" r="r" b="b"/>
            <a:pathLst>
              <a:path w="16" h="20">
                <a:moveTo>
                  <a:pt x="8" y="0"/>
                </a:moveTo>
                <a:lnTo>
                  <a:pt x="13" y="7"/>
                </a:lnTo>
                <a:lnTo>
                  <a:pt x="12" y="11"/>
                </a:lnTo>
                <a:lnTo>
                  <a:pt x="16" y="10"/>
                </a:lnTo>
                <a:lnTo>
                  <a:pt x="16" y="15"/>
                </a:lnTo>
                <a:lnTo>
                  <a:pt x="11" y="20"/>
                </a:lnTo>
                <a:lnTo>
                  <a:pt x="4" y="19"/>
                </a:lnTo>
                <a:lnTo>
                  <a:pt x="0" y="14"/>
                </a:lnTo>
                <a:lnTo>
                  <a:pt x="2" y="8"/>
                </a:lnTo>
                <a:lnTo>
                  <a:pt x="5" y="10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838200" y="4826000"/>
            <a:ext cx="31750" cy="635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3" y="0"/>
                </a:moveTo>
                <a:lnTo>
                  <a:pt x="5" y="5"/>
                </a:lnTo>
                <a:lnTo>
                  <a:pt x="3" y="10"/>
                </a:lnTo>
                <a:lnTo>
                  <a:pt x="0" y="9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TextBox 864"/>
          <p:cNvSpPr txBox="1"/>
          <p:nvPr/>
        </p:nvSpPr>
        <p:spPr>
          <a:xfrm>
            <a:off x="2082799" y="4737099"/>
            <a:ext cx="30987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Times New Roman"/>
              </a:rPr>
              <a:t>Multi-Head Attention</a:t>
            </a:r>
          </a:p>
        </p:txBody>
      </p:sp>
      <p:sp>
        <p:nvSpPr>
          <p:cNvPr id="866" name="Rounded Rectangle 865"/>
          <p:cNvSpPr/>
          <p:nvPr/>
        </p:nvSpPr>
        <p:spPr>
          <a:xfrm>
            <a:off x="717549" y="4991099"/>
            <a:ext cx="4686299" cy="215899"/>
          </a:xfrm>
          <a:prstGeom prst="roundRect">
            <a:avLst/>
          </a:prstGeom>
          <a:solidFill>
            <a:srgbClr val="E8EBF1"/>
          </a:solidFill>
          <a:ln w="8382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800100" y="5035550"/>
            <a:ext cx="101600" cy="127000"/>
          </a:xfrm>
          <a:custGeom>
            <a:avLst/>
            <a:gdLst/>
            <a:ahLst/>
            <a:cxnLst/>
            <a:rect l="l" t="t" r="r" b="b"/>
            <a:pathLst>
              <a:path w="16" h="20">
                <a:moveTo>
                  <a:pt x="8" y="0"/>
                </a:moveTo>
                <a:lnTo>
                  <a:pt x="13" y="7"/>
                </a:lnTo>
                <a:lnTo>
                  <a:pt x="12" y="11"/>
                </a:lnTo>
                <a:lnTo>
                  <a:pt x="16" y="10"/>
                </a:lnTo>
                <a:lnTo>
                  <a:pt x="16" y="15"/>
                </a:lnTo>
                <a:lnTo>
                  <a:pt x="11" y="20"/>
                </a:lnTo>
                <a:lnTo>
                  <a:pt x="4" y="19"/>
                </a:lnTo>
                <a:lnTo>
                  <a:pt x="0" y="14"/>
                </a:lnTo>
                <a:lnTo>
                  <a:pt x="2" y="8"/>
                </a:lnTo>
                <a:lnTo>
                  <a:pt x="5" y="10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838200" y="5080000"/>
            <a:ext cx="31750" cy="635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3" y="0"/>
                </a:moveTo>
                <a:lnTo>
                  <a:pt x="5" y="5"/>
                </a:lnTo>
                <a:lnTo>
                  <a:pt x="3" y="10"/>
                </a:lnTo>
                <a:lnTo>
                  <a:pt x="0" y="9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TextBox 868"/>
          <p:cNvSpPr txBox="1"/>
          <p:nvPr/>
        </p:nvSpPr>
        <p:spPr>
          <a:xfrm>
            <a:off x="2082799" y="4991099"/>
            <a:ext cx="30987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Times New Roman"/>
              </a:rPr>
              <a:t>Feed Forward Network</a:t>
            </a:r>
          </a:p>
        </p:txBody>
      </p:sp>
      <p:sp>
        <p:nvSpPr>
          <p:cNvPr id="870" name="TextBox 869"/>
          <p:cNvSpPr txBox="1"/>
          <p:nvPr/>
        </p:nvSpPr>
        <p:spPr>
          <a:xfrm>
            <a:off x="5441949" y="4222749"/>
            <a:ext cx="222249" cy="400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Times New Roman"/>
              </a:rPr>
              <a:t>}  × N</a:t>
            </a:r>
          </a:p>
        </p:txBody>
      </p:sp>
      <p:sp>
        <p:nvSpPr>
          <p:cNvPr id="871" name="TextBox 870"/>
          <p:cNvSpPr txBox="1"/>
          <p:nvPr/>
        </p:nvSpPr>
        <p:spPr>
          <a:xfrm>
            <a:off x="5441949" y="4775199"/>
            <a:ext cx="222249" cy="400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11111"/>
                </a:solidFill>
                <a:latin typeface="Times New Roman"/>
              </a:rPr>
              <a:t>}  × N</a:t>
            </a:r>
          </a:p>
        </p:txBody>
      </p:sp>
      <p:sp>
        <p:nvSpPr>
          <p:cNvPr id="872" name="TextBox 871"/>
          <p:cNvSpPr txBox="1"/>
          <p:nvPr/>
        </p:nvSpPr>
        <p:spPr>
          <a:xfrm>
            <a:off x="139699" y="5372099"/>
            <a:ext cx="69849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40000"/>
                </a:solidFill>
                <a:latin typeface="Times New Roman"/>
              </a:rPr>
              <a:t>self-supervised</a:t>
            </a:r>
          </a:p>
        </p:txBody>
      </p:sp>
      <p:sp>
        <p:nvSpPr>
          <p:cNvPr id="873" name="Rounded Rectangle 872"/>
          <p:cNvSpPr/>
          <p:nvPr/>
        </p:nvSpPr>
        <p:spPr>
          <a:xfrm>
            <a:off x="863599" y="5333999"/>
            <a:ext cx="1663699" cy="273049"/>
          </a:xfrm>
          <a:prstGeom prst="roundRect">
            <a:avLst/>
          </a:prstGeom>
          <a:solidFill>
            <a:srgbClr val="BDE1A7"/>
          </a:solidFill>
          <a:ln w="6985">
            <a:solidFill>
              <a:srgbClr val="66A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TextBox 873"/>
          <p:cNvSpPr txBox="1"/>
          <p:nvPr/>
        </p:nvSpPr>
        <p:spPr>
          <a:xfrm>
            <a:off x="863599" y="5333999"/>
            <a:ext cx="1663699" cy="273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E3245"/>
                </a:solidFill>
                <a:latin typeface="Times New Roman"/>
              </a:rPr>
              <a:t>Recover Head</a:t>
            </a:r>
          </a:p>
        </p:txBody>
      </p:sp>
      <p:sp>
        <p:nvSpPr>
          <p:cNvPr id="875" name="Freeform 874"/>
          <p:cNvSpPr/>
          <p:nvPr/>
        </p:nvSpPr>
        <p:spPr>
          <a:xfrm>
            <a:off x="939800" y="5397500"/>
            <a:ext cx="101600" cy="127000"/>
          </a:xfrm>
          <a:custGeom>
            <a:avLst/>
            <a:gdLst/>
            <a:ahLst/>
            <a:cxnLst/>
            <a:rect l="l" t="t" r="r" b="b"/>
            <a:pathLst>
              <a:path w="16" h="20">
                <a:moveTo>
                  <a:pt x="8" y="0"/>
                </a:moveTo>
                <a:lnTo>
                  <a:pt x="13" y="7"/>
                </a:lnTo>
                <a:lnTo>
                  <a:pt x="12" y="11"/>
                </a:lnTo>
                <a:lnTo>
                  <a:pt x="16" y="10"/>
                </a:lnTo>
                <a:lnTo>
                  <a:pt x="16" y="15"/>
                </a:lnTo>
                <a:lnTo>
                  <a:pt x="11" y="20"/>
                </a:lnTo>
                <a:lnTo>
                  <a:pt x="4" y="19"/>
                </a:lnTo>
                <a:lnTo>
                  <a:pt x="0" y="14"/>
                </a:lnTo>
                <a:lnTo>
                  <a:pt x="2" y="8"/>
                </a:lnTo>
                <a:lnTo>
                  <a:pt x="5" y="10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977900" y="5441950"/>
            <a:ext cx="31750" cy="635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3" y="0"/>
                </a:moveTo>
                <a:lnTo>
                  <a:pt x="5" y="5"/>
                </a:lnTo>
                <a:lnTo>
                  <a:pt x="3" y="10"/>
                </a:lnTo>
                <a:lnTo>
                  <a:pt x="0" y="9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TextBox 876"/>
          <p:cNvSpPr txBox="1"/>
          <p:nvPr/>
        </p:nvSpPr>
        <p:spPr>
          <a:xfrm>
            <a:off x="2546349" y="5365749"/>
            <a:ext cx="34924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E40000"/>
                </a:solidFill>
                <a:latin typeface="Times New Roman"/>
              </a:rPr>
              <a:t>xₐᵤg</a:t>
            </a:r>
          </a:p>
        </p:txBody>
      </p:sp>
      <p:sp>
        <p:nvSpPr>
          <p:cNvPr id="878" name="TextBox 877"/>
          <p:cNvSpPr txBox="1"/>
          <p:nvPr/>
        </p:nvSpPr>
        <p:spPr>
          <a:xfrm>
            <a:off x="3441699" y="5365749"/>
            <a:ext cx="36829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E40000"/>
                </a:solidFill>
                <a:latin typeface="Times New Roman"/>
              </a:rPr>
              <a:t>xctx</a:t>
            </a:r>
          </a:p>
        </p:txBody>
      </p:sp>
      <p:sp>
        <p:nvSpPr>
          <p:cNvPr id="879" name="Rounded Rectangle 878"/>
          <p:cNvSpPr/>
          <p:nvPr/>
        </p:nvSpPr>
        <p:spPr>
          <a:xfrm>
            <a:off x="3708399" y="5333999"/>
            <a:ext cx="1657349" cy="273049"/>
          </a:xfrm>
          <a:prstGeom prst="roundRect">
            <a:avLst/>
          </a:prstGeom>
          <a:solidFill>
            <a:srgbClr val="BDE1A7"/>
          </a:solidFill>
          <a:ln w="6985">
            <a:solidFill>
              <a:srgbClr val="66A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TextBox 879"/>
          <p:cNvSpPr txBox="1"/>
          <p:nvPr/>
        </p:nvSpPr>
        <p:spPr>
          <a:xfrm>
            <a:off x="3708399" y="5333999"/>
            <a:ext cx="1657349" cy="273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E3245"/>
                </a:solidFill>
                <a:latin typeface="Times New Roman"/>
              </a:rPr>
              <a:t>Prediction Head</a:t>
            </a:r>
          </a:p>
        </p:txBody>
      </p:sp>
      <p:sp>
        <p:nvSpPr>
          <p:cNvPr id="881" name="Freeform 880"/>
          <p:cNvSpPr/>
          <p:nvPr/>
        </p:nvSpPr>
        <p:spPr>
          <a:xfrm>
            <a:off x="5137150" y="5397500"/>
            <a:ext cx="101600" cy="127000"/>
          </a:xfrm>
          <a:custGeom>
            <a:avLst/>
            <a:gdLst/>
            <a:ahLst/>
            <a:cxnLst/>
            <a:rect l="l" t="t" r="r" b="b"/>
            <a:pathLst>
              <a:path w="16" h="20">
                <a:moveTo>
                  <a:pt x="8" y="0"/>
                </a:moveTo>
                <a:lnTo>
                  <a:pt x="13" y="7"/>
                </a:lnTo>
                <a:lnTo>
                  <a:pt x="12" y="11"/>
                </a:lnTo>
                <a:lnTo>
                  <a:pt x="16" y="10"/>
                </a:lnTo>
                <a:lnTo>
                  <a:pt x="16" y="15"/>
                </a:lnTo>
                <a:lnTo>
                  <a:pt x="11" y="20"/>
                </a:lnTo>
                <a:lnTo>
                  <a:pt x="4" y="19"/>
                </a:lnTo>
                <a:lnTo>
                  <a:pt x="0" y="14"/>
                </a:lnTo>
                <a:lnTo>
                  <a:pt x="2" y="8"/>
                </a:lnTo>
                <a:lnTo>
                  <a:pt x="5" y="10"/>
                </a:lnTo>
                <a:close/>
              </a:path>
            </a:pathLst>
          </a:custGeom>
          <a:solidFill>
            <a:srgbClr val="FF7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5175250" y="5441950"/>
            <a:ext cx="31750" cy="635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3" y="0"/>
                </a:moveTo>
                <a:lnTo>
                  <a:pt x="5" y="5"/>
                </a:lnTo>
                <a:lnTo>
                  <a:pt x="3" y="10"/>
                </a:lnTo>
                <a:lnTo>
                  <a:pt x="0" y="9"/>
                </a:lnTo>
                <a:lnTo>
                  <a:pt x="0" y="5"/>
                </a:lnTo>
                <a:close/>
              </a:path>
            </a:pathLst>
          </a:custGeom>
          <a:solidFill>
            <a:srgbClr val="FFD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TextBox 882"/>
          <p:cNvSpPr txBox="1"/>
          <p:nvPr/>
        </p:nvSpPr>
        <p:spPr>
          <a:xfrm>
            <a:off x="5397499" y="5372099"/>
            <a:ext cx="48259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40000"/>
                </a:solidFill>
                <a:latin typeface="Times New Roman"/>
              </a:rPr>
              <a:t>supervised</a:t>
            </a:r>
          </a:p>
        </p:txBody>
      </p:sp>
      <p:cxnSp>
        <p:nvCxnSpPr>
          <p:cNvPr id="884" name="Connector 883"/>
          <p:cNvCxnSpPr/>
          <p:nvPr/>
        </p:nvCxnSpPr>
        <p:spPr>
          <a:xfrm flipH="1">
            <a:off x="1695449" y="5213349"/>
            <a:ext cx="1670050" cy="12065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5" name="Freeform 884"/>
          <p:cNvSpPr/>
          <p:nvPr/>
        </p:nvSpPr>
        <p:spPr>
          <a:xfrm>
            <a:off x="1695450" y="5314950"/>
            <a:ext cx="25400" cy="3175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0" y="3"/>
                </a:moveTo>
                <a:lnTo>
                  <a:pt x="4" y="0"/>
                </a:lnTo>
                <a:lnTo>
                  <a:pt x="4" y="5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6" name="Connector 885"/>
          <p:cNvCxnSpPr/>
          <p:nvPr/>
        </p:nvCxnSpPr>
        <p:spPr>
          <a:xfrm>
            <a:off x="3365499" y="5213349"/>
            <a:ext cx="1168400" cy="12065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7" name="Freeform 886"/>
          <p:cNvSpPr/>
          <p:nvPr/>
        </p:nvSpPr>
        <p:spPr>
          <a:xfrm>
            <a:off x="4502150" y="5314950"/>
            <a:ext cx="31750" cy="3175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3"/>
                </a:move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Rectangle 887"/>
          <p:cNvSpPr/>
          <p:nvPr/>
        </p:nvSpPr>
        <p:spPr>
          <a:xfrm>
            <a:off x="215899" y="5721349"/>
            <a:ext cx="1390649" cy="438149"/>
          </a:xfrm>
          <a:prstGeom prst="rect">
            <a:avLst/>
          </a:prstGeom>
          <a:solidFill>
            <a:srgbClr val="FFFFFF"/>
          </a:solidFill>
          <a:ln w="6985">
            <a:solidFill>
              <a:srgbClr val="2F3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247650" y="5765800"/>
            <a:ext cx="1320800" cy="38100"/>
          </a:xfrm>
          <a:custGeom>
            <a:avLst/>
            <a:gdLst/>
            <a:ahLst/>
            <a:cxnLst/>
            <a:rect l="l" t="t" r="r" b="b"/>
            <a:pathLst>
              <a:path w="208" h="6">
                <a:moveTo>
                  <a:pt x="0" y="2"/>
                </a:moveTo>
                <a:lnTo>
                  <a:pt x="4" y="2"/>
                </a:lnTo>
                <a:lnTo>
                  <a:pt x="8" y="1"/>
                </a:lnTo>
                <a:lnTo>
                  <a:pt x="12" y="3"/>
                </a:lnTo>
                <a:lnTo>
                  <a:pt x="16" y="3"/>
                </a:lnTo>
                <a:lnTo>
                  <a:pt x="20" y="2"/>
                </a:lnTo>
                <a:lnTo>
                  <a:pt x="24" y="2"/>
                </a:lnTo>
                <a:lnTo>
                  <a:pt x="28" y="5"/>
                </a:lnTo>
                <a:lnTo>
                  <a:pt x="32" y="6"/>
                </a:lnTo>
                <a:lnTo>
                  <a:pt x="36" y="6"/>
                </a:lnTo>
                <a:lnTo>
                  <a:pt x="40" y="5"/>
                </a:lnTo>
                <a:lnTo>
                  <a:pt x="44" y="3"/>
                </a:lnTo>
                <a:lnTo>
                  <a:pt x="48" y="4"/>
                </a:lnTo>
                <a:lnTo>
                  <a:pt x="52" y="5"/>
                </a:lnTo>
                <a:lnTo>
                  <a:pt x="56" y="2"/>
                </a:lnTo>
                <a:lnTo>
                  <a:pt x="60" y="1"/>
                </a:lnTo>
                <a:lnTo>
                  <a:pt x="64" y="2"/>
                </a:lnTo>
                <a:lnTo>
                  <a:pt x="68" y="3"/>
                </a:lnTo>
                <a:lnTo>
                  <a:pt x="72" y="4"/>
                </a:lnTo>
                <a:lnTo>
                  <a:pt x="76" y="4"/>
                </a:lnTo>
                <a:lnTo>
                  <a:pt x="80" y="4"/>
                </a:lnTo>
                <a:lnTo>
                  <a:pt x="84" y="5"/>
                </a:lnTo>
                <a:lnTo>
                  <a:pt x="88" y="6"/>
                </a:lnTo>
                <a:lnTo>
                  <a:pt x="92" y="5"/>
                </a:lnTo>
                <a:lnTo>
                  <a:pt x="96" y="3"/>
                </a:lnTo>
                <a:lnTo>
                  <a:pt x="100" y="2"/>
                </a:lnTo>
                <a:lnTo>
                  <a:pt x="104" y="2"/>
                </a:lnTo>
                <a:lnTo>
                  <a:pt x="108" y="2"/>
                </a:lnTo>
                <a:lnTo>
                  <a:pt x="112" y="1"/>
                </a:lnTo>
                <a:lnTo>
                  <a:pt x="116" y="1"/>
                </a:lnTo>
                <a:lnTo>
                  <a:pt x="120" y="2"/>
                </a:lnTo>
                <a:lnTo>
                  <a:pt x="124" y="5"/>
                </a:lnTo>
                <a:lnTo>
                  <a:pt x="128" y="5"/>
                </a:lnTo>
                <a:lnTo>
                  <a:pt x="132" y="4"/>
                </a:lnTo>
                <a:lnTo>
                  <a:pt x="136" y="4"/>
                </a:lnTo>
                <a:lnTo>
                  <a:pt x="140" y="5"/>
                </a:lnTo>
                <a:lnTo>
                  <a:pt x="144" y="6"/>
                </a:lnTo>
                <a:lnTo>
                  <a:pt x="148" y="5"/>
                </a:lnTo>
                <a:lnTo>
                  <a:pt x="152" y="2"/>
                </a:lnTo>
                <a:lnTo>
                  <a:pt x="156" y="0"/>
                </a:lnTo>
                <a:lnTo>
                  <a:pt x="160" y="1"/>
                </a:lnTo>
                <a:lnTo>
                  <a:pt x="164" y="4"/>
                </a:lnTo>
                <a:lnTo>
                  <a:pt x="168" y="3"/>
                </a:lnTo>
                <a:lnTo>
                  <a:pt x="172" y="3"/>
                </a:lnTo>
                <a:lnTo>
                  <a:pt x="176" y="3"/>
                </a:lnTo>
                <a:lnTo>
                  <a:pt x="180" y="6"/>
                </a:lnTo>
                <a:lnTo>
                  <a:pt x="184" y="6"/>
                </a:lnTo>
                <a:lnTo>
                  <a:pt x="188" y="5"/>
                </a:lnTo>
                <a:lnTo>
                  <a:pt x="192" y="3"/>
                </a:lnTo>
                <a:lnTo>
                  <a:pt x="196" y="3"/>
                </a:lnTo>
                <a:lnTo>
                  <a:pt x="200" y="4"/>
                </a:lnTo>
                <a:lnTo>
                  <a:pt x="204" y="4"/>
                </a:lnTo>
                <a:lnTo>
                  <a:pt x="208" y="1"/>
                </a:lnTo>
              </a:path>
            </a:pathLst>
          </a:custGeom>
          <a:noFill/>
          <a:ln w="6985">
            <a:solidFill>
              <a:srgbClr val="536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247650" y="5861050"/>
            <a:ext cx="1320800" cy="44450"/>
          </a:xfrm>
          <a:custGeom>
            <a:avLst/>
            <a:gdLst/>
            <a:ahLst/>
            <a:cxnLst/>
            <a:rect l="l" t="t" r="r" b="b"/>
            <a:pathLst>
              <a:path w="208" h="7">
                <a:moveTo>
                  <a:pt x="0" y="2"/>
                </a:moveTo>
                <a:lnTo>
                  <a:pt x="4" y="2"/>
                </a:lnTo>
                <a:lnTo>
                  <a:pt x="8" y="1"/>
                </a:lnTo>
                <a:lnTo>
                  <a:pt x="12" y="3"/>
                </a:lnTo>
                <a:lnTo>
                  <a:pt x="16" y="3"/>
                </a:lnTo>
                <a:lnTo>
                  <a:pt x="20" y="2"/>
                </a:lnTo>
                <a:lnTo>
                  <a:pt x="24" y="3"/>
                </a:lnTo>
                <a:lnTo>
                  <a:pt x="28" y="5"/>
                </a:lnTo>
                <a:lnTo>
                  <a:pt x="32" y="6"/>
                </a:lnTo>
                <a:lnTo>
                  <a:pt x="36" y="6"/>
                </a:lnTo>
                <a:lnTo>
                  <a:pt x="40" y="4"/>
                </a:lnTo>
                <a:lnTo>
                  <a:pt x="44" y="4"/>
                </a:lnTo>
                <a:lnTo>
                  <a:pt x="48" y="5"/>
                </a:lnTo>
                <a:lnTo>
                  <a:pt x="52" y="4"/>
                </a:lnTo>
                <a:lnTo>
                  <a:pt x="56" y="3"/>
                </a:lnTo>
                <a:lnTo>
                  <a:pt x="60" y="0"/>
                </a:lnTo>
                <a:lnTo>
                  <a:pt x="64" y="1"/>
                </a:lnTo>
                <a:lnTo>
                  <a:pt x="68" y="4"/>
                </a:lnTo>
                <a:lnTo>
                  <a:pt x="72" y="3"/>
                </a:lnTo>
                <a:lnTo>
                  <a:pt x="76" y="4"/>
                </a:lnTo>
                <a:lnTo>
                  <a:pt x="80" y="3"/>
                </a:lnTo>
                <a:lnTo>
                  <a:pt x="84" y="6"/>
                </a:lnTo>
                <a:lnTo>
                  <a:pt x="88" y="6"/>
                </a:lnTo>
                <a:lnTo>
                  <a:pt x="92" y="5"/>
                </a:lnTo>
                <a:lnTo>
                  <a:pt x="96" y="3"/>
                </a:lnTo>
                <a:lnTo>
                  <a:pt x="100" y="2"/>
                </a:lnTo>
                <a:lnTo>
                  <a:pt x="104" y="4"/>
                </a:lnTo>
                <a:lnTo>
                  <a:pt x="108" y="4"/>
                </a:lnTo>
                <a:lnTo>
                  <a:pt x="112" y="2"/>
                </a:lnTo>
                <a:lnTo>
                  <a:pt x="116" y="1"/>
                </a:lnTo>
                <a:lnTo>
                  <a:pt x="120" y="3"/>
                </a:lnTo>
                <a:lnTo>
                  <a:pt x="124" y="4"/>
                </a:lnTo>
                <a:lnTo>
                  <a:pt x="128" y="5"/>
                </a:lnTo>
                <a:lnTo>
                  <a:pt x="132" y="5"/>
                </a:lnTo>
                <a:lnTo>
                  <a:pt x="136" y="5"/>
                </a:lnTo>
                <a:lnTo>
                  <a:pt x="140" y="5"/>
                </a:lnTo>
                <a:lnTo>
                  <a:pt x="144" y="5"/>
                </a:lnTo>
                <a:lnTo>
                  <a:pt x="148" y="4"/>
                </a:lnTo>
                <a:lnTo>
                  <a:pt x="152" y="2"/>
                </a:lnTo>
                <a:lnTo>
                  <a:pt x="156" y="1"/>
                </a:lnTo>
                <a:lnTo>
                  <a:pt x="160" y="2"/>
                </a:lnTo>
                <a:lnTo>
                  <a:pt x="164" y="3"/>
                </a:lnTo>
                <a:lnTo>
                  <a:pt x="168" y="2"/>
                </a:lnTo>
                <a:lnTo>
                  <a:pt x="172" y="3"/>
                </a:lnTo>
                <a:lnTo>
                  <a:pt x="176" y="3"/>
                </a:lnTo>
                <a:lnTo>
                  <a:pt x="180" y="5"/>
                </a:lnTo>
                <a:lnTo>
                  <a:pt x="184" y="7"/>
                </a:lnTo>
                <a:lnTo>
                  <a:pt x="188" y="5"/>
                </a:lnTo>
                <a:lnTo>
                  <a:pt x="192" y="4"/>
                </a:lnTo>
                <a:lnTo>
                  <a:pt x="196" y="3"/>
                </a:lnTo>
                <a:lnTo>
                  <a:pt x="200" y="4"/>
                </a:lnTo>
                <a:lnTo>
                  <a:pt x="204" y="3"/>
                </a:lnTo>
                <a:lnTo>
                  <a:pt x="208" y="1"/>
                </a:lnTo>
              </a:path>
            </a:pathLst>
          </a:custGeom>
          <a:noFill/>
          <a:ln w="6985">
            <a:solidFill>
              <a:srgbClr val="536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247650" y="5956300"/>
            <a:ext cx="1320800" cy="44450"/>
          </a:xfrm>
          <a:custGeom>
            <a:avLst/>
            <a:gdLst/>
            <a:ahLst/>
            <a:cxnLst/>
            <a:rect l="l" t="t" r="r" b="b"/>
            <a:pathLst>
              <a:path w="208" h="7">
                <a:moveTo>
                  <a:pt x="0" y="3"/>
                </a:moveTo>
                <a:lnTo>
                  <a:pt x="4" y="1"/>
                </a:lnTo>
                <a:lnTo>
                  <a:pt x="8" y="2"/>
                </a:lnTo>
                <a:lnTo>
                  <a:pt x="12" y="3"/>
                </a:lnTo>
                <a:lnTo>
                  <a:pt x="16" y="2"/>
                </a:lnTo>
                <a:lnTo>
                  <a:pt x="20" y="1"/>
                </a:lnTo>
                <a:lnTo>
                  <a:pt x="24" y="3"/>
                </a:lnTo>
                <a:lnTo>
                  <a:pt x="28" y="5"/>
                </a:lnTo>
                <a:lnTo>
                  <a:pt x="32" y="6"/>
                </a:lnTo>
                <a:lnTo>
                  <a:pt x="36" y="6"/>
                </a:lnTo>
                <a:lnTo>
                  <a:pt x="40" y="3"/>
                </a:lnTo>
                <a:lnTo>
                  <a:pt x="44" y="3"/>
                </a:lnTo>
                <a:lnTo>
                  <a:pt x="48" y="5"/>
                </a:lnTo>
                <a:lnTo>
                  <a:pt x="52" y="4"/>
                </a:lnTo>
                <a:lnTo>
                  <a:pt x="56" y="3"/>
                </a:lnTo>
                <a:lnTo>
                  <a:pt x="60" y="0"/>
                </a:lnTo>
                <a:lnTo>
                  <a:pt x="64" y="1"/>
                </a:lnTo>
                <a:lnTo>
                  <a:pt x="68" y="4"/>
                </a:lnTo>
                <a:lnTo>
                  <a:pt x="72" y="4"/>
                </a:lnTo>
                <a:lnTo>
                  <a:pt x="76" y="4"/>
                </a:lnTo>
                <a:lnTo>
                  <a:pt x="80" y="3"/>
                </a:lnTo>
                <a:lnTo>
                  <a:pt x="84" y="6"/>
                </a:lnTo>
                <a:lnTo>
                  <a:pt x="88" y="7"/>
                </a:lnTo>
                <a:lnTo>
                  <a:pt x="92" y="5"/>
                </a:lnTo>
                <a:lnTo>
                  <a:pt x="96" y="4"/>
                </a:lnTo>
                <a:lnTo>
                  <a:pt x="100" y="2"/>
                </a:lnTo>
                <a:lnTo>
                  <a:pt x="104" y="2"/>
                </a:lnTo>
                <a:lnTo>
                  <a:pt x="108" y="3"/>
                </a:lnTo>
                <a:lnTo>
                  <a:pt x="112" y="1"/>
                </a:lnTo>
                <a:lnTo>
                  <a:pt x="116" y="0"/>
                </a:lnTo>
                <a:lnTo>
                  <a:pt x="120" y="3"/>
                </a:lnTo>
                <a:lnTo>
                  <a:pt x="124" y="5"/>
                </a:lnTo>
                <a:lnTo>
                  <a:pt x="128" y="5"/>
                </a:lnTo>
                <a:lnTo>
                  <a:pt x="132" y="5"/>
                </a:lnTo>
                <a:lnTo>
                  <a:pt x="136" y="5"/>
                </a:lnTo>
                <a:lnTo>
                  <a:pt x="140" y="4"/>
                </a:lnTo>
                <a:lnTo>
                  <a:pt x="144" y="5"/>
                </a:lnTo>
                <a:lnTo>
                  <a:pt x="148" y="5"/>
                </a:lnTo>
                <a:lnTo>
                  <a:pt x="152" y="2"/>
                </a:lnTo>
                <a:lnTo>
                  <a:pt x="156" y="2"/>
                </a:lnTo>
                <a:lnTo>
                  <a:pt x="160" y="2"/>
                </a:lnTo>
                <a:lnTo>
                  <a:pt x="164" y="4"/>
                </a:lnTo>
                <a:lnTo>
                  <a:pt x="168" y="3"/>
                </a:lnTo>
                <a:lnTo>
                  <a:pt x="172" y="1"/>
                </a:lnTo>
                <a:lnTo>
                  <a:pt x="176" y="4"/>
                </a:lnTo>
                <a:lnTo>
                  <a:pt x="180" y="6"/>
                </a:lnTo>
                <a:lnTo>
                  <a:pt x="184" y="6"/>
                </a:lnTo>
                <a:lnTo>
                  <a:pt x="188" y="4"/>
                </a:lnTo>
                <a:lnTo>
                  <a:pt x="192" y="4"/>
                </a:lnTo>
                <a:lnTo>
                  <a:pt x="196" y="4"/>
                </a:lnTo>
                <a:lnTo>
                  <a:pt x="200" y="4"/>
                </a:lnTo>
                <a:lnTo>
                  <a:pt x="204" y="4"/>
                </a:lnTo>
                <a:lnTo>
                  <a:pt x="208" y="2"/>
                </a:lnTo>
              </a:path>
            </a:pathLst>
          </a:custGeom>
          <a:noFill/>
          <a:ln w="6985">
            <a:solidFill>
              <a:srgbClr val="536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247650" y="6051550"/>
            <a:ext cx="1320800" cy="38100"/>
          </a:xfrm>
          <a:custGeom>
            <a:avLst/>
            <a:gdLst/>
            <a:ahLst/>
            <a:cxnLst/>
            <a:rect l="l" t="t" r="r" b="b"/>
            <a:pathLst>
              <a:path w="208" h="6">
                <a:moveTo>
                  <a:pt x="0" y="4"/>
                </a:moveTo>
                <a:lnTo>
                  <a:pt x="4" y="1"/>
                </a:lnTo>
                <a:lnTo>
                  <a:pt x="8" y="2"/>
                </a:lnTo>
                <a:lnTo>
                  <a:pt x="12" y="4"/>
                </a:lnTo>
                <a:lnTo>
                  <a:pt x="16" y="3"/>
                </a:lnTo>
                <a:lnTo>
                  <a:pt x="20" y="2"/>
                </a:lnTo>
                <a:lnTo>
                  <a:pt x="24" y="2"/>
                </a:lnTo>
                <a:lnTo>
                  <a:pt x="28" y="4"/>
                </a:lnTo>
                <a:lnTo>
                  <a:pt x="32" y="6"/>
                </a:lnTo>
                <a:lnTo>
                  <a:pt x="36" y="5"/>
                </a:lnTo>
                <a:lnTo>
                  <a:pt x="40" y="4"/>
                </a:lnTo>
                <a:lnTo>
                  <a:pt x="44" y="4"/>
                </a:lnTo>
                <a:lnTo>
                  <a:pt x="48" y="5"/>
                </a:lnTo>
                <a:lnTo>
                  <a:pt x="52" y="4"/>
                </a:lnTo>
                <a:lnTo>
                  <a:pt x="56" y="2"/>
                </a:lnTo>
                <a:lnTo>
                  <a:pt x="60" y="0"/>
                </a:lnTo>
                <a:lnTo>
                  <a:pt x="64" y="1"/>
                </a:lnTo>
                <a:lnTo>
                  <a:pt x="68" y="4"/>
                </a:lnTo>
                <a:lnTo>
                  <a:pt x="72" y="4"/>
                </a:lnTo>
                <a:lnTo>
                  <a:pt x="76" y="2"/>
                </a:lnTo>
                <a:lnTo>
                  <a:pt x="80" y="3"/>
                </a:lnTo>
                <a:lnTo>
                  <a:pt x="84" y="5"/>
                </a:lnTo>
                <a:lnTo>
                  <a:pt x="88" y="6"/>
                </a:lnTo>
                <a:lnTo>
                  <a:pt x="92" y="5"/>
                </a:lnTo>
                <a:lnTo>
                  <a:pt x="96" y="4"/>
                </a:lnTo>
                <a:lnTo>
                  <a:pt x="100" y="2"/>
                </a:lnTo>
                <a:lnTo>
                  <a:pt x="104" y="3"/>
                </a:lnTo>
                <a:lnTo>
                  <a:pt x="108" y="4"/>
                </a:lnTo>
                <a:lnTo>
                  <a:pt x="112" y="2"/>
                </a:lnTo>
                <a:lnTo>
                  <a:pt x="116" y="2"/>
                </a:lnTo>
                <a:lnTo>
                  <a:pt x="120" y="3"/>
                </a:lnTo>
                <a:lnTo>
                  <a:pt x="124" y="4"/>
                </a:lnTo>
                <a:lnTo>
                  <a:pt x="128" y="5"/>
                </a:lnTo>
                <a:lnTo>
                  <a:pt x="132" y="5"/>
                </a:lnTo>
                <a:lnTo>
                  <a:pt x="136" y="3"/>
                </a:lnTo>
                <a:lnTo>
                  <a:pt x="140" y="4"/>
                </a:lnTo>
                <a:lnTo>
                  <a:pt x="144" y="6"/>
                </a:lnTo>
                <a:lnTo>
                  <a:pt x="148" y="4"/>
                </a:lnTo>
                <a:lnTo>
                  <a:pt x="152" y="3"/>
                </a:lnTo>
                <a:lnTo>
                  <a:pt x="156" y="1"/>
                </a:lnTo>
                <a:lnTo>
                  <a:pt x="160" y="3"/>
                </a:lnTo>
                <a:lnTo>
                  <a:pt x="164" y="4"/>
                </a:lnTo>
                <a:lnTo>
                  <a:pt x="168" y="3"/>
                </a:lnTo>
                <a:lnTo>
                  <a:pt x="172" y="2"/>
                </a:lnTo>
                <a:lnTo>
                  <a:pt x="176" y="4"/>
                </a:lnTo>
                <a:lnTo>
                  <a:pt x="180" y="6"/>
                </a:lnTo>
                <a:lnTo>
                  <a:pt x="184" y="6"/>
                </a:lnTo>
                <a:lnTo>
                  <a:pt x="188" y="5"/>
                </a:lnTo>
                <a:lnTo>
                  <a:pt x="192" y="4"/>
                </a:lnTo>
                <a:lnTo>
                  <a:pt x="196" y="3"/>
                </a:lnTo>
                <a:lnTo>
                  <a:pt x="200" y="5"/>
                </a:lnTo>
                <a:lnTo>
                  <a:pt x="204" y="3"/>
                </a:lnTo>
                <a:lnTo>
                  <a:pt x="208" y="1"/>
                </a:lnTo>
              </a:path>
            </a:pathLst>
          </a:custGeom>
          <a:noFill/>
          <a:ln w="6985">
            <a:solidFill>
              <a:srgbClr val="536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Rectangle 892"/>
          <p:cNvSpPr/>
          <p:nvPr/>
        </p:nvSpPr>
        <p:spPr>
          <a:xfrm>
            <a:off x="1682749" y="5721349"/>
            <a:ext cx="1282699" cy="438149"/>
          </a:xfrm>
          <a:prstGeom prst="rect">
            <a:avLst/>
          </a:prstGeom>
          <a:solidFill>
            <a:srgbClr val="FFFFFF"/>
          </a:solidFill>
          <a:ln w="6985">
            <a:solidFill>
              <a:srgbClr val="77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1708150" y="5848350"/>
            <a:ext cx="1231900" cy="196850"/>
          </a:xfrm>
          <a:custGeom>
            <a:avLst/>
            <a:gdLst/>
            <a:ahLst/>
            <a:cxnLst/>
            <a:rect l="l" t="t" r="r" b="b"/>
            <a:pathLst>
              <a:path w="194" h="31">
                <a:moveTo>
                  <a:pt x="0" y="12"/>
                </a:moveTo>
                <a:lnTo>
                  <a:pt x="4" y="7"/>
                </a:lnTo>
                <a:lnTo>
                  <a:pt x="8" y="4"/>
                </a:lnTo>
                <a:lnTo>
                  <a:pt x="12" y="11"/>
                </a:lnTo>
                <a:lnTo>
                  <a:pt x="16" y="8"/>
                </a:lnTo>
                <a:lnTo>
                  <a:pt x="20" y="2"/>
                </a:lnTo>
                <a:lnTo>
                  <a:pt x="24" y="17"/>
                </a:lnTo>
                <a:lnTo>
                  <a:pt x="28" y="23"/>
                </a:lnTo>
                <a:lnTo>
                  <a:pt x="32" y="28"/>
                </a:lnTo>
                <a:lnTo>
                  <a:pt x="36" y="20"/>
                </a:lnTo>
                <a:lnTo>
                  <a:pt x="40" y="17"/>
                </a:lnTo>
                <a:lnTo>
                  <a:pt x="44" y="17"/>
                </a:lnTo>
                <a:lnTo>
                  <a:pt x="49" y="14"/>
                </a:lnTo>
                <a:lnTo>
                  <a:pt x="53" y="5"/>
                </a:lnTo>
                <a:lnTo>
                  <a:pt x="57" y="2"/>
                </a:lnTo>
                <a:lnTo>
                  <a:pt x="61" y="10"/>
                </a:lnTo>
                <a:lnTo>
                  <a:pt x="65" y="17"/>
                </a:lnTo>
                <a:lnTo>
                  <a:pt x="69" y="18"/>
                </a:lnTo>
                <a:lnTo>
                  <a:pt x="73" y="13"/>
                </a:lnTo>
                <a:lnTo>
                  <a:pt x="77" y="18"/>
                </a:lnTo>
                <a:lnTo>
                  <a:pt x="81" y="31"/>
                </a:lnTo>
                <a:lnTo>
                  <a:pt x="85" y="28"/>
                </a:lnTo>
                <a:lnTo>
                  <a:pt x="89" y="11"/>
                </a:lnTo>
                <a:lnTo>
                  <a:pt x="93" y="7"/>
                </a:lnTo>
                <a:lnTo>
                  <a:pt x="97" y="15"/>
                </a:lnTo>
                <a:lnTo>
                  <a:pt x="101" y="10"/>
                </a:lnTo>
                <a:lnTo>
                  <a:pt x="105" y="6"/>
                </a:lnTo>
                <a:lnTo>
                  <a:pt x="109" y="3"/>
                </a:lnTo>
                <a:lnTo>
                  <a:pt x="113" y="9"/>
                </a:lnTo>
                <a:lnTo>
                  <a:pt x="117" y="21"/>
                </a:lnTo>
                <a:lnTo>
                  <a:pt x="121" y="23"/>
                </a:lnTo>
                <a:lnTo>
                  <a:pt x="125" y="18"/>
                </a:lnTo>
                <a:lnTo>
                  <a:pt x="129" y="18"/>
                </a:lnTo>
                <a:lnTo>
                  <a:pt x="133" y="21"/>
                </a:lnTo>
                <a:lnTo>
                  <a:pt x="137" y="19"/>
                </a:lnTo>
                <a:lnTo>
                  <a:pt x="141" y="12"/>
                </a:lnTo>
                <a:lnTo>
                  <a:pt x="145" y="6"/>
                </a:lnTo>
                <a:lnTo>
                  <a:pt x="150" y="9"/>
                </a:lnTo>
                <a:lnTo>
                  <a:pt x="154" y="15"/>
                </a:lnTo>
                <a:lnTo>
                  <a:pt x="158" y="8"/>
                </a:lnTo>
                <a:lnTo>
                  <a:pt x="162" y="8"/>
                </a:lnTo>
                <a:lnTo>
                  <a:pt x="166" y="20"/>
                </a:lnTo>
                <a:lnTo>
                  <a:pt x="170" y="28"/>
                </a:lnTo>
                <a:lnTo>
                  <a:pt x="174" y="25"/>
                </a:lnTo>
                <a:lnTo>
                  <a:pt x="178" y="16"/>
                </a:lnTo>
                <a:lnTo>
                  <a:pt x="182" y="15"/>
                </a:lnTo>
                <a:lnTo>
                  <a:pt x="186" y="15"/>
                </a:lnTo>
                <a:lnTo>
                  <a:pt x="190" y="16"/>
                </a:lnTo>
                <a:lnTo>
                  <a:pt x="194" y="0"/>
                </a:lnTo>
              </a:path>
            </a:pathLst>
          </a:custGeom>
          <a:noFill/>
          <a:ln w="9080">
            <a:solidFill>
              <a:srgbClr val="536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Rectangle 894"/>
          <p:cNvSpPr/>
          <p:nvPr/>
        </p:nvSpPr>
        <p:spPr>
          <a:xfrm>
            <a:off x="3371849" y="5721349"/>
            <a:ext cx="2368549" cy="438149"/>
          </a:xfrm>
          <a:prstGeom prst="rect">
            <a:avLst/>
          </a:prstGeom>
          <a:solidFill>
            <a:srgbClr val="FFFFFF"/>
          </a:solidFill>
          <a:ln w="6985">
            <a:solidFill>
              <a:srgbClr val="77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3397250" y="5848350"/>
            <a:ext cx="2317750" cy="203200"/>
          </a:xfrm>
          <a:custGeom>
            <a:avLst/>
            <a:gdLst/>
            <a:ahLst/>
            <a:cxnLst/>
            <a:rect l="l" t="t" r="r" b="b"/>
            <a:pathLst>
              <a:path w="365" h="32">
                <a:moveTo>
                  <a:pt x="0" y="16"/>
                </a:moveTo>
                <a:lnTo>
                  <a:pt x="4" y="6"/>
                </a:lnTo>
                <a:lnTo>
                  <a:pt x="8" y="5"/>
                </a:lnTo>
                <a:lnTo>
                  <a:pt x="12" y="2"/>
                </a:lnTo>
                <a:lnTo>
                  <a:pt x="16" y="8"/>
                </a:lnTo>
                <a:lnTo>
                  <a:pt x="20" y="11"/>
                </a:lnTo>
                <a:lnTo>
                  <a:pt x="24" y="9"/>
                </a:lnTo>
                <a:lnTo>
                  <a:pt x="28" y="12"/>
                </a:lnTo>
                <a:lnTo>
                  <a:pt x="32" y="5"/>
                </a:lnTo>
                <a:lnTo>
                  <a:pt x="36" y="6"/>
                </a:lnTo>
                <a:lnTo>
                  <a:pt x="40" y="5"/>
                </a:lnTo>
                <a:lnTo>
                  <a:pt x="44" y="7"/>
                </a:lnTo>
                <a:lnTo>
                  <a:pt x="48" y="15"/>
                </a:lnTo>
                <a:lnTo>
                  <a:pt x="52" y="23"/>
                </a:lnTo>
                <a:lnTo>
                  <a:pt x="56" y="24"/>
                </a:lnTo>
                <a:lnTo>
                  <a:pt x="60" y="30"/>
                </a:lnTo>
                <a:lnTo>
                  <a:pt x="64" y="23"/>
                </a:lnTo>
                <a:lnTo>
                  <a:pt x="68" y="15"/>
                </a:lnTo>
                <a:lnTo>
                  <a:pt x="72" y="14"/>
                </a:lnTo>
                <a:lnTo>
                  <a:pt x="76" y="16"/>
                </a:lnTo>
                <a:lnTo>
                  <a:pt x="80" y="20"/>
                </a:lnTo>
                <a:lnTo>
                  <a:pt x="84" y="21"/>
                </a:lnTo>
                <a:lnTo>
                  <a:pt x="88" y="20"/>
                </a:lnTo>
                <a:lnTo>
                  <a:pt x="92" y="20"/>
                </a:lnTo>
                <a:lnTo>
                  <a:pt x="96" y="7"/>
                </a:lnTo>
                <a:lnTo>
                  <a:pt x="100" y="4"/>
                </a:lnTo>
                <a:lnTo>
                  <a:pt x="104" y="1"/>
                </a:lnTo>
                <a:lnTo>
                  <a:pt x="108" y="4"/>
                </a:lnTo>
                <a:lnTo>
                  <a:pt x="112" y="6"/>
                </a:lnTo>
                <a:lnTo>
                  <a:pt x="116" y="11"/>
                </a:lnTo>
                <a:lnTo>
                  <a:pt x="120" y="18"/>
                </a:lnTo>
                <a:lnTo>
                  <a:pt x="124" y="18"/>
                </a:lnTo>
                <a:lnTo>
                  <a:pt x="128" y="17"/>
                </a:lnTo>
                <a:lnTo>
                  <a:pt x="132" y="12"/>
                </a:lnTo>
                <a:lnTo>
                  <a:pt x="136" y="9"/>
                </a:lnTo>
                <a:lnTo>
                  <a:pt x="140" y="18"/>
                </a:lnTo>
                <a:lnTo>
                  <a:pt x="144" y="21"/>
                </a:lnTo>
                <a:lnTo>
                  <a:pt x="148" y="21"/>
                </a:lnTo>
                <a:lnTo>
                  <a:pt x="152" y="32"/>
                </a:lnTo>
                <a:lnTo>
                  <a:pt x="156" y="30"/>
                </a:lnTo>
                <a:lnTo>
                  <a:pt x="160" y="24"/>
                </a:lnTo>
                <a:lnTo>
                  <a:pt x="164" y="19"/>
                </a:lnTo>
                <a:lnTo>
                  <a:pt x="168" y="15"/>
                </a:lnTo>
                <a:lnTo>
                  <a:pt x="172" y="7"/>
                </a:lnTo>
                <a:lnTo>
                  <a:pt x="176" y="7"/>
                </a:lnTo>
                <a:lnTo>
                  <a:pt x="180" y="15"/>
                </a:lnTo>
                <a:lnTo>
                  <a:pt x="185" y="11"/>
                </a:lnTo>
                <a:lnTo>
                  <a:pt x="189" y="14"/>
                </a:lnTo>
                <a:lnTo>
                  <a:pt x="193" y="11"/>
                </a:lnTo>
                <a:lnTo>
                  <a:pt x="197" y="6"/>
                </a:lnTo>
                <a:lnTo>
                  <a:pt x="201" y="2"/>
                </a:lnTo>
                <a:lnTo>
                  <a:pt x="205" y="0"/>
                </a:lnTo>
                <a:lnTo>
                  <a:pt x="209" y="7"/>
                </a:lnTo>
                <a:lnTo>
                  <a:pt x="213" y="13"/>
                </a:lnTo>
                <a:lnTo>
                  <a:pt x="217" y="20"/>
                </a:lnTo>
                <a:lnTo>
                  <a:pt x="221" y="25"/>
                </a:lnTo>
                <a:lnTo>
                  <a:pt x="225" y="21"/>
                </a:lnTo>
                <a:lnTo>
                  <a:pt x="229" y="19"/>
                </a:lnTo>
                <a:lnTo>
                  <a:pt x="233" y="20"/>
                </a:lnTo>
                <a:lnTo>
                  <a:pt x="237" y="15"/>
                </a:lnTo>
                <a:lnTo>
                  <a:pt x="241" y="15"/>
                </a:lnTo>
                <a:lnTo>
                  <a:pt x="245" y="17"/>
                </a:lnTo>
                <a:lnTo>
                  <a:pt x="249" y="21"/>
                </a:lnTo>
                <a:lnTo>
                  <a:pt x="253" y="24"/>
                </a:lnTo>
                <a:lnTo>
                  <a:pt x="257" y="20"/>
                </a:lnTo>
                <a:lnTo>
                  <a:pt x="261" y="19"/>
                </a:lnTo>
                <a:lnTo>
                  <a:pt x="265" y="10"/>
                </a:lnTo>
                <a:lnTo>
                  <a:pt x="269" y="7"/>
                </a:lnTo>
                <a:lnTo>
                  <a:pt x="273" y="3"/>
                </a:lnTo>
                <a:lnTo>
                  <a:pt x="277" y="5"/>
                </a:lnTo>
                <a:lnTo>
                  <a:pt x="281" y="7"/>
                </a:lnTo>
                <a:lnTo>
                  <a:pt x="285" y="15"/>
                </a:lnTo>
                <a:lnTo>
                  <a:pt x="289" y="14"/>
                </a:lnTo>
                <a:lnTo>
                  <a:pt x="293" y="12"/>
                </a:lnTo>
                <a:lnTo>
                  <a:pt x="297" y="7"/>
                </a:lnTo>
                <a:lnTo>
                  <a:pt x="301" y="7"/>
                </a:lnTo>
                <a:lnTo>
                  <a:pt x="305" y="12"/>
                </a:lnTo>
                <a:lnTo>
                  <a:pt x="309" y="14"/>
                </a:lnTo>
                <a:lnTo>
                  <a:pt x="313" y="17"/>
                </a:lnTo>
                <a:lnTo>
                  <a:pt x="317" y="28"/>
                </a:lnTo>
                <a:lnTo>
                  <a:pt x="321" y="25"/>
                </a:lnTo>
                <a:lnTo>
                  <a:pt x="325" y="31"/>
                </a:lnTo>
                <a:lnTo>
                  <a:pt x="329" y="22"/>
                </a:lnTo>
                <a:lnTo>
                  <a:pt x="333" y="18"/>
                </a:lnTo>
                <a:lnTo>
                  <a:pt x="337" y="11"/>
                </a:lnTo>
                <a:lnTo>
                  <a:pt x="341" y="14"/>
                </a:lnTo>
                <a:lnTo>
                  <a:pt x="345" y="16"/>
                </a:lnTo>
                <a:lnTo>
                  <a:pt x="349" y="19"/>
                </a:lnTo>
                <a:lnTo>
                  <a:pt x="353" y="19"/>
                </a:lnTo>
                <a:lnTo>
                  <a:pt x="357" y="16"/>
                </a:lnTo>
                <a:lnTo>
                  <a:pt x="361" y="9"/>
                </a:lnTo>
                <a:lnTo>
                  <a:pt x="365" y="6"/>
                </a:lnTo>
              </a:path>
            </a:pathLst>
          </a:custGeom>
          <a:noFill/>
          <a:ln w="9080">
            <a:solidFill>
              <a:srgbClr val="536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3409950" y="5810250"/>
            <a:ext cx="1206500" cy="247650"/>
          </a:xfrm>
          <a:custGeom>
            <a:avLst/>
            <a:gdLst/>
            <a:ahLst/>
            <a:cxnLst/>
            <a:rect l="l" t="t" r="r" b="b"/>
            <a:pathLst>
              <a:path w="190" h="39">
                <a:moveTo>
                  <a:pt x="0" y="6"/>
                </a:moveTo>
                <a:lnTo>
                  <a:pt x="4" y="9"/>
                </a:lnTo>
                <a:lnTo>
                  <a:pt x="8" y="11"/>
                </a:lnTo>
                <a:lnTo>
                  <a:pt x="12" y="9"/>
                </a:lnTo>
                <a:lnTo>
                  <a:pt x="16" y="7"/>
                </a:lnTo>
                <a:lnTo>
                  <a:pt x="20" y="12"/>
                </a:lnTo>
                <a:lnTo>
                  <a:pt x="24" y="23"/>
                </a:lnTo>
                <a:lnTo>
                  <a:pt x="28" y="33"/>
                </a:lnTo>
                <a:lnTo>
                  <a:pt x="32" y="36"/>
                </a:lnTo>
                <a:lnTo>
                  <a:pt x="36" y="32"/>
                </a:lnTo>
                <a:lnTo>
                  <a:pt x="40" y="27"/>
                </a:lnTo>
                <a:lnTo>
                  <a:pt x="44" y="26"/>
                </a:lnTo>
                <a:lnTo>
                  <a:pt x="49" y="27"/>
                </a:lnTo>
                <a:lnTo>
                  <a:pt x="53" y="24"/>
                </a:lnTo>
                <a:lnTo>
                  <a:pt x="57" y="15"/>
                </a:lnTo>
                <a:lnTo>
                  <a:pt x="61" y="4"/>
                </a:lnTo>
                <a:lnTo>
                  <a:pt x="65" y="0"/>
                </a:lnTo>
                <a:lnTo>
                  <a:pt x="69" y="5"/>
                </a:lnTo>
                <a:lnTo>
                  <a:pt x="73" y="14"/>
                </a:lnTo>
                <a:lnTo>
                  <a:pt x="77" y="18"/>
                </a:lnTo>
                <a:lnTo>
                  <a:pt x="81" y="18"/>
                </a:lnTo>
                <a:lnTo>
                  <a:pt x="85" y="19"/>
                </a:lnTo>
                <a:lnTo>
                  <a:pt x="89" y="26"/>
                </a:lnTo>
                <a:lnTo>
                  <a:pt x="93" y="35"/>
                </a:lnTo>
                <a:lnTo>
                  <a:pt x="97" y="39"/>
                </a:lnTo>
                <a:lnTo>
                  <a:pt x="101" y="34"/>
                </a:lnTo>
                <a:lnTo>
                  <a:pt x="105" y="24"/>
                </a:lnTo>
                <a:lnTo>
                  <a:pt x="109" y="17"/>
                </a:lnTo>
                <a:lnTo>
                  <a:pt x="113" y="15"/>
                </a:lnTo>
                <a:lnTo>
                  <a:pt x="117" y="16"/>
                </a:lnTo>
                <a:lnTo>
                  <a:pt x="121" y="12"/>
                </a:lnTo>
                <a:lnTo>
                  <a:pt x="125" y="5"/>
                </a:lnTo>
                <a:lnTo>
                  <a:pt x="129" y="1"/>
                </a:lnTo>
                <a:lnTo>
                  <a:pt x="133" y="6"/>
                </a:lnTo>
                <a:lnTo>
                  <a:pt x="137" y="17"/>
                </a:lnTo>
                <a:lnTo>
                  <a:pt x="141" y="26"/>
                </a:lnTo>
                <a:lnTo>
                  <a:pt x="146" y="29"/>
                </a:lnTo>
                <a:lnTo>
                  <a:pt x="150" y="27"/>
                </a:lnTo>
                <a:lnTo>
                  <a:pt x="154" y="27"/>
                </a:lnTo>
                <a:lnTo>
                  <a:pt x="158" y="32"/>
                </a:lnTo>
                <a:lnTo>
                  <a:pt x="162" y="35"/>
                </a:lnTo>
                <a:lnTo>
                  <a:pt x="166" y="31"/>
                </a:lnTo>
                <a:lnTo>
                  <a:pt x="170" y="20"/>
                </a:lnTo>
                <a:lnTo>
                  <a:pt x="174" y="9"/>
                </a:lnTo>
                <a:lnTo>
                  <a:pt x="178" y="5"/>
                </a:lnTo>
                <a:lnTo>
                  <a:pt x="182" y="8"/>
                </a:lnTo>
                <a:lnTo>
                  <a:pt x="186" y="11"/>
                </a:lnTo>
                <a:lnTo>
                  <a:pt x="190" y="10"/>
                </a:lnTo>
              </a:path>
            </a:pathLst>
          </a:custGeom>
          <a:noFill/>
          <a:ln w="16065">
            <a:solidFill>
              <a:srgbClr val="60A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TextBox 897"/>
          <p:cNvSpPr txBox="1"/>
          <p:nvPr/>
        </p:nvSpPr>
        <p:spPr>
          <a:xfrm>
            <a:off x="7715249" y="3898899"/>
            <a:ext cx="2857499" cy="241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Times New Roman"/>
              </a:rPr>
              <a:t>Hierarchical Domain Alignment (HDA)</a:t>
            </a:r>
          </a:p>
        </p:txBody>
      </p:sp>
      <p:sp>
        <p:nvSpPr>
          <p:cNvPr id="899" name="TextBox 898"/>
          <p:cNvSpPr txBox="1"/>
          <p:nvPr/>
        </p:nvSpPr>
        <p:spPr>
          <a:xfrm>
            <a:off x="6991349" y="4152899"/>
            <a:ext cx="140334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B68A3"/>
                </a:solidFill>
                <a:latin typeface="Times New Roman"/>
              </a:rPr>
              <a:t>Layer level Alignment</a:t>
            </a:r>
          </a:p>
        </p:txBody>
      </p:sp>
      <p:sp>
        <p:nvSpPr>
          <p:cNvPr id="900" name="TextBox 899"/>
          <p:cNvSpPr txBox="1"/>
          <p:nvPr/>
        </p:nvSpPr>
        <p:spPr>
          <a:xfrm>
            <a:off x="8762999" y="4152899"/>
            <a:ext cx="140334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B6B22"/>
                </a:solidFill>
                <a:latin typeface="Times New Roman"/>
              </a:rPr>
              <a:t>Token level Alignment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6248399" y="3905249"/>
            <a:ext cx="108584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999999"/>
                </a:solidFill>
                <a:latin typeface="Times New Roman"/>
              </a:rPr>
              <a:t>w/ Position Embedding</a:t>
            </a:r>
          </a:p>
        </p:txBody>
      </p:sp>
      <p:cxnSp>
        <p:nvCxnSpPr>
          <p:cNvPr id="902" name="Connector 901"/>
          <p:cNvCxnSpPr/>
          <p:nvPr/>
        </p:nvCxnSpPr>
        <p:spPr>
          <a:xfrm>
            <a:off x="6349999" y="4025899"/>
            <a:ext cx="0" cy="171450"/>
          </a:xfrm>
          <a:prstGeom prst="line">
            <a:avLst/>
          </a:prstGeom>
          <a:ln w="736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3" name="Rounded Rectangle 902"/>
          <p:cNvSpPr/>
          <p:nvPr/>
        </p:nvSpPr>
        <p:spPr>
          <a:xfrm>
            <a:off x="6210299" y="4190999"/>
            <a:ext cx="279399" cy="673099"/>
          </a:xfrm>
          <a:prstGeom prst="round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6210299" y="4190999"/>
            <a:ext cx="279399" cy="673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3245"/>
                </a:solidFill>
                <a:latin typeface="Times New Roman"/>
              </a:rPr>
              <a:t>Projection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489699" y="4514849"/>
            <a:ext cx="20320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Freeform 905"/>
          <p:cNvSpPr/>
          <p:nvPr/>
        </p:nvSpPr>
        <p:spPr>
          <a:xfrm>
            <a:off x="6667499" y="44958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Rectangle 906"/>
          <p:cNvSpPr/>
          <p:nvPr/>
        </p:nvSpPr>
        <p:spPr>
          <a:xfrm>
            <a:off x="6718299" y="4400549"/>
            <a:ext cx="126999" cy="2158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Rectangle 907"/>
          <p:cNvSpPr/>
          <p:nvPr/>
        </p:nvSpPr>
        <p:spPr>
          <a:xfrm>
            <a:off x="6743699" y="4425949"/>
            <a:ext cx="76199" cy="165099"/>
          </a:xfrm>
          <a:prstGeom prst="rect">
            <a:avLst/>
          </a:prstGeom>
          <a:solidFill>
            <a:srgbClr val="6D7C8B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6756399" y="4438649"/>
            <a:ext cx="50799" cy="38099"/>
          </a:xfrm>
          <a:prstGeom prst="rect">
            <a:avLst/>
          </a:prstGeom>
          <a:solidFill>
            <a:srgbClr val="9BAEC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6756399" y="4489449"/>
            <a:ext cx="50799" cy="38099"/>
          </a:xfrm>
          <a:prstGeom prst="rect">
            <a:avLst/>
          </a:prstGeom>
          <a:solidFill>
            <a:srgbClr val="9BAEC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Rectangle 910"/>
          <p:cNvSpPr/>
          <p:nvPr/>
        </p:nvSpPr>
        <p:spPr>
          <a:xfrm>
            <a:off x="6756399" y="4540249"/>
            <a:ext cx="50799" cy="38099"/>
          </a:xfrm>
          <a:prstGeom prst="rect">
            <a:avLst/>
          </a:prstGeom>
          <a:solidFill>
            <a:srgbClr val="9BAEC0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TextBox 911"/>
          <p:cNvSpPr txBox="1"/>
          <p:nvPr/>
        </p:nvSpPr>
        <p:spPr>
          <a:xfrm>
            <a:off x="6711949" y="4324349"/>
            <a:ext cx="14604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111111"/>
                </a:solidFill>
                <a:latin typeface="Times New Roman"/>
              </a:rPr>
              <a:t>xₑ</a:t>
            </a:r>
          </a:p>
        </p:txBody>
      </p:sp>
      <p:sp>
        <p:nvSpPr>
          <p:cNvPr id="913" name="Oval 912"/>
          <p:cNvSpPr/>
          <p:nvPr/>
        </p:nvSpPr>
        <p:spPr>
          <a:xfrm>
            <a:off x="6908799" y="4457699"/>
            <a:ext cx="114299" cy="114299"/>
          </a:xfrm>
          <a:prstGeom prst="ellipse">
            <a:avLst/>
          </a:prstGeom>
          <a:solidFill>
            <a:srgbClr val="FFFFFF"/>
          </a:solidFill>
          <a:ln w="6985">
            <a:solidFill>
              <a:srgbClr val="394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6908799" y="4451349"/>
            <a:ext cx="1142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7099299" y="4349749"/>
            <a:ext cx="133349" cy="273049"/>
          </a:xfrm>
          <a:prstGeom prst="rect">
            <a:avLst/>
          </a:prstGeom>
          <a:solidFill>
            <a:srgbClr val="DFE5EC"/>
          </a:solidFill>
          <a:ln w="6985"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TextBox 915"/>
          <p:cNvSpPr txBox="1"/>
          <p:nvPr/>
        </p:nvSpPr>
        <p:spPr>
          <a:xfrm>
            <a:off x="7099299" y="4279899"/>
            <a:ext cx="13334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e1</a:t>
            </a:r>
          </a:p>
        </p:txBody>
      </p:sp>
      <p:sp>
        <p:nvSpPr>
          <p:cNvPr id="917" name="Rectangle 916"/>
          <p:cNvSpPr/>
          <p:nvPr/>
        </p:nvSpPr>
        <p:spPr>
          <a:xfrm>
            <a:off x="7296149" y="4349749"/>
            <a:ext cx="133349" cy="273049"/>
          </a:xfrm>
          <a:prstGeom prst="rect">
            <a:avLst/>
          </a:prstGeom>
          <a:solidFill>
            <a:srgbClr val="DFE5EC"/>
          </a:solidFill>
          <a:ln w="6985"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TextBox 917"/>
          <p:cNvSpPr txBox="1"/>
          <p:nvPr/>
        </p:nvSpPr>
        <p:spPr>
          <a:xfrm>
            <a:off x="7296149" y="4279899"/>
            <a:ext cx="13334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e2</a:t>
            </a:r>
          </a:p>
        </p:txBody>
      </p:sp>
      <p:sp>
        <p:nvSpPr>
          <p:cNvPr id="919" name="Rectangle 918"/>
          <p:cNvSpPr/>
          <p:nvPr/>
        </p:nvSpPr>
        <p:spPr>
          <a:xfrm>
            <a:off x="7492999" y="4349749"/>
            <a:ext cx="133349" cy="273049"/>
          </a:xfrm>
          <a:prstGeom prst="rect">
            <a:avLst/>
          </a:prstGeom>
          <a:solidFill>
            <a:srgbClr val="DFE5EC"/>
          </a:solidFill>
          <a:ln w="6985"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TextBox 919"/>
          <p:cNvSpPr txBox="1"/>
          <p:nvPr/>
        </p:nvSpPr>
        <p:spPr>
          <a:xfrm>
            <a:off x="7492999" y="4279899"/>
            <a:ext cx="13334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e3</a:t>
            </a:r>
          </a:p>
        </p:txBody>
      </p:sp>
      <p:sp>
        <p:nvSpPr>
          <p:cNvPr id="921" name="Rectangle 920"/>
          <p:cNvSpPr/>
          <p:nvPr/>
        </p:nvSpPr>
        <p:spPr>
          <a:xfrm>
            <a:off x="7689849" y="4349749"/>
            <a:ext cx="133349" cy="273049"/>
          </a:xfrm>
          <a:prstGeom prst="rect">
            <a:avLst/>
          </a:prstGeom>
          <a:solidFill>
            <a:srgbClr val="DFE5EC"/>
          </a:solidFill>
          <a:ln w="6985"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TextBox 921"/>
          <p:cNvSpPr txBox="1"/>
          <p:nvPr/>
        </p:nvSpPr>
        <p:spPr>
          <a:xfrm>
            <a:off x="7689849" y="4279899"/>
            <a:ext cx="13334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e4</a:t>
            </a:r>
          </a:p>
        </p:txBody>
      </p:sp>
      <p:sp>
        <p:nvSpPr>
          <p:cNvPr id="923" name="Rectangle 922"/>
          <p:cNvSpPr/>
          <p:nvPr/>
        </p:nvSpPr>
        <p:spPr>
          <a:xfrm>
            <a:off x="7886699" y="4349749"/>
            <a:ext cx="133349" cy="273049"/>
          </a:xfrm>
          <a:prstGeom prst="rect">
            <a:avLst/>
          </a:prstGeom>
          <a:solidFill>
            <a:srgbClr val="DFE5EC"/>
          </a:solidFill>
          <a:ln w="6985"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TextBox 923"/>
          <p:cNvSpPr txBox="1"/>
          <p:nvPr/>
        </p:nvSpPr>
        <p:spPr>
          <a:xfrm>
            <a:off x="7886699" y="4279899"/>
            <a:ext cx="13334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e5</a:t>
            </a:r>
          </a:p>
        </p:txBody>
      </p:sp>
      <p:sp>
        <p:nvSpPr>
          <p:cNvPr id="925" name="Rectangle 924"/>
          <p:cNvSpPr/>
          <p:nvPr/>
        </p:nvSpPr>
        <p:spPr>
          <a:xfrm>
            <a:off x="8083549" y="4349749"/>
            <a:ext cx="133349" cy="273049"/>
          </a:xfrm>
          <a:prstGeom prst="rect">
            <a:avLst/>
          </a:prstGeom>
          <a:solidFill>
            <a:srgbClr val="DFE5EC"/>
          </a:solidFill>
          <a:ln w="6985"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TextBox 925"/>
          <p:cNvSpPr txBox="1"/>
          <p:nvPr/>
        </p:nvSpPr>
        <p:spPr>
          <a:xfrm>
            <a:off x="8083549" y="4279899"/>
            <a:ext cx="13334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e6</a:t>
            </a:r>
          </a:p>
        </p:txBody>
      </p:sp>
      <p:sp>
        <p:nvSpPr>
          <p:cNvPr id="927" name="Rectangle 926"/>
          <p:cNvSpPr/>
          <p:nvPr/>
        </p:nvSpPr>
        <p:spPr>
          <a:xfrm>
            <a:off x="8280399" y="4349749"/>
            <a:ext cx="133349" cy="273049"/>
          </a:xfrm>
          <a:prstGeom prst="rect">
            <a:avLst/>
          </a:prstGeom>
          <a:solidFill>
            <a:srgbClr val="DFE5EC"/>
          </a:solidFill>
          <a:ln w="6985"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8280399" y="4279899"/>
            <a:ext cx="13334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e7</a:t>
            </a:r>
          </a:p>
        </p:txBody>
      </p:sp>
      <p:sp>
        <p:nvSpPr>
          <p:cNvPr id="929" name="Rectangle 928"/>
          <p:cNvSpPr/>
          <p:nvPr/>
        </p:nvSpPr>
        <p:spPr>
          <a:xfrm>
            <a:off x="8477249" y="4349749"/>
            <a:ext cx="133349" cy="273049"/>
          </a:xfrm>
          <a:prstGeom prst="rect">
            <a:avLst/>
          </a:prstGeom>
          <a:solidFill>
            <a:srgbClr val="DFE5EC"/>
          </a:solidFill>
          <a:ln w="6985"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TextBox 929"/>
          <p:cNvSpPr txBox="1"/>
          <p:nvPr/>
        </p:nvSpPr>
        <p:spPr>
          <a:xfrm>
            <a:off x="8477249" y="4279899"/>
            <a:ext cx="13334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111111"/>
                </a:solidFill>
                <a:latin typeface="Times New Roman"/>
              </a:rPr>
              <a:t>e8</a:t>
            </a:r>
          </a:p>
        </p:txBody>
      </p:sp>
      <p:sp>
        <p:nvSpPr>
          <p:cNvPr id="931" name="Rectangle 930"/>
          <p:cNvSpPr/>
          <p:nvPr/>
        </p:nvSpPr>
        <p:spPr>
          <a:xfrm>
            <a:off x="7270749" y="4317999"/>
            <a:ext cx="184149" cy="349249"/>
          </a:xfrm>
          <a:prstGeom prst="rect">
            <a:avLst/>
          </a:prstGeom>
          <a:noFill/>
          <a:ln w="6985">
            <a:solidFill>
              <a:srgbClr val="E4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Rectangle 931"/>
          <p:cNvSpPr/>
          <p:nvPr/>
        </p:nvSpPr>
        <p:spPr>
          <a:xfrm>
            <a:off x="7664449" y="4317999"/>
            <a:ext cx="184149" cy="349249"/>
          </a:xfrm>
          <a:prstGeom prst="rect">
            <a:avLst/>
          </a:prstGeom>
          <a:noFill/>
          <a:ln w="6985">
            <a:solidFill>
              <a:srgbClr val="E4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Rectangle 932"/>
          <p:cNvSpPr/>
          <p:nvPr/>
        </p:nvSpPr>
        <p:spPr>
          <a:xfrm>
            <a:off x="8254999" y="4317999"/>
            <a:ext cx="184149" cy="349249"/>
          </a:xfrm>
          <a:prstGeom prst="rect">
            <a:avLst/>
          </a:prstGeom>
          <a:noFill/>
          <a:ln w="6985">
            <a:solidFill>
              <a:srgbClr val="E4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7124699" y="4686299"/>
            <a:ext cx="22224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Times New Roman"/>
              </a:rPr>
              <a:t>α₁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7518399" y="4686299"/>
            <a:ext cx="22224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Times New Roman"/>
              </a:rPr>
              <a:t>α₂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8108949" y="4686299"/>
            <a:ext cx="22224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Times New Roman"/>
              </a:rPr>
              <a:t>α₃</a:t>
            </a:r>
          </a:p>
        </p:txBody>
      </p:sp>
      <p:cxnSp>
        <p:nvCxnSpPr>
          <p:cNvPr id="937" name="Connector 936"/>
          <p:cNvCxnSpPr/>
          <p:nvPr/>
        </p:nvCxnSpPr>
        <p:spPr>
          <a:xfrm flipV="1">
            <a:off x="7296149" y="4622799"/>
            <a:ext cx="0" cy="11430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" name="Freeform 937"/>
          <p:cNvSpPr/>
          <p:nvPr/>
        </p:nvSpPr>
        <p:spPr>
          <a:xfrm>
            <a:off x="7277099" y="4622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3" y="0"/>
                </a:moveTo>
                <a:lnTo>
                  <a:pt x="6" y="4"/>
                </a:lnTo>
                <a:lnTo>
                  <a:pt x="0" y="4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9" name="Connector 938"/>
          <p:cNvCxnSpPr/>
          <p:nvPr/>
        </p:nvCxnSpPr>
        <p:spPr>
          <a:xfrm flipV="1">
            <a:off x="7689849" y="4622799"/>
            <a:ext cx="0" cy="11430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Freeform 939"/>
          <p:cNvSpPr/>
          <p:nvPr/>
        </p:nvSpPr>
        <p:spPr>
          <a:xfrm>
            <a:off x="7670799" y="4622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3" y="0"/>
                </a:moveTo>
                <a:lnTo>
                  <a:pt x="6" y="4"/>
                </a:lnTo>
                <a:lnTo>
                  <a:pt x="0" y="4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1" name="Connector 940"/>
          <p:cNvCxnSpPr/>
          <p:nvPr/>
        </p:nvCxnSpPr>
        <p:spPr>
          <a:xfrm flipV="1">
            <a:off x="8280399" y="4622799"/>
            <a:ext cx="0" cy="11430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2" name="Freeform 941"/>
          <p:cNvSpPr/>
          <p:nvPr/>
        </p:nvSpPr>
        <p:spPr>
          <a:xfrm>
            <a:off x="8261349" y="4622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3" y="0"/>
                </a:moveTo>
                <a:lnTo>
                  <a:pt x="6" y="4"/>
                </a:lnTo>
                <a:lnTo>
                  <a:pt x="0" y="4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3" name="Connector 942"/>
          <p:cNvCxnSpPr/>
          <p:nvPr/>
        </p:nvCxnSpPr>
        <p:spPr>
          <a:xfrm>
            <a:off x="8705849" y="4502149"/>
            <a:ext cx="2095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Freeform 943"/>
          <p:cNvSpPr/>
          <p:nvPr/>
        </p:nvSpPr>
        <p:spPr>
          <a:xfrm>
            <a:off x="8889999" y="44831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TextBox 944"/>
          <p:cNvSpPr txBox="1"/>
          <p:nvPr/>
        </p:nvSpPr>
        <p:spPr>
          <a:xfrm>
            <a:off x="8375649" y="4679949"/>
            <a:ext cx="34924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77777"/>
                </a:solidFill>
                <a:latin typeface="Times New Roman"/>
              </a:rPr>
              <a:t>Mean</a:t>
            </a:r>
          </a:p>
        </p:txBody>
      </p:sp>
      <p:sp>
        <p:nvSpPr>
          <p:cNvPr id="946" name="TextBox 945"/>
          <p:cNvSpPr txBox="1"/>
          <p:nvPr/>
        </p:nvSpPr>
        <p:spPr>
          <a:xfrm>
            <a:off x="8648699" y="4546599"/>
            <a:ext cx="1269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91DD"/>
                </a:solidFill>
                <a:latin typeface="DejaVu Sans"/>
              </a:rPr>
              <a:t>❄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8921749" y="4317999"/>
            <a:ext cx="1904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11111"/>
                </a:solidFill>
                <a:latin typeface="Times New Roman"/>
              </a:rPr>
              <a:t>e𝓰</a:t>
            </a:r>
          </a:p>
        </p:txBody>
      </p:sp>
      <p:sp>
        <p:nvSpPr>
          <p:cNvPr id="948" name="Oval 947"/>
          <p:cNvSpPr/>
          <p:nvPr/>
        </p:nvSpPr>
        <p:spPr>
          <a:xfrm>
            <a:off x="9118599" y="4451349"/>
            <a:ext cx="114299" cy="114299"/>
          </a:xfrm>
          <a:prstGeom prst="ellipse">
            <a:avLst/>
          </a:prstGeom>
          <a:solidFill>
            <a:srgbClr val="FFFFFF"/>
          </a:solidFill>
          <a:ln w="6985">
            <a:solidFill>
              <a:srgbClr val="394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9118599" y="4444999"/>
            <a:ext cx="114299" cy="114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950" name="Rectangle 949"/>
          <p:cNvSpPr/>
          <p:nvPr/>
        </p:nvSpPr>
        <p:spPr>
          <a:xfrm>
            <a:off x="9366249" y="4375149"/>
            <a:ext cx="88899" cy="88899"/>
          </a:xfrm>
          <a:prstGeom prst="rect">
            <a:avLst/>
          </a:prstGeom>
          <a:solidFill>
            <a:srgbClr val="F3C128"/>
          </a:solidFill>
          <a:ln w="5080">
            <a:solidFill>
              <a:srgbClr val="4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Rectangle 950"/>
          <p:cNvSpPr/>
          <p:nvPr/>
        </p:nvSpPr>
        <p:spPr>
          <a:xfrm>
            <a:off x="9455149" y="4375149"/>
            <a:ext cx="88899" cy="88899"/>
          </a:xfrm>
          <a:prstGeom prst="rect">
            <a:avLst/>
          </a:prstGeom>
          <a:solidFill>
            <a:srgbClr val="FFD94F"/>
          </a:solidFill>
          <a:ln w="5080">
            <a:solidFill>
              <a:srgbClr val="4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Rectangle 951"/>
          <p:cNvSpPr/>
          <p:nvPr/>
        </p:nvSpPr>
        <p:spPr>
          <a:xfrm>
            <a:off x="9544049" y="4375149"/>
            <a:ext cx="88899" cy="88899"/>
          </a:xfrm>
          <a:prstGeom prst="rect">
            <a:avLst/>
          </a:prstGeom>
          <a:solidFill>
            <a:srgbClr val="F3C128"/>
          </a:solidFill>
          <a:ln w="5080">
            <a:solidFill>
              <a:srgbClr val="4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Rectangle 952"/>
          <p:cNvSpPr/>
          <p:nvPr/>
        </p:nvSpPr>
        <p:spPr>
          <a:xfrm>
            <a:off x="9366249" y="4464049"/>
            <a:ext cx="88899" cy="88899"/>
          </a:xfrm>
          <a:prstGeom prst="rect">
            <a:avLst/>
          </a:prstGeom>
          <a:solidFill>
            <a:srgbClr val="FFD94F"/>
          </a:solidFill>
          <a:ln w="5080">
            <a:solidFill>
              <a:srgbClr val="4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Rectangle 953"/>
          <p:cNvSpPr/>
          <p:nvPr/>
        </p:nvSpPr>
        <p:spPr>
          <a:xfrm>
            <a:off x="9455149" y="4464049"/>
            <a:ext cx="88899" cy="88899"/>
          </a:xfrm>
          <a:prstGeom prst="rect">
            <a:avLst/>
          </a:prstGeom>
          <a:solidFill>
            <a:srgbClr val="FFD94F"/>
          </a:solidFill>
          <a:ln w="5080">
            <a:solidFill>
              <a:srgbClr val="4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Rectangle 954"/>
          <p:cNvSpPr/>
          <p:nvPr/>
        </p:nvSpPr>
        <p:spPr>
          <a:xfrm>
            <a:off x="9544049" y="4464049"/>
            <a:ext cx="88899" cy="88899"/>
          </a:xfrm>
          <a:prstGeom prst="rect">
            <a:avLst/>
          </a:prstGeom>
          <a:solidFill>
            <a:srgbClr val="FFD94F"/>
          </a:solidFill>
          <a:ln w="5080">
            <a:solidFill>
              <a:srgbClr val="4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Rectangle 955"/>
          <p:cNvSpPr/>
          <p:nvPr/>
        </p:nvSpPr>
        <p:spPr>
          <a:xfrm>
            <a:off x="9366249" y="4552949"/>
            <a:ext cx="88899" cy="88899"/>
          </a:xfrm>
          <a:prstGeom prst="rect">
            <a:avLst/>
          </a:prstGeom>
          <a:solidFill>
            <a:srgbClr val="F3C128"/>
          </a:solidFill>
          <a:ln w="5080">
            <a:solidFill>
              <a:srgbClr val="4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Rectangle 956"/>
          <p:cNvSpPr/>
          <p:nvPr/>
        </p:nvSpPr>
        <p:spPr>
          <a:xfrm>
            <a:off x="9455149" y="4552949"/>
            <a:ext cx="88899" cy="88899"/>
          </a:xfrm>
          <a:prstGeom prst="rect">
            <a:avLst/>
          </a:prstGeom>
          <a:solidFill>
            <a:srgbClr val="FFD94F"/>
          </a:solidFill>
          <a:ln w="5080">
            <a:solidFill>
              <a:srgbClr val="4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Rectangle 957"/>
          <p:cNvSpPr/>
          <p:nvPr/>
        </p:nvSpPr>
        <p:spPr>
          <a:xfrm>
            <a:off x="9544049" y="4552949"/>
            <a:ext cx="88899" cy="88899"/>
          </a:xfrm>
          <a:prstGeom prst="rect">
            <a:avLst/>
          </a:prstGeom>
          <a:solidFill>
            <a:srgbClr val="F3C128"/>
          </a:solidFill>
          <a:ln w="5080">
            <a:solidFill>
              <a:srgbClr val="4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TextBox 958"/>
          <p:cNvSpPr txBox="1"/>
          <p:nvPr/>
        </p:nvSpPr>
        <p:spPr>
          <a:xfrm>
            <a:off x="9105899" y="4692649"/>
            <a:ext cx="203199" cy="1587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B6B22"/>
                </a:solidFill>
                <a:latin typeface="Times New Roman"/>
              </a:rPr>
              <a:t>v</a:t>
            </a:r>
          </a:p>
        </p:txBody>
      </p:sp>
      <p:cxnSp>
        <p:nvCxnSpPr>
          <p:cNvPr id="960" name="Connector 959"/>
          <p:cNvCxnSpPr/>
          <p:nvPr/>
        </p:nvCxnSpPr>
        <p:spPr>
          <a:xfrm>
            <a:off x="9232899" y="4724399"/>
            <a:ext cx="266700" cy="0"/>
          </a:xfrm>
          <a:prstGeom prst="line">
            <a:avLst/>
          </a:prstGeom>
          <a:ln w="14731">
            <a:solidFill>
              <a:srgbClr val="EB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 flipV="1">
            <a:off x="9232899" y="4584699"/>
            <a:ext cx="0" cy="139700"/>
          </a:xfrm>
          <a:prstGeom prst="line">
            <a:avLst/>
          </a:prstGeom>
          <a:ln w="14731">
            <a:solidFill>
              <a:srgbClr val="EB6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>
            <a:off x="9639299" y="4508499"/>
            <a:ext cx="3365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3" name="Freeform 962"/>
          <p:cNvSpPr/>
          <p:nvPr/>
        </p:nvSpPr>
        <p:spPr>
          <a:xfrm>
            <a:off x="9950449" y="448945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Rectangle 963"/>
          <p:cNvSpPr/>
          <p:nvPr/>
        </p:nvSpPr>
        <p:spPr>
          <a:xfrm>
            <a:off x="9969499" y="4356099"/>
            <a:ext cx="641349" cy="44449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Rectangle 964"/>
          <p:cNvSpPr/>
          <p:nvPr/>
        </p:nvSpPr>
        <p:spPr>
          <a:xfrm>
            <a:off x="10032999" y="4400549"/>
            <a:ext cx="120649" cy="3428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Rectangle 965"/>
          <p:cNvSpPr/>
          <p:nvPr/>
        </p:nvSpPr>
        <p:spPr>
          <a:xfrm>
            <a:off x="10058399" y="4425949"/>
            <a:ext cx="69849" cy="2920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Rectangle 966"/>
          <p:cNvSpPr/>
          <p:nvPr/>
        </p:nvSpPr>
        <p:spPr>
          <a:xfrm>
            <a:off x="10071099" y="4438649"/>
            <a:ext cx="44449" cy="76199"/>
          </a:xfrm>
          <a:prstGeom prst="rect">
            <a:avLst/>
          </a:prstGeom>
          <a:solidFill>
            <a:srgbClr val="8CA4B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Rectangle 967"/>
          <p:cNvSpPr/>
          <p:nvPr/>
        </p:nvSpPr>
        <p:spPr>
          <a:xfrm>
            <a:off x="10071099" y="4527549"/>
            <a:ext cx="44449" cy="76199"/>
          </a:xfrm>
          <a:prstGeom prst="rect">
            <a:avLst/>
          </a:prstGeom>
          <a:solidFill>
            <a:srgbClr val="8CA4B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Rectangle 968"/>
          <p:cNvSpPr/>
          <p:nvPr/>
        </p:nvSpPr>
        <p:spPr>
          <a:xfrm>
            <a:off x="10071099" y="4616449"/>
            <a:ext cx="44449" cy="76199"/>
          </a:xfrm>
          <a:prstGeom prst="rect">
            <a:avLst/>
          </a:prstGeom>
          <a:solidFill>
            <a:srgbClr val="8CA4B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Rectangle 969"/>
          <p:cNvSpPr/>
          <p:nvPr/>
        </p:nvSpPr>
        <p:spPr>
          <a:xfrm>
            <a:off x="10210799" y="4400549"/>
            <a:ext cx="120649" cy="3428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Rectangle 970"/>
          <p:cNvSpPr/>
          <p:nvPr/>
        </p:nvSpPr>
        <p:spPr>
          <a:xfrm>
            <a:off x="10236199" y="4425949"/>
            <a:ext cx="69849" cy="2920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Rectangle 971"/>
          <p:cNvSpPr/>
          <p:nvPr/>
        </p:nvSpPr>
        <p:spPr>
          <a:xfrm>
            <a:off x="10248899" y="4438649"/>
            <a:ext cx="44449" cy="76199"/>
          </a:xfrm>
          <a:prstGeom prst="rect">
            <a:avLst/>
          </a:prstGeom>
          <a:solidFill>
            <a:srgbClr val="8CA4B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10248899" y="4527549"/>
            <a:ext cx="44449" cy="76199"/>
          </a:xfrm>
          <a:prstGeom prst="rect">
            <a:avLst/>
          </a:prstGeom>
          <a:solidFill>
            <a:srgbClr val="8CA4B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Rectangle 973"/>
          <p:cNvSpPr/>
          <p:nvPr/>
        </p:nvSpPr>
        <p:spPr>
          <a:xfrm>
            <a:off x="10248899" y="4616449"/>
            <a:ext cx="44449" cy="76199"/>
          </a:xfrm>
          <a:prstGeom prst="rect">
            <a:avLst/>
          </a:prstGeom>
          <a:solidFill>
            <a:srgbClr val="8CA4B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10388599" y="4400549"/>
            <a:ext cx="120649" cy="3428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10413999" y="4425949"/>
            <a:ext cx="69849" cy="2920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Rectangle 976"/>
          <p:cNvSpPr/>
          <p:nvPr/>
        </p:nvSpPr>
        <p:spPr>
          <a:xfrm>
            <a:off x="10426699" y="4438649"/>
            <a:ext cx="44449" cy="76199"/>
          </a:xfrm>
          <a:prstGeom prst="rect">
            <a:avLst/>
          </a:prstGeom>
          <a:solidFill>
            <a:srgbClr val="F4D985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Rectangle 977"/>
          <p:cNvSpPr/>
          <p:nvPr/>
        </p:nvSpPr>
        <p:spPr>
          <a:xfrm>
            <a:off x="10426699" y="4527549"/>
            <a:ext cx="44449" cy="76199"/>
          </a:xfrm>
          <a:prstGeom prst="rect">
            <a:avLst/>
          </a:prstGeom>
          <a:solidFill>
            <a:srgbClr val="8CA4BD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Rectangle 978"/>
          <p:cNvSpPr/>
          <p:nvPr/>
        </p:nvSpPr>
        <p:spPr>
          <a:xfrm>
            <a:off x="10426699" y="4616449"/>
            <a:ext cx="44449" cy="76199"/>
          </a:xfrm>
          <a:prstGeom prst="rect">
            <a:avLst/>
          </a:prstGeom>
          <a:solidFill>
            <a:srgbClr val="F4D985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0" name="Connector 979"/>
          <p:cNvCxnSpPr/>
          <p:nvPr/>
        </p:nvCxnSpPr>
        <p:spPr>
          <a:xfrm>
            <a:off x="10610849" y="4578349"/>
            <a:ext cx="2730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1" name="Freeform 980"/>
          <p:cNvSpPr/>
          <p:nvPr/>
        </p:nvSpPr>
        <p:spPr>
          <a:xfrm>
            <a:off x="10858499" y="45593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Rectangle 981"/>
          <p:cNvSpPr/>
          <p:nvPr/>
        </p:nvSpPr>
        <p:spPr>
          <a:xfrm>
            <a:off x="10883899" y="4032249"/>
            <a:ext cx="1123949" cy="67309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Rounded Rectangle 982"/>
          <p:cNvSpPr/>
          <p:nvPr/>
        </p:nvSpPr>
        <p:spPr>
          <a:xfrm>
            <a:off x="10921999" y="4063999"/>
            <a:ext cx="177799" cy="196849"/>
          </a:xfrm>
          <a:prstGeom prst="roundRect">
            <a:avLst/>
          </a:prstGeom>
          <a:solidFill>
            <a:srgbClr val="D7E1ED"/>
          </a:solidFill>
          <a:ln w="6985">
            <a:solidFill>
              <a:srgbClr val="516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TextBox 983"/>
          <p:cNvSpPr txBox="1"/>
          <p:nvPr/>
        </p:nvSpPr>
        <p:spPr>
          <a:xfrm>
            <a:off x="10921999" y="4063999"/>
            <a:ext cx="177799" cy="196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*0</a:t>
            </a:r>
          </a:p>
        </p:txBody>
      </p:sp>
      <p:sp>
        <p:nvSpPr>
          <p:cNvPr id="985" name="Rounded Rectangle 984"/>
          <p:cNvSpPr/>
          <p:nvPr/>
        </p:nvSpPr>
        <p:spPr>
          <a:xfrm>
            <a:off x="11137899" y="4063999"/>
            <a:ext cx="177799" cy="196849"/>
          </a:xfrm>
          <a:prstGeom prst="roundRect">
            <a:avLst/>
          </a:prstGeom>
          <a:solidFill>
            <a:srgbClr val="D7E1ED"/>
          </a:solidFill>
          <a:ln w="6985">
            <a:solidFill>
              <a:srgbClr val="516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TextBox 985"/>
          <p:cNvSpPr txBox="1"/>
          <p:nvPr/>
        </p:nvSpPr>
        <p:spPr>
          <a:xfrm>
            <a:off x="11137899" y="4063999"/>
            <a:ext cx="177799" cy="196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*1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11353799" y="4063999"/>
            <a:ext cx="177799" cy="196849"/>
          </a:xfrm>
          <a:prstGeom prst="roundRect">
            <a:avLst/>
          </a:prstGeom>
          <a:solidFill>
            <a:srgbClr val="D7E1ED"/>
          </a:solidFill>
          <a:ln w="6985">
            <a:solidFill>
              <a:srgbClr val="516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TextBox 987"/>
          <p:cNvSpPr txBox="1"/>
          <p:nvPr/>
        </p:nvSpPr>
        <p:spPr>
          <a:xfrm>
            <a:off x="11353799" y="4063999"/>
            <a:ext cx="177799" cy="196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*2</a:t>
            </a:r>
          </a:p>
        </p:txBody>
      </p:sp>
      <p:sp>
        <p:nvSpPr>
          <p:cNvPr id="989" name="Rounded Rectangle 988"/>
          <p:cNvSpPr/>
          <p:nvPr/>
        </p:nvSpPr>
        <p:spPr>
          <a:xfrm>
            <a:off x="11569699" y="4063999"/>
            <a:ext cx="158749" cy="196849"/>
          </a:xfrm>
          <a:prstGeom prst="roundRect">
            <a:avLst/>
          </a:prstGeom>
          <a:solidFill>
            <a:srgbClr val="D7E1ED"/>
          </a:solidFill>
          <a:ln w="6985">
            <a:solidFill>
              <a:srgbClr val="516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TextBox 989"/>
          <p:cNvSpPr txBox="1"/>
          <p:nvPr/>
        </p:nvSpPr>
        <p:spPr>
          <a:xfrm>
            <a:off x="11569699" y="4063999"/>
            <a:ext cx="158749" cy="196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…</a:t>
            </a:r>
          </a:p>
        </p:txBody>
      </p:sp>
      <p:sp>
        <p:nvSpPr>
          <p:cNvPr id="991" name="Rounded Rectangle 990"/>
          <p:cNvSpPr/>
          <p:nvPr/>
        </p:nvSpPr>
        <p:spPr>
          <a:xfrm>
            <a:off x="11785599" y="4063999"/>
            <a:ext cx="177799" cy="196849"/>
          </a:xfrm>
          <a:prstGeom prst="roundRect">
            <a:avLst/>
          </a:prstGeom>
          <a:solidFill>
            <a:srgbClr val="D7E1ED"/>
          </a:solidFill>
          <a:ln w="6985">
            <a:solidFill>
              <a:srgbClr val="516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TextBox 991"/>
          <p:cNvSpPr txBox="1"/>
          <p:nvPr/>
        </p:nvSpPr>
        <p:spPr>
          <a:xfrm>
            <a:off x="11785599" y="4063999"/>
            <a:ext cx="177799" cy="196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*L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10928349" y="3879849"/>
            <a:ext cx="106044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Spatio-Temporal Tokens</a:t>
            </a:r>
          </a:p>
        </p:txBody>
      </p:sp>
      <p:sp>
        <p:nvSpPr>
          <p:cNvPr id="994" name="Rounded Rectangle 993"/>
          <p:cNvSpPr/>
          <p:nvPr/>
        </p:nvSpPr>
        <p:spPr>
          <a:xfrm>
            <a:off x="10921999" y="4470399"/>
            <a:ext cx="177799" cy="196849"/>
          </a:xfrm>
          <a:prstGeom prst="roundRect">
            <a:avLst/>
          </a:prstGeom>
          <a:solidFill>
            <a:srgbClr val="E0E8EF"/>
          </a:solidFill>
          <a:ln w="6985">
            <a:solidFill>
              <a:srgbClr val="516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TextBox 994"/>
          <p:cNvSpPr txBox="1"/>
          <p:nvPr/>
        </p:nvSpPr>
        <p:spPr>
          <a:xfrm>
            <a:off x="10921999" y="4470399"/>
            <a:ext cx="177799" cy="196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*0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11137899" y="4470399"/>
            <a:ext cx="177799" cy="196849"/>
          </a:xfrm>
          <a:prstGeom prst="roundRect">
            <a:avLst/>
          </a:prstGeom>
          <a:solidFill>
            <a:srgbClr val="FFF0A8"/>
          </a:solidFill>
          <a:ln w="6985">
            <a:solidFill>
              <a:srgbClr val="516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TextBox 996"/>
          <p:cNvSpPr txBox="1"/>
          <p:nvPr/>
        </p:nvSpPr>
        <p:spPr>
          <a:xfrm>
            <a:off x="11137899" y="4470399"/>
            <a:ext cx="177799" cy="196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*1</a:t>
            </a:r>
          </a:p>
        </p:txBody>
      </p:sp>
      <p:sp>
        <p:nvSpPr>
          <p:cNvPr id="998" name="Rounded Rectangle 997"/>
          <p:cNvSpPr/>
          <p:nvPr/>
        </p:nvSpPr>
        <p:spPr>
          <a:xfrm>
            <a:off x="11353799" y="4470399"/>
            <a:ext cx="177799" cy="196849"/>
          </a:xfrm>
          <a:prstGeom prst="roundRect">
            <a:avLst/>
          </a:prstGeom>
          <a:solidFill>
            <a:srgbClr val="E0E8EF"/>
          </a:solidFill>
          <a:ln w="6985">
            <a:solidFill>
              <a:srgbClr val="516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1353799" y="4470399"/>
            <a:ext cx="177799" cy="196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*2</a:t>
            </a:r>
          </a:p>
        </p:txBody>
      </p:sp>
      <p:sp>
        <p:nvSpPr>
          <p:cNvPr id="1000" name="Rounded Rectangle 999"/>
          <p:cNvSpPr/>
          <p:nvPr/>
        </p:nvSpPr>
        <p:spPr>
          <a:xfrm>
            <a:off x="11569699" y="4470399"/>
            <a:ext cx="158749" cy="196849"/>
          </a:xfrm>
          <a:prstGeom prst="roundRect">
            <a:avLst/>
          </a:prstGeom>
          <a:solidFill>
            <a:srgbClr val="FFF0A8"/>
          </a:solidFill>
          <a:ln w="6985">
            <a:solidFill>
              <a:srgbClr val="516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TextBox 1000"/>
          <p:cNvSpPr txBox="1"/>
          <p:nvPr/>
        </p:nvSpPr>
        <p:spPr>
          <a:xfrm>
            <a:off x="11569699" y="4470399"/>
            <a:ext cx="158749" cy="196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…</a:t>
            </a:r>
          </a:p>
        </p:txBody>
      </p:sp>
      <p:sp>
        <p:nvSpPr>
          <p:cNvPr id="1002" name="Rounded Rectangle 1001"/>
          <p:cNvSpPr/>
          <p:nvPr/>
        </p:nvSpPr>
        <p:spPr>
          <a:xfrm>
            <a:off x="11785599" y="4470399"/>
            <a:ext cx="177799" cy="196849"/>
          </a:xfrm>
          <a:prstGeom prst="roundRect">
            <a:avLst/>
          </a:prstGeom>
          <a:solidFill>
            <a:srgbClr val="E0E8EF"/>
          </a:solidFill>
          <a:ln w="6985">
            <a:solidFill>
              <a:srgbClr val="516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TextBox 1002"/>
          <p:cNvSpPr txBox="1"/>
          <p:nvPr/>
        </p:nvSpPr>
        <p:spPr>
          <a:xfrm>
            <a:off x="11785599" y="4470399"/>
            <a:ext cx="177799" cy="196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3245"/>
                </a:solidFill>
                <a:latin typeface="Times New Roman"/>
              </a:rPr>
              <a:t>*L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10921999" y="4718049"/>
            <a:ext cx="108584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11111"/>
                </a:solidFill>
                <a:latin typeface="Times New Roman"/>
              </a:rPr>
              <a:t>Domain Prompt Tokens</a:t>
            </a:r>
          </a:p>
        </p:txBody>
      </p:sp>
      <p:cxnSp>
        <p:nvCxnSpPr>
          <p:cNvPr id="1005" name="Connector 1004"/>
          <p:cNvCxnSpPr/>
          <p:nvPr/>
        </p:nvCxnSpPr>
        <p:spPr>
          <a:xfrm>
            <a:off x="11455399" y="4825999"/>
            <a:ext cx="0" cy="228600"/>
          </a:xfrm>
          <a:prstGeom prst="line">
            <a:avLst/>
          </a:prstGeom>
          <a:ln w="7365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TextBox 1005"/>
          <p:cNvSpPr txBox="1"/>
          <p:nvPr/>
        </p:nvSpPr>
        <p:spPr>
          <a:xfrm>
            <a:off x="7746999" y="5079999"/>
            <a:ext cx="2793999" cy="241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Times New Roman"/>
              </a:rPr>
              <a:t>Continual Memory Replay (CMR)</a:t>
            </a:r>
          </a:p>
        </p:txBody>
      </p:sp>
      <p:sp>
        <p:nvSpPr>
          <p:cNvPr id="1007" name="Rectangle 1006"/>
          <p:cNvSpPr/>
          <p:nvPr/>
        </p:nvSpPr>
        <p:spPr>
          <a:xfrm>
            <a:off x="6229349" y="5359399"/>
            <a:ext cx="565149" cy="36194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Rectangle 1007"/>
          <p:cNvSpPr/>
          <p:nvPr/>
        </p:nvSpPr>
        <p:spPr>
          <a:xfrm>
            <a:off x="6292849" y="5403849"/>
            <a:ext cx="120649" cy="2730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Rectangle 1008"/>
          <p:cNvSpPr/>
          <p:nvPr/>
        </p:nvSpPr>
        <p:spPr>
          <a:xfrm>
            <a:off x="6318249" y="5429249"/>
            <a:ext cx="69849" cy="2222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Rectangle 1009"/>
          <p:cNvSpPr/>
          <p:nvPr/>
        </p:nvSpPr>
        <p:spPr>
          <a:xfrm>
            <a:off x="6330949" y="5441949"/>
            <a:ext cx="44449" cy="52916"/>
          </a:xfrm>
          <a:prstGeom prst="rect">
            <a:avLst/>
          </a:prstGeom>
          <a:solidFill>
            <a:srgbClr val="6E8FB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Rectangle 1010"/>
          <p:cNvSpPr/>
          <p:nvPr/>
        </p:nvSpPr>
        <p:spPr>
          <a:xfrm>
            <a:off x="6330949" y="5507566"/>
            <a:ext cx="44449" cy="52916"/>
          </a:xfrm>
          <a:prstGeom prst="rect">
            <a:avLst/>
          </a:prstGeom>
          <a:solidFill>
            <a:srgbClr val="6E8FB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Rectangle 1011"/>
          <p:cNvSpPr/>
          <p:nvPr/>
        </p:nvSpPr>
        <p:spPr>
          <a:xfrm>
            <a:off x="6330949" y="5573182"/>
            <a:ext cx="44449" cy="52916"/>
          </a:xfrm>
          <a:prstGeom prst="rect">
            <a:avLst/>
          </a:prstGeom>
          <a:solidFill>
            <a:srgbClr val="6E8FB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Rectangle 1012"/>
          <p:cNvSpPr/>
          <p:nvPr/>
        </p:nvSpPr>
        <p:spPr>
          <a:xfrm>
            <a:off x="6476999" y="5403849"/>
            <a:ext cx="120649" cy="2730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Rectangle 1013"/>
          <p:cNvSpPr/>
          <p:nvPr/>
        </p:nvSpPr>
        <p:spPr>
          <a:xfrm>
            <a:off x="6502399" y="5429249"/>
            <a:ext cx="69849" cy="2222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6515099" y="5441949"/>
            <a:ext cx="44449" cy="52916"/>
          </a:xfrm>
          <a:prstGeom prst="rect">
            <a:avLst/>
          </a:prstGeom>
          <a:solidFill>
            <a:srgbClr val="6E8FB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Rectangle 1015"/>
          <p:cNvSpPr/>
          <p:nvPr/>
        </p:nvSpPr>
        <p:spPr>
          <a:xfrm>
            <a:off x="6515099" y="5507566"/>
            <a:ext cx="44449" cy="52916"/>
          </a:xfrm>
          <a:prstGeom prst="rect">
            <a:avLst/>
          </a:prstGeom>
          <a:solidFill>
            <a:srgbClr val="6E8FB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Rectangle 1016"/>
          <p:cNvSpPr/>
          <p:nvPr/>
        </p:nvSpPr>
        <p:spPr>
          <a:xfrm>
            <a:off x="6515099" y="5573182"/>
            <a:ext cx="44449" cy="52916"/>
          </a:xfrm>
          <a:prstGeom prst="rect">
            <a:avLst/>
          </a:prstGeom>
          <a:solidFill>
            <a:srgbClr val="6E8FB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Rectangle 1017"/>
          <p:cNvSpPr/>
          <p:nvPr/>
        </p:nvSpPr>
        <p:spPr>
          <a:xfrm>
            <a:off x="6661149" y="5403849"/>
            <a:ext cx="120649" cy="27304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Rectangle 1018"/>
          <p:cNvSpPr/>
          <p:nvPr/>
        </p:nvSpPr>
        <p:spPr>
          <a:xfrm>
            <a:off x="6686549" y="5429249"/>
            <a:ext cx="69849" cy="22224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Rectangle 1019"/>
          <p:cNvSpPr/>
          <p:nvPr/>
        </p:nvSpPr>
        <p:spPr>
          <a:xfrm>
            <a:off x="6699249" y="5441949"/>
            <a:ext cx="44449" cy="52916"/>
          </a:xfrm>
          <a:prstGeom prst="rect">
            <a:avLst/>
          </a:prstGeom>
          <a:solidFill>
            <a:srgbClr val="6E8FB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Rectangle 1020"/>
          <p:cNvSpPr/>
          <p:nvPr/>
        </p:nvSpPr>
        <p:spPr>
          <a:xfrm>
            <a:off x="6699249" y="5507566"/>
            <a:ext cx="44449" cy="52916"/>
          </a:xfrm>
          <a:prstGeom prst="rect">
            <a:avLst/>
          </a:prstGeom>
          <a:solidFill>
            <a:srgbClr val="6E8FB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Rectangle 1021"/>
          <p:cNvSpPr/>
          <p:nvPr/>
        </p:nvSpPr>
        <p:spPr>
          <a:xfrm>
            <a:off x="6699249" y="5573182"/>
            <a:ext cx="44449" cy="52916"/>
          </a:xfrm>
          <a:prstGeom prst="rect">
            <a:avLst/>
          </a:prstGeom>
          <a:solidFill>
            <a:srgbClr val="6E8FB6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3" name="Connector 1022"/>
          <p:cNvCxnSpPr/>
          <p:nvPr/>
        </p:nvCxnSpPr>
        <p:spPr>
          <a:xfrm flipV="1">
            <a:off x="6603999" y="5295899"/>
            <a:ext cx="558800" cy="57150"/>
          </a:xfrm>
          <a:prstGeom prst="line">
            <a:avLst/>
          </a:prstGeom>
          <a:ln w="10312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Freeform 1023"/>
          <p:cNvSpPr/>
          <p:nvPr/>
        </p:nvSpPr>
        <p:spPr>
          <a:xfrm>
            <a:off x="7131049" y="5283200"/>
            <a:ext cx="31750" cy="3175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2"/>
                </a:moveTo>
                <a:lnTo>
                  <a:pt x="1" y="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TextBox 1024"/>
          <p:cNvSpPr txBox="1"/>
          <p:nvPr/>
        </p:nvSpPr>
        <p:spPr>
          <a:xfrm>
            <a:off x="6959599" y="5492749"/>
            <a:ext cx="60959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07DB0"/>
                </a:solidFill>
                <a:latin typeface="Times New Roman"/>
              </a:rPr>
              <a:t>Mem Buffer</a:t>
            </a:r>
          </a:p>
        </p:txBody>
      </p:sp>
      <p:sp>
        <p:nvSpPr>
          <p:cNvPr id="1026" name="Rectangle 1025"/>
          <p:cNvSpPr/>
          <p:nvPr/>
        </p:nvSpPr>
        <p:spPr>
          <a:xfrm>
            <a:off x="6965949" y="5391149"/>
            <a:ext cx="2501899" cy="298449"/>
          </a:xfrm>
          <a:prstGeom prst="rect">
            <a:avLst/>
          </a:prstGeom>
          <a:solidFill>
            <a:srgbClr val="FFFFFF"/>
          </a:solidFill>
          <a:ln w="6985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Freeform 1026"/>
          <p:cNvSpPr/>
          <p:nvPr/>
        </p:nvSpPr>
        <p:spPr>
          <a:xfrm>
            <a:off x="7156449" y="5461000"/>
            <a:ext cx="2292350" cy="165100"/>
          </a:xfrm>
          <a:custGeom>
            <a:avLst/>
            <a:gdLst/>
            <a:ahLst/>
            <a:cxnLst/>
            <a:rect l="l" t="t" r="r" b="b"/>
            <a:pathLst>
              <a:path w="361" h="26">
                <a:moveTo>
                  <a:pt x="0" y="4"/>
                </a:moveTo>
                <a:lnTo>
                  <a:pt x="4" y="5"/>
                </a:lnTo>
                <a:lnTo>
                  <a:pt x="8" y="6"/>
                </a:lnTo>
                <a:lnTo>
                  <a:pt x="12" y="7"/>
                </a:lnTo>
                <a:lnTo>
                  <a:pt x="16" y="7"/>
                </a:lnTo>
                <a:lnTo>
                  <a:pt x="20" y="6"/>
                </a:lnTo>
                <a:lnTo>
                  <a:pt x="24" y="5"/>
                </a:lnTo>
                <a:lnTo>
                  <a:pt x="28" y="4"/>
                </a:lnTo>
                <a:lnTo>
                  <a:pt x="32" y="4"/>
                </a:lnTo>
                <a:lnTo>
                  <a:pt x="36" y="6"/>
                </a:lnTo>
                <a:lnTo>
                  <a:pt x="40" y="9"/>
                </a:lnTo>
                <a:lnTo>
                  <a:pt x="44" y="13"/>
                </a:lnTo>
                <a:lnTo>
                  <a:pt x="48" y="17"/>
                </a:lnTo>
                <a:lnTo>
                  <a:pt x="52" y="20"/>
                </a:lnTo>
                <a:lnTo>
                  <a:pt x="56" y="23"/>
                </a:lnTo>
                <a:lnTo>
                  <a:pt x="60" y="24"/>
                </a:lnTo>
                <a:lnTo>
                  <a:pt x="64" y="23"/>
                </a:lnTo>
                <a:lnTo>
                  <a:pt x="68" y="21"/>
                </a:lnTo>
                <a:lnTo>
                  <a:pt x="72" y="19"/>
                </a:lnTo>
                <a:lnTo>
                  <a:pt x="76" y="17"/>
                </a:lnTo>
                <a:lnTo>
                  <a:pt x="80" y="17"/>
                </a:lnTo>
                <a:lnTo>
                  <a:pt x="84" y="17"/>
                </a:lnTo>
                <a:lnTo>
                  <a:pt x="88" y="17"/>
                </a:lnTo>
                <a:lnTo>
                  <a:pt x="92" y="17"/>
                </a:lnTo>
                <a:lnTo>
                  <a:pt x="96" y="17"/>
                </a:lnTo>
                <a:lnTo>
                  <a:pt x="100" y="15"/>
                </a:lnTo>
                <a:lnTo>
                  <a:pt x="104" y="12"/>
                </a:lnTo>
                <a:lnTo>
                  <a:pt x="108" y="9"/>
                </a:lnTo>
                <a:lnTo>
                  <a:pt x="112" y="5"/>
                </a:lnTo>
                <a:lnTo>
                  <a:pt x="116" y="2"/>
                </a:lnTo>
                <a:lnTo>
                  <a:pt x="120" y="0"/>
                </a:lnTo>
                <a:lnTo>
                  <a:pt x="124" y="0"/>
                </a:lnTo>
                <a:lnTo>
                  <a:pt x="128" y="2"/>
                </a:lnTo>
                <a:lnTo>
                  <a:pt x="132" y="4"/>
                </a:lnTo>
                <a:lnTo>
                  <a:pt x="136" y="7"/>
                </a:lnTo>
                <a:lnTo>
                  <a:pt x="140" y="10"/>
                </a:lnTo>
                <a:lnTo>
                  <a:pt x="144" y="11"/>
                </a:lnTo>
                <a:lnTo>
                  <a:pt x="148" y="12"/>
                </a:lnTo>
                <a:lnTo>
                  <a:pt x="152" y="11"/>
                </a:lnTo>
                <a:lnTo>
                  <a:pt x="156" y="11"/>
                </a:lnTo>
                <a:lnTo>
                  <a:pt x="160" y="12"/>
                </a:lnTo>
                <a:lnTo>
                  <a:pt x="164" y="14"/>
                </a:lnTo>
                <a:lnTo>
                  <a:pt x="168" y="16"/>
                </a:lnTo>
                <a:lnTo>
                  <a:pt x="172" y="20"/>
                </a:lnTo>
                <a:lnTo>
                  <a:pt x="176" y="23"/>
                </a:lnTo>
                <a:lnTo>
                  <a:pt x="181" y="25"/>
                </a:lnTo>
                <a:lnTo>
                  <a:pt x="185" y="26"/>
                </a:lnTo>
                <a:lnTo>
                  <a:pt x="189" y="24"/>
                </a:lnTo>
                <a:lnTo>
                  <a:pt x="193" y="22"/>
                </a:lnTo>
                <a:lnTo>
                  <a:pt x="197" y="18"/>
                </a:lnTo>
                <a:lnTo>
                  <a:pt x="201" y="15"/>
                </a:lnTo>
                <a:lnTo>
                  <a:pt x="205" y="12"/>
                </a:lnTo>
                <a:lnTo>
                  <a:pt x="209" y="10"/>
                </a:lnTo>
                <a:lnTo>
                  <a:pt x="213" y="10"/>
                </a:lnTo>
                <a:lnTo>
                  <a:pt x="217" y="10"/>
                </a:lnTo>
                <a:lnTo>
                  <a:pt x="221" y="10"/>
                </a:lnTo>
                <a:lnTo>
                  <a:pt x="225" y="10"/>
                </a:lnTo>
                <a:lnTo>
                  <a:pt x="229" y="9"/>
                </a:lnTo>
                <a:lnTo>
                  <a:pt x="233" y="6"/>
                </a:lnTo>
                <a:lnTo>
                  <a:pt x="237" y="4"/>
                </a:lnTo>
                <a:lnTo>
                  <a:pt x="241" y="2"/>
                </a:lnTo>
                <a:lnTo>
                  <a:pt x="245" y="0"/>
                </a:lnTo>
                <a:lnTo>
                  <a:pt x="249" y="1"/>
                </a:lnTo>
                <a:lnTo>
                  <a:pt x="253" y="3"/>
                </a:lnTo>
                <a:lnTo>
                  <a:pt x="257" y="6"/>
                </a:lnTo>
                <a:lnTo>
                  <a:pt x="261" y="10"/>
                </a:lnTo>
                <a:lnTo>
                  <a:pt x="265" y="14"/>
                </a:lnTo>
                <a:lnTo>
                  <a:pt x="269" y="17"/>
                </a:lnTo>
                <a:lnTo>
                  <a:pt x="273" y="19"/>
                </a:lnTo>
                <a:lnTo>
                  <a:pt x="277" y="19"/>
                </a:lnTo>
                <a:lnTo>
                  <a:pt x="281" y="18"/>
                </a:lnTo>
                <a:lnTo>
                  <a:pt x="285" y="18"/>
                </a:lnTo>
                <a:lnTo>
                  <a:pt x="289" y="17"/>
                </a:lnTo>
                <a:lnTo>
                  <a:pt x="293" y="18"/>
                </a:lnTo>
                <a:lnTo>
                  <a:pt x="297" y="19"/>
                </a:lnTo>
                <a:lnTo>
                  <a:pt x="301" y="21"/>
                </a:lnTo>
                <a:lnTo>
                  <a:pt x="305" y="23"/>
                </a:lnTo>
                <a:lnTo>
                  <a:pt x="309" y="23"/>
                </a:lnTo>
                <a:lnTo>
                  <a:pt x="313" y="22"/>
                </a:lnTo>
                <a:lnTo>
                  <a:pt x="317" y="19"/>
                </a:lnTo>
                <a:lnTo>
                  <a:pt x="321" y="15"/>
                </a:lnTo>
                <a:lnTo>
                  <a:pt x="325" y="11"/>
                </a:lnTo>
                <a:lnTo>
                  <a:pt x="329" y="7"/>
                </a:lnTo>
                <a:lnTo>
                  <a:pt x="333" y="4"/>
                </a:lnTo>
                <a:lnTo>
                  <a:pt x="337" y="3"/>
                </a:lnTo>
                <a:lnTo>
                  <a:pt x="341" y="3"/>
                </a:lnTo>
                <a:lnTo>
                  <a:pt x="345" y="5"/>
                </a:lnTo>
                <a:lnTo>
                  <a:pt x="349" y="6"/>
                </a:lnTo>
                <a:lnTo>
                  <a:pt x="353" y="7"/>
                </a:lnTo>
                <a:lnTo>
                  <a:pt x="357" y="7"/>
                </a:lnTo>
                <a:lnTo>
                  <a:pt x="361" y="6"/>
                </a:lnTo>
              </a:path>
            </a:pathLst>
          </a:custGeom>
          <a:noFill/>
          <a:ln w="9080">
            <a:solidFill>
              <a:srgbClr val="6B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TextBox 1027"/>
          <p:cNvSpPr txBox="1"/>
          <p:nvPr/>
        </p:nvSpPr>
        <p:spPr>
          <a:xfrm>
            <a:off x="8089899" y="5480049"/>
            <a:ext cx="80009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0A33C"/>
                </a:solidFill>
                <a:latin typeface="Times New Roman"/>
              </a:rPr>
              <a:t>Current Stream</a:t>
            </a:r>
          </a:p>
        </p:txBody>
      </p:sp>
      <p:sp>
        <p:nvSpPr>
          <p:cNvPr id="1029" name="Rectangle 1028"/>
          <p:cNvSpPr/>
          <p:nvPr/>
        </p:nvSpPr>
        <p:spPr>
          <a:xfrm>
            <a:off x="9607549" y="5353049"/>
            <a:ext cx="1282699" cy="36829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Rectangle 1029"/>
          <p:cNvSpPr/>
          <p:nvPr/>
        </p:nvSpPr>
        <p:spPr>
          <a:xfrm>
            <a:off x="9664699" y="53974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Rectangle 1030"/>
          <p:cNvSpPr/>
          <p:nvPr/>
        </p:nvSpPr>
        <p:spPr>
          <a:xfrm>
            <a:off x="9690099" y="54228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Rectangle 1031"/>
          <p:cNvSpPr/>
          <p:nvPr/>
        </p:nvSpPr>
        <p:spPr>
          <a:xfrm>
            <a:off x="9702799" y="5435599"/>
            <a:ext cx="44449" cy="55033"/>
          </a:xfrm>
          <a:prstGeom prst="rect">
            <a:avLst/>
          </a:prstGeom>
          <a:solidFill>
            <a:srgbClr val="708DB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Rectangle 1032"/>
          <p:cNvSpPr/>
          <p:nvPr/>
        </p:nvSpPr>
        <p:spPr>
          <a:xfrm>
            <a:off x="9702799" y="5503332"/>
            <a:ext cx="44449" cy="55033"/>
          </a:xfrm>
          <a:prstGeom prst="rect">
            <a:avLst/>
          </a:prstGeom>
          <a:solidFill>
            <a:srgbClr val="708DB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Rectangle 1033"/>
          <p:cNvSpPr/>
          <p:nvPr/>
        </p:nvSpPr>
        <p:spPr>
          <a:xfrm>
            <a:off x="9702799" y="5571066"/>
            <a:ext cx="44449" cy="55033"/>
          </a:xfrm>
          <a:prstGeom prst="rect">
            <a:avLst/>
          </a:prstGeom>
          <a:solidFill>
            <a:srgbClr val="708DB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Rectangle 1034"/>
          <p:cNvSpPr/>
          <p:nvPr/>
        </p:nvSpPr>
        <p:spPr>
          <a:xfrm>
            <a:off x="9855199" y="53974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Rectangle 1035"/>
          <p:cNvSpPr/>
          <p:nvPr/>
        </p:nvSpPr>
        <p:spPr>
          <a:xfrm>
            <a:off x="9880599" y="54228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Rectangle 1036"/>
          <p:cNvSpPr/>
          <p:nvPr/>
        </p:nvSpPr>
        <p:spPr>
          <a:xfrm>
            <a:off x="9893299" y="5435599"/>
            <a:ext cx="44449" cy="55033"/>
          </a:xfrm>
          <a:prstGeom prst="rect">
            <a:avLst/>
          </a:prstGeom>
          <a:solidFill>
            <a:srgbClr val="6F8FB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Rectangle 1037"/>
          <p:cNvSpPr/>
          <p:nvPr/>
        </p:nvSpPr>
        <p:spPr>
          <a:xfrm>
            <a:off x="9893299" y="5503332"/>
            <a:ext cx="44449" cy="55033"/>
          </a:xfrm>
          <a:prstGeom prst="rect">
            <a:avLst/>
          </a:prstGeom>
          <a:solidFill>
            <a:srgbClr val="6F8FB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Rectangle 1038"/>
          <p:cNvSpPr/>
          <p:nvPr/>
        </p:nvSpPr>
        <p:spPr>
          <a:xfrm>
            <a:off x="9893299" y="5571066"/>
            <a:ext cx="44449" cy="55033"/>
          </a:xfrm>
          <a:prstGeom prst="rect">
            <a:avLst/>
          </a:prstGeom>
          <a:solidFill>
            <a:srgbClr val="6F8FB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Rectangle 1039"/>
          <p:cNvSpPr/>
          <p:nvPr/>
        </p:nvSpPr>
        <p:spPr>
          <a:xfrm>
            <a:off x="10045699" y="53974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Rectangle 1040"/>
          <p:cNvSpPr/>
          <p:nvPr/>
        </p:nvSpPr>
        <p:spPr>
          <a:xfrm>
            <a:off x="10071099" y="54228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Rectangle 1041"/>
          <p:cNvSpPr/>
          <p:nvPr/>
        </p:nvSpPr>
        <p:spPr>
          <a:xfrm>
            <a:off x="10083799" y="5435599"/>
            <a:ext cx="44449" cy="55033"/>
          </a:xfrm>
          <a:prstGeom prst="rect">
            <a:avLst/>
          </a:prstGeom>
          <a:solidFill>
            <a:srgbClr val="66A47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10083799" y="5503332"/>
            <a:ext cx="44449" cy="55033"/>
          </a:xfrm>
          <a:prstGeom prst="rect">
            <a:avLst/>
          </a:prstGeom>
          <a:solidFill>
            <a:srgbClr val="66A47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Rectangle 1043"/>
          <p:cNvSpPr/>
          <p:nvPr/>
        </p:nvSpPr>
        <p:spPr>
          <a:xfrm>
            <a:off x="10083799" y="5571066"/>
            <a:ext cx="44449" cy="55033"/>
          </a:xfrm>
          <a:prstGeom prst="rect">
            <a:avLst/>
          </a:prstGeom>
          <a:solidFill>
            <a:srgbClr val="66A47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Rectangle 1044"/>
          <p:cNvSpPr/>
          <p:nvPr/>
        </p:nvSpPr>
        <p:spPr>
          <a:xfrm>
            <a:off x="10236199" y="53974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Rectangle 1045"/>
          <p:cNvSpPr/>
          <p:nvPr/>
        </p:nvSpPr>
        <p:spPr>
          <a:xfrm>
            <a:off x="10261599" y="54228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Rectangle 1046"/>
          <p:cNvSpPr/>
          <p:nvPr/>
        </p:nvSpPr>
        <p:spPr>
          <a:xfrm>
            <a:off x="10274299" y="5435599"/>
            <a:ext cx="44449" cy="55033"/>
          </a:xfrm>
          <a:prstGeom prst="rect">
            <a:avLst/>
          </a:prstGeom>
          <a:solidFill>
            <a:srgbClr val="708DB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Rectangle 1047"/>
          <p:cNvSpPr/>
          <p:nvPr/>
        </p:nvSpPr>
        <p:spPr>
          <a:xfrm>
            <a:off x="10274299" y="5503332"/>
            <a:ext cx="44449" cy="55033"/>
          </a:xfrm>
          <a:prstGeom prst="rect">
            <a:avLst/>
          </a:prstGeom>
          <a:solidFill>
            <a:srgbClr val="708DB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Rectangle 1048"/>
          <p:cNvSpPr/>
          <p:nvPr/>
        </p:nvSpPr>
        <p:spPr>
          <a:xfrm>
            <a:off x="10274299" y="5571066"/>
            <a:ext cx="44449" cy="55033"/>
          </a:xfrm>
          <a:prstGeom prst="rect">
            <a:avLst/>
          </a:prstGeom>
          <a:solidFill>
            <a:srgbClr val="708DB1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Rectangle 1049"/>
          <p:cNvSpPr/>
          <p:nvPr/>
        </p:nvSpPr>
        <p:spPr>
          <a:xfrm>
            <a:off x="10426699" y="53974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Rectangle 1050"/>
          <p:cNvSpPr/>
          <p:nvPr/>
        </p:nvSpPr>
        <p:spPr>
          <a:xfrm>
            <a:off x="10452099" y="54228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Rectangle 1051"/>
          <p:cNvSpPr/>
          <p:nvPr/>
        </p:nvSpPr>
        <p:spPr>
          <a:xfrm>
            <a:off x="10464799" y="5435599"/>
            <a:ext cx="44449" cy="55033"/>
          </a:xfrm>
          <a:prstGeom prst="rect">
            <a:avLst/>
          </a:prstGeom>
          <a:solidFill>
            <a:srgbClr val="6F8FB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Rectangle 1052"/>
          <p:cNvSpPr/>
          <p:nvPr/>
        </p:nvSpPr>
        <p:spPr>
          <a:xfrm>
            <a:off x="10464799" y="5503332"/>
            <a:ext cx="44449" cy="55033"/>
          </a:xfrm>
          <a:prstGeom prst="rect">
            <a:avLst/>
          </a:prstGeom>
          <a:solidFill>
            <a:srgbClr val="6F8FB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Rectangle 1053"/>
          <p:cNvSpPr/>
          <p:nvPr/>
        </p:nvSpPr>
        <p:spPr>
          <a:xfrm>
            <a:off x="10464799" y="5571066"/>
            <a:ext cx="44449" cy="55033"/>
          </a:xfrm>
          <a:prstGeom prst="rect">
            <a:avLst/>
          </a:prstGeom>
          <a:solidFill>
            <a:srgbClr val="6F8FB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Rectangle 1054"/>
          <p:cNvSpPr/>
          <p:nvPr/>
        </p:nvSpPr>
        <p:spPr>
          <a:xfrm>
            <a:off x="10617199" y="5397499"/>
            <a:ext cx="120649" cy="279399"/>
          </a:xfrm>
          <a:prstGeom prst="rect">
            <a:avLst/>
          </a:prstGeom>
          <a:solidFill>
            <a:srgbClr val="FFFFFF"/>
          </a:solidFill>
          <a:ln w="8382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Rectangle 1055"/>
          <p:cNvSpPr/>
          <p:nvPr/>
        </p:nvSpPr>
        <p:spPr>
          <a:xfrm>
            <a:off x="10642599" y="5422899"/>
            <a:ext cx="69849" cy="228599"/>
          </a:xfrm>
          <a:prstGeom prst="rect">
            <a:avLst/>
          </a:prstGeom>
          <a:solidFill>
            <a:srgbClr val="EEF2F5"/>
          </a:solidFill>
          <a:ln w="5080">
            <a:solidFill>
              <a:srgbClr val="5D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10655299" y="5435599"/>
            <a:ext cx="44449" cy="55033"/>
          </a:xfrm>
          <a:prstGeom prst="rect">
            <a:avLst/>
          </a:prstGeom>
          <a:solidFill>
            <a:srgbClr val="66A47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Rectangle 1057"/>
          <p:cNvSpPr/>
          <p:nvPr/>
        </p:nvSpPr>
        <p:spPr>
          <a:xfrm>
            <a:off x="10655299" y="5503332"/>
            <a:ext cx="44449" cy="55033"/>
          </a:xfrm>
          <a:prstGeom prst="rect">
            <a:avLst/>
          </a:prstGeom>
          <a:solidFill>
            <a:srgbClr val="66A47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Rectangle 1058"/>
          <p:cNvSpPr/>
          <p:nvPr/>
        </p:nvSpPr>
        <p:spPr>
          <a:xfrm>
            <a:off x="10655299" y="5571066"/>
            <a:ext cx="44449" cy="55033"/>
          </a:xfrm>
          <a:prstGeom prst="rect">
            <a:avLst/>
          </a:prstGeom>
          <a:solidFill>
            <a:srgbClr val="66A472"/>
          </a:solidFill>
          <a:ln w="508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10426699" y="5181599"/>
            <a:ext cx="5841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999999"/>
                </a:solidFill>
                <a:latin typeface="Times New Roman"/>
              </a:rPr>
              <a:t>data mixing</a:t>
            </a:r>
          </a:p>
        </p:txBody>
      </p:sp>
      <p:cxnSp>
        <p:nvCxnSpPr>
          <p:cNvPr id="1061" name="Connector 1060"/>
          <p:cNvCxnSpPr/>
          <p:nvPr/>
        </p:nvCxnSpPr>
        <p:spPr>
          <a:xfrm>
            <a:off x="10890249" y="5530849"/>
            <a:ext cx="1714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Freeform 1061"/>
          <p:cNvSpPr/>
          <p:nvPr/>
        </p:nvSpPr>
        <p:spPr>
          <a:xfrm>
            <a:off x="11036299" y="55118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4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Rectangle 1062"/>
          <p:cNvSpPr/>
          <p:nvPr/>
        </p:nvSpPr>
        <p:spPr>
          <a:xfrm>
            <a:off x="11068049" y="5353049"/>
            <a:ext cx="927099" cy="368299"/>
          </a:xfrm>
          <a:prstGeom prst="rect">
            <a:avLst/>
          </a:prstGeom>
          <a:solidFill>
            <a:srgbClr val="FFFFFF"/>
          </a:solidFill>
          <a:ln w="6985">
            <a:solidFill>
              <a:srgbClr val="4040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Rounded Rectangle 1063"/>
          <p:cNvSpPr/>
          <p:nvPr/>
        </p:nvSpPr>
        <p:spPr>
          <a:xfrm>
            <a:off x="11112499" y="5416549"/>
            <a:ext cx="101599" cy="215899"/>
          </a:xfrm>
          <a:prstGeom prst="roundRect">
            <a:avLst/>
          </a:prstGeom>
          <a:solidFill>
            <a:srgbClr val="7891B5"/>
          </a:solidFill>
          <a:ln w="6985">
            <a:solidFill>
              <a:srgbClr val="53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TextBox 1064"/>
          <p:cNvSpPr txBox="1"/>
          <p:nvPr/>
        </p:nvSpPr>
        <p:spPr>
          <a:xfrm>
            <a:off x="11112499" y="5416549"/>
            <a:ext cx="1015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 i="0">
                <a:solidFill>
                  <a:srgbClr val="1E3245"/>
                </a:solidFill>
                <a:latin typeface="Times New Roman"/>
              </a:rPr>
              <a:t/>
            </a:r>
          </a:p>
        </p:txBody>
      </p:sp>
      <p:sp>
        <p:nvSpPr>
          <p:cNvPr id="1066" name="Rounded Rectangle 1065"/>
          <p:cNvSpPr/>
          <p:nvPr/>
        </p:nvSpPr>
        <p:spPr>
          <a:xfrm>
            <a:off x="11233149" y="5416549"/>
            <a:ext cx="101599" cy="215899"/>
          </a:xfrm>
          <a:prstGeom prst="roundRect">
            <a:avLst/>
          </a:prstGeom>
          <a:solidFill>
            <a:srgbClr val="C9D1DA"/>
          </a:solidFill>
          <a:ln w="6985">
            <a:solidFill>
              <a:srgbClr val="53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TextBox 1066"/>
          <p:cNvSpPr txBox="1"/>
          <p:nvPr/>
        </p:nvSpPr>
        <p:spPr>
          <a:xfrm>
            <a:off x="11233149" y="5416549"/>
            <a:ext cx="1015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 i="0">
                <a:solidFill>
                  <a:srgbClr val="1E3245"/>
                </a:solidFill>
                <a:latin typeface="Times New Roman"/>
              </a:rPr>
              <a:t/>
            </a:r>
          </a:p>
        </p:txBody>
      </p:sp>
      <p:sp>
        <p:nvSpPr>
          <p:cNvPr id="1068" name="Rounded Rectangle 1067"/>
          <p:cNvSpPr/>
          <p:nvPr/>
        </p:nvSpPr>
        <p:spPr>
          <a:xfrm>
            <a:off x="11353799" y="5416549"/>
            <a:ext cx="101599" cy="215899"/>
          </a:xfrm>
          <a:prstGeom prst="roundRect">
            <a:avLst/>
          </a:prstGeom>
          <a:solidFill>
            <a:srgbClr val="F2D67C"/>
          </a:solidFill>
          <a:ln w="6985">
            <a:solidFill>
              <a:srgbClr val="53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11353799" y="5416549"/>
            <a:ext cx="1015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 i="0">
                <a:solidFill>
                  <a:srgbClr val="1E3245"/>
                </a:solidFill>
                <a:latin typeface="Times New Roman"/>
              </a:rPr>
              <a:t/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11474449" y="5416549"/>
            <a:ext cx="101599" cy="215899"/>
          </a:xfrm>
          <a:prstGeom prst="roundRect">
            <a:avLst/>
          </a:prstGeom>
          <a:solidFill>
            <a:srgbClr val="D1D7DF"/>
          </a:solidFill>
          <a:ln w="6985">
            <a:solidFill>
              <a:srgbClr val="53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TextBox 1070"/>
          <p:cNvSpPr txBox="1"/>
          <p:nvPr/>
        </p:nvSpPr>
        <p:spPr>
          <a:xfrm>
            <a:off x="11474449" y="5416549"/>
            <a:ext cx="1015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 i="0">
                <a:solidFill>
                  <a:srgbClr val="1E3245"/>
                </a:solidFill>
                <a:latin typeface="Times New Roman"/>
              </a:rPr>
              <a:t/>
            </a:r>
          </a:p>
        </p:txBody>
      </p:sp>
      <p:sp>
        <p:nvSpPr>
          <p:cNvPr id="1072" name="Rounded Rectangle 1071"/>
          <p:cNvSpPr/>
          <p:nvPr/>
        </p:nvSpPr>
        <p:spPr>
          <a:xfrm>
            <a:off x="11595099" y="5416549"/>
            <a:ext cx="101599" cy="215899"/>
          </a:xfrm>
          <a:prstGeom prst="roundRect">
            <a:avLst/>
          </a:prstGeom>
          <a:solidFill>
            <a:srgbClr val="B7D79D"/>
          </a:solidFill>
          <a:ln w="6985">
            <a:solidFill>
              <a:srgbClr val="53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11595099" y="5416549"/>
            <a:ext cx="1015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 i="0">
                <a:solidFill>
                  <a:srgbClr val="1E3245"/>
                </a:solidFill>
                <a:latin typeface="Times New Roman"/>
              </a:rPr>
              <a:t/>
            </a:r>
          </a:p>
        </p:txBody>
      </p:sp>
      <p:sp>
        <p:nvSpPr>
          <p:cNvPr id="1074" name="Rounded Rectangle 1073"/>
          <p:cNvSpPr/>
          <p:nvPr/>
        </p:nvSpPr>
        <p:spPr>
          <a:xfrm>
            <a:off x="11715749" y="5416549"/>
            <a:ext cx="101599" cy="215899"/>
          </a:xfrm>
          <a:prstGeom prst="roundRect">
            <a:avLst/>
          </a:prstGeom>
          <a:solidFill>
            <a:srgbClr val="D3D9E0"/>
          </a:solidFill>
          <a:ln w="6985">
            <a:solidFill>
              <a:srgbClr val="53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11715749" y="5416549"/>
            <a:ext cx="1015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 i="0">
                <a:solidFill>
                  <a:srgbClr val="1E3245"/>
                </a:solidFill>
                <a:latin typeface="Times New Roman"/>
              </a:rPr>
              <a:t/>
            </a:r>
          </a:p>
        </p:txBody>
      </p:sp>
      <p:sp>
        <p:nvSpPr>
          <p:cNvPr id="1076" name="Rounded Rectangle 1075"/>
          <p:cNvSpPr/>
          <p:nvPr/>
        </p:nvSpPr>
        <p:spPr>
          <a:xfrm>
            <a:off x="11836399" y="5416549"/>
            <a:ext cx="101599" cy="215899"/>
          </a:xfrm>
          <a:prstGeom prst="roundRect">
            <a:avLst/>
          </a:prstGeom>
          <a:solidFill>
            <a:srgbClr val="86A3C6"/>
          </a:solidFill>
          <a:ln w="6985">
            <a:solidFill>
              <a:srgbClr val="53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TextBox 1076"/>
          <p:cNvSpPr txBox="1"/>
          <p:nvPr/>
        </p:nvSpPr>
        <p:spPr>
          <a:xfrm>
            <a:off x="11836399" y="5416549"/>
            <a:ext cx="1015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0" b="0" i="0">
                <a:solidFill>
                  <a:srgbClr val="1E3245"/>
                </a:solidFill>
                <a:latin typeface="Times New Roman"/>
              </a:rPr>
              <a:t/>
            </a:r>
          </a:p>
        </p:txBody>
      </p:sp>
      <p:sp>
        <p:nvSpPr>
          <p:cNvPr id="1078" name="TextBox 1077"/>
          <p:cNvSpPr txBox="1"/>
          <p:nvPr/>
        </p:nvSpPr>
        <p:spPr>
          <a:xfrm>
            <a:off x="11029949" y="5734049"/>
            <a:ext cx="101599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Combined Tokens</a:t>
            </a:r>
          </a:p>
        </p:txBody>
      </p:sp>
      <p:sp>
        <p:nvSpPr>
          <p:cNvPr id="1079" name="Freeform 1078"/>
          <p:cNvSpPr/>
          <p:nvPr/>
        </p:nvSpPr>
        <p:spPr>
          <a:xfrm>
            <a:off x="6540499" y="5295900"/>
            <a:ext cx="3663950" cy="57150"/>
          </a:xfrm>
          <a:custGeom>
            <a:avLst/>
            <a:gdLst/>
            <a:ahLst/>
            <a:cxnLst/>
            <a:rect l="l" t="t" r="r" b="b"/>
            <a:pathLst>
              <a:path w="577" h="9">
                <a:moveTo>
                  <a:pt x="0" y="9"/>
                </a:moveTo>
                <a:lnTo>
                  <a:pt x="150" y="0"/>
                </a:lnTo>
                <a:lnTo>
                  <a:pt x="390" y="2"/>
                </a:lnTo>
                <a:lnTo>
                  <a:pt x="577" y="9"/>
                </a:lnTo>
              </a:path>
            </a:pathLst>
          </a:custGeom>
          <a:noFill/>
          <a:ln w="6985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Freeform 1079"/>
          <p:cNvSpPr/>
          <p:nvPr/>
        </p:nvSpPr>
        <p:spPr>
          <a:xfrm>
            <a:off x="8826499" y="5689600"/>
            <a:ext cx="1219200" cy="12700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70" y="20"/>
                </a:lnTo>
                <a:lnTo>
                  <a:pt x="192" y="5"/>
                </a:lnTo>
              </a:path>
            </a:pathLst>
          </a:custGeom>
          <a:noFill/>
          <a:ln w="6985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TextBox 1080"/>
          <p:cNvSpPr txBox="1"/>
          <p:nvPr/>
        </p:nvSpPr>
        <p:spPr>
          <a:xfrm>
            <a:off x="6184899" y="5778499"/>
            <a:ext cx="6857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Future</a:t>
            </a:r>
          </a:p>
        </p:txBody>
      </p:sp>
      <p:sp>
        <p:nvSpPr>
          <p:cNvPr id="1082" name="TextBox 1081"/>
          <p:cNvSpPr txBox="1"/>
          <p:nvPr/>
        </p:nvSpPr>
        <p:spPr>
          <a:xfrm>
            <a:off x="6184899" y="5905499"/>
            <a:ext cx="6857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11111"/>
                </a:solidFill>
                <a:latin typeface="Times New Roman"/>
              </a:rPr>
              <a:t>Value</a:t>
            </a:r>
          </a:p>
        </p:txBody>
      </p:sp>
      <p:cxnSp>
        <p:nvCxnSpPr>
          <p:cNvPr id="1083" name="Connector 1082"/>
          <p:cNvCxnSpPr/>
          <p:nvPr/>
        </p:nvCxnSpPr>
        <p:spPr>
          <a:xfrm flipH="1">
            <a:off x="6597649" y="5981699"/>
            <a:ext cx="2603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Freeform 1083"/>
          <p:cNvSpPr/>
          <p:nvPr/>
        </p:nvSpPr>
        <p:spPr>
          <a:xfrm>
            <a:off x="6597649" y="596265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0" y="3"/>
                </a:moveTo>
                <a:lnTo>
                  <a:pt x="4" y="0"/>
                </a:lnTo>
                <a:lnTo>
                  <a:pt x="4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Rounded Rectangle 1084"/>
          <p:cNvSpPr/>
          <p:nvPr/>
        </p:nvSpPr>
        <p:spPr>
          <a:xfrm>
            <a:off x="6845299" y="5848349"/>
            <a:ext cx="1396999" cy="279399"/>
          </a:xfrm>
          <a:prstGeom prst="roundRect">
            <a:avLst/>
          </a:prstGeom>
          <a:solidFill>
            <a:srgbClr val="BFE1AA"/>
          </a:solidFill>
          <a:ln w="6985">
            <a:solidFill>
              <a:srgbClr val="62A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TextBox 1085"/>
          <p:cNvSpPr txBox="1"/>
          <p:nvPr/>
        </p:nvSpPr>
        <p:spPr>
          <a:xfrm>
            <a:off x="6845299" y="5848349"/>
            <a:ext cx="1396999" cy="279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E3245"/>
                </a:solidFill>
                <a:latin typeface="Times New Roman"/>
              </a:rPr>
              <a:t>Prediction Head</a:t>
            </a:r>
          </a:p>
        </p:txBody>
      </p:sp>
      <p:sp>
        <p:nvSpPr>
          <p:cNvPr id="1087" name="TextBox 1086"/>
          <p:cNvSpPr txBox="1"/>
          <p:nvPr/>
        </p:nvSpPr>
        <p:spPr>
          <a:xfrm>
            <a:off x="8064499" y="5899149"/>
            <a:ext cx="139699" cy="1396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2F91DD"/>
                </a:solidFill>
                <a:latin typeface="DejaVu Sans"/>
              </a:rPr>
              <a:t>❄</a:t>
            </a:r>
          </a:p>
        </p:txBody>
      </p:sp>
      <p:cxnSp>
        <p:nvCxnSpPr>
          <p:cNvPr id="1088" name="Connector 1087"/>
          <p:cNvCxnSpPr/>
          <p:nvPr/>
        </p:nvCxnSpPr>
        <p:spPr>
          <a:xfrm flipH="1">
            <a:off x="8242299" y="5988049"/>
            <a:ext cx="38100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Freeform 1088"/>
          <p:cNvSpPr/>
          <p:nvPr/>
        </p:nvSpPr>
        <p:spPr>
          <a:xfrm>
            <a:off x="8242299" y="59690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0" y="3"/>
                </a:moveTo>
                <a:lnTo>
                  <a:pt x="4" y="0"/>
                </a:lnTo>
                <a:lnTo>
                  <a:pt x="4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Rounded Rectangle 1089"/>
          <p:cNvSpPr/>
          <p:nvPr/>
        </p:nvSpPr>
        <p:spPr>
          <a:xfrm>
            <a:off x="8623299" y="5841999"/>
            <a:ext cx="1720849" cy="292099"/>
          </a:xfrm>
          <a:prstGeom prst="roundRect">
            <a:avLst/>
          </a:prstGeom>
          <a:solidFill>
            <a:srgbClr val="E9EFE1"/>
          </a:solidFill>
          <a:ln w="6985">
            <a:solidFill>
              <a:srgbClr val="30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TextBox 1090"/>
          <p:cNvSpPr txBox="1"/>
          <p:nvPr/>
        </p:nvSpPr>
        <p:spPr>
          <a:xfrm>
            <a:off x="8623299" y="5841999"/>
            <a:ext cx="1720849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E3245"/>
                </a:solidFill>
                <a:latin typeface="Times New Roman"/>
              </a:rPr>
              <a:t>Transformer Decoder</a:t>
            </a:r>
          </a:p>
        </p:txBody>
      </p:sp>
      <p:sp>
        <p:nvSpPr>
          <p:cNvPr id="1092" name="TextBox 1091"/>
          <p:cNvSpPr txBox="1"/>
          <p:nvPr/>
        </p:nvSpPr>
        <p:spPr>
          <a:xfrm>
            <a:off x="10153649" y="5905499"/>
            <a:ext cx="1269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91DD"/>
                </a:solidFill>
                <a:latin typeface="DejaVu Sans"/>
              </a:rPr>
              <a:t>❄</a:t>
            </a:r>
          </a:p>
        </p:txBody>
      </p:sp>
      <p:cxnSp>
        <p:nvCxnSpPr>
          <p:cNvPr id="1093" name="Connector 1092"/>
          <p:cNvCxnSpPr/>
          <p:nvPr/>
        </p:nvCxnSpPr>
        <p:spPr>
          <a:xfrm flipH="1">
            <a:off x="10344149" y="5988049"/>
            <a:ext cx="196850" cy="0"/>
          </a:xfrm>
          <a:prstGeom prst="line">
            <a:avLst/>
          </a:prstGeom>
          <a:ln w="1031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4" name="Freeform 1093"/>
          <p:cNvSpPr/>
          <p:nvPr/>
        </p:nvSpPr>
        <p:spPr>
          <a:xfrm>
            <a:off x="10344149" y="59690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0" y="3"/>
                </a:moveTo>
                <a:lnTo>
                  <a:pt x="4" y="0"/>
                </a:lnTo>
                <a:lnTo>
                  <a:pt x="4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Rounded Rectangle 1094"/>
          <p:cNvSpPr/>
          <p:nvPr/>
        </p:nvSpPr>
        <p:spPr>
          <a:xfrm>
            <a:off x="10547349" y="5841999"/>
            <a:ext cx="1460499" cy="292099"/>
          </a:xfrm>
          <a:prstGeom prst="roundRect">
            <a:avLst/>
          </a:prstGeom>
          <a:solidFill>
            <a:srgbClr val="DCEBD3"/>
          </a:solidFill>
          <a:ln w="6985">
            <a:solidFill>
              <a:srgbClr val="30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TextBox 1095"/>
          <p:cNvSpPr txBox="1"/>
          <p:nvPr/>
        </p:nvSpPr>
        <p:spPr>
          <a:xfrm>
            <a:off x="10547349" y="5841999"/>
            <a:ext cx="1460499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E3245"/>
                </a:solidFill>
                <a:latin typeface="Times New Roman"/>
              </a:rPr>
              <a:t>Transformer Encoder</a:t>
            </a:r>
          </a:p>
        </p:txBody>
      </p:sp>
      <p:sp>
        <p:nvSpPr>
          <p:cNvPr id="1097" name="TextBox 1096"/>
          <p:cNvSpPr txBox="1"/>
          <p:nvPr/>
        </p:nvSpPr>
        <p:spPr>
          <a:xfrm>
            <a:off x="11779249" y="5905499"/>
            <a:ext cx="126999" cy="126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F91DD"/>
                </a:solidFill>
                <a:latin typeface="DejaVu Sans"/>
              </a:rPr>
              <a:t>❄</a:t>
            </a:r>
          </a:p>
        </p:txBody>
      </p:sp>
      <p:cxnSp>
        <p:nvCxnSpPr>
          <p:cNvPr id="1098" name="Connector 1097"/>
          <p:cNvCxnSpPr/>
          <p:nvPr/>
        </p:nvCxnSpPr>
        <p:spPr>
          <a:xfrm>
            <a:off x="12007849" y="5988049"/>
            <a:ext cx="88900" cy="0"/>
          </a:xfrm>
          <a:prstGeom prst="line">
            <a:avLst/>
          </a:prstGeom>
          <a:ln w="736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 flipV="1">
            <a:off x="12096749" y="4876799"/>
            <a:ext cx="0" cy="1111250"/>
          </a:xfrm>
          <a:prstGeom prst="line">
            <a:avLst/>
          </a:prstGeom>
          <a:ln w="736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0" name="Freeform 1099"/>
          <p:cNvSpPr/>
          <p:nvPr/>
        </p:nvSpPr>
        <p:spPr>
          <a:xfrm>
            <a:off x="88900" y="1663700"/>
            <a:ext cx="171450" cy="914400"/>
          </a:xfrm>
          <a:custGeom>
            <a:avLst/>
            <a:gdLst/>
            <a:ahLst/>
            <a:cxnLst/>
            <a:rect l="l" t="t" r="r" b="b"/>
            <a:pathLst>
              <a:path w="27" h="144">
                <a:moveTo>
                  <a:pt x="20" y="0"/>
                </a:moveTo>
                <a:lnTo>
                  <a:pt x="0" y="0"/>
                </a:lnTo>
                <a:lnTo>
                  <a:pt x="0" y="144"/>
                </a:lnTo>
                <a:lnTo>
                  <a:pt x="27" y="144"/>
                </a:lnTo>
              </a:path>
            </a:pathLst>
          </a:custGeom>
          <a:noFill/>
          <a:ln w="6985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5727700" y="2520950"/>
            <a:ext cx="76200" cy="444500"/>
          </a:xfrm>
          <a:custGeom>
            <a:avLst/>
            <a:gdLst/>
            <a:ahLst/>
            <a:cxnLst/>
            <a:rect l="l" t="t" r="r" b="b"/>
            <a:pathLst>
              <a:path w="12" h="70">
                <a:moveTo>
                  <a:pt x="0" y="0"/>
                </a:moveTo>
                <a:lnTo>
                  <a:pt x="12" y="0"/>
                </a:lnTo>
                <a:lnTo>
                  <a:pt x="12" y="70"/>
                </a:lnTo>
                <a:lnTo>
                  <a:pt x="1" y="70"/>
                </a:lnTo>
              </a:path>
            </a:pathLst>
          </a:custGeom>
          <a:noFill/>
          <a:ln w="6985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10413999" y="1841500"/>
            <a:ext cx="838200" cy="431800"/>
          </a:xfrm>
          <a:custGeom>
            <a:avLst/>
            <a:gdLst/>
            <a:ahLst/>
            <a:cxnLst/>
            <a:rect l="l" t="t" r="r" b="b"/>
            <a:pathLst>
              <a:path w="132" h="68">
                <a:moveTo>
                  <a:pt x="0" y="0"/>
                </a:moveTo>
                <a:lnTo>
                  <a:pt x="0" y="31"/>
                </a:lnTo>
                <a:lnTo>
                  <a:pt x="132" y="31"/>
                </a:lnTo>
                <a:lnTo>
                  <a:pt x="132" y="68"/>
                </a:lnTo>
              </a:path>
            </a:pathLst>
          </a:custGeom>
          <a:noFill/>
          <a:ln w="6985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800099" y="6318249"/>
            <a:ext cx="43814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Stage 1: Universal Temporal Pretraining (UTP)</a:t>
            </a:r>
          </a:p>
        </p:txBody>
      </p:sp>
      <p:sp>
        <p:nvSpPr>
          <p:cNvPr id="1104" name="TextBox 1103"/>
          <p:cNvSpPr txBox="1"/>
          <p:nvPr/>
        </p:nvSpPr>
        <p:spPr>
          <a:xfrm>
            <a:off x="7073899" y="6318249"/>
            <a:ext cx="4394199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Stage 2: Spatio-Temporal Adaptation (STA)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Learning to Factorize Spatio-Temporal Foundat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559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