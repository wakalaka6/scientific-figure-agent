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71136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711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80" y="282044"/>
            <a:ext cx="12127898" cy="2865311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28575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62737" y="141022"/>
            <a:ext cx="5519091" cy="282044"/>
          </a:xfrm>
          <a:prstGeom prst="roundRect">
            <a:avLst>
              <a:gd name="adj" fmla="val 29545"/>
            </a:avLst>
          </a:prstGeom>
          <a:solidFill>
            <a:srgbClr val="AAB7C5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37097" y="108971"/>
            <a:ext cx="5519091" cy="282044"/>
          </a:xfrm>
          <a:prstGeom prst="roundRect">
            <a:avLst>
              <a:gd name="adj" fmla="val 29545"/>
            </a:avLst>
          </a:prstGeom>
          <a:solidFill>
            <a:srgbClr val="D7E7F8"/>
          </a:solidFill>
          <a:ln w="2381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37097" y="134611"/>
            <a:ext cx="5519091" cy="21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111111"/>
                </a:solidFill>
                <a:latin typeface="Liberation Serif"/>
              </a:defRPr>
            </a:pPr>
            <a:r>
              <a:t>(a) Infrared Degradation Processing</a:t>
            </a:r>
          </a:p>
        </p:txBody>
      </p:sp>
      <p:pic>
        <p:nvPicPr>
          <p:cNvPr id="7" name="Picture 6" descr="low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42" y="532037"/>
            <a:ext cx="1384580" cy="1153816"/>
          </a:xfrm>
          <a:prstGeom prst="rect">
            <a:avLst/>
          </a:prstGeom>
        </p:spPr>
      </p:pic>
      <p:pic>
        <p:nvPicPr>
          <p:cNvPr id="8" name="Picture 7" descr="low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536" y="493577"/>
            <a:ext cx="2756340" cy="1185867"/>
          </a:xfrm>
          <a:prstGeom prst="rect">
            <a:avLst/>
          </a:prstGeom>
        </p:spPr>
      </p:pic>
      <p:pic>
        <p:nvPicPr>
          <p:cNvPr id="9" name="Picture 8" descr="blur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42" y="1884567"/>
            <a:ext cx="1384580" cy="1160226"/>
          </a:xfrm>
          <a:prstGeom prst="rect">
            <a:avLst/>
          </a:prstGeom>
        </p:spPr>
      </p:pic>
      <p:pic>
        <p:nvPicPr>
          <p:cNvPr id="10" name="Picture 9" descr="blur_out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4536" y="1814056"/>
            <a:ext cx="2756340" cy="1198687"/>
          </a:xfrm>
          <a:prstGeom prst="rect">
            <a:avLst/>
          </a:prstGeom>
        </p:spPr>
      </p:pic>
      <p:pic>
        <p:nvPicPr>
          <p:cNvPr id="11" name="Picture 10" descr="noise_inp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308" y="557678"/>
            <a:ext cx="1390990" cy="1173047"/>
          </a:xfrm>
          <a:prstGeom prst="rect">
            <a:avLst/>
          </a:prstGeom>
        </p:spPr>
      </p:pic>
      <p:pic>
        <p:nvPicPr>
          <p:cNvPr id="12" name="Picture 11" descr="noise_outpu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5406" y="467936"/>
            <a:ext cx="2794801" cy="1224327"/>
          </a:xfrm>
          <a:prstGeom prst="rect">
            <a:avLst/>
          </a:prstGeom>
        </p:spPr>
      </p:pic>
      <p:pic>
        <p:nvPicPr>
          <p:cNvPr id="13" name="Picture 12" descr="mix_inp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4718" y="1865337"/>
            <a:ext cx="1384580" cy="1173047"/>
          </a:xfrm>
          <a:prstGeom prst="rect">
            <a:avLst/>
          </a:prstGeom>
        </p:spPr>
      </p:pic>
      <p:pic>
        <p:nvPicPr>
          <p:cNvPr id="14" name="Picture 13" descr="mix_outpu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5406" y="1814056"/>
            <a:ext cx="2794801" cy="1198687"/>
          </a:xfrm>
          <a:prstGeom prst="rect">
            <a:avLst/>
          </a:prstGeom>
        </p:spPr>
      </p:pic>
      <p:sp>
        <p:nvSpPr>
          <p:cNvPr id="15" name="Freeform 14"/>
          <p:cNvSpPr/>
          <p:nvPr/>
        </p:nvSpPr>
        <p:spPr>
          <a:xfrm>
            <a:off x="1583293" y="487167"/>
            <a:ext cx="1474322" cy="410246"/>
          </a:xfrm>
          <a:custGeom>
            <a:avLst/>
            <a:gdLst/>
            <a:ahLst/>
            <a:cxnLst/>
            <a:rect l="l" t="t" r="r" b="b"/>
            <a:pathLst>
              <a:path w="230" h="64">
                <a:moveTo>
                  <a:pt x="0" y="10"/>
                </a:moveTo>
                <a:lnTo>
                  <a:pt x="195" y="10"/>
                </a:lnTo>
                <a:lnTo>
                  <a:pt x="195" y="0"/>
                </a:lnTo>
                <a:lnTo>
                  <a:pt x="230" y="32"/>
                </a:lnTo>
                <a:lnTo>
                  <a:pt x="195" y="64"/>
                </a:lnTo>
                <a:lnTo>
                  <a:pt x="195" y="54"/>
                </a:lnTo>
                <a:lnTo>
                  <a:pt x="0" y="54"/>
                </a:lnTo>
                <a:lnTo>
                  <a:pt x="15" y="32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D1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34574" y="570498"/>
            <a:ext cx="1249968" cy="243584"/>
          </a:xfrm>
          <a:custGeom>
            <a:avLst/>
            <a:gdLst/>
            <a:ahLst/>
            <a:cxnLst/>
            <a:rect l="l" t="t" r="r" b="b"/>
            <a:pathLst>
              <a:path w="195" h="38">
                <a:moveTo>
                  <a:pt x="0" y="0"/>
                </a:moveTo>
                <a:lnTo>
                  <a:pt x="180" y="0"/>
                </a:lnTo>
                <a:lnTo>
                  <a:pt x="195" y="19"/>
                </a:lnTo>
                <a:lnTo>
                  <a:pt x="180" y="38"/>
                </a:lnTo>
                <a:lnTo>
                  <a:pt x="0" y="38"/>
                </a:lnTo>
                <a:lnTo>
                  <a:pt x="15" y="19"/>
                </a:lnTo>
                <a:close/>
              </a:path>
            </a:pathLst>
          </a:custGeom>
          <a:solidFill>
            <a:srgbClr val="D7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60214" y="538447"/>
            <a:ext cx="1205097" cy="3076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8" b="1" i="1">
                <a:solidFill>
                  <a:srgbClr val="111111"/>
                </a:solidFill>
                <a:latin typeface="Liberation Serif"/>
              </a:defRPr>
            </a:pPr>
            <a:r>
              <a:t>Low Contrast</a:t>
            </a:r>
          </a:p>
        </p:txBody>
      </p:sp>
      <p:sp>
        <p:nvSpPr>
          <p:cNvPr id="18" name="Freeform 17"/>
          <p:cNvSpPr/>
          <p:nvPr/>
        </p:nvSpPr>
        <p:spPr>
          <a:xfrm>
            <a:off x="1519192" y="1858927"/>
            <a:ext cx="1487142" cy="410246"/>
          </a:xfrm>
          <a:custGeom>
            <a:avLst/>
            <a:gdLst/>
            <a:ahLst/>
            <a:cxnLst/>
            <a:rect l="l" t="t" r="r" b="b"/>
            <a:pathLst>
              <a:path w="232" h="64">
                <a:moveTo>
                  <a:pt x="0" y="10"/>
                </a:moveTo>
                <a:lnTo>
                  <a:pt x="197" y="10"/>
                </a:lnTo>
                <a:lnTo>
                  <a:pt x="197" y="0"/>
                </a:lnTo>
                <a:lnTo>
                  <a:pt x="232" y="32"/>
                </a:lnTo>
                <a:lnTo>
                  <a:pt x="197" y="64"/>
                </a:lnTo>
                <a:lnTo>
                  <a:pt x="197" y="54"/>
                </a:lnTo>
                <a:lnTo>
                  <a:pt x="0" y="54"/>
                </a:lnTo>
                <a:lnTo>
                  <a:pt x="15" y="32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D1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570473" y="1942258"/>
            <a:ext cx="1262789" cy="243584"/>
          </a:xfrm>
          <a:custGeom>
            <a:avLst/>
            <a:gdLst/>
            <a:ahLst/>
            <a:cxnLst/>
            <a:rect l="l" t="t" r="r" b="b"/>
            <a:pathLst>
              <a:path w="197" h="38">
                <a:moveTo>
                  <a:pt x="0" y="0"/>
                </a:moveTo>
                <a:lnTo>
                  <a:pt x="182" y="0"/>
                </a:lnTo>
                <a:lnTo>
                  <a:pt x="197" y="19"/>
                </a:lnTo>
                <a:lnTo>
                  <a:pt x="182" y="38"/>
                </a:lnTo>
                <a:lnTo>
                  <a:pt x="0" y="38"/>
                </a:lnTo>
                <a:lnTo>
                  <a:pt x="15" y="19"/>
                </a:lnTo>
                <a:close/>
              </a:path>
            </a:pathLst>
          </a:custGeom>
          <a:solidFill>
            <a:srgbClr val="F7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96113" y="1910207"/>
            <a:ext cx="1217917" cy="3076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8" b="1" i="1">
                <a:solidFill>
                  <a:srgbClr val="111111"/>
                </a:solidFill>
                <a:latin typeface="Liberation Serif"/>
              </a:defRPr>
            </a:pPr>
            <a:r>
              <a:t>Blur</a:t>
            </a:r>
          </a:p>
        </p:txBody>
      </p:sp>
      <p:sp>
        <p:nvSpPr>
          <p:cNvPr id="21" name="Freeform 20"/>
          <p:cNvSpPr/>
          <p:nvPr/>
        </p:nvSpPr>
        <p:spPr>
          <a:xfrm>
            <a:off x="7595962" y="499987"/>
            <a:ext cx="1532012" cy="410246"/>
          </a:xfrm>
          <a:custGeom>
            <a:avLst/>
            <a:gdLst/>
            <a:ahLst/>
            <a:cxnLst/>
            <a:rect l="l" t="t" r="r" b="b"/>
            <a:pathLst>
              <a:path w="239" h="64">
                <a:moveTo>
                  <a:pt x="0" y="10"/>
                </a:moveTo>
                <a:lnTo>
                  <a:pt x="204" y="10"/>
                </a:lnTo>
                <a:lnTo>
                  <a:pt x="204" y="0"/>
                </a:lnTo>
                <a:lnTo>
                  <a:pt x="239" y="32"/>
                </a:lnTo>
                <a:lnTo>
                  <a:pt x="204" y="64"/>
                </a:lnTo>
                <a:lnTo>
                  <a:pt x="204" y="54"/>
                </a:lnTo>
                <a:lnTo>
                  <a:pt x="0" y="54"/>
                </a:lnTo>
                <a:lnTo>
                  <a:pt x="15" y="32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D1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647242" y="583319"/>
            <a:ext cx="1307659" cy="243584"/>
          </a:xfrm>
          <a:custGeom>
            <a:avLst/>
            <a:gdLst/>
            <a:ahLst/>
            <a:cxnLst/>
            <a:rect l="l" t="t" r="r" b="b"/>
            <a:pathLst>
              <a:path w="204" h="38">
                <a:moveTo>
                  <a:pt x="0" y="0"/>
                </a:moveTo>
                <a:lnTo>
                  <a:pt x="189" y="0"/>
                </a:lnTo>
                <a:lnTo>
                  <a:pt x="204" y="19"/>
                </a:lnTo>
                <a:lnTo>
                  <a:pt x="189" y="38"/>
                </a:lnTo>
                <a:lnTo>
                  <a:pt x="0" y="38"/>
                </a:lnTo>
                <a:lnTo>
                  <a:pt x="15" y="19"/>
                </a:lnTo>
                <a:close/>
              </a:path>
            </a:pathLst>
          </a:custGeom>
          <a:solidFill>
            <a:srgbClr val="FFF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2882" y="551268"/>
            <a:ext cx="1262788" cy="3076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8" b="1" i="1">
                <a:solidFill>
                  <a:srgbClr val="111111"/>
                </a:solidFill>
                <a:latin typeface="Liberation Serif"/>
              </a:defRPr>
            </a:pPr>
            <a:r>
              <a:t>Noise</a:t>
            </a:r>
          </a:p>
        </p:txBody>
      </p:sp>
      <p:sp>
        <p:nvSpPr>
          <p:cNvPr id="24" name="Freeform 23"/>
          <p:cNvSpPr/>
          <p:nvPr/>
        </p:nvSpPr>
        <p:spPr>
          <a:xfrm>
            <a:off x="7595962" y="1871747"/>
            <a:ext cx="1544833" cy="410246"/>
          </a:xfrm>
          <a:custGeom>
            <a:avLst/>
            <a:gdLst/>
            <a:ahLst/>
            <a:cxnLst/>
            <a:rect l="l" t="t" r="r" b="b"/>
            <a:pathLst>
              <a:path w="241" h="64">
                <a:moveTo>
                  <a:pt x="0" y="10"/>
                </a:moveTo>
                <a:lnTo>
                  <a:pt x="206" y="10"/>
                </a:lnTo>
                <a:lnTo>
                  <a:pt x="206" y="0"/>
                </a:lnTo>
                <a:lnTo>
                  <a:pt x="241" y="32"/>
                </a:lnTo>
                <a:lnTo>
                  <a:pt x="206" y="64"/>
                </a:lnTo>
                <a:lnTo>
                  <a:pt x="206" y="54"/>
                </a:lnTo>
                <a:lnTo>
                  <a:pt x="0" y="54"/>
                </a:lnTo>
                <a:lnTo>
                  <a:pt x="15" y="32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D1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647242" y="1955079"/>
            <a:ext cx="1320479" cy="243584"/>
          </a:xfrm>
          <a:custGeom>
            <a:avLst/>
            <a:gdLst/>
            <a:ahLst/>
            <a:cxnLst/>
            <a:rect l="l" t="t" r="r" b="b"/>
            <a:pathLst>
              <a:path w="206" h="38">
                <a:moveTo>
                  <a:pt x="0" y="0"/>
                </a:moveTo>
                <a:lnTo>
                  <a:pt x="191" y="0"/>
                </a:lnTo>
                <a:lnTo>
                  <a:pt x="206" y="19"/>
                </a:lnTo>
                <a:lnTo>
                  <a:pt x="191" y="38"/>
                </a:lnTo>
                <a:lnTo>
                  <a:pt x="0" y="38"/>
                </a:lnTo>
                <a:lnTo>
                  <a:pt x="15" y="19"/>
                </a:lnTo>
                <a:close/>
              </a:path>
            </a:pathLst>
          </a:cu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2882" y="1923028"/>
            <a:ext cx="1275608" cy="3076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8" b="1" i="1">
                <a:solidFill>
                  <a:srgbClr val="111111"/>
                </a:solidFill>
                <a:latin typeface="Liberation Serif"/>
              </a:defRPr>
            </a:pPr>
            <a:r>
              <a:t>Mixture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96113" y="935873"/>
            <a:ext cx="1461501" cy="660239"/>
          </a:xfrm>
          <a:prstGeom prst="roundRect">
            <a:avLst>
              <a:gd name="adj" fmla="val 4854"/>
            </a:avLst>
          </a:prstGeom>
          <a:solidFill>
            <a:srgbClr val="777777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564062" y="897413"/>
            <a:ext cx="1461501" cy="660239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1429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79444" y="1012794"/>
            <a:ext cx="525627" cy="37819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810851" y="1038435"/>
            <a:ext cx="0" cy="320504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942258" y="1038435"/>
            <a:ext cx="0" cy="320504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73665" y="1038435"/>
            <a:ext cx="0" cy="320504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705085" y="1138859"/>
            <a:ext cx="480757" cy="0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05085" y="1264925"/>
            <a:ext cx="480757" cy="0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1705085" y="1051255"/>
            <a:ext cx="474347" cy="301274"/>
          </a:xfrm>
          <a:custGeom>
            <a:avLst/>
            <a:gdLst/>
            <a:ahLst/>
            <a:cxnLst/>
            <a:rect l="l" t="t" r="r" b="b"/>
            <a:pathLst>
              <a:path w="74" h="47">
                <a:moveTo>
                  <a:pt x="0" y="47"/>
                </a:moveTo>
                <a:lnTo>
                  <a:pt x="0" y="47"/>
                </a:lnTo>
                <a:lnTo>
                  <a:pt x="2" y="47"/>
                </a:lnTo>
                <a:lnTo>
                  <a:pt x="4" y="47"/>
                </a:lnTo>
                <a:lnTo>
                  <a:pt x="7" y="47"/>
                </a:lnTo>
                <a:lnTo>
                  <a:pt x="9" y="47"/>
                </a:lnTo>
                <a:lnTo>
                  <a:pt x="11" y="47"/>
                </a:lnTo>
                <a:lnTo>
                  <a:pt x="13" y="47"/>
                </a:lnTo>
                <a:lnTo>
                  <a:pt x="16" y="45"/>
                </a:lnTo>
                <a:lnTo>
                  <a:pt x="18" y="38"/>
                </a:lnTo>
                <a:lnTo>
                  <a:pt x="20" y="25"/>
                </a:lnTo>
                <a:lnTo>
                  <a:pt x="22" y="8"/>
                </a:lnTo>
                <a:lnTo>
                  <a:pt x="25" y="0"/>
                </a:lnTo>
                <a:lnTo>
                  <a:pt x="27" y="8"/>
                </a:lnTo>
                <a:lnTo>
                  <a:pt x="29" y="24"/>
                </a:lnTo>
                <a:lnTo>
                  <a:pt x="31" y="38"/>
                </a:lnTo>
                <a:lnTo>
                  <a:pt x="34" y="44"/>
                </a:lnTo>
                <a:lnTo>
                  <a:pt x="36" y="47"/>
                </a:lnTo>
                <a:lnTo>
                  <a:pt x="38" y="47"/>
                </a:lnTo>
                <a:lnTo>
                  <a:pt x="40" y="47"/>
                </a:lnTo>
                <a:lnTo>
                  <a:pt x="43" y="47"/>
                </a:lnTo>
                <a:lnTo>
                  <a:pt x="45" y="47"/>
                </a:lnTo>
                <a:lnTo>
                  <a:pt x="47" y="47"/>
                </a:lnTo>
                <a:lnTo>
                  <a:pt x="49" y="47"/>
                </a:lnTo>
                <a:lnTo>
                  <a:pt x="52" y="47"/>
                </a:lnTo>
                <a:lnTo>
                  <a:pt x="54" y="47"/>
                </a:lnTo>
                <a:lnTo>
                  <a:pt x="56" y="47"/>
                </a:lnTo>
                <a:lnTo>
                  <a:pt x="58" y="47"/>
                </a:lnTo>
                <a:lnTo>
                  <a:pt x="61" y="47"/>
                </a:lnTo>
                <a:lnTo>
                  <a:pt x="63" y="47"/>
                </a:lnTo>
                <a:lnTo>
                  <a:pt x="65" y="47"/>
                </a:lnTo>
                <a:lnTo>
                  <a:pt x="67" y="47"/>
                </a:lnTo>
                <a:lnTo>
                  <a:pt x="70" y="47"/>
                </a:lnTo>
                <a:lnTo>
                  <a:pt x="72" y="47"/>
                </a:lnTo>
                <a:lnTo>
                  <a:pt x="74" y="47"/>
                </a:lnTo>
                <a:lnTo>
                  <a:pt x="74" y="47"/>
                </a:lnTo>
                <a:close/>
              </a:path>
            </a:pathLst>
          </a:custGeom>
          <a:solidFill>
            <a:srgbClr val="5C9AC5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705085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19459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733833" y="1352527"/>
            <a:ext cx="14374" cy="2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748207" y="1352495"/>
            <a:ext cx="14374" cy="32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762581" y="1352151"/>
            <a:ext cx="14374" cy="34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776955" y="1349631"/>
            <a:ext cx="14374" cy="252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791329" y="1337172"/>
            <a:ext cx="14375" cy="12459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805704" y="1296288"/>
            <a:ext cx="14374" cy="4088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820078" y="1210164"/>
            <a:ext cx="14374" cy="8612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834452" y="1103433"/>
            <a:ext cx="14374" cy="106731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848826" y="1051267"/>
            <a:ext cx="14374" cy="52166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863200" y="1051267"/>
            <a:ext cx="14374" cy="49416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877574" y="1100683"/>
            <a:ext cx="14374" cy="10632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891948" y="1207003"/>
            <a:ext cx="14375" cy="87402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906323" y="1294405"/>
            <a:ext cx="14374" cy="4207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920697" y="1336482"/>
            <a:ext cx="14374" cy="12985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935071" y="1349467"/>
            <a:ext cx="14374" cy="2658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949445" y="1352125"/>
            <a:ext cx="14374" cy="36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963819" y="1352492"/>
            <a:ext cx="14374" cy="35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78193" y="1352527"/>
            <a:ext cx="14375" cy="2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92568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006942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021316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35690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50064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64438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78812" y="1352529"/>
            <a:ext cx="14375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93187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107561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121935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136309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150683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165057" y="1352529"/>
            <a:ext cx="14374" cy="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705085" y="1352529"/>
            <a:ext cx="480757" cy="0"/>
          </a:xfrm>
          <a:prstGeom prst="line">
            <a:avLst/>
          </a:prstGeom>
          <a:ln w="76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224302" y="1198687"/>
            <a:ext cx="185893" cy="0"/>
          </a:xfrm>
          <a:prstGeom prst="line">
            <a:avLst/>
          </a:prstGeom>
          <a:ln w="38100">
            <a:solidFill>
              <a:srgbClr val="D1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2416605" y="1012794"/>
            <a:ext cx="525627" cy="37819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2548012" y="1038435"/>
            <a:ext cx="0" cy="320504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679419" y="1038435"/>
            <a:ext cx="0" cy="320504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810826" y="1038435"/>
            <a:ext cx="0" cy="320504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442245" y="1138859"/>
            <a:ext cx="480757" cy="0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442245" y="1264925"/>
            <a:ext cx="480757" cy="0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2442246" y="1051255"/>
            <a:ext cx="474347" cy="301274"/>
          </a:xfrm>
          <a:custGeom>
            <a:avLst/>
            <a:gdLst/>
            <a:ahLst/>
            <a:cxnLst/>
            <a:rect l="l" t="t" r="r" b="b"/>
            <a:pathLst>
              <a:path w="74" h="47">
                <a:moveTo>
                  <a:pt x="0" y="47"/>
                </a:moveTo>
                <a:lnTo>
                  <a:pt x="0" y="47"/>
                </a:lnTo>
                <a:lnTo>
                  <a:pt x="2" y="47"/>
                </a:lnTo>
                <a:lnTo>
                  <a:pt x="4" y="47"/>
                </a:lnTo>
                <a:lnTo>
                  <a:pt x="7" y="47"/>
                </a:lnTo>
                <a:lnTo>
                  <a:pt x="9" y="46"/>
                </a:lnTo>
                <a:lnTo>
                  <a:pt x="11" y="46"/>
                </a:lnTo>
                <a:lnTo>
                  <a:pt x="13" y="45"/>
                </a:lnTo>
                <a:lnTo>
                  <a:pt x="16" y="44"/>
                </a:lnTo>
                <a:lnTo>
                  <a:pt x="18" y="43"/>
                </a:lnTo>
                <a:lnTo>
                  <a:pt x="20" y="40"/>
                </a:lnTo>
                <a:lnTo>
                  <a:pt x="22" y="37"/>
                </a:lnTo>
                <a:lnTo>
                  <a:pt x="25" y="33"/>
                </a:lnTo>
                <a:lnTo>
                  <a:pt x="27" y="28"/>
                </a:lnTo>
                <a:lnTo>
                  <a:pt x="29" y="22"/>
                </a:lnTo>
                <a:lnTo>
                  <a:pt x="31" y="16"/>
                </a:lnTo>
                <a:lnTo>
                  <a:pt x="34" y="10"/>
                </a:lnTo>
                <a:lnTo>
                  <a:pt x="36" y="5"/>
                </a:lnTo>
                <a:lnTo>
                  <a:pt x="38" y="2"/>
                </a:lnTo>
                <a:lnTo>
                  <a:pt x="40" y="0"/>
                </a:lnTo>
                <a:lnTo>
                  <a:pt x="43" y="0"/>
                </a:lnTo>
                <a:lnTo>
                  <a:pt x="45" y="3"/>
                </a:lnTo>
                <a:lnTo>
                  <a:pt x="47" y="7"/>
                </a:lnTo>
                <a:lnTo>
                  <a:pt x="49" y="12"/>
                </a:lnTo>
                <a:lnTo>
                  <a:pt x="52" y="18"/>
                </a:lnTo>
                <a:lnTo>
                  <a:pt x="54" y="24"/>
                </a:lnTo>
                <a:lnTo>
                  <a:pt x="56" y="29"/>
                </a:lnTo>
                <a:lnTo>
                  <a:pt x="58" y="34"/>
                </a:lnTo>
                <a:lnTo>
                  <a:pt x="61" y="38"/>
                </a:lnTo>
                <a:lnTo>
                  <a:pt x="63" y="41"/>
                </a:lnTo>
                <a:lnTo>
                  <a:pt x="65" y="43"/>
                </a:lnTo>
                <a:lnTo>
                  <a:pt x="67" y="45"/>
                </a:lnTo>
                <a:lnTo>
                  <a:pt x="70" y="46"/>
                </a:lnTo>
                <a:lnTo>
                  <a:pt x="72" y="46"/>
                </a:lnTo>
                <a:lnTo>
                  <a:pt x="74" y="47"/>
                </a:lnTo>
                <a:lnTo>
                  <a:pt x="74" y="47"/>
                </a:lnTo>
                <a:close/>
              </a:path>
            </a:pathLst>
          </a:custGeom>
          <a:solidFill>
            <a:srgbClr val="5C9AC5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2442245" y="1352137"/>
            <a:ext cx="14375" cy="21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456620" y="1351703"/>
            <a:ext cx="14374" cy="43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470994" y="1350865"/>
            <a:ext cx="14374" cy="838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485368" y="1349321"/>
            <a:ext cx="14374" cy="154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499742" y="1346614"/>
            <a:ext cx="14374" cy="270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514116" y="1342094"/>
            <a:ext cx="14374" cy="452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528490" y="1334917"/>
            <a:ext cx="14374" cy="717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542864" y="1324090"/>
            <a:ext cx="14375" cy="1082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557239" y="1308595"/>
            <a:ext cx="14374" cy="15495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571613" y="1287596"/>
            <a:ext cx="14374" cy="20999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585987" y="1260714"/>
            <a:ext cx="14374" cy="26882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600361" y="1228324"/>
            <a:ext cx="14374" cy="3239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614735" y="1191780"/>
            <a:ext cx="14374" cy="3654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629109" y="1153489"/>
            <a:ext cx="14374" cy="38291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643483" y="1116746"/>
            <a:ext cx="14375" cy="36743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657858" y="1085309"/>
            <a:ext cx="14374" cy="3143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672232" y="1062791"/>
            <a:ext cx="14374" cy="22518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686606" y="1051973"/>
            <a:ext cx="14374" cy="10818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700980" y="1051973"/>
            <a:ext cx="14374" cy="227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715354" y="1054247"/>
            <a:ext cx="14374" cy="1507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729728" y="1069317"/>
            <a:ext cx="14375" cy="25949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744103" y="1095266"/>
            <a:ext cx="14374" cy="3368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758477" y="1128953"/>
            <a:ext cx="14374" cy="37686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772851" y="1166639"/>
            <a:ext cx="14374" cy="3802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787225" y="1204663"/>
            <a:ext cx="14374" cy="35338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801599" y="1240001"/>
            <a:ext cx="14374" cy="30599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815973" y="1270600"/>
            <a:ext cx="14374" cy="2486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830347" y="1295460"/>
            <a:ext cx="14375" cy="19038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844722" y="1314498"/>
            <a:ext cx="14374" cy="1378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859096" y="1328282"/>
            <a:ext cx="14374" cy="945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873470" y="1337739"/>
            <a:ext cx="14374" cy="6159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887844" y="1343898"/>
            <a:ext cx="14374" cy="3813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902218" y="1347711"/>
            <a:ext cx="14374" cy="224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442245" y="1352529"/>
            <a:ext cx="480757" cy="0"/>
          </a:xfrm>
          <a:prstGeom prst="line">
            <a:avLst/>
          </a:prstGeom>
          <a:ln w="76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602523" y="1403810"/>
            <a:ext cx="1384580" cy="1410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1">
                <a:solidFill>
                  <a:srgbClr val="111111"/>
                </a:solidFill>
                <a:latin typeface="Liberation Serif"/>
              </a:defRPr>
            </a:pPr>
            <a:r>
              <a:t>Contrast Degradation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596113" y="2307633"/>
            <a:ext cx="1467911" cy="666649"/>
          </a:xfrm>
          <a:prstGeom prst="roundRect">
            <a:avLst>
              <a:gd name="adj" fmla="val 4807"/>
            </a:avLst>
          </a:prstGeom>
          <a:solidFill>
            <a:srgbClr val="777777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564062" y="2269173"/>
            <a:ext cx="1467911" cy="666649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11429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621753" y="2384554"/>
            <a:ext cx="429476" cy="301274"/>
          </a:xfrm>
          <a:prstGeom prst="rect">
            <a:avLst/>
          </a:prstGeom>
          <a:solidFill>
            <a:srgbClr val="FFFFFF"/>
          </a:solidFill>
          <a:ln w="6667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653804" y="2467886"/>
            <a:ext cx="339735" cy="0"/>
          </a:xfrm>
          <a:custGeom>
            <a:avLst/>
            <a:gdLst/>
            <a:ahLst/>
            <a:cxnLst/>
            <a:rect l="l" t="t" r="r" b="b"/>
            <a:pathLst>
              <a:path w="53" h="0">
                <a:moveTo>
                  <a:pt x="4" y="0"/>
                </a:moveTo>
                <a:lnTo>
                  <a:pt x="53" y="0"/>
                </a:lnTo>
                <a:lnTo>
                  <a:pt x="45" y="0"/>
                </a:lnTo>
                <a:lnTo>
                  <a:pt x="0" y="0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1666624" y="2461476"/>
            <a:ext cx="320505" cy="32050"/>
          </a:xfrm>
          <a:custGeom>
            <a:avLst/>
            <a:gdLst/>
            <a:ahLst/>
            <a:cxnLst/>
            <a:rect l="l" t="t" r="r" b="b"/>
            <a:pathLst>
              <a:path w="50" h="5">
                <a:moveTo>
                  <a:pt x="4" y="5"/>
                </a:moveTo>
                <a:lnTo>
                  <a:pt x="50" y="4"/>
                </a:lnTo>
                <a:lnTo>
                  <a:pt x="42" y="0"/>
                </a:lnTo>
                <a:lnTo>
                  <a:pt x="0" y="2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679445" y="2461476"/>
            <a:ext cx="301274" cy="57691"/>
          </a:xfrm>
          <a:custGeom>
            <a:avLst/>
            <a:gdLst/>
            <a:ahLst/>
            <a:cxnLst/>
            <a:rect l="l" t="t" r="r" b="b"/>
            <a:pathLst>
              <a:path w="47" h="9">
                <a:moveTo>
                  <a:pt x="4" y="9"/>
                </a:moveTo>
                <a:lnTo>
                  <a:pt x="47" y="7"/>
                </a:lnTo>
                <a:lnTo>
                  <a:pt x="39" y="0"/>
                </a:lnTo>
                <a:lnTo>
                  <a:pt x="0" y="3"/>
                </a:lnTo>
                <a:close/>
              </a:path>
            </a:pathLst>
          </a:custGeom>
          <a:solidFill>
            <a:srgbClr val="2575D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692265" y="2467886"/>
            <a:ext cx="282044" cy="70511"/>
          </a:xfrm>
          <a:custGeom>
            <a:avLst/>
            <a:gdLst/>
            <a:ahLst/>
            <a:cxnLst/>
            <a:rect l="l" t="t" r="r" b="b"/>
            <a:pathLst>
              <a:path w="44" h="11">
                <a:moveTo>
                  <a:pt x="4" y="11"/>
                </a:moveTo>
                <a:lnTo>
                  <a:pt x="44" y="10"/>
                </a:lnTo>
                <a:lnTo>
                  <a:pt x="36" y="0"/>
                </a:lnTo>
                <a:lnTo>
                  <a:pt x="0" y="4"/>
                </a:lnTo>
                <a:close/>
              </a:path>
            </a:pathLst>
          </a:custGeom>
          <a:solidFill>
            <a:srgbClr val="1DB2D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698675" y="2493526"/>
            <a:ext cx="275634" cy="70511"/>
          </a:xfrm>
          <a:custGeom>
            <a:avLst/>
            <a:gdLst/>
            <a:ahLst/>
            <a:cxnLst/>
            <a:rect l="l" t="t" r="r" b="b"/>
            <a:pathLst>
              <a:path w="43" h="11">
                <a:moveTo>
                  <a:pt x="4" y="11"/>
                </a:moveTo>
                <a:lnTo>
                  <a:pt x="43" y="9"/>
                </a:lnTo>
                <a:lnTo>
                  <a:pt x="35" y="0"/>
                </a:lnTo>
                <a:lnTo>
                  <a:pt x="0" y="4"/>
                </a:lnTo>
                <a:close/>
              </a:path>
            </a:pathLst>
          </a:custGeom>
          <a:solidFill>
            <a:srgbClr val="43D77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1711495" y="2531987"/>
            <a:ext cx="256404" cy="57691"/>
          </a:xfrm>
          <a:custGeom>
            <a:avLst/>
            <a:gdLst/>
            <a:ahLst/>
            <a:cxnLst/>
            <a:rect l="l" t="t" r="r" b="b"/>
            <a:pathLst>
              <a:path w="40" h="9">
                <a:moveTo>
                  <a:pt x="4" y="9"/>
                </a:moveTo>
                <a:lnTo>
                  <a:pt x="40" y="7"/>
                </a:lnTo>
                <a:lnTo>
                  <a:pt x="32" y="0"/>
                </a:lnTo>
                <a:lnTo>
                  <a:pt x="0" y="3"/>
                </a:lnTo>
                <a:close/>
              </a:path>
            </a:pathLst>
          </a:custGeom>
          <a:solidFill>
            <a:srgbClr val="C9DF37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1724315" y="2576858"/>
            <a:ext cx="237173" cy="32050"/>
          </a:xfrm>
          <a:custGeom>
            <a:avLst/>
            <a:gdLst/>
            <a:ahLst/>
            <a:cxnLst/>
            <a:rect l="l" t="t" r="r" b="b"/>
            <a:pathLst>
              <a:path w="37" h="5">
                <a:moveTo>
                  <a:pt x="4" y="5"/>
                </a:moveTo>
                <a:lnTo>
                  <a:pt x="37" y="5"/>
                </a:lnTo>
                <a:lnTo>
                  <a:pt x="29" y="0"/>
                </a:lnTo>
                <a:lnTo>
                  <a:pt x="0" y="2"/>
                </a:lnTo>
                <a:close/>
              </a:path>
            </a:pathLst>
          </a:custGeom>
          <a:solidFill>
            <a:srgbClr val="F0A82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730725" y="2634548"/>
            <a:ext cx="224353" cy="0"/>
          </a:xfrm>
          <a:custGeom>
            <a:avLst/>
            <a:gdLst/>
            <a:ahLst/>
            <a:cxnLst/>
            <a:rect l="l" t="t" r="r" b="b"/>
            <a:pathLst>
              <a:path w="35" h="0">
                <a:moveTo>
                  <a:pt x="4" y="0"/>
                </a:moveTo>
                <a:lnTo>
                  <a:pt x="35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4571D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1673290" y="2631599"/>
            <a:ext cx="317813" cy="0"/>
          </a:xfrm>
          <a:prstGeom prst="line">
            <a:avLst/>
          </a:prstGeom>
          <a:ln w="5714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621753" y="2314043"/>
            <a:ext cx="429476" cy="897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92" b="1" i="1">
                <a:solidFill>
                  <a:srgbClr val="111111"/>
                </a:solidFill>
                <a:latin typeface="Liberation Serif"/>
              </a:defRPr>
            </a:pPr>
            <a:r>
              <a:t>k = 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083280" y="2384554"/>
            <a:ext cx="429476" cy="301274"/>
          </a:xfrm>
          <a:prstGeom prst="rect">
            <a:avLst/>
          </a:prstGeom>
          <a:solidFill>
            <a:srgbClr val="FFFFFF"/>
          </a:solidFill>
          <a:ln w="6667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115331" y="2467886"/>
            <a:ext cx="339735" cy="0"/>
          </a:xfrm>
          <a:custGeom>
            <a:avLst/>
            <a:gdLst/>
            <a:ahLst/>
            <a:cxnLst/>
            <a:rect l="l" t="t" r="r" b="b"/>
            <a:pathLst>
              <a:path w="53" h="0">
                <a:moveTo>
                  <a:pt x="4" y="0"/>
                </a:moveTo>
                <a:lnTo>
                  <a:pt x="53" y="0"/>
                </a:lnTo>
                <a:lnTo>
                  <a:pt x="45" y="0"/>
                </a:lnTo>
                <a:lnTo>
                  <a:pt x="0" y="0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128151" y="2461476"/>
            <a:ext cx="320505" cy="32050"/>
          </a:xfrm>
          <a:custGeom>
            <a:avLst/>
            <a:gdLst/>
            <a:ahLst/>
            <a:cxnLst/>
            <a:rect l="l" t="t" r="r" b="b"/>
            <a:pathLst>
              <a:path w="50" h="5">
                <a:moveTo>
                  <a:pt x="4" y="5"/>
                </a:moveTo>
                <a:lnTo>
                  <a:pt x="50" y="4"/>
                </a:lnTo>
                <a:lnTo>
                  <a:pt x="42" y="0"/>
                </a:lnTo>
                <a:lnTo>
                  <a:pt x="0" y="2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140971" y="2461476"/>
            <a:ext cx="301274" cy="57691"/>
          </a:xfrm>
          <a:custGeom>
            <a:avLst/>
            <a:gdLst/>
            <a:ahLst/>
            <a:cxnLst/>
            <a:rect l="l" t="t" r="r" b="b"/>
            <a:pathLst>
              <a:path w="47" h="9">
                <a:moveTo>
                  <a:pt x="4" y="9"/>
                </a:moveTo>
                <a:lnTo>
                  <a:pt x="47" y="7"/>
                </a:lnTo>
                <a:lnTo>
                  <a:pt x="39" y="0"/>
                </a:lnTo>
                <a:lnTo>
                  <a:pt x="0" y="3"/>
                </a:lnTo>
                <a:close/>
              </a:path>
            </a:pathLst>
          </a:custGeom>
          <a:solidFill>
            <a:srgbClr val="2575D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153792" y="2467886"/>
            <a:ext cx="282044" cy="70511"/>
          </a:xfrm>
          <a:custGeom>
            <a:avLst/>
            <a:gdLst/>
            <a:ahLst/>
            <a:cxnLst/>
            <a:rect l="l" t="t" r="r" b="b"/>
            <a:pathLst>
              <a:path w="44" h="11">
                <a:moveTo>
                  <a:pt x="4" y="11"/>
                </a:moveTo>
                <a:lnTo>
                  <a:pt x="44" y="10"/>
                </a:lnTo>
                <a:lnTo>
                  <a:pt x="36" y="0"/>
                </a:lnTo>
                <a:lnTo>
                  <a:pt x="0" y="4"/>
                </a:lnTo>
                <a:close/>
              </a:path>
            </a:pathLst>
          </a:custGeom>
          <a:solidFill>
            <a:srgbClr val="1DB2D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160202" y="2493526"/>
            <a:ext cx="275634" cy="70511"/>
          </a:xfrm>
          <a:custGeom>
            <a:avLst/>
            <a:gdLst/>
            <a:ahLst/>
            <a:cxnLst/>
            <a:rect l="l" t="t" r="r" b="b"/>
            <a:pathLst>
              <a:path w="43" h="11">
                <a:moveTo>
                  <a:pt x="4" y="11"/>
                </a:moveTo>
                <a:lnTo>
                  <a:pt x="43" y="9"/>
                </a:lnTo>
                <a:lnTo>
                  <a:pt x="35" y="0"/>
                </a:lnTo>
                <a:lnTo>
                  <a:pt x="0" y="4"/>
                </a:lnTo>
                <a:close/>
              </a:path>
            </a:pathLst>
          </a:custGeom>
          <a:solidFill>
            <a:srgbClr val="43D77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2173022" y="2531987"/>
            <a:ext cx="256404" cy="57691"/>
          </a:xfrm>
          <a:custGeom>
            <a:avLst/>
            <a:gdLst/>
            <a:ahLst/>
            <a:cxnLst/>
            <a:rect l="l" t="t" r="r" b="b"/>
            <a:pathLst>
              <a:path w="40" h="9">
                <a:moveTo>
                  <a:pt x="4" y="9"/>
                </a:moveTo>
                <a:lnTo>
                  <a:pt x="40" y="7"/>
                </a:lnTo>
                <a:lnTo>
                  <a:pt x="32" y="0"/>
                </a:lnTo>
                <a:lnTo>
                  <a:pt x="0" y="3"/>
                </a:lnTo>
                <a:close/>
              </a:path>
            </a:pathLst>
          </a:custGeom>
          <a:solidFill>
            <a:srgbClr val="C9DF37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185842" y="2576858"/>
            <a:ext cx="237173" cy="32050"/>
          </a:xfrm>
          <a:custGeom>
            <a:avLst/>
            <a:gdLst/>
            <a:ahLst/>
            <a:cxnLst/>
            <a:rect l="l" t="t" r="r" b="b"/>
            <a:pathLst>
              <a:path w="37" h="5">
                <a:moveTo>
                  <a:pt x="4" y="5"/>
                </a:moveTo>
                <a:lnTo>
                  <a:pt x="37" y="5"/>
                </a:lnTo>
                <a:lnTo>
                  <a:pt x="29" y="0"/>
                </a:lnTo>
                <a:lnTo>
                  <a:pt x="0" y="2"/>
                </a:lnTo>
                <a:close/>
              </a:path>
            </a:pathLst>
          </a:custGeom>
          <a:solidFill>
            <a:srgbClr val="F0A82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2192252" y="2634548"/>
            <a:ext cx="224353" cy="0"/>
          </a:xfrm>
          <a:custGeom>
            <a:avLst/>
            <a:gdLst/>
            <a:ahLst/>
            <a:cxnLst/>
            <a:rect l="l" t="t" r="r" b="b"/>
            <a:pathLst>
              <a:path w="35" h="0">
                <a:moveTo>
                  <a:pt x="4" y="0"/>
                </a:moveTo>
                <a:lnTo>
                  <a:pt x="35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4571D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2134817" y="2631599"/>
            <a:ext cx="317813" cy="0"/>
          </a:xfrm>
          <a:prstGeom prst="line">
            <a:avLst/>
          </a:prstGeom>
          <a:ln w="5714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2083280" y="2314043"/>
            <a:ext cx="429476" cy="897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92" b="1" i="1">
                <a:solidFill>
                  <a:srgbClr val="111111"/>
                </a:solidFill>
                <a:latin typeface="Liberation Serif"/>
              </a:defRPr>
            </a:pPr>
            <a:r>
              <a:t>k = 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544807" y="2384554"/>
            <a:ext cx="429476" cy="301274"/>
          </a:xfrm>
          <a:prstGeom prst="rect">
            <a:avLst/>
          </a:prstGeom>
          <a:solidFill>
            <a:srgbClr val="FFFFFF"/>
          </a:solidFill>
          <a:ln w="6667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576858" y="2467886"/>
            <a:ext cx="339735" cy="0"/>
          </a:xfrm>
          <a:custGeom>
            <a:avLst/>
            <a:gdLst/>
            <a:ahLst/>
            <a:cxnLst/>
            <a:rect l="l" t="t" r="r" b="b"/>
            <a:pathLst>
              <a:path w="53" h="0">
                <a:moveTo>
                  <a:pt x="4" y="0"/>
                </a:moveTo>
                <a:lnTo>
                  <a:pt x="53" y="0"/>
                </a:lnTo>
                <a:lnTo>
                  <a:pt x="45" y="0"/>
                </a:lnTo>
                <a:lnTo>
                  <a:pt x="0" y="0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2589678" y="2461476"/>
            <a:ext cx="320505" cy="32050"/>
          </a:xfrm>
          <a:custGeom>
            <a:avLst/>
            <a:gdLst/>
            <a:ahLst/>
            <a:cxnLst/>
            <a:rect l="l" t="t" r="r" b="b"/>
            <a:pathLst>
              <a:path w="50" h="5">
                <a:moveTo>
                  <a:pt x="4" y="5"/>
                </a:moveTo>
                <a:lnTo>
                  <a:pt x="50" y="4"/>
                </a:lnTo>
                <a:lnTo>
                  <a:pt x="42" y="0"/>
                </a:lnTo>
                <a:lnTo>
                  <a:pt x="0" y="2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602498" y="2461476"/>
            <a:ext cx="301274" cy="57691"/>
          </a:xfrm>
          <a:custGeom>
            <a:avLst/>
            <a:gdLst/>
            <a:ahLst/>
            <a:cxnLst/>
            <a:rect l="l" t="t" r="r" b="b"/>
            <a:pathLst>
              <a:path w="47" h="9">
                <a:moveTo>
                  <a:pt x="4" y="9"/>
                </a:moveTo>
                <a:lnTo>
                  <a:pt x="47" y="7"/>
                </a:lnTo>
                <a:lnTo>
                  <a:pt x="39" y="0"/>
                </a:lnTo>
                <a:lnTo>
                  <a:pt x="0" y="3"/>
                </a:lnTo>
                <a:close/>
              </a:path>
            </a:pathLst>
          </a:custGeom>
          <a:solidFill>
            <a:srgbClr val="2575D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615318" y="2467886"/>
            <a:ext cx="282044" cy="70511"/>
          </a:xfrm>
          <a:custGeom>
            <a:avLst/>
            <a:gdLst/>
            <a:ahLst/>
            <a:cxnLst/>
            <a:rect l="l" t="t" r="r" b="b"/>
            <a:pathLst>
              <a:path w="44" h="11">
                <a:moveTo>
                  <a:pt x="4" y="11"/>
                </a:moveTo>
                <a:lnTo>
                  <a:pt x="44" y="10"/>
                </a:lnTo>
                <a:lnTo>
                  <a:pt x="36" y="0"/>
                </a:lnTo>
                <a:lnTo>
                  <a:pt x="0" y="4"/>
                </a:lnTo>
                <a:close/>
              </a:path>
            </a:pathLst>
          </a:custGeom>
          <a:solidFill>
            <a:srgbClr val="1DB2D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621728" y="2493526"/>
            <a:ext cx="275634" cy="70511"/>
          </a:xfrm>
          <a:custGeom>
            <a:avLst/>
            <a:gdLst/>
            <a:ahLst/>
            <a:cxnLst/>
            <a:rect l="l" t="t" r="r" b="b"/>
            <a:pathLst>
              <a:path w="43" h="11">
                <a:moveTo>
                  <a:pt x="4" y="11"/>
                </a:moveTo>
                <a:lnTo>
                  <a:pt x="43" y="9"/>
                </a:lnTo>
                <a:lnTo>
                  <a:pt x="35" y="0"/>
                </a:lnTo>
                <a:lnTo>
                  <a:pt x="0" y="4"/>
                </a:lnTo>
                <a:close/>
              </a:path>
            </a:pathLst>
          </a:custGeom>
          <a:solidFill>
            <a:srgbClr val="43D77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634549" y="2531987"/>
            <a:ext cx="256404" cy="57691"/>
          </a:xfrm>
          <a:custGeom>
            <a:avLst/>
            <a:gdLst/>
            <a:ahLst/>
            <a:cxnLst/>
            <a:rect l="l" t="t" r="r" b="b"/>
            <a:pathLst>
              <a:path w="40" h="9">
                <a:moveTo>
                  <a:pt x="4" y="9"/>
                </a:moveTo>
                <a:lnTo>
                  <a:pt x="40" y="7"/>
                </a:lnTo>
                <a:lnTo>
                  <a:pt x="32" y="0"/>
                </a:lnTo>
                <a:lnTo>
                  <a:pt x="0" y="3"/>
                </a:lnTo>
                <a:close/>
              </a:path>
            </a:pathLst>
          </a:custGeom>
          <a:solidFill>
            <a:srgbClr val="C9DF37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2647369" y="2576858"/>
            <a:ext cx="237173" cy="32050"/>
          </a:xfrm>
          <a:custGeom>
            <a:avLst/>
            <a:gdLst/>
            <a:ahLst/>
            <a:cxnLst/>
            <a:rect l="l" t="t" r="r" b="b"/>
            <a:pathLst>
              <a:path w="37" h="5">
                <a:moveTo>
                  <a:pt x="4" y="5"/>
                </a:moveTo>
                <a:lnTo>
                  <a:pt x="37" y="5"/>
                </a:lnTo>
                <a:lnTo>
                  <a:pt x="29" y="0"/>
                </a:lnTo>
                <a:lnTo>
                  <a:pt x="0" y="2"/>
                </a:lnTo>
                <a:close/>
              </a:path>
            </a:pathLst>
          </a:custGeom>
          <a:solidFill>
            <a:srgbClr val="F0A82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2653779" y="2634548"/>
            <a:ext cx="224353" cy="0"/>
          </a:xfrm>
          <a:custGeom>
            <a:avLst/>
            <a:gdLst/>
            <a:ahLst/>
            <a:cxnLst/>
            <a:rect l="l" t="t" r="r" b="b"/>
            <a:pathLst>
              <a:path w="35" h="0">
                <a:moveTo>
                  <a:pt x="4" y="0"/>
                </a:moveTo>
                <a:lnTo>
                  <a:pt x="35" y="0"/>
                </a:lnTo>
                <a:lnTo>
                  <a:pt x="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4571D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2596344" y="2631599"/>
            <a:ext cx="317812" cy="0"/>
          </a:xfrm>
          <a:prstGeom prst="line">
            <a:avLst/>
          </a:prstGeom>
          <a:ln w="5714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2544807" y="2314043"/>
            <a:ext cx="429476" cy="897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92" b="1" i="1">
                <a:solidFill>
                  <a:srgbClr val="111111"/>
                </a:solidFill>
                <a:latin typeface="Liberation Serif"/>
              </a:defRPr>
            </a:pPr>
            <a:r>
              <a:t>k = 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602523" y="2717879"/>
            <a:ext cx="1390990" cy="173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6" b="1" i="1">
                <a:solidFill>
                  <a:srgbClr val="111111"/>
                </a:solidFill>
                <a:latin typeface="Liberation Serif"/>
              </a:defRPr>
            </a:pPr>
            <a:r>
              <a:t>Gaussian Blur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493400" y="967924"/>
            <a:ext cx="1711495" cy="685880"/>
          </a:xfrm>
          <a:prstGeom prst="roundRect">
            <a:avLst>
              <a:gd name="adj" fmla="val 4672"/>
            </a:avLst>
          </a:prstGeom>
          <a:solidFill>
            <a:srgbClr val="777777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7461349" y="929463"/>
            <a:ext cx="1711495" cy="68588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1429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506220" y="980744"/>
            <a:ext cx="512807" cy="410245"/>
          </a:xfrm>
          <a:prstGeom prst="rect">
            <a:avLst/>
          </a:prstGeom>
          <a:solidFill>
            <a:srgbClr val="FFFFFF"/>
          </a:solidFill>
          <a:ln w="6667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7544681" y="1096126"/>
            <a:ext cx="403836" cy="0"/>
          </a:xfrm>
          <a:custGeom>
            <a:avLst/>
            <a:gdLst/>
            <a:ahLst/>
            <a:cxnLst/>
            <a:rect l="l" t="t" r="r" b="b"/>
            <a:pathLst>
              <a:path w="63" h="0">
                <a:moveTo>
                  <a:pt x="5" y="0"/>
                </a:moveTo>
                <a:lnTo>
                  <a:pt x="63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7557501" y="1089716"/>
            <a:ext cx="384606" cy="32050"/>
          </a:xfrm>
          <a:custGeom>
            <a:avLst/>
            <a:gdLst/>
            <a:ahLst/>
            <a:cxnLst/>
            <a:rect l="l" t="t" r="r" b="b"/>
            <a:pathLst>
              <a:path w="60" h="5">
                <a:moveTo>
                  <a:pt x="5" y="5"/>
                </a:moveTo>
                <a:lnTo>
                  <a:pt x="60" y="4"/>
                </a:lnTo>
                <a:lnTo>
                  <a:pt x="50" y="0"/>
                </a:lnTo>
                <a:lnTo>
                  <a:pt x="0" y="1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7570321" y="1083306"/>
            <a:ext cx="365375" cy="64101"/>
          </a:xfrm>
          <a:custGeom>
            <a:avLst/>
            <a:gdLst/>
            <a:ahLst/>
            <a:cxnLst/>
            <a:rect l="l" t="t" r="r" b="b"/>
            <a:pathLst>
              <a:path w="57" h="10">
                <a:moveTo>
                  <a:pt x="4" y="10"/>
                </a:moveTo>
                <a:lnTo>
                  <a:pt x="57" y="8"/>
                </a:lnTo>
                <a:lnTo>
                  <a:pt x="48" y="0"/>
                </a:lnTo>
                <a:lnTo>
                  <a:pt x="0" y="3"/>
                </a:lnTo>
                <a:close/>
              </a:path>
            </a:pathLst>
          </a:custGeom>
          <a:solidFill>
            <a:srgbClr val="2575D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7576731" y="1083306"/>
            <a:ext cx="358965" cy="89741"/>
          </a:xfrm>
          <a:custGeom>
            <a:avLst/>
            <a:gdLst/>
            <a:ahLst/>
            <a:cxnLst/>
            <a:rect l="l" t="t" r="r" b="b"/>
            <a:pathLst>
              <a:path w="56" h="14">
                <a:moveTo>
                  <a:pt x="5" y="14"/>
                </a:moveTo>
                <a:lnTo>
                  <a:pt x="56" y="12"/>
                </a:lnTo>
                <a:lnTo>
                  <a:pt x="46" y="0"/>
                </a:lnTo>
                <a:lnTo>
                  <a:pt x="0" y="5"/>
                </a:lnTo>
                <a:close/>
              </a:path>
            </a:pathLst>
          </a:custGeom>
          <a:solidFill>
            <a:srgbClr val="1DB2D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7589551" y="1096126"/>
            <a:ext cx="339735" cy="102561"/>
          </a:xfrm>
          <a:custGeom>
            <a:avLst/>
            <a:gdLst/>
            <a:ahLst/>
            <a:cxnLst/>
            <a:rect l="l" t="t" r="r" b="b"/>
            <a:pathLst>
              <a:path w="53" h="16">
                <a:moveTo>
                  <a:pt x="5" y="16"/>
                </a:moveTo>
                <a:lnTo>
                  <a:pt x="53" y="13"/>
                </a:lnTo>
                <a:lnTo>
                  <a:pt x="43" y="0"/>
                </a:lnTo>
                <a:lnTo>
                  <a:pt x="0" y="6"/>
                </a:lnTo>
                <a:close/>
              </a:path>
            </a:pathLst>
          </a:custGeom>
          <a:solidFill>
            <a:srgbClr val="43D77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7595962" y="1121766"/>
            <a:ext cx="326915" cy="96151"/>
          </a:xfrm>
          <a:custGeom>
            <a:avLst/>
            <a:gdLst/>
            <a:ahLst/>
            <a:cxnLst/>
            <a:rect l="l" t="t" r="r" b="b"/>
            <a:pathLst>
              <a:path w="51" h="15">
                <a:moveTo>
                  <a:pt x="5" y="15"/>
                </a:moveTo>
                <a:lnTo>
                  <a:pt x="51" y="13"/>
                </a:lnTo>
                <a:lnTo>
                  <a:pt x="42" y="0"/>
                </a:lnTo>
                <a:lnTo>
                  <a:pt x="0" y="6"/>
                </a:lnTo>
                <a:close/>
              </a:path>
            </a:pathLst>
          </a:custGeom>
          <a:solidFill>
            <a:srgbClr val="C9DF37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7608782" y="1160227"/>
            <a:ext cx="314095" cy="83331"/>
          </a:xfrm>
          <a:custGeom>
            <a:avLst/>
            <a:gdLst/>
            <a:ahLst/>
            <a:cxnLst/>
            <a:rect l="l" t="t" r="r" b="b"/>
            <a:pathLst>
              <a:path w="49" h="13">
                <a:moveTo>
                  <a:pt x="5" y="13"/>
                </a:moveTo>
                <a:lnTo>
                  <a:pt x="49" y="11"/>
                </a:lnTo>
                <a:lnTo>
                  <a:pt x="39" y="0"/>
                </a:lnTo>
                <a:lnTo>
                  <a:pt x="0" y="5"/>
                </a:lnTo>
                <a:close/>
              </a:path>
            </a:pathLst>
          </a:custGeom>
          <a:solidFill>
            <a:srgbClr val="F0A82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7621602" y="1205098"/>
            <a:ext cx="294864" cy="64101"/>
          </a:xfrm>
          <a:custGeom>
            <a:avLst/>
            <a:gdLst/>
            <a:ahLst/>
            <a:cxnLst/>
            <a:rect l="l" t="t" r="r" b="b"/>
            <a:pathLst>
              <a:path w="46" h="10">
                <a:moveTo>
                  <a:pt x="4" y="10"/>
                </a:moveTo>
                <a:lnTo>
                  <a:pt x="46" y="9"/>
                </a:lnTo>
                <a:lnTo>
                  <a:pt x="36" y="0"/>
                </a:lnTo>
                <a:lnTo>
                  <a:pt x="0" y="4"/>
                </a:lnTo>
                <a:close/>
              </a:path>
            </a:pathLst>
          </a:custGeom>
          <a:solidFill>
            <a:srgbClr val="E4571D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7628012" y="1262788"/>
            <a:ext cx="282044" cy="32050"/>
          </a:xfrm>
          <a:custGeom>
            <a:avLst/>
            <a:gdLst/>
            <a:ahLst/>
            <a:cxnLst/>
            <a:rect l="l" t="t" r="r" b="b"/>
            <a:pathLst>
              <a:path w="44" h="5">
                <a:moveTo>
                  <a:pt x="5" y="5"/>
                </a:moveTo>
                <a:lnTo>
                  <a:pt x="44" y="4"/>
                </a:lnTo>
                <a:lnTo>
                  <a:pt x="35" y="0"/>
                </a:lnTo>
                <a:lnTo>
                  <a:pt x="0" y="2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7640832" y="1320479"/>
            <a:ext cx="262814" cy="0"/>
          </a:xfrm>
          <a:custGeom>
            <a:avLst/>
            <a:gdLst/>
            <a:ahLst/>
            <a:cxnLst/>
            <a:rect l="l" t="t" r="r" b="b"/>
            <a:pathLst>
              <a:path w="41" h="0">
                <a:moveTo>
                  <a:pt x="5" y="0"/>
                </a:moveTo>
                <a:lnTo>
                  <a:pt x="41" y="0"/>
                </a:lnTo>
                <a:lnTo>
                  <a:pt x="32" y="0"/>
                </a:lnTo>
                <a:lnTo>
                  <a:pt x="0" y="0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7567757" y="1317146"/>
            <a:ext cx="379477" cy="0"/>
          </a:xfrm>
          <a:prstGeom prst="line">
            <a:avLst/>
          </a:prstGeom>
          <a:ln w="5714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/>
          <p:cNvSpPr/>
          <p:nvPr/>
        </p:nvSpPr>
        <p:spPr>
          <a:xfrm>
            <a:off x="8038258" y="980744"/>
            <a:ext cx="512807" cy="410245"/>
          </a:xfrm>
          <a:prstGeom prst="rect">
            <a:avLst/>
          </a:prstGeom>
          <a:solidFill>
            <a:srgbClr val="FFFFFF"/>
          </a:solidFill>
          <a:ln w="6667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8076719" y="1076896"/>
            <a:ext cx="403836" cy="19230"/>
          </a:xfrm>
          <a:custGeom>
            <a:avLst/>
            <a:gdLst/>
            <a:ahLst/>
            <a:cxnLst/>
            <a:rect l="l" t="t" r="r" b="b"/>
            <a:pathLst>
              <a:path w="63" h="3">
                <a:moveTo>
                  <a:pt x="5" y="3"/>
                </a:moveTo>
                <a:lnTo>
                  <a:pt x="63" y="2"/>
                </a:lnTo>
                <a:lnTo>
                  <a:pt x="53" y="0"/>
                </a:lnTo>
                <a:lnTo>
                  <a:pt x="0" y="1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8089539" y="1076896"/>
            <a:ext cx="384606" cy="44871"/>
          </a:xfrm>
          <a:custGeom>
            <a:avLst/>
            <a:gdLst/>
            <a:ahLst/>
            <a:cxnLst/>
            <a:rect l="l" t="t" r="r" b="b"/>
            <a:pathLst>
              <a:path w="60" h="7">
                <a:moveTo>
                  <a:pt x="5" y="7"/>
                </a:moveTo>
                <a:lnTo>
                  <a:pt x="60" y="6"/>
                </a:lnTo>
                <a:lnTo>
                  <a:pt x="50" y="0"/>
                </a:lnTo>
                <a:lnTo>
                  <a:pt x="0" y="2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8102359" y="1076896"/>
            <a:ext cx="365375" cy="70511"/>
          </a:xfrm>
          <a:custGeom>
            <a:avLst/>
            <a:gdLst/>
            <a:ahLst/>
            <a:cxnLst/>
            <a:rect l="l" t="t" r="r" b="b"/>
            <a:pathLst>
              <a:path w="57" h="11">
                <a:moveTo>
                  <a:pt x="4" y="11"/>
                </a:moveTo>
                <a:lnTo>
                  <a:pt x="57" y="9"/>
                </a:lnTo>
                <a:lnTo>
                  <a:pt x="48" y="0"/>
                </a:lnTo>
                <a:lnTo>
                  <a:pt x="0" y="4"/>
                </a:lnTo>
                <a:close/>
              </a:path>
            </a:pathLst>
          </a:custGeom>
          <a:solidFill>
            <a:srgbClr val="2575D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8108769" y="1083306"/>
            <a:ext cx="358965" cy="89741"/>
          </a:xfrm>
          <a:custGeom>
            <a:avLst/>
            <a:gdLst/>
            <a:ahLst/>
            <a:cxnLst/>
            <a:rect l="l" t="t" r="r" b="b"/>
            <a:pathLst>
              <a:path w="56" h="14">
                <a:moveTo>
                  <a:pt x="5" y="14"/>
                </a:moveTo>
                <a:lnTo>
                  <a:pt x="56" y="12"/>
                </a:lnTo>
                <a:lnTo>
                  <a:pt x="46" y="0"/>
                </a:lnTo>
                <a:lnTo>
                  <a:pt x="0" y="5"/>
                </a:lnTo>
                <a:close/>
              </a:path>
            </a:pathLst>
          </a:custGeom>
          <a:solidFill>
            <a:srgbClr val="1DB2D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8121589" y="1102536"/>
            <a:ext cx="339735" cy="96151"/>
          </a:xfrm>
          <a:custGeom>
            <a:avLst/>
            <a:gdLst/>
            <a:ahLst/>
            <a:cxnLst/>
            <a:rect l="l" t="t" r="r" b="b"/>
            <a:pathLst>
              <a:path w="53" h="15">
                <a:moveTo>
                  <a:pt x="5" y="15"/>
                </a:moveTo>
                <a:lnTo>
                  <a:pt x="53" y="12"/>
                </a:lnTo>
                <a:lnTo>
                  <a:pt x="43" y="0"/>
                </a:lnTo>
                <a:lnTo>
                  <a:pt x="0" y="5"/>
                </a:lnTo>
                <a:close/>
              </a:path>
            </a:pathLst>
          </a:custGeom>
          <a:solidFill>
            <a:srgbClr val="43D77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8127999" y="1128176"/>
            <a:ext cx="326915" cy="89741"/>
          </a:xfrm>
          <a:custGeom>
            <a:avLst/>
            <a:gdLst/>
            <a:ahLst/>
            <a:cxnLst/>
            <a:rect l="l" t="t" r="r" b="b"/>
            <a:pathLst>
              <a:path w="51" h="14">
                <a:moveTo>
                  <a:pt x="5" y="14"/>
                </a:moveTo>
                <a:lnTo>
                  <a:pt x="51" y="12"/>
                </a:lnTo>
                <a:lnTo>
                  <a:pt x="42" y="0"/>
                </a:lnTo>
                <a:lnTo>
                  <a:pt x="0" y="5"/>
                </a:lnTo>
                <a:close/>
              </a:path>
            </a:pathLst>
          </a:custGeom>
          <a:solidFill>
            <a:srgbClr val="C9DF37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8140820" y="1160227"/>
            <a:ext cx="314095" cy="83331"/>
          </a:xfrm>
          <a:custGeom>
            <a:avLst/>
            <a:gdLst/>
            <a:ahLst/>
            <a:cxnLst/>
            <a:rect l="l" t="t" r="r" b="b"/>
            <a:pathLst>
              <a:path w="49" h="13">
                <a:moveTo>
                  <a:pt x="5" y="13"/>
                </a:moveTo>
                <a:lnTo>
                  <a:pt x="49" y="11"/>
                </a:lnTo>
                <a:lnTo>
                  <a:pt x="39" y="0"/>
                </a:lnTo>
                <a:lnTo>
                  <a:pt x="0" y="5"/>
                </a:lnTo>
                <a:close/>
              </a:path>
            </a:pathLst>
          </a:custGeom>
          <a:solidFill>
            <a:srgbClr val="F0A82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8153640" y="1205098"/>
            <a:ext cx="294864" cy="64101"/>
          </a:xfrm>
          <a:custGeom>
            <a:avLst/>
            <a:gdLst/>
            <a:ahLst/>
            <a:cxnLst/>
            <a:rect l="l" t="t" r="r" b="b"/>
            <a:pathLst>
              <a:path w="46" h="10">
                <a:moveTo>
                  <a:pt x="4" y="10"/>
                </a:moveTo>
                <a:lnTo>
                  <a:pt x="46" y="9"/>
                </a:lnTo>
                <a:lnTo>
                  <a:pt x="36" y="0"/>
                </a:lnTo>
                <a:lnTo>
                  <a:pt x="0" y="3"/>
                </a:lnTo>
                <a:close/>
              </a:path>
            </a:pathLst>
          </a:custGeom>
          <a:solidFill>
            <a:srgbClr val="E4571D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8160050" y="1249968"/>
            <a:ext cx="282044" cy="44871"/>
          </a:xfrm>
          <a:custGeom>
            <a:avLst/>
            <a:gdLst/>
            <a:ahLst/>
            <a:cxnLst/>
            <a:rect l="l" t="t" r="r" b="b"/>
            <a:pathLst>
              <a:path w="44" h="7">
                <a:moveTo>
                  <a:pt x="5" y="7"/>
                </a:moveTo>
                <a:lnTo>
                  <a:pt x="44" y="6"/>
                </a:lnTo>
                <a:lnTo>
                  <a:pt x="35" y="0"/>
                </a:lnTo>
                <a:lnTo>
                  <a:pt x="0" y="3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8172870" y="1301249"/>
            <a:ext cx="262814" cy="19230"/>
          </a:xfrm>
          <a:custGeom>
            <a:avLst/>
            <a:gdLst/>
            <a:ahLst/>
            <a:cxnLst/>
            <a:rect l="l" t="t" r="r" b="b"/>
            <a:pathLst>
              <a:path w="41" h="3">
                <a:moveTo>
                  <a:pt x="5" y="3"/>
                </a:moveTo>
                <a:lnTo>
                  <a:pt x="41" y="3"/>
                </a:lnTo>
                <a:lnTo>
                  <a:pt x="32" y="0"/>
                </a:lnTo>
                <a:lnTo>
                  <a:pt x="0" y="1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8099794" y="1317146"/>
            <a:ext cx="379478" cy="0"/>
          </a:xfrm>
          <a:prstGeom prst="line">
            <a:avLst/>
          </a:prstGeom>
          <a:ln w="5714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8570295" y="980744"/>
            <a:ext cx="512807" cy="410245"/>
          </a:xfrm>
          <a:prstGeom prst="rect">
            <a:avLst/>
          </a:prstGeom>
          <a:solidFill>
            <a:srgbClr val="FFFFFF"/>
          </a:solidFill>
          <a:ln w="6667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8608756" y="1076896"/>
            <a:ext cx="403836" cy="19230"/>
          </a:xfrm>
          <a:custGeom>
            <a:avLst/>
            <a:gdLst/>
            <a:ahLst/>
            <a:cxnLst/>
            <a:rect l="l" t="t" r="r" b="b"/>
            <a:pathLst>
              <a:path w="63" h="3">
                <a:moveTo>
                  <a:pt x="5" y="3"/>
                </a:moveTo>
                <a:lnTo>
                  <a:pt x="63" y="2"/>
                </a:lnTo>
                <a:lnTo>
                  <a:pt x="53" y="0"/>
                </a:lnTo>
                <a:lnTo>
                  <a:pt x="0" y="1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8621577" y="1083306"/>
            <a:ext cx="384606" cy="38461"/>
          </a:xfrm>
          <a:custGeom>
            <a:avLst/>
            <a:gdLst/>
            <a:ahLst/>
            <a:cxnLst/>
            <a:rect l="l" t="t" r="r" b="b"/>
            <a:pathLst>
              <a:path w="60" h="6">
                <a:moveTo>
                  <a:pt x="5" y="6"/>
                </a:moveTo>
                <a:lnTo>
                  <a:pt x="60" y="5"/>
                </a:lnTo>
                <a:lnTo>
                  <a:pt x="50" y="0"/>
                </a:lnTo>
                <a:lnTo>
                  <a:pt x="0" y="2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8634397" y="1089716"/>
            <a:ext cx="365375" cy="57691"/>
          </a:xfrm>
          <a:custGeom>
            <a:avLst/>
            <a:gdLst/>
            <a:ahLst/>
            <a:cxnLst/>
            <a:rect l="l" t="t" r="r" b="b"/>
            <a:pathLst>
              <a:path w="57" h="9">
                <a:moveTo>
                  <a:pt x="4" y="9"/>
                </a:moveTo>
                <a:lnTo>
                  <a:pt x="57" y="7"/>
                </a:lnTo>
                <a:lnTo>
                  <a:pt x="48" y="0"/>
                </a:lnTo>
                <a:lnTo>
                  <a:pt x="0" y="3"/>
                </a:lnTo>
                <a:close/>
              </a:path>
            </a:pathLst>
          </a:custGeom>
          <a:solidFill>
            <a:srgbClr val="2575D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8640807" y="1140997"/>
            <a:ext cx="358965" cy="32050"/>
          </a:xfrm>
          <a:custGeom>
            <a:avLst/>
            <a:gdLst/>
            <a:ahLst/>
            <a:cxnLst/>
            <a:rect l="l" t="t" r="r" b="b"/>
            <a:pathLst>
              <a:path w="56" h="5">
                <a:moveTo>
                  <a:pt x="5" y="5"/>
                </a:moveTo>
                <a:lnTo>
                  <a:pt x="56" y="4"/>
                </a:lnTo>
                <a:lnTo>
                  <a:pt x="46" y="0"/>
                </a:lnTo>
                <a:lnTo>
                  <a:pt x="0" y="2"/>
                </a:lnTo>
                <a:close/>
              </a:path>
            </a:pathLst>
          </a:custGeom>
          <a:solidFill>
            <a:srgbClr val="1DB2D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8653627" y="1147407"/>
            <a:ext cx="339735" cy="51281"/>
          </a:xfrm>
          <a:custGeom>
            <a:avLst/>
            <a:gdLst/>
            <a:ahLst/>
            <a:cxnLst/>
            <a:rect l="l" t="t" r="r" b="b"/>
            <a:pathLst>
              <a:path w="53" h="8">
                <a:moveTo>
                  <a:pt x="5" y="8"/>
                </a:moveTo>
                <a:lnTo>
                  <a:pt x="53" y="6"/>
                </a:lnTo>
                <a:lnTo>
                  <a:pt x="43" y="0"/>
                </a:lnTo>
                <a:lnTo>
                  <a:pt x="0" y="3"/>
                </a:lnTo>
                <a:close/>
              </a:path>
            </a:pathLst>
          </a:custGeom>
          <a:solidFill>
            <a:srgbClr val="43D77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8660037" y="1198688"/>
            <a:ext cx="326915" cy="19230"/>
          </a:xfrm>
          <a:custGeom>
            <a:avLst/>
            <a:gdLst/>
            <a:ahLst/>
            <a:cxnLst/>
            <a:rect l="l" t="t" r="r" b="b"/>
            <a:pathLst>
              <a:path w="51" h="3">
                <a:moveTo>
                  <a:pt x="5" y="3"/>
                </a:moveTo>
                <a:lnTo>
                  <a:pt x="51" y="3"/>
                </a:lnTo>
                <a:lnTo>
                  <a:pt x="42" y="0"/>
                </a:lnTo>
                <a:lnTo>
                  <a:pt x="0" y="1"/>
                </a:lnTo>
                <a:close/>
              </a:path>
            </a:pathLst>
          </a:custGeom>
          <a:solidFill>
            <a:srgbClr val="C9DF37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8672857" y="1205098"/>
            <a:ext cx="314095" cy="38461"/>
          </a:xfrm>
          <a:custGeom>
            <a:avLst/>
            <a:gdLst/>
            <a:ahLst/>
            <a:cxnLst/>
            <a:rect l="l" t="t" r="r" b="b"/>
            <a:pathLst>
              <a:path w="49" h="6">
                <a:moveTo>
                  <a:pt x="5" y="6"/>
                </a:moveTo>
                <a:lnTo>
                  <a:pt x="49" y="5"/>
                </a:lnTo>
                <a:lnTo>
                  <a:pt x="39" y="0"/>
                </a:lnTo>
                <a:lnTo>
                  <a:pt x="0" y="2"/>
                </a:lnTo>
                <a:close/>
              </a:path>
            </a:pathLst>
          </a:custGeom>
          <a:solidFill>
            <a:srgbClr val="F0A82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8685678" y="1211508"/>
            <a:ext cx="294864" cy="57691"/>
          </a:xfrm>
          <a:custGeom>
            <a:avLst/>
            <a:gdLst/>
            <a:ahLst/>
            <a:cxnLst/>
            <a:rect l="l" t="t" r="r" b="b"/>
            <a:pathLst>
              <a:path w="46" h="9">
                <a:moveTo>
                  <a:pt x="4" y="9"/>
                </a:moveTo>
                <a:lnTo>
                  <a:pt x="46" y="8"/>
                </a:lnTo>
                <a:lnTo>
                  <a:pt x="36" y="0"/>
                </a:lnTo>
                <a:lnTo>
                  <a:pt x="0" y="3"/>
                </a:lnTo>
                <a:close/>
              </a:path>
            </a:pathLst>
          </a:custGeom>
          <a:solidFill>
            <a:srgbClr val="E4571D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8692088" y="1269199"/>
            <a:ext cx="282044" cy="25640"/>
          </a:xfrm>
          <a:custGeom>
            <a:avLst/>
            <a:gdLst/>
            <a:ahLst/>
            <a:cxnLst/>
            <a:rect l="l" t="t" r="r" b="b"/>
            <a:pathLst>
              <a:path w="44" h="4">
                <a:moveTo>
                  <a:pt x="5" y="4"/>
                </a:moveTo>
                <a:lnTo>
                  <a:pt x="44" y="4"/>
                </a:lnTo>
                <a:lnTo>
                  <a:pt x="35" y="0"/>
                </a:lnTo>
                <a:lnTo>
                  <a:pt x="0" y="1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8704908" y="1275609"/>
            <a:ext cx="262814" cy="44871"/>
          </a:xfrm>
          <a:custGeom>
            <a:avLst/>
            <a:gdLst/>
            <a:ahLst/>
            <a:cxnLst/>
            <a:rect l="l" t="t" r="r" b="b"/>
            <a:pathLst>
              <a:path w="41" h="7">
                <a:moveTo>
                  <a:pt x="5" y="7"/>
                </a:moveTo>
                <a:lnTo>
                  <a:pt x="41" y="6"/>
                </a:lnTo>
                <a:lnTo>
                  <a:pt x="32" y="0"/>
                </a:lnTo>
                <a:lnTo>
                  <a:pt x="0" y="2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>
            <a:off x="8631832" y="1317146"/>
            <a:ext cx="379478" cy="0"/>
          </a:xfrm>
          <a:prstGeom prst="line">
            <a:avLst/>
          </a:prstGeom>
          <a:ln w="5714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7480579" y="1423040"/>
            <a:ext cx="525627" cy="13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6" b="1" i="1">
                <a:solidFill>
                  <a:srgbClr val="111111"/>
                </a:solidFill>
                <a:latin typeface="Liberation Serif"/>
              </a:defRPr>
            </a:pPr>
            <a:r>
              <a:t>Gaussian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019027" y="1423040"/>
            <a:ext cx="525627" cy="13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6" b="1" i="1">
                <a:solidFill>
                  <a:srgbClr val="111111"/>
                </a:solidFill>
                <a:latin typeface="Liberation Serif"/>
              </a:defRPr>
            </a:pPr>
            <a:r>
              <a:t>Standard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557475" y="1423040"/>
            <a:ext cx="525627" cy="13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6" b="1" i="1">
                <a:solidFill>
                  <a:srgbClr val="111111"/>
                </a:solidFill>
                <a:latin typeface="Liberation Serif"/>
              </a:defRPr>
            </a:pPr>
            <a:r>
              <a:t>Random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7493400" y="2333274"/>
            <a:ext cx="1711495" cy="628189"/>
          </a:xfrm>
          <a:prstGeom prst="roundRect">
            <a:avLst>
              <a:gd name="adj" fmla="val 5102"/>
            </a:avLst>
          </a:prstGeom>
          <a:solidFill>
            <a:srgbClr val="777777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7461349" y="2294813"/>
            <a:ext cx="1711495" cy="628189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1429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506220" y="2346094"/>
            <a:ext cx="506397" cy="35255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>
            <a:off x="7632819" y="2371734"/>
            <a:ext cx="0" cy="294864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759418" y="2371734"/>
            <a:ext cx="0" cy="294864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886018" y="2371734"/>
            <a:ext cx="0" cy="294864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531860" y="2463612"/>
            <a:ext cx="461527" cy="0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531860" y="2581131"/>
            <a:ext cx="461527" cy="0"/>
          </a:xfrm>
          <a:prstGeom prst="line">
            <a:avLst/>
          </a:prstGeom>
          <a:ln w="6667">
            <a:solidFill>
              <a:srgbClr val="AAB3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Freeform 197"/>
          <p:cNvSpPr/>
          <p:nvPr/>
        </p:nvSpPr>
        <p:spPr>
          <a:xfrm>
            <a:off x="7531861" y="2384555"/>
            <a:ext cx="455117" cy="275634"/>
          </a:xfrm>
          <a:custGeom>
            <a:avLst/>
            <a:gdLst/>
            <a:ahLst/>
            <a:cxnLst/>
            <a:rect l="l" t="t" r="r" b="b"/>
            <a:pathLst>
              <a:path w="71" h="43">
                <a:moveTo>
                  <a:pt x="0" y="43"/>
                </a:moveTo>
                <a:lnTo>
                  <a:pt x="0" y="43"/>
                </a:lnTo>
                <a:lnTo>
                  <a:pt x="2" y="43"/>
                </a:lnTo>
                <a:lnTo>
                  <a:pt x="4" y="43"/>
                </a:lnTo>
                <a:lnTo>
                  <a:pt x="6" y="43"/>
                </a:lnTo>
                <a:lnTo>
                  <a:pt x="9" y="43"/>
                </a:lnTo>
                <a:lnTo>
                  <a:pt x="11" y="42"/>
                </a:lnTo>
                <a:lnTo>
                  <a:pt x="13" y="41"/>
                </a:lnTo>
                <a:lnTo>
                  <a:pt x="15" y="40"/>
                </a:lnTo>
                <a:lnTo>
                  <a:pt x="17" y="39"/>
                </a:lnTo>
                <a:lnTo>
                  <a:pt x="19" y="37"/>
                </a:lnTo>
                <a:lnTo>
                  <a:pt x="22" y="34"/>
                </a:lnTo>
                <a:lnTo>
                  <a:pt x="24" y="30"/>
                </a:lnTo>
                <a:lnTo>
                  <a:pt x="26" y="25"/>
                </a:lnTo>
                <a:lnTo>
                  <a:pt x="28" y="20"/>
                </a:lnTo>
                <a:lnTo>
                  <a:pt x="30" y="15"/>
                </a:lnTo>
                <a:lnTo>
                  <a:pt x="32" y="9"/>
                </a:lnTo>
                <a:lnTo>
                  <a:pt x="34" y="5"/>
                </a:lnTo>
                <a:lnTo>
                  <a:pt x="37" y="2"/>
                </a:lnTo>
                <a:lnTo>
                  <a:pt x="39" y="0"/>
                </a:lnTo>
                <a:lnTo>
                  <a:pt x="41" y="0"/>
                </a:lnTo>
                <a:lnTo>
                  <a:pt x="43" y="3"/>
                </a:lnTo>
                <a:lnTo>
                  <a:pt x="45" y="6"/>
                </a:lnTo>
                <a:lnTo>
                  <a:pt x="47" y="11"/>
                </a:lnTo>
                <a:lnTo>
                  <a:pt x="49" y="16"/>
                </a:lnTo>
                <a:lnTo>
                  <a:pt x="52" y="22"/>
                </a:lnTo>
                <a:lnTo>
                  <a:pt x="54" y="27"/>
                </a:lnTo>
                <a:lnTo>
                  <a:pt x="56" y="31"/>
                </a:lnTo>
                <a:lnTo>
                  <a:pt x="58" y="35"/>
                </a:lnTo>
                <a:lnTo>
                  <a:pt x="60" y="37"/>
                </a:lnTo>
                <a:lnTo>
                  <a:pt x="62" y="39"/>
                </a:lnTo>
                <a:lnTo>
                  <a:pt x="65" y="41"/>
                </a:lnTo>
                <a:lnTo>
                  <a:pt x="67" y="42"/>
                </a:lnTo>
                <a:lnTo>
                  <a:pt x="69" y="42"/>
                </a:lnTo>
                <a:lnTo>
                  <a:pt x="71" y="43"/>
                </a:lnTo>
                <a:lnTo>
                  <a:pt x="71" y="43"/>
                </a:lnTo>
                <a:close/>
              </a:path>
            </a:pathLst>
          </a:custGeom>
          <a:solidFill>
            <a:srgbClr val="5C9AC5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7531860" y="2659811"/>
            <a:ext cx="13791" cy="205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7545651" y="2659399"/>
            <a:ext cx="13792" cy="412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7559443" y="2658607"/>
            <a:ext cx="13791" cy="792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7573234" y="2657157"/>
            <a:ext cx="13792" cy="145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7587026" y="2654624"/>
            <a:ext cx="13791" cy="2533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7600817" y="2650414"/>
            <a:ext cx="13792" cy="421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7614609" y="2643757"/>
            <a:ext cx="13791" cy="665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7628400" y="2633751"/>
            <a:ext cx="13791" cy="10006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642191" y="2619480"/>
            <a:ext cx="13792" cy="14271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7655983" y="2600195"/>
            <a:ext cx="13791" cy="19285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7669774" y="2575571"/>
            <a:ext cx="13792" cy="2462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7683566" y="2545965"/>
            <a:ext cx="13791" cy="29606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697357" y="2512621"/>
            <a:ext cx="13791" cy="3334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711148" y="2477730"/>
            <a:ext cx="13792" cy="34891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7724940" y="2444276"/>
            <a:ext cx="13791" cy="3345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7738731" y="2415659"/>
            <a:ext cx="13792" cy="2861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7752523" y="2395140"/>
            <a:ext cx="13791" cy="20519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7766314" y="2385236"/>
            <a:ext cx="13792" cy="9904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7780106" y="2385236"/>
            <a:ext cx="13791" cy="1973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7793897" y="2387209"/>
            <a:ext cx="13791" cy="13596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7807688" y="2400805"/>
            <a:ext cx="13792" cy="23502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7821480" y="2424307"/>
            <a:ext cx="13791" cy="30583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7835271" y="2454890"/>
            <a:ext cx="13792" cy="34291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7849063" y="2489181"/>
            <a:ext cx="13791" cy="34679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7862854" y="2523860"/>
            <a:ext cx="13791" cy="32313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7876645" y="2556173"/>
            <a:ext cx="13792" cy="28062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7890437" y="2584235"/>
            <a:ext cx="13791" cy="22873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7904228" y="2607108"/>
            <a:ext cx="13792" cy="1757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7918020" y="2624685"/>
            <a:ext cx="13791" cy="12777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7931811" y="2637462"/>
            <a:ext cx="13792" cy="8803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7945603" y="2646265"/>
            <a:ext cx="13791" cy="5760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7959394" y="2652025"/>
            <a:ext cx="13791" cy="3582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7973185" y="2655607"/>
            <a:ext cx="13792" cy="2121"/>
          </a:xfrm>
          <a:prstGeom prst="line">
            <a:avLst/>
          </a:prstGeom>
          <a:ln w="12382">
            <a:solidFill>
              <a:srgbClr val="1B4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7531860" y="2660188"/>
            <a:ext cx="461527" cy="0"/>
          </a:xfrm>
          <a:prstGeom prst="line">
            <a:avLst/>
          </a:prstGeom>
          <a:ln w="76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ectangle 232"/>
          <p:cNvSpPr/>
          <p:nvPr/>
        </p:nvSpPr>
        <p:spPr>
          <a:xfrm>
            <a:off x="8038258" y="2346094"/>
            <a:ext cx="512807" cy="352555"/>
          </a:xfrm>
          <a:prstGeom prst="rect">
            <a:avLst/>
          </a:prstGeom>
          <a:solidFill>
            <a:srgbClr val="FFFFFF"/>
          </a:solidFill>
          <a:ln w="6667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8076719" y="2429425"/>
            <a:ext cx="403836" cy="12820"/>
          </a:xfrm>
          <a:custGeom>
            <a:avLst/>
            <a:gdLst/>
            <a:ahLst/>
            <a:cxnLst/>
            <a:rect l="l" t="t" r="r" b="b"/>
            <a:pathLst>
              <a:path w="63" h="2">
                <a:moveTo>
                  <a:pt x="5" y="2"/>
                </a:moveTo>
                <a:lnTo>
                  <a:pt x="63" y="2"/>
                </a:lnTo>
                <a:lnTo>
                  <a:pt x="53" y="0"/>
                </a:lnTo>
                <a:lnTo>
                  <a:pt x="0" y="1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8089539" y="2429425"/>
            <a:ext cx="384606" cy="38461"/>
          </a:xfrm>
          <a:custGeom>
            <a:avLst/>
            <a:gdLst/>
            <a:ahLst/>
            <a:cxnLst/>
            <a:rect l="l" t="t" r="r" b="b"/>
            <a:pathLst>
              <a:path w="60" h="6">
                <a:moveTo>
                  <a:pt x="5" y="6"/>
                </a:moveTo>
                <a:lnTo>
                  <a:pt x="60" y="5"/>
                </a:lnTo>
                <a:lnTo>
                  <a:pt x="50" y="0"/>
                </a:lnTo>
                <a:lnTo>
                  <a:pt x="0" y="2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8102359" y="2429425"/>
            <a:ext cx="365375" cy="57691"/>
          </a:xfrm>
          <a:custGeom>
            <a:avLst/>
            <a:gdLst/>
            <a:ahLst/>
            <a:cxnLst/>
            <a:rect l="l" t="t" r="r" b="b"/>
            <a:pathLst>
              <a:path w="57" h="9">
                <a:moveTo>
                  <a:pt x="4" y="9"/>
                </a:moveTo>
                <a:lnTo>
                  <a:pt x="57" y="8"/>
                </a:lnTo>
                <a:lnTo>
                  <a:pt x="48" y="0"/>
                </a:lnTo>
                <a:lnTo>
                  <a:pt x="0" y="3"/>
                </a:lnTo>
                <a:close/>
              </a:path>
            </a:pathLst>
          </a:custGeom>
          <a:solidFill>
            <a:srgbClr val="2575D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8108769" y="2435836"/>
            <a:ext cx="358965" cy="70511"/>
          </a:xfrm>
          <a:custGeom>
            <a:avLst/>
            <a:gdLst/>
            <a:ahLst/>
            <a:cxnLst/>
            <a:rect l="l" t="t" r="r" b="b"/>
            <a:pathLst>
              <a:path w="56" h="11">
                <a:moveTo>
                  <a:pt x="5" y="11"/>
                </a:moveTo>
                <a:lnTo>
                  <a:pt x="56" y="10"/>
                </a:lnTo>
                <a:lnTo>
                  <a:pt x="46" y="0"/>
                </a:lnTo>
                <a:lnTo>
                  <a:pt x="0" y="4"/>
                </a:lnTo>
                <a:close/>
              </a:path>
            </a:pathLst>
          </a:custGeom>
          <a:solidFill>
            <a:srgbClr val="1DB2D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8121589" y="2448656"/>
            <a:ext cx="339735" cy="83331"/>
          </a:xfrm>
          <a:custGeom>
            <a:avLst/>
            <a:gdLst/>
            <a:ahLst/>
            <a:cxnLst/>
            <a:rect l="l" t="t" r="r" b="b"/>
            <a:pathLst>
              <a:path w="53" h="13">
                <a:moveTo>
                  <a:pt x="5" y="13"/>
                </a:moveTo>
                <a:lnTo>
                  <a:pt x="53" y="11"/>
                </a:lnTo>
                <a:lnTo>
                  <a:pt x="43" y="0"/>
                </a:lnTo>
                <a:lnTo>
                  <a:pt x="0" y="5"/>
                </a:lnTo>
                <a:close/>
              </a:path>
            </a:pathLst>
          </a:custGeom>
          <a:solidFill>
            <a:srgbClr val="43D77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8127999" y="2474296"/>
            <a:ext cx="326915" cy="76921"/>
          </a:xfrm>
          <a:custGeom>
            <a:avLst/>
            <a:gdLst/>
            <a:ahLst/>
            <a:cxnLst/>
            <a:rect l="l" t="t" r="r" b="b"/>
            <a:pathLst>
              <a:path w="51" h="12">
                <a:moveTo>
                  <a:pt x="5" y="12"/>
                </a:moveTo>
                <a:lnTo>
                  <a:pt x="51" y="10"/>
                </a:lnTo>
                <a:lnTo>
                  <a:pt x="42" y="0"/>
                </a:lnTo>
                <a:lnTo>
                  <a:pt x="0" y="4"/>
                </a:lnTo>
                <a:close/>
              </a:path>
            </a:pathLst>
          </a:custGeom>
          <a:solidFill>
            <a:srgbClr val="C9DF37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8140820" y="2499937"/>
            <a:ext cx="314095" cy="76921"/>
          </a:xfrm>
          <a:custGeom>
            <a:avLst/>
            <a:gdLst/>
            <a:ahLst/>
            <a:cxnLst/>
            <a:rect l="l" t="t" r="r" b="b"/>
            <a:pathLst>
              <a:path w="49" h="12">
                <a:moveTo>
                  <a:pt x="5" y="12"/>
                </a:moveTo>
                <a:lnTo>
                  <a:pt x="49" y="10"/>
                </a:lnTo>
                <a:lnTo>
                  <a:pt x="39" y="0"/>
                </a:lnTo>
                <a:lnTo>
                  <a:pt x="0" y="4"/>
                </a:lnTo>
                <a:close/>
              </a:path>
            </a:pathLst>
          </a:custGeom>
          <a:solidFill>
            <a:srgbClr val="F0A82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8153640" y="2538397"/>
            <a:ext cx="294864" cy="57691"/>
          </a:xfrm>
          <a:custGeom>
            <a:avLst/>
            <a:gdLst/>
            <a:ahLst/>
            <a:cxnLst/>
            <a:rect l="l" t="t" r="r" b="b"/>
            <a:pathLst>
              <a:path w="46" h="9">
                <a:moveTo>
                  <a:pt x="4" y="9"/>
                </a:moveTo>
                <a:lnTo>
                  <a:pt x="46" y="8"/>
                </a:lnTo>
                <a:lnTo>
                  <a:pt x="36" y="0"/>
                </a:lnTo>
                <a:lnTo>
                  <a:pt x="0" y="3"/>
                </a:lnTo>
                <a:close/>
              </a:path>
            </a:pathLst>
          </a:custGeom>
          <a:solidFill>
            <a:srgbClr val="E4571D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8160050" y="2576858"/>
            <a:ext cx="282044" cy="38461"/>
          </a:xfrm>
          <a:custGeom>
            <a:avLst/>
            <a:gdLst/>
            <a:ahLst/>
            <a:cxnLst/>
            <a:rect l="l" t="t" r="r" b="b"/>
            <a:pathLst>
              <a:path w="44" h="6">
                <a:moveTo>
                  <a:pt x="5" y="6"/>
                </a:moveTo>
                <a:lnTo>
                  <a:pt x="44" y="5"/>
                </a:lnTo>
                <a:lnTo>
                  <a:pt x="35" y="0"/>
                </a:lnTo>
                <a:lnTo>
                  <a:pt x="0" y="2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8172870" y="2621728"/>
            <a:ext cx="262814" cy="19230"/>
          </a:xfrm>
          <a:custGeom>
            <a:avLst/>
            <a:gdLst/>
            <a:ahLst/>
            <a:cxnLst/>
            <a:rect l="l" t="t" r="r" b="b"/>
            <a:pathLst>
              <a:path w="41" h="3">
                <a:moveTo>
                  <a:pt x="5" y="3"/>
                </a:moveTo>
                <a:lnTo>
                  <a:pt x="41" y="2"/>
                </a:lnTo>
                <a:lnTo>
                  <a:pt x="32" y="0"/>
                </a:lnTo>
                <a:lnTo>
                  <a:pt x="0" y="1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8099794" y="2635189"/>
            <a:ext cx="379478" cy="0"/>
          </a:xfrm>
          <a:prstGeom prst="line">
            <a:avLst/>
          </a:prstGeom>
          <a:ln w="5714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Rectangle 244"/>
          <p:cNvSpPr/>
          <p:nvPr/>
        </p:nvSpPr>
        <p:spPr>
          <a:xfrm>
            <a:off x="8576705" y="2346094"/>
            <a:ext cx="525627" cy="352555"/>
          </a:xfrm>
          <a:prstGeom prst="rect">
            <a:avLst/>
          </a:prstGeom>
          <a:solidFill>
            <a:srgbClr val="FFFFFF"/>
          </a:solidFill>
          <a:ln w="6667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8621577" y="2442246"/>
            <a:ext cx="41024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4" y="0"/>
                </a:moveTo>
                <a:lnTo>
                  <a:pt x="64" y="0"/>
                </a:lnTo>
                <a:lnTo>
                  <a:pt x="54" y="0"/>
                </a:lnTo>
                <a:lnTo>
                  <a:pt x="0" y="0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8627987" y="2435836"/>
            <a:ext cx="397426" cy="32050"/>
          </a:xfrm>
          <a:custGeom>
            <a:avLst/>
            <a:gdLst/>
            <a:ahLst/>
            <a:cxnLst/>
            <a:rect l="l" t="t" r="r" b="b"/>
            <a:pathLst>
              <a:path w="62" h="5">
                <a:moveTo>
                  <a:pt x="5" y="5"/>
                </a:moveTo>
                <a:lnTo>
                  <a:pt x="62" y="4"/>
                </a:lnTo>
                <a:lnTo>
                  <a:pt x="52" y="0"/>
                </a:lnTo>
                <a:lnTo>
                  <a:pt x="0" y="2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8640807" y="2435836"/>
            <a:ext cx="378196" cy="51281"/>
          </a:xfrm>
          <a:custGeom>
            <a:avLst/>
            <a:gdLst/>
            <a:ahLst/>
            <a:cxnLst/>
            <a:rect l="l" t="t" r="r" b="b"/>
            <a:pathLst>
              <a:path w="59" h="8">
                <a:moveTo>
                  <a:pt x="5" y="8"/>
                </a:moveTo>
                <a:lnTo>
                  <a:pt x="59" y="7"/>
                </a:lnTo>
                <a:lnTo>
                  <a:pt x="49" y="0"/>
                </a:lnTo>
                <a:lnTo>
                  <a:pt x="0" y="3"/>
                </a:lnTo>
                <a:close/>
              </a:path>
            </a:pathLst>
          </a:custGeom>
          <a:solidFill>
            <a:srgbClr val="2575D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8647217" y="2435836"/>
            <a:ext cx="365375" cy="70511"/>
          </a:xfrm>
          <a:custGeom>
            <a:avLst/>
            <a:gdLst/>
            <a:ahLst/>
            <a:cxnLst/>
            <a:rect l="l" t="t" r="r" b="b"/>
            <a:pathLst>
              <a:path w="57" h="11">
                <a:moveTo>
                  <a:pt x="5" y="11"/>
                </a:moveTo>
                <a:lnTo>
                  <a:pt x="57" y="10"/>
                </a:lnTo>
                <a:lnTo>
                  <a:pt x="47" y="0"/>
                </a:lnTo>
                <a:lnTo>
                  <a:pt x="0" y="4"/>
                </a:lnTo>
                <a:close/>
              </a:path>
            </a:pathLst>
          </a:custGeom>
          <a:solidFill>
            <a:srgbClr val="1DB2D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8660037" y="2448656"/>
            <a:ext cx="352555" cy="83331"/>
          </a:xfrm>
          <a:custGeom>
            <a:avLst/>
            <a:gdLst/>
            <a:ahLst/>
            <a:cxnLst/>
            <a:rect l="l" t="t" r="r" b="b"/>
            <a:pathLst>
              <a:path w="55" h="13">
                <a:moveTo>
                  <a:pt x="5" y="13"/>
                </a:moveTo>
                <a:lnTo>
                  <a:pt x="55" y="11"/>
                </a:lnTo>
                <a:lnTo>
                  <a:pt x="45" y="0"/>
                </a:lnTo>
                <a:lnTo>
                  <a:pt x="0" y="4"/>
                </a:lnTo>
                <a:close/>
              </a:path>
            </a:pathLst>
          </a:custGeom>
          <a:solidFill>
            <a:srgbClr val="43D77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8672857" y="2467886"/>
            <a:ext cx="333325" cy="83331"/>
          </a:xfrm>
          <a:custGeom>
            <a:avLst/>
            <a:gdLst/>
            <a:ahLst/>
            <a:cxnLst/>
            <a:rect l="l" t="t" r="r" b="b"/>
            <a:pathLst>
              <a:path w="52" h="13">
                <a:moveTo>
                  <a:pt x="5" y="13"/>
                </a:moveTo>
                <a:lnTo>
                  <a:pt x="52" y="11"/>
                </a:lnTo>
                <a:lnTo>
                  <a:pt x="42" y="0"/>
                </a:lnTo>
                <a:lnTo>
                  <a:pt x="0" y="5"/>
                </a:lnTo>
                <a:close/>
              </a:path>
            </a:pathLst>
          </a:custGeom>
          <a:solidFill>
            <a:srgbClr val="C9DF37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8679267" y="2499937"/>
            <a:ext cx="320505" cy="76921"/>
          </a:xfrm>
          <a:custGeom>
            <a:avLst/>
            <a:gdLst/>
            <a:ahLst/>
            <a:cxnLst/>
            <a:rect l="l" t="t" r="r" b="b"/>
            <a:pathLst>
              <a:path w="50" h="12">
                <a:moveTo>
                  <a:pt x="5" y="12"/>
                </a:moveTo>
                <a:lnTo>
                  <a:pt x="50" y="10"/>
                </a:lnTo>
                <a:lnTo>
                  <a:pt x="40" y="0"/>
                </a:lnTo>
                <a:lnTo>
                  <a:pt x="0" y="4"/>
                </a:lnTo>
                <a:close/>
              </a:path>
            </a:pathLst>
          </a:custGeom>
          <a:solidFill>
            <a:srgbClr val="F0A82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8692088" y="2538397"/>
            <a:ext cx="301274" cy="57691"/>
          </a:xfrm>
          <a:custGeom>
            <a:avLst/>
            <a:gdLst/>
            <a:ahLst/>
            <a:cxnLst/>
            <a:rect l="l" t="t" r="r" b="b"/>
            <a:pathLst>
              <a:path w="47" h="9">
                <a:moveTo>
                  <a:pt x="5" y="9"/>
                </a:moveTo>
                <a:lnTo>
                  <a:pt x="47" y="8"/>
                </a:lnTo>
                <a:lnTo>
                  <a:pt x="38" y="0"/>
                </a:lnTo>
                <a:lnTo>
                  <a:pt x="0" y="3"/>
                </a:lnTo>
                <a:close/>
              </a:path>
            </a:pathLst>
          </a:custGeom>
          <a:solidFill>
            <a:srgbClr val="E4571D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8704908" y="2589678"/>
            <a:ext cx="288454" cy="25640"/>
          </a:xfrm>
          <a:custGeom>
            <a:avLst/>
            <a:gdLst/>
            <a:ahLst/>
            <a:cxnLst/>
            <a:rect l="l" t="t" r="r" b="b"/>
            <a:pathLst>
              <a:path w="45" h="4">
                <a:moveTo>
                  <a:pt x="5" y="4"/>
                </a:moveTo>
                <a:lnTo>
                  <a:pt x="45" y="4"/>
                </a:lnTo>
                <a:lnTo>
                  <a:pt x="35" y="0"/>
                </a:lnTo>
                <a:lnTo>
                  <a:pt x="0" y="1"/>
                </a:lnTo>
                <a:close/>
              </a:path>
            </a:pathLst>
          </a:custGeom>
          <a:solidFill>
            <a:srgbClr val="3926A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8711318" y="2640959"/>
            <a:ext cx="275634" cy="0"/>
          </a:xfrm>
          <a:custGeom>
            <a:avLst/>
            <a:gdLst/>
            <a:ahLst/>
            <a:cxnLst/>
            <a:rect l="l" t="t" r="r" b="b"/>
            <a:pathLst>
              <a:path w="43" h="0">
                <a:moveTo>
                  <a:pt x="5" y="0"/>
                </a:moveTo>
                <a:lnTo>
                  <a:pt x="43" y="0"/>
                </a:lnTo>
                <a:lnTo>
                  <a:pt x="3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48C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6" name="Connector 255"/>
          <p:cNvCxnSpPr/>
          <p:nvPr/>
        </p:nvCxnSpPr>
        <p:spPr>
          <a:xfrm>
            <a:off x="8639781" y="2635189"/>
            <a:ext cx="388964" cy="0"/>
          </a:xfrm>
          <a:prstGeom prst="line">
            <a:avLst/>
          </a:prstGeom>
          <a:ln w="5714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TextBox 256"/>
          <p:cNvSpPr txBox="1"/>
          <p:nvPr/>
        </p:nvSpPr>
        <p:spPr>
          <a:xfrm>
            <a:off x="7506220" y="2730699"/>
            <a:ext cx="1596113" cy="1474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1">
                <a:solidFill>
                  <a:srgbClr val="111111"/>
                </a:solidFill>
                <a:latin typeface="Liberation Serif"/>
              </a:defRPr>
            </a:pPr>
            <a:r>
              <a:t>Sequential Blending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51280" y="3493501"/>
            <a:ext cx="3301198" cy="2724289"/>
          </a:xfrm>
          <a:prstGeom prst="roundRect">
            <a:avLst>
              <a:gd name="adj" fmla="val 5176"/>
            </a:avLst>
          </a:prstGeom>
          <a:solidFill>
            <a:srgbClr val="FFFFFF"/>
          </a:solidFill>
          <a:ln w="28575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ounded Rectangle 258"/>
          <p:cNvSpPr/>
          <p:nvPr/>
        </p:nvSpPr>
        <p:spPr>
          <a:xfrm>
            <a:off x="339734" y="3333248"/>
            <a:ext cx="2910182" cy="282044"/>
          </a:xfrm>
          <a:prstGeom prst="roundRect">
            <a:avLst>
              <a:gd name="adj" fmla="val 29545"/>
            </a:avLst>
          </a:prstGeom>
          <a:solidFill>
            <a:srgbClr val="AAB7C5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ounded Rectangle 259"/>
          <p:cNvSpPr/>
          <p:nvPr/>
        </p:nvSpPr>
        <p:spPr>
          <a:xfrm>
            <a:off x="314094" y="3301198"/>
            <a:ext cx="2910182" cy="282044"/>
          </a:xfrm>
          <a:prstGeom prst="roundRect">
            <a:avLst>
              <a:gd name="adj" fmla="val 29545"/>
            </a:avLst>
          </a:prstGeom>
          <a:solidFill>
            <a:srgbClr val="D7E7F8"/>
          </a:solidFill>
          <a:ln w="2381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314094" y="3326838"/>
            <a:ext cx="2910182" cy="21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111111"/>
                </a:solidFill>
                <a:latin typeface="Liberation Serif"/>
              </a:defRPr>
            </a:pPr>
            <a:r>
              <a:t>(b) Dual Prompt Processing</a:t>
            </a:r>
          </a:p>
        </p:txBody>
      </p:sp>
      <p:sp>
        <p:nvSpPr>
          <p:cNvPr id="262" name="TextBox 261"/>
          <p:cNvSpPr txBox="1"/>
          <p:nvPr/>
        </p:nvSpPr>
        <p:spPr>
          <a:xfrm rot="16200000">
            <a:off x="108971" y="4070409"/>
            <a:ext cx="371785" cy="1602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11111"/>
                </a:solidFill>
                <a:latin typeface="Liberation Serif"/>
              </a:defRPr>
            </a:pPr>
            <a:r>
              <a:t>Type/Degradation-specific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11111"/>
                </a:solidFill>
                <a:latin typeface="Liberation Serif"/>
              </a:defRPr>
            </a:pPr>
            <a:r>
              <a:t>Prompts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564088" y="3846056"/>
            <a:ext cx="435886" cy="910233"/>
          </a:xfrm>
          <a:prstGeom prst="roundRect">
            <a:avLst>
              <a:gd name="adj" fmla="val 17647"/>
            </a:avLst>
          </a:prstGeom>
          <a:solidFill>
            <a:srgbClr val="F8FBFE"/>
          </a:solidFill>
          <a:ln w="21907">
            <a:solidFill>
              <a:srgbClr val="1736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ounded Rectangle 263"/>
          <p:cNvSpPr/>
          <p:nvPr/>
        </p:nvSpPr>
        <p:spPr>
          <a:xfrm>
            <a:off x="653829" y="3935797"/>
            <a:ext cx="288454" cy="301274"/>
          </a:xfrm>
          <a:prstGeom prst="roundRect">
            <a:avLst>
              <a:gd name="adj" fmla="val 20000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ounded Rectangle 264"/>
          <p:cNvSpPr/>
          <p:nvPr/>
        </p:nvSpPr>
        <p:spPr>
          <a:xfrm>
            <a:off x="634599" y="3910157"/>
            <a:ext cx="288454" cy="301274"/>
          </a:xfrm>
          <a:prstGeom prst="roundRect">
            <a:avLst>
              <a:gd name="adj" fmla="val 20000"/>
            </a:avLst>
          </a:prstGeom>
          <a:solidFill>
            <a:srgbClr val="DFA0A2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34599" y="3916567"/>
            <a:ext cx="288454" cy="2884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S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653829" y="4275532"/>
            <a:ext cx="288454" cy="301274"/>
          </a:xfrm>
          <a:prstGeom prst="roundRect">
            <a:avLst>
              <a:gd name="adj" fmla="val 20000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ounded Rectangle 267"/>
          <p:cNvSpPr/>
          <p:nvPr/>
        </p:nvSpPr>
        <p:spPr>
          <a:xfrm>
            <a:off x="634599" y="4249892"/>
            <a:ext cx="288454" cy="301274"/>
          </a:xfrm>
          <a:prstGeom prst="roundRect">
            <a:avLst>
              <a:gd name="adj" fmla="val 20000"/>
            </a:avLst>
          </a:prstGeom>
          <a:solidFill>
            <a:srgbClr val="E0B07B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34599" y="4256302"/>
            <a:ext cx="288454" cy="2884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H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1378170" y="3839646"/>
            <a:ext cx="1435861" cy="615368"/>
          </a:xfrm>
          <a:prstGeom prst="roundRect">
            <a:avLst>
              <a:gd name="adj" fmla="val 14583"/>
            </a:avLst>
          </a:prstGeom>
          <a:solidFill>
            <a:srgbClr val="FBFCFD"/>
          </a:solidFill>
          <a:ln w="14287">
            <a:solidFill>
              <a:srgbClr val="EDA3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1410220" y="3698624"/>
            <a:ext cx="1346119" cy="1410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Liberation Serif"/>
              </a:defRPr>
            </a:pPr>
            <a:r>
              <a:t>Degradation Descriptor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1461501" y="3910157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E5E6E8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461501" y="3910157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1666624" y="3910157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E5E6E8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666624" y="3910157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1871747" y="3910157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E5E6E8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1871747" y="3910157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2076870" y="3910157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E5E6E8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2076870" y="3910157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2281993" y="3910157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E5E6E8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2281993" y="3910157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2487116" y="3910157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F3E7C8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2487116" y="3910157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1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1160227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1160227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1365350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365350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1570473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570473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1775596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775596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1980719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D9E6A6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980719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1</a:t>
            </a:r>
          </a:p>
        </p:txBody>
      </p:sp>
      <p:sp>
        <p:nvSpPr>
          <p:cNvPr id="294" name="Rounded Rectangle 293"/>
          <p:cNvSpPr/>
          <p:nvPr/>
        </p:nvSpPr>
        <p:spPr>
          <a:xfrm>
            <a:off x="2185842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2185842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cxnSp>
        <p:nvCxnSpPr>
          <p:cNvPr id="296" name="Connector 295"/>
          <p:cNvCxnSpPr/>
          <p:nvPr/>
        </p:nvCxnSpPr>
        <p:spPr>
          <a:xfrm>
            <a:off x="1256378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1221122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8" name="Connector 297"/>
          <p:cNvCxnSpPr/>
          <p:nvPr/>
        </p:nvCxnSpPr>
        <p:spPr>
          <a:xfrm>
            <a:off x="1461501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Oval 298"/>
          <p:cNvSpPr/>
          <p:nvPr/>
        </p:nvSpPr>
        <p:spPr>
          <a:xfrm>
            <a:off x="1426245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Connector 299"/>
          <p:cNvCxnSpPr/>
          <p:nvPr/>
        </p:nvCxnSpPr>
        <p:spPr>
          <a:xfrm>
            <a:off x="1666624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Oval 300"/>
          <p:cNvSpPr/>
          <p:nvPr/>
        </p:nvSpPr>
        <p:spPr>
          <a:xfrm>
            <a:off x="1631368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Connector 301"/>
          <p:cNvCxnSpPr/>
          <p:nvPr/>
        </p:nvCxnSpPr>
        <p:spPr>
          <a:xfrm>
            <a:off x="1871747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Oval 302"/>
          <p:cNvSpPr/>
          <p:nvPr/>
        </p:nvSpPr>
        <p:spPr>
          <a:xfrm>
            <a:off x="1836491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4" name="Connector 303"/>
          <p:cNvCxnSpPr/>
          <p:nvPr/>
        </p:nvCxnSpPr>
        <p:spPr>
          <a:xfrm>
            <a:off x="2076870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Oval 304"/>
          <p:cNvSpPr/>
          <p:nvPr/>
        </p:nvSpPr>
        <p:spPr>
          <a:xfrm>
            <a:off x="2041614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6" name="Connector 305"/>
          <p:cNvCxnSpPr/>
          <p:nvPr/>
        </p:nvCxnSpPr>
        <p:spPr>
          <a:xfrm>
            <a:off x="2281993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Oval 306"/>
          <p:cNvSpPr/>
          <p:nvPr/>
        </p:nvSpPr>
        <p:spPr>
          <a:xfrm>
            <a:off x="2246737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ounded Rectangle 307"/>
          <p:cNvSpPr/>
          <p:nvPr/>
        </p:nvSpPr>
        <p:spPr>
          <a:xfrm>
            <a:off x="1134586" y="4115280"/>
            <a:ext cx="1423040" cy="602548"/>
          </a:xfrm>
          <a:prstGeom prst="roundRect">
            <a:avLst>
              <a:gd name="adj" fmla="val 12765"/>
            </a:avLst>
          </a:prstGeom>
          <a:solidFill>
            <a:srgbClr val="F8DCCB">
              <a:alpha val="55000"/>
            </a:srgbClr>
          </a:solidFill>
          <a:ln w="15240">
            <a:solidFill>
              <a:srgbClr val="EDA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1160227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160227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1365350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365350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1570473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570473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1775596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775596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1980719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D9E6A6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1980719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1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2185842" y="4192201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2185842" y="4192201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cxnSp>
        <p:nvCxnSpPr>
          <p:cNvPr id="321" name="Connector 320"/>
          <p:cNvCxnSpPr/>
          <p:nvPr/>
        </p:nvCxnSpPr>
        <p:spPr>
          <a:xfrm>
            <a:off x="1256378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Oval 321"/>
          <p:cNvSpPr/>
          <p:nvPr/>
        </p:nvSpPr>
        <p:spPr>
          <a:xfrm>
            <a:off x="1221122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3" name="Connector 322"/>
          <p:cNvCxnSpPr/>
          <p:nvPr/>
        </p:nvCxnSpPr>
        <p:spPr>
          <a:xfrm>
            <a:off x="1461501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Oval 323"/>
          <p:cNvSpPr/>
          <p:nvPr/>
        </p:nvSpPr>
        <p:spPr>
          <a:xfrm>
            <a:off x="1426245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5" name="Connector 324"/>
          <p:cNvCxnSpPr/>
          <p:nvPr/>
        </p:nvCxnSpPr>
        <p:spPr>
          <a:xfrm>
            <a:off x="1666624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Oval 325"/>
          <p:cNvSpPr/>
          <p:nvPr/>
        </p:nvSpPr>
        <p:spPr>
          <a:xfrm>
            <a:off x="1631368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7" name="Connector 326"/>
          <p:cNvCxnSpPr/>
          <p:nvPr/>
        </p:nvCxnSpPr>
        <p:spPr>
          <a:xfrm>
            <a:off x="1871747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Oval 327"/>
          <p:cNvSpPr/>
          <p:nvPr/>
        </p:nvSpPr>
        <p:spPr>
          <a:xfrm>
            <a:off x="1836491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9" name="Connector 328"/>
          <p:cNvCxnSpPr/>
          <p:nvPr/>
        </p:nvCxnSpPr>
        <p:spPr>
          <a:xfrm>
            <a:off x="2076870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Oval 329"/>
          <p:cNvSpPr/>
          <p:nvPr/>
        </p:nvSpPr>
        <p:spPr>
          <a:xfrm>
            <a:off x="2041614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281993" y="4410144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Oval 331"/>
          <p:cNvSpPr/>
          <p:nvPr/>
        </p:nvSpPr>
        <p:spPr>
          <a:xfrm>
            <a:off x="2246737" y="4592832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Connector 332"/>
          <p:cNvCxnSpPr/>
          <p:nvPr/>
        </p:nvCxnSpPr>
        <p:spPr>
          <a:xfrm>
            <a:off x="993564" y="4211431"/>
            <a:ext cx="70511" cy="0"/>
          </a:xfrm>
          <a:prstGeom prst="line">
            <a:avLst/>
          </a:prstGeom>
          <a:ln w="238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64075" y="4211431"/>
            <a:ext cx="0" cy="358965"/>
          </a:xfrm>
          <a:prstGeom prst="line">
            <a:avLst/>
          </a:prstGeom>
          <a:ln w="238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64075" y="4570396"/>
            <a:ext cx="628189" cy="0"/>
          </a:xfrm>
          <a:prstGeom prst="line">
            <a:avLst/>
          </a:prstGeom>
          <a:ln w="238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Oval 335"/>
          <p:cNvSpPr/>
          <p:nvPr/>
        </p:nvSpPr>
        <p:spPr>
          <a:xfrm>
            <a:off x="1653804" y="4531936"/>
            <a:ext cx="76921" cy="7692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2980693" y="3743494"/>
            <a:ext cx="269223" cy="1538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2E62AA"/>
                </a:solidFill>
                <a:latin typeface="Liberation Serif"/>
              </a:defRPr>
            </a:pPr>
            <a:r>
              <a:t>TP</a:t>
            </a:r>
          </a:p>
        </p:txBody>
      </p:sp>
      <p:sp>
        <p:nvSpPr>
          <p:cNvPr id="338" name="Rounded Rectangle 337"/>
          <p:cNvSpPr/>
          <p:nvPr/>
        </p:nvSpPr>
        <p:spPr>
          <a:xfrm>
            <a:off x="2967873" y="3890926"/>
            <a:ext cx="269223" cy="839722"/>
          </a:xfrm>
          <a:prstGeom prst="roundRect">
            <a:avLst>
              <a:gd name="adj" fmla="val 19047"/>
            </a:avLst>
          </a:prstGeom>
          <a:solidFill>
            <a:srgbClr val="EDF4FB"/>
          </a:solidFill>
          <a:ln w="16192">
            <a:solidFill>
              <a:srgbClr val="1736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3025564" y="3955028"/>
            <a:ext cx="153842" cy="153842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12" y="0"/>
                </a:moveTo>
                <a:lnTo>
                  <a:pt x="24" y="9"/>
                </a:lnTo>
                <a:lnTo>
                  <a:pt x="19" y="24"/>
                </a:lnTo>
                <a:lnTo>
                  <a:pt x="5" y="24"/>
                </a:lnTo>
                <a:lnTo>
                  <a:pt x="0" y="9"/>
                </a:lnTo>
                <a:close/>
              </a:path>
            </a:pathLst>
          </a:custGeom>
          <a:solidFill>
            <a:srgbClr val="C6D9F0"/>
          </a:solidFill>
          <a:ln w="9525">
            <a:solidFill>
              <a:srgbClr val="B4B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3025564" y="4160151"/>
            <a:ext cx="153842" cy="153842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12" y="0"/>
                </a:moveTo>
                <a:lnTo>
                  <a:pt x="24" y="9"/>
                </a:lnTo>
                <a:lnTo>
                  <a:pt x="19" y="24"/>
                </a:lnTo>
                <a:lnTo>
                  <a:pt x="5" y="24"/>
                </a:lnTo>
                <a:lnTo>
                  <a:pt x="0" y="9"/>
                </a:lnTo>
                <a:close/>
              </a:path>
            </a:pathLst>
          </a:custGeom>
          <a:solidFill>
            <a:srgbClr val="F6CAD5"/>
          </a:solidFill>
          <a:ln w="9525">
            <a:solidFill>
              <a:srgbClr val="B4B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3025564" y="4365274"/>
            <a:ext cx="153842" cy="153842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12" y="0"/>
                </a:moveTo>
                <a:lnTo>
                  <a:pt x="24" y="9"/>
                </a:lnTo>
                <a:lnTo>
                  <a:pt x="19" y="24"/>
                </a:lnTo>
                <a:lnTo>
                  <a:pt x="5" y="24"/>
                </a:lnTo>
                <a:lnTo>
                  <a:pt x="0" y="9"/>
                </a:lnTo>
                <a:close/>
              </a:path>
            </a:pathLst>
          </a:custGeom>
          <a:solidFill>
            <a:srgbClr val="CEE8B8"/>
          </a:solidFill>
          <a:ln w="9525">
            <a:solidFill>
              <a:srgbClr val="B4B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3025564" y="4570397"/>
            <a:ext cx="153842" cy="153842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12" y="0"/>
                </a:moveTo>
                <a:lnTo>
                  <a:pt x="24" y="9"/>
                </a:lnTo>
                <a:lnTo>
                  <a:pt x="19" y="24"/>
                </a:lnTo>
                <a:lnTo>
                  <a:pt x="5" y="24"/>
                </a:lnTo>
                <a:lnTo>
                  <a:pt x="0" y="9"/>
                </a:lnTo>
                <a:close/>
              </a:path>
            </a:pathLst>
          </a:custGeom>
          <a:solidFill>
            <a:srgbClr val="FFD33D"/>
          </a:solidFill>
          <a:ln w="9525">
            <a:solidFill>
              <a:srgbClr val="B4B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 rot="16200000">
            <a:off x="2846081" y="4249892"/>
            <a:ext cx="153842" cy="1538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6" b="1" i="0">
                <a:solidFill>
                  <a:srgbClr val="111111"/>
                </a:solidFill>
                <a:latin typeface="Liberation Serif"/>
              </a:defRPr>
            </a:pPr>
            <a:r>
              <a:t>1×1×64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564088" y="4980642"/>
            <a:ext cx="442296" cy="916643"/>
          </a:xfrm>
          <a:prstGeom prst="roundRect">
            <a:avLst>
              <a:gd name="adj" fmla="val 17391"/>
            </a:avLst>
          </a:prstGeom>
          <a:solidFill>
            <a:srgbClr val="F8FBFE"/>
          </a:solidFill>
          <a:ln w="21907">
            <a:solidFill>
              <a:srgbClr val="1736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ounded Rectangle 344"/>
          <p:cNvSpPr/>
          <p:nvPr/>
        </p:nvSpPr>
        <p:spPr>
          <a:xfrm>
            <a:off x="653829" y="5070384"/>
            <a:ext cx="288454" cy="249993"/>
          </a:xfrm>
          <a:prstGeom prst="roundRect">
            <a:avLst>
              <a:gd name="adj" fmla="val 23076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ounded Rectangle 345"/>
          <p:cNvSpPr/>
          <p:nvPr/>
        </p:nvSpPr>
        <p:spPr>
          <a:xfrm>
            <a:off x="634599" y="5044743"/>
            <a:ext cx="288454" cy="249993"/>
          </a:xfrm>
          <a:prstGeom prst="roundRect">
            <a:avLst>
              <a:gd name="adj" fmla="val 23076"/>
            </a:avLst>
          </a:prstGeom>
          <a:solidFill>
            <a:srgbClr val="A9B77A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634599" y="5051153"/>
            <a:ext cx="288454" cy="2371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N</a:t>
            </a:r>
          </a:p>
        </p:txBody>
      </p:sp>
      <p:sp>
        <p:nvSpPr>
          <p:cNvPr id="348" name="Rounded Rectangle 347"/>
          <p:cNvSpPr/>
          <p:nvPr/>
        </p:nvSpPr>
        <p:spPr>
          <a:xfrm>
            <a:off x="653829" y="5346018"/>
            <a:ext cx="288454" cy="249993"/>
          </a:xfrm>
          <a:prstGeom prst="roundRect">
            <a:avLst>
              <a:gd name="adj" fmla="val 23076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ounded Rectangle 348"/>
          <p:cNvSpPr/>
          <p:nvPr/>
        </p:nvSpPr>
        <p:spPr>
          <a:xfrm>
            <a:off x="634599" y="5320377"/>
            <a:ext cx="288454" cy="249993"/>
          </a:xfrm>
          <a:prstGeom prst="roundRect">
            <a:avLst>
              <a:gd name="adj" fmla="val 23076"/>
            </a:avLst>
          </a:prstGeom>
          <a:solidFill>
            <a:srgbClr val="68B6AE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634599" y="5326787"/>
            <a:ext cx="288454" cy="2371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B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653829" y="5621652"/>
            <a:ext cx="288454" cy="249993"/>
          </a:xfrm>
          <a:prstGeom prst="roundRect">
            <a:avLst>
              <a:gd name="adj" fmla="val 23076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ounded Rectangle 351"/>
          <p:cNvSpPr/>
          <p:nvPr/>
        </p:nvSpPr>
        <p:spPr>
          <a:xfrm>
            <a:off x="634599" y="5596011"/>
            <a:ext cx="288454" cy="249993"/>
          </a:xfrm>
          <a:prstGeom prst="roundRect">
            <a:avLst>
              <a:gd name="adj" fmla="val 23076"/>
            </a:avLst>
          </a:prstGeom>
          <a:solidFill>
            <a:srgbClr val="6F91B3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634599" y="5602421"/>
            <a:ext cx="288454" cy="2371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C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1352529" y="4916541"/>
            <a:ext cx="1442271" cy="653829"/>
          </a:xfrm>
          <a:prstGeom prst="roundRect">
            <a:avLst>
              <a:gd name="adj" fmla="val 12745"/>
            </a:avLst>
          </a:prstGeom>
          <a:solidFill>
            <a:srgbClr val="F5FAFD"/>
          </a:solidFill>
          <a:ln w="14287">
            <a:solidFill>
              <a:srgbClr val="B8D4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ounded Rectangle 354"/>
          <p:cNvSpPr/>
          <p:nvPr/>
        </p:nvSpPr>
        <p:spPr>
          <a:xfrm>
            <a:off x="1410220" y="4974232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D5E3F0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1410220" y="4974232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1615343" y="4974232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D5E3F0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1615343" y="4974232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1820466" y="4974232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D5E3F0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1820466" y="4974232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2025589" y="4974232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D5E3F0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2025589" y="4974232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63" name="Rounded Rectangle 362"/>
          <p:cNvSpPr/>
          <p:nvPr/>
        </p:nvSpPr>
        <p:spPr>
          <a:xfrm>
            <a:off x="2230712" y="4974232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D5E3F0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2230712" y="4974232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2435835" y="4974232"/>
            <a:ext cx="185892" cy="185892"/>
          </a:xfrm>
          <a:prstGeom prst="roundRect">
            <a:avLst>
              <a:gd name="adj" fmla="val 17241"/>
            </a:avLst>
          </a:prstGeom>
          <a:solidFill>
            <a:srgbClr val="F3E7C8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2435835" y="4974232"/>
            <a:ext cx="185892" cy="185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1</a:t>
            </a:r>
          </a:p>
        </p:txBody>
      </p:sp>
      <p:sp>
        <p:nvSpPr>
          <p:cNvPr id="367" name="Rounded Rectangle 366"/>
          <p:cNvSpPr/>
          <p:nvPr/>
        </p:nvSpPr>
        <p:spPr>
          <a:xfrm>
            <a:off x="1128176" y="5192175"/>
            <a:ext cx="1429450" cy="826902"/>
          </a:xfrm>
          <a:prstGeom prst="roundRect">
            <a:avLst>
              <a:gd name="adj" fmla="val 9302"/>
            </a:avLst>
          </a:prstGeom>
          <a:solidFill>
            <a:srgbClr val="D7E8F7">
              <a:alpha val="70000"/>
            </a:srgbClr>
          </a:solidFill>
          <a:ln w="14287">
            <a:solidFill>
              <a:srgbClr val="65A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ounded Rectangle 367"/>
          <p:cNvSpPr/>
          <p:nvPr/>
        </p:nvSpPr>
        <p:spPr>
          <a:xfrm>
            <a:off x="1160227" y="5262686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1160227" y="5262686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70" name="Rounded Rectangle 369"/>
          <p:cNvSpPr/>
          <p:nvPr/>
        </p:nvSpPr>
        <p:spPr>
          <a:xfrm>
            <a:off x="1365350" y="5262686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1365350" y="5262686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1570473" y="5262686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1570473" y="5262686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1775596" y="5262686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1775596" y="5262686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sp>
        <p:nvSpPr>
          <p:cNvPr id="376" name="Rounded Rectangle 375"/>
          <p:cNvSpPr/>
          <p:nvPr/>
        </p:nvSpPr>
        <p:spPr>
          <a:xfrm>
            <a:off x="1980719" y="5262686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D9E6A6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1980719" y="5262686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1</a:t>
            </a:r>
          </a:p>
        </p:txBody>
      </p:sp>
      <p:sp>
        <p:nvSpPr>
          <p:cNvPr id="378" name="Rounded Rectangle 377"/>
          <p:cNvSpPr/>
          <p:nvPr/>
        </p:nvSpPr>
        <p:spPr>
          <a:xfrm>
            <a:off x="2185842" y="5262686"/>
            <a:ext cx="185892" cy="192302"/>
          </a:xfrm>
          <a:prstGeom prst="roundRect">
            <a:avLst>
              <a:gd name="adj" fmla="val 17241"/>
            </a:avLst>
          </a:prstGeom>
          <a:solidFill>
            <a:srgbClr val="BFD9EA"/>
          </a:solidFill>
          <a:ln w="1238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2185842" y="5262686"/>
            <a:ext cx="18589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0</a:t>
            </a:r>
          </a:p>
        </p:txBody>
      </p:sp>
      <p:cxnSp>
        <p:nvCxnSpPr>
          <p:cNvPr id="380" name="Connector 379"/>
          <p:cNvCxnSpPr/>
          <p:nvPr/>
        </p:nvCxnSpPr>
        <p:spPr>
          <a:xfrm>
            <a:off x="1256378" y="5480630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Oval 380"/>
          <p:cNvSpPr/>
          <p:nvPr/>
        </p:nvSpPr>
        <p:spPr>
          <a:xfrm>
            <a:off x="1221122" y="5663317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1461501" y="5480630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Oval 382"/>
          <p:cNvSpPr/>
          <p:nvPr/>
        </p:nvSpPr>
        <p:spPr>
          <a:xfrm>
            <a:off x="1426245" y="5663317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4" name="Connector 383"/>
          <p:cNvCxnSpPr/>
          <p:nvPr/>
        </p:nvCxnSpPr>
        <p:spPr>
          <a:xfrm>
            <a:off x="1666624" y="5480630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Oval 384"/>
          <p:cNvSpPr/>
          <p:nvPr/>
        </p:nvSpPr>
        <p:spPr>
          <a:xfrm>
            <a:off x="1631368" y="5663317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6" name="Connector 385"/>
          <p:cNvCxnSpPr/>
          <p:nvPr/>
        </p:nvCxnSpPr>
        <p:spPr>
          <a:xfrm>
            <a:off x="1871747" y="5480630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Oval 386"/>
          <p:cNvSpPr/>
          <p:nvPr/>
        </p:nvSpPr>
        <p:spPr>
          <a:xfrm>
            <a:off x="1836491" y="5663317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>
            <a:off x="2076870" y="5480630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Oval 388"/>
          <p:cNvSpPr/>
          <p:nvPr/>
        </p:nvSpPr>
        <p:spPr>
          <a:xfrm>
            <a:off x="2041614" y="5663317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0" name="Connector 389"/>
          <p:cNvCxnSpPr/>
          <p:nvPr/>
        </p:nvCxnSpPr>
        <p:spPr>
          <a:xfrm>
            <a:off x="2281993" y="5480630"/>
            <a:ext cx="0" cy="211533"/>
          </a:xfrm>
          <a:prstGeom prst="line">
            <a:avLst/>
          </a:prstGeom>
          <a:ln w="219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Oval 390"/>
          <p:cNvSpPr/>
          <p:nvPr/>
        </p:nvSpPr>
        <p:spPr>
          <a:xfrm>
            <a:off x="2246737" y="5663317"/>
            <a:ext cx="70511" cy="7051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2" name="Connector 391"/>
          <p:cNvCxnSpPr/>
          <p:nvPr/>
        </p:nvCxnSpPr>
        <p:spPr>
          <a:xfrm>
            <a:off x="999974" y="5403708"/>
            <a:ext cx="70511" cy="0"/>
          </a:xfrm>
          <a:prstGeom prst="line">
            <a:avLst/>
          </a:prstGeom>
          <a:ln w="238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1070485" y="5403708"/>
            <a:ext cx="0" cy="435887"/>
          </a:xfrm>
          <a:prstGeom prst="line">
            <a:avLst/>
          </a:prstGeom>
          <a:ln w="238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1070485" y="5839595"/>
            <a:ext cx="602549" cy="0"/>
          </a:xfrm>
          <a:prstGeom prst="line">
            <a:avLst/>
          </a:prstGeom>
          <a:ln w="238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Oval 394"/>
          <p:cNvSpPr/>
          <p:nvPr/>
        </p:nvSpPr>
        <p:spPr>
          <a:xfrm>
            <a:off x="1634573" y="5801134"/>
            <a:ext cx="76921" cy="76921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ounded Rectangle 395"/>
          <p:cNvSpPr/>
          <p:nvPr/>
        </p:nvSpPr>
        <p:spPr>
          <a:xfrm>
            <a:off x="2967873" y="4788339"/>
            <a:ext cx="269223" cy="1192277"/>
          </a:xfrm>
          <a:prstGeom prst="roundRect">
            <a:avLst>
              <a:gd name="adj" fmla="val 19047"/>
            </a:avLst>
          </a:prstGeom>
          <a:solidFill>
            <a:srgbClr val="EAF3FB"/>
          </a:solidFill>
          <a:ln w="16192">
            <a:solidFill>
              <a:srgbClr val="1736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3035179" y="4855645"/>
            <a:ext cx="134611" cy="134611"/>
          </a:xfrm>
          <a:prstGeom prst="ellipse">
            <a:avLst/>
          </a:prstGeom>
          <a:solidFill>
            <a:srgbClr val="D4EFB8"/>
          </a:solidFill>
          <a:ln w="9525">
            <a:solidFill>
              <a:srgbClr val="B7B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3035179" y="5060768"/>
            <a:ext cx="134611" cy="134611"/>
          </a:xfrm>
          <a:prstGeom prst="ellipse">
            <a:avLst/>
          </a:prstGeom>
          <a:solidFill>
            <a:srgbClr val="F8CFD5"/>
          </a:solidFill>
          <a:ln w="9525">
            <a:solidFill>
              <a:srgbClr val="B7B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3035179" y="5265891"/>
            <a:ext cx="134611" cy="134611"/>
          </a:xfrm>
          <a:prstGeom prst="ellipse">
            <a:avLst/>
          </a:prstGeom>
          <a:solidFill>
            <a:srgbClr val="C7DDF4"/>
          </a:solidFill>
          <a:ln w="9525">
            <a:solidFill>
              <a:srgbClr val="B7B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3035179" y="5746648"/>
            <a:ext cx="134611" cy="134611"/>
          </a:xfrm>
          <a:prstGeom prst="ellipse">
            <a:avLst/>
          </a:prstGeom>
          <a:solidFill>
            <a:srgbClr val="FFD33D"/>
          </a:solidFill>
          <a:ln w="9525">
            <a:solidFill>
              <a:srgbClr val="B7B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2942233" y="5961387"/>
            <a:ext cx="326914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2E62AA"/>
                </a:solidFill>
                <a:latin typeface="Liberation Serif"/>
              </a:defRPr>
            </a:pPr>
            <a:r>
              <a:t>DSP</a:t>
            </a:r>
          </a:p>
        </p:txBody>
      </p:sp>
      <p:sp>
        <p:nvSpPr>
          <p:cNvPr id="402" name="Rounded Rectangle 401"/>
          <p:cNvSpPr/>
          <p:nvPr/>
        </p:nvSpPr>
        <p:spPr>
          <a:xfrm>
            <a:off x="3564012" y="3493501"/>
            <a:ext cx="6544706" cy="2724289"/>
          </a:xfrm>
          <a:prstGeom prst="roundRect">
            <a:avLst>
              <a:gd name="adj" fmla="val 5176"/>
            </a:avLst>
          </a:prstGeom>
          <a:solidFill>
            <a:srgbClr val="FFFFFF"/>
          </a:solidFill>
          <a:ln w="28575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ounded Rectangle 402"/>
          <p:cNvSpPr/>
          <p:nvPr/>
        </p:nvSpPr>
        <p:spPr>
          <a:xfrm>
            <a:off x="3890927" y="3333248"/>
            <a:ext cx="5948567" cy="282044"/>
          </a:xfrm>
          <a:prstGeom prst="roundRect">
            <a:avLst>
              <a:gd name="adj" fmla="val 29545"/>
            </a:avLst>
          </a:prstGeom>
          <a:solidFill>
            <a:srgbClr val="AAB7C5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ounded Rectangle 403"/>
          <p:cNvSpPr/>
          <p:nvPr/>
        </p:nvSpPr>
        <p:spPr>
          <a:xfrm>
            <a:off x="3865286" y="3301198"/>
            <a:ext cx="5948567" cy="282044"/>
          </a:xfrm>
          <a:prstGeom prst="roundRect">
            <a:avLst>
              <a:gd name="adj" fmla="val 29545"/>
            </a:avLst>
          </a:prstGeom>
          <a:solidFill>
            <a:srgbClr val="D7E7F8"/>
          </a:solidFill>
          <a:ln w="2381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3865286" y="3326838"/>
            <a:ext cx="5948567" cy="21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111111"/>
                </a:solidFill>
                <a:latin typeface="Liberation Serif"/>
              </a:defRPr>
            </a:pPr>
            <a:r>
              <a:t>(c) IR Multi-Degradation Restoration Network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3653753" y="4307582"/>
            <a:ext cx="775621" cy="2756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Liberation Serif"/>
              </a:defRPr>
            </a:pPr>
            <a:r>
              <a:t>Degraded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Liberation Serif"/>
              </a:defRPr>
            </a:pPr>
            <a:r>
              <a:t>Inf. Image</a:t>
            </a:r>
          </a:p>
        </p:txBody>
      </p:sp>
      <p:pic>
        <p:nvPicPr>
          <p:cNvPr id="407" name="Picture 406" descr="degra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3753" y="4602447"/>
            <a:ext cx="775621" cy="673059"/>
          </a:xfrm>
          <a:prstGeom prst="rect">
            <a:avLst/>
          </a:prstGeom>
        </p:spPr>
      </p:pic>
      <p:cxnSp>
        <p:nvCxnSpPr>
          <p:cNvPr id="408" name="Connector 407"/>
          <p:cNvCxnSpPr/>
          <p:nvPr/>
        </p:nvCxnSpPr>
        <p:spPr>
          <a:xfrm>
            <a:off x="4429375" y="4935772"/>
            <a:ext cx="192302" cy="0"/>
          </a:xfrm>
          <a:prstGeom prst="line">
            <a:avLst/>
          </a:prstGeom>
          <a:ln w="285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Freeform 408"/>
          <p:cNvSpPr/>
          <p:nvPr/>
        </p:nvSpPr>
        <p:spPr>
          <a:xfrm>
            <a:off x="4685779" y="4147331"/>
            <a:ext cx="480757" cy="166662"/>
          </a:xfrm>
          <a:custGeom>
            <a:avLst/>
            <a:gdLst/>
            <a:ahLst/>
            <a:cxnLst/>
            <a:rect l="l" t="t" r="r" b="b"/>
            <a:pathLst>
              <a:path w="75" h="26">
                <a:moveTo>
                  <a:pt x="10" y="0"/>
                </a:moveTo>
                <a:lnTo>
                  <a:pt x="75" y="0"/>
                </a:lnTo>
                <a:lnTo>
                  <a:pt x="55" y="26"/>
                </a:lnTo>
                <a:lnTo>
                  <a:pt x="0" y="26"/>
                </a:lnTo>
                <a:close/>
              </a:path>
            </a:pathLst>
          </a:custGeom>
          <a:solidFill>
            <a:srgbClr val="ECF0F3"/>
          </a:solidFill>
          <a:ln w="12382">
            <a:solidFill>
              <a:srgbClr val="CD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5038334" y="4147331"/>
            <a:ext cx="128202" cy="1416631"/>
          </a:xfrm>
          <a:custGeom>
            <a:avLst/>
            <a:gdLst/>
            <a:ahLst/>
            <a:cxnLst/>
            <a:rect l="l" t="t" r="r" b="b"/>
            <a:pathLst>
              <a:path w="20" h="221">
                <a:moveTo>
                  <a:pt x="20" y="0"/>
                </a:moveTo>
                <a:lnTo>
                  <a:pt x="20" y="196"/>
                </a:lnTo>
                <a:lnTo>
                  <a:pt x="0" y="221"/>
                </a:lnTo>
                <a:lnTo>
                  <a:pt x="0" y="26"/>
                </a:lnTo>
                <a:close/>
              </a:path>
            </a:pathLst>
          </a:custGeom>
          <a:solidFill>
            <a:srgbClr val="E5E8EA"/>
          </a:solidFill>
          <a:ln w="11429">
            <a:solidFill>
              <a:srgbClr val="C4C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4634498" y="4192201"/>
            <a:ext cx="185893" cy="1249968"/>
          </a:xfrm>
          <a:custGeom>
            <a:avLst/>
            <a:gdLst/>
            <a:ahLst/>
            <a:cxnLst/>
            <a:rect l="l" t="t" r="r" b="b"/>
            <a:pathLst>
              <a:path w="29" h="195">
                <a:moveTo>
                  <a:pt x="0" y="11"/>
                </a:moveTo>
                <a:lnTo>
                  <a:pt x="29" y="0"/>
                </a:lnTo>
                <a:lnTo>
                  <a:pt x="29" y="184"/>
                </a:lnTo>
                <a:lnTo>
                  <a:pt x="0" y="195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2" name="Connector 411"/>
          <p:cNvCxnSpPr/>
          <p:nvPr/>
        </p:nvCxnSpPr>
        <p:spPr>
          <a:xfrm>
            <a:off x="4820390" y="4192201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Freeform 412"/>
          <p:cNvSpPr/>
          <p:nvPr/>
        </p:nvSpPr>
        <p:spPr>
          <a:xfrm>
            <a:off x="4724239" y="4192201"/>
            <a:ext cx="185893" cy="1249968"/>
          </a:xfrm>
          <a:custGeom>
            <a:avLst/>
            <a:gdLst/>
            <a:ahLst/>
            <a:cxnLst/>
            <a:rect l="l" t="t" r="r" b="b"/>
            <a:pathLst>
              <a:path w="29" h="195">
                <a:moveTo>
                  <a:pt x="0" y="11"/>
                </a:moveTo>
                <a:lnTo>
                  <a:pt x="29" y="0"/>
                </a:lnTo>
                <a:lnTo>
                  <a:pt x="29" y="184"/>
                </a:lnTo>
                <a:lnTo>
                  <a:pt x="0" y="195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4" name="Connector 413"/>
          <p:cNvCxnSpPr/>
          <p:nvPr/>
        </p:nvCxnSpPr>
        <p:spPr>
          <a:xfrm>
            <a:off x="4910132" y="4192201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Freeform 414"/>
          <p:cNvSpPr/>
          <p:nvPr/>
        </p:nvSpPr>
        <p:spPr>
          <a:xfrm>
            <a:off x="4813981" y="4192201"/>
            <a:ext cx="185893" cy="1249968"/>
          </a:xfrm>
          <a:custGeom>
            <a:avLst/>
            <a:gdLst/>
            <a:ahLst/>
            <a:cxnLst/>
            <a:rect l="l" t="t" r="r" b="b"/>
            <a:pathLst>
              <a:path w="29" h="195">
                <a:moveTo>
                  <a:pt x="0" y="11"/>
                </a:moveTo>
                <a:lnTo>
                  <a:pt x="29" y="0"/>
                </a:lnTo>
                <a:lnTo>
                  <a:pt x="29" y="184"/>
                </a:lnTo>
                <a:lnTo>
                  <a:pt x="0" y="195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6" name="Connector 415"/>
          <p:cNvCxnSpPr/>
          <p:nvPr/>
        </p:nvCxnSpPr>
        <p:spPr>
          <a:xfrm>
            <a:off x="4999873" y="4192201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5192176" y="4922951"/>
            <a:ext cx="384605" cy="0"/>
          </a:xfrm>
          <a:prstGeom prst="line">
            <a:avLst/>
          </a:prstGeom>
          <a:ln w="285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Freeform 417"/>
          <p:cNvSpPr/>
          <p:nvPr/>
        </p:nvSpPr>
        <p:spPr>
          <a:xfrm>
            <a:off x="5640883" y="4410144"/>
            <a:ext cx="410246" cy="166662"/>
          </a:xfrm>
          <a:custGeom>
            <a:avLst/>
            <a:gdLst/>
            <a:ahLst/>
            <a:cxnLst/>
            <a:rect l="l" t="t" r="r" b="b"/>
            <a:pathLst>
              <a:path w="64" h="26">
                <a:moveTo>
                  <a:pt x="10" y="0"/>
                </a:moveTo>
                <a:lnTo>
                  <a:pt x="64" y="0"/>
                </a:lnTo>
                <a:lnTo>
                  <a:pt x="44" y="26"/>
                </a:lnTo>
                <a:lnTo>
                  <a:pt x="0" y="26"/>
                </a:lnTo>
                <a:close/>
              </a:path>
            </a:pathLst>
          </a:custGeom>
          <a:solidFill>
            <a:srgbClr val="ECF0F3"/>
          </a:solidFill>
          <a:ln w="12382">
            <a:solidFill>
              <a:srgbClr val="CD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5922927" y="4410144"/>
            <a:ext cx="128202" cy="1019205"/>
          </a:xfrm>
          <a:custGeom>
            <a:avLst/>
            <a:gdLst/>
            <a:ahLst/>
            <a:cxnLst/>
            <a:rect l="l" t="t" r="r" b="b"/>
            <a:pathLst>
              <a:path w="20" h="159">
                <a:moveTo>
                  <a:pt x="20" y="0"/>
                </a:moveTo>
                <a:lnTo>
                  <a:pt x="20" y="134"/>
                </a:lnTo>
                <a:lnTo>
                  <a:pt x="0" y="159"/>
                </a:lnTo>
                <a:lnTo>
                  <a:pt x="0" y="26"/>
                </a:lnTo>
                <a:close/>
              </a:path>
            </a:pathLst>
          </a:custGeom>
          <a:solidFill>
            <a:srgbClr val="E5E8EA"/>
          </a:solidFill>
          <a:ln w="11429">
            <a:solidFill>
              <a:srgbClr val="C4C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5589602" y="4455015"/>
            <a:ext cx="185893" cy="852542"/>
          </a:xfrm>
          <a:custGeom>
            <a:avLst/>
            <a:gdLst/>
            <a:ahLst/>
            <a:cxnLst/>
            <a:rect l="l" t="t" r="r" b="b"/>
            <a:pathLst>
              <a:path w="29" h="133">
                <a:moveTo>
                  <a:pt x="0" y="11"/>
                </a:moveTo>
                <a:lnTo>
                  <a:pt x="29" y="0"/>
                </a:lnTo>
                <a:lnTo>
                  <a:pt x="29" y="122"/>
                </a:lnTo>
                <a:lnTo>
                  <a:pt x="0" y="133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1" name="Connector 420"/>
          <p:cNvCxnSpPr/>
          <p:nvPr/>
        </p:nvCxnSpPr>
        <p:spPr>
          <a:xfrm>
            <a:off x="5775494" y="4455015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Freeform 421"/>
          <p:cNvSpPr/>
          <p:nvPr/>
        </p:nvSpPr>
        <p:spPr>
          <a:xfrm>
            <a:off x="5679343" y="4455015"/>
            <a:ext cx="185893" cy="852542"/>
          </a:xfrm>
          <a:custGeom>
            <a:avLst/>
            <a:gdLst/>
            <a:ahLst/>
            <a:cxnLst/>
            <a:rect l="l" t="t" r="r" b="b"/>
            <a:pathLst>
              <a:path w="29" h="133">
                <a:moveTo>
                  <a:pt x="0" y="11"/>
                </a:moveTo>
                <a:lnTo>
                  <a:pt x="29" y="0"/>
                </a:lnTo>
                <a:lnTo>
                  <a:pt x="29" y="122"/>
                </a:lnTo>
                <a:lnTo>
                  <a:pt x="0" y="133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3" name="Connector 422"/>
          <p:cNvCxnSpPr/>
          <p:nvPr/>
        </p:nvCxnSpPr>
        <p:spPr>
          <a:xfrm>
            <a:off x="5865236" y="4455015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Freeform 423"/>
          <p:cNvSpPr/>
          <p:nvPr/>
        </p:nvSpPr>
        <p:spPr>
          <a:xfrm>
            <a:off x="5769085" y="4455015"/>
            <a:ext cx="185893" cy="852542"/>
          </a:xfrm>
          <a:custGeom>
            <a:avLst/>
            <a:gdLst/>
            <a:ahLst/>
            <a:cxnLst/>
            <a:rect l="l" t="t" r="r" b="b"/>
            <a:pathLst>
              <a:path w="29" h="133">
                <a:moveTo>
                  <a:pt x="0" y="11"/>
                </a:moveTo>
                <a:lnTo>
                  <a:pt x="29" y="0"/>
                </a:lnTo>
                <a:lnTo>
                  <a:pt x="29" y="122"/>
                </a:lnTo>
                <a:lnTo>
                  <a:pt x="0" y="133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5" name="Connector 424"/>
          <p:cNvCxnSpPr/>
          <p:nvPr/>
        </p:nvCxnSpPr>
        <p:spPr>
          <a:xfrm>
            <a:off x="5954977" y="4455015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Rounded Rectangle 425"/>
          <p:cNvSpPr/>
          <p:nvPr/>
        </p:nvSpPr>
        <p:spPr>
          <a:xfrm>
            <a:off x="5679343" y="3762724"/>
            <a:ext cx="1557652" cy="493577"/>
          </a:xfrm>
          <a:prstGeom prst="roundRect">
            <a:avLst>
              <a:gd name="adj" fmla="val 18181"/>
            </a:avLst>
          </a:prstGeom>
          <a:solidFill>
            <a:srgbClr val="EFF5FA">
              <a:alpha val="55000"/>
            </a:srgbClr>
          </a:solidFill>
          <a:ln w="14287">
            <a:solidFill>
              <a:srgbClr val="3A7BD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ounded Rectangle 426"/>
          <p:cNvSpPr/>
          <p:nvPr/>
        </p:nvSpPr>
        <p:spPr>
          <a:xfrm>
            <a:off x="5929337" y="3679393"/>
            <a:ext cx="1057665" cy="602548"/>
          </a:xfrm>
          <a:prstGeom prst="roundRect">
            <a:avLst>
              <a:gd name="adj" fmla="val 13829"/>
            </a:avLst>
          </a:prstGeom>
          <a:solidFill>
            <a:srgbClr val="F7FBFE">
              <a:alpha val="45000"/>
            </a:srgbClr>
          </a:solidFill>
          <a:ln w="14287">
            <a:solidFill>
              <a:srgbClr val="3A7BD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5749854" y="3756315"/>
            <a:ext cx="461527" cy="461527"/>
          </a:xfrm>
          <a:custGeom>
            <a:avLst/>
            <a:gdLst/>
            <a:ahLst/>
            <a:cxnLst/>
            <a:rect l="l" t="t" r="r" b="b"/>
            <a:pathLst>
              <a:path w="72" h="72">
                <a:moveTo>
                  <a:pt x="0" y="0"/>
                </a:moveTo>
                <a:lnTo>
                  <a:pt x="72" y="21"/>
                </a:lnTo>
                <a:lnTo>
                  <a:pt x="72" y="54"/>
                </a:lnTo>
                <a:lnTo>
                  <a:pt x="0" y="72"/>
                </a:lnTo>
                <a:close/>
              </a:path>
            </a:pathLst>
          </a:custGeom>
          <a:solidFill>
            <a:srgbClr val="9FB4C6">
              <a:alpha val="70000"/>
            </a:srgbClr>
          </a:solidFill>
          <a:ln w="17145">
            <a:solidFill>
              <a:srgbClr val="536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6422914" y="3781955"/>
            <a:ext cx="397426" cy="391016"/>
          </a:xfrm>
          <a:custGeom>
            <a:avLst/>
            <a:gdLst/>
            <a:ahLst/>
            <a:cxnLst/>
            <a:rect l="l" t="t" r="r" b="b"/>
            <a:pathLst>
              <a:path w="62" h="61">
                <a:moveTo>
                  <a:pt x="0" y="20"/>
                </a:moveTo>
                <a:lnTo>
                  <a:pt x="62" y="0"/>
                </a:lnTo>
                <a:lnTo>
                  <a:pt x="62" y="61"/>
                </a:lnTo>
                <a:lnTo>
                  <a:pt x="0" y="45"/>
                </a:lnTo>
                <a:close/>
              </a:path>
            </a:pathLst>
          </a:custGeom>
          <a:solidFill>
            <a:srgbClr val="B4C6D5">
              <a:alpha val="70000"/>
            </a:srgbClr>
          </a:solidFill>
          <a:ln w="17145">
            <a:solidFill>
              <a:srgbClr val="536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6230611" y="3846056"/>
            <a:ext cx="153842" cy="314094"/>
          </a:xfrm>
          <a:prstGeom prst="rect">
            <a:avLst/>
          </a:prstGeom>
          <a:solidFill>
            <a:srgbClr val="CBD6DF"/>
          </a:solidFill>
          <a:ln w="13334">
            <a:solidFill>
              <a:srgbClr val="637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6390863" y="3794775"/>
            <a:ext cx="57690" cy="429476"/>
          </a:xfrm>
          <a:prstGeom prst="rect">
            <a:avLst/>
          </a:prstGeom>
          <a:solidFill>
            <a:srgbClr val="E0E7ED"/>
          </a:solidFill>
          <a:ln w="9525">
            <a:solidFill>
              <a:srgbClr val="879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2" name="Connector 431"/>
          <p:cNvCxnSpPr/>
          <p:nvPr/>
        </p:nvCxnSpPr>
        <p:spPr>
          <a:xfrm>
            <a:off x="3243507" y="4365273"/>
            <a:ext cx="179483" cy="0"/>
          </a:xfrm>
          <a:prstGeom prst="line">
            <a:avLst/>
          </a:prstGeom>
          <a:ln w="28575">
            <a:solidFill>
              <a:srgbClr val="EDA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3422990" y="3717854"/>
            <a:ext cx="0" cy="647419"/>
          </a:xfrm>
          <a:prstGeom prst="line">
            <a:avLst/>
          </a:prstGeom>
          <a:ln w="28575">
            <a:solidFill>
              <a:srgbClr val="EDA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3422990" y="3717854"/>
            <a:ext cx="2442246" cy="0"/>
          </a:xfrm>
          <a:prstGeom prst="line">
            <a:avLst/>
          </a:prstGeom>
          <a:ln w="28575">
            <a:solidFill>
              <a:srgbClr val="EDA36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5204996" y="3679393"/>
            <a:ext cx="76921" cy="76921"/>
          </a:xfrm>
          <a:prstGeom prst="ellipse">
            <a:avLst/>
          </a:prstGeom>
          <a:solidFill>
            <a:srgbClr val="EDA363"/>
          </a:solidFill>
          <a:ln w="9525">
            <a:solidFill>
              <a:srgbClr val="EDA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6" name="Connector 435"/>
          <p:cNvCxnSpPr/>
          <p:nvPr/>
        </p:nvCxnSpPr>
        <p:spPr>
          <a:xfrm>
            <a:off x="5243456" y="3717854"/>
            <a:ext cx="0" cy="532038"/>
          </a:xfrm>
          <a:prstGeom prst="line">
            <a:avLst/>
          </a:prstGeom>
          <a:ln w="28575">
            <a:solidFill>
              <a:srgbClr val="EDA36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3237097" y="5281917"/>
            <a:ext cx="262814" cy="0"/>
          </a:xfrm>
          <a:prstGeom prst="line">
            <a:avLst/>
          </a:prstGeom>
          <a:ln w="28575">
            <a:solidFill>
              <a:srgbClr val="2E6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3499911" y="3993488"/>
            <a:ext cx="0" cy="1288429"/>
          </a:xfrm>
          <a:prstGeom prst="line">
            <a:avLst/>
          </a:prstGeom>
          <a:ln w="28575">
            <a:solidFill>
              <a:srgbClr val="2E6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3499911" y="3993488"/>
            <a:ext cx="2185842" cy="0"/>
          </a:xfrm>
          <a:prstGeom prst="line">
            <a:avLst/>
          </a:prstGeom>
          <a:ln w="28575">
            <a:solidFill>
              <a:srgbClr val="2E62A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4987053" y="3955027"/>
            <a:ext cx="76921" cy="76921"/>
          </a:xfrm>
          <a:prstGeom prst="ellipse">
            <a:avLst/>
          </a:prstGeom>
          <a:solidFill>
            <a:srgbClr val="2E62AA"/>
          </a:solidFill>
          <a:ln w="9525">
            <a:solidFill>
              <a:srgbClr val="2E6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5025513" y="3993488"/>
            <a:ext cx="0" cy="339735"/>
          </a:xfrm>
          <a:prstGeom prst="line">
            <a:avLst/>
          </a:prstGeom>
          <a:ln w="28575">
            <a:solidFill>
              <a:srgbClr val="2E62A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6345993" y="4249892"/>
            <a:ext cx="0" cy="474346"/>
          </a:xfrm>
          <a:prstGeom prst="line">
            <a:avLst/>
          </a:prstGeom>
          <a:ln w="28575">
            <a:solidFill>
              <a:srgbClr val="2E62A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6749829" y="4249892"/>
            <a:ext cx="0" cy="474346"/>
          </a:xfrm>
          <a:prstGeom prst="line">
            <a:avLst/>
          </a:prstGeom>
          <a:ln w="28575">
            <a:solidFill>
              <a:srgbClr val="EDA36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Rounded Rectangle 443"/>
          <p:cNvSpPr/>
          <p:nvPr/>
        </p:nvSpPr>
        <p:spPr>
          <a:xfrm>
            <a:off x="5480630" y="4333223"/>
            <a:ext cx="1794826" cy="1224327"/>
          </a:xfrm>
          <a:prstGeom prst="roundRect">
            <a:avLst>
              <a:gd name="adj" fmla="val 9424"/>
            </a:avLst>
          </a:prstGeom>
          <a:solidFill>
            <a:srgbClr val="A5A7A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ounded Rectangle 444"/>
          <p:cNvSpPr/>
          <p:nvPr/>
        </p:nvSpPr>
        <p:spPr>
          <a:xfrm>
            <a:off x="5487040" y="4333223"/>
            <a:ext cx="1782006" cy="1217917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5240">
            <a:solidFill>
              <a:srgbClr val="BFC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6179330" y="4448604"/>
            <a:ext cx="814081" cy="243583"/>
          </a:xfrm>
          <a:prstGeom prst="rect">
            <a:avLst/>
          </a:prstGeom>
          <a:solidFill>
            <a:srgbClr val="F9FBFC"/>
          </a:solidFill>
          <a:ln w="22859">
            <a:solidFill>
              <a:srgbClr val="D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6211381" y="4480655"/>
            <a:ext cx="749981" cy="173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111111"/>
                </a:solidFill>
                <a:latin typeface="Liberation Serif"/>
              </a:defRPr>
            </a:pPr>
            <a:r>
              <a:t>Prompt Fusion</a:t>
            </a:r>
          </a:p>
        </p:txBody>
      </p:sp>
      <p:cxnSp>
        <p:nvCxnSpPr>
          <p:cNvPr id="448" name="Connector 447"/>
          <p:cNvCxnSpPr/>
          <p:nvPr/>
        </p:nvCxnSpPr>
        <p:spPr>
          <a:xfrm>
            <a:off x="6589576" y="4692188"/>
            <a:ext cx="0" cy="153842"/>
          </a:xfrm>
          <a:prstGeom prst="line">
            <a:avLst/>
          </a:prstGeom>
          <a:ln w="24765">
            <a:solidFill>
              <a:srgbClr val="D1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6897261" y="4692188"/>
            <a:ext cx="0" cy="153842"/>
          </a:xfrm>
          <a:prstGeom prst="line">
            <a:avLst/>
          </a:prstGeom>
          <a:ln w="24765">
            <a:solidFill>
              <a:srgbClr val="D1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6012668" y="4929361"/>
            <a:ext cx="230763" cy="0"/>
          </a:xfrm>
          <a:prstGeom prst="line">
            <a:avLst/>
          </a:prstGeom>
          <a:ln w="285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Oval 450"/>
          <p:cNvSpPr/>
          <p:nvPr/>
        </p:nvSpPr>
        <p:spPr>
          <a:xfrm>
            <a:off x="6243431" y="4833210"/>
            <a:ext cx="192302" cy="19230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249841" y="4833210"/>
            <a:ext cx="17948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2" b="1" i="0">
                <a:solidFill>
                  <a:srgbClr val="111111"/>
                </a:solidFill>
                <a:latin typeface="Liberation Serif"/>
              </a:defRPr>
            </a:pPr>
            <a:r>
              <a:t>×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6442144" y="4781929"/>
            <a:ext cx="173072" cy="13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1">
                <a:solidFill>
                  <a:srgbClr val="111111"/>
                </a:solidFill>
                <a:latin typeface="Liberation Serif"/>
              </a:defRPr>
            </a:pPr>
            <a:r>
              <a:t>γ</a:t>
            </a:r>
          </a:p>
        </p:txBody>
      </p:sp>
      <p:cxnSp>
        <p:nvCxnSpPr>
          <p:cNvPr id="454" name="Connector 453"/>
          <p:cNvCxnSpPr/>
          <p:nvPr/>
        </p:nvCxnSpPr>
        <p:spPr>
          <a:xfrm>
            <a:off x="6435734" y="4929361"/>
            <a:ext cx="224353" cy="0"/>
          </a:xfrm>
          <a:prstGeom prst="line">
            <a:avLst/>
          </a:prstGeom>
          <a:ln w="285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Oval 454"/>
          <p:cNvSpPr/>
          <p:nvPr/>
        </p:nvSpPr>
        <p:spPr>
          <a:xfrm>
            <a:off x="6660087" y="4833210"/>
            <a:ext cx="192302" cy="19230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6666497" y="4833210"/>
            <a:ext cx="17948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2" b="1" i="0">
                <a:solidFill>
                  <a:srgbClr val="111111"/>
                </a:solidFill>
                <a:latin typeface="Liberation Serif"/>
              </a:defRPr>
            </a:pPr>
            <a:r>
              <a:t>+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6852390" y="4781929"/>
            <a:ext cx="173072" cy="13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1">
                <a:solidFill>
                  <a:srgbClr val="111111"/>
                </a:solidFill>
                <a:latin typeface="Liberation Serif"/>
              </a:defRPr>
            </a:pPr>
            <a:r>
              <a:t>β</a:t>
            </a:r>
          </a:p>
        </p:txBody>
      </p:sp>
      <p:cxnSp>
        <p:nvCxnSpPr>
          <p:cNvPr id="458" name="Connector 457"/>
          <p:cNvCxnSpPr/>
          <p:nvPr/>
        </p:nvCxnSpPr>
        <p:spPr>
          <a:xfrm>
            <a:off x="6852390" y="4929361"/>
            <a:ext cx="179483" cy="0"/>
          </a:xfrm>
          <a:prstGeom prst="line">
            <a:avLst/>
          </a:prstGeom>
          <a:ln w="285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Oval 458"/>
          <p:cNvSpPr/>
          <p:nvPr/>
        </p:nvSpPr>
        <p:spPr>
          <a:xfrm>
            <a:off x="7031873" y="4833210"/>
            <a:ext cx="192302" cy="19230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7038283" y="4833210"/>
            <a:ext cx="17948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2" b="1" i="0">
                <a:solidFill>
                  <a:srgbClr val="111111"/>
                </a:solidFill>
                <a:latin typeface="Liberation Serif"/>
              </a:defRPr>
            </a:pPr>
            <a:r>
              <a:t>+</a:t>
            </a:r>
          </a:p>
        </p:txBody>
      </p:sp>
      <p:cxnSp>
        <p:nvCxnSpPr>
          <p:cNvPr id="461" name="Connector 460"/>
          <p:cNvCxnSpPr/>
          <p:nvPr/>
        </p:nvCxnSpPr>
        <p:spPr>
          <a:xfrm>
            <a:off x="7224176" y="4929361"/>
            <a:ext cx="198712" cy="0"/>
          </a:xfrm>
          <a:prstGeom prst="line">
            <a:avLst/>
          </a:prstGeom>
          <a:ln w="285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6108819" y="4999873"/>
            <a:ext cx="0" cy="243583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6108819" y="5243456"/>
            <a:ext cx="1019205" cy="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7128024" y="5031923"/>
            <a:ext cx="0" cy="211533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TextBox 464"/>
          <p:cNvSpPr txBox="1"/>
          <p:nvPr/>
        </p:nvSpPr>
        <p:spPr>
          <a:xfrm>
            <a:off x="6480605" y="5365248"/>
            <a:ext cx="692290" cy="1538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IR Block</a:t>
            </a:r>
          </a:p>
        </p:txBody>
      </p:sp>
      <p:sp>
        <p:nvSpPr>
          <p:cNvPr id="466" name="Freeform 465"/>
          <p:cNvSpPr/>
          <p:nvPr/>
        </p:nvSpPr>
        <p:spPr>
          <a:xfrm>
            <a:off x="7474170" y="4410144"/>
            <a:ext cx="416656" cy="166662"/>
          </a:xfrm>
          <a:custGeom>
            <a:avLst/>
            <a:gdLst/>
            <a:ahLst/>
            <a:cxnLst/>
            <a:rect l="l" t="t" r="r" b="b"/>
            <a:pathLst>
              <a:path w="65" h="26">
                <a:moveTo>
                  <a:pt x="10" y="0"/>
                </a:moveTo>
                <a:lnTo>
                  <a:pt x="65" y="0"/>
                </a:lnTo>
                <a:lnTo>
                  <a:pt x="45" y="26"/>
                </a:lnTo>
                <a:lnTo>
                  <a:pt x="0" y="26"/>
                </a:lnTo>
                <a:close/>
              </a:path>
            </a:pathLst>
          </a:custGeom>
          <a:solidFill>
            <a:srgbClr val="ECF0F3"/>
          </a:solidFill>
          <a:ln w="12382">
            <a:solidFill>
              <a:srgbClr val="CD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7762624" y="4410144"/>
            <a:ext cx="128202" cy="1012795"/>
          </a:xfrm>
          <a:custGeom>
            <a:avLst/>
            <a:gdLst/>
            <a:ahLst/>
            <a:cxnLst/>
            <a:rect l="l" t="t" r="r" b="b"/>
            <a:pathLst>
              <a:path w="20" h="158">
                <a:moveTo>
                  <a:pt x="20" y="0"/>
                </a:moveTo>
                <a:lnTo>
                  <a:pt x="20" y="133"/>
                </a:lnTo>
                <a:lnTo>
                  <a:pt x="0" y="158"/>
                </a:lnTo>
                <a:lnTo>
                  <a:pt x="0" y="26"/>
                </a:lnTo>
                <a:close/>
              </a:path>
            </a:pathLst>
          </a:custGeom>
          <a:solidFill>
            <a:srgbClr val="E5E8EA"/>
          </a:solidFill>
          <a:ln w="11429">
            <a:solidFill>
              <a:srgbClr val="C4C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7422889" y="4455015"/>
            <a:ext cx="185893" cy="846132"/>
          </a:xfrm>
          <a:custGeom>
            <a:avLst/>
            <a:gdLst/>
            <a:ahLst/>
            <a:cxnLst/>
            <a:rect l="l" t="t" r="r" b="b"/>
            <a:pathLst>
              <a:path w="29" h="132">
                <a:moveTo>
                  <a:pt x="0" y="11"/>
                </a:moveTo>
                <a:lnTo>
                  <a:pt x="29" y="0"/>
                </a:lnTo>
                <a:lnTo>
                  <a:pt x="29" y="121"/>
                </a:lnTo>
                <a:lnTo>
                  <a:pt x="0" y="132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9" name="Connector 468"/>
          <p:cNvCxnSpPr/>
          <p:nvPr/>
        </p:nvCxnSpPr>
        <p:spPr>
          <a:xfrm>
            <a:off x="7608781" y="4455015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Freeform 469"/>
          <p:cNvSpPr/>
          <p:nvPr/>
        </p:nvSpPr>
        <p:spPr>
          <a:xfrm>
            <a:off x="7512630" y="4455015"/>
            <a:ext cx="185893" cy="846132"/>
          </a:xfrm>
          <a:custGeom>
            <a:avLst/>
            <a:gdLst/>
            <a:ahLst/>
            <a:cxnLst/>
            <a:rect l="l" t="t" r="r" b="b"/>
            <a:pathLst>
              <a:path w="29" h="132">
                <a:moveTo>
                  <a:pt x="0" y="11"/>
                </a:moveTo>
                <a:lnTo>
                  <a:pt x="29" y="0"/>
                </a:lnTo>
                <a:lnTo>
                  <a:pt x="29" y="121"/>
                </a:lnTo>
                <a:lnTo>
                  <a:pt x="0" y="132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1" name="Connector 470"/>
          <p:cNvCxnSpPr/>
          <p:nvPr/>
        </p:nvCxnSpPr>
        <p:spPr>
          <a:xfrm>
            <a:off x="7698523" y="4455015"/>
            <a:ext cx="64100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" name="Freeform 471"/>
          <p:cNvSpPr/>
          <p:nvPr/>
        </p:nvSpPr>
        <p:spPr>
          <a:xfrm>
            <a:off x="7602372" y="4455015"/>
            <a:ext cx="185893" cy="846132"/>
          </a:xfrm>
          <a:custGeom>
            <a:avLst/>
            <a:gdLst/>
            <a:ahLst/>
            <a:cxnLst/>
            <a:rect l="l" t="t" r="r" b="b"/>
            <a:pathLst>
              <a:path w="29" h="132">
                <a:moveTo>
                  <a:pt x="0" y="11"/>
                </a:moveTo>
                <a:lnTo>
                  <a:pt x="29" y="0"/>
                </a:lnTo>
                <a:lnTo>
                  <a:pt x="29" y="121"/>
                </a:lnTo>
                <a:lnTo>
                  <a:pt x="0" y="132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3" name="Connector 472"/>
          <p:cNvCxnSpPr/>
          <p:nvPr/>
        </p:nvCxnSpPr>
        <p:spPr>
          <a:xfrm>
            <a:off x="7788264" y="4455015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7980567" y="4922951"/>
            <a:ext cx="217943" cy="0"/>
          </a:xfrm>
          <a:prstGeom prst="line">
            <a:avLst/>
          </a:prstGeom>
          <a:ln w="285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Freeform 474"/>
          <p:cNvSpPr/>
          <p:nvPr/>
        </p:nvSpPr>
        <p:spPr>
          <a:xfrm>
            <a:off x="8256201" y="4153741"/>
            <a:ext cx="480757" cy="166662"/>
          </a:xfrm>
          <a:custGeom>
            <a:avLst/>
            <a:gdLst/>
            <a:ahLst/>
            <a:cxnLst/>
            <a:rect l="l" t="t" r="r" b="b"/>
            <a:pathLst>
              <a:path w="75" h="26">
                <a:moveTo>
                  <a:pt x="10" y="0"/>
                </a:moveTo>
                <a:lnTo>
                  <a:pt x="75" y="0"/>
                </a:lnTo>
                <a:lnTo>
                  <a:pt x="55" y="26"/>
                </a:lnTo>
                <a:lnTo>
                  <a:pt x="0" y="26"/>
                </a:lnTo>
                <a:close/>
              </a:path>
            </a:pathLst>
          </a:custGeom>
          <a:solidFill>
            <a:srgbClr val="ECF0F3"/>
          </a:solidFill>
          <a:ln w="12382">
            <a:solidFill>
              <a:srgbClr val="CD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8608756" y="4153741"/>
            <a:ext cx="128202" cy="1403810"/>
          </a:xfrm>
          <a:custGeom>
            <a:avLst/>
            <a:gdLst/>
            <a:ahLst/>
            <a:cxnLst/>
            <a:rect l="l" t="t" r="r" b="b"/>
            <a:pathLst>
              <a:path w="20" h="219">
                <a:moveTo>
                  <a:pt x="20" y="0"/>
                </a:moveTo>
                <a:lnTo>
                  <a:pt x="20" y="194"/>
                </a:lnTo>
                <a:lnTo>
                  <a:pt x="0" y="219"/>
                </a:lnTo>
                <a:lnTo>
                  <a:pt x="0" y="26"/>
                </a:lnTo>
                <a:close/>
              </a:path>
            </a:pathLst>
          </a:custGeom>
          <a:solidFill>
            <a:srgbClr val="E5E8EA"/>
          </a:solidFill>
          <a:ln w="11429">
            <a:solidFill>
              <a:srgbClr val="C4C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8204920" y="4198611"/>
            <a:ext cx="185893" cy="1237148"/>
          </a:xfrm>
          <a:custGeom>
            <a:avLst/>
            <a:gdLst/>
            <a:ahLst/>
            <a:cxnLst/>
            <a:rect l="l" t="t" r="r" b="b"/>
            <a:pathLst>
              <a:path w="29" h="193">
                <a:moveTo>
                  <a:pt x="0" y="11"/>
                </a:moveTo>
                <a:lnTo>
                  <a:pt x="29" y="0"/>
                </a:lnTo>
                <a:lnTo>
                  <a:pt x="29" y="182"/>
                </a:lnTo>
                <a:lnTo>
                  <a:pt x="0" y="193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8" name="Connector 477"/>
          <p:cNvCxnSpPr/>
          <p:nvPr/>
        </p:nvCxnSpPr>
        <p:spPr>
          <a:xfrm>
            <a:off x="8390813" y="4198611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Freeform 478"/>
          <p:cNvSpPr/>
          <p:nvPr/>
        </p:nvSpPr>
        <p:spPr>
          <a:xfrm>
            <a:off x="8294662" y="4198611"/>
            <a:ext cx="185893" cy="1237148"/>
          </a:xfrm>
          <a:custGeom>
            <a:avLst/>
            <a:gdLst/>
            <a:ahLst/>
            <a:cxnLst/>
            <a:rect l="l" t="t" r="r" b="b"/>
            <a:pathLst>
              <a:path w="29" h="193">
                <a:moveTo>
                  <a:pt x="0" y="11"/>
                </a:moveTo>
                <a:lnTo>
                  <a:pt x="29" y="0"/>
                </a:lnTo>
                <a:lnTo>
                  <a:pt x="29" y="182"/>
                </a:lnTo>
                <a:lnTo>
                  <a:pt x="0" y="193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0" name="Connector 479"/>
          <p:cNvCxnSpPr/>
          <p:nvPr/>
        </p:nvCxnSpPr>
        <p:spPr>
          <a:xfrm>
            <a:off x="8480554" y="4198611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Freeform 480"/>
          <p:cNvSpPr/>
          <p:nvPr/>
        </p:nvSpPr>
        <p:spPr>
          <a:xfrm>
            <a:off x="8384403" y="4198611"/>
            <a:ext cx="185893" cy="1237148"/>
          </a:xfrm>
          <a:custGeom>
            <a:avLst/>
            <a:gdLst/>
            <a:ahLst/>
            <a:cxnLst/>
            <a:rect l="l" t="t" r="r" b="b"/>
            <a:pathLst>
              <a:path w="29" h="193">
                <a:moveTo>
                  <a:pt x="0" y="11"/>
                </a:moveTo>
                <a:lnTo>
                  <a:pt x="29" y="0"/>
                </a:lnTo>
                <a:lnTo>
                  <a:pt x="29" y="182"/>
                </a:lnTo>
                <a:lnTo>
                  <a:pt x="0" y="193"/>
                </a:lnTo>
                <a:close/>
              </a:path>
            </a:pathLst>
          </a:custGeom>
          <a:solidFill>
            <a:srgbClr val="86A9C8">
              <a:alpha val="92000"/>
            </a:srgbClr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>
            <a:off x="8570295" y="4198611"/>
            <a:ext cx="64101" cy="44870"/>
          </a:xfrm>
          <a:prstGeom prst="line">
            <a:avLst/>
          </a:prstGeom>
          <a:ln w="11429">
            <a:solidFill>
              <a:srgbClr val="587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8788239" y="4929361"/>
            <a:ext cx="134612" cy="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Oval 483"/>
          <p:cNvSpPr/>
          <p:nvPr/>
        </p:nvSpPr>
        <p:spPr>
          <a:xfrm>
            <a:off x="8922851" y="4833210"/>
            <a:ext cx="192302" cy="19230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TextBox 484"/>
          <p:cNvSpPr txBox="1"/>
          <p:nvPr/>
        </p:nvSpPr>
        <p:spPr>
          <a:xfrm>
            <a:off x="8929261" y="4833210"/>
            <a:ext cx="179482" cy="1923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2" b="1" i="0">
                <a:solidFill>
                  <a:srgbClr val="111111"/>
                </a:solidFill>
                <a:latin typeface="Liberation Serif"/>
              </a:defRPr>
            </a:pPr>
            <a:r>
              <a:t>+</a:t>
            </a:r>
          </a:p>
        </p:txBody>
      </p:sp>
      <p:cxnSp>
        <p:nvCxnSpPr>
          <p:cNvPr id="486" name="Connector 485"/>
          <p:cNvCxnSpPr/>
          <p:nvPr/>
        </p:nvCxnSpPr>
        <p:spPr>
          <a:xfrm>
            <a:off x="9115153" y="4929361"/>
            <a:ext cx="288455" cy="0"/>
          </a:xfrm>
          <a:prstGeom prst="line">
            <a:avLst/>
          </a:prstGeom>
          <a:ln w="285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TextBox 486"/>
          <p:cNvSpPr txBox="1"/>
          <p:nvPr/>
        </p:nvSpPr>
        <p:spPr>
          <a:xfrm>
            <a:off x="9339507" y="4307582"/>
            <a:ext cx="762801" cy="262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Liberation Serif"/>
              </a:defRPr>
            </a:pPr>
            <a:r>
              <a:t>Restored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Liberation Serif"/>
              </a:defRPr>
            </a:pPr>
            <a:r>
              <a:t>Inf. Image</a:t>
            </a:r>
          </a:p>
        </p:txBody>
      </p:sp>
      <p:pic>
        <p:nvPicPr>
          <p:cNvPr id="488" name="Picture 487" descr="restor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0018" y="4596037"/>
            <a:ext cx="602548" cy="589728"/>
          </a:xfrm>
          <a:prstGeom prst="rect">
            <a:avLst/>
          </a:prstGeom>
        </p:spPr>
      </p:pic>
      <p:cxnSp>
        <p:nvCxnSpPr>
          <p:cNvPr id="489" name="Connector 488"/>
          <p:cNvCxnSpPr/>
          <p:nvPr/>
        </p:nvCxnSpPr>
        <p:spPr>
          <a:xfrm flipV="1">
            <a:off x="5019103" y="3993488"/>
            <a:ext cx="0" cy="269224"/>
          </a:xfrm>
          <a:prstGeom prst="line">
            <a:avLst/>
          </a:prstGeom>
          <a:ln w="28575">
            <a:solidFill>
              <a:srgbClr val="2E6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5019103" y="3993488"/>
            <a:ext cx="679470" cy="0"/>
          </a:xfrm>
          <a:prstGeom prst="line">
            <a:avLst/>
          </a:prstGeom>
          <a:ln w="28575">
            <a:solidFill>
              <a:srgbClr val="2E62A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6987002" y="3993488"/>
            <a:ext cx="685880" cy="0"/>
          </a:xfrm>
          <a:prstGeom prst="line">
            <a:avLst/>
          </a:prstGeom>
          <a:ln w="28575">
            <a:solidFill>
              <a:srgbClr val="2E6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7672882" y="3993488"/>
            <a:ext cx="0" cy="487167"/>
          </a:xfrm>
          <a:prstGeom prst="line">
            <a:avLst/>
          </a:prstGeom>
          <a:ln w="28575">
            <a:solidFill>
              <a:srgbClr val="2E62A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Oval 492"/>
          <p:cNvSpPr/>
          <p:nvPr/>
        </p:nvSpPr>
        <p:spPr>
          <a:xfrm>
            <a:off x="7637627" y="3958232"/>
            <a:ext cx="70511" cy="70511"/>
          </a:xfrm>
          <a:prstGeom prst="ellipse">
            <a:avLst/>
          </a:prstGeom>
          <a:solidFill>
            <a:srgbClr val="2E62AA"/>
          </a:solidFill>
          <a:ln w="9525">
            <a:solidFill>
              <a:srgbClr val="2E6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4" name="Connector 493"/>
          <p:cNvCxnSpPr/>
          <p:nvPr/>
        </p:nvCxnSpPr>
        <p:spPr>
          <a:xfrm>
            <a:off x="7166485" y="3717854"/>
            <a:ext cx="724340" cy="0"/>
          </a:xfrm>
          <a:prstGeom prst="line">
            <a:avLst/>
          </a:prstGeom>
          <a:ln w="28575">
            <a:solidFill>
              <a:srgbClr val="EDA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7890825" y="3717854"/>
            <a:ext cx="0" cy="756391"/>
          </a:xfrm>
          <a:prstGeom prst="line">
            <a:avLst/>
          </a:prstGeom>
          <a:ln w="28575">
            <a:solidFill>
              <a:srgbClr val="EDA36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6" name="Oval 495"/>
          <p:cNvSpPr/>
          <p:nvPr/>
        </p:nvSpPr>
        <p:spPr>
          <a:xfrm>
            <a:off x="7855570" y="3682598"/>
            <a:ext cx="70511" cy="70511"/>
          </a:xfrm>
          <a:prstGeom prst="ellipse">
            <a:avLst/>
          </a:prstGeom>
          <a:solidFill>
            <a:srgbClr val="EDA363"/>
          </a:solidFill>
          <a:ln w="9525">
            <a:solidFill>
              <a:srgbClr val="EDA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>
            <a:off x="4025539" y="5275507"/>
            <a:ext cx="0" cy="410246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4025539" y="5685753"/>
            <a:ext cx="4993463" cy="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9019002" y="5031923"/>
            <a:ext cx="0" cy="653830"/>
          </a:xfrm>
          <a:prstGeom prst="line">
            <a:avLst/>
          </a:prstGeom>
          <a:ln w="285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4025539" y="5281917"/>
            <a:ext cx="0" cy="788441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4025539" y="6070358"/>
            <a:ext cx="2544807" cy="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6570346" y="5954976"/>
            <a:ext cx="0" cy="115382"/>
          </a:xfrm>
          <a:prstGeom prst="line">
            <a:avLst/>
          </a:prstGeom>
          <a:ln w="38100">
            <a:solidFill>
              <a:srgbClr val="D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V="1">
            <a:off x="6647267" y="5910106"/>
            <a:ext cx="0" cy="115381"/>
          </a:xfrm>
          <a:prstGeom prst="line">
            <a:avLst/>
          </a:prstGeom>
          <a:ln w="38100">
            <a:solidFill>
              <a:srgbClr val="D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6724188" y="5865235"/>
            <a:ext cx="0" cy="115382"/>
          </a:xfrm>
          <a:prstGeom prst="line">
            <a:avLst/>
          </a:prstGeom>
          <a:ln w="38100">
            <a:solidFill>
              <a:srgbClr val="D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6852390" y="5839595"/>
            <a:ext cx="2756341" cy="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Oval 505"/>
          <p:cNvSpPr/>
          <p:nvPr/>
        </p:nvSpPr>
        <p:spPr>
          <a:xfrm>
            <a:off x="6813930" y="5801134"/>
            <a:ext cx="76921" cy="76921"/>
          </a:xfrm>
          <a:prstGeom prst="ellipse">
            <a:avLst/>
          </a:prstGeom>
          <a:solidFill>
            <a:srgbClr val="D10000"/>
          </a:solidFill>
          <a:ln w="9525">
            <a:solidFill>
              <a:srgbClr val="D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7" name="Connector 506"/>
          <p:cNvCxnSpPr/>
          <p:nvPr/>
        </p:nvCxnSpPr>
        <p:spPr>
          <a:xfrm flipV="1">
            <a:off x="9608731" y="5192175"/>
            <a:ext cx="0" cy="64742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7640832" y="5903696"/>
            <a:ext cx="2012769" cy="1794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Selective Progressive Training(SPT)</a:t>
            </a:r>
          </a:p>
        </p:txBody>
      </p:sp>
      <p:sp>
        <p:nvSpPr>
          <p:cNvPr id="509" name="Rounded Rectangle 508"/>
          <p:cNvSpPr/>
          <p:nvPr/>
        </p:nvSpPr>
        <p:spPr>
          <a:xfrm>
            <a:off x="10172819" y="3493501"/>
            <a:ext cx="2006359" cy="2724289"/>
          </a:xfrm>
          <a:prstGeom prst="roundRect">
            <a:avLst>
              <a:gd name="adj" fmla="val 7028"/>
            </a:avLst>
          </a:prstGeom>
          <a:solidFill>
            <a:srgbClr val="FFFFFF"/>
          </a:solidFill>
          <a:ln w="28575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ounded Rectangle 509"/>
          <p:cNvSpPr/>
          <p:nvPr/>
        </p:nvSpPr>
        <p:spPr>
          <a:xfrm>
            <a:off x="10333071" y="3339658"/>
            <a:ext cx="1730725" cy="282044"/>
          </a:xfrm>
          <a:prstGeom prst="roundRect">
            <a:avLst>
              <a:gd name="adj" fmla="val 29545"/>
            </a:avLst>
          </a:prstGeom>
          <a:solidFill>
            <a:srgbClr val="AAB7C5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ounded Rectangle 510"/>
          <p:cNvSpPr/>
          <p:nvPr/>
        </p:nvSpPr>
        <p:spPr>
          <a:xfrm>
            <a:off x="10307431" y="3307608"/>
            <a:ext cx="1730725" cy="282044"/>
          </a:xfrm>
          <a:prstGeom prst="roundRect">
            <a:avLst>
              <a:gd name="adj" fmla="val 29545"/>
            </a:avLst>
          </a:prstGeom>
          <a:solidFill>
            <a:srgbClr val="D7E7F8"/>
          </a:solidFill>
          <a:ln w="2381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10307431" y="3333248"/>
            <a:ext cx="1730725" cy="21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>
                <a:solidFill>
                  <a:srgbClr val="111111"/>
                </a:solidFill>
                <a:latin typeface="Liberation Serif"/>
              </a:defRPr>
            </a:pPr>
            <a:r>
              <a:t>(d) SPT</a:t>
            </a:r>
          </a:p>
        </p:txBody>
      </p:sp>
      <p:sp>
        <p:nvSpPr>
          <p:cNvPr id="513" name="Rectangle 512"/>
          <p:cNvSpPr/>
          <p:nvPr/>
        </p:nvSpPr>
        <p:spPr>
          <a:xfrm>
            <a:off x="10358712" y="3647343"/>
            <a:ext cx="1602523" cy="2493526"/>
          </a:xfrm>
          <a:prstGeom prst="rect">
            <a:avLst/>
          </a:prstGeom>
          <a:solidFill>
            <a:srgbClr val="FFFFFF"/>
          </a:solidFill>
          <a:ln w="28575">
            <a:solidFill>
              <a:srgbClr val="1736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 rot="16200000">
            <a:off x="10230510" y="4621677"/>
            <a:ext cx="217943" cy="7051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Iterative</a:t>
            </a:r>
          </a:p>
        </p:txBody>
      </p:sp>
      <p:sp>
        <p:nvSpPr>
          <p:cNvPr id="515" name="Rounded Rectangle 514"/>
          <p:cNvSpPr/>
          <p:nvPr/>
        </p:nvSpPr>
        <p:spPr>
          <a:xfrm>
            <a:off x="10531784" y="3794775"/>
            <a:ext cx="1358939" cy="820491"/>
          </a:xfrm>
          <a:prstGeom prst="roundRect">
            <a:avLst>
              <a:gd name="adj" fmla="val 11718"/>
            </a:avLst>
          </a:prstGeom>
          <a:solidFill>
            <a:srgbClr val="FCFCFC"/>
          </a:solidFill>
          <a:ln w="19050">
            <a:solidFill>
              <a:srgbClr val="83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ounded Rectangle 515"/>
          <p:cNvSpPr/>
          <p:nvPr/>
        </p:nvSpPr>
        <p:spPr>
          <a:xfrm>
            <a:off x="10820238" y="3865286"/>
            <a:ext cx="480757" cy="1602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extBox 516"/>
          <p:cNvSpPr txBox="1"/>
          <p:nvPr/>
        </p:nvSpPr>
        <p:spPr>
          <a:xfrm>
            <a:off x="10820238" y="3865286"/>
            <a:ext cx="480757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92" b="0" i="1">
                <a:solidFill>
                  <a:srgbClr val="111111"/>
                </a:solidFill>
                <a:latin typeface="Liberation Serif"/>
              </a:defRPr>
            </a:pPr>
            <a:r>
              <a:t>Nθ</a:t>
            </a:r>
          </a:p>
        </p:txBody>
      </p:sp>
      <p:sp>
        <p:nvSpPr>
          <p:cNvPr id="518" name="Rounded Rectangle 517"/>
          <p:cNvSpPr/>
          <p:nvPr/>
        </p:nvSpPr>
        <p:spPr>
          <a:xfrm>
            <a:off x="11589450" y="3884516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ounded Rectangle 518"/>
          <p:cNvSpPr/>
          <p:nvPr/>
        </p:nvSpPr>
        <p:spPr>
          <a:xfrm>
            <a:off x="11570219" y="3858876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A9B77A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11570219" y="3865286"/>
            <a:ext cx="185892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N</a:t>
            </a:r>
          </a:p>
        </p:txBody>
      </p:sp>
      <p:cxnSp>
        <p:nvCxnSpPr>
          <p:cNvPr id="521" name="Connector 520"/>
          <p:cNvCxnSpPr/>
          <p:nvPr/>
        </p:nvCxnSpPr>
        <p:spPr>
          <a:xfrm>
            <a:off x="11057412" y="4025538"/>
            <a:ext cx="0" cy="89742"/>
          </a:xfrm>
          <a:prstGeom prst="line">
            <a:avLst/>
          </a:prstGeom>
          <a:ln w="20002">
            <a:solidFill>
              <a:srgbClr val="6B3A9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H="1">
            <a:off x="11198434" y="4102459"/>
            <a:ext cx="102561" cy="0"/>
          </a:xfrm>
          <a:prstGeom prst="line">
            <a:avLst/>
          </a:prstGeom>
          <a:ln w="17145">
            <a:solidFill>
              <a:srgbClr val="D1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Rounded Rectangle 522"/>
          <p:cNvSpPr/>
          <p:nvPr/>
        </p:nvSpPr>
        <p:spPr>
          <a:xfrm>
            <a:off x="10820238" y="4115280"/>
            <a:ext cx="480757" cy="1602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10820238" y="4115280"/>
            <a:ext cx="480757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92" b="0" i="1">
                <a:solidFill>
                  <a:srgbClr val="111111"/>
                </a:solidFill>
                <a:latin typeface="Liberation Serif"/>
              </a:defRPr>
            </a:pPr>
            <a:r>
              <a:t>Nθ</a:t>
            </a:r>
          </a:p>
        </p:txBody>
      </p:sp>
      <p:sp>
        <p:nvSpPr>
          <p:cNvPr id="525" name="Rounded Rectangle 524"/>
          <p:cNvSpPr/>
          <p:nvPr/>
        </p:nvSpPr>
        <p:spPr>
          <a:xfrm>
            <a:off x="11589450" y="4134510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ounded Rectangle 525"/>
          <p:cNvSpPr/>
          <p:nvPr/>
        </p:nvSpPr>
        <p:spPr>
          <a:xfrm>
            <a:off x="11570219" y="4108869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68B6AE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11570219" y="4115280"/>
            <a:ext cx="185892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B</a:t>
            </a:r>
          </a:p>
        </p:txBody>
      </p:sp>
      <p:cxnSp>
        <p:nvCxnSpPr>
          <p:cNvPr id="528" name="Connector 527"/>
          <p:cNvCxnSpPr/>
          <p:nvPr/>
        </p:nvCxnSpPr>
        <p:spPr>
          <a:xfrm>
            <a:off x="11057412" y="4275532"/>
            <a:ext cx="0" cy="89741"/>
          </a:xfrm>
          <a:prstGeom prst="line">
            <a:avLst/>
          </a:prstGeom>
          <a:ln w="20002">
            <a:solidFill>
              <a:srgbClr val="6B3A9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 flipH="1">
            <a:off x="11198434" y="4352453"/>
            <a:ext cx="102561" cy="0"/>
          </a:xfrm>
          <a:prstGeom prst="line">
            <a:avLst/>
          </a:prstGeom>
          <a:ln w="17145">
            <a:solidFill>
              <a:srgbClr val="D1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Rounded Rectangle 529"/>
          <p:cNvSpPr/>
          <p:nvPr/>
        </p:nvSpPr>
        <p:spPr>
          <a:xfrm>
            <a:off x="10820238" y="4365273"/>
            <a:ext cx="480757" cy="1602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TextBox 530"/>
          <p:cNvSpPr txBox="1"/>
          <p:nvPr/>
        </p:nvSpPr>
        <p:spPr>
          <a:xfrm>
            <a:off x="10820238" y="4365273"/>
            <a:ext cx="480757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92" b="0" i="1">
                <a:solidFill>
                  <a:srgbClr val="111111"/>
                </a:solidFill>
                <a:latin typeface="Liberation Serif"/>
              </a:defRPr>
            </a:pPr>
            <a:r>
              <a:t>Nθ</a:t>
            </a:r>
          </a:p>
        </p:txBody>
      </p:sp>
      <p:sp>
        <p:nvSpPr>
          <p:cNvPr id="532" name="Rounded Rectangle 531"/>
          <p:cNvSpPr/>
          <p:nvPr/>
        </p:nvSpPr>
        <p:spPr>
          <a:xfrm>
            <a:off x="11589450" y="4384504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ounded Rectangle 532"/>
          <p:cNvSpPr/>
          <p:nvPr/>
        </p:nvSpPr>
        <p:spPr>
          <a:xfrm>
            <a:off x="11570219" y="4358863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6F91B3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TextBox 533"/>
          <p:cNvSpPr txBox="1"/>
          <p:nvPr/>
        </p:nvSpPr>
        <p:spPr>
          <a:xfrm>
            <a:off x="11570219" y="4365273"/>
            <a:ext cx="185892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C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11339456" y="3820415"/>
            <a:ext cx="198712" cy="1474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93B96F"/>
                </a:solidFill>
                <a:latin typeface="Liberation Serif"/>
              </a:defRPr>
            </a:pPr>
            <a:r>
              <a:t>≪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11339456" y="4378093"/>
            <a:ext cx="198712" cy="1474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90AAC4"/>
                </a:solidFill>
                <a:latin typeface="Liberation Serif"/>
              </a:defRPr>
            </a:pPr>
            <a:r>
              <a:t>≪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10756137" y="4640907"/>
            <a:ext cx="923053" cy="1538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Liberation Serif"/>
              </a:defRPr>
            </a:pPr>
            <a:r>
              <a:t>Iter.2</a:t>
            </a:r>
          </a:p>
        </p:txBody>
      </p:sp>
      <p:sp>
        <p:nvSpPr>
          <p:cNvPr id="538" name="Rounded Rectangle 537"/>
          <p:cNvSpPr/>
          <p:nvPr/>
        </p:nvSpPr>
        <p:spPr>
          <a:xfrm>
            <a:off x="10538194" y="4628087"/>
            <a:ext cx="1352529" cy="224353"/>
          </a:xfrm>
          <a:prstGeom prst="roundRect">
            <a:avLst>
              <a:gd name="adj" fmla="val 22857"/>
            </a:avLst>
          </a:prstGeom>
          <a:solidFill>
            <a:srgbClr val="F8F9FA"/>
          </a:solidFill>
          <a:ln w="17145">
            <a:solidFill>
              <a:srgbClr val="989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10538194" y="4672958"/>
            <a:ext cx="1352529" cy="1282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Liberation Serif"/>
              </a:defRPr>
            </a:pPr>
            <a:r>
              <a:t>Iter.2</a:t>
            </a:r>
          </a:p>
        </p:txBody>
      </p:sp>
      <p:sp>
        <p:nvSpPr>
          <p:cNvPr id="540" name="Rounded Rectangle 539"/>
          <p:cNvSpPr/>
          <p:nvPr/>
        </p:nvSpPr>
        <p:spPr>
          <a:xfrm>
            <a:off x="10538194" y="4903721"/>
            <a:ext cx="1352529" cy="224353"/>
          </a:xfrm>
          <a:prstGeom prst="roundRect">
            <a:avLst>
              <a:gd name="adj" fmla="val 22857"/>
            </a:avLst>
          </a:prstGeom>
          <a:solidFill>
            <a:srgbClr val="F8F9FA"/>
          </a:solidFill>
          <a:ln w="17145">
            <a:solidFill>
              <a:srgbClr val="989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10538194" y="4948592"/>
            <a:ext cx="1352529" cy="1282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Liberation Serif"/>
              </a:defRPr>
            </a:pPr>
            <a:r>
              <a:t>Iter.3</a:t>
            </a:r>
          </a:p>
        </p:txBody>
      </p:sp>
      <p:sp>
        <p:nvSpPr>
          <p:cNvPr id="542" name="Rounded Rectangle 541"/>
          <p:cNvSpPr/>
          <p:nvPr/>
        </p:nvSpPr>
        <p:spPr>
          <a:xfrm>
            <a:off x="10531784" y="5172945"/>
            <a:ext cx="1358939" cy="820491"/>
          </a:xfrm>
          <a:prstGeom prst="roundRect">
            <a:avLst>
              <a:gd name="adj" fmla="val 11718"/>
            </a:avLst>
          </a:prstGeom>
          <a:solidFill>
            <a:srgbClr val="FCFCFC"/>
          </a:solidFill>
          <a:ln w="19050">
            <a:solidFill>
              <a:srgbClr val="83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ounded Rectangle 542"/>
          <p:cNvSpPr/>
          <p:nvPr/>
        </p:nvSpPr>
        <p:spPr>
          <a:xfrm>
            <a:off x="10820238" y="5243456"/>
            <a:ext cx="480757" cy="1602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10820238" y="5243456"/>
            <a:ext cx="480757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92" b="0" i="1">
                <a:solidFill>
                  <a:srgbClr val="111111"/>
                </a:solidFill>
                <a:latin typeface="Liberation Serif"/>
              </a:defRPr>
            </a:pPr>
            <a:r>
              <a:t>Nθ</a:t>
            </a:r>
          </a:p>
        </p:txBody>
      </p:sp>
      <p:sp>
        <p:nvSpPr>
          <p:cNvPr id="545" name="Rounded Rectangle 544"/>
          <p:cNvSpPr/>
          <p:nvPr/>
        </p:nvSpPr>
        <p:spPr>
          <a:xfrm>
            <a:off x="11589450" y="5262686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ounded Rectangle 545"/>
          <p:cNvSpPr/>
          <p:nvPr/>
        </p:nvSpPr>
        <p:spPr>
          <a:xfrm>
            <a:off x="11570219" y="5237046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A9B77A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11570219" y="5243456"/>
            <a:ext cx="185892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N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11057412" y="5403708"/>
            <a:ext cx="0" cy="89742"/>
          </a:xfrm>
          <a:prstGeom prst="line">
            <a:avLst/>
          </a:prstGeom>
          <a:ln w="20002">
            <a:solidFill>
              <a:srgbClr val="6B3A9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H="1">
            <a:off x="11198434" y="5480630"/>
            <a:ext cx="102561" cy="0"/>
          </a:xfrm>
          <a:prstGeom prst="line">
            <a:avLst/>
          </a:prstGeom>
          <a:ln w="17145">
            <a:solidFill>
              <a:srgbClr val="D1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Rounded Rectangle 549"/>
          <p:cNvSpPr/>
          <p:nvPr/>
        </p:nvSpPr>
        <p:spPr>
          <a:xfrm>
            <a:off x="10820238" y="5493450"/>
            <a:ext cx="480757" cy="1602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10820238" y="5493450"/>
            <a:ext cx="480757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92" b="0" i="1">
                <a:solidFill>
                  <a:srgbClr val="111111"/>
                </a:solidFill>
                <a:latin typeface="Liberation Serif"/>
              </a:defRPr>
            </a:pPr>
            <a:r>
              <a:t>Nθ</a:t>
            </a:r>
          </a:p>
        </p:txBody>
      </p:sp>
      <p:sp>
        <p:nvSpPr>
          <p:cNvPr id="552" name="Rounded Rectangle 551"/>
          <p:cNvSpPr/>
          <p:nvPr/>
        </p:nvSpPr>
        <p:spPr>
          <a:xfrm>
            <a:off x="11589450" y="5512680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ounded Rectangle 552"/>
          <p:cNvSpPr/>
          <p:nvPr/>
        </p:nvSpPr>
        <p:spPr>
          <a:xfrm>
            <a:off x="11570219" y="5487040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68B6AE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TextBox 553"/>
          <p:cNvSpPr txBox="1"/>
          <p:nvPr/>
        </p:nvSpPr>
        <p:spPr>
          <a:xfrm>
            <a:off x="11570219" y="5493450"/>
            <a:ext cx="185892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B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11057412" y="5653702"/>
            <a:ext cx="0" cy="89741"/>
          </a:xfrm>
          <a:prstGeom prst="line">
            <a:avLst/>
          </a:prstGeom>
          <a:ln w="20002">
            <a:solidFill>
              <a:srgbClr val="6B3A9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H="1">
            <a:off x="11198434" y="5730623"/>
            <a:ext cx="102561" cy="0"/>
          </a:xfrm>
          <a:prstGeom prst="line">
            <a:avLst/>
          </a:prstGeom>
          <a:ln w="17145">
            <a:solidFill>
              <a:srgbClr val="D1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ounded Rectangle 556"/>
          <p:cNvSpPr/>
          <p:nvPr/>
        </p:nvSpPr>
        <p:spPr>
          <a:xfrm>
            <a:off x="10820238" y="5743443"/>
            <a:ext cx="480757" cy="1602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10820238" y="5743443"/>
            <a:ext cx="480757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92" b="0" i="1">
                <a:solidFill>
                  <a:srgbClr val="111111"/>
                </a:solidFill>
                <a:latin typeface="Liberation Serif"/>
              </a:defRPr>
            </a:pPr>
            <a:r>
              <a:t>Nθ</a:t>
            </a:r>
          </a:p>
        </p:txBody>
      </p:sp>
      <p:sp>
        <p:nvSpPr>
          <p:cNvPr id="559" name="Rounded Rectangle 558"/>
          <p:cNvSpPr/>
          <p:nvPr/>
        </p:nvSpPr>
        <p:spPr>
          <a:xfrm>
            <a:off x="11589450" y="5762674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ounded Rectangle 559"/>
          <p:cNvSpPr/>
          <p:nvPr/>
        </p:nvSpPr>
        <p:spPr>
          <a:xfrm>
            <a:off x="11570219" y="5737033"/>
            <a:ext cx="185892" cy="173072"/>
          </a:xfrm>
          <a:prstGeom prst="roundRect">
            <a:avLst>
              <a:gd name="adj" fmla="val 18518"/>
            </a:avLst>
          </a:prstGeom>
          <a:solidFill>
            <a:srgbClr val="6F91B3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TextBox 560"/>
          <p:cNvSpPr txBox="1"/>
          <p:nvPr/>
        </p:nvSpPr>
        <p:spPr>
          <a:xfrm>
            <a:off x="11570219" y="5743443"/>
            <a:ext cx="185892" cy="1602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C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11339456" y="5198585"/>
            <a:ext cx="198712" cy="1474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93B96F"/>
                </a:solidFill>
                <a:latin typeface="Liberation Serif"/>
              </a:defRPr>
            </a:pPr>
            <a:r>
              <a:t>≪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11339456" y="5756264"/>
            <a:ext cx="198712" cy="1474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>
                <a:solidFill>
                  <a:srgbClr val="90AAC4"/>
                </a:solidFill>
                <a:latin typeface="Liberation Serif"/>
              </a:defRPr>
            </a:pPr>
            <a:r>
              <a:t>≪</a:t>
            </a:r>
          </a:p>
        </p:txBody>
      </p:sp>
      <p:sp>
        <p:nvSpPr>
          <p:cNvPr id="564" name="TextBox 563"/>
          <p:cNvSpPr txBox="1"/>
          <p:nvPr/>
        </p:nvSpPr>
        <p:spPr>
          <a:xfrm rot="16200000">
            <a:off x="10480503" y="3846056"/>
            <a:ext cx="224353" cy="743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Liberation Serif"/>
              </a:defRPr>
            </a:pPr>
            <a:r>
              <a:t>Iter.1</a:t>
            </a:r>
          </a:p>
        </p:txBody>
      </p:sp>
      <p:sp>
        <p:nvSpPr>
          <p:cNvPr id="565" name="TextBox 564"/>
          <p:cNvSpPr txBox="1"/>
          <p:nvPr/>
        </p:nvSpPr>
        <p:spPr>
          <a:xfrm rot="16200000">
            <a:off x="10480503" y="5217816"/>
            <a:ext cx="224353" cy="6794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111111"/>
                </a:solidFill>
                <a:latin typeface="Liberation Serif"/>
              </a:defRPr>
            </a:pPr>
            <a:r>
              <a:t>Iter.n</a:t>
            </a:r>
          </a:p>
        </p:txBody>
      </p:sp>
      <p:cxnSp>
        <p:nvCxnSpPr>
          <p:cNvPr id="566" name="Connector 565"/>
          <p:cNvCxnSpPr/>
          <p:nvPr/>
        </p:nvCxnSpPr>
        <p:spPr>
          <a:xfrm>
            <a:off x="11903544" y="4480655"/>
            <a:ext cx="121792" cy="0"/>
          </a:xfrm>
          <a:prstGeom prst="line">
            <a:avLst/>
          </a:prstGeom>
          <a:ln w="22859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12025336" y="4480655"/>
            <a:ext cx="0" cy="102561"/>
          </a:xfrm>
          <a:prstGeom prst="line">
            <a:avLst/>
          </a:prstGeom>
          <a:ln w="22859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11922775" y="4583216"/>
            <a:ext cx="102561" cy="0"/>
          </a:xfrm>
          <a:prstGeom prst="line">
            <a:avLst/>
          </a:prstGeom>
          <a:ln w="22859">
            <a:solidFill>
              <a:srgbClr val="F2B21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11903544" y="4833210"/>
            <a:ext cx="121792" cy="0"/>
          </a:xfrm>
          <a:prstGeom prst="line">
            <a:avLst/>
          </a:prstGeom>
          <a:ln w="22859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12025336" y="4833210"/>
            <a:ext cx="0" cy="102562"/>
          </a:xfrm>
          <a:prstGeom prst="line">
            <a:avLst/>
          </a:prstGeom>
          <a:ln w="22859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11922775" y="4935772"/>
            <a:ext cx="102561" cy="0"/>
          </a:xfrm>
          <a:prstGeom prst="line">
            <a:avLst/>
          </a:prstGeom>
          <a:ln w="22859">
            <a:solidFill>
              <a:srgbClr val="F2B21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11903544" y="5108844"/>
            <a:ext cx="121792" cy="0"/>
          </a:xfrm>
          <a:prstGeom prst="line">
            <a:avLst/>
          </a:prstGeom>
          <a:ln w="22859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12025336" y="5108844"/>
            <a:ext cx="0" cy="102562"/>
          </a:xfrm>
          <a:prstGeom prst="line">
            <a:avLst/>
          </a:prstGeom>
          <a:ln w="22859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H="1">
            <a:off x="11922775" y="5211406"/>
            <a:ext cx="102561" cy="0"/>
          </a:xfrm>
          <a:prstGeom prst="line">
            <a:avLst/>
          </a:prstGeom>
          <a:ln w="22859">
            <a:solidFill>
              <a:srgbClr val="F2B21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11903544" y="5685753"/>
            <a:ext cx="121792" cy="0"/>
          </a:xfrm>
          <a:prstGeom prst="line">
            <a:avLst/>
          </a:prstGeom>
          <a:ln w="22859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12025336" y="5685753"/>
            <a:ext cx="0" cy="102561"/>
          </a:xfrm>
          <a:prstGeom prst="line">
            <a:avLst/>
          </a:prstGeom>
          <a:ln w="22859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11922775" y="5788314"/>
            <a:ext cx="102561" cy="0"/>
          </a:xfrm>
          <a:prstGeom prst="line">
            <a:avLst/>
          </a:prstGeom>
          <a:ln w="22859">
            <a:solidFill>
              <a:srgbClr val="F2B21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11903544" y="5910106"/>
            <a:ext cx="121792" cy="0"/>
          </a:xfrm>
          <a:prstGeom prst="line">
            <a:avLst/>
          </a:prstGeom>
          <a:ln w="22859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12025336" y="5910106"/>
            <a:ext cx="0" cy="102561"/>
          </a:xfrm>
          <a:prstGeom prst="line">
            <a:avLst/>
          </a:prstGeom>
          <a:ln w="22859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11922775" y="6012667"/>
            <a:ext cx="102561" cy="0"/>
          </a:xfrm>
          <a:prstGeom prst="line">
            <a:avLst/>
          </a:prstGeom>
          <a:ln w="22859">
            <a:solidFill>
              <a:srgbClr val="F2B21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1" name="TextBox 580"/>
          <p:cNvSpPr txBox="1"/>
          <p:nvPr/>
        </p:nvSpPr>
        <p:spPr>
          <a:xfrm rot="16200000">
            <a:off x="11909954" y="4307582"/>
            <a:ext cx="217943" cy="3333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111111"/>
                </a:solidFill>
                <a:latin typeface="Liberation Serif"/>
              </a:defRPr>
            </a:pPr>
            <a:r>
              <a:t>Update</a:t>
            </a:r>
          </a:p>
        </p:txBody>
      </p:sp>
      <p:sp>
        <p:nvSpPr>
          <p:cNvPr id="582" name="TextBox 581"/>
          <p:cNvSpPr txBox="1"/>
          <p:nvPr/>
        </p:nvSpPr>
        <p:spPr>
          <a:xfrm rot="16200000">
            <a:off x="11909954" y="5589601"/>
            <a:ext cx="217943" cy="3333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111111"/>
                </a:solidFill>
                <a:latin typeface="Liberation Serif"/>
              </a:defRPr>
            </a:pPr>
            <a:r>
              <a:t>Update</a:t>
            </a:r>
          </a:p>
        </p:txBody>
      </p:sp>
      <p:cxnSp>
        <p:nvCxnSpPr>
          <p:cNvPr id="583" name="Connector 582"/>
          <p:cNvCxnSpPr/>
          <p:nvPr/>
        </p:nvCxnSpPr>
        <p:spPr>
          <a:xfrm flipV="1">
            <a:off x="11961235" y="3583242"/>
            <a:ext cx="0" cy="64101"/>
          </a:xfrm>
          <a:prstGeom prst="line">
            <a:avLst/>
          </a:prstGeom>
          <a:ln w="285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11268945" y="3583242"/>
            <a:ext cx="692290" cy="0"/>
          </a:xfrm>
          <a:prstGeom prst="line">
            <a:avLst/>
          </a:prstGeom>
          <a:ln w="285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1268945" y="3583242"/>
            <a:ext cx="0" cy="173072"/>
          </a:xfrm>
          <a:prstGeom prst="line">
            <a:avLst/>
          </a:prstGeom>
          <a:ln w="28575">
            <a:solidFill>
              <a:srgbClr val="1736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6" name="Rounded Rectangle 585"/>
          <p:cNvSpPr/>
          <p:nvPr/>
        </p:nvSpPr>
        <p:spPr>
          <a:xfrm>
            <a:off x="51280" y="6352402"/>
            <a:ext cx="12127898" cy="448706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8575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ounded Rectangle 586"/>
          <p:cNvSpPr/>
          <p:nvPr/>
        </p:nvSpPr>
        <p:spPr>
          <a:xfrm>
            <a:off x="198712" y="6429323"/>
            <a:ext cx="288454" cy="301274"/>
          </a:xfrm>
          <a:prstGeom prst="roundRect">
            <a:avLst>
              <a:gd name="adj" fmla="val 17777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ounded Rectangle 587"/>
          <p:cNvSpPr/>
          <p:nvPr/>
        </p:nvSpPr>
        <p:spPr>
          <a:xfrm>
            <a:off x="179482" y="6403683"/>
            <a:ext cx="288454" cy="301274"/>
          </a:xfrm>
          <a:prstGeom prst="roundRect">
            <a:avLst>
              <a:gd name="adj" fmla="val 17777"/>
            </a:avLst>
          </a:prstGeom>
          <a:solidFill>
            <a:srgbClr val="DFA0A2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179482" y="6410093"/>
            <a:ext cx="288454" cy="2884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S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525627" y="6442144"/>
            <a:ext cx="1115356" cy="1987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Single Degraded</a:t>
            </a:r>
          </a:p>
        </p:txBody>
      </p:sp>
      <p:sp>
        <p:nvSpPr>
          <p:cNvPr id="591" name="Rounded Rectangle 590"/>
          <p:cNvSpPr/>
          <p:nvPr/>
        </p:nvSpPr>
        <p:spPr>
          <a:xfrm>
            <a:off x="1711495" y="6429323"/>
            <a:ext cx="288454" cy="301274"/>
          </a:xfrm>
          <a:prstGeom prst="roundRect">
            <a:avLst>
              <a:gd name="adj" fmla="val 17777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ounded Rectangle 591"/>
          <p:cNvSpPr/>
          <p:nvPr/>
        </p:nvSpPr>
        <p:spPr>
          <a:xfrm>
            <a:off x="1692264" y="6403683"/>
            <a:ext cx="288454" cy="301274"/>
          </a:xfrm>
          <a:prstGeom prst="roundRect">
            <a:avLst>
              <a:gd name="adj" fmla="val 17777"/>
            </a:avLst>
          </a:prstGeom>
          <a:solidFill>
            <a:srgbClr val="E0B07B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1692264" y="6410093"/>
            <a:ext cx="288454" cy="2884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H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2038409" y="6442144"/>
            <a:ext cx="1115356" cy="1987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Hybrid Degraded</a:t>
            </a:r>
          </a:p>
        </p:txBody>
      </p:sp>
      <p:sp>
        <p:nvSpPr>
          <p:cNvPr id="595" name="Rounded Rectangle 594"/>
          <p:cNvSpPr/>
          <p:nvPr/>
        </p:nvSpPr>
        <p:spPr>
          <a:xfrm>
            <a:off x="3224277" y="6429323"/>
            <a:ext cx="288454" cy="301274"/>
          </a:xfrm>
          <a:prstGeom prst="roundRect">
            <a:avLst>
              <a:gd name="adj" fmla="val 17777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ounded Rectangle 595"/>
          <p:cNvSpPr/>
          <p:nvPr/>
        </p:nvSpPr>
        <p:spPr>
          <a:xfrm>
            <a:off x="3205047" y="6403683"/>
            <a:ext cx="288454" cy="301274"/>
          </a:xfrm>
          <a:prstGeom prst="roundRect">
            <a:avLst>
              <a:gd name="adj" fmla="val 17777"/>
            </a:avLst>
          </a:prstGeom>
          <a:solidFill>
            <a:srgbClr val="A9B77A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3205047" y="6410093"/>
            <a:ext cx="288454" cy="2884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N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1192" y="6442144"/>
            <a:ext cx="1115356" cy="1987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Noise</a:t>
            </a:r>
          </a:p>
        </p:txBody>
      </p:sp>
      <p:sp>
        <p:nvSpPr>
          <p:cNvPr id="599" name="Rounded Rectangle 598"/>
          <p:cNvSpPr/>
          <p:nvPr/>
        </p:nvSpPr>
        <p:spPr>
          <a:xfrm>
            <a:off x="4076819" y="6429323"/>
            <a:ext cx="288454" cy="301274"/>
          </a:xfrm>
          <a:prstGeom prst="roundRect">
            <a:avLst>
              <a:gd name="adj" fmla="val 17777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ounded Rectangle 599"/>
          <p:cNvSpPr/>
          <p:nvPr/>
        </p:nvSpPr>
        <p:spPr>
          <a:xfrm>
            <a:off x="4057589" y="6403683"/>
            <a:ext cx="288454" cy="301274"/>
          </a:xfrm>
          <a:prstGeom prst="roundRect">
            <a:avLst>
              <a:gd name="adj" fmla="val 17777"/>
            </a:avLst>
          </a:prstGeom>
          <a:solidFill>
            <a:srgbClr val="68B6AE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TextBox 600"/>
          <p:cNvSpPr txBox="1"/>
          <p:nvPr/>
        </p:nvSpPr>
        <p:spPr>
          <a:xfrm>
            <a:off x="4057589" y="6410093"/>
            <a:ext cx="288454" cy="2884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B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4403734" y="6442144"/>
            <a:ext cx="1115356" cy="1987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Blur</a:t>
            </a:r>
          </a:p>
        </p:txBody>
      </p:sp>
      <p:sp>
        <p:nvSpPr>
          <p:cNvPr id="603" name="Rounded Rectangle 602"/>
          <p:cNvSpPr/>
          <p:nvPr/>
        </p:nvSpPr>
        <p:spPr>
          <a:xfrm>
            <a:off x="4839621" y="6429323"/>
            <a:ext cx="288454" cy="301274"/>
          </a:xfrm>
          <a:prstGeom prst="roundRect">
            <a:avLst>
              <a:gd name="adj" fmla="val 17777"/>
            </a:avLst>
          </a:prstGeom>
          <a:solidFill>
            <a:srgbClr val="8E979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ounded Rectangle 603"/>
          <p:cNvSpPr/>
          <p:nvPr/>
        </p:nvSpPr>
        <p:spPr>
          <a:xfrm>
            <a:off x="4820390" y="6403683"/>
            <a:ext cx="288454" cy="301274"/>
          </a:xfrm>
          <a:prstGeom prst="roundRect">
            <a:avLst>
              <a:gd name="adj" fmla="val 17777"/>
            </a:avLst>
          </a:prstGeom>
          <a:solidFill>
            <a:srgbClr val="6F91B3"/>
          </a:solidFill>
          <a:ln w="16192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4820390" y="6410093"/>
            <a:ext cx="288454" cy="2884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0" i="1">
                <a:solidFill>
                  <a:srgbClr val="FFFFFF"/>
                </a:solidFill>
                <a:latin typeface="Liberation Serif"/>
              </a:defRPr>
            </a:pPr>
            <a:r>
              <a:t>C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5172945" y="6442144"/>
            <a:ext cx="1115356" cy="1987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Contrast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5794725" y="6429323"/>
            <a:ext cx="346145" cy="21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68" b="1" i="0">
                <a:solidFill>
                  <a:srgbClr val="2E62AA"/>
                </a:solidFill>
                <a:latin typeface="Liberation Serif"/>
              </a:defRPr>
            </a:pPr>
            <a:r>
              <a:t>DSP: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6179330" y="6435733"/>
            <a:ext cx="1852517" cy="2051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Degradation-specific Prompts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8134409" y="6429323"/>
            <a:ext cx="269223" cy="21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68" b="1" i="0">
                <a:solidFill>
                  <a:srgbClr val="2E62AA"/>
                </a:solidFill>
                <a:latin typeface="Liberation Serif"/>
              </a:defRPr>
            </a:pPr>
            <a:r>
              <a:t>TP: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8397223" y="6435733"/>
            <a:ext cx="903823" cy="2051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Type Prompt</a:t>
            </a:r>
          </a:p>
        </p:txBody>
      </p:sp>
      <p:cxnSp>
        <p:nvCxnSpPr>
          <p:cNvPr id="611" name="Connector 610"/>
          <p:cNvCxnSpPr/>
          <p:nvPr/>
        </p:nvCxnSpPr>
        <p:spPr>
          <a:xfrm>
            <a:off x="9403608" y="6544705"/>
            <a:ext cx="262813" cy="0"/>
          </a:xfrm>
          <a:prstGeom prst="line">
            <a:avLst/>
          </a:prstGeom>
          <a:ln w="28575">
            <a:solidFill>
              <a:srgbClr val="6B3A9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2" name="TextBox 611"/>
          <p:cNvSpPr txBox="1"/>
          <p:nvPr/>
        </p:nvSpPr>
        <p:spPr>
          <a:xfrm>
            <a:off x="9730522" y="6435733"/>
            <a:ext cx="217943" cy="21153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FP</a:t>
            </a:r>
          </a:p>
        </p:txBody>
      </p:sp>
      <p:cxnSp>
        <p:nvCxnSpPr>
          <p:cNvPr id="613" name="Connector 612"/>
          <p:cNvCxnSpPr/>
          <p:nvPr/>
        </p:nvCxnSpPr>
        <p:spPr>
          <a:xfrm>
            <a:off x="10108718" y="6544705"/>
            <a:ext cx="269224" cy="0"/>
          </a:xfrm>
          <a:prstGeom prst="line">
            <a:avLst/>
          </a:prstGeom>
          <a:ln w="28575">
            <a:solidFill>
              <a:srgbClr val="D1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/>
        </p:nvSpPr>
        <p:spPr>
          <a:xfrm>
            <a:off x="10429223" y="6435733"/>
            <a:ext cx="217943" cy="21153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BP</a:t>
            </a:r>
          </a:p>
        </p:txBody>
      </p:sp>
      <p:cxnSp>
        <p:nvCxnSpPr>
          <p:cNvPr id="615" name="Connector 614"/>
          <p:cNvCxnSpPr/>
          <p:nvPr/>
        </p:nvCxnSpPr>
        <p:spPr>
          <a:xfrm flipV="1">
            <a:off x="10781778" y="6461374"/>
            <a:ext cx="96151" cy="64101"/>
          </a:xfrm>
          <a:prstGeom prst="line">
            <a:avLst/>
          </a:prstGeom>
          <a:ln w="24765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10877929" y="6461374"/>
            <a:ext cx="44871" cy="51281"/>
          </a:xfrm>
          <a:prstGeom prst="line">
            <a:avLst/>
          </a:prstGeom>
          <a:ln w="24765">
            <a:solidFill>
              <a:srgbClr val="F2B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10871519" y="6512655"/>
            <a:ext cx="51281" cy="64101"/>
          </a:xfrm>
          <a:prstGeom prst="line">
            <a:avLst/>
          </a:prstGeom>
          <a:ln w="24765">
            <a:solidFill>
              <a:srgbClr val="F2B21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11006131" y="6435733"/>
            <a:ext cx="1108946" cy="21153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1" i="0">
                <a:solidFill>
                  <a:srgbClr val="111111"/>
                </a:solidFill>
                <a:latin typeface="Liberation Serif"/>
              </a:defRPr>
            </a:pPr>
            <a:r>
              <a:t>Parameter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nhancing Infrared Vision Progressive Prompt Fusion Network and Benchmark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0"/>
            <a:ext cx="12191999" cy="66985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Infrared Degradation Processing and Progressive Prompt Fusion Network</dc:title>
  <dc:subject>Editable reconstruction of the supplied reference diagram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