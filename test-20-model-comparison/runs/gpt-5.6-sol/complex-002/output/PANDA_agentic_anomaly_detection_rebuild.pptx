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4019835" cy="9144000"/>
  <p:notesSz cx="9144000" cy="1401983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019855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329" y="708934"/>
            <a:ext cx="13824539" cy="0"/>
          </a:xfrm>
          <a:prstGeom prst="line">
            <a:avLst/>
          </a:prstGeom>
          <a:noFill/>
          <a:ln w="18085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 rot="16200000">
            <a:off x="1779605" y="224302"/>
            <a:ext cx="289408" cy="173645"/>
          </a:xfrm>
          <a:prstGeom prst="triangle">
            <a:avLst/>
          </a:prstGeom>
          <a:solidFill>
            <a:srgbClr val="DCEAF7"/>
          </a:solidFill>
          <a:ln w="14468">
            <a:solidFill>
              <a:srgbClr val="2F7F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1698" y="130211"/>
            <a:ext cx="9766158" cy="477500"/>
          </a:xfrm>
          <a:prstGeom prst="roundRect">
            <a:avLst/>
          </a:prstGeom>
          <a:solidFill>
            <a:srgbClr val="DCEAF7"/>
          </a:solidFill>
          <a:ln w="14468">
            <a:solidFill>
              <a:srgbClr val="2F7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78776" y="195316"/>
            <a:ext cx="9303197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help me detect the following types of abnormal events: Abuse, Arrest, Arson, Assault, Burglary, Explosion, Fighting, Road Accidents,</a:t>
            </a:r>
            <a:endParaRPr lang="en-US" sz="1225" dirty="0"/>
          </a:p>
        </p:txBody>
      </p:sp>
      <p:sp>
        <p:nvSpPr>
          <p:cNvPr id="7" name="Text 5"/>
          <p:cNvSpPr/>
          <p:nvPr/>
        </p:nvSpPr>
        <p:spPr>
          <a:xfrm>
            <a:off x="2278776" y="383408"/>
            <a:ext cx="9303197" cy="180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Robbery, Shooting, Shoplifting, Stealing, Vandalism.</a:t>
            </a:r>
            <a:endParaRPr lang="en-US" sz="1225" dirty="0"/>
          </a:p>
        </p:txBody>
      </p:sp>
      <p:sp>
        <p:nvSpPr>
          <p:cNvPr id="8" name="Shape 6"/>
          <p:cNvSpPr/>
          <p:nvPr/>
        </p:nvSpPr>
        <p:spPr>
          <a:xfrm>
            <a:off x="1515984" y="86777"/>
            <a:ext cx="159746" cy="173004"/>
          </a:xfrm>
          <a:prstGeom prst="ellipse">
            <a:avLst/>
          </a:prstGeom>
          <a:solidFill>
            <a:srgbClr val="EDAC7E"/>
          </a:solidFill>
          <a:ln w="7987">
            <a:solidFill>
              <a:srgbClr val="7B49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6050" y="80193"/>
            <a:ext cx="199705" cy="133137"/>
          </a:xfrm>
          <a:prstGeom prst="arc">
            <a:avLst/>
          </a:prstGeom>
          <a:solidFill>
            <a:srgbClr val="60301F"/>
          </a:solidFill>
          <a:ln w="7234">
            <a:solidFill>
              <a:srgbClr val="6030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6024" y="246522"/>
            <a:ext cx="266182" cy="386060"/>
          </a:xfrm>
          <a:prstGeom prst="roundRect">
            <a:avLst/>
          </a:prstGeom>
          <a:solidFill>
            <a:srgbClr val="18334E"/>
          </a:solidFill>
          <a:ln w="9983">
            <a:solidFill>
              <a:srgbClr val="0C20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2872" y="306415"/>
            <a:ext cx="186355" cy="133137"/>
          </a:xfrm>
          <a:prstGeom prst="chevron">
            <a:avLst/>
          </a:prstGeom>
          <a:solidFill>
            <a:srgbClr val="244969"/>
          </a:solidFill>
          <a:ln w="7234">
            <a:solidFill>
              <a:srgbClr val="102B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5902" y="313091"/>
            <a:ext cx="186355" cy="139720"/>
          </a:xfrm>
          <a:prstGeom prst="chevron">
            <a:avLst/>
          </a:prstGeom>
          <a:solidFill>
            <a:srgbClr val="244969"/>
          </a:solidFill>
          <a:ln w="7234">
            <a:solidFill>
              <a:srgbClr val="102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5943" y="199979"/>
            <a:ext cx="119786" cy="119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29" dirty="0"/>
          </a:p>
        </p:txBody>
      </p:sp>
      <p:sp>
        <p:nvSpPr>
          <p:cNvPr id="14" name="Shape 12"/>
          <p:cNvSpPr/>
          <p:nvPr/>
        </p:nvSpPr>
        <p:spPr>
          <a:xfrm>
            <a:off x="285750" y="1062716"/>
            <a:ext cx="481066" cy="316108"/>
          </a:xfrm>
          <a:prstGeom prst="roundRect">
            <a:avLst/>
          </a:prstGeom>
          <a:solidFill>
            <a:srgbClr val="AAB7C9"/>
          </a:solidFill>
          <a:ln w="13745">
            <a:solidFill>
              <a:srgbClr val="8997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847" y="1117671"/>
            <a:ext cx="378013" cy="48097"/>
          </a:xfrm>
          <a:prstGeom prst="rect">
            <a:avLst/>
          </a:prstGeom>
          <a:solidFill>
            <a:srgbClr val="D6E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705" y="1220724"/>
            <a:ext cx="322966" cy="0"/>
          </a:xfrm>
          <a:prstGeom prst="line">
            <a:avLst/>
          </a:prstGeom>
          <a:noFill/>
          <a:ln w="13745">
            <a:solidFill>
              <a:srgbClr val="7C89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087" y="925281"/>
            <a:ext cx="130576" cy="130576"/>
          </a:xfrm>
          <a:prstGeom prst="ellipse">
            <a:avLst/>
          </a:prstGeom>
          <a:solidFill>
            <a:srgbClr val="525E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379" y="884042"/>
            <a:ext cx="206197" cy="206197"/>
          </a:xfrm>
          <a:prstGeom prst="ellipse">
            <a:avLst/>
          </a:prstGeom>
          <a:solidFill>
            <a:srgbClr val="525E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326" y="966521"/>
            <a:ext cx="41239" cy="41239"/>
          </a:xfrm>
          <a:prstGeom prst="ellipse">
            <a:avLst/>
          </a:prstGeom>
          <a:solidFill>
            <a:srgbClr val="BFC7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426" y="938997"/>
            <a:ext cx="41239" cy="41239"/>
          </a:xfrm>
          <a:prstGeom prst="ellipse">
            <a:avLst/>
          </a:prstGeom>
          <a:solidFill>
            <a:srgbClr val="BFC7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098" y="980237"/>
            <a:ext cx="41239" cy="41239"/>
          </a:xfrm>
          <a:prstGeom prst="ellipse">
            <a:avLst/>
          </a:prstGeom>
          <a:solidFill>
            <a:srgbClr val="BFC7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8142" y="1035192"/>
            <a:ext cx="41239" cy="41239"/>
          </a:xfrm>
          <a:prstGeom prst="ellipse">
            <a:avLst/>
          </a:prstGeom>
          <a:solidFill>
            <a:srgbClr val="BFC7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816" y="1069574"/>
            <a:ext cx="164958" cy="295534"/>
          </a:xfrm>
          <a:prstGeom prst="chevron">
            <a:avLst/>
          </a:prstGeom>
          <a:solidFill>
            <a:srgbClr val="5F6B7B"/>
          </a:solidFill>
          <a:ln w="7234">
            <a:solidFill>
              <a:srgbClr val="4754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905" y="1200150"/>
            <a:ext cx="48097" cy="48097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905" y="1282629"/>
            <a:ext cx="48097" cy="48097"/>
          </a:xfrm>
          <a:prstGeom prst="ellipse">
            <a:avLst/>
          </a:prstGeom>
          <a:solidFill>
            <a:srgbClr val="F06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9000" y="1135776"/>
            <a:ext cx="245974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424" dirty="0"/>
          </a:p>
        </p:txBody>
      </p:sp>
      <p:pic>
        <p:nvPicPr>
          <p:cNvPr id="27" name="Image 0" descr="/home/wangfeifei/projects/skillopt/SkillOpt/ppt-rebuild/complex20-skill-ab-20260907/runs/gpt-5.6-sol/complex-002/.tmp/film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763" y="766816"/>
            <a:ext cx="12522342" cy="897026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727289" y="1736171"/>
            <a:ext cx="7726131" cy="2184684"/>
          </a:xfrm>
          <a:prstGeom prst="roundRect">
            <a:avLst/>
          </a:prstGeom>
          <a:solidFill>
            <a:srgbClr val="FCE4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19750" y="1743395"/>
            <a:ext cx="3327684" cy="2177461"/>
          </a:xfrm>
          <a:prstGeom prst="roundRect">
            <a:avLst/>
          </a:prstGeom>
          <a:solidFill>
            <a:srgbClr val="E3F0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27289" y="4130711"/>
            <a:ext cx="7726131" cy="2343882"/>
          </a:xfrm>
          <a:prstGeom prst="roundRect">
            <a:avLst/>
          </a:prstGeom>
          <a:solidFill>
            <a:srgbClr val="FCE4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619750" y="4130711"/>
            <a:ext cx="3327684" cy="2343882"/>
          </a:xfrm>
          <a:prstGeom prst="roundRect">
            <a:avLst/>
          </a:prstGeom>
          <a:solidFill>
            <a:srgbClr val="E3F0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727289" y="6669908"/>
            <a:ext cx="7726131" cy="2474092"/>
          </a:xfrm>
          <a:prstGeom prst="roundRect">
            <a:avLst/>
          </a:prstGeom>
          <a:solidFill>
            <a:srgbClr val="FCE4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619750" y="6669908"/>
            <a:ext cx="3327684" cy="2474092"/>
          </a:xfrm>
          <a:prstGeom prst="roundRect">
            <a:avLst/>
          </a:prstGeom>
          <a:solidFill>
            <a:srgbClr val="E3F0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44658" y="2054474"/>
            <a:ext cx="2249790" cy="1808500"/>
          </a:xfrm>
          <a:prstGeom prst="roundRect">
            <a:avLst/>
          </a:prstGeom>
          <a:solidFill>
            <a:srgbClr val="FCFDFE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44658" y="3761750"/>
            <a:ext cx="101316" cy="10131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44658" y="3645987"/>
            <a:ext cx="216987" cy="21698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44658" y="3530316"/>
            <a:ext cx="332750" cy="33275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44658" y="3414552"/>
            <a:ext cx="448513" cy="44851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44658" y="3298789"/>
            <a:ext cx="564276" cy="56427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4658" y="3183026"/>
            <a:ext cx="680039" cy="680039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44658" y="3067263"/>
            <a:ext cx="795802" cy="795802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44658" y="2951500"/>
            <a:ext cx="911474" cy="91147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44658" y="2835829"/>
            <a:ext cx="1027237" cy="102723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44658" y="2720066"/>
            <a:ext cx="1143000" cy="11430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44658" y="2604303"/>
            <a:ext cx="1258763" cy="125876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44658" y="2488540"/>
            <a:ext cx="1374526" cy="137452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44658" y="2372777"/>
            <a:ext cx="1490198" cy="149019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44658" y="2257105"/>
            <a:ext cx="1605961" cy="1605961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44658" y="2141342"/>
            <a:ext cx="1721724" cy="172172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73645" y="2054474"/>
            <a:ext cx="1808500" cy="18085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89408" y="2054474"/>
            <a:ext cx="1808500" cy="18085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05079" y="2054474"/>
            <a:ext cx="1808500" cy="18085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20842" y="2054474"/>
            <a:ext cx="1808500" cy="18085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6605" y="2054474"/>
            <a:ext cx="1757934" cy="175793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2368" y="2054474"/>
            <a:ext cx="1642171" cy="1642171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68131" y="2054474"/>
            <a:ext cx="1526408" cy="152640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83803" y="2054474"/>
            <a:ext cx="1410645" cy="1410645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99566" y="2054474"/>
            <a:ext cx="1294882" cy="1294882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215329" y="2054474"/>
            <a:ext cx="1179210" cy="117921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331092" y="2054474"/>
            <a:ext cx="1063447" cy="106344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446855" y="2054474"/>
            <a:ext cx="947684" cy="94768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562618" y="2054474"/>
            <a:ext cx="831921" cy="831921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678290" y="2054474"/>
            <a:ext cx="716158" cy="7161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794053" y="2054474"/>
            <a:ext cx="600395" cy="600395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909816" y="2054474"/>
            <a:ext cx="484723" cy="48472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025579" y="2054474"/>
            <a:ext cx="368960" cy="36896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141342" y="2054474"/>
            <a:ext cx="253197" cy="25319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257105" y="2054474"/>
            <a:ext cx="137434" cy="13743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44658" y="2054474"/>
            <a:ext cx="2249790" cy="1808500"/>
          </a:xfrm>
          <a:prstGeom prst="roundRect">
            <a:avLst/>
          </a:prstGeom>
          <a:solidFill>
            <a:srgbClr val="FFFFFF">
              <a:alpha val="0"/>
            </a:srgbClr>
          </a:solidFill>
          <a:ln w="28937">
            <a:solidFill>
              <a:srgbClr val="A8ADB1"/>
            </a:solidFill>
            <a:prstDash val="dash"/>
          </a:ln>
        </p:spPr>
      </p:sp>
      <p:sp>
        <p:nvSpPr>
          <p:cNvPr id="70" name="Text 67"/>
          <p:cNvSpPr/>
          <p:nvPr/>
        </p:nvSpPr>
        <p:spPr>
          <a:xfrm>
            <a:off x="325526" y="2177461"/>
            <a:ext cx="1917040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67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Knowledge</a:t>
            </a:r>
            <a:endParaRPr lang="en-US" sz="1367" dirty="0"/>
          </a:p>
        </p:txBody>
      </p:sp>
      <p:sp>
        <p:nvSpPr>
          <p:cNvPr id="71" name="Shape 68"/>
          <p:cNvSpPr/>
          <p:nvPr/>
        </p:nvSpPr>
        <p:spPr>
          <a:xfrm>
            <a:off x="282092" y="2531974"/>
            <a:ext cx="180868" cy="245974"/>
          </a:xfrm>
          <a:prstGeom prst="roundRect">
            <a:avLst/>
          </a:prstGeom>
          <a:solidFill>
            <a:srgbClr val="FFFFFF"/>
          </a:solidFill>
          <a:ln w="14468">
            <a:solidFill>
              <a:srgbClr val="476377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32750" y="2575408"/>
            <a:ext cx="130211" cy="224302"/>
          </a:xfrm>
          <a:prstGeom prst="rect">
            <a:avLst/>
          </a:prstGeom>
          <a:solidFill>
            <a:srgbClr val="42B8E5"/>
          </a:solidFill>
          <a:ln w="10851">
            <a:solidFill>
              <a:srgbClr val="476377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11079" y="2611526"/>
            <a:ext cx="101316" cy="0"/>
          </a:xfrm>
          <a:prstGeom prst="line">
            <a:avLst/>
          </a:prstGeom>
          <a:noFill/>
          <a:ln w="8681">
            <a:solidFill>
              <a:srgbClr val="6D879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11079" y="2662184"/>
            <a:ext cx="101316" cy="0"/>
          </a:xfrm>
          <a:prstGeom prst="line">
            <a:avLst/>
          </a:prstGeom>
          <a:noFill/>
          <a:ln w="8681">
            <a:solidFill>
              <a:srgbClr val="6D8797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11079" y="2712842"/>
            <a:ext cx="101316" cy="0"/>
          </a:xfrm>
          <a:prstGeom prst="line">
            <a:avLst/>
          </a:prstGeom>
          <a:noFill/>
          <a:ln w="8681">
            <a:solidFill>
              <a:srgbClr val="6D879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87263" y="2597079"/>
            <a:ext cx="1482974" cy="22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</a:t>
            </a:r>
            <a:endParaRPr lang="en-US" sz="1310" dirty="0"/>
          </a:p>
        </p:txBody>
      </p:sp>
      <p:sp>
        <p:nvSpPr>
          <p:cNvPr id="77" name="Shape 74"/>
          <p:cNvSpPr/>
          <p:nvPr/>
        </p:nvSpPr>
        <p:spPr>
          <a:xfrm>
            <a:off x="289408" y="2944277"/>
            <a:ext cx="180868" cy="245974"/>
          </a:xfrm>
          <a:prstGeom prst="roundRect">
            <a:avLst/>
          </a:prstGeom>
          <a:solidFill>
            <a:srgbClr val="88C9D7"/>
          </a:solidFill>
          <a:ln w="14468">
            <a:solidFill>
              <a:srgbClr val="476377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39974" y="2987711"/>
            <a:ext cx="130211" cy="224302"/>
          </a:xfrm>
          <a:prstGeom prst="rect">
            <a:avLst/>
          </a:prstGeom>
          <a:solidFill>
            <a:srgbClr val="2C7595"/>
          </a:solidFill>
          <a:ln w="10851">
            <a:solidFill>
              <a:srgbClr val="476377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18303" y="3023921"/>
            <a:ext cx="101316" cy="0"/>
          </a:xfrm>
          <a:prstGeom prst="line">
            <a:avLst/>
          </a:prstGeom>
          <a:noFill/>
          <a:ln w="8681">
            <a:solidFill>
              <a:srgbClr val="6D8797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18303" y="3074487"/>
            <a:ext cx="101316" cy="0"/>
          </a:xfrm>
          <a:prstGeom prst="line">
            <a:avLst/>
          </a:prstGeom>
          <a:noFill/>
          <a:ln w="8681">
            <a:solidFill>
              <a:srgbClr val="6D8797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18303" y="3125145"/>
            <a:ext cx="101316" cy="0"/>
          </a:xfrm>
          <a:prstGeom prst="line">
            <a:avLst/>
          </a:prstGeom>
          <a:noFill/>
          <a:ln w="8681">
            <a:solidFill>
              <a:srgbClr val="6D8797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87263" y="3009382"/>
            <a:ext cx="1482974" cy="22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Rules</a:t>
            </a:r>
            <a:endParaRPr lang="en-US" sz="1310" dirty="0"/>
          </a:p>
        </p:txBody>
      </p:sp>
      <p:sp>
        <p:nvSpPr>
          <p:cNvPr id="83" name="Shape 80"/>
          <p:cNvSpPr/>
          <p:nvPr/>
        </p:nvSpPr>
        <p:spPr>
          <a:xfrm>
            <a:off x="296631" y="3371118"/>
            <a:ext cx="180868" cy="245974"/>
          </a:xfrm>
          <a:prstGeom prst="roundRect">
            <a:avLst/>
          </a:prstGeom>
          <a:solidFill>
            <a:srgbClr val="FFD944"/>
          </a:solidFill>
          <a:ln w="14468">
            <a:solidFill>
              <a:srgbClr val="476377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47198" y="3414552"/>
            <a:ext cx="130211" cy="224302"/>
          </a:xfrm>
          <a:prstGeom prst="rect">
            <a:avLst/>
          </a:prstGeom>
          <a:solidFill>
            <a:srgbClr val="4B6273"/>
          </a:solidFill>
          <a:ln w="10851">
            <a:solidFill>
              <a:srgbClr val="476377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25526" y="3450671"/>
            <a:ext cx="101316" cy="0"/>
          </a:xfrm>
          <a:prstGeom prst="line">
            <a:avLst/>
          </a:prstGeom>
          <a:noFill/>
          <a:ln w="8681">
            <a:solidFill>
              <a:srgbClr val="4B627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25526" y="3501329"/>
            <a:ext cx="101316" cy="0"/>
          </a:xfrm>
          <a:prstGeom prst="line">
            <a:avLst/>
          </a:prstGeom>
          <a:noFill/>
          <a:ln w="8681">
            <a:solidFill>
              <a:srgbClr val="4B627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25526" y="3551987"/>
            <a:ext cx="101316" cy="0"/>
          </a:xfrm>
          <a:prstGeom prst="line">
            <a:avLst/>
          </a:prstGeom>
          <a:noFill/>
          <a:ln w="8681">
            <a:solidFill>
              <a:srgbClr val="4B6273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87263" y="3429000"/>
            <a:ext cx="1591513" cy="22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Scenes</a:t>
            </a:r>
            <a:endParaRPr lang="en-US" sz="1310" dirty="0"/>
          </a:p>
        </p:txBody>
      </p:sp>
      <p:sp>
        <p:nvSpPr>
          <p:cNvPr id="89" name="Shape 86"/>
          <p:cNvSpPr/>
          <p:nvPr/>
        </p:nvSpPr>
        <p:spPr>
          <a:xfrm>
            <a:off x="2466868" y="2821290"/>
            <a:ext cx="282092" cy="216987"/>
          </a:xfrm>
          <a:prstGeom prst="rightArrow">
            <a:avLst/>
          </a:prstGeom>
          <a:solidFill>
            <a:srgbClr val="F07A2B"/>
          </a:solidFill>
          <a:ln w="3617">
            <a:solidFill>
              <a:srgbClr val="F07A2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423434" y="3081802"/>
            <a:ext cx="347198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2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82" dirty="0"/>
          </a:p>
        </p:txBody>
      </p:sp>
      <p:sp>
        <p:nvSpPr>
          <p:cNvPr id="91" name="Shape 88"/>
          <p:cNvSpPr/>
          <p:nvPr/>
        </p:nvSpPr>
        <p:spPr>
          <a:xfrm>
            <a:off x="144658" y="4239250"/>
            <a:ext cx="2336658" cy="4904750"/>
          </a:xfrm>
          <a:prstGeom prst="roundRect">
            <a:avLst/>
          </a:prstGeom>
          <a:solidFill>
            <a:srgbClr val="FCFDFE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44658" y="9042684"/>
            <a:ext cx="101316" cy="10131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44658" y="8927013"/>
            <a:ext cx="216987" cy="21698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44658" y="8811250"/>
            <a:ext cx="332750" cy="33275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44658" y="8695487"/>
            <a:ext cx="448513" cy="44851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44658" y="8579724"/>
            <a:ext cx="564276" cy="56427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44658" y="8463961"/>
            <a:ext cx="680039" cy="680039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44658" y="8348198"/>
            <a:ext cx="795802" cy="795802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44658" y="8232526"/>
            <a:ext cx="911474" cy="91147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44658" y="8116763"/>
            <a:ext cx="1027237" cy="102723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44658" y="8001000"/>
            <a:ext cx="1143000" cy="11430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44658" y="7885237"/>
            <a:ext cx="1258763" cy="125876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44658" y="7769474"/>
            <a:ext cx="1374526" cy="137452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44658" y="7653802"/>
            <a:ext cx="1490198" cy="149019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44658" y="7538039"/>
            <a:ext cx="1605961" cy="1605961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44658" y="7422276"/>
            <a:ext cx="1721724" cy="172172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44658" y="7306513"/>
            <a:ext cx="1837487" cy="183748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44658" y="7190750"/>
            <a:ext cx="1953250" cy="195325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44658" y="7074987"/>
            <a:ext cx="2069013" cy="206901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44658" y="6959316"/>
            <a:ext cx="2184684" cy="2184684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44658" y="6843552"/>
            <a:ext cx="2300448" cy="230044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44658" y="6727789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44658" y="6612026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44658" y="6496263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44658" y="6380500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44658" y="6264829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44658" y="6149066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44658" y="6033303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44658" y="5917540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44658" y="5801777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44658" y="5686105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44658" y="5570342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44658" y="5454579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44658" y="5338816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44658" y="5223053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44658" y="5107290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44658" y="4991618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44658" y="4875855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44658" y="4760092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44658" y="4644329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44658" y="4528566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44658" y="4412803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44658" y="4297131"/>
            <a:ext cx="2336658" cy="2336658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02540" y="4239250"/>
            <a:ext cx="2278776" cy="227877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318303" y="4239250"/>
            <a:ext cx="2163013" cy="216301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34066" y="4239250"/>
            <a:ext cx="2047250" cy="204725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49829" y="4239250"/>
            <a:ext cx="1931487" cy="193148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65500" y="4239250"/>
            <a:ext cx="1815816" cy="181581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81263" y="4239250"/>
            <a:ext cx="1700052" cy="1700052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897026" y="4239250"/>
            <a:ext cx="1584289" cy="1584289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012789" y="4239250"/>
            <a:ext cx="1468526" cy="146852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128552" y="4239250"/>
            <a:ext cx="1352763" cy="135276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244316" y="4239250"/>
            <a:ext cx="1237000" cy="123700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359987" y="4239250"/>
            <a:ext cx="1121329" cy="1121329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475750" y="4239250"/>
            <a:ext cx="1005566" cy="100556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591513" y="4239250"/>
            <a:ext cx="889803" cy="88980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707276" y="4239250"/>
            <a:ext cx="774040" cy="774040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1823039" y="4239250"/>
            <a:ext cx="658277" cy="658277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938802" y="4239250"/>
            <a:ext cx="542605" cy="542605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2054474" y="4239250"/>
            <a:ext cx="426842" cy="426842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2170237" y="4239250"/>
            <a:ext cx="311079" cy="311079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286000" y="4239250"/>
            <a:ext cx="195316" cy="195316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401763" y="4239250"/>
            <a:ext cx="79553" cy="79553"/>
          </a:xfrm>
          <a:prstGeom prst="line">
            <a:avLst/>
          </a:prstGeom>
          <a:noFill/>
          <a:ln w="8681">
            <a:solidFill>
              <a:srgbClr val="CFE5F6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144658" y="4239250"/>
            <a:ext cx="2336658" cy="4904750"/>
          </a:xfrm>
          <a:prstGeom prst="roundRect">
            <a:avLst/>
          </a:prstGeom>
          <a:solidFill>
            <a:srgbClr val="FFFFFF">
              <a:alpha val="0"/>
            </a:srgbClr>
          </a:solidFill>
          <a:ln w="28937">
            <a:solidFill>
              <a:srgbClr val="A8ADB1"/>
            </a:solidFill>
            <a:prstDash val="dash"/>
          </a:ln>
        </p:spPr>
      </p:sp>
      <p:sp>
        <p:nvSpPr>
          <p:cNvPr id="155" name="Text 152"/>
          <p:cNvSpPr/>
          <p:nvPr/>
        </p:nvSpPr>
        <p:spPr>
          <a:xfrm>
            <a:off x="470184" y="4376684"/>
            <a:ext cx="1663842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4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Toolkit</a:t>
            </a:r>
            <a:endParaRPr lang="en-US" sz="1424" dirty="0"/>
          </a:p>
        </p:txBody>
      </p:sp>
      <p:sp>
        <p:nvSpPr>
          <p:cNvPr id="156" name="Shape 153"/>
          <p:cNvSpPr/>
          <p:nvPr/>
        </p:nvSpPr>
        <p:spPr>
          <a:xfrm>
            <a:off x="231526" y="4767316"/>
            <a:ext cx="289408" cy="216987"/>
          </a:xfrm>
          <a:prstGeom prst="rect">
            <a:avLst/>
          </a:prstGeom>
          <a:solidFill>
            <a:srgbClr val="F3FFFF"/>
          </a:solidFill>
          <a:ln w="14468">
            <a:solidFill>
              <a:srgbClr val="3D81A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267645" y="4803526"/>
            <a:ext cx="216987" cy="144658"/>
          </a:xfrm>
          <a:prstGeom prst="rect">
            <a:avLst/>
          </a:prstGeom>
          <a:solidFill>
            <a:srgbClr val="77C7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11079" y="4832421"/>
            <a:ext cx="43434" cy="43434"/>
          </a:xfrm>
          <a:prstGeom prst="ellipse">
            <a:avLst/>
          </a:prstGeom>
          <a:solidFill>
            <a:srgbClr val="FFE1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282092" y="4846869"/>
            <a:ext cx="209763" cy="101316"/>
          </a:xfrm>
          <a:prstGeom prst="chevron">
            <a:avLst/>
          </a:prstGeom>
          <a:solidFill>
            <a:srgbClr val="319A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643829" y="4803526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Denoise</a:t>
            </a:r>
            <a:endParaRPr lang="en-US" sz="1282" dirty="0"/>
          </a:p>
        </p:txBody>
      </p:sp>
      <p:sp>
        <p:nvSpPr>
          <p:cNvPr id="161" name="Shape 158"/>
          <p:cNvSpPr/>
          <p:nvPr/>
        </p:nvSpPr>
        <p:spPr>
          <a:xfrm>
            <a:off x="231526" y="5273711"/>
            <a:ext cx="311079" cy="202540"/>
          </a:xfrm>
          <a:prstGeom prst="rect">
            <a:avLst/>
          </a:prstGeom>
          <a:solidFill>
            <a:srgbClr val="E8FBFF"/>
          </a:solidFill>
          <a:ln w="14468">
            <a:solidFill>
              <a:srgbClr val="3D81A5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245974" y="5324368"/>
            <a:ext cx="282092" cy="144658"/>
          </a:xfrm>
          <a:prstGeom prst="chevron">
            <a:avLst/>
          </a:prstGeom>
          <a:solidFill>
            <a:srgbClr val="36B3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643829" y="5309921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Brightness Enhance</a:t>
            </a:r>
            <a:endParaRPr lang="en-US" sz="1282" dirty="0"/>
          </a:p>
        </p:txBody>
      </p:sp>
      <p:sp>
        <p:nvSpPr>
          <p:cNvPr id="164" name="Shape 161"/>
          <p:cNvSpPr/>
          <p:nvPr/>
        </p:nvSpPr>
        <p:spPr>
          <a:xfrm>
            <a:off x="231526" y="5780105"/>
            <a:ext cx="253197" cy="180868"/>
          </a:xfrm>
          <a:prstGeom prst="rect">
            <a:avLst/>
          </a:prstGeom>
          <a:solidFill>
            <a:srgbClr val="F7FAFF"/>
          </a:solidFill>
          <a:ln w="8681">
            <a:solidFill>
              <a:srgbClr val="3D81A5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282092" y="5809000"/>
            <a:ext cx="253197" cy="180868"/>
          </a:xfrm>
          <a:prstGeom prst="rect">
            <a:avLst/>
          </a:prstGeom>
          <a:solidFill>
            <a:srgbClr val="F7FAFF"/>
          </a:solidFill>
          <a:ln w="8681">
            <a:solidFill>
              <a:srgbClr val="3D81A5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32750" y="5837987"/>
            <a:ext cx="253197" cy="180868"/>
          </a:xfrm>
          <a:prstGeom prst="rect">
            <a:avLst/>
          </a:prstGeom>
          <a:solidFill>
            <a:srgbClr val="F7FAFF"/>
          </a:solidFill>
          <a:ln w="8681">
            <a:solidFill>
              <a:srgbClr val="3D81A5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303855" y="5881421"/>
            <a:ext cx="151882" cy="0"/>
          </a:xfrm>
          <a:prstGeom prst="line">
            <a:avLst/>
          </a:prstGeom>
          <a:noFill/>
          <a:ln w="9404">
            <a:solidFill>
              <a:srgbClr val="3D81A5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643829" y="5816316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Super-resolution</a:t>
            </a:r>
            <a:endParaRPr lang="en-US" sz="1282" dirty="0"/>
          </a:p>
        </p:txBody>
      </p:sp>
      <p:sp>
        <p:nvSpPr>
          <p:cNvPr id="169" name="Shape 166"/>
          <p:cNvSpPr/>
          <p:nvPr/>
        </p:nvSpPr>
        <p:spPr>
          <a:xfrm>
            <a:off x="231526" y="6286500"/>
            <a:ext cx="311079" cy="202540"/>
          </a:xfrm>
          <a:prstGeom prst="rect">
            <a:avLst/>
          </a:prstGeom>
          <a:solidFill>
            <a:srgbClr val="E7F8FA"/>
          </a:solidFill>
          <a:ln w="14468">
            <a:solidFill>
              <a:srgbClr val="3D81A5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253197" y="6344382"/>
            <a:ext cx="267645" cy="115763"/>
          </a:xfrm>
          <a:prstGeom prst="chevron">
            <a:avLst/>
          </a:prstGeom>
          <a:solidFill>
            <a:srgbClr val="55B2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383408" y="6329934"/>
            <a:ext cx="122987" cy="115763"/>
          </a:xfrm>
          <a:prstGeom prst="rect">
            <a:avLst/>
          </a:prstGeom>
          <a:solidFill>
            <a:srgbClr val="FFFFFF">
              <a:alpha val="0"/>
            </a:srgbClr>
          </a:solidFill>
          <a:ln w="14468">
            <a:solidFill>
              <a:srgbClr val="E02F2F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643829" y="6322710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282" dirty="0"/>
          </a:p>
        </p:txBody>
      </p:sp>
      <p:sp>
        <p:nvSpPr>
          <p:cNvPr id="173" name="Shape 170"/>
          <p:cNvSpPr/>
          <p:nvPr/>
        </p:nvSpPr>
        <p:spPr>
          <a:xfrm>
            <a:off x="289408" y="6792895"/>
            <a:ext cx="224302" cy="274869"/>
          </a:xfrm>
          <a:prstGeom prst="roundRect">
            <a:avLst/>
          </a:prstGeom>
          <a:solidFill>
            <a:srgbClr val="F4D6FB"/>
          </a:solidFill>
          <a:ln w="14468">
            <a:solidFill>
              <a:srgbClr val="7F4A91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339974" y="6850776"/>
            <a:ext cx="130211" cy="159197"/>
          </a:xfrm>
          <a:prstGeom prst="ellipse">
            <a:avLst/>
          </a:prstGeom>
          <a:solidFill>
            <a:srgbClr val="FFE95E"/>
          </a:solidFill>
          <a:ln w="14468">
            <a:solidFill>
              <a:srgbClr val="CF64C6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253197" y="7031645"/>
            <a:ext cx="65105" cy="-57882"/>
          </a:xfrm>
          <a:prstGeom prst="line">
            <a:avLst/>
          </a:prstGeom>
          <a:noFill/>
          <a:ln w="21703">
            <a:solidFill>
              <a:srgbClr val="7F4A91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643829" y="6829105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Retrive</a:t>
            </a:r>
            <a:endParaRPr lang="en-US" sz="1282" dirty="0"/>
          </a:p>
        </p:txBody>
      </p:sp>
      <p:sp>
        <p:nvSpPr>
          <p:cNvPr id="177" name="Shape 174"/>
          <p:cNvSpPr/>
          <p:nvPr/>
        </p:nvSpPr>
        <p:spPr>
          <a:xfrm>
            <a:off x="231526" y="7299289"/>
            <a:ext cx="311079" cy="209763"/>
          </a:xfrm>
          <a:prstGeom prst="rect">
            <a:avLst/>
          </a:prstGeom>
          <a:solidFill>
            <a:srgbClr val="F8F9FF"/>
          </a:solidFill>
          <a:ln w="14468">
            <a:solidFill>
              <a:srgbClr val="3D81A5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253197" y="7357171"/>
            <a:ext cx="267645" cy="122987"/>
          </a:xfrm>
          <a:prstGeom prst="chevron">
            <a:avLst/>
          </a:prstGeom>
          <a:solidFill>
            <a:srgbClr val="E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643829" y="7335500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Deblur</a:t>
            </a:r>
            <a:endParaRPr lang="en-US" sz="1282" dirty="0"/>
          </a:p>
        </p:txBody>
      </p:sp>
      <p:sp>
        <p:nvSpPr>
          <p:cNvPr id="180" name="Shape 177"/>
          <p:cNvSpPr/>
          <p:nvPr/>
        </p:nvSpPr>
        <p:spPr>
          <a:xfrm>
            <a:off x="231526" y="7805684"/>
            <a:ext cx="311079" cy="209763"/>
          </a:xfrm>
          <a:prstGeom prst="rect">
            <a:avLst/>
          </a:prstGeom>
          <a:solidFill>
            <a:srgbClr val="F8F9FF"/>
          </a:solidFill>
          <a:ln w="14468">
            <a:solidFill>
              <a:srgbClr val="3D81A5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245974" y="7841803"/>
            <a:ext cx="282092" cy="159197"/>
          </a:xfrm>
          <a:prstGeom prst="chevron">
            <a:avLst/>
          </a:prstGeom>
          <a:solidFill>
            <a:srgbClr val="F2C1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643829" y="7841803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Zoom</a:t>
            </a:r>
            <a:endParaRPr lang="en-US" sz="1282" dirty="0"/>
          </a:p>
        </p:txBody>
      </p:sp>
      <p:sp>
        <p:nvSpPr>
          <p:cNvPr id="183" name="Shape 180"/>
          <p:cNvSpPr/>
          <p:nvPr/>
        </p:nvSpPr>
        <p:spPr>
          <a:xfrm>
            <a:off x="231526" y="8312079"/>
            <a:ext cx="253197" cy="253197"/>
          </a:xfrm>
          <a:prstGeom prst="ellipse">
            <a:avLst/>
          </a:prstGeom>
          <a:solidFill>
            <a:srgbClr val="DFF3F5"/>
          </a:solidFill>
          <a:ln w="21703">
            <a:solidFill>
              <a:srgbClr val="526A79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426842" y="8507395"/>
            <a:ext cx="101316" cy="101316"/>
          </a:xfrm>
          <a:prstGeom prst="line">
            <a:avLst/>
          </a:prstGeom>
          <a:noFill/>
          <a:ln w="36171">
            <a:solidFill>
              <a:srgbClr val="3D81A5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282092" y="8384408"/>
            <a:ext cx="144658" cy="0"/>
          </a:xfrm>
          <a:prstGeom prst="line">
            <a:avLst/>
          </a:prstGeom>
          <a:noFill/>
          <a:ln w="10851">
            <a:solidFill>
              <a:srgbClr val="7CC9D0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282092" y="8435066"/>
            <a:ext cx="144658" cy="0"/>
          </a:xfrm>
          <a:prstGeom prst="line">
            <a:avLst/>
          </a:prstGeom>
          <a:noFill/>
          <a:ln w="10851">
            <a:solidFill>
              <a:srgbClr val="7CC9D0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282092" y="8485723"/>
            <a:ext cx="144658" cy="0"/>
          </a:xfrm>
          <a:prstGeom prst="line">
            <a:avLst/>
          </a:prstGeom>
          <a:noFill/>
          <a:ln w="10851">
            <a:solidFill>
              <a:srgbClr val="7CC9D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643829" y="8348198"/>
            <a:ext cx="1678290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282" dirty="0"/>
          </a:p>
        </p:txBody>
      </p:sp>
      <p:sp>
        <p:nvSpPr>
          <p:cNvPr id="189" name="Text 186"/>
          <p:cNvSpPr/>
          <p:nvPr/>
        </p:nvSpPr>
        <p:spPr>
          <a:xfrm>
            <a:off x="245974" y="8760592"/>
            <a:ext cx="173645" cy="24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766" dirty="0"/>
          </a:p>
        </p:txBody>
      </p:sp>
      <p:sp>
        <p:nvSpPr>
          <p:cNvPr id="190" name="Shape 187"/>
          <p:cNvSpPr/>
          <p:nvPr/>
        </p:nvSpPr>
        <p:spPr>
          <a:xfrm>
            <a:off x="2481316" y="5244816"/>
            <a:ext cx="274869" cy="216987"/>
          </a:xfrm>
          <a:prstGeom prst="rightArrow">
            <a:avLst/>
          </a:prstGeom>
          <a:solidFill>
            <a:srgbClr val="F07A2B"/>
          </a:solidFill>
          <a:ln w="3617">
            <a:solidFill>
              <a:srgbClr val="F07A2B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2481316" y="7870789"/>
            <a:ext cx="274869" cy="216987"/>
          </a:xfrm>
          <a:prstGeom prst="rightArrow">
            <a:avLst/>
          </a:prstGeom>
          <a:solidFill>
            <a:srgbClr val="F07A2B"/>
          </a:solidFill>
          <a:ln w="3617">
            <a:solidFill>
              <a:srgbClr val="F07A2B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2760299" y="1719163"/>
            <a:ext cx="320314" cy="118598"/>
          </a:xfrm>
          <a:prstGeom prst="ellipse">
            <a:avLst/>
          </a:prstGeom>
          <a:solidFill>
            <a:srgbClr val="F28C18"/>
          </a:solidFill>
          <a:ln w="11864">
            <a:solidFill>
              <a:srgbClr val="67330E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2807757" y="1689445"/>
            <a:ext cx="231343" cy="100858"/>
          </a:xfrm>
          <a:prstGeom prst="roundRect">
            <a:avLst/>
          </a:prstGeom>
          <a:solidFill>
            <a:srgbClr val="E77E10"/>
          </a:solidFill>
          <a:ln w="11864">
            <a:solidFill>
              <a:srgbClr val="67330E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2754356" y="1784360"/>
            <a:ext cx="361828" cy="41514"/>
          </a:xfrm>
          <a:prstGeom prst="roundRect">
            <a:avLst/>
          </a:prstGeom>
          <a:solidFill>
            <a:srgbClr val="9D450D"/>
          </a:solidFill>
          <a:ln w="8898">
            <a:solidFill>
              <a:srgbClr val="67330E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2772095" y="1825874"/>
            <a:ext cx="118598" cy="118598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2997586" y="1825874"/>
            <a:ext cx="118598" cy="118598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2795869" y="1825874"/>
            <a:ext cx="290688" cy="266913"/>
          </a:xfrm>
          <a:prstGeom prst="ellipse">
            <a:avLst/>
          </a:prstGeom>
          <a:solidFill>
            <a:srgbClr val="FFF7E8"/>
          </a:solidFill>
          <a:ln w="11864">
            <a:solidFill>
              <a:srgbClr val="6B4731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2837383" y="1891162"/>
            <a:ext cx="83028" cy="100858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2967868" y="1891162"/>
            <a:ext cx="83028" cy="100858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2867010" y="1914845"/>
            <a:ext cx="29627" cy="3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2991642" y="1914845"/>
            <a:ext cx="29627" cy="3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2920411" y="1974190"/>
            <a:ext cx="47457" cy="35570"/>
          </a:xfrm>
          <a:prstGeom prst="ellipse">
            <a:avLst/>
          </a:prstGeom>
          <a:solidFill>
            <a:srgbClr val="2A2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2801813" y="2075048"/>
            <a:ext cx="290688" cy="249174"/>
          </a:xfrm>
          <a:prstGeom prst="roundRect">
            <a:avLst/>
          </a:prstGeom>
          <a:solidFill>
            <a:srgbClr val="F18717"/>
          </a:solidFill>
          <a:ln w="11864">
            <a:solidFill>
              <a:srgbClr val="6B3214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2944185" y="2086935"/>
            <a:ext cx="0" cy="231343"/>
          </a:xfrm>
          <a:prstGeom prst="line">
            <a:avLst/>
          </a:prstGeom>
          <a:noFill/>
          <a:ln w="11864">
            <a:solidFill>
              <a:srgbClr val="8F461B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2861158" y="2122505"/>
            <a:ext cx="154259" cy="166055"/>
          </a:xfrm>
          <a:prstGeom prst="line">
            <a:avLst/>
          </a:prstGeom>
          <a:noFill/>
          <a:ln w="10678">
            <a:solidFill>
              <a:srgbClr val="6B3214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3021269" y="2122505"/>
            <a:ext cx="-142372" cy="166055"/>
          </a:xfrm>
          <a:prstGeom prst="line">
            <a:avLst/>
          </a:prstGeom>
          <a:noFill/>
          <a:ln w="10678">
            <a:solidFill>
              <a:srgbClr val="6B3214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2748412" y="2134392"/>
            <a:ext cx="124541" cy="83028"/>
          </a:xfrm>
          <a:prstGeom prst="ellipse">
            <a:avLst/>
          </a:prstGeom>
          <a:solidFill>
            <a:srgbClr val="F18717"/>
          </a:solidFill>
          <a:ln w="11864">
            <a:solidFill>
              <a:srgbClr val="6B3214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2712842" y="1932676"/>
            <a:ext cx="118598" cy="118598"/>
          </a:xfrm>
          <a:prstGeom prst="ellipse">
            <a:avLst/>
          </a:prstGeom>
          <a:solidFill>
            <a:srgbClr val="BDEAF6">
              <a:alpha val="90000"/>
            </a:srgbClr>
          </a:solidFill>
          <a:ln w="17796">
            <a:solidFill>
              <a:srgbClr val="4A6470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2801813" y="2033534"/>
            <a:ext cx="71140" cy="77084"/>
          </a:xfrm>
          <a:prstGeom prst="line">
            <a:avLst/>
          </a:prstGeom>
          <a:noFill/>
          <a:ln w="29660">
            <a:solidFill>
              <a:srgbClr val="4A6470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4637105" y="1808500"/>
            <a:ext cx="322600" cy="184343"/>
          </a:xfrm>
          <a:prstGeom prst="roundRect">
            <a:avLst/>
          </a:prstGeom>
          <a:solidFill>
            <a:srgbClr val="D9E6EC"/>
          </a:solidFill>
          <a:ln w="19749">
            <a:solidFill>
              <a:srgbClr val="6D7479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4676607" y="1848002"/>
            <a:ext cx="243596" cy="79004"/>
          </a:xfrm>
          <a:prstGeom prst="roundRect">
            <a:avLst/>
          </a:prstGeom>
          <a:solidFill>
            <a:srgbClr val="BFE8F5"/>
          </a:solidFill>
          <a:ln w="8558">
            <a:solidFill>
              <a:srgbClr val="5B8DA1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4755612" y="1999427"/>
            <a:ext cx="-19751" cy="39502"/>
          </a:xfrm>
          <a:prstGeom prst="line">
            <a:avLst/>
          </a:prstGeom>
          <a:noFill/>
          <a:ln w="13166">
            <a:solidFill>
              <a:srgbClr val="6D7479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4841199" y="1999427"/>
            <a:ext cx="19751" cy="39502"/>
          </a:xfrm>
          <a:prstGeom prst="line">
            <a:avLst/>
          </a:prstGeom>
          <a:noFill/>
          <a:ln w="13166">
            <a:solidFill>
              <a:srgbClr val="6D7479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4716109" y="2038929"/>
            <a:ext cx="171176" cy="0"/>
          </a:xfrm>
          <a:prstGeom prst="line">
            <a:avLst/>
          </a:prstGeom>
          <a:noFill/>
          <a:ln w="13166">
            <a:solidFill>
              <a:srgbClr val="6D7479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4043934" y="2061698"/>
            <a:ext cx="1497513" cy="22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Perception</a:t>
            </a:r>
            <a:endParaRPr lang="en-US" sz="1253" dirty="0"/>
          </a:p>
        </p:txBody>
      </p:sp>
      <p:sp>
        <p:nvSpPr>
          <p:cNvPr id="216" name="Shape 213"/>
          <p:cNvSpPr/>
          <p:nvPr/>
        </p:nvSpPr>
        <p:spPr>
          <a:xfrm>
            <a:off x="6300948" y="2040026"/>
            <a:ext cx="918698" cy="0"/>
          </a:xfrm>
          <a:prstGeom prst="line">
            <a:avLst/>
          </a:prstGeom>
          <a:noFill/>
          <a:ln w="21703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217" name="Shape 214"/>
          <p:cNvSpPr/>
          <p:nvPr/>
        </p:nvSpPr>
        <p:spPr>
          <a:xfrm>
            <a:off x="8699053" y="1812889"/>
            <a:ext cx="221376" cy="260421"/>
          </a:xfrm>
          <a:prstGeom prst="roundRect">
            <a:avLst/>
          </a:prstGeom>
          <a:solidFill>
            <a:srgbClr val="F8F8F5"/>
          </a:solidFill>
          <a:ln w="13022">
            <a:solidFill>
              <a:srgbClr val="687785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8751174" y="1786829"/>
            <a:ext cx="117226" cy="58613"/>
          </a:xfrm>
          <a:prstGeom prst="roundRect">
            <a:avLst/>
          </a:prstGeom>
          <a:solidFill>
            <a:srgbClr val="F3A73E"/>
          </a:solidFill>
          <a:ln w="13022">
            <a:solidFill>
              <a:srgbClr val="687785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8731697" y="1877995"/>
            <a:ext cx="26060" cy="26060"/>
          </a:xfrm>
          <a:prstGeom prst="ellipse">
            <a:avLst/>
          </a:prstGeom>
          <a:solidFill>
            <a:srgbClr val="55A7DB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8783726" y="1890979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8731697" y="1936608"/>
            <a:ext cx="26060" cy="26060"/>
          </a:xfrm>
          <a:prstGeom prst="ellipse">
            <a:avLst/>
          </a:prstGeom>
          <a:solidFill>
            <a:srgbClr val="E6A248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8783726" y="1949592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8731697" y="1995221"/>
            <a:ext cx="26060" cy="26060"/>
          </a:xfrm>
          <a:prstGeom prst="ellipse">
            <a:avLst/>
          </a:prstGeom>
          <a:solidFill>
            <a:srgbClr val="E6A248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8783726" y="2008205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8073329" y="2061698"/>
            <a:ext cx="1490198" cy="22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Planning</a:t>
            </a:r>
            <a:endParaRPr lang="en-US" sz="1253" dirty="0"/>
          </a:p>
        </p:txBody>
      </p:sp>
      <p:sp>
        <p:nvSpPr>
          <p:cNvPr id="226" name="Shape 223"/>
          <p:cNvSpPr/>
          <p:nvPr/>
        </p:nvSpPr>
        <p:spPr>
          <a:xfrm>
            <a:off x="2900934" y="2365553"/>
            <a:ext cx="4174145" cy="1410645"/>
          </a:xfrm>
          <a:prstGeom prst="roundRect">
            <a:avLst/>
          </a:prstGeom>
          <a:solidFill>
            <a:srgbClr val="F1F2F4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227" name="Text 224"/>
          <p:cNvSpPr/>
          <p:nvPr/>
        </p:nvSpPr>
        <p:spPr>
          <a:xfrm>
            <a:off x="3703869" y="2408987"/>
            <a:ext cx="2582631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Information</a:t>
            </a:r>
            <a:endParaRPr lang="en-US" sz="1253" dirty="0"/>
          </a:p>
        </p:txBody>
      </p:sp>
      <p:sp>
        <p:nvSpPr>
          <p:cNvPr id="228" name="Text 225"/>
          <p:cNvSpPr/>
          <p:nvPr/>
        </p:nvSpPr>
        <p:spPr>
          <a:xfrm>
            <a:off x="3031145" y="2662184"/>
            <a:ext cx="2170237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Overview</a:t>
            </a:r>
            <a:endParaRPr lang="en-US" sz="1139" dirty="0"/>
          </a:p>
        </p:txBody>
      </p:sp>
      <p:sp>
        <p:nvSpPr>
          <p:cNvPr id="229" name="Text 226"/>
          <p:cNvSpPr/>
          <p:nvPr/>
        </p:nvSpPr>
        <p:spPr>
          <a:xfrm>
            <a:off x="5483474" y="2662184"/>
            <a:ext cx="1461303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Anomalies</a:t>
            </a:r>
            <a:endParaRPr lang="en-US" sz="1139" dirty="0"/>
          </a:p>
        </p:txBody>
      </p:sp>
      <p:sp>
        <p:nvSpPr>
          <p:cNvPr id="230" name="Text 227"/>
          <p:cNvSpPr/>
          <p:nvPr/>
        </p:nvSpPr>
        <p:spPr>
          <a:xfrm>
            <a:off x="3031145" y="2828605"/>
            <a:ext cx="379796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video depicts a  store with...</a:t>
            </a:r>
            <a:endParaRPr lang="en-US" sz="1111" dirty="0"/>
          </a:p>
        </p:txBody>
      </p:sp>
      <p:sp>
        <p:nvSpPr>
          <p:cNvPr id="231" name="Text 228"/>
          <p:cNvSpPr/>
          <p:nvPr/>
        </p:nvSpPr>
        <p:spPr>
          <a:xfrm>
            <a:off x="3031145" y="3009382"/>
            <a:ext cx="379796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Condition</a:t>
            </a:r>
            <a:endParaRPr lang="en-US" sz="1111" dirty="0"/>
          </a:p>
        </p:txBody>
      </p:sp>
      <p:sp>
        <p:nvSpPr>
          <p:cNvPr id="232" name="Text 229"/>
          <p:cNvSpPr/>
          <p:nvPr/>
        </p:nvSpPr>
        <p:spPr>
          <a:xfrm>
            <a:off x="3031145" y="3190250"/>
            <a:ext cx="379796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Daytime, bright light</a:t>
            </a:r>
            <a:endParaRPr lang="en-US" sz="1111" dirty="0"/>
          </a:p>
        </p:txBody>
      </p:sp>
      <p:sp>
        <p:nvSpPr>
          <p:cNvPr id="233" name="Text 230"/>
          <p:cNvSpPr/>
          <p:nvPr/>
        </p:nvSpPr>
        <p:spPr>
          <a:xfrm>
            <a:off x="3031145" y="3371118"/>
            <a:ext cx="379796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Quality</a:t>
            </a:r>
            <a:endParaRPr lang="en-US" sz="1111" dirty="0"/>
          </a:p>
        </p:txBody>
      </p:sp>
      <p:sp>
        <p:nvSpPr>
          <p:cNvPr id="234" name="Text 231"/>
          <p:cNvSpPr/>
          <p:nvPr/>
        </p:nvSpPr>
        <p:spPr>
          <a:xfrm>
            <a:off x="3031145" y="3551987"/>
            <a:ext cx="379796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overall quality of the video is low and blurry.</a:t>
            </a:r>
            <a:endParaRPr lang="en-US" sz="1111" dirty="0"/>
          </a:p>
        </p:txBody>
      </p:sp>
      <p:sp>
        <p:nvSpPr>
          <p:cNvPr id="235" name="Text 232"/>
          <p:cNvSpPr/>
          <p:nvPr/>
        </p:nvSpPr>
        <p:spPr>
          <a:xfrm>
            <a:off x="5483474" y="2835829"/>
            <a:ext cx="1374526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Burglary</a:t>
            </a:r>
            <a:endParaRPr lang="en-US" sz="1111" dirty="0"/>
          </a:p>
        </p:txBody>
      </p:sp>
      <p:sp>
        <p:nvSpPr>
          <p:cNvPr id="236" name="Text 233"/>
          <p:cNvSpPr/>
          <p:nvPr/>
        </p:nvSpPr>
        <p:spPr>
          <a:xfrm>
            <a:off x="5483474" y="3016697"/>
            <a:ext cx="1374526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Shoplifting</a:t>
            </a:r>
            <a:endParaRPr lang="en-US" sz="1111" dirty="0"/>
          </a:p>
        </p:txBody>
      </p:sp>
      <p:sp>
        <p:nvSpPr>
          <p:cNvPr id="237" name="Text 234"/>
          <p:cNvSpPr/>
          <p:nvPr/>
        </p:nvSpPr>
        <p:spPr>
          <a:xfrm>
            <a:off x="5483474" y="3197474"/>
            <a:ext cx="1374526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Stealing</a:t>
            </a:r>
            <a:endParaRPr lang="en-US" sz="1111" dirty="0"/>
          </a:p>
        </p:txBody>
      </p:sp>
      <p:sp>
        <p:nvSpPr>
          <p:cNvPr id="238" name="Shape 235"/>
          <p:cNvSpPr/>
          <p:nvPr/>
        </p:nvSpPr>
        <p:spPr>
          <a:xfrm>
            <a:off x="7263079" y="2365553"/>
            <a:ext cx="3045592" cy="1410645"/>
          </a:xfrm>
          <a:prstGeom prst="roundRect">
            <a:avLst/>
          </a:prstGeom>
          <a:solidFill>
            <a:srgbClr val="F2F2F2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239" name="Text 236"/>
          <p:cNvSpPr/>
          <p:nvPr/>
        </p:nvSpPr>
        <p:spPr>
          <a:xfrm>
            <a:off x="7617592" y="2408987"/>
            <a:ext cx="2365553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3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Strategy Planning</a:t>
            </a:r>
            <a:endParaRPr lang="en-US" sz="1253" dirty="0"/>
          </a:p>
        </p:txBody>
      </p:sp>
      <p:sp>
        <p:nvSpPr>
          <p:cNvPr id="240" name="Text 237"/>
          <p:cNvSpPr/>
          <p:nvPr/>
        </p:nvSpPr>
        <p:spPr>
          <a:xfrm>
            <a:off x="7393290" y="2662184"/>
            <a:ext cx="278517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111" dirty="0"/>
          </a:p>
        </p:txBody>
      </p:sp>
      <p:sp>
        <p:nvSpPr>
          <p:cNvPr id="241" name="Text 238"/>
          <p:cNvSpPr/>
          <p:nvPr/>
        </p:nvSpPr>
        <p:spPr>
          <a:xfrm>
            <a:off x="7393290" y="2843052"/>
            <a:ext cx="278517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 Deblur</a:t>
            </a:r>
            <a:endParaRPr lang="en-US" sz="1111" dirty="0"/>
          </a:p>
        </p:txBody>
      </p:sp>
      <p:sp>
        <p:nvSpPr>
          <p:cNvPr id="242" name="Text 239"/>
          <p:cNvSpPr/>
          <p:nvPr/>
        </p:nvSpPr>
        <p:spPr>
          <a:xfrm>
            <a:off x="7393290" y="3023921"/>
            <a:ext cx="278517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Rules</a:t>
            </a:r>
            <a:endParaRPr lang="en-US" sz="1111" dirty="0"/>
          </a:p>
        </p:txBody>
      </p:sp>
      <p:sp>
        <p:nvSpPr>
          <p:cNvPr id="243" name="Text 240"/>
          <p:cNvSpPr/>
          <p:nvPr/>
        </p:nvSpPr>
        <p:spPr>
          <a:xfrm>
            <a:off x="7393290" y="3204698"/>
            <a:ext cx="278517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Companion distracts clerk while theft ...</a:t>
            </a:r>
            <a:endParaRPr lang="en-US" sz="1111" dirty="0"/>
          </a:p>
        </p:txBody>
      </p:sp>
      <p:sp>
        <p:nvSpPr>
          <p:cNvPr id="244" name="Text 241"/>
          <p:cNvSpPr/>
          <p:nvPr/>
        </p:nvSpPr>
        <p:spPr>
          <a:xfrm>
            <a:off x="7393290" y="3385566"/>
            <a:ext cx="278517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Prompt</a:t>
            </a:r>
            <a:endParaRPr lang="en-US" sz="1111" dirty="0"/>
          </a:p>
        </p:txBody>
      </p:sp>
      <p:sp>
        <p:nvSpPr>
          <p:cNvPr id="245" name="Text 242"/>
          <p:cNvSpPr/>
          <p:nvPr/>
        </p:nvSpPr>
        <p:spPr>
          <a:xfrm>
            <a:off x="7393290" y="3566434"/>
            <a:ext cx="278517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Observe customer interactions with ...</a:t>
            </a:r>
            <a:endParaRPr lang="en-US" sz="1111" dirty="0"/>
          </a:p>
        </p:txBody>
      </p:sp>
      <p:sp>
        <p:nvSpPr>
          <p:cNvPr id="246" name="Shape 243"/>
          <p:cNvSpPr/>
          <p:nvPr/>
        </p:nvSpPr>
        <p:spPr>
          <a:xfrm>
            <a:off x="10395539" y="2828605"/>
            <a:ext cx="238750" cy="209763"/>
          </a:xfrm>
          <a:prstGeom prst="rightArrow">
            <a:avLst/>
          </a:prstGeom>
          <a:solidFill>
            <a:srgbClr val="F07A2B"/>
          </a:solidFill>
          <a:ln w="3617">
            <a:solidFill>
              <a:srgbClr val="F07A2B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12138934" y="1823039"/>
            <a:ext cx="302758" cy="302758"/>
          </a:xfrm>
          <a:prstGeom prst="ellipse">
            <a:avLst/>
          </a:prstGeom>
          <a:solidFill>
            <a:srgbClr val="F77A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12165818" y="1849923"/>
            <a:ext cx="248900" cy="248900"/>
          </a:xfrm>
          <a:prstGeom prst="ellipse">
            <a:avLst/>
          </a:prstGeom>
          <a:solidFill>
            <a:srgbClr val="4FC0C6"/>
          </a:solidFill>
          <a:ln w="13456">
            <a:solidFill>
              <a:srgbClr val="FFFFFF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12206234" y="1897014"/>
            <a:ext cx="168158" cy="148041"/>
          </a:xfrm>
          <a:prstGeom prst="ellipse">
            <a:avLst/>
          </a:prstGeom>
          <a:solidFill>
            <a:srgbClr val="264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12213001" y="1917222"/>
            <a:ext cx="154716" cy="121067"/>
          </a:xfrm>
          <a:prstGeom prst="arc">
            <a:avLst/>
          </a:prstGeom>
          <a:solidFill>
            <a:srgbClr val="FFFFFF">
              <a:alpha val="0"/>
            </a:srgbClr>
          </a:solidFill>
          <a:ln w="20183">
            <a:solidFill>
              <a:srgbClr val="FFFFFF"/>
            </a:solidFill>
            <a:prstDash val="solid"/>
          </a:ln>
        </p:spPr>
      </p:sp>
      <p:sp>
        <p:nvSpPr>
          <p:cNvPr id="251" name="Text 248"/>
          <p:cNvSpPr/>
          <p:nvPr/>
        </p:nvSpPr>
        <p:spPr>
          <a:xfrm>
            <a:off x="11480658" y="2119579"/>
            <a:ext cx="1605961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Reasoning</a:t>
            </a:r>
            <a:endParaRPr lang="en-US" sz="1310" dirty="0"/>
          </a:p>
        </p:txBody>
      </p:sp>
      <p:sp>
        <p:nvSpPr>
          <p:cNvPr id="252" name="Shape 249"/>
          <p:cNvSpPr/>
          <p:nvPr/>
        </p:nvSpPr>
        <p:spPr>
          <a:xfrm>
            <a:off x="10800618" y="2365553"/>
            <a:ext cx="2937053" cy="253197"/>
          </a:xfrm>
          <a:prstGeom prst="rect">
            <a:avLst/>
          </a:prstGeom>
          <a:solidFill>
            <a:srgbClr val="F2F2F2"/>
          </a:solidFill>
          <a:ln w="21703">
            <a:solidFill>
              <a:srgbClr val="B5B8BA"/>
            </a:solidFill>
            <a:prstDash val="dash"/>
          </a:ln>
        </p:spPr>
      </p:sp>
      <p:sp>
        <p:nvSpPr>
          <p:cNvPr id="253" name="Text 250"/>
          <p:cNvSpPr/>
          <p:nvPr/>
        </p:nvSpPr>
        <p:spPr>
          <a:xfrm>
            <a:off x="10938053" y="2401763"/>
            <a:ext cx="2662184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Results</a:t>
            </a:r>
            <a:endParaRPr lang="en-US" sz="1196" dirty="0"/>
          </a:p>
        </p:txBody>
      </p:sp>
      <p:sp>
        <p:nvSpPr>
          <p:cNvPr id="254" name="Shape 251"/>
          <p:cNvSpPr/>
          <p:nvPr/>
        </p:nvSpPr>
        <p:spPr>
          <a:xfrm>
            <a:off x="10800618" y="2669408"/>
            <a:ext cx="2937053" cy="1135776"/>
          </a:xfrm>
          <a:prstGeom prst="rect">
            <a:avLst/>
          </a:prstGeom>
          <a:solidFill>
            <a:srgbClr val="FFF0E8"/>
          </a:solidFill>
          <a:ln w="21703">
            <a:solidFill>
              <a:srgbClr val="C2C4C5"/>
            </a:solidFill>
            <a:prstDash val="dash"/>
          </a:ln>
        </p:spPr>
      </p:sp>
      <p:sp>
        <p:nvSpPr>
          <p:cNvPr id="255" name="Text 252"/>
          <p:cNvSpPr/>
          <p:nvPr/>
        </p:nvSpPr>
        <p:spPr>
          <a:xfrm>
            <a:off x="10872948" y="2734513"/>
            <a:ext cx="2785171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algn="l" indent="0" marL="0">
              <a:buNone/>
            </a:pPr>
            <a:r>
              <a:rPr lang="en-US" sz="1139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Abnormal / </a:t>
            </a:r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</a:t>
            </a:r>
            <a:endParaRPr lang="en-US" sz="1139" dirty="0"/>
          </a:p>
        </p:txBody>
      </p:sp>
      <p:sp>
        <p:nvSpPr>
          <p:cNvPr id="256" name="Text 253"/>
          <p:cNvSpPr/>
          <p:nvPr/>
        </p:nvSpPr>
        <p:spPr>
          <a:xfrm>
            <a:off x="10872948" y="2922605"/>
            <a:ext cx="278517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0.5</a:t>
            </a:r>
            <a:endParaRPr lang="en-US" sz="1139" dirty="0"/>
          </a:p>
        </p:txBody>
      </p:sp>
      <p:sp>
        <p:nvSpPr>
          <p:cNvPr id="257" name="Text 254"/>
          <p:cNvSpPr/>
          <p:nvPr/>
        </p:nvSpPr>
        <p:spPr>
          <a:xfrm>
            <a:off x="10872948" y="3103474"/>
            <a:ext cx="278517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</a:t>
            </a:r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shows two individuals</a:t>
            </a:r>
            <a:endParaRPr lang="en-US" sz="1139" dirty="0"/>
          </a:p>
        </p:txBody>
      </p:sp>
      <p:sp>
        <p:nvSpPr>
          <p:cNvPr id="258" name="Text 255"/>
          <p:cNvSpPr/>
          <p:nvPr/>
        </p:nvSpPr>
        <p:spPr>
          <a:xfrm>
            <a:off x="10872948" y="3284342"/>
            <a:ext cx="2748961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browsing items in a store. The scene</a:t>
            </a:r>
            <a:endParaRPr lang="en-US" sz="1139" dirty="0"/>
          </a:p>
        </p:txBody>
      </p:sp>
      <p:sp>
        <p:nvSpPr>
          <p:cNvPr id="259" name="Text 256"/>
          <p:cNvSpPr/>
          <p:nvPr/>
        </p:nvSpPr>
        <p:spPr>
          <a:xfrm>
            <a:off x="10872948" y="3457895"/>
            <a:ext cx="2748961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lacks sufficient detail to confidently</a:t>
            </a:r>
            <a:endParaRPr lang="en-US" sz="1139" dirty="0"/>
          </a:p>
        </p:txBody>
      </p:sp>
      <p:sp>
        <p:nvSpPr>
          <p:cNvPr id="260" name="Text 257"/>
          <p:cNvSpPr/>
          <p:nvPr/>
        </p:nvSpPr>
        <p:spPr>
          <a:xfrm>
            <a:off x="10872948" y="3631540"/>
            <a:ext cx="2748961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it as normal or abnormal.</a:t>
            </a:r>
            <a:endParaRPr lang="en-US" sz="1139" dirty="0"/>
          </a:p>
        </p:txBody>
      </p:sp>
      <p:sp>
        <p:nvSpPr>
          <p:cNvPr id="261" name="Shape 258"/>
          <p:cNvSpPr/>
          <p:nvPr/>
        </p:nvSpPr>
        <p:spPr>
          <a:xfrm>
            <a:off x="3327684" y="3805184"/>
            <a:ext cx="1237000" cy="390632"/>
          </a:xfrm>
          <a:prstGeom prst="ellipse">
            <a:avLst/>
          </a:prstGeom>
          <a:solidFill>
            <a:srgbClr val="FFFFFF"/>
          </a:solidFill>
          <a:ln w="14468">
            <a:solidFill>
              <a:srgbClr val="F07A2B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3436224" y="4109039"/>
            <a:ext cx="86777" cy="65105"/>
          </a:xfrm>
          <a:prstGeom prst="ellipse">
            <a:avLst/>
          </a:prstGeom>
          <a:solidFill>
            <a:srgbClr val="FFFFFF"/>
          </a:solidFill>
          <a:ln w="10851">
            <a:solidFill>
              <a:srgbClr val="F07A2B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3342223" y="4203040"/>
            <a:ext cx="50658" cy="43434"/>
          </a:xfrm>
          <a:prstGeom prst="ellipse">
            <a:avLst/>
          </a:prstGeom>
          <a:solidFill>
            <a:srgbClr val="FFFFFF"/>
          </a:solidFill>
          <a:ln w="8681">
            <a:solidFill>
              <a:srgbClr val="F07A2B"/>
            </a:solidFill>
            <a:prstDash val="solid"/>
          </a:ln>
        </p:spPr>
      </p:sp>
      <p:sp>
        <p:nvSpPr>
          <p:cNvPr id="264" name="Text 261"/>
          <p:cNvSpPr/>
          <p:nvPr/>
        </p:nvSpPr>
        <p:spPr>
          <a:xfrm>
            <a:off x="3472434" y="3870289"/>
            <a:ext cx="954908" cy="13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Recalling past</a:t>
            </a:r>
            <a:endParaRPr lang="en-US" sz="911" dirty="0"/>
          </a:p>
        </p:txBody>
      </p:sp>
      <p:sp>
        <p:nvSpPr>
          <p:cNvPr id="265" name="Text 262"/>
          <p:cNvSpPr/>
          <p:nvPr/>
        </p:nvSpPr>
        <p:spPr>
          <a:xfrm>
            <a:off x="3472434" y="4000500"/>
            <a:ext cx="954908" cy="13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...</a:t>
            </a:r>
            <a:endParaRPr lang="en-US" sz="911" dirty="0"/>
          </a:p>
        </p:txBody>
      </p:sp>
      <p:sp>
        <p:nvSpPr>
          <p:cNvPr id="266" name="Shape 263"/>
          <p:cNvSpPr/>
          <p:nvPr/>
        </p:nvSpPr>
        <p:spPr>
          <a:xfrm>
            <a:off x="2789194" y="3976177"/>
            <a:ext cx="320314" cy="118598"/>
          </a:xfrm>
          <a:prstGeom prst="ellipse">
            <a:avLst/>
          </a:prstGeom>
          <a:solidFill>
            <a:srgbClr val="F28C18"/>
          </a:solidFill>
          <a:ln w="11864">
            <a:solidFill>
              <a:srgbClr val="67330E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2836652" y="3946550"/>
            <a:ext cx="231343" cy="100858"/>
          </a:xfrm>
          <a:prstGeom prst="roundRect">
            <a:avLst/>
          </a:prstGeom>
          <a:solidFill>
            <a:srgbClr val="E77E10"/>
          </a:solidFill>
          <a:ln w="11864">
            <a:solidFill>
              <a:srgbClr val="67330E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2783251" y="4041465"/>
            <a:ext cx="361828" cy="41514"/>
          </a:xfrm>
          <a:prstGeom prst="roundRect">
            <a:avLst/>
          </a:prstGeom>
          <a:solidFill>
            <a:srgbClr val="9D450D"/>
          </a:solidFill>
          <a:ln w="8898">
            <a:solidFill>
              <a:srgbClr val="67330E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2801082" y="4082979"/>
            <a:ext cx="118598" cy="118598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3026481" y="4082979"/>
            <a:ext cx="118598" cy="118598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2824764" y="4082979"/>
            <a:ext cx="290688" cy="266913"/>
          </a:xfrm>
          <a:prstGeom prst="ellipse">
            <a:avLst/>
          </a:prstGeom>
          <a:solidFill>
            <a:srgbClr val="FFF7E8"/>
          </a:solidFill>
          <a:ln w="11864">
            <a:solidFill>
              <a:srgbClr val="6B4731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2866370" y="4148267"/>
            <a:ext cx="83028" cy="100858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2996855" y="4148267"/>
            <a:ext cx="83028" cy="100858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2895996" y="4171950"/>
            <a:ext cx="29627" cy="3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3020538" y="4171950"/>
            <a:ext cx="29627" cy="3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2949397" y="4231295"/>
            <a:ext cx="47457" cy="35570"/>
          </a:xfrm>
          <a:prstGeom prst="ellipse">
            <a:avLst/>
          </a:prstGeom>
          <a:solidFill>
            <a:srgbClr val="2A2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2830708" y="4332153"/>
            <a:ext cx="290688" cy="249174"/>
          </a:xfrm>
          <a:prstGeom prst="roundRect">
            <a:avLst/>
          </a:prstGeom>
          <a:solidFill>
            <a:srgbClr val="F18717"/>
          </a:solidFill>
          <a:ln w="11864">
            <a:solidFill>
              <a:srgbClr val="6B3214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2973080" y="4343949"/>
            <a:ext cx="0" cy="231343"/>
          </a:xfrm>
          <a:prstGeom prst="line">
            <a:avLst/>
          </a:prstGeom>
          <a:noFill/>
          <a:ln w="11864">
            <a:solidFill>
              <a:srgbClr val="8F461B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2890053" y="4379610"/>
            <a:ext cx="154259" cy="166055"/>
          </a:xfrm>
          <a:prstGeom prst="line">
            <a:avLst/>
          </a:prstGeom>
          <a:noFill/>
          <a:ln w="10678">
            <a:solidFill>
              <a:srgbClr val="6B3214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3050256" y="4379610"/>
            <a:ext cx="-142372" cy="166055"/>
          </a:xfrm>
          <a:prstGeom prst="line">
            <a:avLst/>
          </a:prstGeom>
          <a:noFill/>
          <a:ln w="10678">
            <a:solidFill>
              <a:srgbClr val="6B3214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2777307" y="4391406"/>
            <a:ext cx="124541" cy="83028"/>
          </a:xfrm>
          <a:prstGeom prst="ellipse">
            <a:avLst/>
          </a:prstGeom>
          <a:solidFill>
            <a:srgbClr val="F18717"/>
          </a:solidFill>
          <a:ln w="11864">
            <a:solidFill>
              <a:srgbClr val="6B3214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2741737" y="4189781"/>
            <a:ext cx="118598" cy="118598"/>
          </a:xfrm>
          <a:prstGeom prst="ellipse">
            <a:avLst/>
          </a:prstGeom>
          <a:solidFill>
            <a:srgbClr val="BDEAF6">
              <a:alpha val="90000"/>
            </a:srgbClr>
          </a:solidFill>
          <a:ln w="17796">
            <a:solidFill>
              <a:srgbClr val="4A6470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2830708" y="4290548"/>
            <a:ext cx="71140" cy="77084"/>
          </a:xfrm>
          <a:prstGeom prst="line">
            <a:avLst/>
          </a:prstGeom>
          <a:noFill/>
          <a:ln w="29660">
            <a:solidFill>
              <a:srgbClr val="4A6470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3935395" y="4275369"/>
            <a:ext cx="213055" cy="213055"/>
          </a:xfrm>
          <a:prstGeom prst="ellipse">
            <a:avLst/>
          </a:prstGeom>
          <a:solidFill>
            <a:srgbClr val="19AFE6"/>
          </a:solidFill>
          <a:ln w="10309">
            <a:solidFill>
              <a:srgbClr val="3685A8"/>
            </a:solidFill>
            <a:prstDash val="solid"/>
          </a:ln>
        </p:spPr>
      </p:sp>
      <p:sp>
        <p:nvSpPr>
          <p:cNvPr id="285" name="Text 282"/>
          <p:cNvSpPr/>
          <p:nvPr/>
        </p:nvSpPr>
        <p:spPr>
          <a:xfrm>
            <a:off x="3935395" y="4268511"/>
            <a:ext cx="213055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3" b="1" dirty="0">
                <a:solidFill>
                  <a:srgbClr val="0F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53" dirty="0"/>
          </a:p>
        </p:txBody>
      </p:sp>
      <p:sp>
        <p:nvSpPr>
          <p:cNvPr id="286" name="Shape 283"/>
          <p:cNvSpPr/>
          <p:nvPr/>
        </p:nvSpPr>
        <p:spPr>
          <a:xfrm>
            <a:off x="4107210" y="4364706"/>
            <a:ext cx="171816" cy="171816"/>
          </a:xfrm>
          <a:prstGeom prst="ellipse">
            <a:avLst/>
          </a:prstGeom>
          <a:solidFill>
            <a:srgbClr val="FFF8D9"/>
          </a:solidFill>
          <a:ln w="8247">
            <a:solidFill>
              <a:srgbClr val="8D8D7C"/>
            </a:solidFill>
            <a:prstDash val="solid"/>
          </a:ln>
        </p:spPr>
      </p:sp>
      <p:sp>
        <p:nvSpPr>
          <p:cNvPr id="287" name="Text 284"/>
          <p:cNvSpPr/>
          <p:nvPr/>
        </p:nvSpPr>
        <p:spPr>
          <a:xfrm>
            <a:off x="4107210" y="4364706"/>
            <a:ext cx="171816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20" dirty="0"/>
          </a:p>
        </p:txBody>
      </p:sp>
      <p:sp>
        <p:nvSpPr>
          <p:cNvPr id="288" name="Text 285"/>
          <p:cNvSpPr/>
          <p:nvPr/>
        </p:nvSpPr>
        <p:spPr>
          <a:xfrm>
            <a:off x="3414552" y="4579224"/>
            <a:ext cx="1475750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Reflection</a:t>
            </a:r>
            <a:endParaRPr lang="en-US" sz="1196" dirty="0"/>
          </a:p>
        </p:txBody>
      </p:sp>
      <p:sp>
        <p:nvSpPr>
          <p:cNvPr id="289" name="Shape 286"/>
          <p:cNvSpPr/>
          <p:nvPr/>
        </p:nvSpPr>
        <p:spPr>
          <a:xfrm>
            <a:off x="5628223" y="4109039"/>
            <a:ext cx="2054474" cy="202540"/>
          </a:xfrm>
          <a:prstGeom prst="rect">
            <a:avLst/>
          </a:prstGeom>
          <a:solidFill>
            <a:srgbClr val="F29A5E"/>
          </a:solidFill>
          <a:ln w="7234">
            <a:solidFill>
              <a:srgbClr val="E47D30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5628223" y="4109039"/>
            <a:ext cx="2054474" cy="36210"/>
          </a:xfrm>
          <a:prstGeom prst="rect">
            <a:avLst/>
          </a:prstGeom>
          <a:solidFill>
            <a:srgbClr val="FFE1C8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Text 288"/>
          <p:cNvSpPr/>
          <p:nvPr/>
        </p:nvSpPr>
        <p:spPr>
          <a:xfrm>
            <a:off x="5715000" y="4123487"/>
            <a:ext cx="1880921" cy="180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round of reflection</a:t>
            </a:r>
            <a:endParaRPr lang="en-US" sz="1139" dirty="0"/>
          </a:p>
        </p:txBody>
      </p:sp>
      <p:sp>
        <p:nvSpPr>
          <p:cNvPr id="292" name="Shape 289"/>
          <p:cNvSpPr/>
          <p:nvPr/>
        </p:nvSpPr>
        <p:spPr>
          <a:xfrm>
            <a:off x="4825197" y="4449013"/>
            <a:ext cx="730697" cy="0"/>
          </a:xfrm>
          <a:prstGeom prst="line">
            <a:avLst/>
          </a:prstGeom>
          <a:noFill/>
          <a:ln w="21703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293" name="Shape 290"/>
          <p:cNvSpPr/>
          <p:nvPr/>
        </p:nvSpPr>
        <p:spPr>
          <a:xfrm>
            <a:off x="6381872" y="4550237"/>
            <a:ext cx="201168" cy="-201168"/>
          </a:xfrm>
          <a:prstGeom prst="line">
            <a:avLst/>
          </a:prstGeom>
          <a:noFill/>
          <a:ln w="44707">
            <a:solidFill>
              <a:srgbClr val="557A8E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6456396" y="4356476"/>
            <a:ext cx="134142" cy="134142"/>
          </a:xfrm>
          <a:prstGeom prst="line">
            <a:avLst/>
          </a:prstGeom>
          <a:noFill/>
          <a:ln w="44707">
            <a:solidFill>
              <a:srgbClr val="E0A23F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6352062" y="4512930"/>
            <a:ext cx="74524" cy="74524"/>
          </a:xfrm>
          <a:prstGeom prst="ellipse">
            <a:avLst/>
          </a:prstGeom>
          <a:solidFill>
            <a:srgbClr val="BFEAF3"/>
          </a:solidFill>
          <a:ln w="14902">
            <a:solidFill>
              <a:srgbClr val="557A8E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6545732" y="4311762"/>
            <a:ext cx="74524" cy="74524"/>
          </a:xfrm>
          <a:prstGeom prst="ellipse">
            <a:avLst/>
          </a:prstGeom>
          <a:solidFill>
            <a:srgbClr val="FFE071"/>
          </a:solidFill>
          <a:ln w="14902">
            <a:solidFill>
              <a:srgbClr val="8A661F"/>
            </a:solidFill>
            <a:prstDash val="solid"/>
          </a:ln>
        </p:spPr>
      </p:sp>
      <p:sp>
        <p:nvSpPr>
          <p:cNvPr id="297" name="Text 294"/>
          <p:cNvSpPr/>
          <p:nvPr/>
        </p:nvSpPr>
        <p:spPr>
          <a:xfrm>
            <a:off x="5888645" y="4579224"/>
            <a:ext cx="1251539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Invoke</a:t>
            </a:r>
            <a:endParaRPr lang="en-US" sz="1196" dirty="0"/>
          </a:p>
        </p:txBody>
      </p:sp>
      <p:sp>
        <p:nvSpPr>
          <p:cNvPr id="298" name="Shape 295"/>
          <p:cNvSpPr/>
          <p:nvPr/>
        </p:nvSpPr>
        <p:spPr>
          <a:xfrm>
            <a:off x="7530816" y="4449013"/>
            <a:ext cx="723382" cy="0"/>
          </a:xfrm>
          <a:prstGeom prst="line">
            <a:avLst/>
          </a:prstGeom>
          <a:noFill/>
          <a:ln w="21703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299" name="Shape 296"/>
          <p:cNvSpPr/>
          <p:nvPr/>
        </p:nvSpPr>
        <p:spPr>
          <a:xfrm>
            <a:off x="9082552" y="4294205"/>
            <a:ext cx="221376" cy="260421"/>
          </a:xfrm>
          <a:prstGeom prst="roundRect">
            <a:avLst/>
          </a:prstGeom>
          <a:solidFill>
            <a:srgbClr val="F8F8F5"/>
          </a:solidFill>
          <a:ln w="13022">
            <a:solidFill>
              <a:srgbClr val="687785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9134582" y="4268145"/>
            <a:ext cx="117226" cy="58613"/>
          </a:xfrm>
          <a:prstGeom prst="roundRect">
            <a:avLst/>
          </a:prstGeom>
          <a:solidFill>
            <a:srgbClr val="F3A73E"/>
          </a:solidFill>
          <a:ln w="13022">
            <a:solidFill>
              <a:srgbClr val="687785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9115105" y="4359311"/>
            <a:ext cx="26060" cy="26060"/>
          </a:xfrm>
          <a:prstGeom prst="ellipse">
            <a:avLst/>
          </a:prstGeom>
          <a:solidFill>
            <a:srgbClr val="55A7DB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9167134" y="4372295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115105" y="4417924"/>
            <a:ext cx="26060" cy="26060"/>
          </a:xfrm>
          <a:prstGeom prst="ellipse">
            <a:avLst/>
          </a:prstGeom>
          <a:solidFill>
            <a:srgbClr val="E6A248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9167134" y="4430908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9115105" y="4476537"/>
            <a:ext cx="26060" cy="26060"/>
          </a:xfrm>
          <a:prstGeom prst="ellipse">
            <a:avLst/>
          </a:prstGeom>
          <a:solidFill>
            <a:srgbClr val="E6A248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9167134" y="4489521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307" name="Text 304"/>
          <p:cNvSpPr/>
          <p:nvPr/>
        </p:nvSpPr>
        <p:spPr>
          <a:xfrm>
            <a:off x="8420618" y="4579224"/>
            <a:ext cx="1490198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Replanning</a:t>
            </a:r>
            <a:endParaRPr lang="en-US" sz="1196" dirty="0"/>
          </a:p>
        </p:txBody>
      </p:sp>
      <p:sp>
        <p:nvSpPr>
          <p:cNvPr id="308" name="Shape 305"/>
          <p:cNvSpPr/>
          <p:nvPr/>
        </p:nvSpPr>
        <p:spPr>
          <a:xfrm>
            <a:off x="2893710" y="4781763"/>
            <a:ext cx="2343882" cy="1613184"/>
          </a:xfrm>
          <a:prstGeom prst="roundRect">
            <a:avLst/>
          </a:prstGeom>
          <a:solidFill>
            <a:srgbClr val="FFF3C9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309" name="Text 306"/>
          <p:cNvSpPr/>
          <p:nvPr/>
        </p:nvSpPr>
        <p:spPr>
          <a:xfrm>
            <a:off x="3204698" y="4868631"/>
            <a:ext cx="1700052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Self-Reflection</a:t>
            </a:r>
            <a:endParaRPr lang="en-US" sz="1196" dirty="0"/>
          </a:p>
        </p:txBody>
      </p:sp>
      <p:sp>
        <p:nvSpPr>
          <p:cNvPr id="310" name="Text 307"/>
          <p:cNvSpPr/>
          <p:nvPr/>
        </p:nvSpPr>
        <p:spPr>
          <a:xfrm>
            <a:off x="2966039" y="5107290"/>
            <a:ext cx="2083460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Analysis</a:t>
            </a:r>
            <a:endParaRPr lang="en-US" sz="1139" dirty="0"/>
          </a:p>
        </p:txBody>
      </p:sp>
      <p:sp>
        <p:nvSpPr>
          <p:cNvPr id="311" name="Text 308"/>
          <p:cNvSpPr/>
          <p:nvPr/>
        </p:nvSpPr>
        <p:spPr>
          <a:xfrm>
            <a:off x="2966039" y="5309921"/>
            <a:ext cx="2141342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Need for further enhancement</a:t>
            </a:r>
            <a:endParaRPr lang="en-US" sz="1111" dirty="0"/>
          </a:p>
        </p:txBody>
      </p:sp>
      <p:sp>
        <p:nvSpPr>
          <p:cNvPr id="312" name="Text 309"/>
          <p:cNvSpPr/>
          <p:nvPr/>
        </p:nvSpPr>
        <p:spPr>
          <a:xfrm>
            <a:off x="2966039" y="5498013"/>
            <a:ext cx="2141342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of image details and semantic</a:t>
            </a:r>
            <a:endParaRPr lang="en-US" sz="1111" dirty="0"/>
          </a:p>
        </p:txBody>
      </p:sp>
      <p:sp>
        <p:nvSpPr>
          <p:cNvPr id="313" name="Text 310"/>
          <p:cNvSpPr/>
          <p:nvPr/>
        </p:nvSpPr>
        <p:spPr>
          <a:xfrm>
            <a:off x="2966039" y="5686105"/>
            <a:ext cx="2141342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information.</a:t>
            </a:r>
            <a:endParaRPr lang="en-US" sz="1111" dirty="0"/>
          </a:p>
        </p:txBody>
      </p:sp>
      <p:sp>
        <p:nvSpPr>
          <p:cNvPr id="314" name="Text 311"/>
          <p:cNvSpPr/>
          <p:nvPr/>
        </p:nvSpPr>
        <p:spPr>
          <a:xfrm>
            <a:off x="2966039" y="5866882"/>
            <a:ext cx="202557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use</a:t>
            </a:r>
            <a:endParaRPr lang="en-US" sz="1139" dirty="0"/>
          </a:p>
        </p:txBody>
      </p:sp>
      <p:sp>
        <p:nvSpPr>
          <p:cNvPr id="315" name="Text 312"/>
          <p:cNvSpPr/>
          <p:nvPr/>
        </p:nvSpPr>
        <p:spPr>
          <a:xfrm>
            <a:off x="2966039" y="6054974"/>
            <a:ext cx="2134118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 Super-resolution</a:t>
            </a:r>
            <a:endParaRPr lang="en-US" sz="1111" dirty="0"/>
          </a:p>
        </p:txBody>
      </p:sp>
      <p:sp>
        <p:nvSpPr>
          <p:cNvPr id="316" name="Text 313"/>
          <p:cNvSpPr/>
          <p:nvPr/>
        </p:nvSpPr>
        <p:spPr>
          <a:xfrm>
            <a:off x="2966039" y="6235842"/>
            <a:ext cx="2134118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Object Detection</a:t>
            </a:r>
            <a:endParaRPr lang="en-US" sz="1111" dirty="0"/>
          </a:p>
        </p:txBody>
      </p:sp>
      <p:sp>
        <p:nvSpPr>
          <p:cNvPr id="317" name="Shape 314"/>
          <p:cNvSpPr/>
          <p:nvPr/>
        </p:nvSpPr>
        <p:spPr>
          <a:xfrm>
            <a:off x="5317145" y="4781763"/>
            <a:ext cx="2814066" cy="1613184"/>
          </a:xfrm>
          <a:prstGeom prst="roundRect">
            <a:avLst/>
          </a:prstGeom>
          <a:solidFill>
            <a:srgbClr val="F2F0CF"/>
          </a:solidFill>
          <a:ln w="28937">
            <a:solidFill>
              <a:srgbClr val="A9ADB0"/>
            </a:solidFill>
            <a:prstDash val="dash"/>
          </a:ln>
        </p:spPr>
      </p:sp>
      <p:pic>
        <p:nvPicPr>
          <p:cNvPr id="318" name="Image 1" descr="/home/wangfeifei/projects/skillopt/SkillOpt/ppt-rebuild/complex20-skill-ab-20260907/runs/gpt-5.6-sol/complex-002/.tmp/frame-bef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592" y="5100066"/>
            <a:ext cx="499171" cy="426842"/>
          </a:xfrm>
          <a:prstGeom prst="rect">
            <a:avLst/>
          </a:prstGeom>
        </p:spPr>
      </p:pic>
      <p:pic>
        <p:nvPicPr>
          <p:cNvPr id="319" name="Image 2" descr="/home/wangfeifei/projects/skillopt/SkillOpt/ppt-rebuild/complex20-skill-ab-20260907/runs/gpt-5.6-sol/complex-002/.tmp/frame-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382" y="5100066"/>
            <a:ext cx="506395" cy="426842"/>
          </a:xfrm>
          <a:prstGeom prst="rect">
            <a:avLst/>
          </a:prstGeom>
        </p:spPr>
      </p:pic>
      <p:sp>
        <p:nvSpPr>
          <p:cNvPr id="320" name="Text 315"/>
          <p:cNvSpPr/>
          <p:nvPr/>
        </p:nvSpPr>
        <p:spPr>
          <a:xfrm>
            <a:off x="5931987" y="5136276"/>
            <a:ext cx="1562618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Super-resolution</a:t>
            </a:r>
            <a:endParaRPr lang="en-US" sz="1054" dirty="0"/>
          </a:p>
        </p:txBody>
      </p:sp>
      <p:sp>
        <p:nvSpPr>
          <p:cNvPr id="321" name="Shape 316"/>
          <p:cNvSpPr/>
          <p:nvPr/>
        </p:nvSpPr>
        <p:spPr>
          <a:xfrm>
            <a:off x="6149066" y="5360487"/>
            <a:ext cx="911474" cy="0"/>
          </a:xfrm>
          <a:prstGeom prst="line">
            <a:avLst/>
          </a:prstGeom>
          <a:noFill/>
          <a:ln w="15915">
            <a:solidFill>
              <a:srgbClr val="4AA2DB"/>
            </a:solidFill>
            <a:prstDash val="solid"/>
            <a:tailEnd type="triangle"/>
          </a:ln>
        </p:spPr>
      </p:sp>
      <p:pic>
        <p:nvPicPr>
          <p:cNvPr id="322" name="Image 3" descr="/home/wangfeifei/projects/skillopt/SkillOpt/ppt-rebuild/complex20-skill-ab-20260907/runs/gpt-5.6-sol/complex-002/.tmp/frame-bef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145" y="5823539"/>
            <a:ext cx="528066" cy="419618"/>
          </a:xfrm>
          <a:prstGeom prst="rect">
            <a:avLst/>
          </a:prstGeom>
        </p:spPr>
      </p:pic>
      <p:pic>
        <p:nvPicPr>
          <p:cNvPr id="323" name="Image 4" descr="/home/wangfeifei/projects/skillopt/SkillOpt/ppt-rebuild/complex20-skill-ab-20260907/runs/gpt-5.6-sol/complex-002/.tmp/frame-af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382" y="5823539"/>
            <a:ext cx="520842" cy="419618"/>
          </a:xfrm>
          <a:prstGeom prst="rect">
            <a:avLst/>
          </a:prstGeom>
        </p:spPr>
      </p:pic>
      <p:sp>
        <p:nvSpPr>
          <p:cNvPr id="324" name="Shape 317"/>
          <p:cNvSpPr/>
          <p:nvPr/>
        </p:nvSpPr>
        <p:spPr>
          <a:xfrm>
            <a:off x="7755026" y="5903092"/>
            <a:ext cx="159197" cy="202540"/>
          </a:xfrm>
          <a:prstGeom prst="rect">
            <a:avLst/>
          </a:prstGeom>
          <a:solidFill>
            <a:srgbClr val="FFFFFF">
              <a:alpha val="0"/>
            </a:srgbClr>
          </a:solidFill>
          <a:ln w="14468">
            <a:solidFill>
              <a:srgbClr val="E03030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5989869" y="5859658"/>
            <a:ext cx="1388974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054" dirty="0"/>
          </a:p>
        </p:txBody>
      </p:sp>
      <p:sp>
        <p:nvSpPr>
          <p:cNvPr id="326" name="Shape 319"/>
          <p:cNvSpPr/>
          <p:nvPr/>
        </p:nvSpPr>
        <p:spPr>
          <a:xfrm>
            <a:off x="6149066" y="6054974"/>
            <a:ext cx="911474" cy="0"/>
          </a:xfrm>
          <a:prstGeom prst="line">
            <a:avLst/>
          </a:prstGeom>
          <a:noFill/>
          <a:ln w="15915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327" name="Shape 320"/>
          <p:cNvSpPr/>
          <p:nvPr/>
        </p:nvSpPr>
        <p:spPr>
          <a:xfrm>
            <a:off x="8160197" y="4781763"/>
            <a:ext cx="2148566" cy="1613184"/>
          </a:xfrm>
          <a:prstGeom prst="roundRect">
            <a:avLst/>
          </a:prstGeom>
          <a:solidFill>
            <a:srgbClr val="E6F1C5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328" name="Text 321"/>
          <p:cNvSpPr/>
          <p:nvPr/>
        </p:nvSpPr>
        <p:spPr>
          <a:xfrm>
            <a:off x="8239750" y="4875855"/>
            <a:ext cx="1982145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8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Strategy Update</a:t>
            </a:r>
            <a:endParaRPr lang="en-US" sz="1168" dirty="0"/>
          </a:p>
        </p:txBody>
      </p:sp>
      <p:sp>
        <p:nvSpPr>
          <p:cNvPr id="329" name="Text 322"/>
          <p:cNvSpPr/>
          <p:nvPr/>
        </p:nvSpPr>
        <p:spPr>
          <a:xfrm>
            <a:off x="8268645" y="5150724"/>
            <a:ext cx="1917040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Anomaly Rules</a:t>
            </a:r>
            <a:endParaRPr lang="en-US" sz="1139" dirty="0"/>
          </a:p>
        </p:txBody>
      </p:sp>
      <p:sp>
        <p:nvSpPr>
          <p:cNvPr id="330" name="Text 323"/>
          <p:cNvSpPr/>
          <p:nvPr/>
        </p:nvSpPr>
        <p:spPr>
          <a:xfrm>
            <a:off x="8268645" y="5346040"/>
            <a:ext cx="191704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Customers repeatedly pick</a:t>
            </a:r>
            <a:endParaRPr lang="en-US" sz="1082" dirty="0"/>
          </a:p>
        </p:txBody>
      </p:sp>
      <p:sp>
        <p:nvSpPr>
          <p:cNvPr id="331" name="Text 324"/>
          <p:cNvSpPr/>
          <p:nvPr/>
        </p:nvSpPr>
        <p:spPr>
          <a:xfrm>
            <a:off x="8268645" y="5526908"/>
            <a:ext cx="191704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up items and look around...</a:t>
            </a:r>
            <a:endParaRPr lang="en-US" sz="1082" dirty="0"/>
          </a:p>
        </p:txBody>
      </p:sp>
      <p:sp>
        <p:nvSpPr>
          <p:cNvPr id="332" name="Text 325"/>
          <p:cNvSpPr/>
          <p:nvPr/>
        </p:nvSpPr>
        <p:spPr>
          <a:xfrm>
            <a:off x="8268645" y="5707776"/>
            <a:ext cx="1924263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Heuristic Prompt</a:t>
            </a:r>
            <a:endParaRPr lang="en-US" sz="1139" dirty="0"/>
          </a:p>
        </p:txBody>
      </p:sp>
      <p:sp>
        <p:nvSpPr>
          <p:cNvPr id="333" name="Text 326"/>
          <p:cNvSpPr/>
          <p:nvPr/>
        </p:nvSpPr>
        <p:spPr>
          <a:xfrm>
            <a:off x="8268645" y="5903092"/>
            <a:ext cx="1902592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Focusing on customer</a:t>
            </a:r>
            <a:endParaRPr lang="en-US" sz="1082" dirty="0"/>
          </a:p>
        </p:txBody>
      </p:sp>
      <p:sp>
        <p:nvSpPr>
          <p:cNvPr id="334" name="Text 327"/>
          <p:cNvSpPr/>
          <p:nvPr/>
        </p:nvSpPr>
        <p:spPr>
          <a:xfrm>
            <a:off x="8268645" y="6083960"/>
            <a:ext cx="1902592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behavior in the store...</a:t>
            </a:r>
            <a:endParaRPr lang="en-US" sz="1082" dirty="0"/>
          </a:p>
        </p:txBody>
      </p:sp>
      <p:sp>
        <p:nvSpPr>
          <p:cNvPr id="335" name="Shape 328"/>
          <p:cNvSpPr/>
          <p:nvPr/>
        </p:nvSpPr>
        <p:spPr>
          <a:xfrm>
            <a:off x="10395539" y="5266487"/>
            <a:ext cx="238750" cy="209763"/>
          </a:xfrm>
          <a:prstGeom prst="rightArrow">
            <a:avLst/>
          </a:prstGeom>
          <a:solidFill>
            <a:srgbClr val="F07A2B"/>
          </a:solidFill>
          <a:ln w="3617">
            <a:solidFill>
              <a:srgbClr val="F07A2B"/>
            </a:solidFill>
            <a:prstDash val="solid"/>
          </a:ln>
        </p:spPr>
      </p:sp>
      <p:sp>
        <p:nvSpPr>
          <p:cNvPr id="336" name="Shape 329"/>
          <p:cNvSpPr/>
          <p:nvPr/>
        </p:nvSpPr>
        <p:spPr>
          <a:xfrm>
            <a:off x="12138934" y="4246474"/>
            <a:ext cx="302758" cy="302758"/>
          </a:xfrm>
          <a:prstGeom prst="ellipse">
            <a:avLst/>
          </a:prstGeom>
          <a:solidFill>
            <a:srgbClr val="F77A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0"/>
          <p:cNvSpPr/>
          <p:nvPr/>
        </p:nvSpPr>
        <p:spPr>
          <a:xfrm>
            <a:off x="12165818" y="4273357"/>
            <a:ext cx="248900" cy="248900"/>
          </a:xfrm>
          <a:prstGeom prst="ellipse">
            <a:avLst/>
          </a:prstGeom>
          <a:solidFill>
            <a:srgbClr val="4FC0C6"/>
          </a:solidFill>
          <a:ln w="13456">
            <a:solidFill>
              <a:srgbClr val="FFFFFF"/>
            </a:solidFill>
            <a:prstDash val="solid"/>
          </a:ln>
        </p:spPr>
      </p:sp>
      <p:sp>
        <p:nvSpPr>
          <p:cNvPr id="338" name="Shape 331"/>
          <p:cNvSpPr/>
          <p:nvPr/>
        </p:nvSpPr>
        <p:spPr>
          <a:xfrm>
            <a:off x="12206234" y="4320449"/>
            <a:ext cx="168158" cy="148041"/>
          </a:xfrm>
          <a:prstGeom prst="ellipse">
            <a:avLst/>
          </a:prstGeom>
          <a:solidFill>
            <a:srgbClr val="264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2"/>
          <p:cNvSpPr/>
          <p:nvPr/>
        </p:nvSpPr>
        <p:spPr>
          <a:xfrm>
            <a:off x="12213001" y="4340657"/>
            <a:ext cx="154716" cy="121067"/>
          </a:xfrm>
          <a:prstGeom prst="arc">
            <a:avLst/>
          </a:prstGeom>
          <a:solidFill>
            <a:srgbClr val="FFFFFF">
              <a:alpha val="0"/>
            </a:srgbClr>
          </a:solidFill>
          <a:ln w="20183">
            <a:solidFill>
              <a:srgbClr val="FFFFFF"/>
            </a:solidFill>
            <a:prstDash val="solid"/>
          </a:ln>
        </p:spPr>
      </p:sp>
      <p:sp>
        <p:nvSpPr>
          <p:cNvPr id="340" name="Text 333"/>
          <p:cNvSpPr/>
          <p:nvPr/>
        </p:nvSpPr>
        <p:spPr>
          <a:xfrm>
            <a:off x="11480658" y="4528566"/>
            <a:ext cx="1605961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Reasoning</a:t>
            </a:r>
            <a:endParaRPr lang="en-US" sz="1310" dirty="0"/>
          </a:p>
        </p:txBody>
      </p:sp>
      <p:sp>
        <p:nvSpPr>
          <p:cNvPr id="341" name="Shape 334"/>
          <p:cNvSpPr/>
          <p:nvPr/>
        </p:nvSpPr>
        <p:spPr>
          <a:xfrm>
            <a:off x="10800618" y="4781763"/>
            <a:ext cx="2937053" cy="253197"/>
          </a:xfrm>
          <a:prstGeom prst="rect">
            <a:avLst/>
          </a:prstGeom>
          <a:solidFill>
            <a:srgbClr val="F2F2F2"/>
          </a:solidFill>
          <a:ln w="21703">
            <a:solidFill>
              <a:srgbClr val="B5B8BA"/>
            </a:solidFill>
            <a:prstDash val="dash"/>
          </a:ln>
        </p:spPr>
      </p:sp>
      <p:sp>
        <p:nvSpPr>
          <p:cNvPr id="342" name="Text 335"/>
          <p:cNvSpPr/>
          <p:nvPr/>
        </p:nvSpPr>
        <p:spPr>
          <a:xfrm>
            <a:off x="10916382" y="4817974"/>
            <a:ext cx="2698303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Reasoning Results</a:t>
            </a:r>
            <a:endParaRPr lang="en-US" sz="1139" dirty="0"/>
          </a:p>
        </p:txBody>
      </p:sp>
      <p:sp>
        <p:nvSpPr>
          <p:cNvPr id="343" name="Shape 336"/>
          <p:cNvSpPr/>
          <p:nvPr/>
        </p:nvSpPr>
        <p:spPr>
          <a:xfrm>
            <a:off x="10800618" y="5092842"/>
            <a:ext cx="2937053" cy="1135776"/>
          </a:xfrm>
          <a:prstGeom prst="rect">
            <a:avLst/>
          </a:prstGeom>
          <a:solidFill>
            <a:srgbClr val="FFF0E8"/>
          </a:solidFill>
          <a:ln w="21703">
            <a:solidFill>
              <a:srgbClr val="C2C4C5"/>
            </a:solidFill>
            <a:prstDash val="dash"/>
          </a:ln>
        </p:spPr>
      </p:sp>
      <p:sp>
        <p:nvSpPr>
          <p:cNvPr id="344" name="Text 337"/>
          <p:cNvSpPr/>
          <p:nvPr/>
        </p:nvSpPr>
        <p:spPr>
          <a:xfrm>
            <a:off x="10872948" y="5150724"/>
            <a:ext cx="2785171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algn="l" indent="0" marL="0">
              <a:buNone/>
            </a:pPr>
            <a:r>
              <a:rPr lang="en-US" sz="1139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Abnormal / </a:t>
            </a:r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</a:t>
            </a:r>
            <a:endParaRPr lang="en-US" sz="1139" dirty="0"/>
          </a:p>
        </p:txBody>
      </p:sp>
      <p:sp>
        <p:nvSpPr>
          <p:cNvPr id="345" name="Text 338"/>
          <p:cNvSpPr/>
          <p:nvPr/>
        </p:nvSpPr>
        <p:spPr>
          <a:xfrm>
            <a:off x="10872948" y="5338816"/>
            <a:ext cx="278517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0.6</a:t>
            </a:r>
            <a:endParaRPr lang="en-US" sz="1139" dirty="0"/>
          </a:p>
        </p:txBody>
      </p:sp>
      <p:sp>
        <p:nvSpPr>
          <p:cNvPr id="346" name="Text 339"/>
          <p:cNvSpPr/>
          <p:nvPr/>
        </p:nvSpPr>
        <p:spPr>
          <a:xfrm>
            <a:off x="10872948" y="5526908"/>
            <a:ext cx="278517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</a:t>
            </a:r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woman is browsing the</a:t>
            </a:r>
            <a:endParaRPr lang="en-US" sz="1139" dirty="0"/>
          </a:p>
        </p:txBody>
      </p:sp>
      <p:sp>
        <p:nvSpPr>
          <p:cNvPr id="347" name="Text 340"/>
          <p:cNvSpPr/>
          <p:nvPr/>
        </p:nvSpPr>
        <p:spPr>
          <a:xfrm>
            <a:off x="10872948" y="5707776"/>
            <a:ext cx="2748961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with suspicious behavior, but</a:t>
            </a:r>
            <a:endParaRPr lang="en-US" sz="1139" dirty="0"/>
          </a:p>
        </p:txBody>
      </p:sp>
      <p:sp>
        <p:nvSpPr>
          <p:cNvPr id="348" name="Text 341"/>
          <p:cNvSpPr/>
          <p:nvPr/>
        </p:nvSpPr>
        <p:spPr>
          <a:xfrm>
            <a:off x="10872948" y="5881421"/>
            <a:ext cx="2748961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current clip it is not clear if</a:t>
            </a:r>
            <a:endParaRPr lang="en-US" sz="1139" dirty="0"/>
          </a:p>
        </p:txBody>
      </p:sp>
      <p:sp>
        <p:nvSpPr>
          <p:cNvPr id="349" name="Text 342"/>
          <p:cNvSpPr/>
          <p:nvPr/>
        </p:nvSpPr>
        <p:spPr>
          <a:xfrm>
            <a:off x="10872948" y="6054974"/>
            <a:ext cx="2748961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42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shoplifting anomaly.</a:t>
            </a:r>
            <a:endParaRPr lang="en-US" sz="1139" dirty="0"/>
          </a:p>
        </p:txBody>
      </p:sp>
      <p:sp>
        <p:nvSpPr>
          <p:cNvPr id="350" name="Shape 343"/>
          <p:cNvSpPr/>
          <p:nvPr/>
        </p:nvSpPr>
        <p:spPr>
          <a:xfrm>
            <a:off x="3327684" y="6416711"/>
            <a:ext cx="1237000" cy="390632"/>
          </a:xfrm>
          <a:prstGeom prst="ellipse">
            <a:avLst/>
          </a:prstGeom>
          <a:solidFill>
            <a:srgbClr val="FFFFFF"/>
          </a:solidFill>
          <a:ln w="14468">
            <a:solidFill>
              <a:srgbClr val="F07A2B"/>
            </a:solidFill>
            <a:prstDash val="solid"/>
          </a:ln>
        </p:spPr>
      </p:sp>
      <p:sp>
        <p:nvSpPr>
          <p:cNvPr id="351" name="Shape 344"/>
          <p:cNvSpPr/>
          <p:nvPr/>
        </p:nvSpPr>
        <p:spPr>
          <a:xfrm>
            <a:off x="3436224" y="6720566"/>
            <a:ext cx="86777" cy="65105"/>
          </a:xfrm>
          <a:prstGeom prst="ellipse">
            <a:avLst/>
          </a:prstGeom>
          <a:solidFill>
            <a:srgbClr val="FFFFFF"/>
          </a:solidFill>
          <a:ln w="10851">
            <a:solidFill>
              <a:srgbClr val="F07A2B"/>
            </a:solidFill>
            <a:prstDash val="solid"/>
          </a:ln>
        </p:spPr>
      </p:sp>
      <p:sp>
        <p:nvSpPr>
          <p:cNvPr id="352" name="Shape 345"/>
          <p:cNvSpPr/>
          <p:nvPr/>
        </p:nvSpPr>
        <p:spPr>
          <a:xfrm>
            <a:off x="3342223" y="6814566"/>
            <a:ext cx="50658" cy="43434"/>
          </a:xfrm>
          <a:prstGeom prst="ellipse">
            <a:avLst/>
          </a:prstGeom>
          <a:solidFill>
            <a:srgbClr val="FFFFFF"/>
          </a:solidFill>
          <a:ln w="8681">
            <a:solidFill>
              <a:srgbClr val="F07A2B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3472434" y="6481816"/>
            <a:ext cx="954908" cy="13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Recalling past</a:t>
            </a:r>
            <a:endParaRPr lang="en-US" sz="911" dirty="0"/>
          </a:p>
        </p:txBody>
      </p:sp>
      <p:sp>
        <p:nvSpPr>
          <p:cNvPr id="354" name="Text 347"/>
          <p:cNvSpPr/>
          <p:nvPr/>
        </p:nvSpPr>
        <p:spPr>
          <a:xfrm>
            <a:off x="3472434" y="6612026"/>
            <a:ext cx="954908" cy="13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1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...</a:t>
            </a:r>
            <a:endParaRPr lang="en-US" sz="911" dirty="0"/>
          </a:p>
        </p:txBody>
      </p:sp>
      <p:sp>
        <p:nvSpPr>
          <p:cNvPr id="355" name="Shape 348"/>
          <p:cNvSpPr/>
          <p:nvPr/>
        </p:nvSpPr>
        <p:spPr>
          <a:xfrm>
            <a:off x="2789194" y="6594927"/>
            <a:ext cx="320314" cy="118598"/>
          </a:xfrm>
          <a:prstGeom prst="ellipse">
            <a:avLst/>
          </a:prstGeom>
          <a:solidFill>
            <a:srgbClr val="F28C18"/>
          </a:solidFill>
          <a:ln w="11864">
            <a:solidFill>
              <a:srgbClr val="67330E"/>
            </a:solidFill>
            <a:prstDash val="solid"/>
          </a:ln>
        </p:spPr>
      </p:sp>
      <p:sp>
        <p:nvSpPr>
          <p:cNvPr id="356" name="Shape 349"/>
          <p:cNvSpPr/>
          <p:nvPr/>
        </p:nvSpPr>
        <p:spPr>
          <a:xfrm>
            <a:off x="2836652" y="6565301"/>
            <a:ext cx="231343" cy="100858"/>
          </a:xfrm>
          <a:prstGeom prst="roundRect">
            <a:avLst/>
          </a:prstGeom>
          <a:solidFill>
            <a:srgbClr val="E77E10"/>
          </a:solidFill>
          <a:ln w="11864">
            <a:solidFill>
              <a:srgbClr val="67330E"/>
            </a:solidFill>
            <a:prstDash val="solid"/>
          </a:ln>
        </p:spPr>
      </p:sp>
      <p:sp>
        <p:nvSpPr>
          <p:cNvPr id="357" name="Shape 350"/>
          <p:cNvSpPr/>
          <p:nvPr/>
        </p:nvSpPr>
        <p:spPr>
          <a:xfrm>
            <a:off x="2783251" y="6660215"/>
            <a:ext cx="361828" cy="41514"/>
          </a:xfrm>
          <a:prstGeom prst="roundRect">
            <a:avLst/>
          </a:prstGeom>
          <a:solidFill>
            <a:srgbClr val="9D450D"/>
          </a:solidFill>
          <a:ln w="8898">
            <a:solidFill>
              <a:srgbClr val="67330E"/>
            </a:solidFill>
            <a:prstDash val="solid"/>
          </a:ln>
        </p:spPr>
      </p:sp>
      <p:sp>
        <p:nvSpPr>
          <p:cNvPr id="358" name="Shape 351"/>
          <p:cNvSpPr/>
          <p:nvPr/>
        </p:nvSpPr>
        <p:spPr>
          <a:xfrm>
            <a:off x="2801082" y="6701729"/>
            <a:ext cx="118598" cy="118598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359" name="Shape 352"/>
          <p:cNvSpPr/>
          <p:nvPr/>
        </p:nvSpPr>
        <p:spPr>
          <a:xfrm>
            <a:off x="3026481" y="6701729"/>
            <a:ext cx="118598" cy="118598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360" name="Shape 353"/>
          <p:cNvSpPr/>
          <p:nvPr/>
        </p:nvSpPr>
        <p:spPr>
          <a:xfrm>
            <a:off x="2824764" y="6701729"/>
            <a:ext cx="290688" cy="266913"/>
          </a:xfrm>
          <a:prstGeom prst="ellipse">
            <a:avLst/>
          </a:prstGeom>
          <a:solidFill>
            <a:srgbClr val="FFF7E8"/>
          </a:solidFill>
          <a:ln w="11864">
            <a:solidFill>
              <a:srgbClr val="6B4731"/>
            </a:solidFill>
            <a:prstDash val="solid"/>
          </a:ln>
        </p:spPr>
      </p:sp>
      <p:sp>
        <p:nvSpPr>
          <p:cNvPr id="361" name="Shape 354"/>
          <p:cNvSpPr/>
          <p:nvPr/>
        </p:nvSpPr>
        <p:spPr>
          <a:xfrm>
            <a:off x="2866370" y="6767017"/>
            <a:ext cx="83028" cy="100858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5"/>
          <p:cNvSpPr/>
          <p:nvPr/>
        </p:nvSpPr>
        <p:spPr>
          <a:xfrm>
            <a:off x="2996855" y="6767017"/>
            <a:ext cx="83028" cy="100858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56"/>
          <p:cNvSpPr/>
          <p:nvPr/>
        </p:nvSpPr>
        <p:spPr>
          <a:xfrm>
            <a:off x="2895996" y="6790700"/>
            <a:ext cx="29627" cy="3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57"/>
          <p:cNvSpPr/>
          <p:nvPr/>
        </p:nvSpPr>
        <p:spPr>
          <a:xfrm>
            <a:off x="3020538" y="6790700"/>
            <a:ext cx="29627" cy="3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58"/>
          <p:cNvSpPr/>
          <p:nvPr/>
        </p:nvSpPr>
        <p:spPr>
          <a:xfrm>
            <a:off x="2949397" y="6850045"/>
            <a:ext cx="47457" cy="35570"/>
          </a:xfrm>
          <a:prstGeom prst="ellipse">
            <a:avLst/>
          </a:prstGeom>
          <a:solidFill>
            <a:srgbClr val="2A2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59"/>
          <p:cNvSpPr/>
          <p:nvPr/>
        </p:nvSpPr>
        <p:spPr>
          <a:xfrm>
            <a:off x="2830708" y="6950903"/>
            <a:ext cx="290688" cy="249174"/>
          </a:xfrm>
          <a:prstGeom prst="roundRect">
            <a:avLst/>
          </a:prstGeom>
          <a:solidFill>
            <a:srgbClr val="F18717"/>
          </a:solidFill>
          <a:ln w="11864">
            <a:solidFill>
              <a:srgbClr val="6B3214"/>
            </a:solidFill>
            <a:prstDash val="solid"/>
          </a:ln>
        </p:spPr>
      </p:sp>
      <p:sp>
        <p:nvSpPr>
          <p:cNvPr id="367" name="Shape 360"/>
          <p:cNvSpPr/>
          <p:nvPr/>
        </p:nvSpPr>
        <p:spPr>
          <a:xfrm>
            <a:off x="2973080" y="6962790"/>
            <a:ext cx="0" cy="231343"/>
          </a:xfrm>
          <a:prstGeom prst="line">
            <a:avLst/>
          </a:prstGeom>
          <a:noFill/>
          <a:ln w="11864">
            <a:solidFill>
              <a:srgbClr val="8F461B"/>
            </a:solidFill>
            <a:prstDash val="solid"/>
          </a:ln>
        </p:spPr>
      </p:sp>
      <p:sp>
        <p:nvSpPr>
          <p:cNvPr id="368" name="Shape 361"/>
          <p:cNvSpPr/>
          <p:nvPr/>
        </p:nvSpPr>
        <p:spPr>
          <a:xfrm>
            <a:off x="2890053" y="6998360"/>
            <a:ext cx="154259" cy="166055"/>
          </a:xfrm>
          <a:prstGeom prst="line">
            <a:avLst/>
          </a:prstGeom>
          <a:noFill/>
          <a:ln w="10678">
            <a:solidFill>
              <a:srgbClr val="6B3214"/>
            </a:solidFill>
            <a:prstDash val="solid"/>
          </a:ln>
        </p:spPr>
      </p:sp>
      <p:sp>
        <p:nvSpPr>
          <p:cNvPr id="369" name="Shape 362"/>
          <p:cNvSpPr/>
          <p:nvPr/>
        </p:nvSpPr>
        <p:spPr>
          <a:xfrm>
            <a:off x="3050256" y="6998360"/>
            <a:ext cx="-142372" cy="166055"/>
          </a:xfrm>
          <a:prstGeom prst="line">
            <a:avLst/>
          </a:prstGeom>
          <a:noFill/>
          <a:ln w="10678">
            <a:solidFill>
              <a:srgbClr val="6B3214"/>
            </a:solidFill>
            <a:prstDash val="solid"/>
          </a:ln>
        </p:spPr>
      </p:sp>
      <p:sp>
        <p:nvSpPr>
          <p:cNvPr id="370" name="Shape 363"/>
          <p:cNvSpPr/>
          <p:nvPr/>
        </p:nvSpPr>
        <p:spPr>
          <a:xfrm>
            <a:off x="2777307" y="7010248"/>
            <a:ext cx="124541" cy="83028"/>
          </a:xfrm>
          <a:prstGeom prst="ellipse">
            <a:avLst/>
          </a:prstGeom>
          <a:solidFill>
            <a:srgbClr val="F18717"/>
          </a:solidFill>
          <a:ln w="11864">
            <a:solidFill>
              <a:srgbClr val="6B3214"/>
            </a:solidFill>
            <a:prstDash val="solid"/>
          </a:ln>
        </p:spPr>
      </p:sp>
      <p:sp>
        <p:nvSpPr>
          <p:cNvPr id="371" name="Shape 364"/>
          <p:cNvSpPr/>
          <p:nvPr/>
        </p:nvSpPr>
        <p:spPr>
          <a:xfrm>
            <a:off x="2741737" y="6808531"/>
            <a:ext cx="118598" cy="118598"/>
          </a:xfrm>
          <a:prstGeom prst="ellipse">
            <a:avLst/>
          </a:prstGeom>
          <a:solidFill>
            <a:srgbClr val="BDEAF6">
              <a:alpha val="90000"/>
            </a:srgbClr>
          </a:solidFill>
          <a:ln w="17796">
            <a:solidFill>
              <a:srgbClr val="4A6470"/>
            </a:solidFill>
            <a:prstDash val="solid"/>
          </a:ln>
        </p:spPr>
      </p:sp>
      <p:sp>
        <p:nvSpPr>
          <p:cNvPr id="372" name="Shape 365"/>
          <p:cNvSpPr/>
          <p:nvPr/>
        </p:nvSpPr>
        <p:spPr>
          <a:xfrm>
            <a:off x="2830708" y="6909389"/>
            <a:ext cx="71140" cy="77084"/>
          </a:xfrm>
          <a:prstGeom prst="line">
            <a:avLst/>
          </a:prstGeom>
          <a:noFill/>
          <a:ln w="29660">
            <a:solidFill>
              <a:srgbClr val="4A6470"/>
            </a:solidFill>
            <a:prstDash val="solid"/>
          </a:ln>
        </p:spPr>
      </p:sp>
      <p:sp>
        <p:nvSpPr>
          <p:cNvPr id="373" name="Shape 366"/>
          <p:cNvSpPr/>
          <p:nvPr/>
        </p:nvSpPr>
        <p:spPr>
          <a:xfrm>
            <a:off x="3935395" y="6879671"/>
            <a:ext cx="213055" cy="213055"/>
          </a:xfrm>
          <a:prstGeom prst="ellipse">
            <a:avLst/>
          </a:prstGeom>
          <a:solidFill>
            <a:srgbClr val="19AFE6"/>
          </a:solidFill>
          <a:ln w="10309">
            <a:solidFill>
              <a:srgbClr val="3685A8"/>
            </a:solidFill>
            <a:prstDash val="solid"/>
          </a:ln>
        </p:spPr>
      </p:sp>
      <p:sp>
        <p:nvSpPr>
          <p:cNvPr id="374" name="Text 367"/>
          <p:cNvSpPr/>
          <p:nvPr/>
        </p:nvSpPr>
        <p:spPr>
          <a:xfrm>
            <a:off x="3935395" y="6872813"/>
            <a:ext cx="213055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3" b="1" dirty="0">
                <a:solidFill>
                  <a:srgbClr val="0F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53" dirty="0"/>
          </a:p>
        </p:txBody>
      </p:sp>
      <p:sp>
        <p:nvSpPr>
          <p:cNvPr id="375" name="Shape 368"/>
          <p:cNvSpPr/>
          <p:nvPr/>
        </p:nvSpPr>
        <p:spPr>
          <a:xfrm>
            <a:off x="4107210" y="6969008"/>
            <a:ext cx="171816" cy="171816"/>
          </a:xfrm>
          <a:prstGeom prst="ellipse">
            <a:avLst/>
          </a:prstGeom>
          <a:solidFill>
            <a:srgbClr val="FFF8D9"/>
          </a:solidFill>
          <a:ln w="8247">
            <a:solidFill>
              <a:srgbClr val="8D8D7C"/>
            </a:solidFill>
            <a:prstDash val="solid"/>
          </a:ln>
        </p:spPr>
      </p:sp>
      <p:sp>
        <p:nvSpPr>
          <p:cNvPr id="376" name="Text 369"/>
          <p:cNvSpPr/>
          <p:nvPr/>
        </p:nvSpPr>
        <p:spPr>
          <a:xfrm>
            <a:off x="4107210" y="6969008"/>
            <a:ext cx="171816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20" dirty="0"/>
          </a:p>
        </p:txBody>
      </p:sp>
      <p:sp>
        <p:nvSpPr>
          <p:cNvPr id="377" name="Text 370"/>
          <p:cNvSpPr/>
          <p:nvPr/>
        </p:nvSpPr>
        <p:spPr>
          <a:xfrm>
            <a:off x="3414552" y="7183526"/>
            <a:ext cx="1475750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Reflection</a:t>
            </a:r>
            <a:endParaRPr lang="en-US" sz="1196" dirty="0"/>
          </a:p>
        </p:txBody>
      </p:sp>
      <p:sp>
        <p:nvSpPr>
          <p:cNvPr id="378" name="Shape 371"/>
          <p:cNvSpPr/>
          <p:nvPr/>
        </p:nvSpPr>
        <p:spPr>
          <a:xfrm>
            <a:off x="5628223" y="6720566"/>
            <a:ext cx="2054474" cy="202540"/>
          </a:xfrm>
          <a:prstGeom prst="rect">
            <a:avLst/>
          </a:prstGeom>
          <a:solidFill>
            <a:srgbClr val="F29A5E"/>
          </a:solidFill>
          <a:ln w="7234">
            <a:solidFill>
              <a:srgbClr val="E47D30"/>
            </a:solidFill>
            <a:prstDash val="solid"/>
          </a:ln>
        </p:spPr>
      </p:sp>
      <p:sp>
        <p:nvSpPr>
          <p:cNvPr id="379" name="Shape 372"/>
          <p:cNvSpPr/>
          <p:nvPr/>
        </p:nvSpPr>
        <p:spPr>
          <a:xfrm>
            <a:off x="5628223" y="6720566"/>
            <a:ext cx="2054474" cy="36210"/>
          </a:xfrm>
          <a:prstGeom prst="rect">
            <a:avLst/>
          </a:prstGeom>
          <a:solidFill>
            <a:srgbClr val="FFE1C8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0" name="Text 373"/>
          <p:cNvSpPr/>
          <p:nvPr/>
        </p:nvSpPr>
        <p:spPr>
          <a:xfrm>
            <a:off x="5715000" y="6735013"/>
            <a:ext cx="1880921" cy="180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round of reflection</a:t>
            </a:r>
            <a:endParaRPr lang="en-US" sz="1139" dirty="0"/>
          </a:p>
        </p:txBody>
      </p:sp>
      <p:sp>
        <p:nvSpPr>
          <p:cNvPr id="381" name="Shape 374"/>
          <p:cNvSpPr/>
          <p:nvPr/>
        </p:nvSpPr>
        <p:spPr>
          <a:xfrm>
            <a:off x="4825197" y="7060540"/>
            <a:ext cx="730697" cy="0"/>
          </a:xfrm>
          <a:prstGeom prst="line">
            <a:avLst/>
          </a:prstGeom>
          <a:noFill/>
          <a:ln w="21703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382" name="Shape 375"/>
          <p:cNvSpPr/>
          <p:nvPr/>
        </p:nvSpPr>
        <p:spPr>
          <a:xfrm>
            <a:off x="6381872" y="7161764"/>
            <a:ext cx="201168" cy="-201168"/>
          </a:xfrm>
          <a:prstGeom prst="line">
            <a:avLst/>
          </a:prstGeom>
          <a:noFill/>
          <a:ln w="44707">
            <a:solidFill>
              <a:srgbClr val="557A8E"/>
            </a:solidFill>
            <a:prstDash val="solid"/>
          </a:ln>
        </p:spPr>
      </p:sp>
      <p:sp>
        <p:nvSpPr>
          <p:cNvPr id="383" name="Shape 376"/>
          <p:cNvSpPr/>
          <p:nvPr/>
        </p:nvSpPr>
        <p:spPr>
          <a:xfrm>
            <a:off x="6456396" y="6968002"/>
            <a:ext cx="134142" cy="134142"/>
          </a:xfrm>
          <a:prstGeom prst="line">
            <a:avLst/>
          </a:prstGeom>
          <a:noFill/>
          <a:ln w="44707">
            <a:solidFill>
              <a:srgbClr val="E0A23F"/>
            </a:solidFill>
            <a:prstDash val="solid"/>
          </a:ln>
        </p:spPr>
      </p:sp>
      <p:sp>
        <p:nvSpPr>
          <p:cNvPr id="384" name="Shape 377"/>
          <p:cNvSpPr/>
          <p:nvPr/>
        </p:nvSpPr>
        <p:spPr>
          <a:xfrm>
            <a:off x="6352062" y="7124548"/>
            <a:ext cx="74524" cy="74524"/>
          </a:xfrm>
          <a:prstGeom prst="ellipse">
            <a:avLst/>
          </a:prstGeom>
          <a:solidFill>
            <a:srgbClr val="BFEAF3"/>
          </a:solidFill>
          <a:ln w="14902">
            <a:solidFill>
              <a:srgbClr val="557A8E"/>
            </a:solidFill>
            <a:prstDash val="solid"/>
          </a:ln>
        </p:spPr>
      </p:sp>
      <p:sp>
        <p:nvSpPr>
          <p:cNvPr id="385" name="Shape 378"/>
          <p:cNvSpPr/>
          <p:nvPr/>
        </p:nvSpPr>
        <p:spPr>
          <a:xfrm>
            <a:off x="6545732" y="6923288"/>
            <a:ext cx="74524" cy="74524"/>
          </a:xfrm>
          <a:prstGeom prst="ellipse">
            <a:avLst/>
          </a:prstGeom>
          <a:solidFill>
            <a:srgbClr val="FFE071"/>
          </a:solidFill>
          <a:ln w="14902">
            <a:solidFill>
              <a:srgbClr val="8A661F"/>
            </a:solidFill>
            <a:prstDash val="solid"/>
          </a:ln>
        </p:spPr>
      </p:sp>
      <p:sp>
        <p:nvSpPr>
          <p:cNvPr id="386" name="Text 379"/>
          <p:cNvSpPr/>
          <p:nvPr/>
        </p:nvSpPr>
        <p:spPr>
          <a:xfrm>
            <a:off x="5888645" y="7183526"/>
            <a:ext cx="1251539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Invoke</a:t>
            </a:r>
            <a:endParaRPr lang="en-US" sz="1196" dirty="0"/>
          </a:p>
        </p:txBody>
      </p:sp>
      <p:sp>
        <p:nvSpPr>
          <p:cNvPr id="387" name="Shape 380"/>
          <p:cNvSpPr/>
          <p:nvPr/>
        </p:nvSpPr>
        <p:spPr>
          <a:xfrm>
            <a:off x="7530816" y="7060540"/>
            <a:ext cx="723382" cy="0"/>
          </a:xfrm>
          <a:prstGeom prst="line">
            <a:avLst/>
          </a:prstGeom>
          <a:noFill/>
          <a:ln w="21703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388" name="Shape 381"/>
          <p:cNvSpPr/>
          <p:nvPr/>
        </p:nvSpPr>
        <p:spPr>
          <a:xfrm>
            <a:off x="9082552" y="6898508"/>
            <a:ext cx="221376" cy="260421"/>
          </a:xfrm>
          <a:prstGeom prst="roundRect">
            <a:avLst/>
          </a:prstGeom>
          <a:solidFill>
            <a:srgbClr val="F8F8F5"/>
          </a:solidFill>
          <a:ln w="13022">
            <a:solidFill>
              <a:srgbClr val="687785"/>
            </a:solidFill>
            <a:prstDash val="solid"/>
          </a:ln>
        </p:spPr>
      </p:sp>
      <p:sp>
        <p:nvSpPr>
          <p:cNvPr id="389" name="Shape 382"/>
          <p:cNvSpPr/>
          <p:nvPr/>
        </p:nvSpPr>
        <p:spPr>
          <a:xfrm>
            <a:off x="9134582" y="6872448"/>
            <a:ext cx="117226" cy="58613"/>
          </a:xfrm>
          <a:prstGeom prst="roundRect">
            <a:avLst/>
          </a:prstGeom>
          <a:solidFill>
            <a:srgbClr val="F3A73E"/>
          </a:solidFill>
          <a:ln w="13022">
            <a:solidFill>
              <a:srgbClr val="687785"/>
            </a:solidFill>
            <a:prstDash val="solid"/>
          </a:ln>
        </p:spPr>
      </p:sp>
      <p:sp>
        <p:nvSpPr>
          <p:cNvPr id="390" name="Shape 383"/>
          <p:cNvSpPr/>
          <p:nvPr/>
        </p:nvSpPr>
        <p:spPr>
          <a:xfrm>
            <a:off x="9115105" y="6963613"/>
            <a:ext cx="26060" cy="26060"/>
          </a:xfrm>
          <a:prstGeom prst="ellipse">
            <a:avLst/>
          </a:prstGeom>
          <a:solidFill>
            <a:srgbClr val="55A7DB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391" name="Shape 384"/>
          <p:cNvSpPr/>
          <p:nvPr/>
        </p:nvSpPr>
        <p:spPr>
          <a:xfrm>
            <a:off x="9167134" y="6976598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392" name="Shape 385"/>
          <p:cNvSpPr/>
          <p:nvPr/>
        </p:nvSpPr>
        <p:spPr>
          <a:xfrm>
            <a:off x="9115105" y="7022226"/>
            <a:ext cx="26060" cy="26060"/>
          </a:xfrm>
          <a:prstGeom prst="ellipse">
            <a:avLst/>
          </a:prstGeom>
          <a:solidFill>
            <a:srgbClr val="E6A248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393" name="Shape 386"/>
          <p:cNvSpPr/>
          <p:nvPr/>
        </p:nvSpPr>
        <p:spPr>
          <a:xfrm>
            <a:off x="9167134" y="7035211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394" name="Shape 387"/>
          <p:cNvSpPr/>
          <p:nvPr/>
        </p:nvSpPr>
        <p:spPr>
          <a:xfrm>
            <a:off x="9115105" y="7080839"/>
            <a:ext cx="26060" cy="26060"/>
          </a:xfrm>
          <a:prstGeom prst="ellipse">
            <a:avLst/>
          </a:prstGeom>
          <a:solidFill>
            <a:srgbClr val="E6A248"/>
          </a:solidFill>
          <a:ln w="5209">
            <a:solidFill>
              <a:srgbClr val="687785"/>
            </a:solidFill>
            <a:prstDash val="solid"/>
          </a:ln>
        </p:spPr>
      </p:sp>
      <p:sp>
        <p:nvSpPr>
          <p:cNvPr id="395" name="Shape 388"/>
          <p:cNvSpPr/>
          <p:nvPr/>
        </p:nvSpPr>
        <p:spPr>
          <a:xfrm>
            <a:off x="9167134" y="7093824"/>
            <a:ext cx="104150" cy="0"/>
          </a:xfrm>
          <a:prstGeom prst="line">
            <a:avLst/>
          </a:prstGeom>
          <a:noFill/>
          <a:ln w="7813">
            <a:solidFill>
              <a:srgbClr val="687785"/>
            </a:solidFill>
            <a:prstDash val="solid"/>
          </a:ln>
        </p:spPr>
      </p:sp>
      <p:sp>
        <p:nvSpPr>
          <p:cNvPr id="396" name="Text 389"/>
          <p:cNvSpPr/>
          <p:nvPr/>
        </p:nvSpPr>
        <p:spPr>
          <a:xfrm>
            <a:off x="8420618" y="7183526"/>
            <a:ext cx="1490198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Replanning</a:t>
            </a:r>
            <a:endParaRPr lang="en-US" sz="1196" dirty="0"/>
          </a:p>
        </p:txBody>
      </p:sp>
      <p:sp>
        <p:nvSpPr>
          <p:cNvPr id="397" name="Shape 390"/>
          <p:cNvSpPr/>
          <p:nvPr/>
        </p:nvSpPr>
        <p:spPr>
          <a:xfrm>
            <a:off x="2893710" y="7357171"/>
            <a:ext cx="2343882" cy="1707276"/>
          </a:xfrm>
          <a:prstGeom prst="roundRect">
            <a:avLst/>
          </a:prstGeom>
          <a:solidFill>
            <a:srgbClr val="FFF3C9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398" name="Text 391"/>
          <p:cNvSpPr/>
          <p:nvPr/>
        </p:nvSpPr>
        <p:spPr>
          <a:xfrm>
            <a:off x="3204698" y="7436724"/>
            <a:ext cx="1700052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Self-Reflection</a:t>
            </a:r>
            <a:endParaRPr lang="en-US" sz="1196" dirty="0"/>
          </a:p>
        </p:txBody>
      </p:sp>
      <p:sp>
        <p:nvSpPr>
          <p:cNvPr id="399" name="Text 392"/>
          <p:cNvSpPr/>
          <p:nvPr/>
        </p:nvSpPr>
        <p:spPr>
          <a:xfrm>
            <a:off x="2966039" y="7668250"/>
            <a:ext cx="2083460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Analysis</a:t>
            </a:r>
            <a:endParaRPr lang="en-US" sz="1139" dirty="0"/>
          </a:p>
        </p:txBody>
      </p:sp>
      <p:sp>
        <p:nvSpPr>
          <p:cNvPr id="400" name="Text 393"/>
          <p:cNvSpPr/>
          <p:nvPr/>
        </p:nvSpPr>
        <p:spPr>
          <a:xfrm>
            <a:off x="2966039" y="7863566"/>
            <a:ext cx="2141342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More information is needed</a:t>
            </a:r>
            <a:endParaRPr lang="en-US" sz="1111" dirty="0"/>
          </a:p>
        </p:txBody>
      </p:sp>
      <p:sp>
        <p:nvSpPr>
          <p:cNvPr id="401" name="Text 394"/>
          <p:cNvSpPr/>
          <p:nvPr/>
        </p:nvSpPr>
        <p:spPr>
          <a:xfrm>
            <a:off x="2966039" y="8051658"/>
            <a:ext cx="2141342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 determine if the woman’s</a:t>
            </a:r>
            <a:endParaRPr lang="en-US" sz="1111" dirty="0"/>
          </a:p>
        </p:txBody>
      </p:sp>
      <p:sp>
        <p:nvSpPr>
          <p:cNvPr id="402" name="Text 395"/>
          <p:cNvSpPr/>
          <p:nvPr/>
        </p:nvSpPr>
        <p:spPr>
          <a:xfrm>
            <a:off x="2966039" y="8239750"/>
            <a:ext cx="2141342" cy="216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behavior...</a:t>
            </a:r>
            <a:endParaRPr lang="en-US" sz="1111" dirty="0"/>
          </a:p>
        </p:txBody>
      </p:sp>
      <p:sp>
        <p:nvSpPr>
          <p:cNvPr id="403" name="Text 396"/>
          <p:cNvSpPr/>
          <p:nvPr/>
        </p:nvSpPr>
        <p:spPr>
          <a:xfrm>
            <a:off x="2966039" y="8420618"/>
            <a:ext cx="2025579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use</a:t>
            </a:r>
            <a:endParaRPr lang="en-US" sz="1139" dirty="0"/>
          </a:p>
        </p:txBody>
      </p:sp>
      <p:sp>
        <p:nvSpPr>
          <p:cNvPr id="404" name="Text 397"/>
          <p:cNvSpPr/>
          <p:nvPr/>
        </p:nvSpPr>
        <p:spPr>
          <a:xfrm>
            <a:off x="2966039" y="8608710"/>
            <a:ext cx="2134118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 Retrive</a:t>
            </a:r>
            <a:endParaRPr lang="en-US" sz="1111" dirty="0"/>
          </a:p>
        </p:txBody>
      </p:sp>
      <p:sp>
        <p:nvSpPr>
          <p:cNvPr id="405" name="Text 398"/>
          <p:cNvSpPr/>
          <p:nvPr/>
        </p:nvSpPr>
        <p:spPr>
          <a:xfrm>
            <a:off x="2966039" y="8789487"/>
            <a:ext cx="2134118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 Search</a:t>
            </a:r>
            <a:endParaRPr lang="en-US" sz="1111" dirty="0"/>
          </a:p>
        </p:txBody>
      </p:sp>
      <p:sp>
        <p:nvSpPr>
          <p:cNvPr id="406" name="Shape 399"/>
          <p:cNvSpPr/>
          <p:nvPr/>
        </p:nvSpPr>
        <p:spPr>
          <a:xfrm>
            <a:off x="5317145" y="7357171"/>
            <a:ext cx="2814066" cy="1707276"/>
          </a:xfrm>
          <a:prstGeom prst="roundRect">
            <a:avLst/>
          </a:prstGeom>
          <a:solidFill>
            <a:srgbClr val="F2F0CF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407" name="Shape 400"/>
          <p:cNvSpPr/>
          <p:nvPr/>
        </p:nvSpPr>
        <p:spPr>
          <a:xfrm>
            <a:off x="5432908" y="7501829"/>
            <a:ext cx="289408" cy="274869"/>
          </a:xfrm>
          <a:prstGeom prst="rect">
            <a:avLst/>
          </a:prstGeom>
          <a:solidFill>
            <a:srgbClr val="DFF3F7"/>
          </a:solidFill>
          <a:ln w="14468">
            <a:solidFill>
              <a:srgbClr val="587081"/>
            </a:solidFill>
            <a:prstDash val="solid"/>
          </a:ln>
        </p:spPr>
      </p:sp>
      <p:sp>
        <p:nvSpPr>
          <p:cNvPr id="408" name="Shape 401"/>
          <p:cNvSpPr/>
          <p:nvPr/>
        </p:nvSpPr>
        <p:spPr>
          <a:xfrm>
            <a:off x="5476250" y="7530816"/>
            <a:ext cx="202540" cy="202540"/>
          </a:xfrm>
          <a:prstGeom prst="rect">
            <a:avLst/>
          </a:prstGeom>
          <a:solidFill>
            <a:srgbClr val="E94F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9" name="Shape 402"/>
          <p:cNvSpPr/>
          <p:nvPr/>
        </p:nvSpPr>
        <p:spPr>
          <a:xfrm>
            <a:off x="5526908" y="7574158"/>
            <a:ext cx="101316" cy="101316"/>
          </a:xfrm>
          <a:prstGeom prst="ellipse">
            <a:avLst/>
          </a:prstGeom>
          <a:solidFill>
            <a:srgbClr val="98E0EA"/>
          </a:solidFill>
          <a:ln w="7234">
            <a:solidFill>
              <a:srgbClr val="304B5B"/>
            </a:solidFill>
            <a:prstDash val="solid"/>
          </a:ln>
        </p:spPr>
      </p:sp>
      <p:sp>
        <p:nvSpPr>
          <p:cNvPr id="410" name="Shape 403"/>
          <p:cNvSpPr/>
          <p:nvPr/>
        </p:nvSpPr>
        <p:spPr>
          <a:xfrm>
            <a:off x="5975421" y="7451171"/>
            <a:ext cx="180868" cy="245974"/>
          </a:xfrm>
          <a:prstGeom prst="roundRect">
            <a:avLst/>
          </a:prstGeom>
          <a:solidFill>
            <a:srgbClr val="FFD944"/>
          </a:solidFill>
          <a:ln w="14468">
            <a:solidFill>
              <a:srgbClr val="476377"/>
            </a:solidFill>
            <a:prstDash val="solid"/>
          </a:ln>
        </p:spPr>
      </p:sp>
      <p:sp>
        <p:nvSpPr>
          <p:cNvPr id="411" name="Shape 404"/>
          <p:cNvSpPr/>
          <p:nvPr/>
        </p:nvSpPr>
        <p:spPr>
          <a:xfrm>
            <a:off x="6026079" y="7494605"/>
            <a:ext cx="130211" cy="224302"/>
          </a:xfrm>
          <a:prstGeom prst="rect">
            <a:avLst/>
          </a:prstGeom>
          <a:solidFill>
            <a:srgbClr val="4B6273"/>
          </a:solidFill>
          <a:ln w="10851">
            <a:solidFill>
              <a:srgbClr val="476377"/>
            </a:solidFill>
            <a:prstDash val="solid"/>
          </a:ln>
        </p:spPr>
      </p:sp>
      <p:sp>
        <p:nvSpPr>
          <p:cNvPr id="412" name="Shape 405"/>
          <p:cNvSpPr/>
          <p:nvPr/>
        </p:nvSpPr>
        <p:spPr>
          <a:xfrm>
            <a:off x="6004408" y="7530816"/>
            <a:ext cx="101316" cy="0"/>
          </a:xfrm>
          <a:prstGeom prst="line">
            <a:avLst/>
          </a:prstGeom>
          <a:noFill/>
          <a:ln w="8681">
            <a:solidFill>
              <a:srgbClr val="4B6273"/>
            </a:solidFill>
            <a:prstDash val="solid"/>
          </a:ln>
        </p:spPr>
      </p:sp>
      <p:sp>
        <p:nvSpPr>
          <p:cNvPr id="413" name="Shape 406"/>
          <p:cNvSpPr/>
          <p:nvPr/>
        </p:nvSpPr>
        <p:spPr>
          <a:xfrm>
            <a:off x="6004408" y="7581382"/>
            <a:ext cx="101316" cy="0"/>
          </a:xfrm>
          <a:prstGeom prst="line">
            <a:avLst/>
          </a:prstGeom>
          <a:noFill/>
          <a:ln w="8681">
            <a:solidFill>
              <a:srgbClr val="4B6273"/>
            </a:solidFill>
            <a:prstDash val="solid"/>
          </a:ln>
        </p:spPr>
      </p:sp>
      <p:sp>
        <p:nvSpPr>
          <p:cNvPr id="414" name="Shape 407"/>
          <p:cNvSpPr/>
          <p:nvPr/>
        </p:nvSpPr>
        <p:spPr>
          <a:xfrm>
            <a:off x="6004408" y="7632040"/>
            <a:ext cx="101316" cy="0"/>
          </a:xfrm>
          <a:prstGeom prst="line">
            <a:avLst/>
          </a:prstGeom>
          <a:noFill/>
          <a:ln w="8681">
            <a:solidFill>
              <a:srgbClr val="4B6273"/>
            </a:solidFill>
            <a:prstDash val="solid"/>
          </a:ln>
        </p:spPr>
      </p:sp>
      <p:sp>
        <p:nvSpPr>
          <p:cNvPr id="415" name="Text 408"/>
          <p:cNvSpPr/>
          <p:nvPr/>
        </p:nvSpPr>
        <p:spPr>
          <a:xfrm>
            <a:off x="6185184" y="7509053"/>
            <a:ext cx="1200882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Retrive</a:t>
            </a:r>
            <a:endParaRPr lang="en-US" sz="1082" dirty="0"/>
          </a:p>
        </p:txBody>
      </p:sp>
      <p:sp>
        <p:nvSpPr>
          <p:cNvPr id="416" name="Shape 409"/>
          <p:cNvSpPr/>
          <p:nvPr/>
        </p:nvSpPr>
        <p:spPr>
          <a:xfrm>
            <a:off x="6177961" y="7726131"/>
            <a:ext cx="759592" cy="0"/>
          </a:xfrm>
          <a:prstGeom prst="line">
            <a:avLst/>
          </a:prstGeom>
          <a:noFill/>
          <a:ln w="15915">
            <a:solidFill>
              <a:srgbClr val="4AA2DB"/>
            </a:solidFill>
            <a:prstDash val="solid"/>
            <a:tailEnd type="triangle"/>
          </a:ln>
        </p:spPr>
      </p:sp>
      <p:pic>
        <p:nvPicPr>
          <p:cNvPr id="417" name="Image 5" descr="/home/wangfeifei/projects/skillopt/SkillOpt/ppt-rebuild/complex20-skill-ab-20260907/runs/gpt-5.6-sol/complex-002/.tmp/frame-retrie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618" y="7443948"/>
            <a:ext cx="716158" cy="448513"/>
          </a:xfrm>
          <a:prstGeom prst="rect">
            <a:avLst/>
          </a:prstGeom>
        </p:spPr>
      </p:pic>
      <p:sp>
        <p:nvSpPr>
          <p:cNvPr id="418" name="Text 410"/>
          <p:cNvSpPr/>
          <p:nvPr/>
        </p:nvSpPr>
        <p:spPr>
          <a:xfrm>
            <a:off x="5563118" y="7849118"/>
            <a:ext cx="241621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Retrive query: A woman is suspiciously</a:t>
            </a:r>
            <a:endParaRPr lang="en-US" sz="883" dirty="0"/>
          </a:p>
        </p:txBody>
      </p:sp>
      <p:sp>
        <p:nvSpPr>
          <p:cNvPr id="419" name="Text 411"/>
          <p:cNvSpPr/>
          <p:nvPr/>
        </p:nvSpPr>
        <p:spPr>
          <a:xfrm>
            <a:off x="5563118" y="7993776"/>
            <a:ext cx="241621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browsing items in the store.</a:t>
            </a:r>
            <a:endParaRPr lang="en-US" sz="883" dirty="0"/>
          </a:p>
        </p:txBody>
      </p:sp>
      <p:sp>
        <p:nvSpPr>
          <p:cNvPr id="420" name="Shape 412"/>
          <p:cNvSpPr/>
          <p:nvPr/>
        </p:nvSpPr>
        <p:spPr>
          <a:xfrm>
            <a:off x="5968197" y="8239750"/>
            <a:ext cx="195316" cy="195316"/>
          </a:xfrm>
          <a:prstGeom prst="ellipse">
            <a:avLst/>
          </a:prstGeom>
          <a:solidFill>
            <a:srgbClr val="E8F7FA"/>
          </a:solidFill>
          <a:ln w="14468">
            <a:solidFill>
              <a:srgbClr val="526A79"/>
            </a:solidFill>
            <a:prstDash val="solid"/>
          </a:ln>
        </p:spPr>
      </p:sp>
      <p:sp>
        <p:nvSpPr>
          <p:cNvPr id="421" name="Shape 413"/>
          <p:cNvSpPr/>
          <p:nvPr/>
        </p:nvSpPr>
        <p:spPr>
          <a:xfrm>
            <a:off x="6112855" y="8391632"/>
            <a:ext cx="101316" cy="94000"/>
          </a:xfrm>
          <a:prstGeom prst="line">
            <a:avLst/>
          </a:prstGeom>
          <a:noFill/>
          <a:ln w="28937">
            <a:solidFill>
              <a:srgbClr val="3C83A2"/>
            </a:solidFill>
            <a:prstDash val="solid"/>
          </a:ln>
        </p:spPr>
      </p:sp>
      <p:sp>
        <p:nvSpPr>
          <p:cNvPr id="422" name="Text 414"/>
          <p:cNvSpPr/>
          <p:nvPr/>
        </p:nvSpPr>
        <p:spPr>
          <a:xfrm>
            <a:off x="6206947" y="8283092"/>
            <a:ext cx="983803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139" dirty="0"/>
          </a:p>
        </p:txBody>
      </p:sp>
      <p:sp>
        <p:nvSpPr>
          <p:cNvPr id="423" name="Shape 415"/>
          <p:cNvSpPr/>
          <p:nvPr/>
        </p:nvSpPr>
        <p:spPr>
          <a:xfrm>
            <a:off x="6177961" y="8507395"/>
            <a:ext cx="723382" cy="0"/>
          </a:xfrm>
          <a:prstGeom prst="line">
            <a:avLst/>
          </a:prstGeom>
          <a:noFill/>
          <a:ln w="15915">
            <a:solidFill>
              <a:srgbClr val="4AA2DB"/>
            </a:solidFill>
            <a:prstDash val="solid"/>
            <a:tailEnd type="triangle"/>
          </a:ln>
        </p:spPr>
      </p:sp>
      <p:sp>
        <p:nvSpPr>
          <p:cNvPr id="424" name="Shape 416"/>
          <p:cNvSpPr/>
          <p:nvPr/>
        </p:nvSpPr>
        <p:spPr>
          <a:xfrm>
            <a:off x="7154631" y="8174645"/>
            <a:ext cx="810250" cy="542605"/>
          </a:xfrm>
          <a:prstGeom prst="roundRect">
            <a:avLst/>
          </a:prstGeom>
          <a:solidFill>
            <a:srgbClr val="D6E8F3"/>
          </a:solidFill>
          <a:ln w="14468">
            <a:solidFill>
              <a:srgbClr val="4476B1"/>
            </a:solidFill>
            <a:prstDash val="solid"/>
          </a:ln>
        </p:spPr>
      </p:sp>
      <p:sp>
        <p:nvSpPr>
          <p:cNvPr id="425" name="Text 417"/>
          <p:cNvSpPr/>
          <p:nvPr/>
        </p:nvSpPr>
        <p:spPr>
          <a:xfrm>
            <a:off x="7226960" y="8246974"/>
            <a:ext cx="658277" cy="144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Customers put</a:t>
            </a:r>
            <a:endParaRPr lang="en-US" sz="752" dirty="0"/>
          </a:p>
        </p:txBody>
      </p:sp>
      <p:sp>
        <p:nvSpPr>
          <p:cNvPr id="426" name="Text 418"/>
          <p:cNvSpPr/>
          <p:nvPr/>
        </p:nvSpPr>
        <p:spPr>
          <a:xfrm>
            <a:off x="7226960" y="8362737"/>
            <a:ext cx="658277" cy="144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unpaid items in</a:t>
            </a:r>
            <a:endParaRPr lang="en-US" sz="752" dirty="0"/>
          </a:p>
        </p:txBody>
      </p:sp>
      <p:sp>
        <p:nvSpPr>
          <p:cNvPr id="427" name="Text 419"/>
          <p:cNvSpPr/>
          <p:nvPr/>
        </p:nvSpPr>
        <p:spPr>
          <a:xfrm>
            <a:off x="7226960" y="8478500"/>
            <a:ext cx="658277" cy="144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their bags...</a:t>
            </a:r>
            <a:endParaRPr lang="en-US" sz="752" dirty="0"/>
          </a:p>
        </p:txBody>
      </p:sp>
      <p:sp>
        <p:nvSpPr>
          <p:cNvPr id="428" name="Text 420"/>
          <p:cNvSpPr/>
          <p:nvPr/>
        </p:nvSpPr>
        <p:spPr>
          <a:xfrm>
            <a:off x="7226960" y="8594171"/>
            <a:ext cx="658277" cy="144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Customers...</a:t>
            </a:r>
            <a:endParaRPr lang="en-US" sz="752" dirty="0"/>
          </a:p>
        </p:txBody>
      </p:sp>
      <p:sp>
        <p:nvSpPr>
          <p:cNvPr id="429" name="Shape 421"/>
          <p:cNvSpPr/>
          <p:nvPr/>
        </p:nvSpPr>
        <p:spPr>
          <a:xfrm>
            <a:off x="5447355" y="8290408"/>
            <a:ext cx="311079" cy="267645"/>
          </a:xfrm>
          <a:prstGeom prst="roundRect">
            <a:avLst/>
          </a:prstGeom>
          <a:solidFill>
            <a:srgbClr val="EDF5F5"/>
          </a:solidFill>
          <a:ln w="14468">
            <a:solidFill>
              <a:srgbClr val="60717F"/>
            </a:solidFill>
            <a:prstDash val="solid"/>
          </a:ln>
        </p:spPr>
      </p:sp>
      <p:sp>
        <p:nvSpPr>
          <p:cNvPr id="430" name="Shape 422"/>
          <p:cNvSpPr/>
          <p:nvPr/>
        </p:nvSpPr>
        <p:spPr>
          <a:xfrm>
            <a:off x="5534132" y="8333750"/>
            <a:ext cx="130211" cy="130211"/>
          </a:xfrm>
          <a:prstGeom prst="ellipse">
            <a:avLst/>
          </a:prstGeom>
          <a:solidFill>
            <a:srgbClr val="FFF9BC"/>
          </a:solidFill>
          <a:ln w="7234">
            <a:solidFill>
              <a:srgbClr val="678091"/>
            </a:solidFill>
            <a:prstDash val="solid"/>
          </a:ln>
        </p:spPr>
      </p:sp>
      <p:sp>
        <p:nvSpPr>
          <p:cNvPr id="431" name="Shape 423"/>
          <p:cNvSpPr/>
          <p:nvPr/>
        </p:nvSpPr>
        <p:spPr>
          <a:xfrm>
            <a:off x="5606461" y="8471184"/>
            <a:ext cx="0" cy="50658"/>
          </a:xfrm>
          <a:prstGeom prst="line">
            <a:avLst/>
          </a:prstGeom>
          <a:noFill/>
          <a:ln w="10851">
            <a:solidFill>
              <a:srgbClr val="678091"/>
            </a:solidFill>
            <a:prstDash val="solid"/>
          </a:ln>
        </p:spPr>
      </p:sp>
      <p:sp>
        <p:nvSpPr>
          <p:cNvPr id="432" name="Text 424"/>
          <p:cNvSpPr/>
          <p:nvPr/>
        </p:nvSpPr>
        <p:spPr>
          <a:xfrm>
            <a:off x="5801777" y="8550829"/>
            <a:ext cx="1359987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query: What are</a:t>
            </a:r>
            <a:endParaRPr lang="en-US" sz="883" dirty="0"/>
          </a:p>
        </p:txBody>
      </p:sp>
      <p:sp>
        <p:nvSpPr>
          <p:cNvPr id="433" name="Text 425"/>
          <p:cNvSpPr/>
          <p:nvPr/>
        </p:nvSpPr>
        <p:spPr>
          <a:xfrm>
            <a:off x="5801777" y="8688263"/>
            <a:ext cx="1359987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shoplifting</a:t>
            </a:r>
            <a:endParaRPr lang="en-US" sz="883" dirty="0"/>
          </a:p>
        </p:txBody>
      </p:sp>
      <p:sp>
        <p:nvSpPr>
          <p:cNvPr id="434" name="Text 426"/>
          <p:cNvSpPr/>
          <p:nvPr/>
        </p:nvSpPr>
        <p:spPr>
          <a:xfrm>
            <a:off x="5801777" y="8825697"/>
            <a:ext cx="1359987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 in a store?</a:t>
            </a:r>
            <a:endParaRPr lang="en-US" sz="883" dirty="0"/>
          </a:p>
        </p:txBody>
      </p:sp>
      <p:sp>
        <p:nvSpPr>
          <p:cNvPr id="435" name="Shape 427"/>
          <p:cNvSpPr/>
          <p:nvPr/>
        </p:nvSpPr>
        <p:spPr>
          <a:xfrm>
            <a:off x="8160197" y="7357171"/>
            <a:ext cx="2148566" cy="1707276"/>
          </a:xfrm>
          <a:prstGeom prst="roundRect">
            <a:avLst/>
          </a:prstGeom>
          <a:solidFill>
            <a:srgbClr val="E6F1C5"/>
          </a:solidFill>
          <a:ln w="28937">
            <a:solidFill>
              <a:srgbClr val="A9ADB0"/>
            </a:solidFill>
            <a:prstDash val="dash"/>
          </a:ln>
        </p:spPr>
      </p:sp>
      <p:sp>
        <p:nvSpPr>
          <p:cNvPr id="436" name="Text 428"/>
          <p:cNvSpPr/>
          <p:nvPr/>
        </p:nvSpPr>
        <p:spPr>
          <a:xfrm>
            <a:off x="8239750" y="7443948"/>
            <a:ext cx="1982145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8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Strategy Update</a:t>
            </a:r>
            <a:endParaRPr lang="en-US" sz="1168" dirty="0"/>
          </a:p>
        </p:txBody>
      </p:sp>
      <p:sp>
        <p:nvSpPr>
          <p:cNvPr id="437" name="Text 429"/>
          <p:cNvSpPr/>
          <p:nvPr/>
        </p:nvSpPr>
        <p:spPr>
          <a:xfrm>
            <a:off x="8268645" y="7726131"/>
            <a:ext cx="1917040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Anomaly Rules</a:t>
            </a:r>
            <a:endParaRPr lang="en-US" sz="1139" dirty="0"/>
          </a:p>
        </p:txBody>
      </p:sp>
      <p:sp>
        <p:nvSpPr>
          <p:cNvPr id="438" name="Text 430"/>
          <p:cNvSpPr/>
          <p:nvPr/>
        </p:nvSpPr>
        <p:spPr>
          <a:xfrm>
            <a:off x="8268645" y="7921447"/>
            <a:ext cx="191704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Customers taking items</a:t>
            </a:r>
            <a:endParaRPr lang="en-US" sz="1082" dirty="0"/>
          </a:p>
        </p:txBody>
      </p:sp>
      <p:sp>
        <p:nvSpPr>
          <p:cNvPr id="439" name="Text 431"/>
          <p:cNvSpPr/>
          <p:nvPr/>
        </p:nvSpPr>
        <p:spPr>
          <a:xfrm>
            <a:off x="8268645" y="8102316"/>
            <a:ext cx="1917040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2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without paying...</a:t>
            </a:r>
            <a:endParaRPr lang="en-US" sz="1082" dirty="0"/>
          </a:p>
        </p:txBody>
      </p:sp>
      <p:sp>
        <p:nvSpPr>
          <p:cNvPr id="440" name="Text 432"/>
          <p:cNvSpPr/>
          <p:nvPr/>
        </p:nvSpPr>
        <p:spPr>
          <a:xfrm>
            <a:off x="8268645" y="8283092"/>
            <a:ext cx="1924263" cy="19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Heuristic Prompt</a:t>
            </a:r>
            <a:endParaRPr lang="en-US" sz="1139" dirty="0"/>
          </a:p>
        </p:txBody>
      </p:sp>
      <p:sp>
        <p:nvSpPr>
          <p:cNvPr id="441" name="Text 433"/>
          <p:cNvSpPr/>
          <p:nvPr/>
        </p:nvSpPr>
        <p:spPr>
          <a:xfrm>
            <a:off x="8268645" y="8478500"/>
            <a:ext cx="1902592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Focusing on the woman’s</a:t>
            </a:r>
            <a:endParaRPr lang="en-US" sz="1054" dirty="0"/>
          </a:p>
        </p:txBody>
      </p:sp>
      <p:sp>
        <p:nvSpPr>
          <p:cNvPr id="442" name="Text 434"/>
          <p:cNvSpPr/>
          <p:nvPr/>
        </p:nvSpPr>
        <p:spPr>
          <a:xfrm>
            <a:off x="8268645" y="8652053"/>
            <a:ext cx="1902592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interaction behavior with the</a:t>
            </a:r>
            <a:endParaRPr lang="en-US" sz="1054" dirty="0"/>
          </a:p>
        </p:txBody>
      </p:sp>
      <p:sp>
        <p:nvSpPr>
          <p:cNvPr id="443" name="Text 435"/>
          <p:cNvSpPr/>
          <p:nvPr/>
        </p:nvSpPr>
        <p:spPr>
          <a:xfrm>
            <a:off x="8268645" y="8825697"/>
            <a:ext cx="1902592" cy="20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4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items...</a:t>
            </a:r>
            <a:endParaRPr lang="en-US" sz="1054" dirty="0"/>
          </a:p>
        </p:txBody>
      </p:sp>
      <p:sp>
        <p:nvSpPr>
          <p:cNvPr id="444" name="Shape 436"/>
          <p:cNvSpPr/>
          <p:nvPr/>
        </p:nvSpPr>
        <p:spPr>
          <a:xfrm>
            <a:off x="10395539" y="7885237"/>
            <a:ext cx="238750" cy="209763"/>
          </a:xfrm>
          <a:prstGeom prst="rightArrow">
            <a:avLst/>
          </a:prstGeom>
          <a:solidFill>
            <a:srgbClr val="F07A2B"/>
          </a:solidFill>
          <a:ln w="3617">
            <a:solidFill>
              <a:srgbClr val="F07A2B"/>
            </a:solidFill>
            <a:prstDash val="solid"/>
          </a:ln>
        </p:spPr>
      </p:sp>
      <p:sp>
        <p:nvSpPr>
          <p:cNvPr id="445" name="Shape 437"/>
          <p:cNvSpPr/>
          <p:nvPr/>
        </p:nvSpPr>
        <p:spPr>
          <a:xfrm>
            <a:off x="12138934" y="6865224"/>
            <a:ext cx="302758" cy="302758"/>
          </a:xfrm>
          <a:prstGeom prst="ellipse">
            <a:avLst/>
          </a:prstGeom>
          <a:solidFill>
            <a:srgbClr val="F77A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6" name="Shape 438"/>
          <p:cNvSpPr/>
          <p:nvPr/>
        </p:nvSpPr>
        <p:spPr>
          <a:xfrm>
            <a:off x="12165818" y="6892107"/>
            <a:ext cx="248900" cy="248900"/>
          </a:xfrm>
          <a:prstGeom prst="ellipse">
            <a:avLst/>
          </a:prstGeom>
          <a:solidFill>
            <a:srgbClr val="4FC0C6"/>
          </a:solidFill>
          <a:ln w="13456">
            <a:solidFill>
              <a:srgbClr val="FFFFFF"/>
            </a:solidFill>
            <a:prstDash val="solid"/>
          </a:ln>
        </p:spPr>
      </p:sp>
      <p:sp>
        <p:nvSpPr>
          <p:cNvPr id="447" name="Shape 439"/>
          <p:cNvSpPr/>
          <p:nvPr/>
        </p:nvSpPr>
        <p:spPr>
          <a:xfrm>
            <a:off x="12206234" y="6939199"/>
            <a:ext cx="168158" cy="148041"/>
          </a:xfrm>
          <a:prstGeom prst="ellipse">
            <a:avLst/>
          </a:prstGeom>
          <a:solidFill>
            <a:srgbClr val="264C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8" name="Shape 440"/>
          <p:cNvSpPr/>
          <p:nvPr/>
        </p:nvSpPr>
        <p:spPr>
          <a:xfrm>
            <a:off x="12213001" y="6959407"/>
            <a:ext cx="154716" cy="121067"/>
          </a:xfrm>
          <a:prstGeom prst="arc">
            <a:avLst/>
          </a:prstGeom>
          <a:solidFill>
            <a:srgbClr val="FFFFFF">
              <a:alpha val="0"/>
            </a:srgbClr>
          </a:solidFill>
          <a:ln w="20183">
            <a:solidFill>
              <a:srgbClr val="FFFFFF"/>
            </a:solidFill>
            <a:prstDash val="solid"/>
          </a:ln>
        </p:spPr>
      </p:sp>
      <p:sp>
        <p:nvSpPr>
          <p:cNvPr id="449" name="Text 441"/>
          <p:cNvSpPr/>
          <p:nvPr/>
        </p:nvSpPr>
        <p:spPr>
          <a:xfrm>
            <a:off x="11480658" y="7147408"/>
            <a:ext cx="1605961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Reasoning</a:t>
            </a:r>
            <a:endParaRPr lang="en-US" sz="1310" dirty="0"/>
          </a:p>
        </p:txBody>
      </p:sp>
      <p:sp>
        <p:nvSpPr>
          <p:cNvPr id="450" name="Shape 442"/>
          <p:cNvSpPr/>
          <p:nvPr/>
        </p:nvSpPr>
        <p:spPr>
          <a:xfrm>
            <a:off x="10800618" y="7443948"/>
            <a:ext cx="2937053" cy="253197"/>
          </a:xfrm>
          <a:prstGeom prst="rect">
            <a:avLst/>
          </a:prstGeom>
          <a:solidFill>
            <a:srgbClr val="F2F2F2"/>
          </a:solidFill>
          <a:ln w="21703">
            <a:solidFill>
              <a:srgbClr val="B5B8BA"/>
            </a:solidFill>
            <a:prstDash val="dash"/>
          </a:ln>
        </p:spPr>
      </p:sp>
      <p:sp>
        <p:nvSpPr>
          <p:cNvPr id="451" name="Text 443"/>
          <p:cNvSpPr/>
          <p:nvPr/>
        </p:nvSpPr>
        <p:spPr>
          <a:xfrm>
            <a:off x="10916382" y="7480158"/>
            <a:ext cx="2698303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9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Reasoning Results</a:t>
            </a:r>
            <a:endParaRPr lang="en-US" sz="1139" dirty="0"/>
          </a:p>
        </p:txBody>
      </p:sp>
      <p:sp>
        <p:nvSpPr>
          <p:cNvPr id="452" name="Shape 444"/>
          <p:cNvSpPr/>
          <p:nvPr/>
        </p:nvSpPr>
        <p:spPr>
          <a:xfrm>
            <a:off x="10800618" y="7755026"/>
            <a:ext cx="2937053" cy="1186434"/>
          </a:xfrm>
          <a:prstGeom prst="rect">
            <a:avLst/>
          </a:prstGeom>
          <a:solidFill>
            <a:srgbClr val="FFF0E8"/>
          </a:solidFill>
          <a:ln w="21703">
            <a:solidFill>
              <a:srgbClr val="C2C4C5"/>
            </a:solidFill>
            <a:prstDash val="dash"/>
          </a:ln>
        </p:spPr>
      </p:sp>
      <p:sp>
        <p:nvSpPr>
          <p:cNvPr id="453" name="Text 445"/>
          <p:cNvSpPr/>
          <p:nvPr/>
        </p:nvSpPr>
        <p:spPr>
          <a:xfrm>
            <a:off x="10872948" y="7812908"/>
            <a:ext cx="2785171" cy="18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algn="l" indent="0" marL="0">
              <a:buNone/>
            </a:pPr>
            <a:r>
              <a:rPr lang="en-US" sz="1139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</a:t>
            </a:r>
            <a:pPr algn="l" indent="0" marL="0">
              <a:buNone/>
            </a:pPr>
            <a:r>
              <a:rPr lang="en-US" sz="1139" dirty="0">
                <a:solidFill>
                  <a:srgbClr val="FF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</a:t>
            </a:r>
            <a:pPr algn="l" indent="0" marL="0">
              <a:buNone/>
            </a:pPr>
            <a:r>
              <a:rPr lang="en-US" sz="1139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Insufficient</a:t>
            </a:r>
            <a:endParaRPr lang="en-US" sz="1139" dirty="0"/>
          </a:p>
        </p:txBody>
      </p:sp>
      <p:sp>
        <p:nvSpPr>
          <p:cNvPr id="454" name="Text 446"/>
          <p:cNvSpPr/>
          <p:nvPr/>
        </p:nvSpPr>
        <p:spPr>
          <a:xfrm>
            <a:off x="10872948" y="8001000"/>
            <a:ext cx="278517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0.9</a:t>
            </a:r>
            <a:endParaRPr lang="en-US" sz="1139" dirty="0"/>
          </a:p>
        </p:txBody>
      </p:sp>
      <p:sp>
        <p:nvSpPr>
          <p:cNvPr id="455" name="Text 447"/>
          <p:cNvSpPr/>
          <p:nvPr/>
        </p:nvSpPr>
        <p:spPr>
          <a:xfrm>
            <a:off x="10872948" y="8189092"/>
            <a:ext cx="2785171" cy="1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</a:t>
            </a:r>
            <a:pPr algn="l" indent="0" marL="0">
              <a:buNone/>
            </a:pPr>
            <a:r>
              <a:rPr lang="en-US" sz="1139" dirty="0">
                <a:solidFill>
                  <a:srgbClr val="FF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woman carrying the bag on</a:t>
            </a:r>
            <a:endParaRPr lang="en-US" sz="1139" dirty="0"/>
          </a:p>
        </p:txBody>
      </p:sp>
      <p:sp>
        <p:nvSpPr>
          <p:cNvPr id="456" name="Text 448"/>
          <p:cNvSpPr/>
          <p:nvPr/>
        </p:nvSpPr>
        <p:spPr>
          <a:xfrm>
            <a:off x="10872948" y="8369960"/>
            <a:ext cx="274896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FF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back without paying, which is a</a:t>
            </a:r>
            <a:endParaRPr lang="en-US" sz="1139" dirty="0"/>
          </a:p>
        </p:txBody>
      </p:sp>
      <p:sp>
        <p:nvSpPr>
          <p:cNvPr id="457" name="Text 449"/>
          <p:cNvSpPr/>
          <p:nvPr/>
        </p:nvSpPr>
        <p:spPr>
          <a:xfrm>
            <a:off x="10872948" y="8550829"/>
            <a:ext cx="2748961" cy="20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9" dirty="0">
                <a:solidFill>
                  <a:srgbClr val="FF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shoplifting event.</a:t>
            </a:r>
            <a:endParaRPr lang="en-US" sz="1139" dirty="0"/>
          </a:p>
        </p:txBody>
      </p:sp>
      <p:sp>
        <p:nvSpPr>
          <p:cNvPr id="458" name="Shape 450"/>
          <p:cNvSpPr/>
          <p:nvPr/>
        </p:nvSpPr>
        <p:spPr>
          <a:xfrm>
            <a:off x="12283592" y="3812408"/>
            <a:ext cx="0" cy="173645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</a:ln>
        </p:spPr>
      </p:sp>
      <p:sp>
        <p:nvSpPr>
          <p:cNvPr id="459" name="Shape 451"/>
          <p:cNvSpPr/>
          <p:nvPr/>
        </p:nvSpPr>
        <p:spPr>
          <a:xfrm>
            <a:off x="12283592" y="3986052"/>
            <a:ext cx="-1331092" cy="0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  <a:tailEnd type="triangle"/>
          </a:ln>
        </p:spPr>
      </p:sp>
      <p:sp>
        <p:nvSpPr>
          <p:cNvPr id="460" name="Shape 452"/>
          <p:cNvSpPr/>
          <p:nvPr/>
        </p:nvSpPr>
        <p:spPr>
          <a:xfrm>
            <a:off x="10004908" y="3986052"/>
            <a:ext cx="-3335000" cy="0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</a:ln>
        </p:spPr>
      </p:sp>
      <p:sp>
        <p:nvSpPr>
          <p:cNvPr id="461" name="Shape 453"/>
          <p:cNvSpPr/>
          <p:nvPr/>
        </p:nvSpPr>
        <p:spPr>
          <a:xfrm>
            <a:off x="6669908" y="3986052"/>
            <a:ext cx="0" cy="122987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  <a:tailEnd type="triangle"/>
          </a:ln>
        </p:spPr>
      </p:sp>
      <p:sp>
        <p:nvSpPr>
          <p:cNvPr id="462" name="Shape 454"/>
          <p:cNvSpPr/>
          <p:nvPr/>
        </p:nvSpPr>
        <p:spPr>
          <a:xfrm>
            <a:off x="9968697" y="3523000"/>
            <a:ext cx="983803" cy="983803"/>
          </a:xfrm>
          <a:prstGeom prst="ellipse">
            <a:avLst/>
          </a:prstGeom>
          <a:solidFill>
            <a:srgbClr val="FFFFFF"/>
          </a:solidFill>
          <a:ln w="86810">
            <a:solidFill>
              <a:srgbClr val="F07A2B"/>
            </a:solidFill>
            <a:prstDash val="solid"/>
          </a:ln>
        </p:spPr>
      </p:sp>
      <p:sp>
        <p:nvSpPr>
          <p:cNvPr id="463" name="Shape 455"/>
          <p:cNvSpPr/>
          <p:nvPr/>
        </p:nvSpPr>
        <p:spPr>
          <a:xfrm>
            <a:off x="10332537" y="3701034"/>
            <a:ext cx="111374" cy="127284"/>
          </a:xfrm>
          <a:prstGeom prst="ellipse">
            <a:avLst/>
          </a:prstGeom>
          <a:solidFill>
            <a:srgbClr val="2CC7C9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64" name="Shape 456"/>
          <p:cNvSpPr/>
          <p:nvPr/>
        </p:nvSpPr>
        <p:spPr>
          <a:xfrm>
            <a:off x="10412181" y="3661258"/>
            <a:ext cx="103419" cy="143195"/>
          </a:xfrm>
          <a:prstGeom prst="ellipse">
            <a:avLst/>
          </a:prstGeom>
          <a:solidFill>
            <a:srgbClr val="57C8A4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65" name="Shape 457"/>
          <p:cNvSpPr/>
          <p:nvPr/>
        </p:nvSpPr>
        <p:spPr>
          <a:xfrm>
            <a:off x="10491734" y="3693079"/>
            <a:ext cx="103419" cy="127284"/>
          </a:xfrm>
          <a:prstGeom prst="ellipse">
            <a:avLst/>
          </a:prstGeom>
          <a:solidFill>
            <a:srgbClr val="F29BC6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66" name="Shape 458"/>
          <p:cNvSpPr/>
          <p:nvPr/>
        </p:nvSpPr>
        <p:spPr>
          <a:xfrm>
            <a:off x="10372405" y="3796497"/>
            <a:ext cx="111374" cy="119329"/>
          </a:xfrm>
          <a:prstGeom prst="ellipse">
            <a:avLst/>
          </a:prstGeom>
          <a:solidFill>
            <a:srgbClr val="F3C956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67" name="Shape 459"/>
          <p:cNvSpPr/>
          <p:nvPr/>
        </p:nvSpPr>
        <p:spPr>
          <a:xfrm>
            <a:off x="10475824" y="3796497"/>
            <a:ext cx="111374" cy="119329"/>
          </a:xfrm>
          <a:prstGeom prst="ellipse">
            <a:avLst/>
          </a:prstGeom>
          <a:solidFill>
            <a:srgbClr val="2CC7C9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68" name="Shape 460"/>
          <p:cNvSpPr/>
          <p:nvPr/>
        </p:nvSpPr>
        <p:spPr>
          <a:xfrm>
            <a:off x="10459913" y="3669213"/>
            <a:ext cx="0" cy="246705"/>
          </a:xfrm>
          <a:prstGeom prst="line">
            <a:avLst/>
          </a:prstGeom>
          <a:noFill/>
          <a:ln w="10345">
            <a:solidFill>
              <a:srgbClr val="4B5964"/>
            </a:solidFill>
            <a:prstDash val="solid"/>
          </a:ln>
        </p:spPr>
      </p:sp>
      <p:sp>
        <p:nvSpPr>
          <p:cNvPr id="469" name="Text 461"/>
          <p:cNvSpPr/>
          <p:nvPr/>
        </p:nvSpPr>
        <p:spPr>
          <a:xfrm>
            <a:off x="10062698" y="3920947"/>
            <a:ext cx="795802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4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1424" dirty="0"/>
          </a:p>
        </p:txBody>
      </p:sp>
      <p:sp>
        <p:nvSpPr>
          <p:cNvPr id="470" name="Text 462"/>
          <p:cNvSpPr/>
          <p:nvPr/>
        </p:nvSpPr>
        <p:spPr>
          <a:xfrm>
            <a:off x="10062698" y="4123487"/>
            <a:ext cx="795802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4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endParaRPr lang="en-US" sz="1424" dirty="0"/>
          </a:p>
        </p:txBody>
      </p:sp>
      <p:sp>
        <p:nvSpPr>
          <p:cNvPr id="471" name="Shape 463"/>
          <p:cNvSpPr/>
          <p:nvPr/>
        </p:nvSpPr>
        <p:spPr>
          <a:xfrm>
            <a:off x="12283592" y="6235842"/>
            <a:ext cx="0" cy="354513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</a:ln>
        </p:spPr>
      </p:sp>
      <p:sp>
        <p:nvSpPr>
          <p:cNvPr id="472" name="Shape 464"/>
          <p:cNvSpPr/>
          <p:nvPr/>
        </p:nvSpPr>
        <p:spPr>
          <a:xfrm>
            <a:off x="12283592" y="6590355"/>
            <a:ext cx="-1331092" cy="0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  <a:tailEnd type="triangle"/>
          </a:ln>
        </p:spPr>
      </p:sp>
      <p:sp>
        <p:nvSpPr>
          <p:cNvPr id="473" name="Shape 465"/>
          <p:cNvSpPr/>
          <p:nvPr/>
        </p:nvSpPr>
        <p:spPr>
          <a:xfrm>
            <a:off x="10012131" y="6590355"/>
            <a:ext cx="-3342223" cy="0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</a:ln>
        </p:spPr>
      </p:sp>
      <p:sp>
        <p:nvSpPr>
          <p:cNvPr id="474" name="Shape 466"/>
          <p:cNvSpPr/>
          <p:nvPr/>
        </p:nvSpPr>
        <p:spPr>
          <a:xfrm>
            <a:off x="6669908" y="6590355"/>
            <a:ext cx="0" cy="130211"/>
          </a:xfrm>
          <a:prstGeom prst="line">
            <a:avLst/>
          </a:prstGeom>
          <a:noFill/>
          <a:ln w="28937">
            <a:solidFill>
              <a:srgbClr val="F07A2B"/>
            </a:solidFill>
            <a:prstDash val="solid"/>
            <a:tailEnd type="triangle"/>
          </a:ln>
        </p:spPr>
      </p:sp>
      <p:sp>
        <p:nvSpPr>
          <p:cNvPr id="475" name="Shape 467"/>
          <p:cNvSpPr/>
          <p:nvPr/>
        </p:nvSpPr>
        <p:spPr>
          <a:xfrm>
            <a:off x="9975921" y="6149066"/>
            <a:ext cx="983803" cy="983803"/>
          </a:xfrm>
          <a:prstGeom prst="ellipse">
            <a:avLst/>
          </a:prstGeom>
          <a:solidFill>
            <a:srgbClr val="FFFFFF"/>
          </a:solidFill>
          <a:ln w="86810">
            <a:solidFill>
              <a:srgbClr val="F07A2B"/>
            </a:solidFill>
            <a:prstDash val="solid"/>
          </a:ln>
        </p:spPr>
      </p:sp>
      <p:sp>
        <p:nvSpPr>
          <p:cNvPr id="476" name="Shape 468"/>
          <p:cNvSpPr/>
          <p:nvPr/>
        </p:nvSpPr>
        <p:spPr>
          <a:xfrm>
            <a:off x="10339852" y="6327008"/>
            <a:ext cx="111374" cy="127284"/>
          </a:xfrm>
          <a:prstGeom prst="ellipse">
            <a:avLst/>
          </a:prstGeom>
          <a:solidFill>
            <a:srgbClr val="2CC7C9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77" name="Shape 469"/>
          <p:cNvSpPr/>
          <p:nvPr/>
        </p:nvSpPr>
        <p:spPr>
          <a:xfrm>
            <a:off x="10419405" y="6287232"/>
            <a:ext cx="103419" cy="143195"/>
          </a:xfrm>
          <a:prstGeom prst="ellipse">
            <a:avLst/>
          </a:prstGeom>
          <a:solidFill>
            <a:srgbClr val="57C8A4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78" name="Shape 470"/>
          <p:cNvSpPr/>
          <p:nvPr/>
        </p:nvSpPr>
        <p:spPr>
          <a:xfrm>
            <a:off x="10498958" y="6319053"/>
            <a:ext cx="103419" cy="127284"/>
          </a:xfrm>
          <a:prstGeom prst="ellipse">
            <a:avLst/>
          </a:prstGeom>
          <a:solidFill>
            <a:srgbClr val="F29BC6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79" name="Shape 471"/>
          <p:cNvSpPr/>
          <p:nvPr/>
        </p:nvSpPr>
        <p:spPr>
          <a:xfrm>
            <a:off x="10379629" y="6422471"/>
            <a:ext cx="111374" cy="119329"/>
          </a:xfrm>
          <a:prstGeom prst="ellipse">
            <a:avLst/>
          </a:prstGeom>
          <a:solidFill>
            <a:srgbClr val="F3C956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80" name="Shape 472"/>
          <p:cNvSpPr/>
          <p:nvPr/>
        </p:nvSpPr>
        <p:spPr>
          <a:xfrm>
            <a:off x="10483047" y="6422471"/>
            <a:ext cx="111374" cy="119329"/>
          </a:xfrm>
          <a:prstGeom prst="ellipse">
            <a:avLst/>
          </a:prstGeom>
          <a:solidFill>
            <a:srgbClr val="2CC7C9"/>
          </a:solidFill>
          <a:ln w="9549">
            <a:solidFill>
              <a:srgbClr val="4B5964"/>
            </a:solidFill>
            <a:prstDash val="solid"/>
          </a:ln>
        </p:spPr>
      </p:sp>
      <p:sp>
        <p:nvSpPr>
          <p:cNvPr id="481" name="Shape 473"/>
          <p:cNvSpPr/>
          <p:nvPr/>
        </p:nvSpPr>
        <p:spPr>
          <a:xfrm>
            <a:off x="10467137" y="6295187"/>
            <a:ext cx="0" cy="246705"/>
          </a:xfrm>
          <a:prstGeom prst="line">
            <a:avLst/>
          </a:prstGeom>
          <a:noFill/>
          <a:ln w="10345">
            <a:solidFill>
              <a:srgbClr val="4B5964"/>
            </a:solidFill>
            <a:prstDash val="solid"/>
          </a:ln>
        </p:spPr>
      </p:sp>
      <p:sp>
        <p:nvSpPr>
          <p:cNvPr id="482" name="Text 474"/>
          <p:cNvSpPr/>
          <p:nvPr/>
        </p:nvSpPr>
        <p:spPr>
          <a:xfrm>
            <a:off x="10070013" y="6546921"/>
            <a:ext cx="795802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4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1424" dirty="0"/>
          </a:p>
        </p:txBody>
      </p:sp>
      <p:sp>
        <p:nvSpPr>
          <p:cNvPr id="483" name="Text 475"/>
          <p:cNvSpPr/>
          <p:nvPr/>
        </p:nvSpPr>
        <p:spPr>
          <a:xfrm>
            <a:off x="10070013" y="6749461"/>
            <a:ext cx="795802" cy="23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4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endParaRPr lang="en-US" sz="1424" dirty="0"/>
          </a:p>
        </p:txBody>
      </p:sp>
      <p:sp>
        <p:nvSpPr>
          <p:cNvPr id="484" name="Shape 476"/>
          <p:cNvSpPr/>
          <p:nvPr/>
        </p:nvSpPr>
        <p:spPr>
          <a:xfrm>
            <a:off x="13883792" y="6610563"/>
            <a:ext cx="351587" cy="130211"/>
          </a:xfrm>
          <a:prstGeom prst="ellipse">
            <a:avLst/>
          </a:prstGeom>
          <a:solidFill>
            <a:srgbClr val="F28C18"/>
          </a:solidFill>
          <a:ln w="13022">
            <a:solidFill>
              <a:srgbClr val="67330E"/>
            </a:solidFill>
            <a:prstDash val="solid"/>
          </a:ln>
        </p:spPr>
      </p:sp>
      <p:sp>
        <p:nvSpPr>
          <p:cNvPr id="485" name="Shape 477"/>
          <p:cNvSpPr/>
          <p:nvPr/>
        </p:nvSpPr>
        <p:spPr>
          <a:xfrm>
            <a:off x="13831763" y="6578011"/>
            <a:ext cx="253929" cy="110642"/>
          </a:xfrm>
          <a:prstGeom prst="roundRect">
            <a:avLst/>
          </a:prstGeom>
          <a:solidFill>
            <a:srgbClr val="E77E10"/>
          </a:solidFill>
          <a:ln w="13022">
            <a:solidFill>
              <a:srgbClr val="67330E"/>
            </a:solidFill>
            <a:prstDash val="solid"/>
          </a:ln>
        </p:spPr>
      </p:sp>
      <p:sp>
        <p:nvSpPr>
          <p:cNvPr id="486" name="Shape 478"/>
          <p:cNvSpPr/>
          <p:nvPr/>
        </p:nvSpPr>
        <p:spPr>
          <a:xfrm>
            <a:off x="13890376" y="6682252"/>
            <a:ext cx="397124" cy="45537"/>
          </a:xfrm>
          <a:prstGeom prst="roundRect">
            <a:avLst/>
          </a:prstGeom>
          <a:solidFill>
            <a:srgbClr val="9D450D"/>
          </a:solidFill>
          <a:ln w="9766">
            <a:solidFill>
              <a:srgbClr val="67330E"/>
            </a:solidFill>
            <a:prstDash val="solid"/>
          </a:ln>
        </p:spPr>
      </p:sp>
      <p:sp>
        <p:nvSpPr>
          <p:cNvPr id="487" name="Shape 479"/>
          <p:cNvSpPr/>
          <p:nvPr/>
        </p:nvSpPr>
        <p:spPr>
          <a:xfrm>
            <a:off x="13870808" y="6727789"/>
            <a:ext cx="130211" cy="130211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488" name="Shape 480"/>
          <p:cNvSpPr/>
          <p:nvPr/>
        </p:nvSpPr>
        <p:spPr>
          <a:xfrm>
            <a:off x="13623371" y="6727789"/>
            <a:ext cx="130211" cy="130211"/>
          </a:xfrm>
          <a:prstGeom prst="ellipse">
            <a:avLst/>
          </a:prstGeom>
          <a:solidFill>
            <a:srgbClr val="2A2421"/>
          </a:solidFill>
          <a:ln w="7234">
            <a:solidFill>
              <a:srgbClr val="3A2B24"/>
            </a:solidFill>
            <a:prstDash val="solid"/>
          </a:ln>
        </p:spPr>
      </p:sp>
      <p:sp>
        <p:nvSpPr>
          <p:cNvPr id="489" name="Shape 481"/>
          <p:cNvSpPr/>
          <p:nvPr/>
        </p:nvSpPr>
        <p:spPr>
          <a:xfrm>
            <a:off x="13844748" y="6727789"/>
            <a:ext cx="319034" cy="292974"/>
          </a:xfrm>
          <a:prstGeom prst="ellipse">
            <a:avLst/>
          </a:prstGeom>
          <a:solidFill>
            <a:srgbClr val="FFF7E8"/>
          </a:solidFill>
          <a:ln w="13022">
            <a:solidFill>
              <a:srgbClr val="6B4731"/>
            </a:solidFill>
            <a:prstDash val="solid"/>
          </a:ln>
        </p:spPr>
      </p:sp>
      <p:sp>
        <p:nvSpPr>
          <p:cNvPr id="490" name="Shape 482"/>
          <p:cNvSpPr/>
          <p:nvPr/>
        </p:nvSpPr>
        <p:spPr>
          <a:xfrm>
            <a:off x="13799210" y="6799387"/>
            <a:ext cx="91166" cy="110642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1" name="Shape 483"/>
          <p:cNvSpPr/>
          <p:nvPr/>
        </p:nvSpPr>
        <p:spPr>
          <a:xfrm>
            <a:off x="13655924" y="6799387"/>
            <a:ext cx="91166" cy="110642"/>
          </a:xfrm>
          <a:prstGeom prst="ellipse">
            <a:avLst/>
          </a:prstGeom>
          <a:solidFill>
            <a:srgbClr val="3A30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2" name="Shape 484"/>
          <p:cNvSpPr/>
          <p:nvPr/>
        </p:nvSpPr>
        <p:spPr>
          <a:xfrm>
            <a:off x="13766658" y="6825447"/>
            <a:ext cx="32553" cy="390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3" name="Shape 485"/>
          <p:cNvSpPr/>
          <p:nvPr/>
        </p:nvSpPr>
        <p:spPr>
          <a:xfrm>
            <a:off x="13629955" y="6825447"/>
            <a:ext cx="32553" cy="390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4" name="Shape 486"/>
          <p:cNvSpPr/>
          <p:nvPr/>
        </p:nvSpPr>
        <p:spPr>
          <a:xfrm>
            <a:off x="13708045" y="6890553"/>
            <a:ext cx="52121" cy="39045"/>
          </a:xfrm>
          <a:prstGeom prst="ellipse">
            <a:avLst/>
          </a:prstGeom>
          <a:solidFill>
            <a:srgbClr val="2A2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5" name="Shape 487"/>
          <p:cNvSpPr/>
          <p:nvPr/>
        </p:nvSpPr>
        <p:spPr>
          <a:xfrm>
            <a:off x="13838255" y="7001195"/>
            <a:ext cx="319034" cy="273497"/>
          </a:xfrm>
          <a:prstGeom prst="roundRect">
            <a:avLst/>
          </a:prstGeom>
          <a:solidFill>
            <a:srgbClr val="F18717"/>
          </a:solidFill>
          <a:ln w="13022">
            <a:solidFill>
              <a:srgbClr val="6B3214"/>
            </a:solidFill>
            <a:prstDash val="solid"/>
          </a:ln>
        </p:spPr>
      </p:sp>
      <p:sp>
        <p:nvSpPr>
          <p:cNvPr id="496" name="Shape 488"/>
          <p:cNvSpPr/>
          <p:nvPr/>
        </p:nvSpPr>
        <p:spPr>
          <a:xfrm>
            <a:off x="13681984" y="7014271"/>
            <a:ext cx="0" cy="253929"/>
          </a:xfrm>
          <a:prstGeom prst="line">
            <a:avLst/>
          </a:prstGeom>
          <a:noFill/>
          <a:ln w="13022">
            <a:solidFill>
              <a:srgbClr val="8F461B"/>
            </a:solidFill>
            <a:prstDash val="solid"/>
          </a:ln>
        </p:spPr>
      </p:sp>
      <p:sp>
        <p:nvSpPr>
          <p:cNvPr id="497" name="Shape 489"/>
          <p:cNvSpPr/>
          <p:nvPr/>
        </p:nvSpPr>
        <p:spPr>
          <a:xfrm>
            <a:off x="13773150" y="7053316"/>
            <a:ext cx="-169255" cy="182331"/>
          </a:xfrm>
          <a:prstGeom prst="line">
            <a:avLst/>
          </a:prstGeom>
          <a:noFill/>
          <a:ln w="11719">
            <a:solidFill>
              <a:srgbClr val="6B3214"/>
            </a:solidFill>
            <a:prstDash val="solid"/>
          </a:ln>
        </p:spPr>
      </p:sp>
      <p:sp>
        <p:nvSpPr>
          <p:cNvPr id="498" name="Shape 490"/>
          <p:cNvSpPr/>
          <p:nvPr/>
        </p:nvSpPr>
        <p:spPr>
          <a:xfrm>
            <a:off x="13597402" y="7053316"/>
            <a:ext cx="156271" cy="182331"/>
          </a:xfrm>
          <a:prstGeom prst="line">
            <a:avLst/>
          </a:prstGeom>
          <a:noFill/>
          <a:ln w="11719">
            <a:solidFill>
              <a:srgbClr val="6B3214"/>
            </a:solidFill>
            <a:prstDash val="solid"/>
          </a:ln>
        </p:spPr>
      </p:sp>
      <p:sp>
        <p:nvSpPr>
          <p:cNvPr id="499" name="Shape 491"/>
          <p:cNvSpPr/>
          <p:nvPr/>
        </p:nvSpPr>
        <p:spPr>
          <a:xfrm>
            <a:off x="13896868" y="7066300"/>
            <a:ext cx="136703" cy="91166"/>
          </a:xfrm>
          <a:prstGeom prst="ellipse">
            <a:avLst/>
          </a:prstGeom>
          <a:solidFill>
            <a:srgbClr val="F18717"/>
          </a:solidFill>
          <a:ln w="13022">
            <a:solidFill>
              <a:srgbClr val="6B3214"/>
            </a:solidFill>
            <a:prstDash val="solid"/>
          </a:ln>
        </p:spPr>
      </p:sp>
      <p:sp>
        <p:nvSpPr>
          <p:cNvPr id="500" name="Shape 492"/>
          <p:cNvSpPr/>
          <p:nvPr/>
        </p:nvSpPr>
        <p:spPr>
          <a:xfrm>
            <a:off x="13935913" y="6845016"/>
            <a:ext cx="130211" cy="130211"/>
          </a:xfrm>
          <a:prstGeom prst="ellipse">
            <a:avLst/>
          </a:prstGeom>
          <a:solidFill>
            <a:srgbClr val="BDEAF6">
              <a:alpha val="90000"/>
            </a:srgbClr>
          </a:solidFill>
          <a:ln w="19532">
            <a:solidFill>
              <a:srgbClr val="4A6470"/>
            </a:solidFill>
            <a:prstDash val="solid"/>
          </a:ln>
        </p:spPr>
      </p:sp>
      <p:sp>
        <p:nvSpPr>
          <p:cNvPr id="501" name="Shape 493"/>
          <p:cNvSpPr/>
          <p:nvPr/>
        </p:nvSpPr>
        <p:spPr>
          <a:xfrm>
            <a:off x="13838255" y="6955658"/>
            <a:ext cx="-78090" cy="84673"/>
          </a:xfrm>
          <a:prstGeom prst="line">
            <a:avLst/>
          </a:prstGeom>
          <a:noFill/>
          <a:ln w="32554">
            <a:solidFill>
              <a:srgbClr val="4A64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PANDA Towards Generalist Video Anomaly Detection via Agentic AI Engine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19835" cy="914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PANDA: Towards Generalist Video Anomaly Detection via Agentic AI Engineer</dc:title>
  <dc:subject>Editable reconstruction of PANDA agentic video anomaly detection diagram</dc:subject>
  <dc:creator>OpenAI</dc:creator>
  <cp:lastModifiedBy>OpenAI</cp:lastModifiedBy>
  <cp:revision>1</cp:revision>
  <dcterms:created xsi:type="dcterms:W3CDTF">2026-09-07T13:44:07Z</dcterms:created>
  <dcterms:modified xsi:type="dcterms:W3CDTF">2026-09-07T13:44:07Z</dcterms:modified>
</cp:coreProperties>
</file>