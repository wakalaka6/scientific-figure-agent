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1695" cy="7047924"/>
  <p:notesSz cx="7047924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236"/>
            <a:ext cx="6683707" cy="4415336"/>
          </a:xfrm>
          <a:prstGeom prst="rect">
            <a:avLst/>
          </a:prstGeom>
          <a:solidFill>
            <a:srgbClr val="FAFFFF"/>
          </a:solidFill>
          <a:ln w="25559">
            <a:solidFill>
              <a:srgbClr val="54D2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79554" y="102236"/>
            <a:ext cx="5412141" cy="6907349"/>
          </a:xfrm>
          <a:prstGeom prst="rect">
            <a:avLst/>
          </a:prstGeom>
          <a:solidFill>
            <a:srgbClr val="FFF8F1"/>
          </a:solidFill>
          <a:ln w="25559">
            <a:solidFill>
              <a:srgbClr val="C859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81470"/>
            <a:ext cx="6690097" cy="2428115"/>
          </a:xfrm>
          <a:prstGeom prst="rect">
            <a:avLst/>
          </a:prstGeom>
          <a:solidFill>
            <a:srgbClr val="FBFFF7"/>
          </a:solidFill>
          <a:ln w="25559">
            <a:solidFill>
              <a:srgbClr val="2F8D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3802" y="115016"/>
            <a:ext cx="3897764" cy="31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11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Tree Generation</a:t>
            </a:r>
            <a:endParaRPr lang="en-US" sz="1811" dirty="0"/>
          </a:p>
        </p:txBody>
      </p:sp>
      <p:sp>
        <p:nvSpPr>
          <p:cNvPr id="6" name="Text 4"/>
          <p:cNvSpPr/>
          <p:nvPr/>
        </p:nvSpPr>
        <p:spPr>
          <a:xfrm>
            <a:off x="7763579" y="115016"/>
            <a:ext cx="3450480" cy="31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11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Instantiation via LLM</a:t>
            </a:r>
            <a:endParaRPr lang="en-US" sz="1811" dirty="0"/>
          </a:p>
        </p:txBody>
      </p:sp>
      <p:sp>
        <p:nvSpPr>
          <p:cNvPr id="7" name="Text 5"/>
          <p:cNvSpPr/>
          <p:nvPr/>
        </p:nvSpPr>
        <p:spPr>
          <a:xfrm>
            <a:off x="1150160" y="4638978"/>
            <a:ext cx="4408946" cy="345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61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Example Post-processing</a:t>
            </a:r>
            <a:endParaRPr lang="en-US" sz="1761" dirty="0"/>
          </a:p>
        </p:txBody>
      </p:sp>
      <p:sp>
        <p:nvSpPr>
          <p:cNvPr id="8" name="Shape 6"/>
          <p:cNvSpPr/>
          <p:nvPr/>
        </p:nvSpPr>
        <p:spPr>
          <a:xfrm>
            <a:off x="191693" y="428115"/>
            <a:ext cx="6261982" cy="3968052"/>
          </a:xfrm>
          <a:prstGeom prst="roundRect">
            <a:avLst>
              <a:gd name="adj" fmla="val 4500"/>
            </a:avLst>
          </a:prstGeom>
          <a:solidFill>
            <a:srgbClr val="EFF9F8"/>
          </a:solidFill>
          <a:ln w="19169">
            <a:solidFill>
              <a:srgbClr val="929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9489" y="760384"/>
            <a:ext cx="1853035" cy="2134186"/>
          </a:xfrm>
          <a:prstGeom prst="rect">
            <a:avLst/>
          </a:prstGeom>
          <a:solidFill>
            <a:srgbClr val="F6FFFF"/>
          </a:solidFill>
          <a:ln w="19169">
            <a:solidFill>
              <a:srgbClr val="279C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489" y="1182109"/>
            <a:ext cx="1853035" cy="0"/>
          </a:xfrm>
          <a:prstGeom prst="line">
            <a:avLst/>
          </a:prstGeom>
          <a:noFill/>
          <a:ln w="19169">
            <a:solidFill>
              <a:srgbClr val="279C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403" y="875399"/>
            <a:ext cx="1501598" cy="2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Rules</a:t>
            </a:r>
            <a:endParaRPr lang="en-US" sz="1509" dirty="0"/>
          </a:p>
        </p:txBody>
      </p:sp>
      <p:sp>
        <p:nvSpPr>
          <p:cNvPr id="12" name="Shape 10"/>
          <p:cNvSpPr/>
          <p:nvPr/>
        </p:nvSpPr>
        <p:spPr>
          <a:xfrm>
            <a:off x="453674" y="1284345"/>
            <a:ext cx="977636" cy="830671"/>
          </a:xfrm>
          <a:prstGeom prst="rect">
            <a:avLst/>
          </a:prstGeom>
          <a:solidFill>
            <a:srgbClr val="FFFFFF"/>
          </a:solidFill>
          <a:ln w="25559">
            <a:solidFill>
              <a:srgbClr val="54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35463"/>
            <a:ext cx="817892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Syllogism</a:t>
            </a:r>
            <a:endParaRPr lang="en-US" sz="1107" dirty="0"/>
          </a:p>
        </p:txBody>
      </p:sp>
      <p:sp>
        <p:nvSpPr>
          <p:cNvPr id="14" name="Shape 12"/>
          <p:cNvSpPr/>
          <p:nvPr/>
        </p:nvSpPr>
        <p:spPr>
          <a:xfrm>
            <a:off x="460064" y="1539936"/>
            <a:ext cx="964856" cy="0"/>
          </a:xfrm>
          <a:prstGeom prst="line">
            <a:avLst/>
          </a:prstGeom>
          <a:noFill/>
          <a:ln w="19169">
            <a:solidFill>
              <a:srgbClr val="54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31" y="1725240"/>
            <a:ext cx="223642" cy="25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409" dirty="0"/>
          </a:p>
        </p:txBody>
      </p:sp>
      <p:sp>
        <p:nvSpPr>
          <p:cNvPr id="16" name="Shape 14"/>
          <p:cNvSpPr/>
          <p:nvPr/>
        </p:nvSpPr>
        <p:spPr>
          <a:xfrm>
            <a:off x="760384" y="1642173"/>
            <a:ext cx="932907" cy="805112"/>
          </a:xfrm>
          <a:prstGeom prst="rect">
            <a:avLst/>
          </a:prstGeom>
          <a:solidFill>
            <a:srgbClr val="FFFFFF"/>
          </a:solidFill>
          <a:ln w="25559">
            <a:solidFill>
              <a:srgbClr val="54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112" y="1680511"/>
            <a:ext cx="843451" cy="242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Instantiation</a:t>
            </a:r>
            <a:endParaRPr lang="en-US" sz="1057" dirty="0"/>
          </a:p>
        </p:txBody>
      </p:sp>
      <p:sp>
        <p:nvSpPr>
          <p:cNvPr id="18" name="Shape 16"/>
          <p:cNvSpPr/>
          <p:nvPr/>
        </p:nvSpPr>
        <p:spPr>
          <a:xfrm>
            <a:off x="766773" y="1897764"/>
            <a:ext cx="920128" cy="0"/>
          </a:xfrm>
          <a:prstGeom prst="line">
            <a:avLst/>
          </a:prstGeom>
          <a:noFill/>
          <a:ln w="19169">
            <a:solidFill>
              <a:srgbClr val="54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671" y="2057508"/>
            <a:ext cx="223642" cy="25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409" dirty="0"/>
          </a:p>
        </p:txBody>
      </p:sp>
      <p:sp>
        <p:nvSpPr>
          <p:cNvPr id="20" name="Shape 18"/>
          <p:cNvSpPr/>
          <p:nvPr/>
        </p:nvSpPr>
        <p:spPr>
          <a:xfrm>
            <a:off x="958467" y="1987221"/>
            <a:ext cx="1118211" cy="843451"/>
          </a:xfrm>
          <a:prstGeom prst="rect">
            <a:avLst/>
          </a:prstGeom>
          <a:solidFill>
            <a:srgbClr val="FFFFFF"/>
          </a:solidFill>
          <a:ln w="25559">
            <a:solidFill>
              <a:srgbClr val="54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195" y="2025559"/>
            <a:ext cx="1028754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Modus Ponens</a:t>
            </a:r>
            <a:endParaRPr lang="en-US" sz="1057" dirty="0"/>
          </a:p>
        </p:txBody>
      </p:sp>
      <p:sp>
        <p:nvSpPr>
          <p:cNvPr id="22" name="Shape 20"/>
          <p:cNvSpPr/>
          <p:nvPr/>
        </p:nvSpPr>
        <p:spPr>
          <a:xfrm>
            <a:off x="964856" y="2249202"/>
            <a:ext cx="1105431" cy="0"/>
          </a:xfrm>
          <a:prstGeom prst="line">
            <a:avLst/>
          </a:prstGeom>
          <a:noFill/>
          <a:ln w="19169">
            <a:solidFill>
              <a:srgbClr val="54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4313" y="2300320"/>
            <a:ext cx="926518" cy="191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7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ℱ    ℱ → 𝒢</a:t>
            </a:r>
            <a:endParaRPr lang="en-US" sz="1157" dirty="0"/>
          </a:p>
        </p:txBody>
      </p:sp>
      <p:sp>
        <p:nvSpPr>
          <p:cNvPr id="24" name="Shape 22"/>
          <p:cNvSpPr/>
          <p:nvPr/>
        </p:nvSpPr>
        <p:spPr>
          <a:xfrm>
            <a:off x="1118211" y="2517572"/>
            <a:ext cx="734824" cy="0"/>
          </a:xfrm>
          <a:prstGeom prst="line">
            <a:avLst/>
          </a:prstGeom>
          <a:noFill/>
          <a:ln w="19169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1853" y="2536742"/>
            <a:ext cx="319489" cy="20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8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𝒢</a:t>
            </a:r>
            <a:endParaRPr lang="en-US" sz="1258" dirty="0"/>
          </a:p>
        </p:txBody>
      </p:sp>
      <p:sp>
        <p:nvSpPr>
          <p:cNvPr id="26" name="Shape 24"/>
          <p:cNvSpPr/>
          <p:nvPr/>
        </p:nvSpPr>
        <p:spPr>
          <a:xfrm>
            <a:off x="2012780" y="1578275"/>
            <a:ext cx="287540" cy="3897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80">
            <a:solidFill>
              <a:srgbClr val="0A0A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3898" y="1706071"/>
            <a:ext cx="185304" cy="0"/>
          </a:xfrm>
          <a:prstGeom prst="line">
            <a:avLst/>
          </a:prstGeom>
          <a:noFill/>
          <a:ln w="12780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63898" y="1757189"/>
            <a:ext cx="178914" cy="0"/>
          </a:xfrm>
          <a:prstGeom prst="line">
            <a:avLst/>
          </a:prstGeom>
          <a:noFill/>
          <a:ln w="12780">
            <a:solidFill>
              <a:srgbClr val="0A0A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3898" y="1808307"/>
            <a:ext cx="153355" cy="0"/>
          </a:xfrm>
          <a:prstGeom prst="line">
            <a:avLst/>
          </a:prstGeom>
          <a:noFill/>
          <a:ln w="12780">
            <a:solidFill>
              <a:srgbClr val="0A0A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3323" y="1648563"/>
            <a:ext cx="268371" cy="268371"/>
          </a:xfrm>
          <a:prstGeom prst="ellipse">
            <a:avLst/>
          </a:prstGeom>
          <a:solidFill>
            <a:srgbClr val="FFFFFF"/>
          </a:solidFill>
          <a:ln w="19169">
            <a:solidFill>
              <a:srgbClr val="0A0A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68051" y="1693291"/>
            <a:ext cx="178914" cy="178914"/>
          </a:xfrm>
          <a:prstGeom prst="ellipse">
            <a:avLst/>
          </a:prstGeom>
          <a:solidFill>
            <a:srgbClr val="FFFFFF"/>
          </a:solidFill>
          <a:ln w="9585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4186" y="1872205"/>
            <a:ext cx="95847" cy="95847"/>
          </a:xfrm>
          <a:prstGeom prst="line">
            <a:avLst/>
          </a:prstGeom>
          <a:noFill/>
          <a:ln w="25559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6390" y="1750799"/>
            <a:ext cx="102236" cy="0"/>
          </a:xfrm>
          <a:prstGeom prst="line">
            <a:avLst/>
          </a:prstGeom>
          <a:noFill/>
          <a:ln w="12780">
            <a:solidFill>
              <a:srgbClr val="0A0A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6390" y="1795527"/>
            <a:ext cx="83067" cy="0"/>
          </a:xfrm>
          <a:prstGeom prst="line">
            <a:avLst/>
          </a:prstGeom>
          <a:noFill/>
          <a:ln w="12780">
            <a:solidFill>
              <a:srgbClr val="0A0A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489" y="3137381"/>
            <a:ext cx="1987221" cy="600639"/>
          </a:xfrm>
          <a:prstGeom prst="rect">
            <a:avLst/>
          </a:prstGeom>
          <a:solidFill>
            <a:srgbClr val="D5F3F0"/>
          </a:solidFill>
          <a:ln w="6390">
            <a:solidFill>
              <a:srgbClr val="D5F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013" y="3214058"/>
            <a:ext cx="1642173" cy="46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</a:t>
            </a:r>
            <a:endParaRPr lang="en-US" sz="1459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Rules</a:t>
            </a:r>
            <a:endParaRPr lang="en-US" sz="1459" dirty="0"/>
          </a:p>
        </p:txBody>
      </p:sp>
      <p:sp>
        <p:nvSpPr>
          <p:cNvPr id="37" name="Shape 35"/>
          <p:cNvSpPr/>
          <p:nvPr/>
        </p:nvSpPr>
        <p:spPr>
          <a:xfrm>
            <a:off x="2440895" y="658147"/>
            <a:ext cx="89457" cy="3591055"/>
          </a:xfrm>
          <a:prstGeom prst="rect">
            <a:avLst/>
          </a:prstGeom>
          <a:solidFill>
            <a:srgbClr val="279C93">
              <a:alpha val="94000"/>
            </a:srgbClr>
          </a:solidFill>
          <a:ln w="639">
            <a:solidFill>
              <a:srgbClr val="279C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6167" y="568690"/>
            <a:ext cx="178914" cy="95847"/>
          </a:xfrm>
          <a:prstGeom prst="upArrow">
            <a:avLst/>
          </a:prstGeom>
          <a:solidFill>
            <a:srgbClr val="54D2CA"/>
          </a:solidFill>
          <a:ln w="6390">
            <a:solidFill>
              <a:srgbClr val="54D2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8115" y="3469649"/>
            <a:ext cx="766773" cy="421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C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C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Deduction</a:t>
            </a:r>
            <a:endParaRPr lang="en-US" sz="1157" dirty="0"/>
          </a:p>
        </p:txBody>
      </p:sp>
      <p:sp>
        <p:nvSpPr>
          <p:cNvPr id="40" name="Shape 38"/>
          <p:cNvSpPr/>
          <p:nvPr/>
        </p:nvSpPr>
        <p:spPr>
          <a:xfrm>
            <a:off x="3571886" y="1073483"/>
            <a:ext cx="376997" cy="696486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42493" y="1974441"/>
            <a:ext cx="440895" cy="996805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44090" y="2594250"/>
            <a:ext cx="939297" cy="376997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26518" y="1348243"/>
            <a:ext cx="287540" cy="1092652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29394" y="1974441"/>
            <a:ext cx="-415336" cy="466454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07669" y="2715655"/>
            <a:ext cx="-319489" cy="830671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76997" y="3284346"/>
            <a:ext cx="511182" cy="261981"/>
          </a:xfrm>
          <a:prstGeom prst="line">
            <a:avLst/>
          </a:prstGeom>
          <a:noFill/>
          <a:ln w="25559">
            <a:solidFill>
              <a:srgbClr val="A4A4A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17892" y="683706"/>
            <a:ext cx="1514377" cy="2651758"/>
          </a:xfrm>
          <a:prstGeom prst="rect">
            <a:avLst/>
          </a:prstGeom>
          <a:solidFill>
            <a:srgbClr val="FFFFFF">
              <a:alpha val="0"/>
            </a:srgbClr>
          </a:solidFill>
          <a:ln w="25559">
            <a:solidFill>
              <a:srgbClr val="EFA6B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035144" y="683706"/>
            <a:ext cx="1297125" cy="971246"/>
          </a:xfrm>
          <a:prstGeom prst="rect">
            <a:avLst/>
          </a:prstGeom>
          <a:solidFill>
            <a:srgbClr val="FFFFFF">
              <a:alpha val="0"/>
            </a:srgbClr>
          </a:solidFill>
          <a:ln w="25559">
            <a:solidFill>
              <a:srgbClr val="EFA6B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3035144" y="1654952"/>
            <a:ext cx="1297125" cy="428115"/>
          </a:xfrm>
          <a:prstGeom prst="rect">
            <a:avLst/>
          </a:prstGeom>
          <a:solidFill>
            <a:srgbClr val="FFFFFF">
              <a:alpha val="0"/>
            </a:srgbClr>
          </a:solidFill>
          <a:ln w="25559">
            <a:solidFill>
              <a:srgbClr val="EFA6B8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3079873" y="460064"/>
            <a:ext cx="1290735" cy="242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Instantiation</a:t>
            </a:r>
            <a:endParaRPr lang="en-US" sz="1358" dirty="0"/>
          </a:p>
        </p:txBody>
      </p:sp>
      <p:sp>
        <p:nvSpPr>
          <p:cNvPr id="51" name="Shape 49"/>
          <p:cNvSpPr/>
          <p:nvPr/>
        </p:nvSpPr>
        <p:spPr>
          <a:xfrm>
            <a:off x="4536742" y="1009585"/>
            <a:ext cx="1565495" cy="1833866"/>
          </a:xfrm>
          <a:prstGeom prst="rect">
            <a:avLst/>
          </a:prstGeom>
          <a:solidFill>
            <a:srgbClr val="FFFFFF">
              <a:alpha val="0"/>
            </a:srgbClr>
          </a:solidFill>
          <a:ln w="25559">
            <a:solidFill>
              <a:srgbClr val="EFA6B8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734825" y="1648563"/>
            <a:ext cx="1367412" cy="696486"/>
          </a:xfrm>
          <a:prstGeom prst="rect">
            <a:avLst/>
          </a:prstGeom>
          <a:solidFill>
            <a:srgbClr val="FFFFFF">
              <a:alpha val="0"/>
            </a:srgbClr>
          </a:solidFill>
          <a:ln w="25559">
            <a:solidFill>
              <a:srgbClr val="EFA6B8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4920129" y="785943"/>
            <a:ext cx="1105431" cy="242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Syllogism</a:t>
            </a:r>
            <a:endParaRPr lang="en-US" sz="1409" dirty="0"/>
          </a:p>
        </p:txBody>
      </p:sp>
      <p:sp>
        <p:nvSpPr>
          <p:cNvPr id="54" name="Shape 52"/>
          <p:cNvSpPr/>
          <p:nvPr/>
        </p:nvSpPr>
        <p:spPr>
          <a:xfrm>
            <a:off x="4102237" y="2345048"/>
            <a:ext cx="1546326" cy="1565495"/>
          </a:xfrm>
          <a:prstGeom prst="rect">
            <a:avLst/>
          </a:prstGeom>
          <a:solidFill>
            <a:srgbClr val="FFFFFF">
              <a:alpha val="0"/>
            </a:srgbClr>
          </a:solidFill>
          <a:ln w="25559">
            <a:solidFill>
              <a:srgbClr val="EFA6B8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5654953" y="3233227"/>
            <a:ext cx="760384" cy="485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Modus</a:t>
            </a:r>
            <a:endParaRPr lang="en-US" sz="135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Ponens</a:t>
            </a:r>
            <a:endParaRPr lang="en-US" sz="1358" dirty="0"/>
          </a:p>
        </p:txBody>
      </p:sp>
      <p:sp>
        <p:nvSpPr>
          <p:cNvPr id="56" name="Shape 54"/>
          <p:cNvSpPr/>
          <p:nvPr/>
        </p:nvSpPr>
        <p:spPr>
          <a:xfrm>
            <a:off x="3169330" y="824281"/>
            <a:ext cx="939297" cy="268371"/>
          </a:xfrm>
          <a:prstGeom prst="rect">
            <a:avLst/>
          </a:prstGeom>
          <a:solidFill>
            <a:srgbClr val="FFFFFF"/>
          </a:solidFill>
          <a:ln w="25559">
            <a:solidFill>
              <a:srgbClr val="F6A0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1278" y="824281"/>
            <a:ext cx="875399" cy="26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∀x (¬R(x))</a:t>
            </a:r>
            <a:endParaRPr lang="en-US" sz="1208" dirty="0"/>
          </a:p>
        </p:txBody>
      </p:sp>
      <p:sp>
        <p:nvSpPr>
          <p:cNvPr id="58" name="Shape 56"/>
          <p:cNvSpPr/>
          <p:nvPr/>
        </p:nvSpPr>
        <p:spPr>
          <a:xfrm>
            <a:off x="3674122" y="1757189"/>
            <a:ext cx="536741" cy="274760"/>
          </a:xfrm>
          <a:prstGeom prst="rect">
            <a:avLst/>
          </a:prstGeom>
          <a:solidFill>
            <a:srgbClr val="FFFFFF"/>
          </a:solidFill>
          <a:ln w="25559">
            <a:solidFill>
              <a:srgbClr val="A8D9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06071" y="1757189"/>
            <a:ext cx="472844" cy="27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¬R(a)</a:t>
            </a:r>
            <a:endParaRPr lang="en-US" sz="1258" dirty="0"/>
          </a:p>
        </p:txBody>
      </p:sp>
      <p:sp>
        <p:nvSpPr>
          <p:cNvPr id="60" name="Shape 58"/>
          <p:cNvSpPr/>
          <p:nvPr/>
        </p:nvSpPr>
        <p:spPr>
          <a:xfrm>
            <a:off x="2971246" y="2345048"/>
            <a:ext cx="926518" cy="274760"/>
          </a:xfrm>
          <a:prstGeom prst="rect">
            <a:avLst/>
          </a:prstGeom>
          <a:solidFill>
            <a:srgbClr val="FFFFFF"/>
          </a:solidFill>
          <a:ln w="25559">
            <a:solidFill>
              <a:srgbClr val="F6A0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03195" y="2345048"/>
            <a:ext cx="862620" cy="27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∨ (R(a))</a:t>
            </a:r>
            <a:endParaRPr lang="en-US" sz="1208" dirty="0"/>
          </a:p>
        </p:txBody>
      </p:sp>
      <p:sp>
        <p:nvSpPr>
          <p:cNvPr id="62" name="Shape 60"/>
          <p:cNvSpPr/>
          <p:nvPr/>
        </p:nvSpPr>
        <p:spPr>
          <a:xfrm>
            <a:off x="4223643" y="2971246"/>
            <a:ext cx="319489" cy="313099"/>
          </a:xfrm>
          <a:prstGeom prst="rect">
            <a:avLst/>
          </a:prstGeom>
          <a:solidFill>
            <a:srgbClr val="FFFFFF"/>
          </a:solidFill>
          <a:ln w="25559">
            <a:solidFill>
              <a:srgbClr val="A8D9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55592" y="2971246"/>
            <a:ext cx="255591" cy="31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endParaRPr lang="en-US" sz="1308" dirty="0"/>
          </a:p>
        </p:txBody>
      </p:sp>
      <p:sp>
        <p:nvSpPr>
          <p:cNvPr id="64" name="Shape 62"/>
          <p:cNvSpPr/>
          <p:nvPr/>
        </p:nvSpPr>
        <p:spPr>
          <a:xfrm>
            <a:off x="4613419" y="1124601"/>
            <a:ext cx="626198" cy="274760"/>
          </a:xfrm>
          <a:prstGeom prst="rect">
            <a:avLst/>
          </a:prstGeom>
          <a:solidFill>
            <a:srgbClr val="FFFFFF"/>
          </a:solidFill>
          <a:ln w="25559">
            <a:solidFill>
              <a:srgbClr val="F6A06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5368" y="1124601"/>
            <a:ext cx="562300" cy="27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→ T</a:t>
            </a:r>
            <a:endParaRPr lang="en-US" sz="1258" dirty="0"/>
          </a:p>
        </p:txBody>
      </p:sp>
      <p:sp>
        <p:nvSpPr>
          <p:cNvPr id="66" name="Shape 64"/>
          <p:cNvSpPr/>
          <p:nvPr/>
        </p:nvSpPr>
        <p:spPr>
          <a:xfrm>
            <a:off x="5329074" y="1718850"/>
            <a:ext cx="587860" cy="274760"/>
          </a:xfrm>
          <a:prstGeom prst="rect">
            <a:avLst/>
          </a:prstGeom>
          <a:solidFill>
            <a:srgbClr val="FFFFFF"/>
          </a:solidFill>
          <a:ln w="25559">
            <a:solidFill>
              <a:srgbClr val="F6A0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61023" y="1718850"/>
            <a:ext cx="523962" cy="27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→ Q</a:t>
            </a:r>
            <a:endParaRPr lang="en-US" sz="1258" dirty="0"/>
          </a:p>
        </p:txBody>
      </p:sp>
      <p:sp>
        <p:nvSpPr>
          <p:cNvPr id="68" name="Shape 66"/>
          <p:cNvSpPr/>
          <p:nvPr/>
        </p:nvSpPr>
        <p:spPr>
          <a:xfrm>
            <a:off x="4837061" y="2440895"/>
            <a:ext cx="715655" cy="274760"/>
          </a:xfrm>
          <a:prstGeom prst="rect">
            <a:avLst/>
          </a:prstGeom>
          <a:solidFill>
            <a:srgbClr val="FFFFFF"/>
          </a:solidFill>
          <a:ln w="25559">
            <a:solidFill>
              <a:srgbClr val="A8D9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9010" y="2440895"/>
            <a:ext cx="651757" cy="27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→ Q</a:t>
            </a:r>
            <a:endParaRPr lang="en-US" sz="1258" dirty="0"/>
          </a:p>
        </p:txBody>
      </p:sp>
      <p:sp>
        <p:nvSpPr>
          <p:cNvPr id="70" name="Shape 68"/>
          <p:cNvSpPr/>
          <p:nvPr/>
        </p:nvSpPr>
        <p:spPr>
          <a:xfrm>
            <a:off x="4715656" y="3546326"/>
            <a:ext cx="332268" cy="300320"/>
          </a:xfrm>
          <a:prstGeom prst="rect">
            <a:avLst/>
          </a:prstGeom>
          <a:solidFill>
            <a:srgbClr val="FFFFFF"/>
          </a:solidFill>
          <a:ln w="25559">
            <a:solidFill>
              <a:srgbClr val="00A75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47605" y="3546326"/>
            <a:ext cx="268371" cy="30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358" dirty="0"/>
          </a:p>
        </p:txBody>
      </p:sp>
      <p:sp>
        <p:nvSpPr>
          <p:cNvPr id="72" name="Shape 70"/>
          <p:cNvSpPr/>
          <p:nvPr/>
        </p:nvSpPr>
        <p:spPr>
          <a:xfrm>
            <a:off x="2824282" y="4102237"/>
            <a:ext cx="351438" cy="159744"/>
          </a:xfrm>
          <a:prstGeom prst="rect">
            <a:avLst/>
          </a:prstGeom>
          <a:solidFill>
            <a:srgbClr val="FFFFFF"/>
          </a:solidFill>
          <a:ln w="25559">
            <a:solidFill>
              <a:srgbClr val="00A75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26838" y="4063898"/>
            <a:ext cx="805112" cy="242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node</a:t>
            </a:r>
            <a:endParaRPr lang="en-US" sz="1157" dirty="0"/>
          </a:p>
        </p:txBody>
      </p:sp>
      <p:sp>
        <p:nvSpPr>
          <p:cNvPr id="74" name="Shape 72"/>
          <p:cNvSpPr/>
          <p:nvPr/>
        </p:nvSpPr>
        <p:spPr>
          <a:xfrm>
            <a:off x="4089458" y="4102237"/>
            <a:ext cx="351438" cy="159744"/>
          </a:xfrm>
          <a:prstGeom prst="rect">
            <a:avLst/>
          </a:prstGeom>
          <a:solidFill>
            <a:srgbClr val="FFFFFF"/>
          </a:solidFill>
          <a:ln w="25559">
            <a:solidFill>
              <a:srgbClr val="A8D9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11183" y="4063898"/>
            <a:ext cx="575080" cy="242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inode</a:t>
            </a:r>
            <a:endParaRPr lang="en-US" sz="1157" dirty="0"/>
          </a:p>
        </p:txBody>
      </p:sp>
      <p:sp>
        <p:nvSpPr>
          <p:cNvPr id="76" name="Shape 74"/>
          <p:cNvSpPr/>
          <p:nvPr/>
        </p:nvSpPr>
        <p:spPr>
          <a:xfrm>
            <a:off x="5086263" y="4102237"/>
            <a:ext cx="351438" cy="159744"/>
          </a:xfrm>
          <a:prstGeom prst="rect">
            <a:avLst/>
          </a:prstGeom>
          <a:solidFill>
            <a:srgbClr val="FFFFFF"/>
          </a:solidFill>
          <a:ln w="25559">
            <a:solidFill>
              <a:srgbClr val="F6A06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01598" y="4063898"/>
            <a:ext cx="811502" cy="242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node</a:t>
            </a:r>
            <a:endParaRPr lang="en-US" sz="1157" dirty="0"/>
          </a:p>
        </p:txBody>
      </p:sp>
      <p:sp>
        <p:nvSpPr>
          <p:cNvPr id="78" name="Shape 76"/>
          <p:cNvSpPr/>
          <p:nvPr/>
        </p:nvSpPr>
        <p:spPr>
          <a:xfrm>
            <a:off x="6504793" y="1009585"/>
            <a:ext cx="440895" cy="268371"/>
          </a:xfrm>
          <a:prstGeom prst="rightArrow">
            <a:avLst/>
          </a:prstGeom>
          <a:solidFill>
            <a:srgbClr val="F6A063"/>
          </a:solidFill>
          <a:ln w="6390">
            <a:solidFill>
              <a:srgbClr val="F6A06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04793" y="3450480"/>
            <a:ext cx="440895" cy="268371"/>
          </a:xfrm>
          <a:prstGeom prst="rightArrow">
            <a:avLst/>
          </a:prstGeom>
          <a:solidFill>
            <a:srgbClr val="A8D98A"/>
          </a:solidFill>
          <a:ln w="6390">
            <a:solidFill>
              <a:srgbClr val="A8D98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53675" y="5380193"/>
            <a:ext cx="434505" cy="281150"/>
          </a:xfrm>
          <a:prstGeom prst="leftArrow">
            <a:avLst/>
          </a:prstGeom>
          <a:solidFill>
            <a:srgbClr val="2E62B4"/>
          </a:solidFill>
          <a:ln w="6390">
            <a:solidFill>
              <a:srgbClr val="2E62B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5688" y="447284"/>
            <a:ext cx="1431310" cy="1246007"/>
          </a:xfrm>
          <a:prstGeom prst="roundRect">
            <a:avLst>
              <a:gd name="adj" fmla="val 4500"/>
            </a:avLst>
          </a:prstGeom>
          <a:solidFill>
            <a:srgbClr val="FFF0E4"/>
          </a:solidFill>
          <a:ln w="19169">
            <a:solidFill>
              <a:srgbClr val="F6A06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79873" y="511182"/>
            <a:ext cx="1214058" cy="22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Node List</a:t>
            </a:r>
            <a:endParaRPr lang="en-US" sz="1459" dirty="0"/>
          </a:p>
        </p:txBody>
      </p:sp>
      <p:sp>
        <p:nvSpPr>
          <p:cNvPr id="83" name="Text 81"/>
          <p:cNvSpPr/>
          <p:nvPr/>
        </p:nvSpPr>
        <p:spPr>
          <a:xfrm>
            <a:off x="7124602" y="805112"/>
            <a:ext cx="1054313" cy="734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∀x (¬R(x))</a:t>
            </a:r>
            <a:endParaRPr lang="en-US" sz="125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→ T</a:t>
            </a:r>
            <a:endParaRPr lang="en-US" sz="125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→ Q</a:t>
            </a:r>
            <a:endParaRPr lang="en-US" sz="125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8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∨ (R(a))</a:t>
            </a:r>
            <a:endParaRPr lang="en-US" sz="1258" dirty="0"/>
          </a:p>
        </p:txBody>
      </p:sp>
      <p:sp>
        <p:nvSpPr>
          <p:cNvPr id="84" name="Shape 82"/>
          <p:cNvSpPr/>
          <p:nvPr/>
        </p:nvSpPr>
        <p:spPr>
          <a:xfrm>
            <a:off x="9763580" y="447284"/>
            <a:ext cx="2172524" cy="1239617"/>
          </a:xfrm>
          <a:prstGeom prst="roundRect">
            <a:avLst>
              <a:gd name="adj" fmla="val 4500"/>
            </a:avLst>
          </a:prstGeom>
          <a:solidFill>
            <a:srgbClr val="DDE5F7"/>
          </a:solidFill>
          <a:ln w="19169">
            <a:solidFill>
              <a:srgbClr val="9BA1A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884986" y="517572"/>
            <a:ext cx="1789138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</a:t>
            </a:r>
            <a:endParaRPr lang="en-US" sz="1509" dirty="0"/>
          </a:p>
        </p:txBody>
      </p:sp>
      <p:sp>
        <p:nvSpPr>
          <p:cNvPr id="86" name="Text 84"/>
          <p:cNvSpPr/>
          <p:nvPr/>
        </p:nvSpPr>
        <p:spPr>
          <a:xfrm>
            <a:off x="9891375" y="747604"/>
            <a:ext cx="1853035" cy="39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8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select scenarios</a:t>
            </a:r>
            <a:endParaRPr lang="en-US" sz="130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8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  (num=3)</a:t>
            </a:r>
            <a:endParaRPr lang="en-US" sz="1308" dirty="0"/>
          </a:p>
        </p:txBody>
      </p:sp>
      <p:sp>
        <p:nvSpPr>
          <p:cNvPr id="87" name="Text 85"/>
          <p:cNvSpPr/>
          <p:nvPr/>
        </p:nvSpPr>
        <p:spPr>
          <a:xfrm>
            <a:off x="9884986" y="1169329"/>
            <a:ext cx="1948882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8" b="1" dirty="0">
                <a:solidFill>
                  <a:srgbClr val="D6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Public Health</a:t>
            </a:r>
            <a:endParaRPr lang="en-US" sz="1258" dirty="0"/>
          </a:p>
        </p:txBody>
      </p:sp>
      <p:sp>
        <p:nvSpPr>
          <p:cNvPr id="88" name="Text 86"/>
          <p:cNvSpPr/>
          <p:nvPr/>
        </p:nvSpPr>
        <p:spPr>
          <a:xfrm>
            <a:off x="9884986" y="1386582"/>
            <a:ext cx="1597444" cy="178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8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Economics</a:t>
            </a:r>
            <a:endParaRPr lang="en-US" sz="1258" dirty="0"/>
          </a:p>
        </p:txBody>
      </p:sp>
      <p:sp>
        <p:nvSpPr>
          <p:cNvPr id="89" name="Shape 87"/>
          <p:cNvSpPr/>
          <p:nvPr/>
        </p:nvSpPr>
        <p:spPr>
          <a:xfrm>
            <a:off x="9028755" y="817892"/>
            <a:ext cx="0" cy="76677"/>
          </a:xfrm>
          <a:prstGeom prst="line">
            <a:avLst/>
          </a:prstGeom>
          <a:noFill/>
          <a:ln w="12780">
            <a:solidFill>
              <a:srgbClr val="7B8DA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996807" y="785943"/>
            <a:ext cx="63898" cy="63898"/>
          </a:xfrm>
          <a:prstGeom prst="ellipse">
            <a:avLst/>
          </a:prstGeom>
          <a:solidFill>
            <a:srgbClr val="77C97C"/>
          </a:solidFill>
          <a:ln w="9585">
            <a:solidFill>
              <a:srgbClr val="4D9A6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53995" y="945687"/>
            <a:ext cx="89457" cy="178914"/>
          </a:xfrm>
          <a:prstGeom prst="roundRect">
            <a:avLst>
              <a:gd name="adj" fmla="val 4500"/>
            </a:avLst>
          </a:prstGeom>
          <a:solidFill>
            <a:srgbClr val="BFD8EF"/>
          </a:solidFill>
          <a:ln w="9585">
            <a:solidFill>
              <a:srgbClr val="88A9C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214059" y="945687"/>
            <a:ext cx="89457" cy="178914"/>
          </a:xfrm>
          <a:prstGeom prst="roundRect">
            <a:avLst>
              <a:gd name="adj" fmla="val 4500"/>
            </a:avLst>
          </a:prstGeom>
          <a:solidFill>
            <a:srgbClr val="BFD8EF"/>
          </a:solidFill>
          <a:ln w="9585">
            <a:solidFill>
              <a:srgbClr val="88A9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98723" y="869010"/>
            <a:ext cx="460064" cy="293930"/>
          </a:xfrm>
          <a:prstGeom prst="roundRect">
            <a:avLst>
              <a:gd name="adj" fmla="val 4500"/>
            </a:avLst>
          </a:prstGeom>
          <a:solidFill>
            <a:srgbClr val="D7E8F5"/>
          </a:solidFill>
          <a:ln w="12780">
            <a:solidFill>
              <a:srgbClr val="89A1B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62621" y="920128"/>
            <a:ext cx="332268" cy="172524"/>
          </a:xfrm>
          <a:prstGeom prst="roundRect">
            <a:avLst>
              <a:gd name="adj" fmla="val 4500"/>
            </a:avLst>
          </a:prstGeom>
          <a:solidFill>
            <a:srgbClr val="163B67"/>
          </a:solidFill>
          <a:ln w="6390">
            <a:solidFill>
              <a:srgbClr val="163B6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26519" y="977636"/>
            <a:ext cx="51118" cy="51118"/>
          </a:xfrm>
          <a:prstGeom prst="ellipse">
            <a:avLst/>
          </a:prstGeom>
          <a:solidFill>
            <a:srgbClr val="12D9DB"/>
          </a:solidFill>
          <a:ln w="639">
            <a:solidFill>
              <a:srgbClr val="12D9DB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079874" y="977636"/>
            <a:ext cx="51118" cy="51118"/>
          </a:xfrm>
          <a:prstGeom prst="ellipse">
            <a:avLst/>
          </a:prstGeom>
          <a:solidFill>
            <a:srgbClr val="12D9DB"/>
          </a:solidFill>
          <a:ln w="639">
            <a:solidFill>
              <a:srgbClr val="12D9DB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996807" y="1054313"/>
            <a:ext cx="63898" cy="0"/>
          </a:xfrm>
          <a:prstGeom prst="line">
            <a:avLst/>
          </a:prstGeom>
          <a:noFill/>
          <a:ln w="9585">
            <a:solidFill>
              <a:srgbClr val="50A8B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894570" y="1143770"/>
            <a:ext cx="268371" cy="223642"/>
          </a:xfrm>
          <a:prstGeom prst="ellipse">
            <a:avLst/>
          </a:prstGeom>
          <a:solidFill>
            <a:srgbClr val="BFD8EF"/>
          </a:solidFill>
          <a:ln w="9585">
            <a:solidFill>
              <a:srgbClr val="91AEC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90417" y="1194888"/>
            <a:ext cx="76677" cy="76677"/>
          </a:xfrm>
          <a:prstGeom prst="ellipse">
            <a:avLst/>
          </a:prstGeom>
          <a:solidFill>
            <a:srgbClr val="275C98"/>
          </a:solidFill>
          <a:ln w="639">
            <a:solidFill>
              <a:srgbClr val="275C9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94570" y="1201278"/>
            <a:ext cx="-83067" cy="83067"/>
          </a:xfrm>
          <a:prstGeom prst="line">
            <a:avLst/>
          </a:prstGeom>
          <a:noFill/>
          <a:ln w="25559">
            <a:solidFill>
              <a:srgbClr val="91AEC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62941" y="1201278"/>
            <a:ext cx="83067" cy="83067"/>
          </a:xfrm>
          <a:prstGeom prst="line">
            <a:avLst/>
          </a:prstGeom>
          <a:noFill/>
          <a:ln w="25559">
            <a:solidFill>
              <a:srgbClr val="91AEC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18212" y="792332"/>
            <a:ext cx="268371" cy="204473"/>
          </a:xfrm>
          <a:prstGeom prst="roundRect">
            <a:avLst>
              <a:gd name="adj" fmla="val 4500"/>
            </a:avLst>
          </a:prstGeom>
          <a:solidFill>
            <a:srgbClr val="68CA7B"/>
          </a:solidFill>
          <a:ln w="9585">
            <a:solidFill>
              <a:srgbClr val="4AB16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941" y="849840"/>
            <a:ext cx="178914" cy="0"/>
          </a:xfrm>
          <a:prstGeom prst="line">
            <a:avLst/>
          </a:prstGeom>
          <a:noFill/>
          <a:ln w="12780">
            <a:solidFill>
              <a:srgbClr val="409E5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62941" y="894569"/>
            <a:ext cx="159744" cy="0"/>
          </a:xfrm>
          <a:prstGeom prst="line">
            <a:avLst/>
          </a:prstGeom>
          <a:noFill/>
          <a:ln w="12780">
            <a:solidFill>
              <a:srgbClr val="409E5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162941" y="939297"/>
            <a:ext cx="127796" cy="0"/>
          </a:xfrm>
          <a:prstGeom prst="line">
            <a:avLst/>
          </a:prstGeom>
          <a:noFill/>
          <a:ln w="12780">
            <a:solidFill>
              <a:srgbClr val="409E5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376998" y="1003195"/>
            <a:ext cx="198083" cy="0"/>
          </a:xfrm>
          <a:prstGeom prst="line">
            <a:avLst/>
          </a:prstGeom>
          <a:noFill/>
          <a:ln w="12780">
            <a:solidFill>
              <a:srgbClr val="2E62B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75081" y="926518"/>
            <a:ext cx="191693" cy="153355"/>
          </a:xfrm>
          <a:prstGeom prst="rightArrow">
            <a:avLst/>
          </a:prstGeom>
          <a:solidFill>
            <a:srgbClr val="FFFFFF"/>
          </a:solidFill>
          <a:ln w="12780">
            <a:solidFill>
              <a:srgbClr val="2E62B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757190" y="1003195"/>
            <a:ext cx="-287540" cy="0"/>
          </a:xfrm>
          <a:prstGeom prst="line">
            <a:avLst/>
          </a:prstGeom>
          <a:noFill/>
          <a:ln w="12780">
            <a:solidFill>
              <a:srgbClr val="2E62B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277957" y="926518"/>
            <a:ext cx="191693" cy="153355"/>
          </a:xfrm>
          <a:prstGeom prst="leftArrow">
            <a:avLst/>
          </a:prstGeom>
          <a:solidFill>
            <a:srgbClr val="FFFFFF"/>
          </a:solidFill>
          <a:ln w="12780">
            <a:solidFill>
              <a:srgbClr val="2E62B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035145" y="1348243"/>
            <a:ext cx="0" cy="236422"/>
          </a:xfrm>
          <a:prstGeom prst="line">
            <a:avLst/>
          </a:prstGeom>
          <a:noFill/>
          <a:ln w="12780">
            <a:solidFill>
              <a:srgbClr val="2E62B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958468" y="1584665"/>
            <a:ext cx="153355" cy="191693"/>
          </a:xfrm>
          <a:prstGeom prst="downArrow">
            <a:avLst/>
          </a:prstGeom>
          <a:solidFill>
            <a:srgbClr val="FFFFFF"/>
          </a:solidFill>
          <a:ln w="12780">
            <a:solidFill>
              <a:srgbClr val="2E62B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175720" y="1322684"/>
            <a:ext cx="549521" cy="287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9" b="1" dirty="0">
                <a:solidFill>
                  <a:srgbClr val="C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409" dirty="0"/>
          </a:p>
        </p:txBody>
      </p:sp>
      <p:sp>
        <p:nvSpPr>
          <p:cNvPr id="113" name="Shape 111"/>
          <p:cNvSpPr/>
          <p:nvPr/>
        </p:nvSpPr>
        <p:spPr>
          <a:xfrm>
            <a:off x="9290736" y="1584665"/>
            <a:ext cx="185304" cy="185304"/>
          </a:xfrm>
          <a:prstGeom prst="ellipse">
            <a:avLst/>
          </a:prstGeom>
          <a:solidFill>
            <a:srgbClr val="FFFFFF"/>
          </a:solidFill>
          <a:ln w="12780">
            <a:solidFill>
              <a:srgbClr val="C9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290736" y="1578275"/>
            <a:ext cx="185304" cy="1916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6" b="1" dirty="0">
                <a:solidFill>
                  <a:srgbClr val="C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6" dirty="0"/>
          </a:p>
        </p:txBody>
      </p:sp>
      <p:sp>
        <p:nvSpPr>
          <p:cNvPr id="115" name="Shape 113"/>
          <p:cNvSpPr/>
          <p:nvPr/>
        </p:nvSpPr>
        <p:spPr>
          <a:xfrm>
            <a:off x="6945688" y="1795527"/>
            <a:ext cx="4607029" cy="1079872"/>
          </a:xfrm>
          <a:prstGeom prst="roundRect">
            <a:avLst>
              <a:gd name="adj" fmla="val 4500"/>
            </a:avLst>
          </a:prstGeom>
          <a:solidFill>
            <a:srgbClr val="F4F4F4"/>
          </a:solidFill>
          <a:ln w="19169">
            <a:solidFill>
              <a:srgbClr val="C7C9C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37381" y="1891374"/>
            <a:ext cx="4249202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Instantiated Realistic Reasoning Scenarios</a:t>
            </a:r>
            <a:endParaRPr lang="en-US" sz="1459" dirty="0"/>
          </a:p>
        </p:txBody>
      </p:sp>
      <p:sp>
        <p:nvSpPr>
          <p:cNvPr id="117" name="Text 115"/>
          <p:cNvSpPr/>
          <p:nvPr/>
        </p:nvSpPr>
        <p:spPr>
          <a:xfrm>
            <a:off x="7143771" y="2146965"/>
            <a:ext cx="4191694" cy="70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“P”: “The government initiated a nationwide vaccination campaign.”,</a:t>
            </a:r>
            <a:endParaRPr lang="en-US" sz="110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“Q”: “The spread of the disease was effectively contained.”,</a:t>
            </a:r>
            <a:endParaRPr lang="en-US" sz="110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“R(x)”: “Region x has achieved full vaccination coverage.”,</a:t>
            </a:r>
            <a:endParaRPr lang="en-US" sz="110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“T”: “Vaccination rates across regions increased significantly.”</a:t>
            </a:r>
            <a:endParaRPr lang="en-US" sz="1107" dirty="0"/>
          </a:p>
        </p:txBody>
      </p:sp>
      <p:sp>
        <p:nvSpPr>
          <p:cNvPr id="118" name="Shape 116"/>
          <p:cNvSpPr/>
          <p:nvPr/>
        </p:nvSpPr>
        <p:spPr>
          <a:xfrm>
            <a:off x="10696487" y="2920128"/>
            <a:ext cx="0" cy="191693"/>
          </a:xfrm>
          <a:prstGeom prst="line">
            <a:avLst/>
          </a:prstGeom>
          <a:noFill/>
          <a:ln w="12780">
            <a:solidFill>
              <a:srgbClr val="2E62B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619810" y="3111822"/>
            <a:ext cx="153355" cy="191693"/>
          </a:xfrm>
          <a:prstGeom prst="downArrow">
            <a:avLst/>
          </a:prstGeom>
          <a:solidFill>
            <a:srgbClr val="FFFFFF"/>
          </a:solidFill>
          <a:ln w="12780">
            <a:solidFill>
              <a:srgbClr val="2E62B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945688" y="2958467"/>
            <a:ext cx="3086262" cy="1252396"/>
          </a:xfrm>
          <a:prstGeom prst="roundRect">
            <a:avLst>
              <a:gd name="adj" fmla="val 4500"/>
            </a:avLst>
          </a:prstGeom>
          <a:solidFill>
            <a:srgbClr val="EAF6DE"/>
          </a:solidFill>
          <a:ln w="19169">
            <a:solidFill>
              <a:srgbClr val="A8D98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105432" y="3047924"/>
            <a:ext cx="2747604" cy="22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Inode Sequence based on depth</a:t>
            </a:r>
            <a:endParaRPr lang="en-US" sz="1459" dirty="0"/>
          </a:p>
        </p:txBody>
      </p:sp>
      <p:sp>
        <p:nvSpPr>
          <p:cNvPr id="122" name="Text 120"/>
          <p:cNvSpPr/>
          <p:nvPr/>
        </p:nvSpPr>
        <p:spPr>
          <a:xfrm>
            <a:off x="7105432" y="3335464"/>
            <a:ext cx="498403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Step1:</a:t>
            </a:r>
            <a:endParaRPr lang="en-US" sz="1157" dirty="0"/>
          </a:p>
        </p:txBody>
      </p:sp>
      <p:sp>
        <p:nvSpPr>
          <p:cNvPr id="123" name="Text 121"/>
          <p:cNvSpPr/>
          <p:nvPr/>
        </p:nvSpPr>
        <p:spPr>
          <a:xfrm>
            <a:off x="7610225" y="3329074"/>
            <a:ext cx="2236422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7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 → T), (T → Q)  ⊢  (P → Q)</a:t>
            </a:r>
            <a:endParaRPr lang="en-US" sz="1107" dirty="0"/>
          </a:p>
        </p:txBody>
      </p:sp>
      <p:sp>
        <p:nvSpPr>
          <p:cNvPr id="124" name="Text 122"/>
          <p:cNvSpPr/>
          <p:nvPr/>
        </p:nvSpPr>
        <p:spPr>
          <a:xfrm>
            <a:off x="7105432" y="3527157"/>
            <a:ext cx="498403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Step2:</a:t>
            </a:r>
            <a:endParaRPr lang="en-US" sz="1157" dirty="0"/>
          </a:p>
        </p:txBody>
      </p:sp>
      <p:sp>
        <p:nvSpPr>
          <p:cNvPr id="125" name="Text 123"/>
          <p:cNvSpPr/>
          <p:nvPr/>
        </p:nvSpPr>
        <p:spPr>
          <a:xfrm>
            <a:off x="7610225" y="3520767"/>
            <a:ext cx="2236422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7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∀x (¬R(x))  ⊢  ¬R(a)</a:t>
            </a:r>
            <a:endParaRPr lang="en-US" sz="1107" dirty="0"/>
          </a:p>
        </p:txBody>
      </p:sp>
      <p:sp>
        <p:nvSpPr>
          <p:cNvPr id="126" name="Text 124"/>
          <p:cNvSpPr/>
          <p:nvPr/>
        </p:nvSpPr>
        <p:spPr>
          <a:xfrm>
            <a:off x="7105432" y="3718850"/>
            <a:ext cx="498403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Step3:</a:t>
            </a:r>
            <a:endParaRPr lang="en-US" sz="1157" dirty="0"/>
          </a:p>
        </p:txBody>
      </p:sp>
      <p:sp>
        <p:nvSpPr>
          <p:cNvPr id="127" name="Text 125"/>
          <p:cNvSpPr/>
          <p:nvPr/>
        </p:nvSpPr>
        <p:spPr>
          <a:xfrm>
            <a:off x="7610225" y="3712461"/>
            <a:ext cx="2236422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7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(¬R(a) ∨ P), (¬R(a))  ⊢  P</a:t>
            </a:r>
            <a:endParaRPr lang="en-US" sz="1057" dirty="0"/>
          </a:p>
        </p:txBody>
      </p:sp>
      <p:sp>
        <p:nvSpPr>
          <p:cNvPr id="128" name="Text 126"/>
          <p:cNvSpPr/>
          <p:nvPr/>
        </p:nvSpPr>
        <p:spPr>
          <a:xfrm>
            <a:off x="7105432" y="3910544"/>
            <a:ext cx="498403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Step4:</a:t>
            </a:r>
            <a:endParaRPr lang="en-US" sz="1157" dirty="0"/>
          </a:p>
        </p:txBody>
      </p:sp>
      <p:sp>
        <p:nvSpPr>
          <p:cNvPr id="129" name="Text 127"/>
          <p:cNvSpPr/>
          <p:nvPr/>
        </p:nvSpPr>
        <p:spPr>
          <a:xfrm>
            <a:off x="7610225" y="3904154"/>
            <a:ext cx="2236422" cy="19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7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P, (P → Q)  ⊢  P</a:t>
            </a:r>
            <a:endParaRPr lang="en-US" sz="1107" dirty="0"/>
          </a:p>
        </p:txBody>
      </p:sp>
      <p:sp>
        <p:nvSpPr>
          <p:cNvPr id="130" name="Shape 128"/>
          <p:cNvSpPr/>
          <p:nvPr/>
        </p:nvSpPr>
        <p:spPr>
          <a:xfrm>
            <a:off x="10709267" y="3252397"/>
            <a:ext cx="0" cy="76677"/>
          </a:xfrm>
          <a:prstGeom prst="line">
            <a:avLst/>
          </a:prstGeom>
          <a:noFill/>
          <a:ln w="12780">
            <a:solidFill>
              <a:srgbClr val="7B8D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677318" y="3220448"/>
            <a:ext cx="63898" cy="63898"/>
          </a:xfrm>
          <a:prstGeom prst="ellipse">
            <a:avLst/>
          </a:prstGeom>
          <a:solidFill>
            <a:srgbClr val="77C97C"/>
          </a:solidFill>
          <a:ln w="9585">
            <a:solidFill>
              <a:srgbClr val="4D9A6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434506" y="3380192"/>
            <a:ext cx="89457" cy="178914"/>
          </a:xfrm>
          <a:prstGeom prst="roundRect">
            <a:avLst>
              <a:gd name="adj" fmla="val 4500"/>
            </a:avLst>
          </a:prstGeom>
          <a:solidFill>
            <a:srgbClr val="BFD8EF"/>
          </a:solidFill>
          <a:ln w="9585">
            <a:solidFill>
              <a:srgbClr val="88A9C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894570" y="3380192"/>
            <a:ext cx="89457" cy="178914"/>
          </a:xfrm>
          <a:prstGeom prst="roundRect">
            <a:avLst>
              <a:gd name="adj" fmla="val 4500"/>
            </a:avLst>
          </a:prstGeom>
          <a:solidFill>
            <a:srgbClr val="BFD8EF"/>
          </a:solidFill>
          <a:ln w="9585">
            <a:solidFill>
              <a:srgbClr val="88A9C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479235" y="3303515"/>
            <a:ext cx="460064" cy="293930"/>
          </a:xfrm>
          <a:prstGeom prst="roundRect">
            <a:avLst>
              <a:gd name="adj" fmla="val 4500"/>
            </a:avLst>
          </a:prstGeom>
          <a:solidFill>
            <a:srgbClr val="D7E8F5"/>
          </a:solidFill>
          <a:ln w="12780">
            <a:solidFill>
              <a:srgbClr val="89A1B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543133" y="3354633"/>
            <a:ext cx="332268" cy="172524"/>
          </a:xfrm>
          <a:prstGeom prst="roundRect">
            <a:avLst>
              <a:gd name="adj" fmla="val 4500"/>
            </a:avLst>
          </a:prstGeom>
          <a:solidFill>
            <a:srgbClr val="163B67"/>
          </a:solidFill>
          <a:ln w="6390">
            <a:solidFill>
              <a:srgbClr val="163B6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607030" y="3412141"/>
            <a:ext cx="51118" cy="51118"/>
          </a:xfrm>
          <a:prstGeom prst="ellipse">
            <a:avLst/>
          </a:prstGeom>
          <a:solidFill>
            <a:srgbClr val="12D9DB"/>
          </a:solidFill>
          <a:ln w="639">
            <a:solidFill>
              <a:srgbClr val="12D9DB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760385" y="3412141"/>
            <a:ext cx="51118" cy="51118"/>
          </a:xfrm>
          <a:prstGeom prst="ellipse">
            <a:avLst/>
          </a:prstGeom>
          <a:solidFill>
            <a:srgbClr val="12D9DB"/>
          </a:solidFill>
          <a:ln w="639">
            <a:solidFill>
              <a:srgbClr val="12D9DB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77318" y="3488818"/>
            <a:ext cx="63898" cy="0"/>
          </a:xfrm>
          <a:prstGeom prst="line">
            <a:avLst/>
          </a:prstGeom>
          <a:noFill/>
          <a:ln w="9585">
            <a:solidFill>
              <a:srgbClr val="50A8B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575082" y="3578275"/>
            <a:ext cx="268371" cy="223642"/>
          </a:xfrm>
          <a:prstGeom prst="ellipse">
            <a:avLst/>
          </a:prstGeom>
          <a:solidFill>
            <a:srgbClr val="BFD8EF"/>
          </a:solidFill>
          <a:ln w="9585">
            <a:solidFill>
              <a:srgbClr val="91AEC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70928" y="3629394"/>
            <a:ext cx="76677" cy="76677"/>
          </a:xfrm>
          <a:prstGeom prst="ellipse">
            <a:avLst/>
          </a:prstGeom>
          <a:solidFill>
            <a:srgbClr val="275C98"/>
          </a:solidFill>
          <a:ln w="639">
            <a:solidFill>
              <a:srgbClr val="275C98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575082" y="3635783"/>
            <a:ext cx="-83067" cy="83067"/>
          </a:xfrm>
          <a:prstGeom prst="line">
            <a:avLst/>
          </a:prstGeom>
          <a:noFill/>
          <a:ln w="25559">
            <a:solidFill>
              <a:srgbClr val="91AEC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843452" y="3635783"/>
            <a:ext cx="83067" cy="83067"/>
          </a:xfrm>
          <a:prstGeom prst="line">
            <a:avLst/>
          </a:prstGeom>
          <a:noFill/>
          <a:ln w="25559">
            <a:solidFill>
              <a:srgbClr val="91AEC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798724" y="3226838"/>
            <a:ext cx="268371" cy="204473"/>
          </a:xfrm>
          <a:prstGeom prst="roundRect">
            <a:avLst>
              <a:gd name="adj" fmla="val 4500"/>
            </a:avLst>
          </a:prstGeom>
          <a:solidFill>
            <a:srgbClr val="68CA7B"/>
          </a:solidFill>
          <a:ln w="9585">
            <a:solidFill>
              <a:srgbClr val="4AB16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843452" y="3284346"/>
            <a:ext cx="178914" cy="0"/>
          </a:xfrm>
          <a:prstGeom prst="line">
            <a:avLst/>
          </a:prstGeom>
          <a:noFill/>
          <a:ln w="12780">
            <a:solidFill>
              <a:srgbClr val="409E5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843452" y="3329074"/>
            <a:ext cx="159744" cy="0"/>
          </a:xfrm>
          <a:prstGeom prst="line">
            <a:avLst/>
          </a:prstGeom>
          <a:noFill/>
          <a:ln w="12780">
            <a:solidFill>
              <a:srgbClr val="409E5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843452" y="3373802"/>
            <a:ext cx="127796" cy="0"/>
          </a:xfrm>
          <a:prstGeom prst="line">
            <a:avLst/>
          </a:prstGeom>
          <a:noFill/>
          <a:ln w="12780">
            <a:solidFill>
              <a:srgbClr val="409E5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031950" y="3437700"/>
            <a:ext cx="217252" cy="0"/>
          </a:xfrm>
          <a:prstGeom prst="line">
            <a:avLst/>
          </a:prstGeom>
          <a:noFill/>
          <a:ln w="12780">
            <a:solidFill>
              <a:srgbClr val="2E62B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249203" y="3361023"/>
            <a:ext cx="191693" cy="153355"/>
          </a:xfrm>
          <a:prstGeom prst="rightArrow">
            <a:avLst/>
          </a:prstGeom>
          <a:solidFill>
            <a:srgbClr val="FFFFFF"/>
          </a:solidFill>
          <a:ln w="12780">
            <a:solidFill>
              <a:srgbClr val="2E62B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696487" y="3916934"/>
            <a:ext cx="0" cy="217252"/>
          </a:xfrm>
          <a:prstGeom prst="line">
            <a:avLst/>
          </a:prstGeom>
          <a:noFill/>
          <a:ln w="12780">
            <a:solidFill>
              <a:srgbClr val="2E62B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619810" y="4134186"/>
            <a:ext cx="153355" cy="191693"/>
          </a:xfrm>
          <a:prstGeom prst="downArrow">
            <a:avLst/>
          </a:prstGeom>
          <a:solidFill>
            <a:srgbClr val="FFFFFF"/>
          </a:solidFill>
          <a:ln w="12780">
            <a:solidFill>
              <a:srgbClr val="2E62B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837062" y="3872205"/>
            <a:ext cx="555911" cy="25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9" b="1" dirty="0">
                <a:solidFill>
                  <a:srgbClr val="C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409" dirty="0"/>
          </a:p>
        </p:txBody>
      </p:sp>
      <p:sp>
        <p:nvSpPr>
          <p:cNvPr id="152" name="Shape 150"/>
          <p:cNvSpPr/>
          <p:nvPr/>
        </p:nvSpPr>
        <p:spPr>
          <a:xfrm>
            <a:off x="10958468" y="4127796"/>
            <a:ext cx="185304" cy="185304"/>
          </a:xfrm>
          <a:prstGeom prst="ellipse">
            <a:avLst/>
          </a:prstGeom>
          <a:solidFill>
            <a:srgbClr val="FFFFFF"/>
          </a:solidFill>
          <a:ln w="12780">
            <a:solidFill>
              <a:srgbClr val="C9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958468" y="4121406"/>
            <a:ext cx="185304" cy="1916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6" b="1" dirty="0">
                <a:solidFill>
                  <a:srgbClr val="C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6" dirty="0"/>
          </a:p>
        </p:txBody>
      </p:sp>
      <p:sp>
        <p:nvSpPr>
          <p:cNvPr id="154" name="Shape 152"/>
          <p:cNvSpPr/>
          <p:nvPr/>
        </p:nvSpPr>
        <p:spPr>
          <a:xfrm>
            <a:off x="6945688" y="4345049"/>
            <a:ext cx="5175720" cy="2536742"/>
          </a:xfrm>
          <a:prstGeom prst="roundRect">
            <a:avLst>
              <a:gd name="adj" fmla="val 4500"/>
            </a:avLst>
          </a:prstGeom>
          <a:solidFill>
            <a:srgbClr val="F4F4F4"/>
          </a:solidFill>
          <a:ln w="19169">
            <a:solidFill>
              <a:srgbClr val="AEB2B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092653" y="4428116"/>
            <a:ext cx="4728435" cy="22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9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Reasoning Processes</a:t>
            </a:r>
            <a:endParaRPr lang="en-US" sz="1459" dirty="0"/>
          </a:p>
        </p:txBody>
      </p:sp>
      <p:sp>
        <p:nvSpPr>
          <p:cNvPr id="156" name="Text 154"/>
          <p:cNvSpPr/>
          <p:nvPr/>
        </p:nvSpPr>
        <p:spPr>
          <a:xfrm>
            <a:off x="7079873" y="4696486"/>
            <a:ext cx="562300" cy="178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208" dirty="0"/>
          </a:p>
        </p:txBody>
      </p:sp>
      <p:sp>
        <p:nvSpPr>
          <p:cNvPr id="157" name="Text 155"/>
          <p:cNvSpPr/>
          <p:nvPr/>
        </p:nvSpPr>
        <p:spPr>
          <a:xfrm>
            <a:off x="7648563" y="4683707"/>
            <a:ext cx="4185304" cy="587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rule (∀x ¬R(x)), we deduce that no region has achieved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vaccination coverage. Therefore, City Z has not achieved full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coverage (¬R(a)).</a:t>
            </a:r>
            <a:endParaRPr lang="en-US" sz="1157" dirty="0"/>
          </a:p>
        </p:txBody>
      </p:sp>
      <p:sp>
        <p:nvSpPr>
          <p:cNvPr id="158" name="Text 156"/>
          <p:cNvSpPr/>
          <p:nvPr/>
        </p:nvSpPr>
        <p:spPr>
          <a:xfrm>
            <a:off x="7079873" y="5354633"/>
            <a:ext cx="562300" cy="178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208" dirty="0"/>
          </a:p>
        </p:txBody>
      </p:sp>
      <p:sp>
        <p:nvSpPr>
          <p:cNvPr id="159" name="Text 157"/>
          <p:cNvSpPr/>
          <p:nvPr/>
        </p:nvSpPr>
        <p:spPr>
          <a:xfrm>
            <a:off x="7648563" y="5341854"/>
            <a:ext cx="4185304" cy="600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rule (P → T) and rule (T → Q), we deduce that if the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initiated a nationwide vaccination campaign (P), then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spread of the disease was effectively contained (Q).</a:t>
            </a:r>
            <a:endParaRPr lang="en-US" sz="1157" dirty="0"/>
          </a:p>
        </p:txBody>
      </p:sp>
      <p:sp>
        <p:nvSpPr>
          <p:cNvPr id="160" name="Text 158"/>
          <p:cNvSpPr/>
          <p:nvPr/>
        </p:nvSpPr>
        <p:spPr>
          <a:xfrm>
            <a:off x="7079873" y="6012780"/>
            <a:ext cx="562300" cy="178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208" dirty="0"/>
          </a:p>
        </p:txBody>
      </p:sp>
      <p:sp>
        <p:nvSpPr>
          <p:cNvPr id="161" name="Text 159"/>
          <p:cNvSpPr/>
          <p:nvPr/>
        </p:nvSpPr>
        <p:spPr>
          <a:xfrm>
            <a:off x="7648563" y="6000001"/>
            <a:ext cx="4185304" cy="3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rule (P ∨ R(a)) and step1 (¬R(a)), we deduce that the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initiated a nationwide vaccination campaign (P).</a:t>
            </a:r>
            <a:endParaRPr lang="en-US" sz="1157" dirty="0"/>
          </a:p>
        </p:txBody>
      </p:sp>
      <p:sp>
        <p:nvSpPr>
          <p:cNvPr id="162" name="Text 160"/>
          <p:cNvSpPr/>
          <p:nvPr/>
        </p:nvSpPr>
        <p:spPr>
          <a:xfrm>
            <a:off x="7079873" y="6453675"/>
            <a:ext cx="562300" cy="178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endParaRPr lang="en-US" sz="1208" dirty="0"/>
          </a:p>
        </p:txBody>
      </p:sp>
      <p:sp>
        <p:nvSpPr>
          <p:cNvPr id="163" name="Text 161"/>
          <p:cNvSpPr/>
          <p:nvPr/>
        </p:nvSpPr>
        <p:spPr>
          <a:xfrm>
            <a:off x="7648563" y="6440896"/>
            <a:ext cx="4185304" cy="3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step2 (P → Q) and step3 (P), we deduce that the spread</a:t>
            </a:r>
            <a:endParaRPr lang="en-US" sz="1157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7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disease was effectively contained (Q).</a:t>
            </a:r>
            <a:endParaRPr lang="en-US" sz="1157" dirty="0"/>
          </a:p>
        </p:txBody>
      </p:sp>
      <p:sp>
        <p:nvSpPr>
          <p:cNvPr id="164" name="Text 162"/>
          <p:cNvSpPr/>
          <p:nvPr/>
        </p:nvSpPr>
        <p:spPr>
          <a:xfrm>
            <a:off x="178914" y="4952077"/>
            <a:ext cx="1150160" cy="22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Premises:</a:t>
            </a:r>
            <a:endParaRPr lang="en-US" sz="1560" dirty="0"/>
          </a:p>
        </p:txBody>
      </p:sp>
      <p:sp>
        <p:nvSpPr>
          <p:cNvPr id="165" name="Text 163"/>
          <p:cNvSpPr/>
          <p:nvPr/>
        </p:nvSpPr>
        <p:spPr>
          <a:xfrm>
            <a:off x="178914" y="5194889"/>
            <a:ext cx="6325880" cy="39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8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“rule1”: “No region has achieved full vaccination coverage.”,  “rule2”: “If the</a:t>
            </a:r>
            <a:endParaRPr lang="en-US" sz="125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8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initiated a nationwide vaccination campaign, then vaccination rates across</a:t>
            </a:r>
            <a:endParaRPr lang="en-US" sz="1258" dirty="0"/>
          </a:p>
        </p:txBody>
      </p:sp>
      <p:sp>
        <p:nvSpPr>
          <p:cNvPr id="166" name="Text 164"/>
          <p:cNvSpPr/>
          <p:nvPr/>
        </p:nvSpPr>
        <p:spPr>
          <a:xfrm>
            <a:off x="178914" y="5699681"/>
            <a:ext cx="6325880" cy="22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8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increased significantly.”  “rule3”: …, “rule4”: …,</a:t>
            </a:r>
            <a:endParaRPr lang="en-US" sz="1258" dirty="0"/>
          </a:p>
        </p:txBody>
      </p:sp>
      <p:sp>
        <p:nvSpPr>
          <p:cNvPr id="167" name="Text 165"/>
          <p:cNvSpPr/>
          <p:nvPr/>
        </p:nvSpPr>
        <p:spPr>
          <a:xfrm>
            <a:off x="178914" y="5961662"/>
            <a:ext cx="1597444" cy="23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conclusions:</a:t>
            </a:r>
            <a:endParaRPr lang="en-US" sz="1560" dirty="0"/>
          </a:p>
        </p:txBody>
      </p:sp>
      <p:sp>
        <p:nvSpPr>
          <p:cNvPr id="168" name="Text 166"/>
          <p:cNvSpPr/>
          <p:nvPr/>
        </p:nvSpPr>
        <p:spPr>
          <a:xfrm>
            <a:off x="178914" y="6204474"/>
            <a:ext cx="4396167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“The spread of the disease was effectively contained.”</a:t>
            </a:r>
            <a:endParaRPr lang="en-US" sz="1258" dirty="0"/>
          </a:p>
        </p:txBody>
      </p:sp>
      <p:sp>
        <p:nvSpPr>
          <p:cNvPr id="169" name="Shape 167"/>
          <p:cNvSpPr/>
          <p:nvPr/>
        </p:nvSpPr>
        <p:spPr>
          <a:xfrm>
            <a:off x="4447285" y="6172525"/>
            <a:ext cx="747604" cy="217252"/>
          </a:xfrm>
          <a:prstGeom prst="rect">
            <a:avLst/>
          </a:prstGeom>
          <a:solidFill>
            <a:srgbClr val="A8D98A"/>
          </a:solidFill>
          <a:ln w="639">
            <a:solidFill>
              <a:srgbClr val="A8D98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447285" y="6172525"/>
            <a:ext cx="747604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208" dirty="0"/>
          </a:p>
        </p:txBody>
      </p:sp>
      <p:sp>
        <p:nvSpPr>
          <p:cNvPr id="171" name="Text 169"/>
          <p:cNvSpPr/>
          <p:nvPr/>
        </p:nvSpPr>
        <p:spPr>
          <a:xfrm>
            <a:off x="178914" y="6440896"/>
            <a:ext cx="6325880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“Country a is making great efforts to develop the new energy vehicle industry.”</a:t>
            </a:r>
            <a:endParaRPr lang="en-US" sz="1208" dirty="0"/>
          </a:p>
        </p:txBody>
      </p:sp>
      <p:sp>
        <p:nvSpPr>
          <p:cNvPr id="172" name="Shape 170"/>
          <p:cNvSpPr/>
          <p:nvPr/>
        </p:nvSpPr>
        <p:spPr>
          <a:xfrm>
            <a:off x="5578276" y="6460065"/>
            <a:ext cx="926518" cy="198083"/>
          </a:xfrm>
          <a:prstGeom prst="rect">
            <a:avLst/>
          </a:prstGeom>
          <a:solidFill>
            <a:srgbClr val="A2A2A2"/>
          </a:solidFill>
          <a:ln w="639">
            <a:solidFill>
              <a:srgbClr val="A2A2A2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578276" y="6453675"/>
            <a:ext cx="926518" cy="20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1157" dirty="0"/>
          </a:p>
        </p:txBody>
      </p:sp>
      <p:sp>
        <p:nvSpPr>
          <p:cNvPr id="174" name="Text 172"/>
          <p:cNvSpPr/>
          <p:nvPr/>
        </p:nvSpPr>
        <p:spPr>
          <a:xfrm>
            <a:off x="178914" y="6683707"/>
            <a:ext cx="3961662" cy="217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8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“City Z has achieved full vaccination coverage.”</a:t>
            </a:r>
            <a:endParaRPr lang="en-US" sz="1208" dirty="0"/>
          </a:p>
        </p:txBody>
      </p:sp>
      <p:sp>
        <p:nvSpPr>
          <p:cNvPr id="175" name="Shape 173"/>
          <p:cNvSpPr/>
          <p:nvPr/>
        </p:nvSpPr>
        <p:spPr>
          <a:xfrm>
            <a:off x="3980831" y="6683707"/>
            <a:ext cx="753994" cy="198083"/>
          </a:xfrm>
          <a:prstGeom prst="rect">
            <a:avLst/>
          </a:prstGeom>
          <a:solidFill>
            <a:srgbClr val="F39BB0"/>
          </a:solidFill>
          <a:ln w="639">
            <a:solidFill>
              <a:srgbClr val="F39BB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980831" y="6677317"/>
            <a:ext cx="753994" cy="20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endParaRPr lang="en-US" sz="115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LogicTree Improving Complex Reasoning of LLMs via Instantiated Multi-step Synthetic Logical Data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9"/>
            <a:ext cx="12191695" cy="7022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Tree Generation and Instantiation via LLM</dc:title>
  <dc:subject>Editable reconstruction of a logical tree generation diagram</dc:subject>
  <dc:creator>OpenAI</dc:creator>
  <cp:lastModifiedBy>OpenAI</cp:lastModifiedBy>
  <cp:revision>1</cp:revision>
  <dcterms:created xsi:type="dcterms:W3CDTF">2026-09-07T14:35:35Z</dcterms:created>
  <dcterms:modified xsi:type="dcterms:W3CDTF">2026-09-07T14:35:35Z</dcterms:modified>
</cp:coreProperties>
</file>