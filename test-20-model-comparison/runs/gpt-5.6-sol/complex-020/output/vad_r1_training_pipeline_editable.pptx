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4876800" cy="4290060"/>
          </a:xfrm>
          <a:prstGeom prst="rect">
            <a:avLst/>
          </a:prstGeom>
          <a:solidFill>
            <a:srgbClr val="FFFFFF">
              <a:alpha val="0"/>
            </a:srgbClr>
          </a:solidFill>
          <a:ln w="20955">
            <a:solidFill>
              <a:srgbClr val="A1A1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510540"/>
            <a:ext cx="4876800" cy="0"/>
          </a:xfrm>
          <a:prstGeom prst="line">
            <a:avLst/>
          </a:prstGeom>
          <a:noFill/>
          <a:ln w="15240">
            <a:solidFill>
              <a:srgbClr val="A1A1A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67640" y="175260"/>
            <a:ext cx="46863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Stage 1: SFT with Reasoning Annotations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5740" y="777240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Untrimmed</a:t>
            </a:r>
            <a:endParaRPr lang="en-US" sz="13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Video</a:t>
            </a:r>
            <a:endParaRPr lang="en-US" sz="138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670560"/>
            <a:ext cx="2971800" cy="5867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81300" y="1264920"/>
            <a:ext cx="0" cy="220980"/>
          </a:xfrm>
          <a:prstGeom prst="line">
            <a:avLst/>
          </a:prstGeom>
          <a:noFill/>
          <a:ln w="3048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373380" y="1668780"/>
            <a:ext cx="8001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Prompt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1270864" y="1596085"/>
            <a:ext cx="262433" cy="181204"/>
          </a:xfrm>
          <a:prstGeom prst="roundRect">
            <a:avLst>
              <a:gd name="adj" fmla="val 6897"/>
            </a:avLst>
          </a:prstGeom>
          <a:solidFill>
            <a:srgbClr val="BFD7ED"/>
          </a:solidFill>
          <a:ln w="11455">
            <a:solidFill>
              <a:srgbClr val="0C0C0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14602" y="1639824"/>
            <a:ext cx="174955" cy="0"/>
          </a:xfrm>
          <a:prstGeom prst="line">
            <a:avLst/>
          </a:prstGeom>
          <a:noFill/>
          <a:ln w="9373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314602" y="1677314"/>
            <a:ext cx="131216" cy="0"/>
          </a:xfrm>
          <a:prstGeom prst="line">
            <a:avLst/>
          </a:prstGeom>
          <a:noFill/>
          <a:ln w="9373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127150" y="1671066"/>
            <a:ext cx="143713" cy="156210"/>
          </a:xfrm>
          <a:prstGeom prst="ellipse">
            <a:avLst/>
          </a:prstGeom>
          <a:solidFill>
            <a:srgbClr val="F2C4A7"/>
          </a:solidFill>
          <a:ln w="11455">
            <a:solidFill>
              <a:srgbClr val="0C0C0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0902" y="1627327"/>
            <a:ext cx="168707" cy="168707"/>
          </a:xfrm>
          <a:prstGeom prst="arc">
            <a:avLst/>
          </a:prstGeom>
          <a:solidFill>
            <a:srgbClr val="FFFFFF">
              <a:alpha val="0"/>
            </a:srgbClr>
          </a:solidFill>
          <a:ln w="31242">
            <a:solidFill>
              <a:srgbClr val="4B3C3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2157" y="1808531"/>
            <a:ext cx="237439" cy="156210"/>
          </a:xfrm>
          <a:prstGeom prst="trapezoid">
            <a:avLst/>
          </a:prstGeom>
          <a:solidFill>
            <a:srgbClr val="C7EAB4"/>
          </a:solidFill>
          <a:ln w="11455">
            <a:solidFill>
              <a:srgbClr val="0C0C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02131" y="1821028"/>
            <a:ext cx="31242" cy="137465"/>
          </a:xfrm>
          <a:prstGeom prst="line">
            <a:avLst/>
          </a:prstGeom>
          <a:noFill/>
          <a:ln w="24994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1214628" y="1871015"/>
            <a:ext cx="74981" cy="-12497"/>
          </a:xfrm>
          <a:prstGeom prst="line">
            <a:avLst/>
          </a:prstGeom>
          <a:noFill/>
          <a:ln w="9373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1623060" y="1790700"/>
            <a:ext cx="609600" cy="0"/>
          </a:xfrm>
          <a:prstGeom prst="line">
            <a:avLst/>
          </a:prstGeom>
          <a:noFill/>
          <a:ln w="3048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667381" y="1479804"/>
            <a:ext cx="0" cy="72009"/>
          </a:xfrm>
          <a:prstGeom prst="line">
            <a:avLst/>
          </a:prstGeom>
          <a:noFill/>
          <a:ln w="16002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2627376" y="1447800"/>
            <a:ext cx="80010" cy="64008"/>
          </a:xfrm>
          <a:prstGeom prst="ellipse">
            <a:avLst/>
          </a:prstGeom>
          <a:solidFill>
            <a:srgbClr val="F04444"/>
          </a:solidFill>
          <a:ln w="11001">
            <a:solidFill>
              <a:srgbClr val="0C0C0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03398" y="1431798"/>
            <a:ext cx="168021" cy="216027"/>
          </a:xfrm>
          <a:prstGeom prst="lightningBolt">
            <a:avLst/>
          </a:prstGeom>
          <a:solidFill>
            <a:srgbClr val="FF5A36"/>
          </a:solidFill>
          <a:ln w="11001">
            <a:solidFill>
              <a:srgbClr val="0C0C0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59405" y="1495806"/>
            <a:ext cx="72009" cy="120015"/>
          </a:xfrm>
          <a:prstGeom prst="lightningBolt">
            <a:avLst/>
          </a:prstGeom>
          <a:solidFill>
            <a:srgbClr val="FFD7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79345" y="1551813"/>
            <a:ext cx="520065" cy="416052"/>
          </a:xfrm>
          <a:prstGeom prst="roundRect">
            <a:avLst>
              <a:gd name="adj" fmla="val 21154"/>
            </a:avLst>
          </a:prstGeom>
          <a:solidFill>
            <a:srgbClr val="96D6DE"/>
          </a:solidFill>
          <a:ln w="14669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419350" y="1591818"/>
            <a:ext cx="440055" cy="296037"/>
          </a:xfrm>
          <a:prstGeom prst="roundRect">
            <a:avLst>
              <a:gd name="adj" fmla="val 21622"/>
            </a:avLst>
          </a:prstGeom>
          <a:solidFill>
            <a:srgbClr val="E8FAFB"/>
          </a:solidFill>
          <a:ln w="10268">
            <a:solidFill>
              <a:srgbClr val="275D8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491359" y="1671828"/>
            <a:ext cx="56007" cy="72009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31389" y="1671828"/>
            <a:ext cx="56007" cy="72009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579370" y="1807845"/>
            <a:ext cx="112014" cy="0"/>
          </a:xfrm>
          <a:prstGeom prst="line">
            <a:avLst/>
          </a:prstGeom>
          <a:noFill/>
          <a:ln w="16002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2443353" y="1967865"/>
            <a:ext cx="392049" cy="216027"/>
          </a:xfrm>
          <a:prstGeom prst="roundRect">
            <a:avLst>
              <a:gd name="adj" fmla="val 14815"/>
            </a:avLst>
          </a:prstGeom>
          <a:solidFill>
            <a:srgbClr val="5DAEC1"/>
          </a:solidFill>
          <a:ln w="14669">
            <a:solidFill>
              <a:srgbClr val="0C0C0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43353" y="1991868"/>
            <a:ext cx="392049" cy="13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3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</a:t>
            </a:r>
            <a:endParaRPr lang="en-US" sz="693" dirty="0"/>
          </a:p>
        </p:txBody>
      </p:sp>
      <p:sp>
        <p:nvSpPr>
          <p:cNvPr id="29" name="Shape 26"/>
          <p:cNvSpPr/>
          <p:nvPr/>
        </p:nvSpPr>
        <p:spPr>
          <a:xfrm>
            <a:off x="2371344" y="2007870"/>
            <a:ext cx="-56007" cy="96012"/>
          </a:xfrm>
          <a:prstGeom prst="line">
            <a:avLst/>
          </a:prstGeom>
          <a:noFill/>
          <a:ln w="24003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>
            <a:off x="2899410" y="2007870"/>
            <a:ext cx="64008" cy="96012"/>
          </a:xfrm>
          <a:prstGeom prst="line">
            <a:avLst/>
          </a:prstGeom>
          <a:noFill/>
          <a:ln w="24003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2539365" y="2183892"/>
            <a:ext cx="-40005" cy="56007"/>
          </a:xfrm>
          <a:prstGeom prst="line">
            <a:avLst/>
          </a:prstGeom>
          <a:noFill/>
          <a:ln w="24003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2739390" y="2183892"/>
            <a:ext cx="48006" cy="56007"/>
          </a:xfrm>
          <a:prstGeom prst="line">
            <a:avLst/>
          </a:prstGeom>
          <a:noFill/>
          <a:ln w="24003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/>
          <p:nvPr/>
        </p:nvSpPr>
        <p:spPr>
          <a:xfrm>
            <a:off x="3131820" y="1485900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MLLM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2667000" y="2232660"/>
            <a:ext cx="0" cy="190500"/>
          </a:xfrm>
          <a:prstGeom prst="line">
            <a:avLst/>
          </a:prstGeom>
          <a:noFill/>
          <a:ln w="3048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342900" y="2164080"/>
            <a:ext cx="1905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Perform Anomaly Reasoning</a:t>
            </a:r>
            <a:endParaRPr lang="en-US" sz="1140" dirty="0"/>
          </a:p>
        </p:txBody>
      </p:sp>
      <p:sp>
        <p:nvSpPr>
          <p:cNvPr id="36" name="Text 33"/>
          <p:cNvSpPr/>
          <p:nvPr/>
        </p:nvSpPr>
        <p:spPr>
          <a:xfrm>
            <a:off x="182880" y="262128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Completion</a:t>
            </a:r>
            <a:endParaRPr lang="en-US" sz="1440" dirty="0"/>
          </a:p>
        </p:txBody>
      </p:sp>
      <p:sp>
        <p:nvSpPr>
          <p:cNvPr id="37" name="Shape 34"/>
          <p:cNvSpPr/>
          <p:nvPr/>
        </p:nvSpPr>
        <p:spPr>
          <a:xfrm>
            <a:off x="1211580" y="2430780"/>
            <a:ext cx="3596640" cy="693420"/>
          </a:xfrm>
          <a:prstGeom prst="roundRect">
            <a:avLst>
              <a:gd name="adj" fmla="val 3297"/>
            </a:avLst>
          </a:prstGeom>
          <a:solidFill>
            <a:srgbClr val="FFFDF9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18660" y="2430780"/>
            <a:ext cx="289560" cy="289560"/>
          </a:xfrm>
          <a:prstGeom prst="triangle">
            <a:avLst/>
          </a:prstGeom>
          <a:solidFill>
            <a:srgbClr val="FFFFFF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18660" y="2430780"/>
            <a:ext cx="0" cy="25146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40" name="Shape 37"/>
          <p:cNvSpPr/>
          <p:nvPr/>
        </p:nvSpPr>
        <p:spPr>
          <a:xfrm>
            <a:off x="4518660" y="2682240"/>
            <a:ext cx="289560" cy="3810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41" name="Text 38"/>
          <p:cNvSpPr/>
          <p:nvPr/>
        </p:nvSpPr>
        <p:spPr>
          <a:xfrm>
            <a:off x="1318260" y="2484120"/>
            <a:ext cx="326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&lt;think&gt;The video shows ... &lt;/think&gt;</a:t>
            </a:r>
            <a:endParaRPr lang="en-US" sz="1080" dirty="0"/>
          </a:p>
        </p:txBody>
      </p:sp>
      <p:sp>
        <p:nvSpPr>
          <p:cNvPr id="42" name="Text 39"/>
          <p:cNvSpPr/>
          <p:nvPr/>
        </p:nvSpPr>
        <p:spPr>
          <a:xfrm>
            <a:off x="1318260" y="2697480"/>
            <a:ext cx="14020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&lt;answer&gt;The anomaly</a:t>
            </a:r>
            <a:endParaRPr lang="en-US" sz="1080" dirty="0"/>
          </a:p>
        </p:txBody>
      </p:sp>
      <p:sp>
        <p:nvSpPr>
          <p:cNvPr id="43" name="Text 40"/>
          <p:cNvSpPr/>
          <p:nvPr/>
        </p:nvSpPr>
        <p:spPr>
          <a:xfrm>
            <a:off x="2987040" y="2697480"/>
            <a:ext cx="7162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F0444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occurred in</a:t>
            </a:r>
            <a:endParaRPr lang="en-US" sz="1080" dirty="0"/>
          </a:p>
        </p:txBody>
      </p:sp>
      <p:sp>
        <p:nvSpPr>
          <p:cNvPr id="44" name="Text 41"/>
          <p:cNvSpPr/>
          <p:nvPr/>
        </p:nvSpPr>
        <p:spPr>
          <a:xfrm>
            <a:off x="3749040" y="2697480"/>
            <a:ext cx="76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video is</a:t>
            </a:r>
            <a:endParaRPr lang="en-US" sz="1080" dirty="0"/>
          </a:p>
        </p:txBody>
      </p:sp>
      <p:sp>
        <p:nvSpPr>
          <p:cNvPr id="45" name="Text 42"/>
          <p:cNvSpPr/>
          <p:nvPr/>
        </p:nvSpPr>
        <p:spPr>
          <a:xfrm>
            <a:off x="1318260" y="2903220"/>
            <a:ext cx="8001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Fighting ...</a:t>
            </a:r>
            <a:endParaRPr lang="en-US" sz="1080" dirty="0"/>
          </a:p>
        </p:txBody>
      </p:sp>
      <p:sp>
        <p:nvSpPr>
          <p:cNvPr id="46" name="Text 43"/>
          <p:cNvSpPr/>
          <p:nvPr/>
        </p:nvSpPr>
        <p:spPr>
          <a:xfrm>
            <a:off x="2110740" y="2903220"/>
            <a:ext cx="15316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F0444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physical altercation</a:t>
            </a:r>
            <a:endParaRPr lang="en-US" sz="1080" dirty="0"/>
          </a:p>
        </p:txBody>
      </p:sp>
      <p:sp>
        <p:nvSpPr>
          <p:cNvPr id="47" name="Text 44"/>
          <p:cNvSpPr/>
          <p:nvPr/>
        </p:nvSpPr>
        <p:spPr>
          <a:xfrm>
            <a:off x="3642360" y="2903220"/>
            <a:ext cx="9753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... &lt;/answer&gt;</a:t>
            </a:r>
            <a:endParaRPr lang="en-US" sz="1080" dirty="0"/>
          </a:p>
        </p:txBody>
      </p:sp>
      <p:sp>
        <p:nvSpPr>
          <p:cNvPr id="48" name="Shape 45"/>
          <p:cNvSpPr/>
          <p:nvPr/>
        </p:nvSpPr>
        <p:spPr>
          <a:xfrm>
            <a:off x="2651760" y="3139440"/>
            <a:ext cx="0" cy="358140"/>
          </a:xfrm>
          <a:prstGeom prst="line">
            <a:avLst/>
          </a:prstGeom>
          <a:noFill/>
          <a:ln w="30480">
            <a:solidFill>
              <a:srgbClr val="0C0C0C"/>
            </a:solidFill>
            <a:prstDash val="solid"/>
            <a:headEnd type="triangle"/>
            <a:tailEnd type="triangle"/>
          </a:ln>
        </p:spPr>
      </p:sp>
      <p:sp>
        <p:nvSpPr>
          <p:cNvPr id="49" name="Text 46"/>
          <p:cNvSpPr/>
          <p:nvPr/>
        </p:nvSpPr>
        <p:spPr>
          <a:xfrm>
            <a:off x="2842260" y="3208020"/>
            <a:ext cx="16611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Token Prediction Loss</a:t>
            </a:r>
            <a:endParaRPr lang="en-US" sz="1140" dirty="0"/>
          </a:p>
        </p:txBody>
      </p:sp>
      <p:sp>
        <p:nvSpPr>
          <p:cNvPr id="50" name="Text 47"/>
          <p:cNvSpPr/>
          <p:nvPr/>
        </p:nvSpPr>
        <p:spPr>
          <a:xfrm>
            <a:off x="182880" y="3680460"/>
            <a:ext cx="95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8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Reasoning</a:t>
            </a:r>
            <a:endParaRPr lang="en-US" sz="13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8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Annotation</a:t>
            </a:r>
            <a:endParaRPr lang="en-US" sz="1380" dirty="0"/>
          </a:p>
        </p:txBody>
      </p:sp>
      <p:sp>
        <p:nvSpPr>
          <p:cNvPr id="51" name="Shape 48"/>
          <p:cNvSpPr/>
          <p:nvPr/>
        </p:nvSpPr>
        <p:spPr>
          <a:xfrm>
            <a:off x="1211580" y="3535680"/>
            <a:ext cx="3619500" cy="746760"/>
          </a:xfrm>
          <a:prstGeom prst="roundRect">
            <a:avLst>
              <a:gd name="adj" fmla="val 3061"/>
            </a:avLst>
          </a:prstGeom>
          <a:solidFill>
            <a:srgbClr val="FFFDF9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41520" y="3535680"/>
            <a:ext cx="289560" cy="289560"/>
          </a:xfrm>
          <a:prstGeom prst="triangle">
            <a:avLst/>
          </a:prstGeom>
          <a:solidFill>
            <a:srgbClr val="FFFFFF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541520" y="3535680"/>
            <a:ext cx="0" cy="25146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54" name="Shape 51"/>
          <p:cNvSpPr/>
          <p:nvPr/>
        </p:nvSpPr>
        <p:spPr>
          <a:xfrm>
            <a:off x="4541520" y="3787140"/>
            <a:ext cx="289560" cy="3810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55" name="Text 52"/>
          <p:cNvSpPr/>
          <p:nvPr/>
        </p:nvSpPr>
        <p:spPr>
          <a:xfrm>
            <a:off x="1303020" y="3642360"/>
            <a:ext cx="3276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&lt;think&gt;The video shows ... &lt;/think&gt;</a:t>
            </a:r>
            <a:endParaRPr lang="en-US" sz="1080" dirty="0"/>
          </a:p>
        </p:txBody>
      </p:sp>
      <p:sp>
        <p:nvSpPr>
          <p:cNvPr id="56" name="Text 53"/>
          <p:cNvSpPr/>
          <p:nvPr/>
        </p:nvSpPr>
        <p:spPr>
          <a:xfrm>
            <a:off x="1303020" y="3863340"/>
            <a:ext cx="14249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&lt;answer&gt;The anomaly</a:t>
            </a:r>
            <a:endParaRPr lang="en-US" sz="1080" dirty="0"/>
          </a:p>
        </p:txBody>
      </p:sp>
      <p:sp>
        <p:nvSpPr>
          <p:cNvPr id="57" name="Text 54"/>
          <p:cNvSpPr/>
          <p:nvPr/>
        </p:nvSpPr>
        <p:spPr>
          <a:xfrm>
            <a:off x="2964180" y="3863340"/>
            <a:ext cx="5791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9A4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category</a:t>
            </a:r>
            <a:endParaRPr lang="en-US" sz="1080" dirty="0"/>
          </a:p>
        </p:txBody>
      </p:sp>
      <p:sp>
        <p:nvSpPr>
          <p:cNvPr id="58" name="Text 55"/>
          <p:cNvSpPr/>
          <p:nvPr/>
        </p:nvSpPr>
        <p:spPr>
          <a:xfrm>
            <a:off x="3627120" y="3863340"/>
            <a:ext cx="8915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of the video is</a:t>
            </a:r>
            <a:endParaRPr lang="en-US" sz="1080" dirty="0"/>
          </a:p>
        </p:txBody>
      </p:sp>
      <p:sp>
        <p:nvSpPr>
          <p:cNvPr id="59" name="Text 56"/>
          <p:cNvSpPr/>
          <p:nvPr/>
        </p:nvSpPr>
        <p:spPr>
          <a:xfrm>
            <a:off x="1303020" y="4084320"/>
            <a:ext cx="762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Fighting ...</a:t>
            </a:r>
            <a:endParaRPr lang="en-US" sz="1080" dirty="0"/>
          </a:p>
        </p:txBody>
      </p:sp>
      <p:sp>
        <p:nvSpPr>
          <p:cNvPr id="60" name="Text 57"/>
          <p:cNvSpPr/>
          <p:nvPr/>
        </p:nvSpPr>
        <p:spPr>
          <a:xfrm>
            <a:off x="2087880" y="4084320"/>
            <a:ext cx="10820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9A4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Two individuals</a:t>
            </a:r>
            <a:endParaRPr lang="en-US" sz="1080" dirty="0"/>
          </a:p>
        </p:txBody>
      </p:sp>
      <p:sp>
        <p:nvSpPr>
          <p:cNvPr id="61" name="Text 58"/>
          <p:cNvSpPr/>
          <p:nvPr/>
        </p:nvSpPr>
        <p:spPr>
          <a:xfrm>
            <a:off x="3200400" y="4084320"/>
            <a:ext cx="10668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... &lt;/answer&gt;</a:t>
            </a:r>
            <a:endParaRPr lang="en-US" sz="1080" dirty="0"/>
          </a:p>
        </p:txBody>
      </p:sp>
      <p:sp>
        <p:nvSpPr>
          <p:cNvPr id="62" name="Shape 59"/>
          <p:cNvSpPr/>
          <p:nvPr/>
        </p:nvSpPr>
        <p:spPr>
          <a:xfrm>
            <a:off x="4800600" y="2781300"/>
            <a:ext cx="60960" cy="0"/>
          </a:xfrm>
          <a:prstGeom prst="line">
            <a:avLst/>
          </a:prstGeom>
          <a:noFill/>
          <a:ln w="22860">
            <a:solidFill>
              <a:srgbClr val="2C7FC1"/>
            </a:solidFill>
            <a:prstDash val="solid"/>
            <a:headEnd type="none"/>
            <a:tailEnd type="none"/>
          </a:ln>
        </p:spPr>
      </p:sp>
      <p:sp>
        <p:nvSpPr>
          <p:cNvPr id="63" name="Shape 60"/>
          <p:cNvSpPr/>
          <p:nvPr/>
        </p:nvSpPr>
        <p:spPr>
          <a:xfrm>
            <a:off x="4861560" y="2781300"/>
            <a:ext cx="0" cy="-1104900"/>
          </a:xfrm>
          <a:prstGeom prst="line">
            <a:avLst/>
          </a:prstGeom>
          <a:noFill/>
          <a:ln w="22860">
            <a:solidFill>
              <a:srgbClr val="2C7FC1"/>
            </a:solidFill>
            <a:prstDash val="solid"/>
            <a:headEnd type="none"/>
            <a:tailEnd type="none"/>
          </a:ln>
        </p:spPr>
      </p:sp>
      <p:sp>
        <p:nvSpPr>
          <p:cNvPr id="64" name="Shape 61"/>
          <p:cNvSpPr/>
          <p:nvPr/>
        </p:nvSpPr>
        <p:spPr>
          <a:xfrm>
            <a:off x="4861560" y="1676400"/>
            <a:ext cx="-1577340" cy="0"/>
          </a:xfrm>
          <a:prstGeom prst="line">
            <a:avLst/>
          </a:prstGeom>
          <a:noFill/>
          <a:ln w="22860">
            <a:solidFill>
              <a:srgbClr val="2C7FC1"/>
            </a:solidFill>
            <a:prstDash val="solid"/>
            <a:headEnd type="none"/>
            <a:tailEnd type="triangle"/>
          </a:ln>
        </p:spPr>
      </p:sp>
      <p:sp>
        <p:nvSpPr>
          <p:cNvPr id="65" name="Text 62"/>
          <p:cNvSpPr/>
          <p:nvPr/>
        </p:nvSpPr>
        <p:spPr>
          <a:xfrm>
            <a:off x="3459480" y="1691640"/>
            <a:ext cx="6858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i="1" dirty="0">
                <a:solidFill>
                  <a:srgbClr val="2C7FC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Update</a:t>
            </a:r>
            <a:endParaRPr lang="en-US" sz="1320" dirty="0"/>
          </a:p>
        </p:txBody>
      </p:sp>
      <p:sp>
        <p:nvSpPr>
          <p:cNvPr id="66" name="Shape 63"/>
          <p:cNvSpPr/>
          <p:nvPr/>
        </p:nvSpPr>
        <p:spPr>
          <a:xfrm>
            <a:off x="91440" y="4617720"/>
            <a:ext cx="4876800" cy="1303020"/>
          </a:xfrm>
          <a:prstGeom prst="rect">
            <a:avLst/>
          </a:prstGeom>
          <a:solidFill>
            <a:srgbClr val="FFFFFF">
              <a:alpha val="0"/>
            </a:srgbClr>
          </a:solidFill>
          <a:ln w="20955">
            <a:solidFill>
              <a:srgbClr val="A1A1A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36220" y="4785360"/>
            <a:ext cx="84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Prompt</a:t>
            </a:r>
            <a:endParaRPr lang="en-US" sz="1560" dirty="0"/>
          </a:p>
        </p:txBody>
      </p:sp>
      <p:sp>
        <p:nvSpPr>
          <p:cNvPr id="68" name="Shape 65"/>
          <p:cNvSpPr/>
          <p:nvPr/>
        </p:nvSpPr>
        <p:spPr>
          <a:xfrm>
            <a:off x="548640" y="5158740"/>
            <a:ext cx="320040" cy="220980"/>
          </a:xfrm>
          <a:prstGeom prst="roundRect">
            <a:avLst>
              <a:gd name="adj" fmla="val 6897"/>
            </a:avLst>
          </a:prstGeom>
          <a:solidFill>
            <a:srgbClr val="BFD7ED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01980" y="5212080"/>
            <a:ext cx="213360" cy="0"/>
          </a:xfrm>
          <a:prstGeom prst="line">
            <a:avLst/>
          </a:prstGeom>
          <a:noFill/>
          <a:ln w="11430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70" name="Shape 67"/>
          <p:cNvSpPr/>
          <p:nvPr/>
        </p:nvSpPr>
        <p:spPr>
          <a:xfrm>
            <a:off x="601980" y="5257800"/>
            <a:ext cx="160020" cy="0"/>
          </a:xfrm>
          <a:prstGeom prst="line">
            <a:avLst/>
          </a:prstGeom>
          <a:noFill/>
          <a:ln w="11430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71" name="Shape 68"/>
          <p:cNvSpPr/>
          <p:nvPr/>
        </p:nvSpPr>
        <p:spPr>
          <a:xfrm>
            <a:off x="373380" y="5250180"/>
            <a:ext cx="175260" cy="190500"/>
          </a:xfrm>
          <a:prstGeom prst="ellipse">
            <a:avLst/>
          </a:prstGeom>
          <a:solidFill>
            <a:srgbClr val="F2C4A7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65760" y="5196840"/>
            <a:ext cx="205740" cy="20574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4B3C37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42900" y="5417820"/>
            <a:ext cx="289560" cy="190500"/>
          </a:xfrm>
          <a:prstGeom prst="trapezoid">
            <a:avLst/>
          </a:prstGeom>
          <a:solidFill>
            <a:srgbClr val="C7EAB4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64820" y="5433060"/>
            <a:ext cx="38100" cy="167640"/>
          </a:xfrm>
          <a:prstGeom prst="line">
            <a:avLst/>
          </a:prstGeom>
          <a:noFill/>
          <a:ln w="3048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5" name="Shape 72"/>
          <p:cNvSpPr/>
          <p:nvPr/>
        </p:nvSpPr>
        <p:spPr>
          <a:xfrm>
            <a:off x="480060" y="5494020"/>
            <a:ext cx="91440" cy="-15240"/>
          </a:xfrm>
          <a:prstGeom prst="line">
            <a:avLst/>
          </a:prstGeom>
          <a:noFill/>
          <a:ln w="1143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76" name="Shape 73"/>
          <p:cNvSpPr/>
          <p:nvPr/>
        </p:nvSpPr>
        <p:spPr>
          <a:xfrm>
            <a:off x="1211580" y="4800600"/>
            <a:ext cx="3619500" cy="990600"/>
          </a:xfrm>
          <a:prstGeom prst="roundRect">
            <a:avLst>
              <a:gd name="adj" fmla="val 2308"/>
            </a:avLst>
          </a:prstGeom>
          <a:solidFill>
            <a:srgbClr val="FFFDF9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77" name="Shape 74"/>
          <p:cNvSpPr/>
          <p:nvPr/>
        </p:nvSpPr>
        <p:spPr>
          <a:xfrm>
            <a:off x="4541520" y="4800600"/>
            <a:ext cx="289560" cy="289560"/>
          </a:xfrm>
          <a:prstGeom prst="triangle">
            <a:avLst/>
          </a:prstGeom>
          <a:solidFill>
            <a:srgbClr val="FFFFFF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541520" y="4800600"/>
            <a:ext cx="0" cy="25146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79" name="Shape 76"/>
          <p:cNvSpPr/>
          <p:nvPr/>
        </p:nvSpPr>
        <p:spPr>
          <a:xfrm>
            <a:off x="4541520" y="5052060"/>
            <a:ext cx="289560" cy="3810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80" name="Text 77"/>
          <p:cNvSpPr/>
          <p:nvPr/>
        </p:nvSpPr>
        <p:spPr>
          <a:xfrm>
            <a:off x="1295400" y="4930140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Analyze whether the video is abnormal or</a:t>
            </a:r>
            <a:endParaRPr lang="en-US" sz="1080" dirty="0"/>
          </a:p>
        </p:txBody>
      </p:sp>
      <p:sp>
        <p:nvSpPr>
          <p:cNvPr id="81" name="Text 78"/>
          <p:cNvSpPr/>
          <p:nvPr/>
        </p:nvSpPr>
        <p:spPr>
          <a:xfrm>
            <a:off x="1295400" y="5135880"/>
            <a:ext cx="563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normal,</a:t>
            </a:r>
            <a:endParaRPr lang="en-US" sz="1080" dirty="0"/>
          </a:p>
        </p:txBody>
      </p:sp>
      <p:sp>
        <p:nvSpPr>
          <p:cNvPr id="82" name="Text 79"/>
          <p:cNvSpPr/>
          <p:nvPr/>
        </p:nvSpPr>
        <p:spPr>
          <a:xfrm>
            <a:off x="1859280" y="5135880"/>
            <a:ext cx="16383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25A7D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think before answering,</a:t>
            </a:r>
            <a:endParaRPr lang="en-US" sz="1080" dirty="0"/>
          </a:p>
        </p:txBody>
      </p:sp>
      <p:sp>
        <p:nvSpPr>
          <p:cNvPr id="83" name="Text 80"/>
          <p:cNvSpPr/>
          <p:nvPr/>
        </p:nvSpPr>
        <p:spPr>
          <a:xfrm>
            <a:off x="3512820" y="5135880"/>
            <a:ext cx="1028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generate your</a:t>
            </a:r>
            <a:endParaRPr lang="en-US" sz="1080" dirty="0"/>
          </a:p>
        </p:txBody>
      </p:sp>
      <p:sp>
        <p:nvSpPr>
          <p:cNvPr id="84" name="Text 81"/>
          <p:cNvSpPr/>
          <p:nvPr/>
        </p:nvSpPr>
        <p:spPr>
          <a:xfrm>
            <a:off x="1295400" y="5341620"/>
            <a:ext cx="3276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reasoning process and answer enclosed in</a:t>
            </a:r>
            <a:endParaRPr lang="en-US" sz="1080" dirty="0"/>
          </a:p>
        </p:txBody>
      </p:sp>
      <p:sp>
        <p:nvSpPr>
          <p:cNvPr id="85" name="Text 82"/>
          <p:cNvSpPr/>
          <p:nvPr/>
        </p:nvSpPr>
        <p:spPr>
          <a:xfrm>
            <a:off x="1295400" y="5547360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&lt;think&gt;...&lt;/think&gt; and &lt;answer&gt;...&lt;/answer&gt; tags ...</a:t>
            </a:r>
            <a:endParaRPr lang="en-US" sz="1020" dirty="0"/>
          </a:p>
        </p:txBody>
      </p:sp>
      <p:sp>
        <p:nvSpPr>
          <p:cNvPr id="86" name="Shape 83"/>
          <p:cNvSpPr/>
          <p:nvPr/>
        </p:nvSpPr>
        <p:spPr>
          <a:xfrm>
            <a:off x="91440" y="6149340"/>
            <a:ext cx="48768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0955">
            <a:solidFill>
              <a:srgbClr val="A1A1A1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13360" y="6324600"/>
            <a:ext cx="160020" cy="228600"/>
          </a:xfrm>
          <a:prstGeom prst="lightningBolt">
            <a:avLst/>
          </a:prstGeom>
          <a:solidFill>
            <a:srgbClr val="FF5A36"/>
          </a:solidFill>
          <a:ln w="10478">
            <a:solidFill>
              <a:srgbClr val="0C0C0C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19100" y="6263640"/>
            <a:ext cx="830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Trainable</a:t>
            </a:r>
            <a:endParaRPr lang="en-US" sz="1080" dirty="0"/>
          </a:p>
        </p:txBody>
      </p:sp>
      <p:sp>
        <p:nvSpPr>
          <p:cNvPr id="89" name="Shape 86"/>
          <p:cNvSpPr/>
          <p:nvPr/>
        </p:nvSpPr>
        <p:spPr>
          <a:xfrm>
            <a:off x="1303020" y="624078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90" name="Text 87"/>
          <p:cNvSpPr/>
          <p:nvPr/>
        </p:nvSpPr>
        <p:spPr>
          <a:xfrm>
            <a:off x="1303020" y="624840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91" name="Text 88"/>
          <p:cNvSpPr/>
          <p:nvPr/>
        </p:nvSpPr>
        <p:spPr>
          <a:xfrm>
            <a:off x="1577340" y="6263640"/>
            <a:ext cx="7467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Rewards</a:t>
            </a:r>
            <a:endParaRPr lang="en-US" sz="1080" dirty="0"/>
          </a:p>
        </p:txBody>
      </p:sp>
      <p:sp>
        <p:nvSpPr>
          <p:cNvPr id="92" name="Shape 89"/>
          <p:cNvSpPr/>
          <p:nvPr/>
        </p:nvSpPr>
        <p:spPr>
          <a:xfrm>
            <a:off x="2301240" y="624078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BFD7ED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301240" y="624840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</a:t>
            </a:r>
            <a:endParaRPr lang="en-US" sz="1080" dirty="0"/>
          </a:p>
        </p:txBody>
      </p:sp>
      <p:sp>
        <p:nvSpPr>
          <p:cNvPr id="94" name="Text 91"/>
          <p:cNvSpPr/>
          <p:nvPr/>
        </p:nvSpPr>
        <p:spPr>
          <a:xfrm>
            <a:off x="2575560" y="6263640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KL Divergence</a:t>
            </a:r>
            <a:endParaRPr lang="en-US" sz="1080" dirty="0"/>
          </a:p>
        </p:txBody>
      </p:sp>
      <p:sp>
        <p:nvSpPr>
          <p:cNvPr id="95" name="Shape 92"/>
          <p:cNvSpPr/>
          <p:nvPr/>
        </p:nvSpPr>
        <p:spPr>
          <a:xfrm>
            <a:off x="3756660" y="624078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FFD777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756660" y="624840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</a:t>
            </a:r>
            <a:endParaRPr lang="en-US" sz="1080" dirty="0"/>
          </a:p>
        </p:txBody>
      </p:sp>
      <p:sp>
        <p:nvSpPr>
          <p:cNvPr id="97" name="Text 94"/>
          <p:cNvSpPr/>
          <p:nvPr/>
        </p:nvSpPr>
        <p:spPr>
          <a:xfrm>
            <a:off x="4030980" y="6263640"/>
            <a:ext cx="838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Advantage</a:t>
            </a:r>
            <a:endParaRPr lang="en-US" sz="1080" dirty="0"/>
          </a:p>
        </p:txBody>
      </p:sp>
      <p:sp>
        <p:nvSpPr>
          <p:cNvPr id="98" name="Text 95"/>
          <p:cNvSpPr/>
          <p:nvPr/>
        </p:nvSpPr>
        <p:spPr>
          <a:xfrm>
            <a:off x="190500" y="6545580"/>
            <a:ext cx="23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2C7FC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❄</a:t>
            </a:r>
            <a:endParaRPr lang="en-US" sz="1740" dirty="0"/>
          </a:p>
        </p:txBody>
      </p:sp>
      <p:sp>
        <p:nvSpPr>
          <p:cNvPr id="99" name="Text 96"/>
          <p:cNvSpPr/>
          <p:nvPr/>
        </p:nvSpPr>
        <p:spPr>
          <a:xfrm>
            <a:off x="434340" y="6537960"/>
            <a:ext cx="762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Frozen</a:t>
            </a:r>
            <a:endParaRPr lang="en-US" sz="1080" dirty="0"/>
          </a:p>
        </p:txBody>
      </p:sp>
      <p:sp>
        <p:nvSpPr>
          <p:cNvPr id="100" name="Shape 97"/>
          <p:cNvSpPr/>
          <p:nvPr/>
        </p:nvSpPr>
        <p:spPr>
          <a:xfrm>
            <a:off x="1150620" y="6522720"/>
            <a:ext cx="480060" cy="228600"/>
          </a:xfrm>
          <a:prstGeom prst="roundRect">
            <a:avLst>
              <a:gd name="adj" fmla="val 50000"/>
            </a:avLst>
          </a:prstGeom>
          <a:solidFill>
            <a:srgbClr val="F8F8F8"/>
          </a:solidFill>
          <a:ln w="13970">
            <a:solidFill>
              <a:srgbClr val="A1A1A1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188720" y="6530340"/>
            <a:ext cx="4038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Mean</a:t>
            </a:r>
            <a:endParaRPr lang="en-US" sz="960" dirty="0"/>
          </a:p>
        </p:txBody>
      </p:sp>
      <p:sp>
        <p:nvSpPr>
          <p:cNvPr id="102" name="Shape 99"/>
          <p:cNvSpPr/>
          <p:nvPr/>
        </p:nvSpPr>
        <p:spPr>
          <a:xfrm>
            <a:off x="1684020" y="6522720"/>
            <a:ext cx="396240" cy="228600"/>
          </a:xfrm>
          <a:prstGeom prst="roundRect">
            <a:avLst>
              <a:gd name="adj" fmla="val 50000"/>
            </a:avLst>
          </a:prstGeom>
          <a:solidFill>
            <a:srgbClr val="F8F8F8"/>
          </a:solidFill>
          <a:ln w="13970">
            <a:solidFill>
              <a:srgbClr val="A1A1A1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722120" y="6530340"/>
            <a:ext cx="3200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Std</a:t>
            </a:r>
            <a:endParaRPr lang="en-US" sz="960" dirty="0"/>
          </a:p>
        </p:txBody>
      </p:sp>
      <p:sp>
        <p:nvSpPr>
          <p:cNvPr id="104" name="Text 101"/>
          <p:cNvSpPr/>
          <p:nvPr/>
        </p:nvSpPr>
        <p:spPr>
          <a:xfrm>
            <a:off x="2148840" y="6537960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Mean &amp; Standard Deviation of Rewards</a:t>
            </a:r>
            <a:endParaRPr lang="en-US" sz="960" dirty="0"/>
          </a:p>
        </p:txBody>
      </p:sp>
      <p:sp>
        <p:nvSpPr>
          <p:cNvPr id="105" name="Shape 102"/>
          <p:cNvSpPr/>
          <p:nvPr/>
        </p:nvSpPr>
        <p:spPr>
          <a:xfrm>
            <a:off x="5196840" y="91440"/>
            <a:ext cx="6903720" cy="4823460"/>
          </a:xfrm>
          <a:prstGeom prst="rect">
            <a:avLst/>
          </a:prstGeom>
          <a:solidFill>
            <a:srgbClr val="FFFFFF">
              <a:alpha val="0"/>
            </a:srgbClr>
          </a:solidFill>
          <a:ln w="20955">
            <a:solidFill>
              <a:srgbClr val="A1A1A1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5196840" y="518160"/>
            <a:ext cx="6903720" cy="0"/>
          </a:xfrm>
          <a:prstGeom prst="line">
            <a:avLst/>
          </a:prstGeom>
          <a:noFill/>
          <a:ln w="15240">
            <a:solidFill>
              <a:srgbClr val="A1A1A1"/>
            </a:solidFill>
            <a:prstDash val="solid"/>
            <a:headEnd type="none"/>
            <a:tailEnd type="none"/>
          </a:ln>
        </p:spPr>
      </p:sp>
      <p:sp>
        <p:nvSpPr>
          <p:cNvPr id="107" name="Text 104"/>
          <p:cNvSpPr/>
          <p:nvPr/>
        </p:nvSpPr>
        <p:spPr>
          <a:xfrm>
            <a:off x="5760720" y="175260"/>
            <a:ext cx="6172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Stage 2: AVA-GRPO with Video-level Weak Labels</a:t>
            </a:r>
            <a:endParaRPr lang="en-US" sz="1560" dirty="0"/>
          </a:p>
        </p:txBody>
      </p:sp>
      <p:sp>
        <p:nvSpPr>
          <p:cNvPr id="108" name="Text 105"/>
          <p:cNvSpPr/>
          <p:nvPr/>
        </p:nvSpPr>
        <p:spPr>
          <a:xfrm>
            <a:off x="5326380" y="571500"/>
            <a:ext cx="32385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1: Generating Completions</a:t>
            </a:r>
            <a:endParaRPr lang="en-US" sz="1620" dirty="0"/>
          </a:p>
        </p:txBody>
      </p:sp>
      <p:sp>
        <p:nvSpPr>
          <p:cNvPr id="109" name="Shape 106"/>
          <p:cNvSpPr/>
          <p:nvPr/>
        </p:nvSpPr>
        <p:spPr>
          <a:xfrm>
            <a:off x="5326380" y="845820"/>
            <a:ext cx="3200400" cy="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pic>
        <p:nvPicPr>
          <p:cNvPr id="1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80" y="922020"/>
            <a:ext cx="2667000" cy="548640"/>
          </a:xfrm>
          <a:prstGeom prst="rect">
            <a:avLst/>
          </a:prstGeom>
        </p:spPr>
      </p:pic>
      <p:sp>
        <p:nvSpPr>
          <p:cNvPr id="111" name="Text 107"/>
          <p:cNvSpPr/>
          <p:nvPr/>
        </p:nvSpPr>
        <p:spPr>
          <a:xfrm>
            <a:off x="5836920" y="145542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Untrimmed Video</a:t>
            </a:r>
            <a:endParaRPr lang="en-US" sz="1320" dirty="0"/>
          </a:p>
        </p:txBody>
      </p:sp>
      <p:sp>
        <p:nvSpPr>
          <p:cNvPr id="112" name="Text 108"/>
          <p:cNvSpPr/>
          <p:nvPr/>
        </p:nvSpPr>
        <p:spPr>
          <a:xfrm>
            <a:off x="8084820" y="1059180"/>
            <a:ext cx="213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6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+</a:t>
            </a:r>
            <a:endParaRPr lang="en-US" sz="1860" dirty="0"/>
          </a:p>
        </p:txBody>
      </p:sp>
      <p:sp>
        <p:nvSpPr>
          <p:cNvPr id="113" name="Shape 109"/>
          <p:cNvSpPr/>
          <p:nvPr/>
        </p:nvSpPr>
        <p:spPr>
          <a:xfrm>
            <a:off x="8539124" y="985571"/>
            <a:ext cx="249631" cy="172364"/>
          </a:xfrm>
          <a:prstGeom prst="roundRect">
            <a:avLst>
              <a:gd name="adj" fmla="val 6897"/>
            </a:avLst>
          </a:prstGeom>
          <a:solidFill>
            <a:srgbClr val="BFD7ED"/>
          </a:solidFill>
          <a:ln w="10897">
            <a:solidFill>
              <a:srgbClr val="0C0C0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8580730" y="1027176"/>
            <a:ext cx="166421" cy="0"/>
          </a:xfrm>
          <a:prstGeom prst="line">
            <a:avLst/>
          </a:prstGeom>
          <a:noFill/>
          <a:ln w="8915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115" name="Shape 111"/>
          <p:cNvSpPr/>
          <p:nvPr/>
        </p:nvSpPr>
        <p:spPr>
          <a:xfrm>
            <a:off x="8580730" y="1062838"/>
            <a:ext cx="124816" cy="0"/>
          </a:xfrm>
          <a:prstGeom prst="line">
            <a:avLst/>
          </a:prstGeom>
          <a:noFill/>
          <a:ln w="8915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116" name="Shape 112"/>
          <p:cNvSpPr/>
          <p:nvPr/>
        </p:nvSpPr>
        <p:spPr>
          <a:xfrm>
            <a:off x="8402422" y="1056894"/>
            <a:ext cx="136703" cy="148590"/>
          </a:xfrm>
          <a:prstGeom prst="ellipse">
            <a:avLst/>
          </a:prstGeom>
          <a:solidFill>
            <a:srgbClr val="F2C4A7"/>
          </a:solidFill>
          <a:ln w="10897">
            <a:solidFill>
              <a:srgbClr val="0C0C0C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8396478" y="1015289"/>
            <a:ext cx="160477" cy="160477"/>
          </a:xfrm>
          <a:prstGeom prst="arc">
            <a:avLst/>
          </a:prstGeom>
          <a:solidFill>
            <a:srgbClr val="FFFFFF">
              <a:alpha val="0"/>
            </a:srgbClr>
          </a:solidFill>
          <a:ln w="29718">
            <a:solidFill>
              <a:srgbClr val="4B3C37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8378647" y="1187653"/>
            <a:ext cx="225857" cy="148590"/>
          </a:xfrm>
          <a:prstGeom prst="trapezoid">
            <a:avLst/>
          </a:prstGeom>
          <a:solidFill>
            <a:srgbClr val="C7EAB4"/>
          </a:solidFill>
          <a:ln w="10897">
            <a:solidFill>
              <a:srgbClr val="0C0C0C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8473745" y="1199540"/>
            <a:ext cx="29718" cy="130759"/>
          </a:xfrm>
          <a:prstGeom prst="line">
            <a:avLst/>
          </a:prstGeom>
          <a:noFill/>
          <a:ln w="23774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0" name="Shape 116"/>
          <p:cNvSpPr/>
          <p:nvPr/>
        </p:nvSpPr>
        <p:spPr>
          <a:xfrm>
            <a:off x="8485632" y="1247089"/>
            <a:ext cx="71323" cy="-11887"/>
          </a:xfrm>
          <a:prstGeom prst="line">
            <a:avLst/>
          </a:prstGeom>
          <a:noFill/>
          <a:ln w="8915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21" name="Text 117"/>
          <p:cNvSpPr/>
          <p:nvPr/>
        </p:nvSpPr>
        <p:spPr>
          <a:xfrm>
            <a:off x="8252460" y="1447800"/>
            <a:ext cx="792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Prompt</a:t>
            </a:r>
            <a:endParaRPr lang="en-US" sz="1260" dirty="0"/>
          </a:p>
        </p:txBody>
      </p:sp>
      <p:sp>
        <p:nvSpPr>
          <p:cNvPr id="122" name="Shape 118"/>
          <p:cNvSpPr/>
          <p:nvPr/>
        </p:nvSpPr>
        <p:spPr>
          <a:xfrm>
            <a:off x="8892540" y="1196340"/>
            <a:ext cx="274320" cy="0"/>
          </a:xfrm>
          <a:prstGeom prst="line">
            <a:avLst/>
          </a:prstGeom>
          <a:noFill/>
          <a:ln w="3048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123" name="Shape 119"/>
          <p:cNvSpPr/>
          <p:nvPr/>
        </p:nvSpPr>
        <p:spPr>
          <a:xfrm>
            <a:off x="9531096" y="733044"/>
            <a:ext cx="0" cy="54864"/>
          </a:xfrm>
          <a:prstGeom prst="line">
            <a:avLst/>
          </a:prstGeom>
          <a:noFill/>
          <a:ln w="12192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24" name="Shape 120"/>
          <p:cNvSpPr/>
          <p:nvPr/>
        </p:nvSpPr>
        <p:spPr>
          <a:xfrm>
            <a:off x="9500616" y="708660"/>
            <a:ext cx="60960" cy="48768"/>
          </a:xfrm>
          <a:prstGeom prst="ellipse">
            <a:avLst/>
          </a:prstGeom>
          <a:solidFill>
            <a:srgbClr val="F04444"/>
          </a:solidFill>
          <a:ln w="8382">
            <a:solidFill>
              <a:srgbClr val="0C0C0C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9634728" y="696468"/>
            <a:ext cx="128016" cy="164592"/>
          </a:xfrm>
          <a:prstGeom prst="lightningBolt">
            <a:avLst/>
          </a:prstGeom>
          <a:solidFill>
            <a:srgbClr val="FF5A36"/>
          </a:solidFill>
          <a:ln w="8382">
            <a:solidFill>
              <a:srgbClr val="0C0C0C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77400" y="745236"/>
            <a:ext cx="54864" cy="91440"/>
          </a:xfrm>
          <a:prstGeom prst="lightningBolt">
            <a:avLst/>
          </a:prstGeom>
          <a:solidFill>
            <a:srgbClr val="FFD7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9311640" y="787908"/>
            <a:ext cx="396240" cy="316992"/>
          </a:xfrm>
          <a:prstGeom prst="roundRect">
            <a:avLst>
              <a:gd name="adj" fmla="val 21154"/>
            </a:avLst>
          </a:prstGeom>
          <a:solidFill>
            <a:srgbClr val="96D6DE"/>
          </a:solidFill>
          <a:ln w="11176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128" name="Shape 124"/>
          <p:cNvSpPr/>
          <p:nvPr/>
        </p:nvSpPr>
        <p:spPr>
          <a:xfrm>
            <a:off x="9342120" y="818388"/>
            <a:ext cx="335280" cy="225552"/>
          </a:xfrm>
          <a:prstGeom prst="roundRect">
            <a:avLst>
              <a:gd name="adj" fmla="val 21622"/>
            </a:avLst>
          </a:prstGeom>
          <a:solidFill>
            <a:srgbClr val="E8FAFB"/>
          </a:solidFill>
          <a:ln w="7823">
            <a:solidFill>
              <a:srgbClr val="275D8C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9396984" y="879348"/>
            <a:ext cx="42672" cy="54864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9579864" y="879348"/>
            <a:ext cx="42672" cy="54864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9464040" y="982980"/>
            <a:ext cx="85344" cy="0"/>
          </a:xfrm>
          <a:prstGeom prst="line">
            <a:avLst/>
          </a:prstGeom>
          <a:noFill/>
          <a:ln w="12192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132" name="Shape 128"/>
          <p:cNvSpPr/>
          <p:nvPr/>
        </p:nvSpPr>
        <p:spPr>
          <a:xfrm>
            <a:off x="9360408" y="1104900"/>
            <a:ext cx="298704" cy="164592"/>
          </a:xfrm>
          <a:prstGeom prst="roundRect">
            <a:avLst>
              <a:gd name="adj" fmla="val 14815"/>
            </a:avLst>
          </a:prstGeom>
          <a:solidFill>
            <a:srgbClr val="5DAEC1"/>
          </a:solidFill>
          <a:ln w="11176">
            <a:solidFill>
              <a:srgbClr val="0C0C0C"/>
            </a:solidFill>
            <a:prstDash val="solid"/>
          </a:ln>
        </p:spPr>
      </p:sp>
      <p:sp>
        <p:nvSpPr>
          <p:cNvPr id="133" name="Text 129"/>
          <p:cNvSpPr/>
          <p:nvPr/>
        </p:nvSpPr>
        <p:spPr>
          <a:xfrm>
            <a:off x="9360408" y="1123188"/>
            <a:ext cx="298704" cy="10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8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</a:t>
            </a:r>
            <a:endParaRPr lang="en-US" sz="528" dirty="0"/>
          </a:p>
        </p:txBody>
      </p:sp>
      <p:sp>
        <p:nvSpPr>
          <p:cNvPr id="134" name="Shape 130"/>
          <p:cNvSpPr/>
          <p:nvPr/>
        </p:nvSpPr>
        <p:spPr>
          <a:xfrm>
            <a:off x="9305544" y="1135380"/>
            <a:ext cx="-42672" cy="73152"/>
          </a:xfrm>
          <a:prstGeom prst="line">
            <a:avLst/>
          </a:prstGeom>
          <a:noFill/>
          <a:ln w="18288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35" name="Shape 131"/>
          <p:cNvSpPr/>
          <p:nvPr/>
        </p:nvSpPr>
        <p:spPr>
          <a:xfrm>
            <a:off x="9707880" y="1135380"/>
            <a:ext cx="48768" cy="73152"/>
          </a:xfrm>
          <a:prstGeom prst="line">
            <a:avLst/>
          </a:prstGeom>
          <a:noFill/>
          <a:ln w="18288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36" name="Shape 132"/>
          <p:cNvSpPr/>
          <p:nvPr/>
        </p:nvSpPr>
        <p:spPr>
          <a:xfrm>
            <a:off x="9433560" y="1269492"/>
            <a:ext cx="-30480" cy="42672"/>
          </a:xfrm>
          <a:prstGeom prst="line">
            <a:avLst/>
          </a:prstGeom>
          <a:noFill/>
          <a:ln w="18288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37" name="Shape 133"/>
          <p:cNvSpPr/>
          <p:nvPr/>
        </p:nvSpPr>
        <p:spPr>
          <a:xfrm>
            <a:off x="9585960" y="1269492"/>
            <a:ext cx="36576" cy="42672"/>
          </a:xfrm>
          <a:prstGeom prst="line">
            <a:avLst/>
          </a:prstGeom>
          <a:noFill/>
          <a:ln w="18288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38" name="Text 134"/>
          <p:cNvSpPr/>
          <p:nvPr/>
        </p:nvSpPr>
        <p:spPr>
          <a:xfrm>
            <a:off x="9113520" y="1242060"/>
            <a:ext cx="792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Policy</a:t>
            </a:r>
            <a:endParaRPr lang="en-US" sz="12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Model</a:t>
            </a:r>
            <a:endParaRPr lang="en-US" sz="1260" dirty="0"/>
          </a:p>
        </p:txBody>
      </p:sp>
      <p:sp>
        <p:nvSpPr>
          <p:cNvPr id="139" name="Text 135"/>
          <p:cNvSpPr/>
          <p:nvPr/>
        </p:nvSpPr>
        <p:spPr>
          <a:xfrm>
            <a:off x="9966960" y="937260"/>
            <a:ext cx="723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Generate</a:t>
            </a:r>
            <a:endParaRPr lang="en-US" sz="1140" dirty="0"/>
          </a:p>
        </p:txBody>
      </p:sp>
      <p:sp>
        <p:nvSpPr>
          <p:cNvPr id="140" name="Shape 136"/>
          <p:cNvSpPr/>
          <p:nvPr/>
        </p:nvSpPr>
        <p:spPr>
          <a:xfrm>
            <a:off x="9906000" y="1203960"/>
            <a:ext cx="78486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141" name="Shape 137"/>
          <p:cNvSpPr/>
          <p:nvPr/>
        </p:nvSpPr>
        <p:spPr>
          <a:xfrm>
            <a:off x="10759440" y="586740"/>
            <a:ext cx="1082040" cy="259080"/>
          </a:xfrm>
          <a:prstGeom prst="roundRect">
            <a:avLst>
              <a:gd name="adj" fmla="val 50000"/>
            </a:avLst>
          </a:prstGeom>
          <a:solidFill>
            <a:srgbClr val="FFE7D4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797540" y="594360"/>
            <a:ext cx="1005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Completion 1</a:t>
            </a:r>
            <a:endParaRPr lang="en-US" sz="1080" dirty="0"/>
          </a:p>
        </p:txBody>
      </p:sp>
      <p:sp>
        <p:nvSpPr>
          <p:cNvPr id="143" name="Shape 139"/>
          <p:cNvSpPr/>
          <p:nvPr/>
        </p:nvSpPr>
        <p:spPr>
          <a:xfrm>
            <a:off x="10759440" y="906780"/>
            <a:ext cx="1082040" cy="259080"/>
          </a:xfrm>
          <a:prstGeom prst="roundRect">
            <a:avLst>
              <a:gd name="adj" fmla="val 50000"/>
            </a:avLst>
          </a:prstGeom>
          <a:solidFill>
            <a:srgbClr val="FFE7D4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797540" y="914400"/>
            <a:ext cx="1005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Completion 2</a:t>
            </a:r>
            <a:endParaRPr lang="en-US" sz="1080" dirty="0"/>
          </a:p>
        </p:txBody>
      </p:sp>
      <p:sp>
        <p:nvSpPr>
          <p:cNvPr id="145" name="Text 141"/>
          <p:cNvSpPr/>
          <p:nvPr/>
        </p:nvSpPr>
        <p:spPr>
          <a:xfrm>
            <a:off x="10599420" y="121158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Group of</a:t>
            </a:r>
            <a:endParaRPr lang="en-US" sz="12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Completions</a:t>
            </a:r>
            <a:endParaRPr lang="en-US" sz="1260" dirty="0"/>
          </a:p>
        </p:txBody>
      </p:sp>
      <p:sp>
        <p:nvSpPr>
          <p:cNvPr id="146" name="Shape 142"/>
          <p:cNvSpPr/>
          <p:nvPr/>
        </p:nvSpPr>
        <p:spPr>
          <a:xfrm>
            <a:off x="5196840" y="1684020"/>
            <a:ext cx="6903720" cy="0"/>
          </a:xfrm>
          <a:prstGeom prst="line">
            <a:avLst/>
          </a:prstGeom>
          <a:noFill/>
          <a:ln w="15240">
            <a:solidFill>
              <a:srgbClr val="A1A1A1"/>
            </a:solidFill>
            <a:prstDash val="solid"/>
            <a:headEnd type="none"/>
            <a:tailEnd type="none"/>
          </a:ln>
        </p:spPr>
      </p:sp>
      <p:sp>
        <p:nvSpPr>
          <p:cNvPr id="147" name="Text 143"/>
          <p:cNvSpPr/>
          <p:nvPr/>
        </p:nvSpPr>
        <p:spPr>
          <a:xfrm>
            <a:off x="5334000" y="1752600"/>
            <a:ext cx="27051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2: Computing Rewards</a:t>
            </a:r>
            <a:endParaRPr lang="en-US" sz="1620" dirty="0"/>
          </a:p>
        </p:txBody>
      </p:sp>
      <p:sp>
        <p:nvSpPr>
          <p:cNvPr id="148" name="Shape 144"/>
          <p:cNvSpPr/>
          <p:nvPr/>
        </p:nvSpPr>
        <p:spPr>
          <a:xfrm>
            <a:off x="5334000" y="2042160"/>
            <a:ext cx="2651760" cy="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49" name="Shape 145"/>
          <p:cNvSpPr/>
          <p:nvPr/>
        </p:nvSpPr>
        <p:spPr>
          <a:xfrm>
            <a:off x="5379720" y="2118360"/>
            <a:ext cx="1089660" cy="274320"/>
          </a:xfrm>
          <a:prstGeom prst="roundRect">
            <a:avLst>
              <a:gd name="adj" fmla="val 50000"/>
            </a:avLst>
          </a:prstGeom>
          <a:solidFill>
            <a:srgbClr val="F5B07B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5417820" y="2125980"/>
            <a:ext cx="10134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Completion 1</a:t>
            </a:r>
            <a:endParaRPr lang="en-US" sz="1020" dirty="0"/>
          </a:p>
        </p:txBody>
      </p:sp>
      <p:sp>
        <p:nvSpPr>
          <p:cNvPr id="151" name="Shape 147"/>
          <p:cNvSpPr/>
          <p:nvPr/>
        </p:nvSpPr>
        <p:spPr>
          <a:xfrm>
            <a:off x="6492240" y="2247900"/>
            <a:ext cx="202692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152" name="Text 148"/>
          <p:cNvSpPr/>
          <p:nvPr/>
        </p:nvSpPr>
        <p:spPr>
          <a:xfrm>
            <a:off x="6644640" y="2308860"/>
            <a:ext cx="167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(1) Format Reward</a:t>
            </a:r>
            <a:endParaRPr lang="en-US" sz="1200" dirty="0"/>
          </a:p>
        </p:txBody>
      </p:sp>
      <p:sp>
        <p:nvSpPr>
          <p:cNvPr id="153" name="Shape 149"/>
          <p:cNvSpPr/>
          <p:nvPr/>
        </p:nvSpPr>
        <p:spPr>
          <a:xfrm>
            <a:off x="8602980" y="1790700"/>
            <a:ext cx="3368040" cy="563880"/>
          </a:xfrm>
          <a:prstGeom prst="roundRect">
            <a:avLst>
              <a:gd name="adj" fmla="val 18919"/>
            </a:avLst>
          </a:prstGeom>
          <a:solidFill>
            <a:srgbClr val="FAFAFA"/>
          </a:solidFill>
          <a:ln w="10478">
            <a:solidFill>
              <a:srgbClr val="D7D7D7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8702040" y="1866900"/>
            <a:ext cx="1508760" cy="403860"/>
          </a:xfrm>
          <a:prstGeom prst="rect">
            <a:avLst/>
          </a:prstGeom>
          <a:solidFill>
            <a:srgbClr val="FF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Text 151"/>
          <p:cNvSpPr/>
          <p:nvPr/>
        </p:nvSpPr>
        <p:spPr>
          <a:xfrm>
            <a:off x="8763000" y="187452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&lt;think&gt;...&lt;/think&gt;</a:t>
            </a:r>
            <a:endParaRPr lang="en-US" sz="1020" dirty="0"/>
          </a:p>
        </p:txBody>
      </p:sp>
      <p:sp>
        <p:nvSpPr>
          <p:cNvPr id="156" name="Text 152"/>
          <p:cNvSpPr/>
          <p:nvPr/>
        </p:nvSpPr>
        <p:spPr>
          <a:xfrm>
            <a:off x="8763000" y="208026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&lt;answer&gt;...&lt;/answer&gt;</a:t>
            </a:r>
            <a:endParaRPr lang="en-US" sz="1020" dirty="0"/>
          </a:p>
        </p:txBody>
      </p:sp>
      <p:sp>
        <p:nvSpPr>
          <p:cNvPr id="157" name="Text 153"/>
          <p:cNvSpPr/>
          <p:nvPr/>
        </p:nvSpPr>
        <p:spPr>
          <a:xfrm>
            <a:off x="10302240" y="1844040"/>
            <a:ext cx="853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If satisfied:</a:t>
            </a:r>
            <a:endParaRPr lang="en-US" sz="1080" dirty="0"/>
          </a:p>
        </p:txBody>
      </p:sp>
      <p:sp>
        <p:nvSpPr>
          <p:cNvPr id="158" name="Shape 154"/>
          <p:cNvSpPr/>
          <p:nvPr/>
        </p:nvSpPr>
        <p:spPr>
          <a:xfrm>
            <a:off x="11308080" y="182118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159" name="Text 155"/>
          <p:cNvSpPr/>
          <p:nvPr/>
        </p:nvSpPr>
        <p:spPr>
          <a:xfrm>
            <a:off x="11308080" y="182880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160" name="Text 156"/>
          <p:cNvSpPr/>
          <p:nvPr/>
        </p:nvSpPr>
        <p:spPr>
          <a:xfrm>
            <a:off x="11582400" y="1844040"/>
            <a:ext cx="373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== 1</a:t>
            </a:r>
            <a:endParaRPr lang="en-US" sz="1080" dirty="0"/>
          </a:p>
        </p:txBody>
      </p:sp>
      <p:sp>
        <p:nvSpPr>
          <p:cNvPr id="161" name="Text 157"/>
          <p:cNvSpPr/>
          <p:nvPr/>
        </p:nvSpPr>
        <p:spPr>
          <a:xfrm>
            <a:off x="10622280" y="2103120"/>
            <a:ext cx="5181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Else:</a:t>
            </a:r>
            <a:endParaRPr lang="en-US" sz="1080" dirty="0"/>
          </a:p>
        </p:txBody>
      </p:sp>
      <p:sp>
        <p:nvSpPr>
          <p:cNvPr id="162" name="Shape 158"/>
          <p:cNvSpPr/>
          <p:nvPr/>
        </p:nvSpPr>
        <p:spPr>
          <a:xfrm>
            <a:off x="11033760" y="208026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163" name="Text 159"/>
          <p:cNvSpPr/>
          <p:nvPr/>
        </p:nvSpPr>
        <p:spPr>
          <a:xfrm>
            <a:off x="11033760" y="208788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164" name="Text 160"/>
          <p:cNvSpPr/>
          <p:nvPr/>
        </p:nvSpPr>
        <p:spPr>
          <a:xfrm>
            <a:off x="11315700" y="2103120"/>
            <a:ext cx="4419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== 0</a:t>
            </a:r>
            <a:endParaRPr lang="en-US" sz="1080" dirty="0"/>
          </a:p>
        </p:txBody>
      </p:sp>
      <p:sp>
        <p:nvSpPr>
          <p:cNvPr id="165" name="Shape 161"/>
          <p:cNvSpPr/>
          <p:nvPr/>
        </p:nvSpPr>
        <p:spPr>
          <a:xfrm>
            <a:off x="5379720" y="2453640"/>
            <a:ext cx="0" cy="36576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66" name="Text 162"/>
          <p:cNvSpPr/>
          <p:nvPr/>
        </p:nvSpPr>
        <p:spPr>
          <a:xfrm>
            <a:off x="5554980" y="2392680"/>
            <a:ext cx="8534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Extract</a:t>
            </a:r>
            <a:endParaRPr lang="en-US" sz="10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Prediction</a:t>
            </a:r>
            <a:endParaRPr lang="en-US" sz="1080" dirty="0"/>
          </a:p>
        </p:txBody>
      </p:sp>
      <p:sp>
        <p:nvSpPr>
          <p:cNvPr id="167" name="Shape 163"/>
          <p:cNvSpPr/>
          <p:nvPr/>
        </p:nvSpPr>
        <p:spPr>
          <a:xfrm>
            <a:off x="5379720" y="2819400"/>
            <a:ext cx="315468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168" name="Text 164"/>
          <p:cNvSpPr/>
          <p:nvPr/>
        </p:nvSpPr>
        <p:spPr>
          <a:xfrm>
            <a:off x="6644640" y="2598420"/>
            <a:ext cx="18288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(2) Accuracy Reward</a:t>
            </a:r>
            <a:endParaRPr lang="en-US" sz="1200" dirty="0"/>
          </a:p>
        </p:txBody>
      </p:sp>
      <p:sp>
        <p:nvSpPr>
          <p:cNvPr id="169" name="Shape 165"/>
          <p:cNvSpPr/>
          <p:nvPr/>
        </p:nvSpPr>
        <p:spPr>
          <a:xfrm>
            <a:off x="8602980" y="2400300"/>
            <a:ext cx="3368040" cy="548640"/>
          </a:xfrm>
          <a:prstGeom prst="roundRect">
            <a:avLst>
              <a:gd name="adj" fmla="val 19444"/>
            </a:avLst>
          </a:prstGeom>
          <a:solidFill>
            <a:srgbClr val="FAFAFA"/>
          </a:solidFill>
          <a:ln w="10478">
            <a:solidFill>
              <a:srgbClr val="D7D7D7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8702040" y="2560320"/>
            <a:ext cx="853440" cy="259080"/>
          </a:xfrm>
          <a:prstGeom prst="roundRect">
            <a:avLst>
              <a:gd name="adj" fmla="val 50000"/>
            </a:avLst>
          </a:prstGeom>
          <a:solidFill>
            <a:srgbClr val="FFF0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Text 167"/>
          <p:cNvSpPr/>
          <p:nvPr/>
        </p:nvSpPr>
        <p:spPr>
          <a:xfrm>
            <a:off x="8740140" y="2567940"/>
            <a:ext cx="777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Prediction</a:t>
            </a:r>
            <a:endParaRPr lang="en-US" sz="1020" dirty="0"/>
          </a:p>
        </p:txBody>
      </p:sp>
      <p:sp>
        <p:nvSpPr>
          <p:cNvPr id="172" name="Text 168"/>
          <p:cNvSpPr/>
          <p:nvPr/>
        </p:nvSpPr>
        <p:spPr>
          <a:xfrm>
            <a:off x="9608820" y="257556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v.s.</a:t>
            </a:r>
            <a:endParaRPr lang="en-US" sz="1080" dirty="0"/>
          </a:p>
        </p:txBody>
      </p:sp>
      <p:sp>
        <p:nvSpPr>
          <p:cNvPr id="173" name="Shape 169"/>
          <p:cNvSpPr/>
          <p:nvPr/>
        </p:nvSpPr>
        <p:spPr>
          <a:xfrm>
            <a:off x="10035540" y="2560320"/>
            <a:ext cx="556260" cy="259080"/>
          </a:xfrm>
          <a:prstGeom prst="roundRect">
            <a:avLst>
              <a:gd name="adj" fmla="val 50000"/>
            </a:avLst>
          </a:prstGeom>
          <a:solidFill>
            <a:srgbClr val="BFD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Text 170"/>
          <p:cNvSpPr/>
          <p:nvPr/>
        </p:nvSpPr>
        <p:spPr>
          <a:xfrm>
            <a:off x="10073640" y="2567940"/>
            <a:ext cx="4800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Label</a:t>
            </a:r>
            <a:endParaRPr lang="en-US" sz="1020" dirty="0"/>
          </a:p>
        </p:txBody>
      </p:sp>
      <p:sp>
        <p:nvSpPr>
          <p:cNvPr id="175" name="Text 171"/>
          <p:cNvSpPr/>
          <p:nvPr/>
        </p:nvSpPr>
        <p:spPr>
          <a:xfrm>
            <a:off x="10668000" y="2461260"/>
            <a:ext cx="655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If same:</a:t>
            </a:r>
            <a:endParaRPr lang="en-US" sz="1080" dirty="0"/>
          </a:p>
        </p:txBody>
      </p:sp>
      <p:sp>
        <p:nvSpPr>
          <p:cNvPr id="176" name="Shape 172"/>
          <p:cNvSpPr/>
          <p:nvPr/>
        </p:nvSpPr>
        <p:spPr>
          <a:xfrm>
            <a:off x="11338560" y="243840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177" name="Text 173"/>
          <p:cNvSpPr/>
          <p:nvPr/>
        </p:nvSpPr>
        <p:spPr>
          <a:xfrm>
            <a:off x="11338560" y="244602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178" name="Text 174"/>
          <p:cNvSpPr/>
          <p:nvPr/>
        </p:nvSpPr>
        <p:spPr>
          <a:xfrm>
            <a:off x="11597640" y="2461260"/>
            <a:ext cx="373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== 1</a:t>
            </a:r>
            <a:endParaRPr lang="en-US" sz="1080" dirty="0"/>
          </a:p>
        </p:txBody>
      </p:sp>
      <p:sp>
        <p:nvSpPr>
          <p:cNvPr id="179" name="Text 175"/>
          <p:cNvSpPr/>
          <p:nvPr/>
        </p:nvSpPr>
        <p:spPr>
          <a:xfrm>
            <a:off x="10767060" y="2720340"/>
            <a:ext cx="487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Else:</a:t>
            </a:r>
            <a:endParaRPr lang="en-US" sz="1080" dirty="0"/>
          </a:p>
        </p:txBody>
      </p:sp>
      <p:sp>
        <p:nvSpPr>
          <p:cNvPr id="180" name="Shape 176"/>
          <p:cNvSpPr/>
          <p:nvPr/>
        </p:nvSpPr>
        <p:spPr>
          <a:xfrm>
            <a:off x="11338560" y="268986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181" name="Text 177"/>
          <p:cNvSpPr/>
          <p:nvPr/>
        </p:nvSpPr>
        <p:spPr>
          <a:xfrm>
            <a:off x="11338560" y="269748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182" name="Text 178"/>
          <p:cNvSpPr/>
          <p:nvPr/>
        </p:nvSpPr>
        <p:spPr>
          <a:xfrm>
            <a:off x="11597640" y="2720340"/>
            <a:ext cx="373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== 0</a:t>
            </a:r>
            <a:endParaRPr lang="en-US" sz="1080" dirty="0"/>
          </a:p>
        </p:txBody>
      </p:sp>
      <p:sp>
        <p:nvSpPr>
          <p:cNvPr id="183" name="Text 179"/>
          <p:cNvSpPr/>
          <p:nvPr/>
        </p:nvSpPr>
        <p:spPr>
          <a:xfrm>
            <a:off x="5455920" y="2895600"/>
            <a:ext cx="308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80" i="1" dirty="0">
                <a:solidFill>
                  <a:srgbClr val="FF171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(3) Anomaly Verification Reward</a:t>
            </a:r>
            <a:endParaRPr lang="en-US" sz="1380" dirty="0"/>
          </a:p>
        </p:txBody>
      </p:sp>
      <p:sp>
        <p:nvSpPr>
          <p:cNvPr id="184" name="Shape 180"/>
          <p:cNvSpPr/>
          <p:nvPr/>
        </p:nvSpPr>
        <p:spPr>
          <a:xfrm>
            <a:off x="5379720" y="2819400"/>
            <a:ext cx="0" cy="28956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185" name="Shape 181"/>
          <p:cNvSpPr/>
          <p:nvPr/>
        </p:nvSpPr>
        <p:spPr>
          <a:xfrm>
            <a:off x="5257800" y="3108960"/>
            <a:ext cx="792480" cy="274320"/>
          </a:xfrm>
          <a:prstGeom prst="roundRect">
            <a:avLst>
              <a:gd name="adj" fmla="val 50000"/>
            </a:avLst>
          </a:prstGeom>
          <a:solidFill>
            <a:srgbClr val="FFF0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5295900" y="3116580"/>
            <a:ext cx="7162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Prediction</a:t>
            </a:r>
            <a:endParaRPr lang="en-US" sz="1080" dirty="0"/>
          </a:p>
        </p:txBody>
      </p:sp>
      <p:sp>
        <p:nvSpPr>
          <p:cNvPr id="187" name="Shape 183"/>
          <p:cNvSpPr/>
          <p:nvPr/>
        </p:nvSpPr>
        <p:spPr>
          <a:xfrm>
            <a:off x="5372100" y="3383280"/>
            <a:ext cx="0" cy="106680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188" name="Shape 184"/>
          <p:cNvSpPr/>
          <p:nvPr/>
        </p:nvSpPr>
        <p:spPr>
          <a:xfrm>
            <a:off x="5372100" y="3543300"/>
            <a:ext cx="86868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189" name="Shape 185"/>
          <p:cNvSpPr/>
          <p:nvPr/>
        </p:nvSpPr>
        <p:spPr>
          <a:xfrm>
            <a:off x="5372100" y="4373880"/>
            <a:ext cx="81534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190" name="Shape 186"/>
          <p:cNvSpPr/>
          <p:nvPr/>
        </p:nvSpPr>
        <p:spPr>
          <a:xfrm>
            <a:off x="5394960" y="3413760"/>
            <a:ext cx="822960" cy="266700"/>
          </a:xfrm>
          <a:prstGeom prst="roundRect">
            <a:avLst>
              <a:gd name="adj" fmla="val 50000"/>
            </a:avLst>
          </a:prstGeom>
          <a:solidFill>
            <a:srgbClr val="FFD8D8"/>
          </a:solidFill>
          <a:ln w="13970">
            <a:solidFill>
              <a:srgbClr val="F04444"/>
            </a:solidFill>
            <a:prstDash val="solid"/>
          </a:ln>
        </p:spPr>
      </p:sp>
      <p:sp>
        <p:nvSpPr>
          <p:cNvPr id="191" name="Text 187"/>
          <p:cNvSpPr/>
          <p:nvPr/>
        </p:nvSpPr>
        <p:spPr>
          <a:xfrm>
            <a:off x="5433060" y="3421380"/>
            <a:ext cx="746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D91D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Abnormal</a:t>
            </a:r>
            <a:endParaRPr lang="en-US" sz="1080" dirty="0"/>
          </a:p>
        </p:txBody>
      </p:sp>
      <p:sp>
        <p:nvSpPr>
          <p:cNvPr id="192" name="Text 188"/>
          <p:cNvSpPr/>
          <p:nvPr/>
        </p:nvSpPr>
        <p:spPr>
          <a:xfrm>
            <a:off x="5539740" y="3741420"/>
            <a:ext cx="365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1080" dirty="0"/>
          </a:p>
        </p:txBody>
      </p:sp>
      <p:sp>
        <p:nvSpPr>
          <p:cNvPr id="193" name="Shape 189"/>
          <p:cNvSpPr/>
          <p:nvPr/>
        </p:nvSpPr>
        <p:spPr>
          <a:xfrm>
            <a:off x="5394960" y="4213860"/>
            <a:ext cx="784860" cy="266700"/>
          </a:xfrm>
          <a:prstGeom prst="roundRect">
            <a:avLst>
              <a:gd name="adj" fmla="val 50000"/>
            </a:avLst>
          </a:prstGeom>
          <a:solidFill>
            <a:srgbClr val="EAF8DF"/>
          </a:solidFill>
          <a:ln w="13970">
            <a:solidFill>
              <a:srgbClr val="4C963A"/>
            </a:solidFill>
            <a:prstDash val="solid"/>
          </a:ln>
        </p:spPr>
      </p:sp>
      <p:sp>
        <p:nvSpPr>
          <p:cNvPr id="194" name="Text 190"/>
          <p:cNvSpPr/>
          <p:nvPr/>
        </p:nvSpPr>
        <p:spPr>
          <a:xfrm>
            <a:off x="5433060" y="4221480"/>
            <a:ext cx="7086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C7B2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Normal</a:t>
            </a:r>
            <a:endParaRPr lang="en-US" sz="1080" dirty="0"/>
          </a:p>
        </p:txBody>
      </p:sp>
      <p:sp>
        <p:nvSpPr>
          <p:cNvPr id="195" name="Shape 191"/>
          <p:cNvSpPr/>
          <p:nvPr/>
        </p:nvSpPr>
        <p:spPr>
          <a:xfrm>
            <a:off x="6385560" y="3154680"/>
            <a:ext cx="22174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970">
            <a:solidFill>
              <a:srgbClr val="0C0C0C"/>
            </a:solidFill>
            <a:prstDash val="solid"/>
          </a:ln>
        </p:spPr>
      </p:sp>
      <p:pic>
        <p:nvPicPr>
          <p:cNvPr id="19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620" y="3230880"/>
            <a:ext cx="2011680" cy="342900"/>
          </a:xfrm>
          <a:prstGeom prst="rect">
            <a:avLst/>
          </a:prstGeom>
        </p:spPr>
      </p:pic>
      <p:sp>
        <p:nvSpPr>
          <p:cNvPr id="197" name="Shape 192"/>
          <p:cNvSpPr/>
          <p:nvPr/>
        </p:nvSpPr>
        <p:spPr>
          <a:xfrm>
            <a:off x="7591044" y="3281060"/>
            <a:ext cx="301752" cy="217449"/>
          </a:xfrm>
          <a:prstGeom prst="rect">
            <a:avLst/>
          </a:prstGeom>
          <a:solidFill>
            <a:srgbClr val="FFFFFF"/>
          </a:solidFill>
          <a:ln w="27940">
            <a:solidFill>
              <a:srgbClr val="F04444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7938516" y="3281060"/>
            <a:ext cx="301752" cy="217449"/>
          </a:xfrm>
          <a:prstGeom prst="rect">
            <a:avLst/>
          </a:prstGeom>
          <a:solidFill>
            <a:srgbClr val="FFFFFF"/>
          </a:solidFill>
          <a:ln w="27940">
            <a:solidFill>
              <a:srgbClr val="F04444"/>
            </a:solidFill>
            <a:prstDash val="solid"/>
          </a:ln>
        </p:spPr>
      </p:sp>
      <p:sp>
        <p:nvSpPr>
          <p:cNvPr id="199" name="Text 194"/>
          <p:cNvSpPr/>
          <p:nvPr/>
        </p:nvSpPr>
        <p:spPr>
          <a:xfrm>
            <a:off x="6469380" y="3581400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Video with Abnormal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Segment Discarded</a:t>
            </a:r>
            <a:endParaRPr lang="en-US" sz="1020" dirty="0"/>
          </a:p>
        </p:txBody>
      </p:sp>
      <p:sp>
        <p:nvSpPr>
          <p:cNvPr id="200" name="Shape 195"/>
          <p:cNvSpPr/>
          <p:nvPr/>
        </p:nvSpPr>
        <p:spPr>
          <a:xfrm>
            <a:off x="6294120" y="4030980"/>
            <a:ext cx="2392680" cy="73152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3970">
            <a:solidFill>
              <a:srgbClr val="0C0C0C"/>
            </a:solidFill>
            <a:prstDash val="solid"/>
          </a:ln>
        </p:spPr>
      </p:sp>
      <p:pic>
        <p:nvPicPr>
          <p:cNvPr id="20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14800"/>
            <a:ext cx="2171700" cy="320040"/>
          </a:xfrm>
          <a:prstGeom prst="rect">
            <a:avLst/>
          </a:prstGeom>
        </p:spPr>
      </p:pic>
      <p:sp>
        <p:nvSpPr>
          <p:cNvPr id="202" name="Shape 196"/>
          <p:cNvSpPr/>
          <p:nvPr/>
        </p:nvSpPr>
        <p:spPr>
          <a:xfrm>
            <a:off x="6477000" y="4229100"/>
            <a:ext cx="412623" cy="91440"/>
          </a:xfrm>
          <a:prstGeom prst="rect">
            <a:avLst/>
          </a:prstGeom>
          <a:solidFill>
            <a:srgbClr val="FFFFFF"/>
          </a:solidFill>
          <a:ln w="6985">
            <a:solidFill>
              <a:srgbClr val="A1A1A1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138160" y="4229100"/>
            <a:ext cx="369189" cy="91440"/>
          </a:xfrm>
          <a:prstGeom prst="rect">
            <a:avLst/>
          </a:prstGeom>
          <a:solidFill>
            <a:srgbClr val="FFFFFF"/>
          </a:solidFill>
          <a:ln w="6985">
            <a:solidFill>
              <a:srgbClr val="A1A1A1"/>
            </a:solidFill>
            <a:prstDash val="solid"/>
          </a:ln>
        </p:spPr>
      </p:sp>
      <p:sp>
        <p:nvSpPr>
          <p:cNvPr id="204" name="Text 198"/>
          <p:cNvSpPr/>
          <p:nvPr/>
        </p:nvSpPr>
        <p:spPr>
          <a:xfrm>
            <a:off x="6400800" y="4427220"/>
            <a:ext cx="217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Video with Beginning or Ending</a:t>
            </a:r>
            <a:endParaRPr lang="en-US" sz="9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Segment Discarded</a:t>
            </a:r>
            <a:endParaRPr lang="en-US" sz="960" dirty="0"/>
          </a:p>
        </p:txBody>
      </p:sp>
      <p:sp>
        <p:nvSpPr>
          <p:cNvPr id="205" name="Shape 199"/>
          <p:cNvSpPr/>
          <p:nvPr/>
        </p:nvSpPr>
        <p:spPr>
          <a:xfrm>
            <a:off x="8641080" y="3528060"/>
            <a:ext cx="327660" cy="32004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06" name="Shape 200"/>
          <p:cNvSpPr/>
          <p:nvPr/>
        </p:nvSpPr>
        <p:spPr>
          <a:xfrm>
            <a:off x="8679180" y="4419600"/>
            <a:ext cx="304800" cy="-35052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07" name="Text 201"/>
          <p:cNvSpPr/>
          <p:nvPr/>
        </p:nvSpPr>
        <p:spPr>
          <a:xfrm>
            <a:off x="8709660" y="3764280"/>
            <a:ext cx="2819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1140" dirty="0"/>
          </a:p>
        </p:txBody>
      </p:sp>
      <p:sp>
        <p:nvSpPr>
          <p:cNvPr id="208" name="Shape 202"/>
          <p:cNvSpPr/>
          <p:nvPr/>
        </p:nvSpPr>
        <p:spPr>
          <a:xfrm>
            <a:off x="9056827" y="3100730"/>
            <a:ext cx="204826" cy="141427"/>
          </a:xfrm>
          <a:prstGeom prst="roundRect">
            <a:avLst>
              <a:gd name="adj" fmla="val 6897"/>
            </a:avLst>
          </a:prstGeom>
          <a:solidFill>
            <a:srgbClr val="BFD7ED"/>
          </a:solidFill>
          <a:ln w="8941">
            <a:solidFill>
              <a:srgbClr val="0C0C0C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9090965" y="3134868"/>
            <a:ext cx="136550" cy="0"/>
          </a:xfrm>
          <a:prstGeom prst="line">
            <a:avLst/>
          </a:prstGeom>
          <a:noFill/>
          <a:ln w="7315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210" name="Shape 204"/>
          <p:cNvSpPr/>
          <p:nvPr/>
        </p:nvSpPr>
        <p:spPr>
          <a:xfrm>
            <a:off x="9090965" y="3164129"/>
            <a:ext cx="102413" cy="0"/>
          </a:xfrm>
          <a:prstGeom prst="line">
            <a:avLst/>
          </a:prstGeom>
          <a:noFill/>
          <a:ln w="7315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211" name="Shape 205"/>
          <p:cNvSpPr/>
          <p:nvPr/>
        </p:nvSpPr>
        <p:spPr>
          <a:xfrm>
            <a:off x="8944661" y="3159252"/>
            <a:ext cx="112166" cy="121920"/>
          </a:xfrm>
          <a:prstGeom prst="ellipse">
            <a:avLst/>
          </a:prstGeom>
          <a:solidFill>
            <a:srgbClr val="F2C4A7"/>
          </a:solidFill>
          <a:ln w="8941">
            <a:solidFill>
              <a:srgbClr val="0C0C0C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8939784" y="3125114"/>
            <a:ext cx="131674" cy="131674"/>
          </a:xfrm>
          <a:prstGeom prst="arc">
            <a:avLst/>
          </a:prstGeom>
          <a:solidFill>
            <a:srgbClr val="FFFFFF">
              <a:alpha val="0"/>
            </a:srgbClr>
          </a:solidFill>
          <a:ln w="24384">
            <a:solidFill>
              <a:srgbClr val="4B3C37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25154" y="3266542"/>
            <a:ext cx="185318" cy="121920"/>
          </a:xfrm>
          <a:prstGeom prst="trapezoid">
            <a:avLst/>
          </a:prstGeom>
          <a:solidFill>
            <a:srgbClr val="C7EAB4"/>
          </a:solidFill>
          <a:ln w="8941">
            <a:solidFill>
              <a:srgbClr val="0C0C0C"/>
            </a:solidFill>
            <a:prstDash val="solid"/>
          </a:ln>
        </p:spPr>
      </p:sp>
      <p:sp>
        <p:nvSpPr>
          <p:cNvPr id="214" name="Shape 208"/>
          <p:cNvSpPr/>
          <p:nvPr/>
        </p:nvSpPr>
        <p:spPr>
          <a:xfrm>
            <a:off x="9003182" y="3276295"/>
            <a:ext cx="24384" cy="107290"/>
          </a:xfrm>
          <a:prstGeom prst="line">
            <a:avLst/>
          </a:prstGeom>
          <a:noFill/>
          <a:ln w="19507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5" name="Shape 209"/>
          <p:cNvSpPr/>
          <p:nvPr/>
        </p:nvSpPr>
        <p:spPr>
          <a:xfrm>
            <a:off x="9012936" y="3315310"/>
            <a:ext cx="58522" cy="-9754"/>
          </a:xfrm>
          <a:prstGeom prst="line">
            <a:avLst/>
          </a:prstGeom>
          <a:noFill/>
          <a:ln w="7315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16" name="Text 210"/>
          <p:cNvSpPr/>
          <p:nvPr/>
        </p:nvSpPr>
        <p:spPr>
          <a:xfrm>
            <a:off x="8785860" y="3436620"/>
            <a:ext cx="6781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Prompt</a:t>
            </a:r>
            <a:endParaRPr lang="en-US" sz="1080" dirty="0"/>
          </a:p>
        </p:txBody>
      </p:sp>
      <p:sp>
        <p:nvSpPr>
          <p:cNvPr id="217" name="Shape 211"/>
          <p:cNvSpPr/>
          <p:nvPr/>
        </p:nvSpPr>
        <p:spPr>
          <a:xfrm>
            <a:off x="9151620" y="3627120"/>
            <a:ext cx="0" cy="11430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18" name="Text 212"/>
          <p:cNvSpPr/>
          <p:nvPr/>
        </p:nvSpPr>
        <p:spPr>
          <a:xfrm>
            <a:off x="8976360" y="3962400"/>
            <a:ext cx="251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</a:t>
            </a:r>
            <a:endParaRPr lang="en-US" sz="1080" dirty="0"/>
          </a:p>
        </p:txBody>
      </p:sp>
      <p:sp>
        <p:nvSpPr>
          <p:cNvPr id="219" name="Shape 213"/>
          <p:cNvSpPr/>
          <p:nvPr/>
        </p:nvSpPr>
        <p:spPr>
          <a:xfrm>
            <a:off x="9197188" y="3978554"/>
            <a:ext cx="0" cy="53492"/>
          </a:xfrm>
          <a:prstGeom prst="line">
            <a:avLst/>
          </a:prstGeom>
          <a:noFill/>
          <a:ln w="11887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20" name="Shape 214"/>
          <p:cNvSpPr/>
          <p:nvPr/>
        </p:nvSpPr>
        <p:spPr>
          <a:xfrm>
            <a:off x="9167470" y="3954780"/>
            <a:ext cx="59436" cy="47549"/>
          </a:xfrm>
          <a:prstGeom prst="ellipse">
            <a:avLst/>
          </a:prstGeom>
          <a:solidFill>
            <a:srgbClr val="F04444"/>
          </a:solidFill>
          <a:ln w="8172">
            <a:solidFill>
              <a:srgbClr val="0C0C0C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298229" y="3942893"/>
            <a:ext cx="124816" cy="160477"/>
          </a:xfrm>
          <a:prstGeom prst="lightningBolt">
            <a:avLst/>
          </a:prstGeom>
          <a:solidFill>
            <a:srgbClr val="FF5A36"/>
          </a:solidFill>
          <a:ln w="8172">
            <a:solidFill>
              <a:srgbClr val="0C0C0C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339834" y="3990442"/>
            <a:ext cx="53492" cy="89154"/>
          </a:xfrm>
          <a:prstGeom prst="lightningBolt">
            <a:avLst/>
          </a:prstGeom>
          <a:solidFill>
            <a:srgbClr val="FFD7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8983218" y="4032047"/>
            <a:ext cx="386334" cy="309067"/>
          </a:xfrm>
          <a:prstGeom prst="roundRect">
            <a:avLst>
              <a:gd name="adj" fmla="val 21154"/>
            </a:avLst>
          </a:prstGeom>
          <a:solidFill>
            <a:srgbClr val="96D6DE"/>
          </a:solidFill>
          <a:ln w="10897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224" name="Shape 218"/>
          <p:cNvSpPr/>
          <p:nvPr/>
        </p:nvSpPr>
        <p:spPr>
          <a:xfrm>
            <a:off x="9012936" y="4061765"/>
            <a:ext cx="326898" cy="219913"/>
          </a:xfrm>
          <a:prstGeom prst="roundRect">
            <a:avLst>
              <a:gd name="adj" fmla="val 21622"/>
            </a:avLst>
          </a:prstGeom>
          <a:solidFill>
            <a:srgbClr val="E8FAFB"/>
          </a:solidFill>
          <a:ln w="7628">
            <a:solidFill>
              <a:srgbClr val="275D8C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066428" y="4121201"/>
            <a:ext cx="41605" cy="53492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244736" y="4121201"/>
            <a:ext cx="41605" cy="53492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131808" y="4222242"/>
            <a:ext cx="83210" cy="0"/>
          </a:xfrm>
          <a:prstGeom prst="line">
            <a:avLst/>
          </a:prstGeom>
          <a:noFill/>
          <a:ln w="11887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228" name="Shape 222"/>
          <p:cNvSpPr/>
          <p:nvPr/>
        </p:nvSpPr>
        <p:spPr>
          <a:xfrm>
            <a:off x="9030767" y="4341114"/>
            <a:ext cx="291236" cy="160477"/>
          </a:xfrm>
          <a:prstGeom prst="roundRect">
            <a:avLst>
              <a:gd name="adj" fmla="val 14815"/>
            </a:avLst>
          </a:prstGeom>
          <a:solidFill>
            <a:srgbClr val="5DAEC1"/>
          </a:solidFill>
          <a:ln w="10897">
            <a:solidFill>
              <a:srgbClr val="0C0C0C"/>
            </a:solidFill>
            <a:prstDash val="solid"/>
          </a:ln>
        </p:spPr>
      </p:sp>
      <p:sp>
        <p:nvSpPr>
          <p:cNvPr id="229" name="Text 223"/>
          <p:cNvSpPr/>
          <p:nvPr/>
        </p:nvSpPr>
        <p:spPr>
          <a:xfrm>
            <a:off x="9030767" y="4358945"/>
            <a:ext cx="291236" cy="1010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15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</a:t>
            </a:r>
            <a:endParaRPr lang="en-US" sz="515" dirty="0"/>
          </a:p>
        </p:txBody>
      </p:sp>
      <p:sp>
        <p:nvSpPr>
          <p:cNvPr id="230" name="Shape 224"/>
          <p:cNvSpPr/>
          <p:nvPr/>
        </p:nvSpPr>
        <p:spPr>
          <a:xfrm>
            <a:off x="8977274" y="4370832"/>
            <a:ext cx="-41605" cy="71323"/>
          </a:xfrm>
          <a:prstGeom prst="line">
            <a:avLst/>
          </a:prstGeom>
          <a:noFill/>
          <a:ln w="17831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31" name="Shape 225"/>
          <p:cNvSpPr/>
          <p:nvPr/>
        </p:nvSpPr>
        <p:spPr>
          <a:xfrm>
            <a:off x="9369552" y="4370832"/>
            <a:ext cx="47549" cy="71323"/>
          </a:xfrm>
          <a:prstGeom prst="line">
            <a:avLst/>
          </a:prstGeom>
          <a:noFill/>
          <a:ln w="17831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32" name="Shape 226"/>
          <p:cNvSpPr/>
          <p:nvPr/>
        </p:nvSpPr>
        <p:spPr>
          <a:xfrm>
            <a:off x="9102090" y="4501591"/>
            <a:ext cx="-29718" cy="41605"/>
          </a:xfrm>
          <a:prstGeom prst="line">
            <a:avLst/>
          </a:prstGeom>
          <a:noFill/>
          <a:ln w="17831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33" name="Shape 227"/>
          <p:cNvSpPr/>
          <p:nvPr/>
        </p:nvSpPr>
        <p:spPr>
          <a:xfrm>
            <a:off x="9250680" y="4501591"/>
            <a:ext cx="35662" cy="41605"/>
          </a:xfrm>
          <a:prstGeom prst="line">
            <a:avLst/>
          </a:prstGeom>
          <a:noFill/>
          <a:ln w="17831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34" name="Text 228"/>
          <p:cNvSpPr/>
          <p:nvPr/>
        </p:nvSpPr>
        <p:spPr>
          <a:xfrm>
            <a:off x="8770620" y="4495800"/>
            <a:ext cx="8458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Policy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Model</a:t>
            </a:r>
            <a:endParaRPr lang="en-US" sz="1200" dirty="0"/>
          </a:p>
        </p:txBody>
      </p:sp>
      <p:sp>
        <p:nvSpPr>
          <p:cNvPr id="235" name="Shape 229"/>
          <p:cNvSpPr/>
          <p:nvPr/>
        </p:nvSpPr>
        <p:spPr>
          <a:xfrm>
            <a:off x="9448800" y="3832860"/>
            <a:ext cx="22860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36" name="Shape 230"/>
          <p:cNvSpPr/>
          <p:nvPr/>
        </p:nvSpPr>
        <p:spPr>
          <a:xfrm>
            <a:off x="9448800" y="4229100"/>
            <a:ext cx="22860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37" name="Shape 231"/>
          <p:cNvSpPr/>
          <p:nvPr/>
        </p:nvSpPr>
        <p:spPr>
          <a:xfrm>
            <a:off x="9662160" y="3063240"/>
            <a:ext cx="2316480" cy="1714500"/>
          </a:xfrm>
          <a:prstGeom prst="roundRect">
            <a:avLst>
              <a:gd name="adj" fmla="val 6222"/>
            </a:avLst>
          </a:prstGeom>
          <a:solidFill>
            <a:srgbClr val="FAFAFA"/>
          </a:solidFill>
          <a:ln w="10478">
            <a:solidFill>
              <a:srgbClr val="D7D7D7"/>
            </a:solidFill>
            <a:prstDash val="solid"/>
          </a:ln>
        </p:spPr>
      </p:sp>
      <p:sp>
        <p:nvSpPr>
          <p:cNvPr id="238" name="Text 232"/>
          <p:cNvSpPr/>
          <p:nvPr/>
        </p:nvSpPr>
        <p:spPr>
          <a:xfrm>
            <a:off x="10043160" y="3025140"/>
            <a:ext cx="7162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Original</a:t>
            </a:r>
            <a:endParaRPr lang="en-US" sz="1320" dirty="0"/>
          </a:p>
        </p:txBody>
      </p:sp>
      <p:sp>
        <p:nvSpPr>
          <p:cNvPr id="239" name="Text 233"/>
          <p:cNvSpPr/>
          <p:nvPr/>
        </p:nvSpPr>
        <p:spPr>
          <a:xfrm>
            <a:off x="11338560" y="3025140"/>
            <a:ext cx="5181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New</a:t>
            </a:r>
            <a:endParaRPr lang="en-US" sz="1320" dirty="0"/>
          </a:p>
        </p:txBody>
      </p:sp>
      <p:sp>
        <p:nvSpPr>
          <p:cNvPr id="240" name="Text 234"/>
          <p:cNvSpPr/>
          <p:nvPr/>
        </p:nvSpPr>
        <p:spPr>
          <a:xfrm>
            <a:off x="9761220" y="3329940"/>
            <a:ext cx="289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If:</a:t>
            </a:r>
            <a:endParaRPr lang="en-US" sz="1200" dirty="0"/>
          </a:p>
        </p:txBody>
      </p:sp>
      <p:sp>
        <p:nvSpPr>
          <p:cNvPr id="241" name="Shape 235"/>
          <p:cNvSpPr/>
          <p:nvPr/>
        </p:nvSpPr>
        <p:spPr>
          <a:xfrm>
            <a:off x="10058400" y="3253740"/>
            <a:ext cx="838200" cy="281940"/>
          </a:xfrm>
          <a:prstGeom prst="roundRect">
            <a:avLst>
              <a:gd name="adj" fmla="val 50000"/>
            </a:avLst>
          </a:prstGeom>
          <a:solidFill>
            <a:srgbClr val="FFD8D8"/>
          </a:solidFill>
          <a:ln w="13970">
            <a:solidFill>
              <a:srgbClr val="F04444"/>
            </a:solidFill>
            <a:prstDash val="solid"/>
          </a:ln>
        </p:spPr>
      </p:sp>
      <p:sp>
        <p:nvSpPr>
          <p:cNvPr id="242" name="Text 236"/>
          <p:cNvSpPr/>
          <p:nvPr/>
        </p:nvSpPr>
        <p:spPr>
          <a:xfrm>
            <a:off x="10096500" y="326136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D91D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Abnormal</a:t>
            </a:r>
            <a:endParaRPr lang="en-US" sz="1140" dirty="0"/>
          </a:p>
        </p:txBody>
      </p:sp>
      <p:sp>
        <p:nvSpPr>
          <p:cNvPr id="243" name="Shape 237"/>
          <p:cNvSpPr/>
          <p:nvPr/>
        </p:nvSpPr>
        <p:spPr>
          <a:xfrm>
            <a:off x="10911840" y="3398520"/>
            <a:ext cx="24384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44" name="Shape 238"/>
          <p:cNvSpPr/>
          <p:nvPr/>
        </p:nvSpPr>
        <p:spPr>
          <a:xfrm>
            <a:off x="11140440" y="3253740"/>
            <a:ext cx="701040" cy="281940"/>
          </a:xfrm>
          <a:prstGeom prst="roundRect">
            <a:avLst>
              <a:gd name="adj" fmla="val 50000"/>
            </a:avLst>
          </a:prstGeom>
          <a:solidFill>
            <a:srgbClr val="EAF8DF"/>
          </a:solidFill>
          <a:ln w="13970">
            <a:solidFill>
              <a:srgbClr val="4C963A"/>
            </a:solidFill>
            <a:prstDash val="solid"/>
          </a:ln>
        </p:spPr>
      </p:sp>
      <p:sp>
        <p:nvSpPr>
          <p:cNvPr id="245" name="Text 239"/>
          <p:cNvSpPr/>
          <p:nvPr/>
        </p:nvSpPr>
        <p:spPr>
          <a:xfrm>
            <a:off x="11178540" y="3261360"/>
            <a:ext cx="624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2C7B2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Normal</a:t>
            </a:r>
            <a:endParaRPr lang="en-US" sz="1140" dirty="0"/>
          </a:p>
        </p:txBody>
      </p:sp>
      <p:sp>
        <p:nvSpPr>
          <p:cNvPr id="246" name="Shape 240"/>
          <p:cNvSpPr/>
          <p:nvPr/>
        </p:nvSpPr>
        <p:spPr>
          <a:xfrm>
            <a:off x="9837420" y="3657600"/>
            <a:ext cx="182880" cy="182880"/>
          </a:xfrm>
          <a:prstGeom prst="ellipse">
            <a:avLst/>
          </a:prstGeom>
          <a:solidFill>
            <a:srgbClr val="72C45A"/>
          </a:solidFill>
          <a:ln w="10478">
            <a:solidFill>
              <a:srgbClr val="0C0C0C"/>
            </a:solidFill>
            <a:prstDash val="solid"/>
          </a:ln>
        </p:spPr>
      </p:sp>
      <p:sp>
        <p:nvSpPr>
          <p:cNvPr id="247" name="Text 241"/>
          <p:cNvSpPr/>
          <p:nvPr/>
        </p:nvSpPr>
        <p:spPr>
          <a:xfrm>
            <a:off x="9829800" y="3634740"/>
            <a:ext cx="19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✓</a:t>
            </a:r>
            <a:endParaRPr lang="en-US" sz="1080" dirty="0"/>
          </a:p>
        </p:txBody>
      </p:sp>
      <p:sp>
        <p:nvSpPr>
          <p:cNvPr id="248" name="Text 242"/>
          <p:cNvSpPr/>
          <p:nvPr/>
        </p:nvSpPr>
        <p:spPr>
          <a:xfrm>
            <a:off x="10088880" y="3596640"/>
            <a:ext cx="1531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model gave right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prediction!</a:t>
            </a:r>
            <a:endParaRPr lang="en-US" sz="1020" dirty="0"/>
          </a:p>
        </p:txBody>
      </p:sp>
      <p:sp>
        <p:nvSpPr>
          <p:cNvPr id="249" name="Shape 243"/>
          <p:cNvSpPr/>
          <p:nvPr/>
        </p:nvSpPr>
        <p:spPr>
          <a:xfrm>
            <a:off x="11026140" y="385572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250" name="Text 244"/>
          <p:cNvSpPr/>
          <p:nvPr/>
        </p:nvSpPr>
        <p:spPr>
          <a:xfrm>
            <a:off x="11026140" y="386334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251" name="Text 245"/>
          <p:cNvSpPr/>
          <p:nvPr/>
        </p:nvSpPr>
        <p:spPr>
          <a:xfrm>
            <a:off x="11292840" y="3886200"/>
            <a:ext cx="579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== 0.5</a:t>
            </a:r>
            <a:endParaRPr lang="en-US" sz="1020" dirty="0"/>
          </a:p>
        </p:txBody>
      </p:sp>
      <p:sp>
        <p:nvSpPr>
          <p:cNvPr id="252" name="Shape 246"/>
          <p:cNvSpPr/>
          <p:nvPr/>
        </p:nvSpPr>
        <p:spPr>
          <a:xfrm>
            <a:off x="9753600" y="4053840"/>
            <a:ext cx="2125980" cy="0"/>
          </a:xfrm>
          <a:prstGeom prst="line">
            <a:avLst/>
          </a:prstGeom>
          <a:noFill/>
          <a:ln w="15240">
            <a:solidFill>
              <a:srgbClr val="A1A1A1"/>
            </a:solidFill>
            <a:prstDash val="solid"/>
            <a:headEnd type="none"/>
            <a:tailEnd type="none"/>
          </a:ln>
        </p:spPr>
      </p:sp>
      <p:sp>
        <p:nvSpPr>
          <p:cNvPr id="253" name="Text 247"/>
          <p:cNvSpPr/>
          <p:nvPr/>
        </p:nvSpPr>
        <p:spPr>
          <a:xfrm>
            <a:off x="9761220" y="4175760"/>
            <a:ext cx="289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If:</a:t>
            </a:r>
            <a:endParaRPr lang="en-US" sz="1200" dirty="0"/>
          </a:p>
        </p:txBody>
      </p:sp>
      <p:sp>
        <p:nvSpPr>
          <p:cNvPr id="254" name="Shape 248"/>
          <p:cNvSpPr/>
          <p:nvPr/>
        </p:nvSpPr>
        <p:spPr>
          <a:xfrm>
            <a:off x="10058400" y="4107180"/>
            <a:ext cx="716280" cy="274320"/>
          </a:xfrm>
          <a:prstGeom prst="roundRect">
            <a:avLst>
              <a:gd name="adj" fmla="val 50000"/>
            </a:avLst>
          </a:prstGeom>
          <a:solidFill>
            <a:srgbClr val="EAF8DF"/>
          </a:solidFill>
          <a:ln w="13970">
            <a:solidFill>
              <a:srgbClr val="4C963A"/>
            </a:solidFill>
            <a:prstDash val="solid"/>
          </a:ln>
        </p:spPr>
      </p:sp>
      <p:sp>
        <p:nvSpPr>
          <p:cNvPr id="255" name="Text 249"/>
          <p:cNvSpPr/>
          <p:nvPr/>
        </p:nvSpPr>
        <p:spPr>
          <a:xfrm>
            <a:off x="10096500" y="4114800"/>
            <a:ext cx="640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2C7B2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Normal</a:t>
            </a:r>
            <a:endParaRPr lang="en-US" sz="1140" dirty="0"/>
          </a:p>
        </p:txBody>
      </p:sp>
      <p:sp>
        <p:nvSpPr>
          <p:cNvPr id="256" name="Shape 250"/>
          <p:cNvSpPr/>
          <p:nvPr/>
        </p:nvSpPr>
        <p:spPr>
          <a:xfrm>
            <a:off x="10797540" y="4244340"/>
            <a:ext cx="22860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57" name="Shape 251"/>
          <p:cNvSpPr/>
          <p:nvPr/>
        </p:nvSpPr>
        <p:spPr>
          <a:xfrm>
            <a:off x="11033760" y="4107180"/>
            <a:ext cx="807720" cy="274320"/>
          </a:xfrm>
          <a:prstGeom prst="roundRect">
            <a:avLst>
              <a:gd name="adj" fmla="val 50000"/>
            </a:avLst>
          </a:prstGeom>
          <a:solidFill>
            <a:srgbClr val="FFD8D8"/>
          </a:solidFill>
          <a:ln w="13970">
            <a:solidFill>
              <a:srgbClr val="F04444"/>
            </a:solidFill>
            <a:prstDash val="solid"/>
          </a:ln>
        </p:spPr>
      </p:sp>
      <p:sp>
        <p:nvSpPr>
          <p:cNvPr id="258" name="Text 252"/>
          <p:cNvSpPr/>
          <p:nvPr/>
        </p:nvSpPr>
        <p:spPr>
          <a:xfrm>
            <a:off x="11071860" y="4114800"/>
            <a:ext cx="73152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D91D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Abnormal</a:t>
            </a:r>
            <a:endParaRPr lang="en-US" sz="1140" dirty="0"/>
          </a:p>
        </p:txBody>
      </p:sp>
      <p:sp>
        <p:nvSpPr>
          <p:cNvPr id="259" name="Shape 253"/>
          <p:cNvSpPr/>
          <p:nvPr/>
        </p:nvSpPr>
        <p:spPr>
          <a:xfrm>
            <a:off x="9837420" y="4480560"/>
            <a:ext cx="182880" cy="182880"/>
          </a:xfrm>
          <a:prstGeom prst="ellipse">
            <a:avLst/>
          </a:prstGeom>
          <a:solidFill>
            <a:srgbClr val="F04444"/>
          </a:solidFill>
          <a:ln w="10478">
            <a:solidFill>
              <a:srgbClr val="0C0C0C"/>
            </a:solidFill>
            <a:prstDash val="solid"/>
          </a:ln>
        </p:spPr>
      </p:sp>
      <p:sp>
        <p:nvSpPr>
          <p:cNvPr id="260" name="Text 254"/>
          <p:cNvSpPr/>
          <p:nvPr/>
        </p:nvSpPr>
        <p:spPr>
          <a:xfrm>
            <a:off x="9829800" y="4457700"/>
            <a:ext cx="198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×</a:t>
            </a:r>
            <a:endParaRPr lang="en-US" sz="1140" dirty="0"/>
          </a:p>
        </p:txBody>
      </p:sp>
      <p:sp>
        <p:nvSpPr>
          <p:cNvPr id="261" name="Text 255"/>
          <p:cNvSpPr/>
          <p:nvPr/>
        </p:nvSpPr>
        <p:spPr>
          <a:xfrm>
            <a:off x="10066020" y="4411980"/>
            <a:ext cx="162306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model just saw a few</a:t>
            </a:r>
            <a:endParaRPr lang="en-US" sz="9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frames!</a:t>
            </a:r>
            <a:endParaRPr lang="en-US" sz="960" dirty="0"/>
          </a:p>
        </p:txBody>
      </p:sp>
      <p:sp>
        <p:nvSpPr>
          <p:cNvPr id="262" name="Shape 256"/>
          <p:cNvSpPr/>
          <p:nvPr/>
        </p:nvSpPr>
        <p:spPr>
          <a:xfrm>
            <a:off x="11026140" y="460248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263" name="Text 257"/>
          <p:cNvSpPr/>
          <p:nvPr/>
        </p:nvSpPr>
        <p:spPr>
          <a:xfrm>
            <a:off x="11026140" y="461010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264" name="Text 258"/>
          <p:cNvSpPr/>
          <p:nvPr/>
        </p:nvSpPr>
        <p:spPr>
          <a:xfrm>
            <a:off x="11285220" y="46253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== -0.2</a:t>
            </a:r>
            <a:endParaRPr lang="en-US" sz="1020" dirty="0"/>
          </a:p>
        </p:txBody>
      </p:sp>
      <p:sp>
        <p:nvSpPr>
          <p:cNvPr id="265" name="Shape 259"/>
          <p:cNvSpPr/>
          <p:nvPr/>
        </p:nvSpPr>
        <p:spPr>
          <a:xfrm>
            <a:off x="5196840" y="4983480"/>
            <a:ext cx="4122420" cy="1798320"/>
          </a:xfrm>
          <a:prstGeom prst="rect">
            <a:avLst/>
          </a:prstGeom>
          <a:solidFill>
            <a:srgbClr val="FFFFFF">
              <a:alpha val="0"/>
            </a:srgbClr>
          </a:solidFill>
          <a:ln w="20955">
            <a:solidFill>
              <a:srgbClr val="A1A1A1"/>
            </a:solidFill>
            <a:prstDash val="solid"/>
          </a:ln>
        </p:spPr>
      </p:sp>
      <p:sp>
        <p:nvSpPr>
          <p:cNvPr id="266" name="Shape 260"/>
          <p:cNvSpPr/>
          <p:nvPr/>
        </p:nvSpPr>
        <p:spPr>
          <a:xfrm>
            <a:off x="9304020" y="4983480"/>
            <a:ext cx="2796540" cy="1798320"/>
          </a:xfrm>
          <a:prstGeom prst="rect">
            <a:avLst/>
          </a:prstGeom>
          <a:solidFill>
            <a:srgbClr val="FFFFFF">
              <a:alpha val="0"/>
            </a:srgbClr>
          </a:solidFill>
          <a:ln w="20955">
            <a:solidFill>
              <a:srgbClr val="A1A1A1"/>
            </a:solidFill>
            <a:prstDash val="solid"/>
          </a:ln>
        </p:spPr>
      </p:sp>
      <p:sp>
        <p:nvSpPr>
          <p:cNvPr id="267" name="Text 261"/>
          <p:cNvSpPr/>
          <p:nvPr/>
        </p:nvSpPr>
        <p:spPr>
          <a:xfrm>
            <a:off x="5326380" y="503682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3: Computing KL Divergence</a:t>
            </a:r>
            <a:endParaRPr lang="en-US" sz="1620" dirty="0"/>
          </a:p>
        </p:txBody>
      </p:sp>
      <p:sp>
        <p:nvSpPr>
          <p:cNvPr id="268" name="Shape 262"/>
          <p:cNvSpPr/>
          <p:nvPr/>
        </p:nvSpPr>
        <p:spPr>
          <a:xfrm>
            <a:off x="5326380" y="5311140"/>
            <a:ext cx="3657600" cy="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69" name="Shape 263"/>
          <p:cNvSpPr/>
          <p:nvPr/>
        </p:nvSpPr>
        <p:spPr>
          <a:xfrm>
            <a:off x="5288280" y="5455920"/>
            <a:ext cx="1097280" cy="266700"/>
          </a:xfrm>
          <a:prstGeom prst="roundRect">
            <a:avLst>
              <a:gd name="adj" fmla="val 50000"/>
            </a:avLst>
          </a:prstGeom>
          <a:solidFill>
            <a:srgbClr val="F5B07B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270" name="Text 264"/>
          <p:cNvSpPr/>
          <p:nvPr/>
        </p:nvSpPr>
        <p:spPr>
          <a:xfrm>
            <a:off x="5326380" y="5463540"/>
            <a:ext cx="1021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Completion 1</a:t>
            </a:r>
            <a:endParaRPr lang="en-US" sz="1020" dirty="0"/>
          </a:p>
        </p:txBody>
      </p:sp>
      <p:sp>
        <p:nvSpPr>
          <p:cNvPr id="271" name="Shape 265"/>
          <p:cNvSpPr/>
          <p:nvPr/>
        </p:nvSpPr>
        <p:spPr>
          <a:xfrm>
            <a:off x="5288280" y="5768340"/>
            <a:ext cx="1097280" cy="266700"/>
          </a:xfrm>
          <a:prstGeom prst="roundRect">
            <a:avLst>
              <a:gd name="adj" fmla="val 50000"/>
            </a:avLst>
          </a:prstGeom>
          <a:solidFill>
            <a:srgbClr val="F5B07B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272" name="Text 266"/>
          <p:cNvSpPr/>
          <p:nvPr/>
        </p:nvSpPr>
        <p:spPr>
          <a:xfrm>
            <a:off x="5326380" y="5775960"/>
            <a:ext cx="1021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Completion 2</a:t>
            </a:r>
            <a:endParaRPr lang="en-US" sz="1020" dirty="0"/>
          </a:p>
        </p:txBody>
      </p:sp>
      <p:sp>
        <p:nvSpPr>
          <p:cNvPr id="273" name="Text 267"/>
          <p:cNvSpPr/>
          <p:nvPr/>
        </p:nvSpPr>
        <p:spPr>
          <a:xfrm>
            <a:off x="5715000" y="6035040"/>
            <a:ext cx="266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...</a:t>
            </a:r>
            <a:endParaRPr lang="en-US" sz="1200" dirty="0"/>
          </a:p>
        </p:txBody>
      </p:sp>
      <p:sp>
        <p:nvSpPr>
          <p:cNvPr id="274" name="Text 268"/>
          <p:cNvSpPr/>
          <p:nvPr/>
        </p:nvSpPr>
        <p:spPr>
          <a:xfrm>
            <a:off x="5250180" y="6179820"/>
            <a:ext cx="1173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Group of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Completions</a:t>
            </a:r>
            <a:endParaRPr lang="en-US" sz="1200" dirty="0"/>
          </a:p>
        </p:txBody>
      </p:sp>
      <p:sp>
        <p:nvSpPr>
          <p:cNvPr id="275" name="Shape 269"/>
          <p:cNvSpPr/>
          <p:nvPr/>
        </p:nvSpPr>
        <p:spPr>
          <a:xfrm>
            <a:off x="6408420" y="5593080"/>
            <a:ext cx="16002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76" name="Shape 270"/>
          <p:cNvSpPr/>
          <p:nvPr/>
        </p:nvSpPr>
        <p:spPr>
          <a:xfrm>
            <a:off x="6568440" y="5410200"/>
            <a:ext cx="0" cy="103632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77" name="Shape 271"/>
          <p:cNvSpPr/>
          <p:nvPr/>
        </p:nvSpPr>
        <p:spPr>
          <a:xfrm>
            <a:off x="6568440" y="5410200"/>
            <a:ext cx="20574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78" name="Shape 272"/>
          <p:cNvSpPr/>
          <p:nvPr/>
        </p:nvSpPr>
        <p:spPr>
          <a:xfrm>
            <a:off x="6568440" y="6446520"/>
            <a:ext cx="20574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279" name="Text 273"/>
          <p:cNvSpPr/>
          <p:nvPr/>
        </p:nvSpPr>
        <p:spPr>
          <a:xfrm>
            <a:off x="6888480" y="5364480"/>
            <a:ext cx="79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Policy</a:t>
            </a:r>
            <a:endParaRPr lang="en-US" sz="12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6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Model</a:t>
            </a:r>
            <a:endParaRPr lang="en-US" sz="1260" dirty="0"/>
          </a:p>
        </p:txBody>
      </p:sp>
      <p:sp>
        <p:nvSpPr>
          <p:cNvPr id="280" name="Shape 274"/>
          <p:cNvSpPr/>
          <p:nvPr/>
        </p:nvSpPr>
        <p:spPr>
          <a:xfrm>
            <a:off x="7888148" y="5306263"/>
            <a:ext cx="0" cy="40462"/>
          </a:xfrm>
          <a:prstGeom prst="line">
            <a:avLst/>
          </a:prstGeom>
          <a:noFill/>
          <a:ln w="8992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81" name="Shape 275"/>
          <p:cNvSpPr/>
          <p:nvPr/>
        </p:nvSpPr>
        <p:spPr>
          <a:xfrm>
            <a:off x="7865669" y="5288280"/>
            <a:ext cx="44958" cy="35966"/>
          </a:xfrm>
          <a:prstGeom prst="ellipse">
            <a:avLst/>
          </a:prstGeom>
          <a:solidFill>
            <a:srgbClr val="F04444"/>
          </a:solidFill>
          <a:ln w="6182">
            <a:solidFill>
              <a:srgbClr val="0C0C0C"/>
            </a:solidFill>
            <a:prstDash val="solid"/>
          </a:ln>
        </p:spPr>
      </p:sp>
      <p:sp>
        <p:nvSpPr>
          <p:cNvPr id="282" name="Shape 276"/>
          <p:cNvSpPr/>
          <p:nvPr/>
        </p:nvSpPr>
        <p:spPr>
          <a:xfrm>
            <a:off x="7964576" y="5279288"/>
            <a:ext cx="94412" cy="121387"/>
          </a:xfrm>
          <a:prstGeom prst="lightningBolt">
            <a:avLst/>
          </a:prstGeom>
          <a:solidFill>
            <a:srgbClr val="FF5A36"/>
          </a:solidFill>
          <a:ln w="6182">
            <a:solidFill>
              <a:srgbClr val="0C0C0C"/>
            </a:solidFill>
            <a:prstDash val="solid"/>
          </a:ln>
        </p:spPr>
      </p:sp>
      <p:sp>
        <p:nvSpPr>
          <p:cNvPr id="283" name="Shape 277"/>
          <p:cNvSpPr/>
          <p:nvPr/>
        </p:nvSpPr>
        <p:spPr>
          <a:xfrm>
            <a:off x="7996047" y="5315255"/>
            <a:ext cx="40462" cy="67437"/>
          </a:xfrm>
          <a:prstGeom prst="lightningBolt">
            <a:avLst/>
          </a:prstGeom>
          <a:solidFill>
            <a:srgbClr val="FFD7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7726299" y="5346725"/>
            <a:ext cx="292227" cy="233782"/>
          </a:xfrm>
          <a:prstGeom prst="roundRect">
            <a:avLst>
              <a:gd name="adj" fmla="val 21154"/>
            </a:avLst>
          </a:prstGeom>
          <a:solidFill>
            <a:srgbClr val="96D6DE"/>
          </a:solidFill>
          <a:ln w="8242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285" name="Shape 279"/>
          <p:cNvSpPr/>
          <p:nvPr/>
        </p:nvSpPr>
        <p:spPr>
          <a:xfrm>
            <a:off x="7748778" y="5369204"/>
            <a:ext cx="247269" cy="166345"/>
          </a:xfrm>
          <a:prstGeom prst="roundRect">
            <a:avLst>
              <a:gd name="adj" fmla="val 21622"/>
            </a:avLst>
          </a:prstGeom>
          <a:solidFill>
            <a:srgbClr val="E8FAFB"/>
          </a:solidFill>
          <a:ln w="5770">
            <a:solidFill>
              <a:srgbClr val="275D8C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7789240" y="5414162"/>
            <a:ext cx="31471" cy="40462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7924114" y="5414162"/>
            <a:ext cx="31471" cy="40462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288" name="Shape 282"/>
          <p:cNvSpPr/>
          <p:nvPr/>
        </p:nvSpPr>
        <p:spPr>
          <a:xfrm>
            <a:off x="7838694" y="5490591"/>
            <a:ext cx="62941" cy="0"/>
          </a:xfrm>
          <a:prstGeom prst="line">
            <a:avLst/>
          </a:prstGeom>
          <a:noFill/>
          <a:ln w="8992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289" name="Shape 283"/>
          <p:cNvSpPr/>
          <p:nvPr/>
        </p:nvSpPr>
        <p:spPr>
          <a:xfrm>
            <a:off x="7762265" y="5580507"/>
            <a:ext cx="220294" cy="121387"/>
          </a:xfrm>
          <a:prstGeom prst="roundRect">
            <a:avLst>
              <a:gd name="adj" fmla="val 14815"/>
            </a:avLst>
          </a:prstGeom>
          <a:solidFill>
            <a:srgbClr val="5DAEC1"/>
          </a:solidFill>
          <a:ln w="8242">
            <a:solidFill>
              <a:srgbClr val="0C0C0C"/>
            </a:solidFill>
            <a:prstDash val="solid"/>
          </a:ln>
        </p:spPr>
      </p:sp>
      <p:sp>
        <p:nvSpPr>
          <p:cNvPr id="290" name="Text 284"/>
          <p:cNvSpPr/>
          <p:nvPr/>
        </p:nvSpPr>
        <p:spPr>
          <a:xfrm>
            <a:off x="7762265" y="5593994"/>
            <a:ext cx="220294" cy="7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9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</a:t>
            </a:r>
            <a:endParaRPr lang="en-US" sz="389" dirty="0"/>
          </a:p>
        </p:txBody>
      </p:sp>
      <p:sp>
        <p:nvSpPr>
          <p:cNvPr id="291" name="Shape 285"/>
          <p:cNvSpPr/>
          <p:nvPr/>
        </p:nvSpPr>
        <p:spPr>
          <a:xfrm>
            <a:off x="7721803" y="5602986"/>
            <a:ext cx="-31471" cy="53950"/>
          </a:xfrm>
          <a:prstGeom prst="line">
            <a:avLst/>
          </a:prstGeom>
          <a:noFill/>
          <a:ln w="13487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92" name="Shape 286"/>
          <p:cNvSpPr/>
          <p:nvPr/>
        </p:nvSpPr>
        <p:spPr>
          <a:xfrm>
            <a:off x="8018526" y="5602986"/>
            <a:ext cx="35966" cy="53950"/>
          </a:xfrm>
          <a:prstGeom prst="line">
            <a:avLst/>
          </a:prstGeom>
          <a:noFill/>
          <a:ln w="13487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93" name="Shape 287"/>
          <p:cNvSpPr/>
          <p:nvPr/>
        </p:nvSpPr>
        <p:spPr>
          <a:xfrm>
            <a:off x="7816215" y="5701894"/>
            <a:ext cx="-22479" cy="31471"/>
          </a:xfrm>
          <a:prstGeom prst="line">
            <a:avLst/>
          </a:prstGeom>
          <a:noFill/>
          <a:ln w="13487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94" name="Shape 288"/>
          <p:cNvSpPr/>
          <p:nvPr/>
        </p:nvSpPr>
        <p:spPr>
          <a:xfrm>
            <a:off x="7928610" y="5701894"/>
            <a:ext cx="26975" cy="31471"/>
          </a:xfrm>
          <a:prstGeom prst="line">
            <a:avLst/>
          </a:prstGeom>
          <a:noFill/>
          <a:ln w="13487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95" name="Text 289"/>
          <p:cNvSpPr/>
          <p:nvPr/>
        </p:nvSpPr>
        <p:spPr>
          <a:xfrm>
            <a:off x="6774180" y="6240780"/>
            <a:ext cx="10058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Reference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Model</a:t>
            </a:r>
            <a:endParaRPr lang="en-US" sz="1200" dirty="0"/>
          </a:p>
        </p:txBody>
      </p:sp>
      <p:sp>
        <p:nvSpPr>
          <p:cNvPr id="296" name="Shape 290"/>
          <p:cNvSpPr/>
          <p:nvPr/>
        </p:nvSpPr>
        <p:spPr>
          <a:xfrm>
            <a:off x="7901635" y="6158789"/>
            <a:ext cx="0" cy="38405"/>
          </a:xfrm>
          <a:prstGeom prst="line">
            <a:avLst/>
          </a:prstGeom>
          <a:noFill/>
          <a:ln w="8534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297" name="Shape 291"/>
          <p:cNvSpPr/>
          <p:nvPr/>
        </p:nvSpPr>
        <p:spPr>
          <a:xfrm>
            <a:off x="7880299" y="6141720"/>
            <a:ext cx="42672" cy="34138"/>
          </a:xfrm>
          <a:prstGeom prst="ellipse">
            <a:avLst/>
          </a:prstGeom>
          <a:solidFill>
            <a:srgbClr val="BFD7ED"/>
          </a:solidFill>
          <a:ln w="5867">
            <a:solidFill>
              <a:srgbClr val="0C0C0C"/>
            </a:solidFill>
            <a:prstDash val="solid"/>
          </a:ln>
        </p:spPr>
      </p:sp>
      <p:sp>
        <p:nvSpPr>
          <p:cNvPr id="298" name="Shape 292"/>
          <p:cNvSpPr/>
          <p:nvPr/>
        </p:nvSpPr>
        <p:spPr>
          <a:xfrm>
            <a:off x="7974178" y="6154522"/>
            <a:ext cx="51206" cy="51206"/>
          </a:xfrm>
          <a:prstGeom prst="line">
            <a:avLst/>
          </a:prstGeom>
          <a:noFill/>
          <a:ln w="6401">
            <a:solidFill>
              <a:srgbClr val="2C7FC1"/>
            </a:solidFill>
            <a:prstDash val="solid"/>
            <a:headEnd type="none"/>
            <a:tailEnd type="none"/>
          </a:ln>
        </p:spPr>
      </p:sp>
      <p:sp>
        <p:nvSpPr>
          <p:cNvPr id="299" name="Shape 293"/>
          <p:cNvSpPr/>
          <p:nvPr/>
        </p:nvSpPr>
        <p:spPr>
          <a:xfrm>
            <a:off x="8025384" y="6154522"/>
            <a:ext cx="-51206" cy="51206"/>
          </a:xfrm>
          <a:prstGeom prst="line">
            <a:avLst/>
          </a:prstGeom>
          <a:noFill/>
          <a:ln w="6401">
            <a:solidFill>
              <a:srgbClr val="2C7FC1"/>
            </a:solidFill>
            <a:prstDash val="solid"/>
            <a:headEnd type="none"/>
            <a:tailEnd type="none"/>
          </a:ln>
        </p:spPr>
      </p:sp>
      <p:sp>
        <p:nvSpPr>
          <p:cNvPr id="300" name="Shape 294"/>
          <p:cNvSpPr/>
          <p:nvPr/>
        </p:nvSpPr>
        <p:spPr>
          <a:xfrm>
            <a:off x="7999781" y="6141720"/>
            <a:ext cx="0" cy="76810"/>
          </a:xfrm>
          <a:prstGeom prst="line">
            <a:avLst/>
          </a:prstGeom>
          <a:noFill/>
          <a:ln w="6401">
            <a:solidFill>
              <a:srgbClr val="2C7FC1"/>
            </a:solidFill>
            <a:prstDash val="solid"/>
            <a:headEnd type="none"/>
            <a:tailEnd type="none"/>
          </a:ln>
        </p:spPr>
      </p:sp>
      <p:sp>
        <p:nvSpPr>
          <p:cNvPr id="301" name="Shape 295"/>
          <p:cNvSpPr/>
          <p:nvPr/>
        </p:nvSpPr>
        <p:spPr>
          <a:xfrm>
            <a:off x="7748016" y="6197194"/>
            <a:ext cx="277368" cy="221894"/>
          </a:xfrm>
          <a:prstGeom prst="roundRect">
            <a:avLst>
              <a:gd name="adj" fmla="val 21154"/>
            </a:avLst>
          </a:prstGeom>
          <a:solidFill>
            <a:srgbClr val="BFD7ED"/>
          </a:solidFill>
          <a:ln w="7823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302" name="Shape 296"/>
          <p:cNvSpPr/>
          <p:nvPr/>
        </p:nvSpPr>
        <p:spPr>
          <a:xfrm>
            <a:off x="7769352" y="6218530"/>
            <a:ext cx="234696" cy="157886"/>
          </a:xfrm>
          <a:prstGeom prst="roundRect">
            <a:avLst>
              <a:gd name="adj" fmla="val 21622"/>
            </a:avLst>
          </a:prstGeom>
          <a:solidFill>
            <a:srgbClr val="E8FAFB"/>
          </a:solidFill>
          <a:ln w="5476">
            <a:solidFill>
              <a:srgbClr val="275D8C"/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7807757" y="6261202"/>
            <a:ext cx="29870" cy="38405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304" name="Shape 298"/>
          <p:cNvSpPr/>
          <p:nvPr/>
        </p:nvSpPr>
        <p:spPr>
          <a:xfrm>
            <a:off x="7935773" y="6261202"/>
            <a:ext cx="29870" cy="38405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305" name="Shape 299"/>
          <p:cNvSpPr/>
          <p:nvPr/>
        </p:nvSpPr>
        <p:spPr>
          <a:xfrm>
            <a:off x="7854696" y="6333744"/>
            <a:ext cx="59741" cy="0"/>
          </a:xfrm>
          <a:prstGeom prst="line">
            <a:avLst/>
          </a:prstGeom>
          <a:noFill/>
          <a:ln w="8534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306" name="Shape 300"/>
          <p:cNvSpPr/>
          <p:nvPr/>
        </p:nvSpPr>
        <p:spPr>
          <a:xfrm>
            <a:off x="7782154" y="6419088"/>
            <a:ext cx="209093" cy="115214"/>
          </a:xfrm>
          <a:prstGeom prst="roundRect">
            <a:avLst>
              <a:gd name="adj" fmla="val 14815"/>
            </a:avLst>
          </a:prstGeom>
          <a:solidFill>
            <a:srgbClr val="5DAEC1"/>
          </a:solidFill>
          <a:ln w="7823">
            <a:solidFill>
              <a:srgbClr val="0C0C0C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7782154" y="6431890"/>
            <a:ext cx="209093" cy="72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7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</a:t>
            </a:r>
            <a:endParaRPr lang="en-US" sz="370" dirty="0"/>
          </a:p>
        </p:txBody>
      </p:sp>
      <p:sp>
        <p:nvSpPr>
          <p:cNvPr id="308" name="Shape 302"/>
          <p:cNvSpPr/>
          <p:nvPr/>
        </p:nvSpPr>
        <p:spPr>
          <a:xfrm>
            <a:off x="7743749" y="6440424"/>
            <a:ext cx="-29870" cy="51206"/>
          </a:xfrm>
          <a:prstGeom prst="line">
            <a:avLst/>
          </a:prstGeom>
          <a:noFill/>
          <a:ln w="12802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09" name="Shape 303"/>
          <p:cNvSpPr/>
          <p:nvPr/>
        </p:nvSpPr>
        <p:spPr>
          <a:xfrm>
            <a:off x="8025384" y="6440424"/>
            <a:ext cx="34138" cy="51206"/>
          </a:xfrm>
          <a:prstGeom prst="line">
            <a:avLst/>
          </a:prstGeom>
          <a:noFill/>
          <a:ln w="12802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10" name="Shape 304"/>
          <p:cNvSpPr/>
          <p:nvPr/>
        </p:nvSpPr>
        <p:spPr>
          <a:xfrm>
            <a:off x="7833360" y="6534302"/>
            <a:ext cx="-21336" cy="29870"/>
          </a:xfrm>
          <a:prstGeom prst="line">
            <a:avLst/>
          </a:prstGeom>
          <a:noFill/>
          <a:ln w="12802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11" name="Shape 305"/>
          <p:cNvSpPr/>
          <p:nvPr/>
        </p:nvSpPr>
        <p:spPr>
          <a:xfrm>
            <a:off x="7940040" y="6534302"/>
            <a:ext cx="25603" cy="29870"/>
          </a:xfrm>
          <a:prstGeom prst="line">
            <a:avLst/>
          </a:prstGeom>
          <a:noFill/>
          <a:ln w="12802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12" name="Shape 306"/>
          <p:cNvSpPr/>
          <p:nvPr/>
        </p:nvSpPr>
        <p:spPr>
          <a:xfrm>
            <a:off x="8077200" y="5615940"/>
            <a:ext cx="29718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13" name="Shape 307"/>
          <p:cNvSpPr/>
          <p:nvPr/>
        </p:nvSpPr>
        <p:spPr>
          <a:xfrm>
            <a:off x="8374380" y="5615940"/>
            <a:ext cx="0" cy="32766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314" name="Text 308"/>
          <p:cNvSpPr/>
          <p:nvPr/>
        </p:nvSpPr>
        <p:spPr>
          <a:xfrm>
            <a:off x="8420100" y="5379720"/>
            <a:ext cx="8153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Token Wise</a:t>
            </a:r>
            <a:endParaRPr lang="en-US" sz="10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Logits</a:t>
            </a:r>
            <a:endParaRPr lang="en-US" sz="1080" dirty="0"/>
          </a:p>
        </p:txBody>
      </p:sp>
      <p:sp>
        <p:nvSpPr>
          <p:cNvPr id="315" name="Shape 309"/>
          <p:cNvSpPr/>
          <p:nvPr/>
        </p:nvSpPr>
        <p:spPr>
          <a:xfrm>
            <a:off x="7292340" y="584454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BFD7ED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316" name="Text 310"/>
          <p:cNvSpPr/>
          <p:nvPr/>
        </p:nvSpPr>
        <p:spPr>
          <a:xfrm>
            <a:off x="7292340" y="585216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</a:t>
            </a:r>
            <a:endParaRPr lang="en-US" sz="1080" dirty="0"/>
          </a:p>
        </p:txBody>
      </p:sp>
      <p:sp>
        <p:nvSpPr>
          <p:cNvPr id="317" name="Text 311"/>
          <p:cNvSpPr/>
          <p:nvPr/>
        </p:nvSpPr>
        <p:spPr>
          <a:xfrm>
            <a:off x="7551420" y="5867400"/>
            <a:ext cx="3124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D</a:t>
            </a:r>
            <a:endParaRPr lang="en-US" sz="1140" dirty="0"/>
          </a:p>
        </p:txBody>
      </p:sp>
      <p:sp>
        <p:nvSpPr>
          <p:cNvPr id="318" name="Text 312"/>
          <p:cNvSpPr/>
          <p:nvPr/>
        </p:nvSpPr>
        <p:spPr>
          <a:xfrm>
            <a:off x="7818120" y="5974080"/>
            <a:ext cx="2209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KL</a:t>
            </a:r>
            <a:endParaRPr lang="en-US" sz="720" dirty="0"/>
          </a:p>
        </p:txBody>
      </p:sp>
      <p:sp>
        <p:nvSpPr>
          <p:cNvPr id="319" name="Shape 313"/>
          <p:cNvSpPr/>
          <p:nvPr/>
        </p:nvSpPr>
        <p:spPr>
          <a:xfrm>
            <a:off x="8107680" y="58369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4"/>
          <p:cNvSpPr/>
          <p:nvPr/>
        </p:nvSpPr>
        <p:spPr>
          <a:xfrm>
            <a:off x="8260080" y="58369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5"/>
          <p:cNvSpPr/>
          <p:nvPr/>
        </p:nvSpPr>
        <p:spPr>
          <a:xfrm>
            <a:off x="8412480" y="58369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6"/>
          <p:cNvSpPr/>
          <p:nvPr/>
        </p:nvSpPr>
        <p:spPr>
          <a:xfrm>
            <a:off x="8107680" y="59893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17"/>
          <p:cNvSpPr/>
          <p:nvPr/>
        </p:nvSpPr>
        <p:spPr>
          <a:xfrm>
            <a:off x="8260080" y="59893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18"/>
          <p:cNvSpPr/>
          <p:nvPr/>
        </p:nvSpPr>
        <p:spPr>
          <a:xfrm>
            <a:off x="8412480" y="59893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19"/>
          <p:cNvSpPr/>
          <p:nvPr/>
        </p:nvSpPr>
        <p:spPr>
          <a:xfrm>
            <a:off x="8107680" y="61417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0"/>
          <p:cNvSpPr/>
          <p:nvPr/>
        </p:nvSpPr>
        <p:spPr>
          <a:xfrm>
            <a:off x="8260080" y="61417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1"/>
          <p:cNvSpPr/>
          <p:nvPr/>
        </p:nvSpPr>
        <p:spPr>
          <a:xfrm>
            <a:off x="8412480" y="61417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Text 322"/>
          <p:cNvSpPr/>
          <p:nvPr/>
        </p:nvSpPr>
        <p:spPr>
          <a:xfrm>
            <a:off x="8572500" y="5791200"/>
            <a:ext cx="1905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‖</a:t>
            </a:r>
            <a:endParaRPr lang="en-US" sz="2700" dirty="0"/>
          </a:p>
        </p:txBody>
      </p:sp>
      <p:sp>
        <p:nvSpPr>
          <p:cNvPr id="329" name="Shape 323"/>
          <p:cNvSpPr/>
          <p:nvPr/>
        </p:nvSpPr>
        <p:spPr>
          <a:xfrm>
            <a:off x="8763000" y="58369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4"/>
          <p:cNvSpPr/>
          <p:nvPr/>
        </p:nvSpPr>
        <p:spPr>
          <a:xfrm>
            <a:off x="8915400" y="58369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5"/>
          <p:cNvSpPr/>
          <p:nvPr/>
        </p:nvSpPr>
        <p:spPr>
          <a:xfrm>
            <a:off x="9067800" y="58369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6"/>
          <p:cNvSpPr/>
          <p:nvPr/>
        </p:nvSpPr>
        <p:spPr>
          <a:xfrm>
            <a:off x="8763000" y="59893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27"/>
          <p:cNvSpPr/>
          <p:nvPr/>
        </p:nvSpPr>
        <p:spPr>
          <a:xfrm>
            <a:off x="8915400" y="59893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28"/>
          <p:cNvSpPr/>
          <p:nvPr/>
        </p:nvSpPr>
        <p:spPr>
          <a:xfrm>
            <a:off x="9067800" y="59893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29"/>
          <p:cNvSpPr/>
          <p:nvPr/>
        </p:nvSpPr>
        <p:spPr>
          <a:xfrm>
            <a:off x="8763000" y="61417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0"/>
          <p:cNvSpPr/>
          <p:nvPr/>
        </p:nvSpPr>
        <p:spPr>
          <a:xfrm>
            <a:off x="8915400" y="61417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FE7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1"/>
          <p:cNvSpPr/>
          <p:nvPr/>
        </p:nvSpPr>
        <p:spPr>
          <a:xfrm>
            <a:off x="9067800" y="6141720"/>
            <a:ext cx="114300" cy="114300"/>
          </a:xfrm>
          <a:prstGeom prst="roundRect">
            <a:avLst>
              <a:gd name="adj" fmla="val 20000"/>
            </a:avLst>
          </a:prstGeom>
          <a:solidFill>
            <a:srgbClr val="F5B0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2"/>
          <p:cNvSpPr/>
          <p:nvPr/>
        </p:nvSpPr>
        <p:spPr>
          <a:xfrm>
            <a:off x="8023860" y="6469380"/>
            <a:ext cx="891540" cy="0"/>
          </a:xfrm>
          <a:prstGeom prst="line">
            <a:avLst/>
          </a:prstGeom>
          <a:noFill/>
          <a:ln w="22860">
            <a:solidFill>
              <a:srgbClr val="0C0C0C"/>
            </a:solidFill>
            <a:prstDash val="solid"/>
            <a:headEnd type="none"/>
            <a:tailEnd type="triangle"/>
          </a:ln>
        </p:spPr>
      </p:sp>
      <p:sp>
        <p:nvSpPr>
          <p:cNvPr id="339" name="Text 333"/>
          <p:cNvSpPr/>
          <p:nvPr/>
        </p:nvSpPr>
        <p:spPr>
          <a:xfrm>
            <a:off x="9433560" y="5036820"/>
            <a:ext cx="243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4: Computing Loss</a:t>
            </a:r>
            <a:endParaRPr lang="en-US" sz="1620" dirty="0"/>
          </a:p>
        </p:txBody>
      </p:sp>
      <p:sp>
        <p:nvSpPr>
          <p:cNvPr id="340" name="Shape 334"/>
          <p:cNvSpPr/>
          <p:nvPr/>
        </p:nvSpPr>
        <p:spPr>
          <a:xfrm>
            <a:off x="9433560" y="5311140"/>
            <a:ext cx="2400300" cy="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41" name="Text 335"/>
          <p:cNvSpPr/>
          <p:nvPr/>
        </p:nvSpPr>
        <p:spPr>
          <a:xfrm>
            <a:off x="9631680" y="5433060"/>
            <a:ext cx="61722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8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Sum:</a:t>
            </a:r>
            <a:endParaRPr lang="en-US" sz="1380" dirty="0"/>
          </a:p>
        </p:txBody>
      </p:sp>
      <p:sp>
        <p:nvSpPr>
          <p:cNvPr id="342" name="Shape 336"/>
          <p:cNvSpPr/>
          <p:nvPr/>
        </p:nvSpPr>
        <p:spPr>
          <a:xfrm>
            <a:off x="10363200" y="539496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343" name="Text 337"/>
          <p:cNvSpPr/>
          <p:nvPr/>
        </p:nvSpPr>
        <p:spPr>
          <a:xfrm>
            <a:off x="10363200" y="540258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344" name="Text 338"/>
          <p:cNvSpPr/>
          <p:nvPr/>
        </p:nvSpPr>
        <p:spPr>
          <a:xfrm>
            <a:off x="10652760" y="5410200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</a:t>
            </a:r>
            <a:endParaRPr lang="en-US" sz="1260" dirty="0"/>
          </a:p>
        </p:txBody>
      </p:sp>
      <p:sp>
        <p:nvSpPr>
          <p:cNvPr id="345" name="Shape 339"/>
          <p:cNvSpPr/>
          <p:nvPr/>
        </p:nvSpPr>
        <p:spPr>
          <a:xfrm>
            <a:off x="10850880" y="539496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346" name="Text 340"/>
          <p:cNvSpPr/>
          <p:nvPr/>
        </p:nvSpPr>
        <p:spPr>
          <a:xfrm>
            <a:off x="10850880" y="540258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347" name="Text 341"/>
          <p:cNvSpPr/>
          <p:nvPr/>
        </p:nvSpPr>
        <p:spPr>
          <a:xfrm>
            <a:off x="11125200" y="5410200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+</a:t>
            </a:r>
            <a:endParaRPr lang="en-US" sz="1260" dirty="0"/>
          </a:p>
        </p:txBody>
      </p:sp>
      <p:sp>
        <p:nvSpPr>
          <p:cNvPr id="348" name="Shape 342"/>
          <p:cNvSpPr/>
          <p:nvPr/>
        </p:nvSpPr>
        <p:spPr>
          <a:xfrm>
            <a:off x="11308080" y="539496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349" name="Text 343"/>
          <p:cNvSpPr/>
          <p:nvPr/>
        </p:nvSpPr>
        <p:spPr>
          <a:xfrm>
            <a:off x="11308080" y="540258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350" name="Text 344"/>
          <p:cNvSpPr/>
          <p:nvPr/>
        </p:nvSpPr>
        <p:spPr>
          <a:xfrm>
            <a:off x="11582400" y="5410200"/>
            <a:ext cx="1828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+</a:t>
            </a:r>
            <a:endParaRPr lang="en-US" sz="1260" dirty="0"/>
          </a:p>
        </p:txBody>
      </p:sp>
      <p:sp>
        <p:nvSpPr>
          <p:cNvPr id="351" name="Shape 345"/>
          <p:cNvSpPr/>
          <p:nvPr/>
        </p:nvSpPr>
        <p:spPr>
          <a:xfrm>
            <a:off x="11765280" y="539496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352" name="Text 346"/>
          <p:cNvSpPr/>
          <p:nvPr/>
        </p:nvSpPr>
        <p:spPr>
          <a:xfrm>
            <a:off x="11765280" y="540258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353" name="Text 347"/>
          <p:cNvSpPr/>
          <p:nvPr/>
        </p:nvSpPr>
        <p:spPr>
          <a:xfrm>
            <a:off x="9403080" y="5798820"/>
            <a:ext cx="97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Normalize:</a:t>
            </a:r>
            <a:endParaRPr lang="en-US" sz="1320" dirty="0"/>
          </a:p>
        </p:txBody>
      </p:sp>
      <p:sp>
        <p:nvSpPr>
          <p:cNvPr id="354" name="Shape 348"/>
          <p:cNvSpPr/>
          <p:nvPr/>
        </p:nvSpPr>
        <p:spPr>
          <a:xfrm>
            <a:off x="10477500" y="576072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FFD777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355" name="Text 349"/>
          <p:cNvSpPr/>
          <p:nvPr/>
        </p:nvSpPr>
        <p:spPr>
          <a:xfrm>
            <a:off x="10477500" y="576834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</a:t>
            </a:r>
            <a:endParaRPr lang="en-US" sz="1080" dirty="0"/>
          </a:p>
        </p:txBody>
      </p:sp>
      <p:sp>
        <p:nvSpPr>
          <p:cNvPr id="356" name="Text 350"/>
          <p:cNvSpPr/>
          <p:nvPr/>
        </p:nvSpPr>
        <p:spPr>
          <a:xfrm>
            <a:off x="10759440" y="5783580"/>
            <a:ext cx="1676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</a:t>
            </a:r>
            <a:endParaRPr lang="en-US" sz="1260" dirty="0"/>
          </a:p>
        </p:txBody>
      </p:sp>
      <p:sp>
        <p:nvSpPr>
          <p:cNvPr id="357" name="Shape 351"/>
          <p:cNvSpPr/>
          <p:nvPr/>
        </p:nvSpPr>
        <p:spPr>
          <a:xfrm>
            <a:off x="10934700" y="576072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72C45A"/>
          </a:solidFill>
          <a:ln w="13970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358" name="Text 352"/>
          <p:cNvSpPr/>
          <p:nvPr/>
        </p:nvSpPr>
        <p:spPr>
          <a:xfrm>
            <a:off x="10934700" y="576834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</a:t>
            </a:r>
            <a:endParaRPr lang="en-US" sz="1140" dirty="0"/>
          </a:p>
        </p:txBody>
      </p:sp>
      <p:sp>
        <p:nvSpPr>
          <p:cNvPr id="359" name="Text 353"/>
          <p:cNvSpPr/>
          <p:nvPr/>
        </p:nvSpPr>
        <p:spPr>
          <a:xfrm>
            <a:off x="11201400" y="5730240"/>
            <a:ext cx="7010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− Mean</a:t>
            </a:r>
            <a:endParaRPr lang="en-US" sz="1080" dirty="0"/>
          </a:p>
        </p:txBody>
      </p:sp>
      <p:sp>
        <p:nvSpPr>
          <p:cNvPr id="360" name="Shape 354"/>
          <p:cNvSpPr/>
          <p:nvPr/>
        </p:nvSpPr>
        <p:spPr>
          <a:xfrm>
            <a:off x="11201400" y="5935980"/>
            <a:ext cx="701040" cy="0"/>
          </a:xfrm>
          <a:prstGeom prst="line">
            <a:avLst/>
          </a:prstGeom>
          <a:noFill/>
          <a:ln w="15240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61" name="Shape 355"/>
          <p:cNvSpPr/>
          <p:nvPr/>
        </p:nvSpPr>
        <p:spPr>
          <a:xfrm>
            <a:off x="11369040" y="5958840"/>
            <a:ext cx="381000" cy="213360"/>
          </a:xfrm>
          <a:prstGeom prst="roundRect">
            <a:avLst>
              <a:gd name="adj" fmla="val 50000"/>
            </a:avLst>
          </a:prstGeom>
          <a:solidFill>
            <a:srgbClr val="F8F8F8"/>
          </a:solidFill>
          <a:ln w="13970">
            <a:solidFill>
              <a:srgbClr val="A1A1A1"/>
            </a:solidFill>
            <a:prstDash val="solid"/>
          </a:ln>
        </p:spPr>
      </p:sp>
      <p:sp>
        <p:nvSpPr>
          <p:cNvPr id="362" name="Text 356"/>
          <p:cNvSpPr/>
          <p:nvPr/>
        </p:nvSpPr>
        <p:spPr>
          <a:xfrm>
            <a:off x="11407140" y="5966460"/>
            <a:ext cx="3048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Std</a:t>
            </a:r>
            <a:endParaRPr lang="en-US" sz="960" dirty="0"/>
          </a:p>
        </p:txBody>
      </p:sp>
      <p:sp>
        <p:nvSpPr>
          <p:cNvPr id="363" name="Text 357"/>
          <p:cNvSpPr/>
          <p:nvPr/>
        </p:nvSpPr>
        <p:spPr>
          <a:xfrm>
            <a:off x="9372600" y="6172200"/>
            <a:ext cx="70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Policy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Model</a:t>
            </a:r>
            <a:endParaRPr lang="en-US" sz="1200" dirty="0"/>
          </a:p>
        </p:txBody>
      </p:sp>
      <p:sp>
        <p:nvSpPr>
          <p:cNvPr id="364" name="Shape 358"/>
          <p:cNvSpPr/>
          <p:nvPr/>
        </p:nvSpPr>
        <p:spPr>
          <a:xfrm>
            <a:off x="10239604" y="6128918"/>
            <a:ext cx="0" cy="39776"/>
          </a:xfrm>
          <a:prstGeom prst="line">
            <a:avLst/>
          </a:prstGeom>
          <a:noFill/>
          <a:ln w="8839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65" name="Shape 359"/>
          <p:cNvSpPr/>
          <p:nvPr/>
        </p:nvSpPr>
        <p:spPr>
          <a:xfrm>
            <a:off x="10217506" y="6111240"/>
            <a:ext cx="44196" cy="35357"/>
          </a:xfrm>
          <a:prstGeom prst="ellipse">
            <a:avLst/>
          </a:prstGeom>
          <a:solidFill>
            <a:srgbClr val="F04444"/>
          </a:solidFill>
          <a:ln w="6077">
            <a:solidFill>
              <a:srgbClr val="0C0C0C"/>
            </a:solidFill>
            <a:prstDash val="solid"/>
          </a:ln>
        </p:spPr>
      </p:sp>
      <p:sp>
        <p:nvSpPr>
          <p:cNvPr id="366" name="Shape 360"/>
          <p:cNvSpPr/>
          <p:nvPr/>
        </p:nvSpPr>
        <p:spPr>
          <a:xfrm>
            <a:off x="10314737" y="6102401"/>
            <a:ext cx="92812" cy="119329"/>
          </a:xfrm>
          <a:prstGeom prst="lightningBolt">
            <a:avLst/>
          </a:prstGeom>
          <a:solidFill>
            <a:srgbClr val="FF5A36"/>
          </a:solidFill>
          <a:ln w="6077">
            <a:solidFill>
              <a:srgbClr val="0C0C0C"/>
            </a:solidFill>
            <a:prstDash val="solid"/>
          </a:ln>
        </p:spPr>
      </p:sp>
      <p:sp>
        <p:nvSpPr>
          <p:cNvPr id="367" name="Shape 361"/>
          <p:cNvSpPr/>
          <p:nvPr/>
        </p:nvSpPr>
        <p:spPr>
          <a:xfrm>
            <a:off x="10345674" y="6137758"/>
            <a:ext cx="39776" cy="66294"/>
          </a:xfrm>
          <a:prstGeom prst="lightningBolt">
            <a:avLst/>
          </a:prstGeom>
          <a:solidFill>
            <a:srgbClr val="FFD7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2"/>
          <p:cNvSpPr/>
          <p:nvPr/>
        </p:nvSpPr>
        <p:spPr>
          <a:xfrm>
            <a:off x="10080498" y="6168695"/>
            <a:ext cx="287274" cy="229819"/>
          </a:xfrm>
          <a:prstGeom prst="roundRect">
            <a:avLst>
              <a:gd name="adj" fmla="val 21154"/>
            </a:avLst>
          </a:prstGeom>
          <a:solidFill>
            <a:srgbClr val="96D6DE"/>
          </a:solidFill>
          <a:ln w="8103">
            <a:solidFill>
              <a:srgbClr val="0C0C0C"/>
            </a:solidFill>
            <a:prstDash val="solid"/>
          </a:ln>
          <a:effectLst>
            <a:outerShdw sx="100000" sy="100000" kx="0" ky="0" algn="bl" rotWithShape="0" blurRad="25400" dist="50800" dir="2700000">
              <a:srgbClr val="777777">
                <a:alpha val="15000"/>
              </a:srgbClr>
            </a:outerShdw>
          </a:effectLst>
        </p:spPr>
      </p:sp>
      <p:sp>
        <p:nvSpPr>
          <p:cNvPr id="369" name="Shape 363"/>
          <p:cNvSpPr/>
          <p:nvPr/>
        </p:nvSpPr>
        <p:spPr>
          <a:xfrm>
            <a:off x="10102596" y="6190793"/>
            <a:ext cx="243078" cy="163525"/>
          </a:xfrm>
          <a:prstGeom prst="roundRect">
            <a:avLst>
              <a:gd name="adj" fmla="val 21622"/>
            </a:avLst>
          </a:prstGeom>
          <a:solidFill>
            <a:srgbClr val="E8FAFB"/>
          </a:solidFill>
          <a:ln w="5672">
            <a:solidFill>
              <a:srgbClr val="275D8C"/>
            </a:solidFill>
            <a:prstDash val="solid"/>
          </a:ln>
        </p:spPr>
      </p:sp>
      <p:sp>
        <p:nvSpPr>
          <p:cNvPr id="370" name="Shape 364"/>
          <p:cNvSpPr/>
          <p:nvPr/>
        </p:nvSpPr>
        <p:spPr>
          <a:xfrm>
            <a:off x="10142372" y="6234989"/>
            <a:ext cx="30937" cy="39776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371" name="Shape 365"/>
          <p:cNvSpPr/>
          <p:nvPr/>
        </p:nvSpPr>
        <p:spPr>
          <a:xfrm>
            <a:off x="10274960" y="6234989"/>
            <a:ext cx="30937" cy="39776"/>
          </a:xfrm>
          <a:prstGeom prst="ellipse">
            <a:avLst/>
          </a:prstGeom>
          <a:solidFill>
            <a:srgbClr val="0C0C0C"/>
          </a:solidFill>
          <a:ln w="6985">
            <a:solidFill>
              <a:srgbClr val="0C0C0C"/>
            </a:solidFill>
            <a:prstDash val="solid"/>
          </a:ln>
        </p:spPr>
      </p:sp>
      <p:sp>
        <p:nvSpPr>
          <p:cNvPr id="372" name="Shape 366"/>
          <p:cNvSpPr/>
          <p:nvPr/>
        </p:nvSpPr>
        <p:spPr>
          <a:xfrm>
            <a:off x="10190988" y="6310122"/>
            <a:ext cx="61874" cy="0"/>
          </a:xfrm>
          <a:prstGeom prst="line">
            <a:avLst/>
          </a:prstGeom>
          <a:noFill/>
          <a:ln w="8839">
            <a:solidFill>
              <a:srgbClr val="275D8C"/>
            </a:solidFill>
            <a:prstDash val="solid"/>
            <a:headEnd type="none"/>
            <a:tailEnd type="none"/>
          </a:ln>
        </p:spPr>
      </p:sp>
      <p:sp>
        <p:nvSpPr>
          <p:cNvPr id="373" name="Shape 367"/>
          <p:cNvSpPr/>
          <p:nvPr/>
        </p:nvSpPr>
        <p:spPr>
          <a:xfrm>
            <a:off x="10115855" y="6398514"/>
            <a:ext cx="216560" cy="119329"/>
          </a:xfrm>
          <a:prstGeom prst="roundRect">
            <a:avLst>
              <a:gd name="adj" fmla="val 14815"/>
            </a:avLst>
          </a:prstGeom>
          <a:solidFill>
            <a:srgbClr val="5DAEC1"/>
          </a:solidFill>
          <a:ln w="8103">
            <a:solidFill>
              <a:srgbClr val="0C0C0C"/>
            </a:solidFill>
            <a:prstDash val="solid"/>
          </a:ln>
        </p:spPr>
      </p:sp>
      <p:sp>
        <p:nvSpPr>
          <p:cNvPr id="374" name="Text 368"/>
          <p:cNvSpPr/>
          <p:nvPr/>
        </p:nvSpPr>
        <p:spPr>
          <a:xfrm>
            <a:off x="10115855" y="6411773"/>
            <a:ext cx="216560" cy="7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3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</a:t>
            </a:r>
            <a:endParaRPr lang="en-US" sz="383" dirty="0"/>
          </a:p>
        </p:txBody>
      </p:sp>
      <p:sp>
        <p:nvSpPr>
          <p:cNvPr id="375" name="Shape 369"/>
          <p:cNvSpPr/>
          <p:nvPr/>
        </p:nvSpPr>
        <p:spPr>
          <a:xfrm>
            <a:off x="10076078" y="6420612"/>
            <a:ext cx="-30937" cy="53035"/>
          </a:xfrm>
          <a:prstGeom prst="line">
            <a:avLst/>
          </a:prstGeom>
          <a:noFill/>
          <a:ln w="13259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76" name="Shape 370"/>
          <p:cNvSpPr/>
          <p:nvPr/>
        </p:nvSpPr>
        <p:spPr>
          <a:xfrm>
            <a:off x="10367772" y="6420612"/>
            <a:ext cx="35357" cy="53035"/>
          </a:xfrm>
          <a:prstGeom prst="line">
            <a:avLst/>
          </a:prstGeom>
          <a:noFill/>
          <a:ln w="13259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77" name="Shape 371"/>
          <p:cNvSpPr/>
          <p:nvPr/>
        </p:nvSpPr>
        <p:spPr>
          <a:xfrm>
            <a:off x="10168890" y="6517843"/>
            <a:ext cx="-22098" cy="30937"/>
          </a:xfrm>
          <a:prstGeom prst="line">
            <a:avLst/>
          </a:prstGeom>
          <a:noFill/>
          <a:ln w="13259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78" name="Shape 372"/>
          <p:cNvSpPr/>
          <p:nvPr/>
        </p:nvSpPr>
        <p:spPr>
          <a:xfrm>
            <a:off x="10279380" y="6517843"/>
            <a:ext cx="26518" cy="30937"/>
          </a:xfrm>
          <a:prstGeom prst="line">
            <a:avLst/>
          </a:prstGeom>
          <a:noFill/>
          <a:ln w="13259">
            <a:solidFill>
              <a:srgbClr val="0C0C0C"/>
            </a:solidFill>
            <a:prstDash val="solid"/>
            <a:headEnd type="none"/>
            <a:tailEnd type="none"/>
          </a:ln>
        </p:spPr>
      </p:sp>
      <p:sp>
        <p:nvSpPr>
          <p:cNvPr id="379" name="Shape 373"/>
          <p:cNvSpPr/>
          <p:nvPr/>
        </p:nvSpPr>
        <p:spPr>
          <a:xfrm>
            <a:off x="10789920" y="6347460"/>
            <a:ext cx="213360" cy="0"/>
          </a:xfrm>
          <a:prstGeom prst="line">
            <a:avLst/>
          </a:prstGeom>
          <a:noFill/>
          <a:ln w="22860">
            <a:solidFill>
              <a:srgbClr val="2C7FC1"/>
            </a:solidFill>
            <a:prstDash val="solid"/>
            <a:headEnd type="none"/>
            <a:tailEnd type="none"/>
          </a:ln>
        </p:spPr>
      </p:sp>
      <p:sp>
        <p:nvSpPr>
          <p:cNvPr id="380" name="Shape 374"/>
          <p:cNvSpPr/>
          <p:nvPr/>
        </p:nvSpPr>
        <p:spPr>
          <a:xfrm>
            <a:off x="11003280" y="6347460"/>
            <a:ext cx="0" cy="-228600"/>
          </a:xfrm>
          <a:prstGeom prst="line">
            <a:avLst/>
          </a:prstGeom>
          <a:noFill/>
          <a:ln w="22860">
            <a:solidFill>
              <a:srgbClr val="2C7FC1"/>
            </a:solidFill>
            <a:prstDash val="solid"/>
            <a:headEnd type="none"/>
            <a:tailEnd type="none"/>
          </a:ln>
        </p:spPr>
      </p:sp>
      <p:sp>
        <p:nvSpPr>
          <p:cNvPr id="381" name="Shape 375"/>
          <p:cNvSpPr/>
          <p:nvPr/>
        </p:nvSpPr>
        <p:spPr>
          <a:xfrm>
            <a:off x="11003280" y="6118860"/>
            <a:ext cx="-541020" cy="0"/>
          </a:xfrm>
          <a:prstGeom prst="line">
            <a:avLst/>
          </a:prstGeom>
          <a:noFill/>
          <a:ln w="22860">
            <a:solidFill>
              <a:srgbClr val="2C7FC1"/>
            </a:solidFill>
            <a:prstDash val="solid"/>
            <a:headEnd type="none"/>
            <a:tailEnd type="triangle"/>
          </a:ln>
        </p:spPr>
      </p:sp>
      <p:sp>
        <p:nvSpPr>
          <p:cNvPr id="382" name="Text 376"/>
          <p:cNvSpPr/>
          <p:nvPr/>
        </p:nvSpPr>
        <p:spPr>
          <a:xfrm>
            <a:off x="11049000" y="60731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i="1" dirty="0">
                <a:solidFill>
                  <a:srgbClr val="2C7FC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Update</a:t>
            </a:r>
            <a:endParaRPr lang="en-US" sz="1320" dirty="0"/>
          </a:p>
        </p:txBody>
      </p:sp>
      <p:sp>
        <p:nvSpPr>
          <p:cNvPr id="383" name="Text 377"/>
          <p:cNvSpPr/>
          <p:nvPr/>
        </p:nvSpPr>
        <p:spPr>
          <a:xfrm>
            <a:off x="10622280" y="6446520"/>
            <a:ext cx="7924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b="1" i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Loss = Σ(</a:t>
            </a:r>
            <a:endParaRPr lang="en-US" sz="1080" dirty="0"/>
          </a:p>
        </p:txBody>
      </p:sp>
      <p:sp>
        <p:nvSpPr>
          <p:cNvPr id="384" name="Shape 378"/>
          <p:cNvSpPr/>
          <p:nvPr/>
        </p:nvSpPr>
        <p:spPr>
          <a:xfrm>
            <a:off x="11422380" y="641604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FFD777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385" name="Text 379"/>
          <p:cNvSpPr/>
          <p:nvPr/>
        </p:nvSpPr>
        <p:spPr>
          <a:xfrm>
            <a:off x="11422380" y="642366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</a:t>
            </a:r>
            <a:endParaRPr lang="en-US" sz="1080" dirty="0"/>
          </a:p>
        </p:txBody>
      </p:sp>
      <p:sp>
        <p:nvSpPr>
          <p:cNvPr id="386" name="Text 380"/>
          <p:cNvSpPr/>
          <p:nvPr/>
        </p:nvSpPr>
        <p:spPr>
          <a:xfrm>
            <a:off x="11666220" y="6454140"/>
            <a:ext cx="1371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−</a:t>
            </a:r>
            <a:endParaRPr lang="en-US" sz="1200" dirty="0"/>
          </a:p>
        </p:txBody>
      </p:sp>
      <p:sp>
        <p:nvSpPr>
          <p:cNvPr id="387" name="Shape 381"/>
          <p:cNvSpPr/>
          <p:nvPr/>
        </p:nvSpPr>
        <p:spPr>
          <a:xfrm>
            <a:off x="11803380" y="6416040"/>
            <a:ext cx="220980" cy="220980"/>
          </a:xfrm>
          <a:prstGeom prst="roundRect">
            <a:avLst>
              <a:gd name="adj" fmla="val 24138"/>
            </a:avLst>
          </a:prstGeom>
          <a:solidFill>
            <a:srgbClr val="BFD7ED"/>
          </a:solidFill>
          <a:ln w="13970">
            <a:solidFill>
              <a:srgbClr val="0C0C0C"/>
            </a:solidFill>
            <a:prstDash val="solid"/>
          </a:ln>
        </p:spPr>
      </p:sp>
      <p:sp>
        <p:nvSpPr>
          <p:cNvPr id="388" name="Text 382"/>
          <p:cNvSpPr/>
          <p:nvPr/>
        </p:nvSpPr>
        <p:spPr>
          <a:xfrm>
            <a:off x="11803380" y="6423660"/>
            <a:ext cx="220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</a:t>
            </a:r>
            <a:endParaRPr lang="en-US" sz="1080" dirty="0"/>
          </a:p>
        </p:txBody>
      </p:sp>
      <p:sp>
        <p:nvSpPr>
          <p:cNvPr id="389" name="Text 383"/>
          <p:cNvSpPr/>
          <p:nvPr/>
        </p:nvSpPr>
        <p:spPr>
          <a:xfrm>
            <a:off x="12047220" y="6454140"/>
            <a:ext cx="914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0C0C0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Vad-R1 Towards Video Anomaly Reasoning via Perception-to-Cognition Chain-of-Though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7"/>
            <a:ext cx="12192000" cy="68531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mic Sans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mic Sans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Vad-R1: Perception-to-Cognition Chain-of-Thought</dc:title>
  <dc:subject>Editable reconstruction of Vad-R1 training diagram</dc:subject>
  <dc:creator>OpenAI Codex</dc:creator>
  <cp:lastModifiedBy>OpenAI Codex</cp:lastModifiedBy>
  <cp:revision>1</cp:revision>
  <dcterms:created xsi:type="dcterms:W3CDTF">2026-09-07T14:35:50Z</dcterms:created>
  <dcterms:modified xsi:type="dcterms:W3CDTF">2026-09-07T14:35:50Z</dcterms:modified>
</cp:coreProperties>
</file>