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" y="137160"/>
            <a:ext cx="13642848" cy="3785616"/>
          </a:xfrm>
          <a:prstGeom prst="rect">
            <a:avLst/>
          </a:prstGeom>
          <a:solidFill>
            <a:srgbClr val="E7F2F7"/>
          </a:solidFill>
          <a:ln w="10972">
            <a:solidFill>
              <a:srgbClr val="AFC0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" y="137160"/>
            <a:ext cx="13642848" cy="530352"/>
          </a:xfrm>
          <a:prstGeom prst="rect">
            <a:avLst/>
          </a:prstGeom>
          <a:solidFill>
            <a:srgbClr val="5B9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Noto Serif"/>
              </a:rPr>
              <a:t>Adaptive diffusion probability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" y="905256"/>
            <a:ext cx="1591056" cy="621792"/>
          </a:xfrm>
          <a:prstGeom prst="rect">
            <a:avLst/>
          </a:prstGeom>
          <a:solidFill>
            <a:srgbClr val="86B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93268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Pattern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81912"/>
            <a:ext cx="1591056" cy="1024128"/>
          </a:xfrm>
          <a:prstGeom prst="rect">
            <a:avLst/>
          </a:prstGeom>
          <a:solidFill>
            <a:srgbClr val="86B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09344"/>
            <a:ext cx="1481328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Image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classification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" y="2679192"/>
            <a:ext cx="1591056" cy="749808"/>
          </a:xfrm>
          <a:prstGeom prst="rect">
            <a:avLst/>
          </a:prstGeom>
          <a:solidFill>
            <a:srgbClr val="86B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2706624"/>
            <a:ext cx="1481328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Low-light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786384"/>
            <a:ext cx="2907792" cy="2697480"/>
          </a:xfrm>
          <a:prstGeom prst="roundRect">
            <a:avLst/>
          </a:prstGeom>
          <a:solidFill>
            <a:srgbClr val="EFF7FA"/>
          </a:solidFill>
          <a:ln w="9144">
            <a:solidFill>
              <a:srgbClr val="DDECF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414016" y="1033272"/>
            <a:ext cx="786384" cy="658368"/>
          </a:xfrm>
          <a:custGeom>
            <a:avLst/>
            <a:gdLst/>
            <a:ahLst/>
            <a:cxnLst/>
            <a:rect l="l" t="t" r="r" b="b"/>
            <a:pathLst>
              <a:path w="86" h="72">
                <a:moveTo>
                  <a:pt x="0" y="72"/>
                </a:moveTo>
                <a:lnTo>
                  <a:pt x="62" y="0"/>
                </a:lnTo>
                <a:lnTo>
                  <a:pt x="86" y="0"/>
                </a:lnTo>
                <a:lnTo>
                  <a:pt x="24" y="72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33472" y="1033272"/>
            <a:ext cx="566928" cy="2157984"/>
          </a:xfrm>
          <a:custGeom>
            <a:avLst/>
            <a:gdLst/>
            <a:ahLst/>
            <a:cxnLst/>
            <a:rect l="l" t="t" r="r" b="b"/>
            <a:pathLst>
              <a:path w="62" h="236">
                <a:moveTo>
                  <a:pt x="0" y="72"/>
                </a:moveTo>
                <a:lnTo>
                  <a:pt x="62" y="0"/>
                </a:lnTo>
                <a:lnTo>
                  <a:pt x="62" y="164"/>
                </a:lnTo>
                <a:lnTo>
                  <a:pt x="0" y="236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4016" y="1691640"/>
            <a:ext cx="219456" cy="1499616"/>
          </a:xfrm>
          <a:prstGeom prst="rect">
            <a:avLst/>
          </a:prstGeom>
          <a:solidFill>
            <a:srgbClr val="8AB8DC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642616" y="1033272"/>
            <a:ext cx="786384" cy="658368"/>
          </a:xfrm>
          <a:custGeom>
            <a:avLst/>
            <a:gdLst/>
            <a:ahLst/>
            <a:cxnLst/>
            <a:rect l="l" t="t" r="r" b="b"/>
            <a:pathLst>
              <a:path w="86" h="72">
                <a:moveTo>
                  <a:pt x="0" y="72"/>
                </a:moveTo>
                <a:lnTo>
                  <a:pt x="62" y="0"/>
                </a:lnTo>
                <a:lnTo>
                  <a:pt x="86" y="0"/>
                </a:lnTo>
                <a:lnTo>
                  <a:pt x="24" y="72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862072" y="1033272"/>
            <a:ext cx="566928" cy="2157984"/>
          </a:xfrm>
          <a:custGeom>
            <a:avLst/>
            <a:gdLst/>
            <a:ahLst/>
            <a:cxnLst/>
            <a:rect l="l" t="t" r="r" b="b"/>
            <a:pathLst>
              <a:path w="62" h="236">
                <a:moveTo>
                  <a:pt x="0" y="72"/>
                </a:moveTo>
                <a:lnTo>
                  <a:pt x="62" y="0"/>
                </a:lnTo>
                <a:lnTo>
                  <a:pt x="62" y="164"/>
                </a:lnTo>
                <a:lnTo>
                  <a:pt x="0" y="236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2616" y="1691640"/>
            <a:ext cx="219456" cy="1499616"/>
          </a:xfrm>
          <a:prstGeom prst="rect">
            <a:avLst/>
          </a:prstGeom>
          <a:solidFill>
            <a:srgbClr val="8AB8DC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71216" y="1033272"/>
            <a:ext cx="786384" cy="658368"/>
          </a:xfrm>
          <a:custGeom>
            <a:avLst/>
            <a:gdLst/>
            <a:ahLst/>
            <a:cxnLst/>
            <a:rect l="l" t="t" r="r" b="b"/>
            <a:pathLst>
              <a:path w="86" h="72">
                <a:moveTo>
                  <a:pt x="0" y="72"/>
                </a:moveTo>
                <a:lnTo>
                  <a:pt x="62" y="0"/>
                </a:lnTo>
                <a:lnTo>
                  <a:pt x="86" y="0"/>
                </a:lnTo>
                <a:lnTo>
                  <a:pt x="24" y="72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90672" y="1033272"/>
            <a:ext cx="566928" cy="2157984"/>
          </a:xfrm>
          <a:custGeom>
            <a:avLst/>
            <a:gdLst/>
            <a:ahLst/>
            <a:cxnLst/>
            <a:rect l="l" t="t" r="r" b="b"/>
            <a:pathLst>
              <a:path w="62" h="236">
                <a:moveTo>
                  <a:pt x="0" y="72"/>
                </a:moveTo>
                <a:lnTo>
                  <a:pt x="62" y="0"/>
                </a:lnTo>
                <a:lnTo>
                  <a:pt x="62" y="164"/>
                </a:lnTo>
                <a:lnTo>
                  <a:pt x="0" y="236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1216" y="1691640"/>
            <a:ext cx="219456" cy="1499616"/>
          </a:xfrm>
          <a:prstGeom prst="rect">
            <a:avLst/>
          </a:prstGeom>
          <a:solidFill>
            <a:srgbClr val="8AB8DC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108960" y="1243584"/>
            <a:ext cx="658368" cy="448056"/>
          </a:xfrm>
          <a:custGeom>
            <a:avLst/>
            <a:gdLst/>
            <a:ahLst/>
            <a:cxnLst/>
            <a:rect l="l" t="t" r="r" b="b"/>
            <a:pathLst>
              <a:path w="72" h="49">
                <a:moveTo>
                  <a:pt x="0" y="49"/>
                </a:moveTo>
                <a:lnTo>
                  <a:pt x="54" y="0"/>
                </a:lnTo>
                <a:lnTo>
                  <a:pt x="72" y="0"/>
                </a:lnTo>
                <a:lnTo>
                  <a:pt x="18" y="49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273552" y="1243584"/>
            <a:ext cx="493776" cy="1655064"/>
          </a:xfrm>
          <a:custGeom>
            <a:avLst/>
            <a:gdLst/>
            <a:ahLst/>
            <a:cxnLst/>
            <a:rect l="l" t="t" r="r" b="b"/>
            <a:pathLst>
              <a:path w="54" h="181">
                <a:moveTo>
                  <a:pt x="0" y="49"/>
                </a:moveTo>
                <a:lnTo>
                  <a:pt x="54" y="0"/>
                </a:lnTo>
                <a:lnTo>
                  <a:pt x="54" y="132"/>
                </a:lnTo>
                <a:lnTo>
                  <a:pt x="0" y="181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1691640"/>
            <a:ext cx="164592" cy="1207008"/>
          </a:xfrm>
          <a:prstGeom prst="rect">
            <a:avLst/>
          </a:prstGeom>
          <a:solidFill>
            <a:srgbClr val="E6EEF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282696" y="1243584"/>
            <a:ext cx="658368" cy="448056"/>
          </a:xfrm>
          <a:custGeom>
            <a:avLst/>
            <a:gdLst/>
            <a:ahLst/>
            <a:cxnLst/>
            <a:rect l="l" t="t" r="r" b="b"/>
            <a:pathLst>
              <a:path w="72" h="49">
                <a:moveTo>
                  <a:pt x="0" y="49"/>
                </a:moveTo>
                <a:lnTo>
                  <a:pt x="54" y="0"/>
                </a:lnTo>
                <a:lnTo>
                  <a:pt x="72" y="0"/>
                </a:lnTo>
                <a:lnTo>
                  <a:pt x="18" y="49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447288" y="1243584"/>
            <a:ext cx="493776" cy="1655064"/>
          </a:xfrm>
          <a:custGeom>
            <a:avLst/>
            <a:gdLst/>
            <a:ahLst/>
            <a:cxnLst/>
            <a:rect l="l" t="t" r="r" b="b"/>
            <a:pathLst>
              <a:path w="54" h="181">
                <a:moveTo>
                  <a:pt x="0" y="49"/>
                </a:moveTo>
                <a:lnTo>
                  <a:pt x="54" y="0"/>
                </a:lnTo>
                <a:lnTo>
                  <a:pt x="54" y="132"/>
                </a:lnTo>
                <a:lnTo>
                  <a:pt x="0" y="181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82696" y="1691640"/>
            <a:ext cx="164592" cy="1207008"/>
          </a:xfrm>
          <a:prstGeom prst="rect">
            <a:avLst/>
          </a:prstGeom>
          <a:solidFill>
            <a:srgbClr val="E6EEF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456432" y="1243584"/>
            <a:ext cx="658368" cy="448056"/>
          </a:xfrm>
          <a:custGeom>
            <a:avLst/>
            <a:gdLst/>
            <a:ahLst/>
            <a:cxnLst/>
            <a:rect l="l" t="t" r="r" b="b"/>
            <a:pathLst>
              <a:path w="72" h="49">
                <a:moveTo>
                  <a:pt x="0" y="49"/>
                </a:moveTo>
                <a:lnTo>
                  <a:pt x="54" y="0"/>
                </a:lnTo>
                <a:lnTo>
                  <a:pt x="72" y="0"/>
                </a:lnTo>
                <a:lnTo>
                  <a:pt x="18" y="49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621024" y="1243584"/>
            <a:ext cx="493776" cy="1655064"/>
          </a:xfrm>
          <a:custGeom>
            <a:avLst/>
            <a:gdLst/>
            <a:ahLst/>
            <a:cxnLst/>
            <a:rect l="l" t="t" r="r" b="b"/>
            <a:pathLst>
              <a:path w="54" h="181">
                <a:moveTo>
                  <a:pt x="0" y="49"/>
                </a:moveTo>
                <a:lnTo>
                  <a:pt x="54" y="0"/>
                </a:lnTo>
                <a:lnTo>
                  <a:pt x="54" y="132"/>
                </a:lnTo>
                <a:lnTo>
                  <a:pt x="0" y="181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6432" y="1691640"/>
            <a:ext cx="164592" cy="1207008"/>
          </a:xfrm>
          <a:prstGeom prst="rect">
            <a:avLst/>
          </a:prstGeom>
          <a:solidFill>
            <a:srgbClr val="E6EEF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630168" y="1243584"/>
            <a:ext cx="658368" cy="448056"/>
          </a:xfrm>
          <a:custGeom>
            <a:avLst/>
            <a:gdLst/>
            <a:ahLst/>
            <a:cxnLst/>
            <a:rect l="l" t="t" r="r" b="b"/>
            <a:pathLst>
              <a:path w="72" h="49">
                <a:moveTo>
                  <a:pt x="0" y="49"/>
                </a:moveTo>
                <a:lnTo>
                  <a:pt x="54" y="0"/>
                </a:lnTo>
                <a:lnTo>
                  <a:pt x="72" y="0"/>
                </a:lnTo>
                <a:lnTo>
                  <a:pt x="18" y="49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794760" y="1243584"/>
            <a:ext cx="493776" cy="1655064"/>
          </a:xfrm>
          <a:custGeom>
            <a:avLst/>
            <a:gdLst/>
            <a:ahLst/>
            <a:cxnLst/>
            <a:rect l="l" t="t" r="r" b="b"/>
            <a:pathLst>
              <a:path w="54" h="181">
                <a:moveTo>
                  <a:pt x="0" y="49"/>
                </a:moveTo>
                <a:lnTo>
                  <a:pt x="54" y="0"/>
                </a:lnTo>
                <a:lnTo>
                  <a:pt x="54" y="132"/>
                </a:lnTo>
                <a:lnTo>
                  <a:pt x="0" y="181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0168" y="1691640"/>
            <a:ext cx="164592" cy="1207008"/>
          </a:xfrm>
          <a:prstGeom prst="rect">
            <a:avLst/>
          </a:prstGeom>
          <a:solidFill>
            <a:srgbClr val="E6EEF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785616" y="1563624"/>
            <a:ext cx="594360" cy="301752"/>
          </a:xfrm>
          <a:custGeom>
            <a:avLst/>
            <a:gdLst/>
            <a:ahLst/>
            <a:cxnLst/>
            <a:rect l="l" t="t" r="r" b="b"/>
            <a:pathLst>
              <a:path w="65" h="33">
                <a:moveTo>
                  <a:pt x="0" y="33"/>
                </a:moveTo>
                <a:lnTo>
                  <a:pt x="49" y="0"/>
                </a:lnTo>
                <a:lnTo>
                  <a:pt x="65" y="0"/>
                </a:lnTo>
                <a:lnTo>
                  <a:pt x="16" y="33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931920" y="1563624"/>
            <a:ext cx="448056" cy="1179576"/>
          </a:xfrm>
          <a:custGeom>
            <a:avLst/>
            <a:gdLst/>
            <a:ahLst/>
            <a:cxnLst/>
            <a:rect l="l" t="t" r="r" b="b"/>
            <a:pathLst>
              <a:path w="49" h="129">
                <a:moveTo>
                  <a:pt x="0" y="33"/>
                </a:moveTo>
                <a:lnTo>
                  <a:pt x="49" y="0"/>
                </a:lnTo>
                <a:lnTo>
                  <a:pt x="49" y="96"/>
                </a:lnTo>
                <a:lnTo>
                  <a:pt x="0" y="129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85616" y="1865376"/>
            <a:ext cx="146304" cy="877824"/>
          </a:xfrm>
          <a:prstGeom prst="rect">
            <a:avLst/>
          </a:prstGeom>
          <a:solidFill>
            <a:srgbClr val="A8C9E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931920" y="1563624"/>
            <a:ext cx="594360" cy="301752"/>
          </a:xfrm>
          <a:custGeom>
            <a:avLst/>
            <a:gdLst/>
            <a:ahLst/>
            <a:cxnLst/>
            <a:rect l="l" t="t" r="r" b="b"/>
            <a:pathLst>
              <a:path w="65" h="33">
                <a:moveTo>
                  <a:pt x="0" y="33"/>
                </a:moveTo>
                <a:lnTo>
                  <a:pt x="49" y="0"/>
                </a:lnTo>
                <a:lnTo>
                  <a:pt x="65" y="0"/>
                </a:lnTo>
                <a:lnTo>
                  <a:pt x="16" y="33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078224" y="1563624"/>
            <a:ext cx="448056" cy="1179576"/>
          </a:xfrm>
          <a:custGeom>
            <a:avLst/>
            <a:gdLst/>
            <a:ahLst/>
            <a:cxnLst/>
            <a:rect l="l" t="t" r="r" b="b"/>
            <a:pathLst>
              <a:path w="49" h="129">
                <a:moveTo>
                  <a:pt x="0" y="33"/>
                </a:moveTo>
                <a:lnTo>
                  <a:pt x="49" y="0"/>
                </a:lnTo>
                <a:lnTo>
                  <a:pt x="49" y="96"/>
                </a:lnTo>
                <a:lnTo>
                  <a:pt x="0" y="129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0" y="1865376"/>
            <a:ext cx="146304" cy="877824"/>
          </a:xfrm>
          <a:prstGeom prst="rect">
            <a:avLst/>
          </a:prstGeom>
          <a:solidFill>
            <a:srgbClr val="A8C9E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78224" y="1563624"/>
            <a:ext cx="594360" cy="301752"/>
          </a:xfrm>
          <a:custGeom>
            <a:avLst/>
            <a:gdLst/>
            <a:ahLst/>
            <a:cxnLst/>
            <a:rect l="l" t="t" r="r" b="b"/>
            <a:pathLst>
              <a:path w="65" h="33">
                <a:moveTo>
                  <a:pt x="0" y="33"/>
                </a:moveTo>
                <a:lnTo>
                  <a:pt x="49" y="0"/>
                </a:lnTo>
                <a:lnTo>
                  <a:pt x="65" y="0"/>
                </a:lnTo>
                <a:lnTo>
                  <a:pt x="16" y="33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224528" y="1563624"/>
            <a:ext cx="448056" cy="1179576"/>
          </a:xfrm>
          <a:custGeom>
            <a:avLst/>
            <a:gdLst/>
            <a:ahLst/>
            <a:cxnLst/>
            <a:rect l="l" t="t" r="r" b="b"/>
            <a:pathLst>
              <a:path w="49" h="129">
                <a:moveTo>
                  <a:pt x="0" y="33"/>
                </a:moveTo>
                <a:lnTo>
                  <a:pt x="49" y="0"/>
                </a:lnTo>
                <a:lnTo>
                  <a:pt x="49" y="96"/>
                </a:lnTo>
                <a:lnTo>
                  <a:pt x="0" y="129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78224" y="1865376"/>
            <a:ext cx="146304" cy="877824"/>
          </a:xfrm>
          <a:prstGeom prst="rect">
            <a:avLst/>
          </a:prstGeom>
          <a:solidFill>
            <a:srgbClr val="A8C9E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224528" y="1563624"/>
            <a:ext cx="594360" cy="301752"/>
          </a:xfrm>
          <a:custGeom>
            <a:avLst/>
            <a:gdLst/>
            <a:ahLst/>
            <a:cxnLst/>
            <a:rect l="l" t="t" r="r" b="b"/>
            <a:pathLst>
              <a:path w="65" h="33">
                <a:moveTo>
                  <a:pt x="0" y="33"/>
                </a:moveTo>
                <a:lnTo>
                  <a:pt x="49" y="0"/>
                </a:lnTo>
                <a:lnTo>
                  <a:pt x="65" y="0"/>
                </a:lnTo>
                <a:lnTo>
                  <a:pt x="16" y="33"/>
                </a:lnTo>
                <a:close/>
              </a:path>
            </a:pathLst>
          </a:custGeom>
          <a:solidFill>
            <a:srgbClr val="D6E8F4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370832" y="1563624"/>
            <a:ext cx="448056" cy="1179576"/>
          </a:xfrm>
          <a:custGeom>
            <a:avLst/>
            <a:gdLst/>
            <a:ahLst/>
            <a:cxnLst/>
            <a:rect l="l" t="t" r="r" b="b"/>
            <a:pathLst>
              <a:path w="49" h="129">
                <a:moveTo>
                  <a:pt x="0" y="33"/>
                </a:moveTo>
                <a:lnTo>
                  <a:pt x="49" y="0"/>
                </a:lnTo>
                <a:lnTo>
                  <a:pt x="49" y="96"/>
                </a:lnTo>
                <a:lnTo>
                  <a:pt x="0" y="129"/>
                </a:lnTo>
                <a:close/>
              </a:path>
            </a:pathLst>
          </a:custGeom>
          <a:solidFill>
            <a:srgbClr val="6DA5D0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24528" y="1865376"/>
            <a:ext cx="146304" cy="877824"/>
          </a:xfrm>
          <a:prstGeom prst="rect">
            <a:avLst/>
          </a:prstGeom>
          <a:solidFill>
            <a:srgbClr val="A8C9E4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480560" y="1975104"/>
            <a:ext cx="393192" cy="155448"/>
          </a:xfrm>
          <a:custGeom>
            <a:avLst/>
            <a:gdLst/>
            <a:ahLst/>
            <a:cxnLst/>
            <a:rect l="l" t="t" r="r" b="b"/>
            <a:pathLst>
              <a:path w="43" h="17">
                <a:moveTo>
                  <a:pt x="0" y="17"/>
                </a:moveTo>
                <a:lnTo>
                  <a:pt x="34" y="0"/>
                </a:lnTo>
                <a:lnTo>
                  <a:pt x="43" y="0"/>
                </a:lnTo>
                <a:lnTo>
                  <a:pt x="9" y="17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562856" y="1975104"/>
            <a:ext cx="310896" cy="548640"/>
          </a:xfrm>
          <a:custGeom>
            <a:avLst/>
            <a:gdLst/>
            <a:ahLst/>
            <a:cxnLst/>
            <a:rect l="l" t="t" r="r" b="b"/>
            <a:pathLst>
              <a:path w="34" h="60">
                <a:moveTo>
                  <a:pt x="0" y="17"/>
                </a:moveTo>
                <a:lnTo>
                  <a:pt x="34" y="0"/>
                </a:lnTo>
                <a:lnTo>
                  <a:pt x="34" y="43"/>
                </a:lnTo>
                <a:lnTo>
                  <a:pt x="0" y="60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2130552"/>
            <a:ext cx="82296" cy="393192"/>
          </a:xfrm>
          <a:prstGeom prst="rect">
            <a:avLst/>
          </a:prstGeom>
          <a:solidFill>
            <a:srgbClr val="EDF4F8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562856" y="1975104"/>
            <a:ext cx="393192" cy="155448"/>
          </a:xfrm>
          <a:custGeom>
            <a:avLst/>
            <a:gdLst/>
            <a:ahLst/>
            <a:cxnLst/>
            <a:rect l="l" t="t" r="r" b="b"/>
            <a:pathLst>
              <a:path w="43" h="17">
                <a:moveTo>
                  <a:pt x="0" y="17"/>
                </a:moveTo>
                <a:lnTo>
                  <a:pt x="34" y="0"/>
                </a:lnTo>
                <a:lnTo>
                  <a:pt x="43" y="0"/>
                </a:lnTo>
                <a:lnTo>
                  <a:pt x="9" y="17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45152" y="1975104"/>
            <a:ext cx="310896" cy="548640"/>
          </a:xfrm>
          <a:custGeom>
            <a:avLst/>
            <a:gdLst/>
            <a:ahLst/>
            <a:cxnLst/>
            <a:rect l="l" t="t" r="r" b="b"/>
            <a:pathLst>
              <a:path w="34" h="60">
                <a:moveTo>
                  <a:pt x="0" y="17"/>
                </a:moveTo>
                <a:lnTo>
                  <a:pt x="34" y="0"/>
                </a:lnTo>
                <a:lnTo>
                  <a:pt x="34" y="43"/>
                </a:lnTo>
                <a:lnTo>
                  <a:pt x="0" y="60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62856" y="2130552"/>
            <a:ext cx="82296" cy="393192"/>
          </a:xfrm>
          <a:prstGeom prst="rect">
            <a:avLst/>
          </a:prstGeom>
          <a:solidFill>
            <a:srgbClr val="EDF4F8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645152" y="1975104"/>
            <a:ext cx="393192" cy="155448"/>
          </a:xfrm>
          <a:custGeom>
            <a:avLst/>
            <a:gdLst/>
            <a:ahLst/>
            <a:cxnLst/>
            <a:rect l="l" t="t" r="r" b="b"/>
            <a:pathLst>
              <a:path w="43" h="17">
                <a:moveTo>
                  <a:pt x="0" y="17"/>
                </a:moveTo>
                <a:lnTo>
                  <a:pt x="34" y="0"/>
                </a:lnTo>
                <a:lnTo>
                  <a:pt x="43" y="0"/>
                </a:lnTo>
                <a:lnTo>
                  <a:pt x="9" y="17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727448" y="1975104"/>
            <a:ext cx="310896" cy="548640"/>
          </a:xfrm>
          <a:custGeom>
            <a:avLst/>
            <a:gdLst/>
            <a:ahLst/>
            <a:cxnLst/>
            <a:rect l="l" t="t" r="r" b="b"/>
            <a:pathLst>
              <a:path w="34" h="60">
                <a:moveTo>
                  <a:pt x="0" y="17"/>
                </a:moveTo>
                <a:lnTo>
                  <a:pt x="34" y="0"/>
                </a:lnTo>
                <a:lnTo>
                  <a:pt x="34" y="43"/>
                </a:lnTo>
                <a:lnTo>
                  <a:pt x="0" y="60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45152" y="2130552"/>
            <a:ext cx="82296" cy="393192"/>
          </a:xfrm>
          <a:prstGeom prst="rect">
            <a:avLst/>
          </a:prstGeom>
          <a:solidFill>
            <a:srgbClr val="EDF4F8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727448" y="1975104"/>
            <a:ext cx="393192" cy="155448"/>
          </a:xfrm>
          <a:custGeom>
            <a:avLst/>
            <a:gdLst/>
            <a:ahLst/>
            <a:cxnLst/>
            <a:rect l="l" t="t" r="r" b="b"/>
            <a:pathLst>
              <a:path w="43" h="17">
                <a:moveTo>
                  <a:pt x="0" y="17"/>
                </a:moveTo>
                <a:lnTo>
                  <a:pt x="34" y="0"/>
                </a:lnTo>
                <a:lnTo>
                  <a:pt x="43" y="0"/>
                </a:lnTo>
                <a:lnTo>
                  <a:pt x="9" y="17"/>
                </a:lnTo>
                <a:close/>
              </a:path>
            </a:pathLst>
          </a:custGeom>
          <a:solidFill>
            <a:srgbClr val="EEF4F7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809744" y="1975104"/>
            <a:ext cx="310896" cy="548640"/>
          </a:xfrm>
          <a:custGeom>
            <a:avLst/>
            <a:gdLst/>
            <a:ahLst/>
            <a:cxnLst/>
            <a:rect l="l" t="t" r="r" b="b"/>
            <a:pathLst>
              <a:path w="34" h="60">
                <a:moveTo>
                  <a:pt x="0" y="17"/>
                </a:moveTo>
                <a:lnTo>
                  <a:pt x="34" y="0"/>
                </a:lnTo>
                <a:lnTo>
                  <a:pt x="34" y="43"/>
                </a:lnTo>
                <a:lnTo>
                  <a:pt x="0" y="60"/>
                </a:lnTo>
                <a:close/>
              </a:path>
            </a:pathLst>
          </a:custGeom>
          <a:solidFill>
            <a:srgbClr val="D6E4ED"/>
          </a:solidFill>
          <a:ln w="731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27448" y="2130552"/>
            <a:ext cx="82296" cy="393192"/>
          </a:xfrm>
          <a:prstGeom prst="rect">
            <a:avLst/>
          </a:prstGeom>
          <a:solidFill>
            <a:srgbClr val="EDF4F8"/>
          </a:solidFill>
          <a:ln w="7315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04288" y="3502152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Feature generation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892808" y="1207008"/>
            <a:ext cx="329184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221992" y="1143000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892808" y="2093976"/>
            <a:ext cx="329184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221992" y="202996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92808" y="3054096"/>
            <a:ext cx="329184" cy="0"/>
          </a:xfrm>
          <a:prstGeom prst="line">
            <a:avLst/>
          </a:prstGeom>
          <a:ln w="18288">
            <a:solidFill>
              <a:srgbClr val="5A884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221992" y="299008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5A8848"/>
          </a:solidFill>
          <a:ln w="4572">
            <a:solidFill>
              <a:srgbClr val="5A8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983480" y="1207008"/>
            <a:ext cx="320040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5303520" y="1143000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983480" y="2093976"/>
            <a:ext cx="320040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5303520" y="202996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983480" y="3054096"/>
            <a:ext cx="320040" cy="0"/>
          </a:xfrm>
          <a:prstGeom prst="line">
            <a:avLst/>
          </a:prstGeom>
          <a:ln w="18288">
            <a:solidFill>
              <a:srgbClr val="5A884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5303520" y="299008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5A8848"/>
          </a:solidFill>
          <a:ln w="4572">
            <a:solidFill>
              <a:srgbClr val="5A8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449824" y="841248"/>
            <a:ext cx="2414016" cy="768096"/>
          </a:xfrm>
          <a:prstGeom prst="roundRect">
            <a:avLst/>
          </a:prstGeom>
          <a:noFill/>
          <a:ln w="18288">
            <a:solidFill>
              <a:srgbClr val="F09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59612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76072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9612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77900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94360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77900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96188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12648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188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14476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30936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4476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632764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649224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2764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51052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67512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1052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669340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685800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69340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87628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04088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87628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05916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722376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5916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24204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740664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4204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424928" y="91440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7589520" y="91440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424928" y="941832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559612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576072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59612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577900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594360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77900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96188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12648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6188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14476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30936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14476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32764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649224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32764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51052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667512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51052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669340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685800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69340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687628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704088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7628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705916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722376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05916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724204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740664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4204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7424928" y="112471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589520" y="112471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24928" y="1152144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59612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576072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59612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577900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594360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77900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596188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612648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96188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614476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630936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14476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632764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649224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32764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651052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67512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51052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69340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685800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69340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687628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704088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87628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705916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722376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05916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724204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740664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4204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7424928" y="1417320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7589520" y="1417320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24928" y="1444752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446520" y="118872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449824" y="1792224"/>
            <a:ext cx="2414016" cy="768096"/>
          </a:xfrm>
          <a:prstGeom prst="roundRect">
            <a:avLst/>
          </a:prstGeom>
          <a:noFill/>
          <a:ln w="18288">
            <a:solidFill>
              <a:srgbClr val="F09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559612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576072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59612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577900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594360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77900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596188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612648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96188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614476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630936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14476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632764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649224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32764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651052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667512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51052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669340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685800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69340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687628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704088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87628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705916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722376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05916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724204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740664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24204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7424928" y="186537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7589520" y="186537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424928" y="1892808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559612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576072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59612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577900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594360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77900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596188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612648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96188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614476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630936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14476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632764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649224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32764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651052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667512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51052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669340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685800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69340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687628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04088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87628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05916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22376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05916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724204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40664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24204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7424928" y="2075688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7589520" y="2075688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424928" y="2103120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559612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576072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59612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577900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594360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77900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596188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612648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96188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614476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630936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14476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632764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649224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32764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651052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667512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51052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669340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685800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69340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687628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04088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87628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05916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22376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05916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724204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740664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24204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7424928" y="2368296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7589520" y="2368296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7424928" y="2395728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446520" y="213969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5449824" y="2743200"/>
            <a:ext cx="2414016" cy="768096"/>
          </a:xfrm>
          <a:prstGeom prst="roundRect">
            <a:avLst/>
          </a:prstGeom>
          <a:noFill/>
          <a:ln w="18288">
            <a:solidFill>
              <a:srgbClr val="F09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59612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576072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559612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577900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594360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77900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596188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612648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96188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614476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630936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14476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632764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649224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32764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651052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667512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51052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669340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685800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69340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687628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04088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687628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705916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722376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05916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724204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740664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24204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7424928" y="281635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7589520" y="281635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7424928" y="2843784"/>
            <a:ext cx="164592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559612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576072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559612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577900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594360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77900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596188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612648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96188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614476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630936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14476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632764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649224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32764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651052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667512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651052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669340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685800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669340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687628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704088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687628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705916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722376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705916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724204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740664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724204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7424928" y="3026664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7589520" y="3026664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7424928" y="3054096"/>
            <a:ext cx="164592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559612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576072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59612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577900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94360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77900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96188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612648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96188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614476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630936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614476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632764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649224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32764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651052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667512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651052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669340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685800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69340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687628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704088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87628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705916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722376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705916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724204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740664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24204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7424928" y="3319272"/>
            <a:ext cx="192024" cy="27432"/>
          </a:xfrm>
          <a:custGeom>
            <a:avLst/>
            <a:gdLst/>
            <a:ahLst/>
            <a:cxnLst/>
            <a:rect l="l" t="t" r="r" b="b"/>
            <a:pathLst>
              <a:path w="21" h="3">
                <a:moveTo>
                  <a:pt x="0" y="3"/>
                </a:moveTo>
                <a:lnTo>
                  <a:pt x="3" y="0"/>
                </a:lnTo>
                <a:lnTo>
                  <a:pt x="21" y="0"/>
                </a:lnTo>
                <a:lnTo>
                  <a:pt x="18" y="3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7589520" y="3319272"/>
            <a:ext cx="27432" cy="164592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0" y="3"/>
                </a:moveTo>
                <a:lnTo>
                  <a:pt x="3" y="0"/>
                </a:lnTo>
                <a:lnTo>
                  <a:pt x="3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424928" y="3346704"/>
            <a:ext cx="164592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6446520" y="309067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5724144" y="350215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Build BBA</a:t>
            </a:r>
          </a:p>
        </p:txBody>
      </p:sp>
      <p:cxnSp>
        <p:nvCxnSpPr>
          <p:cNvPr id="374" name="Connector 373"/>
          <p:cNvCxnSpPr/>
          <p:nvPr/>
        </p:nvCxnSpPr>
        <p:spPr>
          <a:xfrm>
            <a:off x="7991856" y="1170432"/>
            <a:ext cx="347472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Freeform 374"/>
          <p:cNvSpPr/>
          <p:nvPr/>
        </p:nvSpPr>
        <p:spPr>
          <a:xfrm>
            <a:off x="8339328" y="1106424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7991856" y="2093976"/>
            <a:ext cx="347472" cy="0"/>
          </a:xfrm>
          <a:prstGeom prst="line">
            <a:avLst/>
          </a:prstGeom>
          <a:ln w="15544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Freeform 376"/>
          <p:cNvSpPr/>
          <p:nvPr/>
        </p:nvSpPr>
        <p:spPr>
          <a:xfrm>
            <a:off x="8339328" y="202996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7991856" y="3054096"/>
            <a:ext cx="347472" cy="0"/>
          </a:xfrm>
          <a:prstGeom prst="line">
            <a:avLst/>
          </a:prstGeom>
          <a:ln w="18288">
            <a:solidFill>
              <a:srgbClr val="5A884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Freeform 378"/>
          <p:cNvSpPr/>
          <p:nvPr/>
        </p:nvSpPr>
        <p:spPr>
          <a:xfrm>
            <a:off x="8339328" y="299008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5A8848"/>
          </a:solidFill>
          <a:ln w="4572">
            <a:solidFill>
              <a:srgbClr val="5A8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8540496" y="8229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8814816" y="9006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Freeform 381"/>
          <p:cNvSpPr/>
          <p:nvPr/>
        </p:nvSpPr>
        <p:spPr>
          <a:xfrm>
            <a:off x="9025128" y="859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8741664" y="859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9107424" y="8229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8540496" y="10515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>
            <a:off x="8814816" y="11292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Freeform 386"/>
          <p:cNvSpPr/>
          <p:nvPr/>
        </p:nvSpPr>
        <p:spPr>
          <a:xfrm>
            <a:off x="9025128" y="1088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8741664" y="1088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107424" y="10515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8540496" y="12801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8814816" y="13578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Freeform 391"/>
          <p:cNvSpPr/>
          <p:nvPr/>
        </p:nvSpPr>
        <p:spPr>
          <a:xfrm>
            <a:off x="9025128" y="1316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8741664" y="1316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107424" y="12801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540496" y="15087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8814816" y="15864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Freeform 396"/>
          <p:cNvSpPr/>
          <p:nvPr/>
        </p:nvSpPr>
        <p:spPr>
          <a:xfrm>
            <a:off x="9025128" y="15453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741664" y="15453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9107424" y="15087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8540496" y="17373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>
            <a:off x="8814816" y="18150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Freeform 401"/>
          <p:cNvSpPr/>
          <p:nvPr/>
        </p:nvSpPr>
        <p:spPr>
          <a:xfrm>
            <a:off x="9025128" y="17739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8741664" y="17739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9107424" y="17373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8540496" y="19659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8814816" y="20436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Freeform 406"/>
          <p:cNvSpPr/>
          <p:nvPr/>
        </p:nvSpPr>
        <p:spPr>
          <a:xfrm>
            <a:off x="9025128" y="2002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8741664" y="2002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9107424" y="19659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540496" y="21945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>
            <a:off x="8814816" y="22722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Freeform 411"/>
          <p:cNvSpPr/>
          <p:nvPr/>
        </p:nvSpPr>
        <p:spPr>
          <a:xfrm>
            <a:off x="9025128" y="2231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8741664" y="2231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9107424" y="21945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8540496" y="24231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6" name="Connector 415"/>
          <p:cNvCxnSpPr/>
          <p:nvPr/>
        </p:nvCxnSpPr>
        <p:spPr>
          <a:xfrm>
            <a:off x="8814816" y="25008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Freeform 416"/>
          <p:cNvSpPr/>
          <p:nvPr/>
        </p:nvSpPr>
        <p:spPr>
          <a:xfrm>
            <a:off x="9025128" y="2459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8741664" y="2459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9107424" y="24231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8540496" y="26517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1" name="Connector 420"/>
          <p:cNvCxnSpPr/>
          <p:nvPr/>
        </p:nvCxnSpPr>
        <p:spPr>
          <a:xfrm>
            <a:off x="8814816" y="27294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Freeform 421"/>
          <p:cNvSpPr/>
          <p:nvPr/>
        </p:nvSpPr>
        <p:spPr>
          <a:xfrm>
            <a:off x="9025128" y="26883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741664" y="26883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107424" y="26517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540496" y="28803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8814816" y="29580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Freeform 426"/>
          <p:cNvSpPr/>
          <p:nvPr/>
        </p:nvSpPr>
        <p:spPr>
          <a:xfrm>
            <a:off x="9025128" y="29169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8741664" y="29169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9107424" y="28803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8540496" y="31089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1" name="Connector 430"/>
          <p:cNvCxnSpPr/>
          <p:nvPr/>
        </p:nvCxnSpPr>
        <p:spPr>
          <a:xfrm>
            <a:off x="8814816" y="31866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Freeform 431"/>
          <p:cNvSpPr/>
          <p:nvPr/>
        </p:nvSpPr>
        <p:spPr>
          <a:xfrm>
            <a:off x="9025128" y="3145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8741664" y="31455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107424" y="31089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8540496" y="3337560"/>
            <a:ext cx="182880" cy="155448"/>
          </a:xfrm>
          <a:prstGeom prst="rect">
            <a:avLst/>
          </a:prstGeom>
          <a:solidFill>
            <a:srgbClr val="63B4D4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6" name="Connector 435"/>
          <p:cNvCxnSpPr/>
          <p:nvPr/>
        </p:nvCxnSpPr>
        <p:spPr>
          <a:xfrm>
            <a:off x="8814816" y="34152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Freeform 436"/>
          <p:cNvSpPr/>
          <p:nvPr/>
        </p:nvSpPr>
        <p:spPr>
          <a:xfrm>
            <a:off x="9025128" y="3374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8741664" y="33741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5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9107424" y="3337560"/>
            <a:ext cx="182880" cy="155448"/>
          </a:xfrm>
          <a:prstGeom prst="ellipse">
            <a:avLst/>
          </a:prstGeom>
          <a:solidFill>
            <a:srgbClr val="AA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8540496" y="3566160"/>
            <a:ext cx="182880" cy="155448"/>
          </a:xfrm>
          <a:prstGeom prst="rect">
            <a:avLst/>
          </a:prstGeom>
          <a:solidFill>
            <a:srgbClr val="A8C43A"/>
          </a:solidFill>
          <a:ln w="6400">
            <a:solidFill>
              <a:srgbClr val="7D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8814816" y="3643884"/>
            <a:ext cx="210312" cy="0"/>
          </a:xfrm>
          <a:prstGeom prst="line">
            <a:avLst/>
          </a:prstGeom>
          <a:ln w="13716">
            <a:solidFill>
              <a:srgbClr val="F3A77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Freeform 441"/>
          <p:cNvSpPr/>
          <p:nvPr/>
        </p:nvSpPr>
        <p:spPr>
          <a:xfrm>
            <a:off x="9025128" y="3602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8" y="4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8741664" y="3602736"/>
            <a:ext cx="73152" cy="82296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4"/>
                </a:moveTo>
                <a:lnTo>
                  <a:pt x="8" y="9"/>
                </a:lnTo>
                <a:lnTo>
                  <a:pt x="8" y="0"/>
                </a:lnTo>
                <a:close/>
              </a:path>
            </a:pathLst>
          </a:custGeom>
          <a:solidFill>
            <a:srgbClr val="F3A77B"/>
          </a:solidFill>
          <a:ln w="4572">
            <a:solidFill>
              <a:srgbClr val="F3A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107424" y="3566160"/>
            <a:ext cx="182880" cy="155448"/>
          </a:xfrm>
          <a:prstGeom prst="ellipse">
            <a:avLst/>
          </a:prstGeom>
          <a:solidFill>
            <a:srgbClr val="C6C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9363456" y="1335024"/>
            <a:ext cx="292608" cy="502920"/>
          </a:xfrm>
          <a:custGeom>
            <a:avLst/>
            <a:gdLst/>
            <a:ahLst/>
            <a:cxnLst/>
            <a:rect l="l" t="t" r="r" b="b"/>
            <a:pathLst>
              <a:path w="32" h="55">
                <a:moveTo>
                  <a:pt x="0" y="55"/>
                </a:moveTo>
                <a:lnTo>
                  <a:pt x="16" y="45"/>
                </a:lnTo>
                <a:lnTo>
                  <a:pt x="26" y="24"/>
                </a:lnTo>
                <a:lnTo>
                  <a:pt x="32" y="0"/>
                </a:lnTo>
              </a:path>
            </a:pathLst>
          </a:custGeom>
          <a:noFill/>
          <a:ln w="15544">
            <a:solidFill>
              <a:srgbClr val="3D99D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9582912" y="1335024"/>
            <a:ext cx="100584" cy="100584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8" y="0"/>
                </a:moveTo>
                <a:lnTo>
                  <a:pt x="11" y="11"/>
                </a:lnTo>
                <a:lnTo>
                  <a:pt x="0" y="8"/>
                </a:lnTo>
                <a:close/>
              </a:path>
            </a:pathLst>
          </a:custGeom>
          <a:solidFill>
            <a:srgbClr val="3D99D3"/>
          </a:solidFill>
          <a:ln w="3657">
            <a:solidFill>
              <a:srgbClr val="3D9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9354312" y="2176272"/>
            <a:ext cx="347472" cy="0"/>
          </a:xfrm>
          <a:custGeom>
            <a:avLst/>
            <a:gdLst/>
            <a:ahLst/>
            <a:cxnLst/>
            <a:rect l="l" t="t" r="r" b="b"/>
            <a:pathLst>
              <a:path w="38" h="0">
                <a:moveTo>
                  <a:pt x="0" y="0"/>
                </a:moveTo>
                <a:lnTo>
                  <a:pt x="22" y="0"/>
                </a:lnTo>
                <a:lnTo>
                  <a:pt x="38" y="0"/>
                </a:lnTo>
              </a:path>
            </a:pathLst>
          </a:custGeom>
          <a:noFill/>
          <a:ln w="15544">
            <a:solidFill>
              <a:srgbClr val="3D99D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9610344" y="2121408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3D99D3"/>
          </a:solidFill>
          <a:ln w="3657">
            <a:solidFill>
              <a:srgbClr val="3D9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9354312" y="2523744"/>
            <a:ext cx="320040" cy="411480"/>
          </a:xfrm>
          <a:custGeom>
            <a:avLst/>
            <a:gdLst/>
            <a:ahLst/>
            <a:cxnLst/>
            <a:rect l="l" t="t" r="r" b="b"/>
            <a:pathLst>
              <a:path w="35" h="45">
                <a:moveTo>
                  <a:pt x="0" y="0"/>
                </a:moveTo>
                <a:lnTo>
                  <a:pt x="17" y="8"/>
                </a:lnTo>
                <a:lnTo>
                  <a:pt x="27" y="24"/>
                </a:lnTo>
                <a:lnTo>
                  <a:pt x="35" y="45"/>
                </a:lnTo>
              </a:path>
            </a:pathLst>
          </a:custGeom>
          <a:noFill/>
          <a:ln w="15544">
            <a:solidFill>
              <a:srgbClr val="3D99D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9592056" y="2834640"/>
            <a:ext cx="100584" cy="100584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9" y="11"/>
                </a:moveTo>
                <a:lnTo>
                  <a:pt x="0" y="4"/>
                </a:lnTo>
                <a:lnTo>
                  <a:pt x="11" y="0"/>
                </a:lnTo>
                <a:close/>
              </a:path>
            </a:pathLst>
          </a:custGeom>
          <a:solidFill>
            <a:srgbClr val="3D99D3"/>
          </a:solidFill>
          <a:ln w="3657">
            <a:solidFill>
              <a:srgbClr val="3D9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9802368" y="731520"/>
            <a:ext cx="0" cy="2743200"/>
          </a:xfrm>
          <a:prstGeom prst="line">
            <a:avLst/>
          </a:prstGeom>
          <a:ln w="27432">
            <a:solidFill>
              <a:srgbClr val="84A6D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0442448" y="731520"/>
            <a:ext cx="0" cy="2743200"/>
          </a:xfrm>
          <a:prstGeom prst="line">
            <a:avLst/>
          </a:prstGeom>
          <a:ln w="27432">
            <a:solidFill>
              <a:srgbClr val="84A6D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ounded Rectangle 452"/>
          <p:cNvSpPr/>
          <p:nvPr/>
        </p:nvSpPr>
        <p:spPr>
          <a:xfrm>
            <a:off x="9921240" y="786384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9957816" y="832104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ounded Rectangle 454"/>
          <p:cNvSpPr/>
          <p:nvPr/>
        </p:nvSpPr>
        <p:spPr>
          <a:xfrm>
            <a:off x="9921240" y="1207008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9957816" y="1252728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ounded Rectangle 456"/>
          <p:cNvSpPr/>
          <p:nvPr/>
        </p:nvSpPr>
        <p:spPr>
          <a:xfrm>
            <a:off x="9921240" y="1627632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9957816" y="1673352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ounded Rectangle 458"/>
          <p:cNvSpPr/>
          <p:nvPr/>
        </p:nvSpPr>
        <p:spPr>
          <a:xfrm>
            <a:off x="9921240" y="2048256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9957816" y="2093976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ounded Rectangle 460"/>
          <p:cNvSpPr/>
          <p:nvPr/>
        </p:nvSpPr>
        <p:spPr>
          <a:xfrm>
            <a:off x="9921240" y="2468880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9957816" y="2514600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ounded Rectangle 462"/>
          <p:cNvSpPr/>
          <p:nvPr/>
        </p:nvSpPr>
        <p:spPr>
          <a:xfrm>
            <a:off x="9921240" y="2889504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9957816" y="2935224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ounded Rectangle 464"/>
          <p:cNvSpPr/>
          <p:nvPr/>
        </p:nvSpPr>
        <p:spPr>
          <a:xfrm>
            <a:off x="9921240" y="3310128"/>
            <a:ext cx="393192" cy="33832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4E3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9957816" y="3355848"/>
            <a:ext cx="320040" cy="246888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27"/>
                </a:moveTo>
                <a:lnTo>
                  <a:pt x="1" y="27"/>
                </a:lnTo>
                <a:lnTo>
                  <a:pt x="3" y="27"/>
                </a:lnTo>
                <a:lnTo>
                  <a:pt x="4" y="27"/>
                </a:lnTo>
                <a:lnTo>
                  <a:pt x="6" y="26"/>
                </a:lnTo>
                <a:lnTo>
                  <a:pt x="7" y="25"/>
                </a:lnTo>
                <a:lnTo>
                  <a:pt x="9" y="23"/>
                </a:lnTo>
                <a:lnTo>
                  <a:pt x="10" y="20"/>
                </a:lnTo>
                <a:lnTo>
                  <a:pt x="12" y="16"/>
                </a:lnTo>
                <a:lnTo>
                  <a:pt x="13" y="10"/>
                </a:lnTo>
                <a:lnTo>
                  <a:pt x="15" y="5"/>
                </a:lnTo>
                <a:lnTo>
                  <a:pt x="16" y="1"/>
                </a:lnTo>
                <a:lnTo>
                  <a:pt x="17" y="0"/>
                </a:lnTo>
                <a:lnTo>
                  <a:pt x="19" y="1"/>
                </a:lnTo>
                <a:lnTo>
                  <a:pt x="20" y="5"/>
                </a:lnTo>
                <a:lnTo>
                  <a:pt x="22" y="10"/>
                </a:lnTo>
                <a:lnTo>
                  <a:pt x="23" y="16"/>
                </a:lnTo>
                <a:lnTo>
                  <a:pt x="25" y="20"/>
                </a:lnTo>
                <a:lnTo>
                  <a:pt x="26" y="23"/>
                </a:lnTo>
                <a:lnTo>
                  <a:pt x="28" y="25"/>
                </a:lnTo>
                <a:lnTo>
                  <a:pt x="29" y="26"/>
                </a:lnTo>
                <a:lnTo>
                  <a:pt x="31" y="27"/>
                </a:lnTo>
                <a:lnTo>
                  <a:pt x="32" y="27"/>
                </a:lnTo>
                <a:lnTo>
                  <a:pt x="34" y="27"/>
                </a:lnTo>
                <a:lnTo>
                  <a:pt x="35" y="27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2435840" y="731520"/>
            <a:ext cx="1042416" cy="2761488"/>
          </a:xfrm>
          <a:prstGeom prst="rect">
            <a:avLst/>
          </a:prstGeom>
          <a:noFill/>
          <a:ln w="27432">
            <a:solidFill>
              <a:srgbClr val="6DA83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0799064" y="877824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0762488" y="832104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10780776" y="841248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M₁(A)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1334902" y="832104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11609222" y="877824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572646" y="832104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4" name="Connector 473"/>
          <p:cNvCxnSpPr/>
          <p:nvPr/>
        </p:nvCxnSpPr>
        <p:spPr>
          <a:xfrm flipV="1">
            <a:off x="11590934" y="850392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11590934" y="850392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11590934" y="850392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11673230" y="850392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11773814" y="852220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11874398" y="952804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11974982" y="1053388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Rounded Rectangle 480"/>
          <p:cNvSpPr/>
          <p:nvPr/>
        </p:nvSpPr>
        <p:spPr>
          <a:xfrm>
            <a:off x="12637008" y="841248"/>
            <a:ext cx="731520" cy="411480"/>
          </a:xfrm>
          <a:prstGeom prst="roundRect">
            <a:avLst/>
          </a:prstGeom>
          <a:solidFill>
            <a:srgbClr val="CF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ounded Rectangle 481"/>
          <p:cNvSpPr/>
          <p:nvPr/>
        </p:nvSpPr>
        <p:spPr>
          <a:xfrm>
            <a:off x="12600432" y="804672"/>
            <a:ext cx="731520" cy="411480"/>
          </a:xfrm>
          <a:prstGeom prst="roundRect">
            <a:avLst/>
          </a:prstGeom>
          <a:solidFill>
            <a:srgbClr val="E7F1F5"/>
          </a:solidFill>
          <a:ln w="10972">
            <a:solidFill>
              <a:srgbClr val="5369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2673584" y="1064361"/>
            <a:ext cx="98755" cy="8778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2790627" y="1006754"/>
            <a:ext cx="98755" cy="145389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2907670" y="899769"/>
            <a:ext cx="98755" cy="252374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3024713" y="1031443"/>
            <a:ext cx="98755" cy="120700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3141756" y="1083564"/>
            <a:ext cx="98755" cy="68580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>
            <a:off x="12655296" y="1161288"/>
            <a:ext cx="621792" cy="0"/>
          </a:xfrm>
          <a:prstGeom prst="line">
            <a:avLst/>
          </a:prstGeom>
          <a:ln w="7315">
            <a:solidFill>
              <a:srgbClr val="89A5A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ectangle 488"/>
          <p:cNvSpPr/>
          <p:nvPr/>
        </p:nvSpPr>
        <p:spPr>
          <a:xfrm>
            <a:off x="10799064" y="1325880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762488" y="1280160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10780776" y="1289304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M₂(A)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1334902" y="1280160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493" name="Rectangle 492"/>
          <p:cNvSpPr/>
          <p:nvPr/>
        </p:nvSpPr>
        <p:spPr>
          <a:xfrm>
            <a:off x="11609222" y="1325880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11572646" y="1280160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5" name="Connector 494"/>
          <p:cNvCxnSpPr/>
          <p:nvPr/>
        </p:nvCxnSpPr>
        <p:spPr>
          <a:xfrm flipV="1">
            <a:off x="11590934" y="1298448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1590934" y="1298448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11590934" y="1298448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11673230" y="1298448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11773814" y="1300276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11874398" y="1400860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11974982" y="1501444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Rounded Rectangle 501"/>
          <p:cNvSpPr/>
          <p:nvPr/>
        </p:nvSpPr>
        <p:spPr>
          <a:xfrm>
            <a:off x="12637008" y="1380744"/>
            <a:ext cx="731520" cy="411480"/>
          </a:xfrm>
          <a:prstGeom prst="roundRect">
            <a:avLst/>
          </a:prstGeom>
          <a:solidFill>
            <a:srgbClr val="CF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ounded Rectangle 502"/>
          <p:cNvSpPr/>
          <p:nvPr/>
        </p:nvSpPr>
        <p:spPr>
          <a:xfrm>
            <a:off x="12600432" y="1344168"/>
            <a:ext cx="731520" cy="411480"/>
          </a:xfrm>
          <a:prstGeom prst="roundRect">
            <a:avLst/>
          </a:prstGeom>
          <a:solidFill>
            <a:srgbClr val="E7F1F5"/>
          </a:solidFill>
          <a:ln w="10972">
            <a:solidFill>
              <a:srgbClr val="5369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2673584" y="1540764"/>
            <a:ext cx="98755" cy="150876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12790627" y="1442008"/>
            <a:ext cx="98755" cy="249631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12907670" y="1559966"/>
            <a:ext cx="98755" cy="131673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13024713" y="1595628"/>
            <a:ext cx="98755" cy="9601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13141756" y="1612087"/>
            <a:ext cx="98755" cy="7955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12655296" y="1700784"/>
            <a:ext cx="621792" cy="0"/>
          </a:xfrm>
          <a:prstGeom prst="line">
            <a:avLst/>
          </a:prstGeom>
          <a:ln w="7315">
            <a:solidFill>
              <a:srgbClr val="89A5A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0" name="Rectangle 509"/>
          <p:cNvSpPr/>
          <p:nvPr/>
        </p:nvSpPr>
        <p:spPr>
          <a:xfrm>
            <a:off x="10799064" y="1773936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0762488" y="1728216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10780776" y="1737360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M₃(A)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1334902" y="1728216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11609222" y="1773936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1572646" y="1728216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11590934" y="1746504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11590934" y="1746504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11590934" y="1746504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1673230" y="1746504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11773814" y="1748332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11874398" y="1848916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11974982" y="1949500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Rounded Rectangle 522"/>
          <p:cNvSpPr/>
          <p:nvPr/>
        </p:nvSpPr>
        <p:spPr>
          <a:xfrm>
            <a:off x="12637008" y="1920240"/>
            <a:ext cx="731520" cy="411480"/>
          </a:xfrm>
          <a:prstGeom prst="roundRect">
            <a:avLst/>
          </a:prstGeom>
          <a:solidFill>
            <a:srgbClr val="CF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ounded Rectangle 523"/>
          <p:cNvSpPr/>
          <p:nvPr/>
        </p:nvSpPr>
        <p:spPr>
          <a:xfrm>
            <a:off x="12600432" y="1883664"/>
            <a:ext cx="731520" cy="411480"/>
          </a:xfrm>
          <a:prstGeom prst="roundRect">
            <a:avLst/>
          </a:prstGeom>
          <a:solidFill>
            <a:srgbClr val="E7F1F5"/>
          </a:solidFill>
          <a:ln w="10972">
            <a:solidFill>
              <a:srgbClr val="5369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12673584" y="2115921"/>
            <a:ext cx="98755" cy="115214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12790627" y="2061057"/>
            <a:ext cx="98755" cy="170078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12907670" y="2017166"/>
            <a:ext cx="98755" cy="213969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3024713" y="2085746"/>
            <a:ext cx="98755" cy="145389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13141756" y="2132380"/>
            <a:ext cx="98755" cy="98755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>
            <a:off x="12655296" y="2240280"/>
            <a:ext cx="621792" cy="0"/>
          </a:xfrm>
          <a:prstGeom prst="line">
            <a:avLst/>
          </a:prstGeom>
          <a:ln w="7315">
            <a:solidFill>
              <a:srgbClr val="89A5A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ectangle 530"/>
          <p:cNvSpPr/>
          <p:nvPr/>
        </p:nvSpPr>
        <p:spPr>
          <a:xfrm>
            <a:off x="10799064" y="2221992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10762488" y="2176272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10780776" y="2185416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M₄(A)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11334902" y="2176272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11609222" y="2221992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11572646" y="2176272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11590934" y="2194560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11590934" y="2194560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11590934" y="2194560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11673230" y="2194560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11773814" y="2196388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11874398" y="2296972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11974982" y="2397556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Rounded Rectangle 543"/>
          <p:cNvSpPr/>
          <p:nvPr/>
        </p:nvSpPr>
        <p:spPr>
          <a:xfrm>
            <a:off x="12637008" y="2459736"/>
            <a:ext cx="731520" cy="411480"/>
          </a:xfrm>
          <a:prstGeom prst="roundRect">
            <a:avLst/>
          </a:prstGeom>
          <a:solidFill>
            <a:srgbClr val="CF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ounded Rectangle 544"/>
          <p:cNvSpPr/>
          <p:nvPr/>
        </p:nvSpPr>
        <p:spPr>
          <a:xfrm>
            <a:off x="12600432" y="2423160"/>
            <a:ext cx="731520" cy="411480"/>
          </a:xfrm>
          <a:prstGeom prst="roundRect">
            <a:avLst/>
          </a:prstGeom>
          <a:solidFill>
            <a:srgbClr val="E7F1F5"/>
          </a:solidFill>
          <a:ln w="10972">
            <a:solidFill>
              <a:srgbClr val="5369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2673584" y="2693822"/>
            <a:ext cx="98755" cy="76809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2790627" y="2644444"/>
            <a:ext cx="98755" cy="126187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2907670" y="2586837"/>
            <a:ext cx="98755" cy="183794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3024713" y="2627985"/>
            <a:ext cx="98755" cy="142646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3141756" y="2685592"/>
            <a:ext cx="98755" cy="85039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1" name="Connector 550"/>
          <p:cNvCxnSpPr/>
          <p:nvPr/>
        </p:nvCxnSpPr>
        <p:spPr>
          <a:xfrm>
            <a:off x="12655296" y="2779776"/>
            <a:ext cx="621792" cy="0"/>
          </a:xfrm>
          <a:prstGeom prst="line">
            <a:avLst/>
          </a:prstGeom>
          <a:ln w="7315">
            <a:solidFill>
              <a:srgbClr val="89A5A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Rectangle 551"/>
          <p:cNvSpPr/>
          <p:nvPr/>
        </p:nvSpPr>
        <p:spPr>
          <a:xfrm>
            <a:off x="10799064" y="2807208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0762488" y="2761488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10780776" y="2770632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Mₙ₋₁(A)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1334902" y="2761488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556" name="Rectangle 555"/>
          <p:cNvSpPr/>
          <p:nvPr/>
        </p:nvSpPr>
        <p:spPr>
          <a:xfrm>
            <a:off x="11609222" y="2807208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1572646" y="2761488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 flipV="1">
            <a:off x="11590934" y="2779776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11590934" y="2779776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11590934" y="2779776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11673230" y="2779776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11773814" y="2781604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11874398" y="2882188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11974982" y="2982772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Rectangle 564"/>
          <p:cNvSpPr/>
          <p:nvPr/>
        </p:nvSpPr>
        <p:spPr>
          <a:xfrm>
            <a:off x="10799064" y="3255264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0762488" y="3209544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10780776" y="3218688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Mₙ(A)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11334902" y="3209544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11609222" y="3255264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1572646" y="3209544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1590934" y="3227832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1590934" y="3227832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11590934" y="3227832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11673230" y="3227832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11773814" y="3229660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11874398" y="3330244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11974982" y="3430828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Rounded Rectangle 577"/>
          <p:cNvSpPr/>
          <p:nvPr/>
        </p:nvSpPr>
        <p:spPr>
          <a:xfrm>
            <a:off x="12637008" y="2999232"/>
            <a:ext cx="731520" cy="411480"/>
          </a:xfrm>
          <a:prstGeom prst="roundRect">
            <a:avLst/>
          </a:prstGeom>
          <a:solidFill>
            <a:srgbClr val="CF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ounded Rectangle 578"/>
          <p:cNvSpPr/>
          <p:nvPr/>
        </p:nvSpPr>
        <p:spPr>
          <a:xfrm>
            <a:off x="12600432" y="2962656"/>
            <a:ext cx="731520" cy="411480"/>
          </a:xfrm>
          <a:prstGeom prst="roundRect">
            <a:avLst/>
          </a:prstGeom>
          <a:solidFill>
            <a:srgbClr val="E7F1F5"/>
          </a:solidFill>
          <a:ln w="10972">
            <a:solidFill>
              <a:srgbClr val="53697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12673584" y="3153765"/>
            <a:ext cx="98755" cy="15636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12790627" y="3153765"/>
            <a:ext cx="98755" cy="15636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12907670" y="3153765"/>
            <a:ext cx="98755" cy="15636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13024713" y="3153765"/>
            <a:ext cx="98755" cy="15636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13141756" y="3153765"/>
            <a:ext cx="98755" cy="156362"/>
          </a:xfrm>
          <a:prstGeom prst="rect">
            <a:avLst/>
          </a:prstGeom>
          <a:solidFill>
            <a:srgbClr val="EAF8D8"/>
          </a:solidFill>
          <a:ln w="9144">
            <a:solidFill>
              <a:srgbClr val="A9D483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>
            <a:off x="12655296" y="3319272"/>
            <a:ext cx="621792" cy="0"/>
          </a:xfrm>
          <a:prstGeom prst="line">
            <a:avLst/>
          </a:prstGeom>
          <a:ln w="7315">
            <a:solidFill>
              <a:srgbClr val="89A5A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6" name="TextBox 585"/>
          <p:cNvSpPr txBox="1"/>
          <p:nvPr/>
        </p:nvSpPr>
        <p:spPr>
          <a:xfrm>
            <a:off x="11109960" y="2468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11768328" y="2468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9848088" y="351129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Adaptive transformation</a:t>
            </a:r>
          </a:p>
        </p:txBody>
      </p:sp>
      <p:sp>
        <p:nvSpPr>
          <p:cNvPr id="589" name="Rectangle 588"/>
          <p:cNvSpPr/>
          <p:nvPr/>
        </p:nvSpPr>
        <p:spPr>
          <a:xfrm>
            <a:off x="36576" y="3922776"/>
            <a:ext cx="6409944" cy="5212080"/>
          </a:xfrm>
          <a:prstGeom prst="rect">
            <a:avLst/>
          </a:prstGeom>
          <a:solidFill>
            <a:srgbClr val="FCF8FD"/>
          </a:solidFill>
          <a:ln w="7315">
            <a:solidFill>
              <a:srgbClr val="D6DA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6446520" y="3922776"/>
            <a:ext cx="7232904" cy="5212080"/>
          </a:xfrm>
          <a:prstGeom prst="rect">
            <a:avLst/>
          </a:prstGeom>
          <a:solidFill>
            <a:srgbClr val="FFFDF3"/>
          </a:solidFill>
          <a:ln w="7315">
            <a:solidFill>
              <a:srgbClr val="D6DA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36576" y="3922776"/>
            <a:ext cx="6409944" cy="530352"/>
          </a:xfrm>
          <a:prstGeom prst="rect">
            <a:avLst/>
          </a:prstGeom>
          <a:solidFill>
            <a:srgbClr val="E8C4E4"/>
          </a:solidFill>
          <a:ln w="6400">
            <a:solidFill>
              <a:srgbClr val="D0B7D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6446520" y="3922776"/>
            <a:ext cx="7232904" cy="530352"/>
          </a:xfrm>
          <a:prstGeom prst="rect">
            <a:avLst/>
          </a:prstGeom>
          <a:solidFill>
            <a:srgbClr val="F3E8C2"/>
          </a:solidFill>
          <a:ln w="6400">
            <a:solidFill>
              <a:srgbClr val="D8CDA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868680" y="40050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Noto Serif"/>
              </a:rPr>
              <a:t>Probabilistic reliability assessment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7498080" y="40050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00000"/>
                </a:solidFill>
                <a:latin typeface="Noto Serif"/>
              </a:rPr>
              <a:t>Collaborative decision optimization</a:t>
            </a:r>
          </a:p>
        </p:txBody>
      </p:sp>
      <p:sp>
        <p:nvSpPr>
          <p:cNvPr id="595" name="Rectangle 594"/>
          <p:cNvSpPr/>
          <p:nvPr/>
        </p:nvSpPr>
        <p:spPr>
          <a:xfrm>
            <a:off x="548640" y="4562856"/>
            <a:ext cx="5431536" cy="594360"/>
          </a:xfrm>
          <a:prstGeom prst="rect">
            <a:avLst/>
          </a:prstGeom>
          <a:noFill/>
          <a:ln w="16459">
            <a:solidFill>
              <a:srgbClr val="1010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1051560" y="4764024"/>
            <a:ext cx="538398" cy="302849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1014984" y="4718304"/>
            <a:ext cx="538398" cy="302849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1033272" y="4727448"/>
            <a:ext cx="501822" cy="284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3" b="0" i="0">
                <a:solidFill>
                  <a:srgbClr val="000000"/>
                </a:solidFill>
                <a:latin typeface="Noto Serif"/>
              </a:rPr>
              <a:t>M₁(A)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599102" y="4718304"/>
            <a:ext cx="228600" cy="3028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9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00" name="Rectangle 599"/>
          <p:cNvSpPr/>
          <p:nvPr/>
        </p:nvSpPr>
        <p:spPr>
          <a:xfrm>
            <a:off x="1873422" y="4764024"/>
            <a:ext cx="471098" cy="286024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1836846" y="4718304"/>
            <a:ext cx="471098" cy="286024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855134" y="4736592"/>
            <a:ext cx="29993" cy="4828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1855134" y="4736592"/>
            <a:ext cx="130577" cy="14886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1855134" y="4736592"/>
            <a:ext cx="231161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1937430" y="4736592"/>
            <a:ext cx="249449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2038014" y="4736592"/>
            <a:ext cx="249449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2138598" y="4834981"/>
            <a:ext cx="151059" cy="15105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2239182" y="4935565"/>
            <a:ext cx="50475" cy="5047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ectangle 608"/>
          <p:cNvSpPr/>
          <p:nvPr/>
        </p:nvSpPr>
        <p:spPr>
          <a:xfrm>
            <a:off x="4142232" y="4764024"/>
            <a:ext cx="538398" cy="302849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4105656" y="4718304"/>
            <a:ext cx="538398" cy="302849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4123944" y="4727448"/>
            <a:ext cx="501822" cy="284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3" b="0" i="0">
                <a:solidFill>
                  <a:srgbClr val="000000"/>
                </a:solidFill>
                <a:latin typeface="Noto Serif"/>
              </a:rPr>
              <a:t>M₁(A)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4689774" y="4718304"/>
            <a:ext cx="228600" cy="3028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9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13" name="Rectangle 612"/>
          <p:cNvSpPr/>
          <p:nvPr/>
        </p:nvSpPr>
        <p:spPr>
          <a:xfrm>
            <a:off x="4964094" y="4764024"/>
            <a:ext cx="471098" cy="286024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4927518" y="4718304"/>
            <a:ext cx="471098" cy="286024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 flipV="1">
            <a:off x="4945806" y="4736592"/>
            <a:ext cx="29993" cy="4828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4945806" y="4736592"/>
            <a:ext cx="130577" cy="14886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945806" y="4736592"/>
            <a:ext cx="231161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028102" y="4736592"/>
            <a:ext cx="249449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5128686" y="4736592"/>
            <a:ext cx="249449" cy="24944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229270" y="4834981"/>
            <a:ext cx="151059" cy="15105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5329854" y="4935565"/>
            <a:ext cx="50475" cy="5047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938528" y="5193792"/>
            <a:ext cx="329331" cy="161006"/>
          </a:xfrm>
          <a:prstGeom prst="line">
            <a:avLst/>
          </a:prstGeom>
          <a:ln w="13716">
            <a:solidFill>
              <a:srgbClr val="F09CE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3" name="Freeform 622"/>
          <p:cNvSpPr/>
          <p:nvPr/>
        </p:nvSpPr>
        <p:spPr>
          <a:xfrm>
            <a:off x="2249424" y="5312664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11" y="9"/>
                </a:moveTo>
                <a:lnTo>
                  <a:pt x="0" y="9"/>
                </a:lnTo>
                <a:lnTo>
                  <a:pt x="4" y="0"/>
                </a:lnTo>
                <a:close/>
              </a:path>
            </a:pathLst>
          </a:custGeom>
          <a:solidFill>
            <a:srgbClr val="F09CE0"/>
          </a:solidFill>
          <a:ln w="4572">
            <a:solidFill>
              <a:srgbClr val="F09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H="1">
            <a:off x="4169154" y="5193792"/>
            <a:ext cx="320550" cy="160274"/>
          </a:xfrm>
          <a:prstGeom prst="line">
            <a:avLst/>
          </a:prstGeom>
          <a:ln w="13716">
            <a:solidFill>
              <a:srgbClr val="F09CE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Freeform 624"/>
          <p:cNvSpPr/>
          <p:nvPr/>
        </p:nvSpPr>
        <p:spPr>
          <a:xfrm>
            <a:off x="4087368" y="5312664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0" y="9"/>
                </a:moveTo>
                <a:lnTo>
                  <a:pt x="7" y="0"/>
                </a:lnTo>
                <a:lnTo>
                  <a:pt x="11" y="9"/>
                </a:lnTo>
                <a:close/>
              </a:path>
            </a:pathLst>
          </a:custGeom>
          <a:solidFill>
            <a:srgbClr val="F09CE0"/>
          </a:solidFill>
          <a:ln w="4572">
            <a:solidFill>
              <a:srgbClr val="F09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2606040" y="519379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Noto Serif"/>
              </a:rPr>
              <a:t>HODMMD</a:t>
            </a:r>
          </a:p>
        </p:txBody>
      </p:sp>
      <p:cxnSp>
        <p:nvCxnSpPr>
          <p:cNvPr id="627" name="Connector 626"/>
          <p:cNvCxnSpPr/>
          <p:nvPr/>
        </p:nvCxnSpPr>
        <p:spPr>
          <a:xfrm>
            <a:off x="1325880" y="5550408"/>
            <a:ext cx="1965960" cy="0"/>
          </a:xfrm>
          <a:prstGeom prst="line">
            <a:avLst/>
          </a:prstGeom>
          <a:ln w="12801">
            <a:solidFill>
              <a:srgbClr val="10101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291840" y="5440680"/>
            <a:ext cx="0" cy="109728"/>
          </a:xfrm>
          <a:prstGeom prst="line">
            <a:avLst/>
          </a:prstGeom>
          <a:ln w="12801">
            <a:solidFill>
              <a:srgbClr val="10101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1325880" y="5550408"/>
            <a:ext cx="0" cy="137160"/>
          </a:xfrm>
          <a:prstGeom prst="line">
            <a:avLst/>
          </a:prstGeom>
          <a:ln w="20116">
            <a:solidFill>
              <a:srgbClr val="10101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Freeform 629"/>
          <p:cNvSpPr/>
          <p:nvPr/>
        </p:nvSpPr>
        <p:spPr>
          <a:xfrm>
            <a:off x="1271016" y="5687568"/>
            <a:ext cx="109728" cy="100584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6" y="11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101010"/>
          </a:solidFill>
          <a:ln w="457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548640" y="5797296"/>
            <a:ext cx="5431536" cy="502920"/>
          </a:xfrm>
          <a:prstGeom prst="rect">
            <a:avLst/>
          </a:prstGeom>
          <a:noFill/>
          <a:ln w="16459">
            <a:solidFill>
              <a:srgbClr val="1010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58952" y="5943600"/>
            <a:ext cx="237744" cy="228600"/>
          </a:xfrm>
          <a:prstGeom prst="ellipse">
            <a:avLst/>
          </a:prstGeom>
          <a:noFill/>
          <a:ln w="18288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1143000" y="5943600"/>
            <a:ext cx="237744" cy="228600"/>
          </a:xfrm>
          <a:prstGeom prst="ellipse">
            <a:avLst/>
          </a:prstGeom>
          <a:noFill/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1527048" y="5943600"/>
            <a:ext cx="237744" cy="228600"/>
          </a:xfrm>
          <a:prstGeom prst="ellipse">
            <a:avLst/>
          </a:prstGeom>
          <a:noFill/>
          <a:ln w="18288">
            <a:solidFill>
              <a:srgbClr val="1588C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1911096" y="5943600"/>
            <a:ext cx="237744" cy="228600"/>
          </a:xfrm>
          <a:prstGeom prst="ellipse">
            <a:avLst/>
          </a:prstGeom>
          <a:noFill/>
          <a:ln w="18288">
            <a:solidFill>
              <a:srgbClr val="D938C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2395728" y="5943600"/>
            <a:ext cx="237744" cy="228600"/>
          </a:xfrm>
          <a:prstGeom prst="ellipse">
            <a:avLst/>
          </a:prstGeom>
          <a:noFill/>
          <a:ln w="18288">
            <a:solidFill>
              <a:srgbClr val="99B9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2761488" y="5943600"/>
            <a:ext cx="237744" cy="228600"/>
          </a:xfrm>
          <a:prstGeom prst="ellipse">
            <a:avLst/>
          </a:prstGeom>
          <a:noFill/>
          <a:ln w="18288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127248" y="5943600"/>
            <a:ext cx="237744" cy="228600"/>
          </a:xfrm>
          <a:prstGeom prst="ellipse">
            <a:avLst/>
          </a:prstGeom>
          <a:noFill/>
          <a:ln w="18288">
            <a:solidFill>
              <a:srgbClr val="1588C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3493008" y="5943600"/>
            <a:ext cx="237744" cy="228600"/>
          </a:xfrm>
          <a:prstGeom prst="ellipse">
            <a:avLst/>
          </a:prstGeom>
          <a:noFill/>
          <a:ln w="18288">
            <a:solidFill>
              <a:srgbClr val="D938C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TextBox 639"/>
          <p:cNvSpPr txBox="1"/>
          <p:nvPr/>
        </p:nvSpPr>
        <p:spPr>
          <a:xfrm>
            <a:off x="3822192" y="5870448"/>
            <a:ext cx="2377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4069080" y="5870448"/>
            <a:ext cx="2377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642" name="Oval 641"/>
          <p:cNvSpPr/>
          <p:nvPr/>
        </p:nvSpPr>
        <p:spPr>
          <a:xfrm>
            <a:off x="4370832" y="5943600"/>
            <a:ext cx="237744" cy="228600"/>
          </a:xfrm>
          <a:prstGeom prst="ellipse">
            <a:avLst/>
          </a:prstGeom>
          <a:noFill/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754880" y="5943600"/>
            <a:ext cx="237744" cy="228600"/>
          </a:xfrm>
          <a:prstGeom prst="ellipse">
            <a:avLst/>
          </a:prstGeom>
          <a:noFill/>
          <a:ln w="18288">
            <a:solidFill>
              <a:srgbClr val="D938C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138928" y="5943600"/>
            <a:ext cx="237744" cy="228600"/>
          </a:xfrm>
          <a:prstGeom prst="ellipse">
            <a:avLst/>
          </a:prstGeom>
          <a:noFill/>
          <a:ln w="18288">
            <a:solidFill>
              <a:srgbClr val="E4E8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5522976" y="5943600"/>
            <a:ext cx="237744" cy="228600"/>
          </a:xfrm>
          <a:prstGeom prst="ellipse">
            <a:avLst/>
          </a:prstGeom>
          <a:noFill/>
          <a:ln w="18288">
            <a:solidFill>
              <a:srgbClr val="F3A77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658368" y="6519672"/>
            <a:ext cx="485729" cy="27322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621792" y="6473952"/>
            <a:ext cx="485729" cy="27322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640080" y="6483096"/>
            <a:ext cx="449153" cy="2549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6" b="0" i="0">
                <a:solidFill>
                  <a:srgbClr val="000000"/>
                </a:solidFill>
                <a:latin typeface="Noto Serif"/>
              </a:rPr>
              <a:t>M₁(A)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153241" y="6473952"/>
            <a:ext cx="228600" cy="27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50" name="Rectangle 649"/>
          <p:cNvSpPr/>
          <p:nvPr/>
        </p:nvSpPr>
        <p:spPr>
          <a:xfrm>
            <a:off x="1427561" y="6519672"/>
            <a:ext cx="417423" cy="235275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390985" y="6473952"/>
            <a:ext cx="417423" cy="235275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 flipV="1">
            <a:off x="1409273" y="6492240"/>
            <a:ext cx="79827" cy="9811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1409273" y="6492240"/>
            <a:ext cx="180411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1491569" y="6492240"/>
            <a:ext cx="198699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1592153" y="6492971"/>
            <a:ext cx="197967" cy="19796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1692737" y="6593555"/>
            <a:ext cx="97383" cy="9738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7" name="Rectangle 656"/>
          <p:cNvSpPr/>
          <p:nvPr/>
        </p:nvSpPr>
        <p:spPr>
          <a:xfrm>
            <a:off x="658368" y="6949440"/>
            <a:ext cx="485729" cy="27322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621792" y="6903720"/>
            <a:ext cx="485729" cy="27322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640080" y="6912864"/>
            <a:ext cx="449153" cy="2549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6" b="0" i="0">
                <a:solidFill>
                  <a:srgbClr val="000000"/>
                </a:solidFill>
                <a:latin typeface="Noto Serif"/>
              </a:rPr>
              <a:t>M₂(A)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1153241" y="6903720"/>
            <a:ext cx="228600" cy="27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61" name="Rectangle 660"/>
          <p:cNvSpPr/>
          <p:nvPr/>
        </p:nvSpPr>
        <p:spPr>
          <a:xfrm>
            <a:off x="1427561" y="6949440"/>
            <a:ext cx="417423" cy="235275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1390985" y="6903720"/>
            <a:ext cx="417423" cy="235275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1409273" y="6922008"/>
            <a:ext cx="79827" cy="9811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1409273" y="6922008"/>
            <a:ext cx="180411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1491569" y="6922008"/>
            <a:ext cx="198699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1592153" y="6922739"/>
            <a:ext cx="197967" cy="19796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1692737" y="7023323"/>
            <a:ext cx="97383" cy="9738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ectangle 667"/>
          <p:cNvSpPr/>
          <p:nvPr/>
        </p:nvSpPr>
        <p:spPr>
          <a:xfrm>
            <a:off x="658368" y="7379208"/>
            <a:ext cx="485729" cy="27322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621792" y="7333488"/>
            <a:ext cx="485729" cy="27322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640080" y="7342632"/>
            <a:ext cx="449153" cy="2549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6" b="0" i="0">
                <a:solidFill>
                  <a:srgbClr val="000000"/>
                </a:solidFill>
                <a:latin typeface="Noto Serif"/>
              </a:rPr>
              <a:t>M₃(A)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1153241" y="7333488"/>
            <a:ext cx="228600" cy="27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72" name="Rectangle 671"/>
          <p:cNvSpPr/>
          <p:nvPr/>
        </p:nvSpPr>
        <p:spPr>
          <a:xfrm>
            <a:off x="1427561" y="7379208"/>
            <a:ext cx="417423" cy="235275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1390985" y="7333488"/>
            <a:ext cx="417423" cy="235275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1409273" y="7351776"/>
            <a:ext cx="79827" cy="9811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1409273" y="7351776"/>
            <a:ext cx="180411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1491569" y="7351776"/>
            <a:ext cx="198699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1592153" y="7352507"/>
            <a:ext cx="197967" cy="19796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1692737" y="7453091"/>
            <a:ext cx="97383" cy="9738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9" name="Rectangle 678"/>
          <p:cNvSpPr/>
          <p:nvPr/>
        </p:nvSpPr>
        <p:spPr>
          <a:xfrm>
            <a:off x="658368" y="8147304"/>
            <a:ext cx="485729" cy="27322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621792" y="8101584"/>
            <a:ext cx="485729" cy="27322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640080" y="8110728"/>
            <a:ext cx="449153" cy="2549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6" b="0" i="0">
                <a:solidFill>
                  <a:srgbClr val="000000"/>
                </a:solidFill>
                <a:latin typeface="Noto Serif"/>
              </a:rPr>
              <a:t>Mₙ₋₁(A)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1153241" y="8101584"/>
            <a:ext cx="228600" cy="27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83" name="Rectangle 682"/>
          <p:cNvSpPr/>
          <p:nvPr/>
        </p:nvSpPr>
        <p:spPr>
          <a:xfrm>
            <a:off x="1427561" y="8147304"/>
            <a:ext cx="417423" cy="235275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1390985" y="8101584"/>
            <a:ext cx="417423" cy="235275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5" name="Connector 684"/>
          <p:cNvCxnSpPr/>
          <p:nvPr/>
        </p:nvCxnSpPr>
        <p:spPr>
          <a:xfrm flipV="1">
            <a:off x="1409273" y="8119872"/>
            <a:ext cx="79827" cy="9811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1409273" y="8119872"/>
            <a:ext cx="180411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1491569" y="8119872"/>
            <a:ext cx="198699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1592153" y="8120603"/>
            <a:ext cx="197967" cy="19796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1692737" y="8221187"/>
            <a:ext cx="97383" cy="9738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0" name="Rectangle 689"/>
          <p:cNvSpPr/>
          <p:nvPr/>
        </p:nvSpPr>
        <p:spPr>
          <a:xfrm>
            <a:off x="658368" y="8577072"/>
            <a:ext cx="485729" cy="27322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621792" y="8531352"/>
            <a:ext cx="485729" cy="27322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40080" y="8540496"/>
            <a:ext cx="449153" cy="2549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6" b="0" i="0">
                <a:solidFill>
                  <a:srgbClr val="000000"/>
                </a:solidFill>
                <a:latin typeface="Noto Serif"/>
              </a:rPr>
              <a:t>Mₙ(A)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1153241" y="8531352"/>
            <a:ext cx="228600" cy="27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4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694" name="Rectangle 693"/>
          <p:cNvSpPr/>
          <p:nvPr/>
        </p:nvSpPr>
        <p:spPr>
          <a:xfrm>
            <a:off x="1427561" y="8577072"/>
            <a:ext cx="417423" cy="235275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1390985" y="8531352"/>
            <a:ext cx="417423" cy="235275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6" name="Connector 695"/>
          <p:cNvCxnSpPr/>
          <p:nvPr/>
        </p:nvCxnSpPr>
        <p:spPr>
          <a:xfrm flipV="1">
            <a:off x="1409273" y="8549640"/>
            <a:ext cx="79827" cy="98115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1409273" y="8549640"/>
            <a:ext cx="180411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1491569" y="8549640"/>
            <a:ext cx="198699" cy="198699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1592153" y="8550371"/>
            <a:ext cx="197967" cy="19796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1692737" y="8650955"/>
            <a:ext cx="97383" cy="9738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1" name="TextBox 700"/>
          <p:cNvSpPr txBox="1"/>
          <p:nvPr/>
        </p:nvSpPr>
        <p:spPr>
          <a:xfrm>
            <a:off x="1033272" y="7644384"/>
            <a:ext cx="320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2185416" y="7287768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703" name="Rounded Rectangle 702"/>
          <p:cNvSpPr/>
          <p:nvPr/>
        </p:nvSpPr>
        <p:spPr>
          <a:xfrm>
            <a:off x="2670048" y="6391656"/>
            <a:ext cx="384048" cy="2551176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F09CE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2743200" y="6492240"/>
            <a:ext cx="228600" cy="219456"/>
          </a:xfrm>
          <a:prstGeom prst="ellipse">
            <a:avLst/>
          </a:prstGeom>
          <a:noFill/>
          <a:ln w="18288">
            <a:solidFill>
              <a:srgbClr val="D938C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743200" y="6821424"/>
            <a:ext cx="228600" cy="219456"/>
          </a:xfrm>
          <a:prstGeom prst="ellipse">
            <a:avLst/>
          </a:prstGeom>
          <a:noFill/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2743200" y="7150608"/>
            <a:ext cx="228600" cy="219456"/>
          </a:xfrm>
          <a:prstGeom prst="ellipse">
            <a:avLst/>
          </a:prstGeom>
          <a:noFill/>
          <a:ln w="18288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2743200" y="7479792"/>
            <a:ext cx="228600" cy="219456"/>
          </a:xfrm>
          <a:prstGeom prst="ellipse">
            <a:avLst/>
          </a:prstGeom>
          <a:noFill/>
          <a:ln w="18288">
            <a:solidFill>
              <a:srgbClr val="1789C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2743200" y="7808976"/>
            <a:ext cx="228600" cy="219456"/>
          </a:xfrm>
          <a:prstGeom prst="ellipse">
            <a:avLst/>
          </a:prstGeom>
          <a:noFill/>
          <a:ln w="18288">
            <a:solidFill>
              <a:srgbClr val="E6EA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2743200" y="8138160"/>
            <a:ext cx="228600" cy="219456"/>
          </a:xfrm>
          <a:prstGeom prst="ellipse">
            <a:avLst/>
          </a:prstGeom>
          <a:noFill/>
          <a:ln w="18288">
            <a:solidFill>
              <a:srgbClr val="91AFE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2743200" y="8467344"/>
            <a:ext cx="228600" cy="219456"/>
          </a:xfrm>
          <a:prstGeom prst="ellipse">
            <a:avLst/>
          </a:prstGeom>
          <a:noFill/>
          <a:ln w="18288">
            <a:solidFill>
              <a:srgbClr val="F3A77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2743200" y="8759952"/>
            <a:ext cx="228600" cy="219456"/>
          </a:xfrm>
          <a:prstGeom prst="ellipse">
            <a:avLst/>
          </a:prstGeom>
          <a:noFill/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2734056" y="7918704"/>
            <a:ext cx="25603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00000"/>
                </a:solidFill>
                <a:latin typeface="Noto Serif"/>
              </a:rPr>
              <a:t>⋯</a:t>
            </a:r>
          </a:p>
        </p:txBody>
      </p:sp>
      <p:cxnSp>
        <p:nvCxnSpPr>
          <p:cNvPr id="713" name="Connector 712"/>
          <p:cNvCxnSpPr/>
          <p:nvPr/>
        </p:nvCxnSpPr>
        <p:spPr>
          <a:xfrm>
            <a:off x="3401568" y="7498080"/>
            <a:ext cx="338328" cy="0"/>
          </a:xfrm>
          <a:prstGeom prst="line">
            <a:avLst/>
          </a:prstGeom>
          <a:ln w="22859">
            <a:solidFill>
              <a:srgbClr val="F36CD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Freeform 713"/>
          <p:cNvSpPr/>
          <p:nvPr/>
        </p:nvSpPr>
        <p:spPr>
          <a:xfrm>
            <a:off x="3739896" y="742492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16" y="8"/>
                </a:move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F36CD3"/>
          </a:solidFill>
          <a:ln w="4572">
            <a:solidFill>
              <a:srgbClr val="F36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4032504" y="6400800"/>
            <a:ext cx="1837944" cy="2542032"/>
          </a:xfrm>
          <a:prstGeom prst="rect">
            <a:avLst/>
          </a:prstGeom>
          <a:solidFill>
            <a:srgbClr val="FFFDF6"/>
          </a:solidFill>
          <a:ln w="18288">
            <a:solidFill>
              <a:srgbClr val="F09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050792" y="6400800"/>
            <a:ext cx="1335024" cy="1335024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4050792" y="6400800"/>
            <a:ext cx="1453896" cy="1453896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4050792" y="6400800"/>
            <a:ext cx="1572768" cy="15727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4050792" y="6400800"/>
            <a:ext cx="1691640" cy="1691640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4050792" y="6409944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4050792" y="6528816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4050792" y="6647688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4050792" y="6766560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4050792" y="6885432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4050792" y="7004304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4050792" y="7123176"/>
            <a:ext cx="1801368" cy="180136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4169664" y="7242048"/>
            <a:ext cx="1682496" cy="1682496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4288536" y="7360920"/>
            <a:ext cx="1563624" cy="1563624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V="1">
            <a:off x="4407408" y="7479792"/>
            <a:ext cx="1444752" cy="1444752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4526280" y="7598664"/>
            <a:ext cx="1325880" cy="1325880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4645152" y="7717536"/>
            <a:ext cx="1207008" cy="120700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4764024" y="7836408"/>
            <a:ext cx="1088136" cy="1088136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V="1">
            <a:off x="4882896" y="7955280"/>
            <a:ext cx="969264" cy="969264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5001768" y="8074152"/>
            <a:ext cx="850392" cy="850392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5120640" y="8193024"/>
            <a:ext cx="731520" cy="731520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5239512" y="8311896"/>
            <a:ext cx="612648" cy="61264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5358384" y="8430768"/>
            <a:ext cx="493776" cy="493776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5477256" y="8549640"/>
            <a:ext cx="374904" cy="374904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5596128" y="8668512"/>
            <a:ext cx="256032" cy="256032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5715000" y="8787384"/>
            <a:ext cx="137160" cy="137160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5833872" y="8906256"/>
            <a:ext cx="18288" cy="18288"/>
          </a:xfrm>
          <a:prstGeom prst="line">
            <a:avLst/>
          </a:prstGeom>
          <a:ln w="9144">
            <a:solidFill>
              <a:srgbClr val="F6E4A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2" name="Freeform 741"/>
          <p:cNvSpPr/>
          <p:nvPr/>
        </p:nvSpPr>
        <p:spPr>
          <a:xfrm>
            <a:off x="4224528" y="65745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A791F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4754880" y="65745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2A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5285232" y="65745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4224528" y="70317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A791F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4754880" y="70317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2A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5285232" y="70317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4224528" y="74889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A791F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4754880" y="74889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2A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5285232" y="74889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4224528" y="79461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A791F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4754880" y="79461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2A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5285232" y="79461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4224528" y="84033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A791F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4754880" y="84033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2A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5285232" y="8403336"/>
            <a:ext cx="338328" cy="256032"/>
          </a:xfrm>
          <a:custGeom>
            <a:avLst/>
            <a:gdLst/>
            <a:ahLst/>
            <a:cxnLst/>
            <a:rect l="l" t="t" r="r" b="b"/>
            <a:pathLst>
              <a:path w="37" h="28">
                <a:moveTo>
                  <a:pt x="0" y="28"/>
                </a:moveTo>
                <a:lnTo>
                  <a:pt x="2" y="28"/>
                </a:lnTo>
                <a:lnTo>
                  <a:pt x="3" y="28"/>
                </a:lnTo>
                <a:lnTo>
                  <a:pt x="5" y="28"/>
                </a:lnTo>
                <a:lnTo>
                  <a:pt x="6" y="27"/>
                </a:lnTo>
                <a:lnTo>
                  <a:pt x="8" y="26"/>
                </a:lnTo>
                <a:lnTo>
                  <a:pt x="9" y="24"/>
                </a:lnTo>
                <a:lnTo>
                  <a:pt x="11" y="21"/>
                </a:lnTo>
                <a:lnTo>
                  <a:pt x="12" y="16"/>
                </a:lnTo>
                <a:lnTo>
                  <a:pt x="14" y="11"/>
                </a:lnTo>
                <a:lnTo>
                  <a:pt x="15" y="5"/>
                </a:lnTo>
                <a:lnTo>
                  <a:pt x="17" y="1"/>
                </a:lnTo>
                <a:lnTo>
                  <a:pt x="18" y="0"/>
                </a:lnTo>
                <a:lnTo>
                  <a:pt x="20" y="1"/>
                </a:lnTo>
                <a:lnTo>
                  <a:pt x="22" y="5"/>
                </a:lnTo>
                <a:lnTo>
                  <a:pt x="23" y="11"/>
                </a:lnTo>
                <a:lnTo>
                  <a:pt x="25" y="16"/>
                </a:lnTo>
                <a:lnTo>
                  <a:pt x="26" y="21"/>
                </a:lnTo>
                <a:lnTo>
                  <a:pt x="28" y="24"/>
                </a:lnTo>
                <a:lnTo>
                  <a:pt x="29" y="26"/>
                </a:lnTo>
                <a:lnTo>
                  <a:pt x="31" y="27"/>
                </a:lnTo>
                <a:lnTo>
                  <a:pt x="32" y="28"/>
                </a:lnTo>
                <a:lnTo>
                  <a:pt x="34" y="28"/>
                </a:lnTo>
                <a:lnTo>
                  <a:pt x="35" y="28"/>
                </a:lnTo>
                <a:lnTo>
                  <a:pt x="37" y="28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>
            <a:off x="7452360" y="4581144"/>
            <a:ext cx="0" cy="3063240"/>
          </a:xfrm>
          <a:prstGeom prst="line">
            <a:avLst/>
          </a:prstGeom>
          <a:ln w="27432">
            <a:solidFill>
              <a:srgbClr val="10101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8220456" y="4581144"/>
            <a:ext cx="0" cy="3063240"/>
          </a:xfrm>
          <a:prstGeom prst="line">
            <a:avLst/>
          </a:prstGeom>
          <a:ln w="27432">
            <a:solidFill>
              <a:srgbClr val="10101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Freeform 758"/>
          <p:cNvSpPr/>
          <p:nvPr/>
        </p:nvSpPr>
        <p:spPr>
          <a:xfrm>
            <a:off x="7598664" y="4681728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>
            <a:off x="7562088" y="4983480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1" name="Freeform 760"/>
          <p:cNvSpPr/>
          <p:nvPr/>
        </p:nvSpPr>
        <p:spPr>
          <a:xfrm>
            <a:off x="7598664" y="5111496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F1A4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2" name="Connector 761"/>
          <p:cNvCxnSpPr/>
          <p:nvPr/>
        </p:nvCxnSpPr>
        <p:spPr>
          <a:xfrm>
            <a:off x="7562088" y="5413248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Freeform 762"/>
          <p:cNvSpPr/>
          <p:nvPr/>
        </p:nvSpPr>
        <p:spPr>
          <a:xfrm>
            <a:off x="7598664" y="5541264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A995E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4" name="Connector 763"/>
          <p:cNvCxnSpPr/>
          <p:nvPr/>
        </p:nvCxnSpPr>
        <p:spPr>
          <a:xfrm>
            <a:off x="7562088" y="5843016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Freeform 764"/>
          <p:cNvSpPr/>
          <p:nvPr/>
        </p:nvSpPr>
        <p:spPr>
          <a:xfrm>
            <a:off x="7598664" y="5971032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6" name="Connector 765"/>
          <p:cNvCxnSpPr/>
          <p:nvPr/>
        </p:nvCxnSpPr>
        <p:spPr>
          <a:xfrm>
            <a:off x="7562088" y="6272784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Freeform 766"/>
          <p:cNvSpPr/>
          <p:nvPr/>
        </p:nvSpPr>
        <p:spPr>
          <a:xfrm>
            <a:off x="7598664" y="6400800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F1A4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7562088" y="6702552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Freeform 768"/>
          <p:cNvSpPr/>
          <p:nvPr/>
        </p:nvSpPr>
        <p:spPr>
          <a:xfrm>
            <a:off x="7598664" y="6830568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A995E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7562088" y="7132320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1" name="Freeform 770"/>
          <p:cNvSpPr/>
          <p:nvPr/>
        </p:nvSpPr>
        <p:spPr>
          <a:xfrm>
            <a:off x="7598664" y="7260336"/>
            <a:ext cx="466344" cy="274320"/>
          </a:xfrm>
          <a:custGeom>
            <a:avLst/>
            <a:gdLst/>
            <a:ahLst/>
            <a:cxnLst/>
            <a:rect l="l" t="t" r="r" b="b"/>
            <a:pathLst>
              <a:path w="51" h="30">
                <a:moveTo>
                  <a:pt x="0" y="30"/>
                </a:moveTo>
                <a:lnTo>
                  <a:pt x="2" y="30"/>
                </a:lnTo>
                <a:lnTo>
                  <a:pt x="4" y="30"/>
                </a:lnTo>
                <a:lnTo>
                  <a:pt x="6" y="30"/>
                </a:lnTo>
                <a:lnTo>
                  <a:pt x="9" y="29"/>
                </a:lnTo>
                <a:lnTo>
                  <a:pt x="11" y="28"/>
                </a:lnTo>
                <a:lnTo>
                  <a:pt x="13" y="26"/>
                </a:lnTo>
                <a:lnTo>
                  <a:pt x="15" y="22"/>
                </a:lnTo>
                <a:lnTo>
                  <a:pt x="17" y="17"/>
                </a:lnTo>
                <a:lnTo>
                  <a:pt x="19" y="11"/>
                </a:lnTo>
                <a:lnTo>
                  <a:pt x="21" y="6"/>
                </a:lnTo>
                <a:lnTo>
                  <a:pt x="23" y="2"/>
                </a:lnTo>
                <a:lnTo>
                  <a:pt x="25" y="0"/>
                </a:lnTo>
                <a:lnTo>
                  <a:pt x="28" y="2"/>
                </a:lnTo>
                <a:lnTo>
                  <a:pt x="30" y="6"/>
                </a:lnTo>
                <a:lnTo>
                  <a:pt x="32" y="11"/>
                </a:lnTo>
                <a:lnTo>
                  <a:pt x="34" y="17"/>
                </a:lnTo>
                <a:lnTo>
                  <a:pt x="36" y="22"/>
                </a:lnTo>
                <a:lnTo>
                  <a:pt x="38" y="26"/>
                </a:lnTo>
                <a:lnTo>
                  <a:pt x="40" y="28"/>
                </a:lnTo>
                <a:lnTo>
                  <a:pt x="43" y="29"/>
                </a:lnTo>
                <a:lnTo>
                  <a:pt x="45" y="30"/>
                </a:lnTo>
                <a:lnTo>
                  <a:pt x="47" y="30"/>
                </a:lnTo>
                <a:lnTo>
                  <a:pt x="49" y="30"/>
                </a:lnTo>
                <a:lnTo>
                  <a:pt x="51" y="30"/>
                </a:lnTo>
              </a:path>
            </a:pathLst>
          </a:custGeom>
          <a:noFill/>
          <a:ln w="12344">
            <a:solidFill>
              <a:srgbClr val="F4BE1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2" name="Connector 771"/>
          <p:cNvCxnSpPr/>
          <p:nvPr/>
        </p:nvCxnSpPr>
        <p:spPr>
          <a:xfrm>
            <a:off x="7562088" y="7562088"/>
            <a:ext cx="539496" cy="0"/>
          </a:xfrm>
          <a:prstGeom prst="line">
            <a:avLst/>
          </a:prstGeom>
          <a:ln w="6400">
            <a:solidFill>
              <a:srgbClr val="B9C2C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3" name="Freeform 772"/>
          <p:cNvSpPr/>
          <p:nvPr/>
        </p:nvSpPr>
        <p:spPr>
          <a:xfrm>
            <a:off x="8458200" y="4709160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9061704" y="4764024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9427464" y="4663440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9390888" y="4617720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TextBox 776"/>
          <p:cNvSpPr txBox="1"/>
          <p:nvPr/>
        </p:nvSpPr>
        <p:spPr>
          <a:xfrm>
            <a:off x="9409176" y="4626864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M₁(A)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9963302" y="4617720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779" name="Rectangle 778"/>
          <p:cNvSpPr/>
          <p:nvPr/>
        </p:nvSpPr>
        <p:spPr>
          <a:xfrm>
            <a:off x="10237622" y="4663440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10201046" y="4617720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1" name="Connector 780"/>
          <p:cNvCxnSpPr/>
          <p:nvPr/>
        </p:nvCxnSpPr>
        <p:spPr>
          <a:xfrm flipV="1">
            <a:off x="10219334" y="4636008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10219334" y="4636008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10219334" y="4636008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10301630" y="4636008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10402214" y="4637836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10502798" y="4738420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V="1">
            <a:off x="10603382" y="4839004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8" name="Freeform 787"/>
          <p:cNvSpPr/>
          <p:nvPr/>
        </p:nvSpPr>
        <p:spPr>
          <a:xfrm>
            <a:off x="8458200" y="5184648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9061704" y="5239512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9427464" y="5138928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9390888" y="5093208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TextBox 791"/>
          <p:cNvSpPr txBox="1"/>
          <p:nvPr/>
        </p:nvSpPr>
        <p:spPr>
          <a:xfrm>
            <a:off x="9409176" y="5102352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M₂(A)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9963302" y="5093208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794" name="Rectangle 793"/>
          <p:cNvSpPr/>
          <p:nvPr/>
        </p:nvSpPr>
        <p:spPr>
          <a:xfrm>
            <a:off x="10237622" y="5138928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10201046" y="5093208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6" name="Connector 795"/>
          <p:cNvCxnSpPr/>
          <p:nvPr/>
        </p:nvCxnSpPr>
        <p:spPr>
          <a:xfrm flipV="1">
            <a:off x="10219334" y="5111496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10219334" y="5111496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10219334" y="5111496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10301630" y="5111496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V="1">
            <a:off x="10402214" y="5113324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V="1">
            <a:off x="10502798" y="5213908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V="1">
            <a:off x="10603382" y="5314492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Freeform 802"/>
          <p:cNvSpPr/>
          <p:nvPr/>
        </p:nvSpPr>
        <p:spPr>
          <a:xfrm>
            <a:off x="8458200" y="5660136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9061704" y="5715000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9427464" y="5614416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9390888" y="5568696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TextBox 806"/>
          <p:cNvSpPr txBox="1"/>
          <p:nvPr/>
        </p:nvSpPr>
        <p:spPr>
          <a:xfrm>
            <a:off x="9409176" y="5577840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M₃(A)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9963302" y="5568696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809" name="Rectangle 808"/>
          <p:cNvSpPr/>
          <p:nvPr/>
        </p:nvSpPr>
        <p:spPr>
          <a:xfrm>
            <a:off x="10237622" y="5614416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10201046" y="5568696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1" name="Connector 810"/>
          <p:cNvCxnSpPr/>
          <p:nvPr/>
        </p:nvCxnSpPr>
        <p:spPr>
          <a:xfrm flipV="1">
            <a:off x="10219334" y="5586984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 flipV="1">
            <a:off x="10219334" y="5586984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10219334" y="5586984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10301630" y="5586984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10402214" y="5588812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 flipV="1">
            <a:off x="10502798" y="5689396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 flipV="1">
            <a:off x="10603382" y="5789980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8" name="Freeform 817"/>
          <p:cNvSpPr/>
          <p:nvPr/>
        </p:nvSpPr>
        <p:spPr>
          <a:xfrm>
            <a:off x="8458200" y="6135624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9061704" y="6190488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9427464" y="6089904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9390888" y="6044184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TextBox 821"/>
          <p:cNvSpPr txBox="1"/>
          <p:nvPr/>
        </p:nvSpPr>
        <p:spPr>
          <a:xfrm>
            <a:off x="9409176" y="6053328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M₄(A)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9963302" y="6044184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824" name="Rectangle 823"/>
          <p:cNvSpPr/>
          <p:nvPr/>
        </p:nvSpPr>
        <p:spPr>
          <a:xfrm>
            <a:off x="10237622" y="6089904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10201046" y="6044184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6" name="Connector 825"/>
          <p:cNvCxnSpPr/>
          <p:nvPr/>
        </p:nvCxnSpPr>
        <p:spPr>
          <a:xfrm flipV="1">
            <a:off x="10219334" y="6062472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V="1">
            <a:off x="10219334" y="6062472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V="1">
            <a:off x="10219334" y="6062472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V="1">
            <a:off x="10301630" y="6062472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V="1">
            <a:off x="10402214" y="6064300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 flipV="1">
            <a:off x="10502798" y="6164884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V="1">
            <a:off x="10603382" y="6265468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3" name="Freeform 832"/>
          <p:cNvSpPr/>
          <p:nvPr/>
        </p:nvSpPr>
        <p:spPr>
          <a:xfrm>
            <a:off x="8458200" y="6986016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9061704" y="7040880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9427464" y="6940296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9390888" y="6894576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TextBox 836"/>
          <p:cNvSpPr txBox="1"/>
          <p:nvPr/>
        </p:nvSpPr>
        <p:spPr>
          <a:xfrm>
            <a:off x="9409176" y="6903720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Mₙ₋₁(A)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9963302" y="6894576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839" name="Rectangle 838"/>
          <p:cNvSpPr/>
          <p:nvPr/>
        </p:nvSpPr>
        <p:spPr>
          <a:xfrm>
            <a:off x="10237622" y="6940296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10201046" y="6894576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1" name="Connector 840"/>
          <p:cNvCxnSpPr/>
          <p:nvPr/>
        </p:nvCxnSpPr>
        <p:spPr>
          <a:xfrm flipV="1">
            <a:off x="10219334" y="6912864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V="1">
            <a:off x="10219334" y="6912864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V="1">
            <a:off x="10219334" y="6912864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10301630" y="6912864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10402214" y="6914692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10502798" y="7015276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V="1">
            <a:off x="10603382" y="7115860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8" name="Freeform 847"/>
          <p:cNvSpPr/>
          <p:nvPr/>
        </p:nvSpPr>
        <p:spPr>
          <a:xfrm>
            <a:off x="8458200" y="7461504"/>
            <a:ext cx="704088" cy="164592"/>
          </a:xfrm>
          <a:custGeom>
            <a:avLst/>
            <a:gdLst/>
            <a:ahLst/>
            <a:cxnLst/>
            <a:rect l="l" t="t" r="r" b="b"/>
            <a:pathLst>
              <a:path w="77" h="18">
                <a:moveTo>
                  <a:pt x="0" y="18"/>
                </a:moveTo>
                <a:lnTo>
                  <a:pt x="19" y="3"/>
                </a:lnTo>
                <a:lnTo>
                  <a:pt x="47" y="0"/>
                </a:lnTo>
                <a:lnTo>
                  <a:pt x="77" y="16"/>
                </a:lnTo>
              </a:path>
            </a:pathLst>
          </a:custGeom>
          <a:noFill/>
          <a:ln w="16459">
            <a:solidFill>
              <a:srgbClr val="00A6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9061704" y="7516368"/>
            <a:ext cx="100584" cy="9144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10"/>
                </a:moveTo>
                <a:lnTo>
                  <a:pt x="0" y="10"/>
                </a:lnTo>
                <a:lnTo>
                  <a:pt x="5" y="0"/>
                </a:lnTo>
                <a:close/>
              </a:path>
            </a:pathLst>
          </a:custGeom>
          <a:solidFill>
            <a:srgbClr val="00A6DD"/>
          </a:solidFill>
          <a:ln w="3657">
            <a:solidFill>
              <a:srgbClr val="00A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9427464" y="7415784"/>
            <a:ext cx="526694" cy="296265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9390888" y="7370064"/>
            <a:ext cx="526694" cy="296265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9409176" y="7379208"/>
            <a:ext cx="490118" cy="277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000000"/>
                </a:solidFill>
                <a:latin typeface="Noto Serif"/>
              </a:rPr>
              <a:t>Mₙ(A)</a:t>
            </a:r>
          </a:p>
        </p:txBody>
      </p:sp>
      <p:sp>
        <p:nvSpPr>
          <p:cNvPr id="853" name="TextBox 852"/>
          <p:cNvSpPr txBox="1"/>
          <p:nvPr/>
        </p:nvSpPr>
        <p:spPr>
          <a:xfrm>
            <a:off x="9963302" y="7370064"/>
            <a:ext cx="228600" cy="296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0" i="0">
                <a:solidFill>
                  <a:srgbClr val="000000"/>
                </a:solidFill>
                <a:latin typeface="Noto Serif"/>
              </a:rPr>
              <a:t>⊕</a:t>
            </a:r>
          </a:p>
        </p:txBody>
      </p:sp>
      <p:sp>
        <p:nvSpPr>
          <p:cNvPr id="854" name="Rectangle 853"/>
          <p:cNvSpPr/>
          <p:nvPr/>
        </p:nvSpPr>
        <p:spPr>
          <a:xfrm>
            <a:off x="10237622" y="7415784"/>
            <a:ext cx="460857" cy="279806"/>
          </a:xfrm>
          <a:prstGeom prst="rect">
            <a:avLst/>
          </a:prstGeom>
          <a:solidFill>
            <a:srgbClr val="CAD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10201046" y="7370064"/>
            <a:ext cx="460857" cy="279806"/>
          </a:xfrm>
          <a:prstGeom prst="rect">
            <a:avLst/>
          </a:prstGeom>
          <a:solidFill>
            <a:srgbClr val="FFFFFF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6" name="Connector 855"/>
          <p:cNvCxnSpPr/>
          <p:nvPr/>
        </p:nvCxnSpPr>
        <p:spPr>
          <a:xfrm flipV="1">
            <a:off x="10219334" y="7388352"/>
            <a:ext cx="23774" cy="4206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10219334" y="7388352"/>
            <a:ext cx="124358" cy="142646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10219334" y="7388352"/>
            <a:ext cx="224942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10301630" y="7388352"/>
            <a:ext cx="243230" cy="243230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10402214" y="7390180"/>
            <a:ext cx="241402" cy="241402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10502798" y="7490764"/>
            <a:ext cx="140818" cy="140818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10603382" y="7591348"/>
            <a:ext cx="40234" cy="40234"/>
          </a:xfrm>
          <a:prstGeom prst="line">
            <a:avLst/>
          </a:prstGeom>
          <a:ln w="11429">
            <a:solidFill>
              <a:srgbClr val="78B6E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3" name="TextBox 862"/>
          <p:cNvSpPr txBox="1"/>
          <p:nvPr/>
        </p:nvSpPr>
        <p:spPr>
          <a:xfrm>
            <a:off x="9784080" y="6391656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864" name="TextBox 863"/>
          <p:cNvSpPr txBox="1"/>
          <p:nvPr/>
        </p:nvSpPr>
        <p:spPr>
          <a:xfrm>
            <a:off x="10387584" y="6391656"/>
            <a:ext cx="274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865" name="Rectangle 864"/>
          <p:cNvSpPr/>
          <p:nvPr/>
        </p:nvSpPr>
        <p:spPr>
          <a:xfrm>
            <a:off x="10954512" y="4663440"/>
            <a:ext cx="1819656" cy="2980944"/>
          </a:xfrm>
          <a:prstGeom prst="rect">
            <a:avLst/>
          </a:prstGeom>
          <a:noFill/>
          <a:ln w="25603">
            <a:solidFill>
              <a:srgbClr val="F3A77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ounded Rectangle 865"/>
          <p:cNvSpPr/>
          <p:nvPr/>
        </p:nvSpPr>
        <p:spPr>
          <a:xfrm>
            <a:off x="11247120" y="4800600"/>
            <a:ext cx="493776" cy="758952"/>
          </a:xfrm>
          <a:prstGeom prst="roundRect">
            <a:avLst/>
          </a:prstGeom>
          <a:noFill/>
          <a:ln w="13716">
            <a:solidFill>
              <a:srgbClr val="F09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1411712" y="4882896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1612880" y="4882896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11411712" y="4919472"/>
            <a:ext cx="201168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1411712" y="5102352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11612880" y="5102352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11411712" y="5138928"/>
            <a:ext cx="201168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11411712" y="5349240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11612880" y="5349240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11411712" y="5385816"/>
            <a:ext cx="201168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ounded Rectangle 875"/>
          <p:cNvSpPr/>
          <p:nvPr/>
        </p:nvSpPr>
        <p:spPr>
          <a:xfrm>
            <a:off x="11247120" y="5870448"/>
            <a:ext cx="493776" cy="758952"/>
          </a:xfrm>
          <a:prstGeom prst="roundRect">
            <a:avLst/>
          </a:prstGeom>
          <a:noFill/>
          <a:ln w="13716">
            <a:solidFill>
              <a:srgbClr val="F09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11411712" y="5952744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11612880" y="5952744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11411712" y="5989320"/>
            <a:ext cx="201168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1411712" y="6172200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11612880" y="6172200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11411712" y="6208776"/>
            <a:ext cx="201168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11411712" y="6419088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11612880" y="6419088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11411712" y="6455664"/>
            <a:ext cx="201168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ounded Rectangle 885"/>
          <p:cNvSpPr/>
          <p:nvPr/>
        </p:nvSpPr>
        <p:spPr>
          <a:xfrm>
            <a:off x="11247120" y="6949440"/>
            <a:ext cx="493776" cy="758952"/>
          </a:xfrm>
          <a:prstGeom prst="roundRect">
            <a:avLst/>
          </a:prstGeom>
          <a:noFill/>
          <a:ln w="13716">
            <a:solidFill>
              <a:srgbClr val="F09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1411712" y="7031736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7E4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1612880" y="7031736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3C0B8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11411712" y="7068312"/>
            <a:ext cx="201168" cy="137160"/>
          </a:xfrm>
          <a:prstGeom prst="rect">
            <a:avLst/>
          </a:prstGeom>
          <a:solidFill>
            <a:srgbClr val="F3C0B8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11411712" y="7251192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11612880" y="7251192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F1C440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11411712" y="7287768"/>
            <a:ext cx="201168" cy="137160"/>
          </a:xfrm>
          <a:prstGeom prst="rect">
            <a:avLst/>
          </a:prstGeom>
          <a:solidFill>
            <a:srgbClr val="F1C440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1411712" y="7498080"/>
            <a:ext cx="237744" cy="36576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4"/>
                </a:moveTo>
                <a:lnTo>
                  <a:pt x="4" y="0"/>
                </a:lnTo>
                <a:lnTo>
                  <a:pt x="26" y="0"/>
                </a:lnTo>
                <a:lnTo>
                  <a:pt x="22" y="4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1612880" y="7498080"/>
            <a:ext cx="36576" cy="173736"/>
          </a:xfrm>
          <a:custGeom>
            <a:avLst/>
            <a:gdLst/>
            <a:ahLst/>
            <a:cxnLst/>
            <a:rect l="l" t="t" r="r" b="b"/>
            <a:pathLst>
              <a:path w="4" h="19">
                <a:moveTo>
                  <a:pt x="0" y="4"/>
                </a:moveTo>
                <a:lnTo>
                  <a:pt x="4" y="0"/>
                </a:lnTo>
                <a:lnTo>
                  <a:pt x="4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18AE1"/>
          </a:solidFill>
          <a:ln w="6400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11411712" y="7534656"/>
            <a:ext cx="201168" cy="137160"/>
          </a:xfrm>
          <a:prstGeom prst="rect">
            <a:avLst/>
          </a:prstGeom>
          <a:solidFill>
            <a:srgbClr val="A18AE1"/>
          </a:solidFill>
          <a:ln w="6400">
            <a:solidFill>
              <a:srgbClr val="10101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TextBox 895"/>
          <p:cNvSpPr txBox="1"/>
          <p:nvPr/>
        </p:nvSpPr>
        <p:spPr>
          <a:xfrm>
            <a:off x="11411712" y="562356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897" name="TextBox 896"/>
          <p:cNvSpPr txBox="1"/>
          <p:nvPr/>
        </p:nvSpPr>
        <p:spPr>
          <a:xfrm>
            <a:off x="11411712" y="67025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Noto Serif"/>
              </a:rPr>
              <a:t>⋮</a:t>
            </a:r>
          </a:p>
        </p:txBody>
      </p:sp>
      <p:sp>
        <p:nvSpPr>
          <p:cNvPr id="898" name="Rectangle 897"/>
          <p:cNvSpPr/>
          <p:nvPr/>
        </p:nvSpPr>
        <p:spPr>
          <a:xfrm>
            <a:off x="12051792" y="5971032"/>
            <a:ext cx="530352" cy="347472"/>
          </a:xfrm>
          <a:prstGeom prst="rect">
            <a:avLst/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12015216" y="5925312"/>
            <a:ext cx="530352" cy="347472"/>
          </a:xfrm>
          <a:prstGeom prst="rect">
            <a:avLst/>
          </a:prstGeom>
          <a:solidFill>
            <a:srgbClr val="F7F7F7"/>
          </a:solidFill>
          <a:ln w="18288">
            <a:solidFill>
              <a:srgbClr val="5A884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TextBox 899"/>
          <p:cNvSpPr txBox="1"/>
          <p:nvPr/>
        </p:nvSpPr>
        <p:spPr>
          <a:xfrm>
            <a:off x="12024360" y="5934456"/>
            <a:ext cx="5120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Noto Serif"/>
              </a:rPr>
              <a:t>M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7827264" y="769924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Noto Serif"/>
              </a:rPr>
              <a:t>Reliability Assignment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1183112" y="769924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Noto Serif"/>
              </a:rPr>
              <a:t>Fusion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6885432" y="8055864"/>
            <a:ext cx="6574536" cy="969264"/>
          </a:xfrm>
          <a:prstGeom prst="rect">
            <a:avLst/>
          </a:prstGeom>
          <a:noFill/>
          <a:ln w="22859">
            <a:solidFill>
              <a:srgbClr val="10101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6976872" y="8211312"/>
            <a:ext cx="1728216" cy="676656"/>
          </a:xfrm>
          <a:prstGeom prst="rect">
            <a:avLst/>
          </a:prstGeom>
          <a:solidFill>
            <a:srgbClr val="F5EAC6"/>
          </a:solidFill>
          <a:ln w="7315">
            <a:solidFill>
              <a:srgbClr val="D3CCB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TextBox 904"/>
          <p:cNvSpPr txBox="1"/>
          <p:nvPr/>
        </p:nvSpPr>
        <p:spPr>
          <a:xfrm>
            <a:off x="7013448" y="8247888"/>
            <a:ext cx="16550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Pattern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classification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8924544" y="8211312"/>
            <a:ext cx="1728216" cy="676656"/>
          </a:xfrm>
          <a:prstGeom prst="rect">
            <a:avLst/>
          </a:prstGeom>
          <a:solidFill>
            <a:srgbClr val="F5EAC6"/>
          </a:solidFill>
          <a:ln w="7315">
            <a:solidFill>
              <a:srgbClr val="D3CCB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8961120" y="8247888"/>
            <a:ext cx="16550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Image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classification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10863072" y="8211312"/>
            <a:ext cx="2414016" cy="676656"/>
          </a:xfrm>
          <a:prstGeom prst="rect">
            <a:avLst/>
          </a:prstGeom>
          <a:solidFill>
            <a:srgbClr val="F5EAC6"/>
          </a:solidFill>
          <a:ln w="7315">
            <a:solidFill>
              <a:srgbClr val="D3CCB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10899648" y="8247888"/>
            <a:ext cx="234086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00000"/>
                </a:solidFill>
                <a:latin typeface="Noto Serif"/>
              </a:rPr>
              <a:t>Low- light image</a:t>
            </a:r>
            <a:br/>
            <a:r>
              <a:rPr sz="1584" b="1" i="0">
                <a:solidFill>
                  <a:srgbClr val="000000"/>
                </a:solidFill>
                <a:latin typeface="Noto Serif"/>
              </a:rPr>
              <a:t>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Dynamic Learning Strategy for Dempster-Shafer Theory with Applications in Classification and Enhancemen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97"/>
            <a:ext cx="13716000" cy="9102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