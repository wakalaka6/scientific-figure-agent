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2191695" cy="7600181"/>
  <p:notesSz cx="7600181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530" y="106779"/>
            <a:ext cx="12078635" cy="3215944"/>
          </a:xfrm>
          <a:prstGeom prst="roundRect">
            <a:avLst>
              <a:gd name="adj" fmla="val 1422"/>
            </a:avLst>
          </a:prstGeom>
          <a:solidFill>
            <a:srgbClr val="FFFFFF">
              <a:alpha val="0"/>
            </a:srgbClr>
          </a:solidFill>
          <a:ln w="27940">
            <a:solidFill>
              <a:srgbClr val="888E8E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6530" y="3498596"/>
            <a:ext cx="12078635" cy="4101585"/>
          </a:xfrm>
          <a:prstGeom prst="roundRect">
            <a:avLst>
              <a:gd name="adj" fmla="val 1115"/>
            </a:avLst>
          </a:prstGeom>
          <a:solidFill>
            <a:srgbClr val="FFFFFF">
              <a:alpha val="0"/>
            </a:srgbClr>
          </a:solidFill>
          <a:ln w="27940">
            <a:solidFill>
              <a:srgbClr val="888E8E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94217" y="175872"/>
            <a:ext cx="301495" cy="232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01993" y="175872"/>
            <a:ext cx="709769" cy="232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237385" y="175872"/>
            <a:ext cx="3643062" cy="232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the pose (Π̂) of each X-ray image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899290" y="157029"/>
            <a:ext cx="3065197" cy="270089"/>
          </a:xfrm>
          <a:prstGeom prst="roundRect">
            <a:avLst>
              <a:gd name="adj" fmla="val 23699"/>
            </a:avLst>
          </a:prstGeom>
          <a:solidFill>
            <a:srgbClr val="FFFFFF"/>
          </a:solidFill>
          <a:ln w="2286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87226" y="288932"/>
            <a:ext cx="219840" cy="0"/>
          </a:xfrm>
          <a:prstGeom prst="line">
            <a:avLst/>
          </a:prstGeom>
          <a:noFill/>
          <a:ln w="3175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269878" y="169591"/>
            <a:ext cx="1237385" cy="23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flow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63793" y="288932"/>
            <a:ext cx="226121" cy="0"/>
          </a:xfrm>
          <a:prstGeom prst="line">
            <a:avLst/>
          </a:prstGeom>
          <a:noFill/>
          <a:ln w="3175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9006" y="169591"/>
            <a:ext cx="1067794" cy="23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flow</a:t>
            </a:r>
            <a:endParaRPr lang="en-US" sz="2000" dirty="0"/>
          </a:p>
        </p:txBody>
      </p:sp>
      <p:pic>
        <p:nvPicPr>
          <p:cNvPr id="12" name="Image 0" descr="/home/wangfeifei/projects/skillopt/SkillOpt/ppt-rebuild/complex20-skill-ab-20260907/runs/gpt-5.6-sol/complex-017/.tmp/pre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23" y="559022"/>
            <a:ext cx="2600392" cy="249989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00695" y="3040072"/>
            <a:ext cx="1884342" cy="219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Preoperative CT (V)</a:t>
            </a:r>
            <a:endParaRPr lang="en-US" sz="2000" dirty="0"/>
          </a:p>
        </p:txBody>
      </p:sp>
      <p:pic>
        <p:nvPicPr>
          <p:cNvPr id="14" name="Image 1" descr="/home/wangfeifei/projects/skillopt/SkillOpt/ppt-rebuild/complex20-skill-ab-20260907/runs/gpt-5.6-sol/complex-017/.tmp/stru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852" y="697207"/>
            <a:ext cx="2726015" cy="204137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69485" y="1827812"/>
            <a:ext cx="1463506" cy="910765"/>
          </a:xfrm>
          <a:prstGeom prst="line">
            <a:avLst/>
          </a:prstGeom>
          <a:noFill/>
          <a:ln w="3429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16" name="Text 12"/>
          <p:cNvSpPr/>
          <p:nvPr/>
        </p:nvSpPr>
        <p:spPr>
          <a:xfrm>
            <a:off x="4183240" y="2619236"/>
            <a:ext cx="1570285" cy="24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structure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421923" y="2826514"/>
            <a:ext cx="150747" cy="20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4528703" y="2901887"/>
            <a:ext cx="376868" cy="12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anchor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99290" y="2826514"/>
            <a:ext cx="439680" cy="20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⊙ V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8919221" y="270089"/>
            <a:ext cx="1312759" cy="23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X-ray</a:t>
            </a:r>
            <a:endParaRPr lang="en-US" sz="2000" dirty="0"/>
          </a:p>
        </p:txBody>
      </p:sp>
      <p:pic>
        <p:nvPicPr>
          <p:cNvPr id="21" name="Image 2" descr="/home/wangfeifei/projects/skillopt/SkillOpt/ppt-rebuild/complex20-skill-ab-20260907/runs/gpt-5.6-sol/complex-017/.tmp/topRen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502" y="508772"/>
            <a:ext cx="1306477" cy="26443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925502" y="1827812"/>
            <a:ext cx="1306477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784720" y="270089"/>
            <a:ext cx="1312759" cy="23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X-ray</a:t>
            </a:r>
            <a:endParaRPr lang="en-US" sz="2000" dirty="0"/>
          </a:p>
        </p:txBody>
      </p:sp>
      <p:pic>
        <p:nvPicPr>
          <p:cNvPr id="24" name="Image 3" descr="/home/wangfeifei/projects/skillopt/SkillOpt/ppt-rebuild/complex20-skill-ab-20260907/runs/gpt-5.6-sol/complex-017/.tmp/topR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720" y="508772"/>
            <a:ext cx="1312759" cy="264436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0784720" y="1827812"/>
            <a:ext cx="1312759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 rot="16200000">
            <a:off x="6105269" y="2851638"/>
            <a:ext cx="270089" cy="213559"/>
          </a:xfrm>
          <a:prstGeom prst="trapezoid">
            <a:avLst/>
          </a:prstGeom>
          <a:solidFill>
            <a:srgbClr val="64767A"/>
          </a:solidFill>
          <a:ln w="12700">
            <a:solidFill>
              <a:srgbClr val="44565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rot="5400000">
            <a:off x="6325109" y="2807670"/>
            <a:ext cx="144466" cy="207278"/>
          </a:xfrm>
          <a:prstGeom prst="triangle">
            <a:avLst/>
          </a:prstGeom>
          <a:solidFill>
            <a:srgbClr val="91A0A2">
              <a:alpha val="80000"/>
            </a:srgbClr>
          </a:solidFill>
          <a:ln w="12700">
            <a:solidFill>
              <a:srgbClr val="91A0A2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546248" y="2952136"/>
            <a:ext cx="62811" cy="62811"/>
          </a:xfrm>
          <a:prstGeom prst="ellipse">
            <a:avLst/>
          </a:prstGeom>
          <a:solidFill>
            <a:srgbClr val="17E809"/>
          </a:solidFill>
          <a:ln w="12700">
            <a:solidFill>
              <a:srgbClr val="17E80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577653" y="2996104"/>
            <a:ext cx="62811" cy="138185"/>
          </a:xfrm>
          <a:prstGeom prst="line">
            <a:avLst/>
          </a:prstGeom>
          <a:noFill/>
          <a:ln w="38100">
            <a:solidFill>
              <a:srgbClr val="17E809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640465" y="3134289"/>
            <a:ext cx="87936" cy="-75374"/>
          </a:xfrm>
          <a:prstGeom prst="line">
            <a:avLst/>
          </a:prstGeom>
          <a:noFill/>
          <a:ln w="38100">
            <a:solidFill>
              <a:srgbClr val="17E80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728401" y="3058916"/>
            <a:ext cx="113061" cy="50249"/>
          </a:xfrm>
          <a:prstGeom prst="line">
            <a:avLst/>
          </a:prstGeom>
          <a:noFill/>
          <a:ln w="38100">
            <a:solidFill>
              <a:srgbClr val="17E80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841461" y="3109165"/>
            <a:ext cx="100498" cy="-62811"/>
          </a:xfrm>
          <a:prstGeom prst="line">
            <a:avLst/>
          </a:prstGeom>
          <a:noFill/>
          <a:ln w="38100">
            <a:solidFill>
              <a:srgbClr val="17E809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941960" y="3046354"/>
            <a:ext cx="87936" cy="75374"/>
          </a:xfrm>
          <a:prstGeom prst="line">
            <a:avLst/>
          </a:prstGeom>
          <a:noFill/>
          <a:ln w="38100">
            <a:solidFill>
              <a:srgbClr val="17E80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431889" y="2927012"/>
            <a:ext cx="452242" cy="28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Π̂₁</a:t>
            </a:r>
            <a:endParaRPr lang="en-US" sz="2600" dirty="0"/>
          </a:p>
        </p:txBody>
      </p:sp>
      <p:sp>
        <p:nvSpPr>
          <p:cNvPr id="35" name="Shape 29"/>
          <p:cNvSpPr/>
          <p:nvPr/>
        </p:nvSpPr>
        <p:spPr>
          <a:xfrm rot="16200000">
            <a:off x="7160501" y="2694610"/>
            <a:ext cx="270089" cy="213559"/>
          </a:xfrm>
          <a:prstGeom prst="trapezoid">
            <a:avLst/>
          </a:prstGeom>
          <a:solidFill>
            <a:srgbClr val="64767A"/>
          </a:solidFill>
          <a:ln w="12700">
            <a:solidFill>
              <a:srgbClr val="44565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 rot="5400000">
            <a:off x="7380341" y="2650642"/>
            <a:ext cx="144466" cy="207278"/>
          </a:xfrm>
          <a:prstGeom prst="triangle">
            <a:avLst/>
          </a:prstGeom>
          <a:solidFill>
            <a:srgbClr val="91A0A2">
              <a:alpha val="80000"/>
            </a:srgbClr>
          </a:solidFill>
          <a:ln w="12700">
            <a:solidFill>
              <a:srgbClr val="91A0A2">
                <a:alpha val="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173063" y="3046354"/>
            <a:ext cx="62811" cy="62811"/>
          </a:xfrm>
          <a:prstGeom prst="ellipse">
            <a:avLst/>
          </a:prstGeom>
          <a:solidFill>
            <a:srgbClr val="17E809"/>
          </a:solidFill>
          <a:ln w="12700">
            <a:solidFill>
              <a:srgbClr val="17E809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204469" y="3090322"/>
            <a:ext cx="62811" cy="138185"/>
          </a:xfrm>
          <a:prstGeom prst="line">
            <a:avLst/>
          </a:prstGeom>
          <a:noFill/>
          <a:ln w="38100">
            <a:solidFill>
              <a:srgbClr val="17E809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267280" y="3228507"/>
            <a:ext cx="87936" cy="-75374"/>
          </a:xfrm>
          <a:prstGeom prst="line">
            <a:avLst/>
          </a:prstGeom>
          <a:noFill/>
          <a:ln w="38100">
            <a:solidFill>
              <a:srgbClr val="17E809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355216" y="3153133"/>
            <a:ext cx="113061" cy="50249"/>
          </a:xfrm>
          <a:prstGeom prst="line">
            <a:avLst/>
          </a:prstGeom>
          <a:noFill/>
          <a:ln w="38100">
            <a:solidFill>
              <a:srgbClr val="17E809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468277" y="3203382"/>
            <a:ext cx="100498" cy="-62811"/>
          </a:xfrm>
          <a:prstGeom prst="line">
            <a:avLst/>
          </a:prstGeom>
          <a:noFill/>
          <a:ln w="38100">
            <a:solidFill>
              <a:srgbClr val="17E809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568775" y="3140571"/>
            <a:ext cx="87936" cy="75374"/>
          </a:xfrm>
          <a:prstGeom prst="line">
            <a:avLst/>
          </a:prstGeom>
          <a:noFill/>
          <a:ln w="38100">
            <a:solidFill>
              <a:srgbClr val="17E809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776053" y="2864200"/>
            <a:ext cx="452242" cy="28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Π̂₂</a:t>
            </a:r>
            <a:endParaRPr lang="en-US" sz="2600" dirty="0"/>
          </a:p>
        </p:txBody>
      </p:sp>
      <p:sp>
        <p:nvSpPr>
          <p:cNvPr id="44" name="Shape 38"/>
          <p:cNvSpPr/>
          <p:nvPr/>
        </p:nvSpPr>
        <p:spPr>
          <a:xfrm>
            <a:off x="6350234" y="2851638"/>
            <a:ext cx="-200997" cy="0"/>
          </a:xfrm>
          <a:prstGeom prst="line">
            <a:avLst/>
          </a:prstGeom>
          <a:noFill/>
          <a:ln w="34290">
            <a:solidFill>
              <a:srgbClr val="0798E7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6149237" y="2851638"/>
            <a:ext cx="0" cy="-1714752"/>
          </a:xfrm>
          <a:prstGeom prst="line">
            <a:avLst/>
          </a:prstGeom>
          <a:noFill/>
          <a:ln w="34290">
            <a:solidFill>
              <a:srgbClr val="0798E7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6149237" y="1136887"/>
            <a:ext cx="1570285" cy="0"/>
          </a:xfrm>
          <a:prstGeom prst="line">
            <a:avLst/>
          </a:prstGeom>
          <a:noFill/>
          <a:ln w="3429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47" name="Shape 41"/>
          <p:cNvSpPr/>
          <p:nvPr/>
        </p:nvSpPr>
        <p:spPr>
          <a:xfrm>
            <a:off x="6249736" y="2851638"/>
            <a:ext cx="0" cy="-1620534"/>
          </a:xfrm>
          <a:prstGeom prst="line">
            <a:avLst/>
          </a:prstGeom>
          <a:noFill/>
          <a:ln w="34290">
            <a:solidFill>
              <a:srgbClr val="F06A00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249736" y="1231104"/>
            <a:ext cx="1469787" cy="0"/>
          </a:xfrm>
          <a:prstGeom prst="line">
            <a:avLst/>
          </a:prstGeom>
          <a:noFill/>
          <a:ln w="3429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49" name="Shape 43"/>
          <p:cNvSpPr/>
          <p:nvPr/>
        </p:nvSpPr>
        <p:spPr>
          <a:xfrm>
            <a:off x="7405466" y="2700891"/>
            <a:ext cx="-200997" cy="0"/>
          </a:xfrm>
          <a:prstGeom prst="line">
            <a:avLst/>
          </a:prstGeom>
          <a:noFill/>
          <a:ln w="34290">
            <a:solidFill>
              <a:srgbClr val="0798E7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7204469" y="2700891"/>
            <a:ext cx="0" cy="-257527"/>
          </a:xfrm>
          <a:prstGeom prst="line">
            <a:avLst/>
          </a:prstGeom>
          <a:noFill/>
          <a:ln w="34290">
            <a:solidFill>
              <a:srgbClr val="0798E7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7204469" y="2443364"/>
            <a:ext cx="515054" cy="0"/>
          </a:xfrm>
          <a:prstGeom prst="line">
            <a:avLst/>
          </a:prstGeom>
          <a:noFill/>
          <a:ln w="3429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52" name="Shape 46"/>
          <p:cNvSpPr/>
          <p:nvPr/>
        </p:nvSpPr>
        <p:spPr>
          <a:xfrm>
            <a:off x="7304967" y="2694610"/>
            <a:ext cx="0" cy="-150747"/>
          </a:xfrm>
          <a:prstGeom prst="line">
            <a:avLst/>
          </a:prstGeom>
          <a:noFill/>
          <a:ln w="34290">
            <a:solidFill>
              <a:srgbClr val="F06A00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304967" y="2543862"/>
            <a:ext cx="414555" cy="0"/>
          </a:xfrm>
          <a:prstGeom prst="line">
            <a:avLst/>
          </a:prstGeom>
          <a:noFill/>
          <a:ln w="3429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54" name="Text 48"/>
          <p:cNvSpPr/>
          <p:nvPr/>
        </p:nvSpPr>
        <p:spPr>
          <a:xfrm>
            <a:off x="7694398" y="728612"/>
            <a:ext cx="753737" cy="21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𝒫(Π̂₁)</a:t>
            </a:r>
            <a:endParaRPr lang="en-US" sz="2300" dirty="0"/>
          </a:p>
        </p:txBody>
      </p:sp>
      <p:sp>
        <p:nvSpPr>
          <p:cNvPr id="55" name="Shape 49"/>
          <p:cNvSpPr/>
          <p:nvPr/>
        </p:nvSpPr>
        <p:spPr>
          <a:xfrm>
            <a:off x="7725804" y="1004983"/>
            <a:ext cx="690926" cy="351744"/>
          </a:xfrm>
          <a:prstGeom prst="roundRect">
            <a:avLst>
              <a:gd name="adj" fmla="val 20797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757209" y="1036388"/>
            <a:ext cx="628114" cy="28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Diff. X-ray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1200" dirty="0"/>
          </a:p>
        </p:txBody>
      </p:sp>
      <p:sp>
        <p:nvSpPr>
          <p:cNvPr id="57" name="Text 51"/>
          <p:cNvSpPr/>
          <p:nvPr/>
        </p:nvSpPr>
        <p:spPr>
          <a:xfrm>
            <a:off x="7706960" y="1369289"/>
            <a:ext cx="728612" cy="219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Eq. (3)</a:t>
            </a:r>
            <a:endParaRPr lang="en-US" sz="1900" dirty="0"/>
          </a:p>
        </p:txBody>
      </p:sp>
      <p:sp>
        <p:nvSpPr>
          <p:cNvPr id="58" name="Shape 52"/>
          <p:cNvSpPr/>
          <p:nvPr/>
        </p:nvSpPr>
        <p:spPr>
          <a:xfrm>
            <a:off x="8423010" y="1136887"/>
            <a:ext cx="483648" cy="0"/>
          </a:xfrm>
          <a:prstGeom prst="line">
            <a:avLst/>
          </a:prstGeom>
          <a:noFill/>
          <a:ln w="3556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59" name="Shape 53"/>
          <p:cNvSpPr/>
          <p:nvPr/>
        </p:nvSpPr>
        <p:spPr>
          <a:xfrm>
            <a:off x="8906658" y="1237385"/>
            <a:ext cx="-483648" cy="0"/>
          </a:xfrm>
          <a:prstGeom prst="line">
            <a:avLst/>
          </a:prstGeom>
          <a:noFill/>
          <a:ln w="3556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60" name="Text 54"/>
          <p:cNvSpPr/>
          <p:nvPr/>
        </p:nvSpPr>
        <p:spPr>
          <a:xfrm>
            <a:off x="7694398" y="2041371"/>
            <a:ext cx="753737" cy="21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𝒫(Π̂₂)</a:t>
            </a:r>
            <a:endParaRPr lang="en-US" sz="2300" dirty="0"/>
          </a:p>
        </p:txBody>
      </p:sp>
      <p:sp>
        <p:nvSpPr>
          <p:cNvPr id="61" name="Shape 55"/>
          <p:cNvSpPr/>
          <p:nvPr/>
        </p:nvSpPr>
        <p:spPr>
          <a:xfrm>
            <a:off x="7725804" y="2317741"/>
            <a:ext cx="690926" cy="351744"/>
          </a:xfrm>
          <a:prstGeom prst="roundRect">
            <a:avLst>
              <a:gd name="adj" fmla="val 20797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7757209" y="2349147"/>
            <a:ext cx="628114" cy="28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Diff. X-ray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1200" dirty="0"/>
          </a:p>
        </p:txBody>
      </p:sp>
      <p:sp>
        <p:nvSpPr>
          <p:cNvPr id="63" name="Text 57"/>
          <p:cNvSpPr/>
          <p:nvPr/>
        </p:nvSpPr>
        <p:spPr>
          <a:xfrm>
            <a:off x="7706960" y="2682047"/>
            <a:ext cx="728612" cy="219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Eq. (3)</a:t>
            </a:r>
            <a:endParaRPr lang="en-US" sz="1900" dirty="0"/>
          </a:p>
        </p:txBody>
      </p:sp>
      <p:sp>
        <p:nvSpPr>
          <p:cNvPr id="64" name="Shape 58"/>
          <p:cNvSpPr/>
          <p:nvPr/>
        </p:nvSpPr>
        <p:spPr>
          <a:xfrm>
            <a:off x="8423010" y="2449645"/>
            <a:ext cx="483648" cy="0"/>
          </a:xfrm>
          <a:prstGeom prst="line">
            <a:avLst/>
          </a:prstGeom>
          <a:noFill/>
          <a:ln w="3556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65" name="Shape 59"/>
          <p:cNvSpPr/>
          <p:nvPr/>
        </p:nvSpPr>
        <p:spPr>
          <a:xfrm>
            <a:off x="8906658" y="2550143"/>
            <a:ext cx="-483648" cy="0"/>
          </a:xfrm>
          <a:prstGeom prst="line">
            <a:avLst/>
          </a:prstGeom>
          <a:noFill/>
          <a:ln w="3556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66" name="Shape 60"/>
          <p:cNvSpPr/>
          <p:nvPr/>
        </p:nvSpPr>
        <p:spPr>
          <a:xfrm>
            <a:off x="10250823" y="1136887"/>
            <a:ext cx="515054" cy="0"/>
          </a:xfrm>
          <a:prstGeom prst="line">
            <a:avLst/>
          </a:prstGeom>
          <a:noFill/>
          <a:ln w="3556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67" name="Shape 61"/>
          <p:cNvSpPr/>
          <p:nvPr/>
        </p:nvSpPr>
        <p:spPr>
          <a:xfrm>
            <a:off x="10765876" y="1237385"/>
            <a:ext cx="-515054" cy="0"/>
          </a:xfrm>
          <a:prstGeom prst="line">
            <a:avLst/>
          </a:prstGeom>
          <a:noFill/>
          <a:ln w="3556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68" name="Text 62"/>
          <p:cNvSpPr/>
          <p:nvPr/>
        </p:nvSpPr>
        <p:spPr>
          <a:xfrm>
            <a:off x="10370164" y="829111"/>
            <a:ext cx="270089" cy="30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endParaRPr lang="en-US" sz="2800" dirty="0"/>
          </a:p>
        </p:txBody>
      </p:sp>
      <p:sp>
        <p:nvSpPr>
          <p:cNvPr id="69" name="Shape 63"/>
          <p:cNvSpPr/>
          <p:nvPr/>
        </p:nvSpPr>
        <p:spPr>
          <a:xfrm>
            <a:off x="10250823" y="2449645"/>
            <a:ext cx="515054" cy="0"/>
          </a:xfrm>
          <a:prstGeom prst="line">
            <a:avLst/>
          </a:prstGeom>
          <a:noFill/>
          <a:ln w="3556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70" name="Shape 64"/>
          <p:cNvSpPr/>
          <p:nvPr/>
        </p:nvSpPr>
        <p:spPr>
          <a:xfrm>
            <a:off x="10765876" y="2550143"/>
            <a:ext cx="-515054" cy="0"/>
          </a:xfrm>
          <a:prstGeom prst="line">
            <a:avLst/>
          </a:prstGeom>
          <a:noFill/>
          <a:ln w="3556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71" name="Text 65"/>
          <p:cNvSpPr/>
          <p:nvPr/>
        </p:nvSpPr>
        <p:spPr>
          <a:xfrm>
            <a:off x="10370164" y="2141869"/>
            <a:ext cx="270089" cy="30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endParaRPr lang="en-US" sz="2800" dirty="0"/>
          </a:p>
        </p:txBody>
      </p:sp>
      <p:sp>
        <p:nvSpPr>
          <p:cNvPr id="72" name="Text 66"/>
          <p:cNvSpPr/>
          <p:nvPr/>
        </p:nvSpPr>
        <p:spPr>
          <a:xfrm>
            <a:off x="94217" y="3567688"/>
            <a:ext cx="301495" cy="24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</a:t>
            </a:r>
            <a:endParaRPr lang="en-US" sz="2300" dirty="0"/>
          </a:p>
        </p:txBody>
      </p:sp>
      <p:sp>
        <p:nvSpPr>
          <p:cNvPr id="73" name="Text 67"/>
          <p:cNvSpPr/>
          <p:nvPr/>
        </p:nvSpPr>
        <p:spPr>
          <a:xfrm>
            <a:off x="401993" y="3567688"/>
            <a:ext cx="709769" cy="24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</a:t>
            </a:r>
            <a:endParaRPr lang="en-US" sz="2300" dirty="0"/>
          </a:p>
        </p:txBody>
      </p:sp>
      <p:sp>
        <p:nvSpPr>
          <p:cNvPr id="74" name="Text 68"/>
          <p:cNvSpPr/>
          <p:nvPr/>
        </p:nvSpPr>
        <p:spPr>
          <a:xfrm>
            <a:off x="1237385" y="3567688"/>
            <a:ext cx="7041159" cy="2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structure-specific poses (   ) to estimate the polyrigid deformation field (Φ)</a:t>
            </a:r>
            <a:endParaRPr lang="en-US" sz="2200" dirty="0"/>
          </a:p>
        </p:txBody>
      </p:sp>
      <p:sp>
        <p:nvSpPr>
          <p:cNvPr id="75" name="Shape 69"/>
          <p:cNvSpPr/>
          <p:nvPr/>
        </p:nvSpPr>
        <p:spPr>
          <a:xfrm>
            <a:off x="4026212" y="3768685"/>
            <a:ext cx="87936" cy="-138185"/>
          </a:xfrm>
          <a:prstGeom prst="line">
            <a:avLst/>
          </a:prstGeom>
          <a:noFill/>
          <a:ln w="15240">
            <a:solidFill>
              <a:srgbClr val="0798E7"/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4026212" y="3768685"/>
            <a:ext cx="-87936" cy="-125623"/>
          </a:xfrm>
          <a:prstGeom prst="line">
            <a:avLst/>
          </a:prstGeom>
          <a:noFill/>
          <a:ln w="15240">
            <a:solidFill>
              <a:srgbClr val="17E809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4026212" y="3768685"/>
            <a:ext cx="125623" cy="100498"/>
          </a:xfrm>
          <a:prstGeom prst="line">
            <a:avLst/>
          </a:prstGeom>
          <a:noFill/>
          <a:ln w="15240">
            <a:solidFill>
              <a:srgbClr val="F06A00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8416729" y="3567688"/>
            <a:ext cx="3649343" cy="565303"/>
          </a:xfrm>
          <a:prstGeom prst="roundRect">
            <a:avLst>
              <a:gd name="adj" fmla="val 12940"/>
            </a:avLst>
          </a:prstGeom>
          <a:solidFill>
            <a:srgbClr val="FFFFFF"/>
          </a:solidFill>
          <a:ln w="22860">
            <a:solidFill>
              <a:srgbClr val="111111"/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8536071" y="3617937"/>
            <a:ext cx="219840" cy="24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𝒫</a:t>
            </a:r>
            <a:endParaRPr lang="en-US" sz="2400" dirty="0"/>
          </a:p>
        </p:txBody>
      </p:sp>
      <p:sp>
        <p:nvSpPr>
          <p:cNvPr id="80" name="Text 74"/>
          <p:cNvSpPr/>
          <p:nvPr/>
        </p:nvSpPr>
        <p:spPr>
          <a:xfrm>
            <a:off x="8755911" y="3617937"/>
            <a:ext cx="1476068" cy="24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operator</a:t>
            </a:r>
            <a:endParaRPr lang="en-US" sz="1900" dirty="0"/>
          </a:p>
        </p:txBody>
      </p:sp>
      <p:sp>
        <p:nvSpPr>
          <p:cNvPr id="81" name="Text 75"/>
          <p:cNvSpPr/>
          <p:nvPr/>
        </p:nvSpPr>
        <p:spPr>
          <a:xfrm>
            <a:off x="8536071" y="3862902"/>
            <a:ext cx="219840" cy="22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endParaRPr lang="en-US" sz="2400" dirty="0"/>
          </a:p>
        </p:txBody>
      </p:sp>
      <p:sp>
        <p:nvSpPr>
          <p:cNvPr id="82" name="Text 76"/>
          <p:cNvSpPr/>
          <p:nvPr/>
        </p:nvSpPr>
        <p:spPr>
          <a:xfrm>
            <a:off x="8755911" y="3862902"/>
            <a:ext cx="1476068" cy="22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loss function</a:t>
            </a:r>
            <a:endParaRPr lang="en-US" sz="1900" dirty="0"/>
          </a:p>
        </p:txBody>
      </p:sp>
      <p:sp>
        <p:nvSpPr>
          <p:cNvPr id="83" name="Text 77"/>
          <p:cNvSpPr/>
          <p:nvPr/>
        </p:nvSpPr>
        <p:spPr>
          <a:xfrm>
            <a:off x="10301072" y="3617937"/>
            <a:ext cx="288932" cy="24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ξ̂</a:t>
            </a:r>
            <a:endParaRPr lang="en-US" sz="2400" dirty="0"/>
          </a:p>
        </p:txBody>
      </p:sp>
      <p:sp>
        <p:nvSpPr>
          <p:cNvPr id="84" name="Text 78"/>
          <p:cNvSpPr/>
          <p:nvPr/>
        </p:nvSpPr>
        <p:spPr>
          <a:xfrm>
            <a:off x="10590004" y="3617937"/>
            <a:ext cx="1413257" cy="24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Articulated poses</a:t>
            </a:r>
            <a:endParaRPr lang="en-US" sz="1900" dirty="0"/>
          </a:p>
        </p:txBody>
      </p:sp>
      <p:sp>
        <p:nvSpPr>
          <p:cNvPr id="85" name="Text 79"/>
          <p:cNvSpPr/>
          <p:nvPr/>
        </p:nvSpPr>
        <p:spPr>
          <a:xfrm>
            <a:off x="10301072" y="3862902"/>
            <a:ext cx="288932" cy="22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endParaRPr lang="en-US" sz="2400" dirty="0"/>
          </a:p>
        </p:txBody>
      </p:sp>
      <p:sp>
        <p:nvSpPr>
          <p:cNvPr id="86" name="Text 80"/>
          <p:cNvSpPr/>
          <p:nvPr/>
        </p:nvSpPr>
        <p:spPr>
          <a:xfrm>
            <a:off x="10590004" y="3862902"/>
            <a:ext cx="1413257" cy="22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matrix</a:t>
            </a:r>
            <a:endParaRPr lang="en-US" sz="1900" dirty="0"/>
          </a:p>
        </p:txBody>
      </p:sp>
      <p:pic>
        <p:nvPicPr>
          <p:cNvPr id="87" name="Image 4" descr="/home/wangfeifei/projects/skillopt/SkillOpt/ppt-rebuild/complex20-skill-ab-20260907/runs/gpt-5.6-sol/complex-017/.tmp/we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42" y="4208365"/>
            <a:ext cx="3259912" cy="2901887"/>
          </a:xfrm>
          <a:prstGeom prst="rect">
            <a:avLst/>
          </a:prstGeom>
        </p:spPr>
      </p:pic>
      <p:sp>
        <p:nvSpPr>
          <p:cNvPr id="88" name="Text 81"/>
          <p:cNvSpPr/>
          <p:nvPr/>
        </p:nvSpPr>
        <p:spPr>
          <a:xfrm>
            <a:off x="515054" y="7135376"/>
            <a:ext cx="2638079" cy="21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 weight field W</a:t>
            </a:r>
            <a:endParaRPr lang="en-US" sz="2000" dirty="0"/>
          </a:p>
        </p:txBody>
      </p:sp>
      <p:sp>
        <p:nvSpPr>
          <p:cNvPr id="89" name="Text 82"/>
          <p:cNvSpPr/>
          <p:nvPr/>
        </p:nvSpPr>
        <p:spPr>
          <a:xfrm>
            <a:off x="1325321" y="7348935"/>
            <a:ext cx="816548" cy="21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Eq. (6)</a:t>
            </a:r>
            <a:endParaRPr lang="en-US" sz="1900" dirty="0"/>
          </a:p>
        </p:txBody>
      </p:sp>
      <p:pic>
        <p:nvPicPr>
          <p:cNvPr id="90" name="Image 5" descr="/home/wangfeifei/projects/skillopt/SkillOpt/ppt-rebuild/complex20-skill-ab-20260907/runs/gpt-5.6-sol/complex-017/.tmp/deform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7457" y="4176959"/>
            <a:ext cx="3178257" cy="2920731"/>
          </a:xfrm>
          <a:prstGeom prst="rect">
            <a:avLst/>
          </a:prstGeom>
        </p:spPr>
      </p:pic>
      <p:sp>
        <p:nvSpPr>
          <p:cNvPr id="91" name="Text 83"/>
          <p:cNvSpPr/>
          <p:nvPr/>
        </p:nvSpPr>
        <p:spPr>
          <a:xfrm>
            <a:off x="4315144" y="7135376"/>
            <a:ext cx="3140571" cy="21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deformation field Φ and warp V</a:t>
            </a:r>
            <a:endParaRPr lang="en-US" sz="1900" dirty="0"/>
          </a:p>
        </p:txBody>
      </p:sp>
      <p:sp>
        <p:nvSpPr>
          <p:cNvPr id="92" name="Text 84"/>
          <p:cNvSpPr/>
          <p:nvPr/>
        </p:nvSpPr>
        <p:spPr>
          <a:xfrm>
            <a:off x="5822618" y="7348935"/>
            <a:ext cx="816548" cy="21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Eq. (4)</a:t>
            </a:r>
            <a:endParaRPr lang="en-US" sz="1900" dirty="0"/>
          </a:p>
        </p:txBody>
      </p:sp>
      <p:sp>
        <p:nvSpPr>
          <p:cNvPr id="93" name="Text 85"/>
          <p:cNvSpPr/>
          <p:nvPr/>
        </p:nvSpPr>
        <p:spPr>
          <a:xfrm>
            <a:off x="3567688" y="4233489"/>
            <a:ext cx="251246" cy="2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ξ̂</a:t>
            </a:r>
            <a:endParaRPr lang="en-US" sz="2700" dirty="0"/>
          </a:p>
        </p:txBody>
      </p:sp>
      <p:sp>
        <p:nvSpPr>
          <p:cNvPr id="94" name="Text 86"/>
          <p:cNvSpPr/>
          <p:nvPr/>
        </p:nvSpPr>
        <p:spPr>
          <a:xfrm>
            <a:off x="3416941" y="4497297"/>
            <a:ext cx="577865" cy="2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1A0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log(  )</a:t>
            </a:r>
            <a:endParaRPr lang="en-US" sz="2400" dirty="0"/>
          </a:p>
        </p:txBody>
      </p:sp>
      <p:sp>
        <p:nvSpPr>
          <p:cNvPr id="95" name="Text 87"/>
          <p:cNvSpPr/>
          <p:nvPr/>
        </p:nvSpPr>
        <p:spPr>
          <a:xfrm>
            <a:off x="3416941" y="4823916"/>
            <a:ext cx="577865" cy="2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3DE0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log(  )</a:t>
            </a:r>
            <a:endParaRPr lang="en-US" sz="2400" dirty="0"/>
          </a:p>
        </p:txBody>
      </p:sp>
      <p:sp>
        <p:nvSpPr>
          <p:cNvPr id="96" name="Text 88"/>
          <p:cNvSpPr/>
          <p:nvPr/>
        </p:nvSpPr>
        <p:spPr>
          <a:xfrm>
            <a:off x="3416941" y="5150536"/>
            <a:ext cx="577865" cy="2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878E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log(  )</a:t>
            </a:r>
            <a:endParaRPr lang="en-US" sz="2400" dirty="0"/>
          </a:p>
        </p:txBody>
      </p:sp>
      <p:sp>
        <p:nvSpPr>
          <p:cNvPr id="97" name="Shape 89"/>
          <p:cNvSpPr/>
          <p:nvPr/>
        </p:nvSpPr>
        <p:spPr>
          <a:xfrm>
            <a:off x="3266193" y="4509859"/>
            <a:ext cx="0" cy="929609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98" name="Shape 90"/>
          <p:cNvSpPr/>
          <p:nvPr/>
        </p:nvSpPr>
        <p:spPr>
          <a:xfrm>
            <a:off x="3266193" y="4509859"/>
            <a:ext cx="69093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99" name="Shape 91"/>
          <p:cNvSpPr/>
          <p:nvPr/>
        </p:nvSpPr>
        <p:spPr>
          <a:xfrm>
            <a:off x="3266193" y="5439468"/>
            <a:ext cx="69093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00" name="Shape 92"/>
          <p:cNvSpPr/>
          <p:nvPr/>
        </p:nvSpPr>
        <p:spPr>
          <a:xfrm>
            <a:off x="4114148" y="4509859"/>
            <a:ext cx="0" cy="929609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01" name="Shape 93"/>
          <p:cNvSpPr/>
          <p:nvPr/>
        </p:nvSpPr>
        <p:spPr>
          <a:xfrm>
            <a:off x="4114148" y="4509859"/>
            <a:ext cx="-69093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02" name="Shape 94"/>
          <p:cNvSpPr/>
          <p:nvPr/>
        </p:nvSpPr>
        <p:spPr>
          <a:xfrm>
            <a:off x="4114148" y="5439468"/>
            <a:ext cx="-69093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03" name="Shape 95"/>
          <p:cNvSpPr/>
          <p:nvPr/>
        </p:nvSpPr>
        <p:spPr>
          <a:xfrm>
            <a:off x="3341567" y="5759807"/>
            <a:ext cx="709769" cy="314057"/>
          </a:xfrm>
          <a:prstGeom prst="roundRect">
            <a:avLst>
              <a:gd name="adj" fmla="val 17469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4" name="Text 96"/>
          <p:cNvSpPr/>
          <p:nvPr/>
        </p:nvSpPr>
        <p:spPr>
          <a:xfrm>
            <a:off x="3360411" y="5803775"/>
            <a:ext cx="672082" cy="22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exp(W ξ̂)</a:t>
            </a:r>
            <a:endParaRPr lang="en-US" sz="1800" dirty="0"/>
          </a:p>
        </p:txBody>
      </p:sp>
      <p:sp>
        <p:nvSpPr>
          <p:cNvPr id="105" name="Shape 97"/>
          <p:cNvSpPr/>
          <p:nvPr/>
        </p:nvSpPr>
        <p:spPr>
          <a:xfrm>
            <a:off x="3624219" y="5734682"/>
            <a:ext cx="0" cy="-251246"/>
          </a:xfrm>
          <a:prstGeom prst="line">
            <a:avLst/>
          </a:prstGeom>
          <a:noFill/>
          <a:ln w="3175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106" name="Shape 98"/>
          <p:cNvSpPr/>
          <p:nvPr/>
        </p:nvSpPr>
        <p:spPr>
          <a:xfrm>
            <a:off x="3793809" y="5483436"/>
            <a:ext cx="0" cy="257527"/>
          </a:xfrm>
          <a:prstGeom prst="line">
            <a:avLst/>
          </a:prstGeom>
          <a:noFill/>
          <a:ln w="3175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107" name="Shape 99"/>
          <p:cNvSpPr/>
          <p:nvPr/>
        </p:nvSpPr>
        <p:spPr>
          <a:xfrm>
            <a:off x="4057617" y="5891711"/>
            <a:ext cx="376868" cy="0"/>
          </a:xfrm>
          <a:prstGeom prst="line">
            <a:avLst/>
          </a:prstGeom>
          <a:noFill/>
          <a:ln w="3556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108" name="Shape 100"/>
          <p:cNvSpPr/>
          <p:nvPr/>
        </p:nvSpPr>
        <p:spPr>
          <a:xfrm>
            <a:off x="4434486" y="5992209"/>
            <a:ext cx="-376868" cy="0"/>
          </a:xfrm>
          <a:prstGeom prst="line">
            <a:avLst/>
          </a:prstGeom>
          <a:noFill/>
          <a:ln w="3556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109" name="Shape 101"/>
          <p:cNvSpPr/>
          <p:nvPr/>
        </p:nvSpPr>
        <p:spPr>
          <a:xfrm>
            <a:off x="3404379" y="6343953"/>
            <a:ext cx="0" cy="929609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10" name="Shape 102"/>
          <p:cNvSpPr/>
          <p:nvPr/>
        </p:nvSpPr>
        <p:spPr>
          <a:xfrm>
            <a:off x="3404379" y="6343953"/>
            <a:ext cx="75374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11" name="Shape 103"/>
          <p:cNvSpPr/>
          <p:nvPr/>
        </p:nvSpPr>
        <p:spPr>
          <a:xfrm>
            <a:off x="3404379" y="7273562"/>
            <a:ext cx="75374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12" name="Shape 104"/>
          <p:cNvSpPr/>
          <p:nvPr/>
        </p:nvSpPr>
        <p:spPr>
          <a:xfrm>
            <a:off x="3975962" y="6343953"/>
            <a:ext cx="0" cy="929609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13" name="Shape 105"/>
          <p:cNvSpPr/>
          <p:nvPr/>
        </p:nvSpPr>
        <p:spPr>
          <a:xfrm>
            <a:off x="3975962" y="6343953"/>
            <a:ext cx="-75374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14" name="Shape 106"/>
          <p:cNvSpPr/>
          <p:nvPr/>
        </p:nvSpPr>
        <p:spPr>
          <a:xfrm>
            <a:off x="3975962" y="7273562"/>
            <a:ext cx="-75374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15" name="Text 107"/>
          <p:cNvSpPr/>
          <p:nvPr/>
        </p:nvSpPr>
        <p:spPr>
          <a:xfrm>
            <a:off x="3454628" y="6375358"/>
            <a:ext cx="471086" cy="27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26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0.24</a:t>
            </a:r>
            <a:endParaRPr lang="en-US" sz="2400" dirty="0"/>
          </a:p>
        </p:txBody>
      </p:sp>
      <p:sp>
        <p:nvSpPr>
          <p:cNvPr id="116" name="Text 108"/>
          <p:cNvSpPr/>
          <p:nvPr/>
        </p:nvSpPr>
        <p:spPr>
          <a:xfrm>
            <a:off x="3454628" y="6676853"/>
            <a:ext cx="471086" cy="27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9D90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0.75</a:t>
            </a:r>
            <a:endParaRPr lang="en-US" sz="2400" dirty="0"/>
          </a:p>
        </p:txBody>
      </p:sp>
      <p:sp>
        <p:nvSpPr>
          <p:cNvPr id="117" name="Text 109"/>
          <p:cNvSpPr/>
          <p:nvPr/>
        </p:nvSpPr>
        <p:spPr>
          <a:xfrm>
            <a:off x="3454628" y="6978348"/>
            <a:ext cx="471086" cy="27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878E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0.01</a:t>
            </a:r>
            <a:endParaRPr lang="en-US" sz="2400" dirty="0"/>
          </a:p>
        </p:txBody>
      </p:sp>
      <p:sp>
        <p:nvSpPr>
          <p:cNvPr id="118" name="Text 110"/>
          <p:cNvSpPr/>
          <p:nvPr/>
        </p:nvSpPr>
        <p:spPr>
          <a:xfrm>
            <a:off x="3410660" y="7254718"/>
            <a:ext cx="565303" cy="28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W(x)</a:t>
            </a:r>
            <a:endParaRPr lang="en-US" sz="2100" dirty="0"/>
          </a:p>
        </p:txBody>
      </p:sp>
      <p:sp>
        <p:nvSpPr>
          <p:cNvPr id="119" name="Shape 111"/>
          <p:cNvSpPr/>
          <p:nvPr/>
        </p:nvSpPr>
        <p:spPr>
          <a:xfrm>
            <a:off x="3693311" y="6325109"/>
            <a:ext cx="0" cy="-232402"/>
          </a:xfrm>
          <a:prstGeom prst="line">
            <a:avLst/>
          </a:prstGeom>
          <a:noFill/>
          <a:ln w="3175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120" name="Text 112"/>
          <p:cNvSpPr/>
          <p:nvPr/>
        </p:nvSpPr>
        <p:spPr>
          <a:xfrm>
            <a:off x="8900377" y="4277457"/>
            <a:ext cx="1312759" cy="23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X-ray</a:t>
            </a:r>
            <a:endParaRPr lang="en-US" sz="2000" dirty="0"/>
          </a:p>
        </p:txBody>
      </p:sp>
      <p:pic>
        <p:nvPicPr>
          <p:cNvPr id="121" name="Image 6" descr="/home/wangfeifei/projects/skillopt/SkillOpt/ppt-rebuild/complex20-skill-ab-20260907/runs/gpt-5.6-sol/complex-017/.tmp/botRend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0377" y="4497297"/>
            <a:ext cx="1312759" cy="2644360"/>
          </a:xfrm>
          <a:prstGeom prst="rect">
            <a:avLst/>
          </a:prstGeom>
        </p:spPr>
      </p:pic>
      <p:sp>
        <p:nvSpPr>
          <p:cNvPr id="122" name="Shape 113"/>
          <p:cNvSpPr/>
          <p:nvPr/>
        </p:nvSpPr>
        <p:spPr>
          <a:xfrm>
            <a:off x="8900377" y="5810056"/>
            <a:ext cx="1312759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23" name="Text 114"/>
          <p:cNvSpPr/>
          <p:nvPr/>
        </p:nvSpPr>
        <p:spPr>
          <a:xfrm>
            <a:off x="10772157" y="4271176"/>
            <a:ext cx="1325321" cy="23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X-ray</a:t>
            </a:r>
            <a:endParaRPr lang="en-US" sz="2000" dirty="0"/>
          </a:p>
        </p:txBody>
      </p:sp>
      <p:pic>
        <p:nvPicPr>
          <p:cNvPr id="124" name="Image 7" descr="/home/wangfeifei/projects/skillopt/SkillOpt/ppt-rebuild/complex20-skill-ab-20260907/runs/gpt-5.6-sol/complex-017/.tmp/botR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2157" y="4491016"/>
            <a:ext cx="1325321" cy="2650642"/>
          </a:xfrm>
          <a:prstGeom prst="rect">
            <a:avLst/>
          </a:prstGeom>
        </p:spPr>
      </p:pic>
      <p:sp>
        <p:nvSpPr>
          <p:cNvPr id="125" name="Shape 115"/>
          <p:cNvSpPr/>
          <p:nvPr/>
        </p:nvSpPr>
        <p:spPr>
          <a:xfrm>
            <a:off x="10772157" y="5810056"/>
            <a:ext cx="1325321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26" name="Text 116"/>
          <p:cNvSpPr/>
          <p:nvPr/>
        </p:nvSpPr>
        <p:spPr>
          <a:xfrm>
            <a:off x="7776053" y="4710856"/>
            <a:ext cx="753737" cy="21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𝒫(Π̂₁)</a:t>
            </a:r>
            <a:endParaRPr lang="en-US" sz="2300" dirty="0"/>
          </a:p>
        </p:txBody>
      </p:sp>
      <p:sp>
        <p:nvSpPr>
          <p:cNvPr id="127" name="Shape 117"/>
          <p:cNvSpPr/>
          <p:nvPr/>
        </p:nvSpPr>
        <p:spPr>
          <a:xfrm>
            <a:off x="7807459" y="4987226"/>
            <a:ext cx="690926" cy="351744"/>
          </a:xfrm>
          <a:prstGeom prst="roundRect">
            <a:avLst>
              <a:gd name="adj" fmla="val 20797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28" name="Text 118"/>
          <p:cNvSpPr/>
          <p:nvPr/>
        </p:nvSpPr>
        <p:spPr>
          <a:xfrm>
            <a:off x="7838864" y="5018632"/>
            <a:ext cx="628114" cy="28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Diff. X-ray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1200" dirty="0"/>
          </a:p>
        </p:txBody>
      </p:sp>
      <p:sp>
        <p:nvSpPr>
          <p:cNvPr id="129" name="Text 119"/>
          <p:cNvSpPr/>
          <p:nvPr/>
        </p:nvSpPr>
        <p:spPr>
          <a:xfrm>
            <a:off x="7788615" y="5351532"/>
            <a:ext cx="728612" cy="219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Eq. (3)</a:t>
            </a:r>
            <a:endParaRPr lang="en-US" sz="1900" dirty="0"/>
          </a:p>
        </p:txBody>
      </p:sp>
      <p:sp>
        <p:nvSpPr>
          <p:cNvPr id="130" name="Text 120"/>
          <p:cNvSpPr/>
          <p:nvPr/>
        </p:nvSpPr>
        <p:spPr>
          <a:xfrm>
            <a:off x="7776053" y="6023614"/>
            <a:ext cx="753737" cy="21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𝒫(Π̂₂)</a:t>
            </a:r>
            <a:endParaRPr lang="en-US" sz="2300" dirty="0"/>
          </a:p>
        </p:txBody>
      </p:sp>
      <p:sp>
        <p:nvSpPr>
          <p:cNvPr id="131" name="Shape 121"/>
          <p:cNvSpPr/>
          <p:nvPr/>
        </p:nvSpPr>
        <p:spPr>
          <a:xfrm>
            <a:off x="7807459" y="6299985"/>
            <a:ext cx="690926" cy="351744"/>
          </a:xfrm>
          <a:prstGeom prst="roundRect">
            <a:avLst>
              <a:gd name="adj" fmla="val 20797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2" name="Text 122"/>
          <p:cNvSpPr/>
          <p:nvPr/>
        </p:nvSpPr>
        <p:spPr>
          <a:xfrm>
            <a:off x="7838864" y="6331390"/>
            <a:ext cx="628114" cy="28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Diff. X-ray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1200" dirty="0"/>
          </a:p>
        </p:txBody>
      </p:sp>
      <p:sp>
        <p:nvSpPr>
          <p:cNvPr id="133" name="Text 123"/>
          <p:cNvSpPr/>
          <p:nvPr/>
        </p:nvSpPr>
        <p:spPr>
          <a:xfrm>
            <a:off x="7788615" y="6664291"/>
            <a:ext cx="728612" cy="219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Eq. (3)</a:t>
            </a:r>
            <a:endParaRPr lang="en-US" sz="1900" dirty="0"/>
          </a:p>
        </p:txBody>
      </p:sp>
      <p:sp>
        <p:nvSpPr>
          <p:cNvPr id="134" name="Shape 124"/>
          <p:cNvSpPr/>
          <p:nvPr/>
        </p:nvSpPr>
        <p:spPr>
          <a:xfrm>
            <a:off x="7424309" y="5125411"/>
            <a:ext cx="370587" cy="0"/>
          </a:xfrm>
          <a:prstGeom prst="line">
            <a:avLst/>
          </a:prstGeom>
          <a:noFill/>
          <a:ln w="3556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135" name="Shape 125"/>
          <p:cNvSpPr/>
          <p:nvPr/>
        </p:nvSpPr>
        <p:spPr>
          <a:xfrm>
            <a:off x="7794896" y="5225910"/>
            <a:ext cx="-370587" cy="0"/>
          </a:xfrm>
          <a:prstGeom prst="line">
            <a:avLst/>
          </a:prstGeom>
          <a:noFill/>
          <a:ln w="3556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136" name="Shape 126"/>
          <p:cNvSpPr/>
          <p:nvPr/>
        </p:nvSpPr>
        <p:spPr>
          <a:xfrm>
            <a:off x="8504665" y="5125411"/>
            <a:ext cx="376868" cy="0"/>
          </a:xfrm>
          <a:prstGeom prst="line">
            <a:avLst/>
          </a:prstGeom>
          <a:noFill/>
          <a:ln w="3556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137" name="Shape 127"/>
          <p:cNvSpPr/>
          <p:nvPr/>
        </p:nvSpPr>
        <p:spPr>
          <a:xfrm>
            <a:off x="8881534" y="5225910"/>
            <a:ext cx="-376868" cy="0"/>
          </a:xfrm>
          <a:prstGeom prst="line">
            <a:avLst/>
          </a:prstGeom>
          <a:noFill/>
          <a:ln w="3556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138" name="Shape 128"/>
          <p:cNvSpPr/>
          <p:nvPr/>
        </p:nvSpPr>
        <p:spPr>
          <a:xfrm>
            <a:off x="7424309" y="6438170"/>
            <a:ext cx="370587" cy="0"/>
          </a:xfrm>
          <a:prstGeom prst="line">
            <a:avLst/>
          </a:prstGeom>
          <a:noFill/>
          <a:ln w="3556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139" name="Shape 129"/>
          <p:cNvSpPr/>
          <p:nvPr/>
        </p:nvSpPr>
        <p:spPr>
          <a:xfrm>
            <a:off x="7794896" y="6538668"/>
            <a:ext cx="-370587" cy="0"/>
          </a:xfrm>
          <a:prstGeom prst="line">
            <a:avLst/>
          </a:prstGeom>
          <a:noFill/>
          <a:ln w="3556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140" name="Shape 130"/>
          <p:cNvSpPr/>
          <p:nvPr/>
        </p:nvSpPr>
        <p:spPr>
          <a:xfrm>
            <a:off x="8504665" y="6438170"/>
            <a:ext cx="376868" cy="0"/>
          </a:xfrm>
          <a:prstGeom prst="line">
            <a:avLst/>
          </a:prstGeom>
          <a:noFill/>
          <a:ln w="3556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141" name="Shape 131"/>
          <p:cNvSpPr/>
          <p:nvPr/>
        </p:nvSpPr>
        <p:spPr>
          <a:xfrm>
            <a:off x="8881534" y="6538668"/>
            <a:ext cx="-376868" cy="0"/>
          </a:xfrm>
          <a:prstGeom prst="line">
            <a:avLst/>
          </a:prstGeom>
          <a:noFill/>
          <a:ln w="3556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142" name="Shape 132"/>
          <p:cNvSpPr/>
          <p:nvPr/>
        </p:nvSpPr>
        <p:spPr>
          <a:xfrm>
            <a:off x="10231979" y="5125411"/>
            <a:ext cx="521335" cy="0"/>
          </a:xfrm>
          <a:prstGeom prst="line">
            <a:avLst/>
          </a:prstGeom>
          <a:noFill/>
          <a:ln w="3556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143" name="Shape 133"/>
          <p:cNvSpPr/>
          <p:nvPr/>
        </p:nvSpPr>
        <p:spPr>
          <a:xfrm>
            <a:off x="10753314" y="5225910"/>
            <a:ext cx="-521335" cy="0"/>
          </a:xfrm>
          <a:prstGeom prst="line">
            <a:avLst/>
          </a:prstGeom>
          <a:noFill/>
          <a:ln w="3556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144" name="Text 134"/>
          <p:cNvSpPr/>
          <p:nvPr/>
        </p:nvSpPr>
        <p:spPr>
          <a:xfrm>
            <a:off x="10351321" y="4823916"/>
            <a:ext cx="276370" cy="30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endParaRPr lang="en-US" sz="2800" dirty="0"/>
          </a:p>
        </p:txBody>
      </p:sp>
      <p:sp>
        <p:nvSpPr>
          <p:cNvPr id="145" name="Text 135"/>
          <p:cNvSpPr/>
          <p:nvPr/>
        </p:nvSpPr>
        <p:spPr>
          <a:xfrm>
            <a:off x="10231979" y="5263596"/>
            <a:ext cx="521335" cy="21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Eq. (7)</a:t>
            </a:r>
            <a:endParaRPr lang="en-US" sz="1900" dirty="0"/>
          </a:p>
        </p:txBody>
      </p:sp>
      <p:sp>
        <p:nvSpPr>
          <p:cNvPr id="146" name="Shape 136"/>
          <p:cNvSpPr/>
          <p:nvPr/>
        </p:nvSpPr>
        <p:spPr>
          <a:xfrm>
            <a:off x="10231979" y="6438170"/>
            <a:ext cx="521335" cy="0"/>
          </a:xfrm>
          <a:prstGeom prst="line">
            <a:avLst/>
          </a:prstGeom>
          <a:noFill/>
          <a:ln w="35560">
            <a:solidFill>
              <a:srgbClr val="0798E7"/>
            </a:solidFill>
            <a:prstDash val="solid"/>
            <a:tailEnd type="triangle"/>
          </a:ln>
        </p:spPr>
      </p:sp>
      <p:sp>
        <p:nvSpPr>
          <p:cNvPr id="147" name="Shape 137"/>
          <p:cNvSpPr/>
          <p:nvPr/>
        </p:nvSpPr>
        <p:spPr>
          <a:xfrm>
            <a:off x="10753314" y="6538668"/>
            <a:ext cx="-521335" cy="0"/>
          </a:xfrm>
          <a:prstGeom prst="line">
            <a:avLst/>
          </a:prstGeom>
          <a:noFill/>
          <a:ln w="35560">
            <a:solidFill>
              <a:srgbClr val="F06A00"/>
            </a:solidFill>
            <a:prstDash val="solid"/>
            <a:tailEnd type="triangle"/>
          </a:ln>
        </p:spPr>
      </p:sp>
      <p:sp>
        <p:nvSpPr>
          <p:cNvPr id="148" name="Text 138"/>
          <p:cNvSpPr/>
          <p:nvPr/>
        </p:nvSpPr>
        <p:spPr>
          <a:xfrm>
            <a:off x="10351321" y="6136675"/>
            <a:ext cx="276370" cy="30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endParaRPr lang="en-US" sz="2800" dirty="0"/>
          </a:p>
        </p:txBody>
      </p:sp>
      <p:sp>
        <p:nvSpPr>
          <p:cNvPr id="149" name="Text 139"/>
          <p:cNvSpPr/>
          <p:nvPr/>
        </p:nvSpPr>
        <p:spPr>
          <a:xfrm>
            <a:off x="10231979" y="6576355"/>
            <a:ext cx="521335" cy="21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Eq. (7)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PolyPose Deformable 2D3D Registration via Polyrigid Transformation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" y="0"/>
            <a:ext cx="12172851" cy="76001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PolyPose: Deformable 2D/3D Registration via Polyrigid Transformations</dc:title>
  <dc:subject>Editable recreation of PolyPose diagram</dc:subject>
  <dc:creator>OpenAI</dc:creator>
  <cp:lastModifiedBy>OpenAI</cp:lastModifiedBy>
  <cp:revision>1</cp:revision>
  <dcterms:created xsi:type="dcterms:W3CDTF">2026-09-07T14:26:23Z</dcterms:created>
  <dcterms:modified xsi:type="dcterms:W3CDTF">2026-09-07T14:26:23Z</dcterms:modified>
</cp:coreProperties>
</file>