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-2.jpg" ContentType="image/jpg"/>
  <Override PartName="/ppt/media/image-1-3.jpg" ContentType="image/jpg"/>
  <Override PartName="/ppt/media/image-1-4.jpg" ContentType="image/jpg"/>
  <Override PartName="/ppt/media/image-1-5.jpg" ContentType="image/jpg"/>
  <Override PartName="/ppt/media/image-1-6.jpg" ContentType="image/jpg"/>
  <Override PartName="/ppt/media/image-1-7.jpg" ContentType="image/jpg"/>
  <Override PartName="/ppt/media/image-1-8.jpg" ContentType="image/jpg"/>
  <Override PartName="/ppt/media/image-1-9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notesMasterIdLst>
    <p:notesMasterId r:id="rId3"/>
  </p:notesMasterIdLst>
  <p:sldSz cx="14698980" cy="9136380"/>
  <p:notesSz cx="9136380" cy="146989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image" Target="../media/image-1-5.jpg"/><Relationship Id="rId6" Type="http://schemas.openxmlformats.org/officeDocument/2006/relationships/image" Target="../media/image-1-6.jpg"/><Relationship Id="rId7" Type="http://schemas.openxmlformats.org/officeDocument/2006/relationships/image" Target="../media/image-1-7.jpg"/><Relationship Id="rId8" Type="http://schemas.openxmlformats.org/officeDocument/2006/relationships/image" Target="../media/image-1-8.jpg"/><Relationship Id="rId9" Type="http://schemas.openxmlformats.org/officeDocument/2006/relationships/image" Target="../media/image-1-9.jp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152400"/>
            <a:ext cx="4800600" cy="898398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73980" y="129540"/>
            <a:ext cx="4678680" cy="8481060"/>
          </a:xfrm>
          <a:prstGeom prst="rect">
            <a:avLst/>
          </a:prstGeom>
          <a:solidFill>
            <a:srgbClr val="FFFAF0"/>
          </a:solidFill>
          <a:ln w="12700">
            <a:solidFill>
              <a:srgbClr val="FFFA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34600" y="121920"/>
            <a:ext cx="4564380" cy="9014460"/>
          </a:xfrm>
          <a:prstGeom prst="rect">
            <a:avLst/>
          </a:prstGeom>
          <a:solidFill>
            <a:srgbClr val="FBF6EF"/>
          </a:solidFill>
          <a:ln w="12700">
            <a:solidFill>
              <a:srgbClr val="FBF6E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" y="2910840"/>
            <a:ext cx="4800600" cy="320040"/>
          </a:xfrm>
          <a:prstGeom prst="rect">
            <a:avLst/>
          </a:prstGeom>
          <a:solidFill>
            <a:srgbClr val="FBF4E7"/>
          </a:solidFill>
          <a:ln w="12700">
            <a:solidFill>
              <a:srgbClr val="FBF4E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" y="5608320"/>
            <a:ext cx="4800600" cy="320040"/>
          </a:xfrm>
          <a:prstGeom prst="rect">
            <a:avLst/>
          </a:prstGeom>
          <a:solidFill>
            <a:srgbClr val="FBF4E7"/>
          </a:solidFill>
          <a:ln w="12700">
            <a:solidFill>
              <a:srgbClr val="FBF4E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" y="8282940"/>
            <a:ext cx="4800600" cy="320040"/>
          </a:xfrm>
          <a:prstGeom prst="rect">
            <a:avLst/>
          </a:prstGeom>
          <a:solidFill>
            <a:srgbClr val="FBF4E7"/>
          </a:solidFill>
          <a:ln w="12700">
            <a:solidFill>
              <a:srgbClr val="FBF4E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73980" y="2910840"/>
            <a:ext cx="4678680" cy="320040"/>
          </a:xfrm>
          <a:prstGeom prst="rect">
            <a:avLst/>
          </a:prstGeom>
          <a:solidFill>
            <a:srgbClr val="FBF4E7"/>
          </a:solidFill>
          <a:ln w="12700">
            <a:solidFill>
              <a:srgbClr val="FBF4E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73980" y="5509260"/>
            <a:ext cx="4678680" cy="320040"/>
          </a:xfrm>
          <a:prstGeom prst="rect">
            <a:avLst/>
          </a:prstGeom>
          <a:solidFill>
            <a:srgbClr val="FBF4E7"/>
          </a:solidFill>
          <a:ln w="12700">
            <a:solidFill>
              <a:srgbClr val="FBF4E7">
                <a:alpha val="0"/>
              </a:srgbClr>
            </a:solidFill>
            <a:prstDash val="solid"/>
          </a:ln>
        </p:spPr>
      </p:sp>
      <p:pic>
        <p:nvPicPr>
          <p:cNvPr id="10" name="Image 0" descr="/home/wangfeifei/projects/skillopt/SkillOpt/ppt-rebuild/complex20-skill-ab-20260907/runs/gpt-5.6-sol/complex-009/.tmp/crops/left_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740" y="594360"/>
            <a:ext cx="3169920" cy="2026920"/>
          </a:xfrm>
          <a:prstGeom prst="rect">
            <a:avLst/>
          </a:prstGeom>
        </p:spPr>
      </p:pic>
      <p:pic>
        <p:nvPicPr>
          <p:cNvPr id="11" name="Image 1" descr="/home/wangfeifei/projects/skillopt/SkillOpt/ppt-rebuild/complex20-skill-ab-20260907/runs/gpt-5.6-sol/complex-009/.tmp/crops/left_1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" y="3291840"/>
            <a:ext cx="3177540" cy="2057400"/>
          </a:xfrm>
          <a:prstGeom prst="rect">
            <a:avLst/>
          </a:prstGeom>
        </p:spPr>
      </p:pic>
      <p:pic>
        <p:nvPicPr>
          <p:cNvPr id="12" name="Image 2" descr="/home/wangfeifei/projects/skillopt/SkillOpt/ppt-rebuild/complex20-skill-ab-20260907/runs/gpt-5.6-sol/complex-009/.tmp/crops/left_3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" y="5996940"/>
            <a:ext cx="3169920" cy="2004060"/>
          </a:xfrm>
          <a:prstGeom prst="rect">
            <a:avLst/>
          </a:prstGeom>
        </p:spPr>
      </p:pic>
      <p:pic>
        <p:nvPicPr>
          <p:cNvPr id="13" name="Image 3" descr="/home/wangfeifei/projects/skillopt/SkillOpt/ppt-rebuild/complex20-skill-ab-20260907/runs/gpt-5.6-sol/complex-009/.tmp/crops/mid_00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1220" y="510540"/>
            <a:ext cx="3169920" cy="2034540"/>
          </a:xfrm>
          <a:prstGeom prst="rect">
            <a:avLst/>
          </a:prstGeom>
        </p:spPr>
      </p:pic>
      <p:pic>
        <p:nvPicPr>
          <p:cNvPr id="14" name="Image 4" descr="/home/wangfeifei/projects/skillopt/SkillOpt/ppt-rebuild/complex20-skill-ab-20260907/runs/gpt-5.6-sol/complex-009/.tmp/crops/mid_09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460" y="3154680"/>
            <a:ext cx="3169920" cy="2072640"/>
          </a:xfrm>
          <a:prstGeom prst="rect">
            <a:avLst/>
          </a:prstGeom>
        </p:spPr>
      </p:pic>
      <p:pic>
        <p:nvPicPr>
          <p:cNvPr id="15" name="Image 5" descr="/home/wangfeifei/projects/skillopt/SkillOpt/ppt-rebuild/complex20-skill-ab-20260907/runs/gpt-5.6-sol/complex-009/.tmp/crops/mid_14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8840" y="6004560"/>
            <a:ext cx="3169920" cy="2034540"/>
          </a:xfrm>
          <a:prstGeom prst="rect">
            <a:avLst/>
          </a:prstGeom>
        </p:spPr>
      </p:pic>
      <p:pic>
        <p:nvPicPr>
          <p:cNvPr id="16" name="Image 6" descr="/home/wangfeifei/projects/skillopt/SkillOpt/ppt-rebuild/complex20-skill-ab-20260907/runs/gpt-5.6-sol/complex-009/.tmp/crops/right_00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11840" y="495300"/>
            <a:ext cx="3162300" cy="1988820"/>
          </a:xfrm>
          <a:prstGeom prst="rect">
            <a:avLst/>
          </a:prstGeom>
        </p:spPr>
      </p:pic>
      <p:pic>
        <p:nvPicPr>
          <p:cNvPr id="17" name="Image 7" descr="/home/wangfeifei/projects/skillopt/SkillOpt/ppt-rebuild/complex20-skill-ab-20260907/runs/gpt-5.6-sol/complex-009/.tmp/crops/right_01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1840" y="3162300"/>
            <a:ext cx="3169920" cy="2095500"/>
          </a:xfrm>
          <a:prstGeom prst="rect">
            <a:avLst/>
          </a:prstGeom>
        </p:spPr>
      </p:pic>
      <p:pic>
        <p:nvPicPr>
          <p:cNvPr id="18" name="Image 8" descr="/home/wangfeifei/projects/skillopt/SkillOpt/ppt-rebuild/complex20-skill-ab-20260907/runs/gpt-5.6-sol/complex-009/.tmp/crops/right_09.jp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11840" y="6431280"/>
            <a:ext cx="3177540" cy="2057400"/>
          </a:xfrm>
          <a:prstGeom prst="rect">
            <a:avLst/>
          </a:prstGeom>
        </p:spPr>
      </p:pic>
      <p:sp>
        <p:nvSpPr>
          <p:cNvPr id="19" name="Shape 8"/>
          <p:cNvSpPr/>
          <p:nvPr/>
        </p:nvSpPr>
        <p:spPr>
          <a:xfrm>
            <a:off x="4724400" y="3093720"/>
            <a:ext cx="175260" cy="0"/>
          </a:xfrm>
          <a:prstGeom prst="line">
            <a:avLst/>
          </a:prstGeom>
          <a:noFill/>
          <a:ln w="50800">
            <a:solidFill>
              <a:srgbClr val="C89012"/>
            </a:solidFill>
            <a:prstDash val="solid"/>
            <a:headEnd type="none"/>
            <a:tailEnd type="none"/>
          </a:ln>
        </p:spPr>
      </p:sp>
      <p:sp>
        <p:nvSpPr>
          <p:cNvPr id="20" name="Shape 9"/>
          <p:cNvSpPr/>
          <p:nvPr/>
        </p:nvSpPr>
        <p:spPr>
          <a:xfrm>
            <a:off x="4899660" y="3093720"/>
            <a:ext cx="0" cy="-2781300"/>
          </a:xfrm>
          <a:prstGeom prst="line">
            <a:avLst/>
          </a:prstGeom>
          <a:noFill/>
          <a:ln w="50800">
            <a:solidFill>
              <a:srgbClr val="C89012"/>
            </a:solidFill>
            <a:prstDash val="solid"/>
            <a:headEnd type="none"/>
            <a:tailEnd type="none"/>
          </a:ln>
        </p:spPr>
      </p:sp>
      <p:sp>
        <p:nvSpPr>
          <p:cNvPr id="21" name="Shape 10"/>
          <p:cNvSpPr/>
          <p:nvPr/>
        </p:nvSpPr>
        <p:spPr>
          <a:xfrm>
            <a:off x="4899660" y="312420"/>
            <a:ext cx="320040" cy="0"/>
          </a:xfrm>
          <a:prstGeom prst="line">
            <a:avLst/>
          </a:prstGeom>
          <a:noFill/>
          <a:ln w="50800">
            <a:solidFill>
              <a:srgbClr val="C89012"/>
            </a:solidFill>
            <a:prstDash val="solid"/>
            <a:headEnd type="none"/>
            <a:tailEnd type="triangle"/>
          </a:ln>
        </p:spPr>
      </p:sp>
      <p:sp>
        <p:nvSpPr>
          <p:cNvPr id="22" name="Shape 11"/>
          <p:cNvSpPr/>
          <p:nvPr/>
        </p:nvSpPr>
        <p:spPr>
          <a:xfrm>
            <a:off x="9646920" y="3063240"/>
            <a:ext cx="228600" cy="0"/>
          </a:xfrm>
          <a:prstGeom prst="line">
            <a:avLst/>
          </a:prstGeom>
          <a:noFill/>
          <a:ln w="50800">
            <a:solidFill>
              <a:srgbClr val="7D4108"/>
            </a:solidFill>
            <a:prstDash val="solid"/>
            <a:headEnd type="none"/>
            <a:tailEnd type="none"/>
          </a:ln>
        </p:spPr>
      </p:sp>
      <p:sp>
        <p:nvSpPr>
          <p:cNvPr id="23" name="Shape 12"/>
          <p:cNvSpPr/>
          <p:nvPr/>
        </p:nvSpPr>
        <p:spPr>
          <a:xfrm>
            <a:off x="9875520" y="3063240"/>
            <a:ext cx="0" cy="-2758440"/>
          </a:xfrm>
          <a:prstGeom prst="line">
            <a:avLst/>
          </a:prstGeom>
          <a:noFill/>
          <a:ln w="50800">
            <a:solidFill>
              <a:srgbClr val="7D4108"/>
            </a:solidFill>
            <a:prstDash val="solid"/>
            <a:headEnd type="none"/>
            <a:tailEnd type="none"/>
          </a:ln>
        </p:spPr>
      </p:sp>
      <p:sp>
        <p:nvSpPr>
          <p:cNvPr id="24" name="Shape 13"/>
          <p:cNvSpPr/>
          <p:nvPr/>
        </p:nvSpPr>
        <p:spPr>
          <a:xfrm>
            <a:off x="9875520" y="304800"/>
            <a:ext cx="335280" cy="0"/>
          </a:xfrm>
          <a:prstGeom prst="line">
            <a:avLst/>
          </a:prstGeom>
          <a:noFill/>
          <a:ln w="50800">
            <a:solidFill>
              <a:srgbClr val="7D4108"/>
            </a:solidFill>
            <a:prstDash val="solid"/>
            <a:headEnd type="none"/>
            <a:tailEnd type="triangle"/>
          </a:ln>
        </p:spPr>
      </p:sp>
      <p:sp>
        <p:nvSpPr>
          <p:cNvPr id="25" name="Shape 14"/>
          <p:cNvSpPr/>
          <p:nvPr/>
        </p:nvSpPr>
        <p:spPr>
          <a:xfrm>
            <a:off x="4640580" y="1402080"/>
            <a:ext cx="502920" cy="502920"/>
          </a:xfrm>
          <a:prstGeom prst="rect">
            <a:avLst/>
          </a:prstGeom>
          <a:solidFill>
            <a:srgbClr val="FFFFFF"/>
          </a:solidFill>
          <a:ln w="38100">
            <a:solidFill>
              <a:srgbClr val="C89012"/>
            </a:solidFill>
            <a:prstDash val="solid"/>
          </a:ln>
        </p:spPr>
      </p:sp>
      <p:sp>
        <p:nvSpPr>
          <p:cNvPr id="26" name="Text 15"/>
          <p:cNvSpPr txBox="1"/>
          <p:nvPr/>
        </p:nvSpPr>
        <p:spPr>
          <a:xfrm>
            <a:off x="4640580" y="14097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C89012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ϕ</a:t>
            </a:r>
            <a:endParaRPr lang="en-US" sz="2800" dirty="0"/>
          </a:p>
        </p:txBody>
      </p:sp>
      <p:sp>
        <p:nvSpPr>
          <p:cNvPr id="27" name="Shape 16"/>
          <p:cNvSpPr/>
          <p:nvPr/>
        </p:nvSpPr>
        <p:spPr>
          <a:xfrm>
            <a:off x="9616440" y="1402080"/>
            <a:ext cx="495300" cy="502920"/>
          </a:xfrm>
          <a:prstGeom prst="rect">
            <a:avLst/>
          </a:prstGeom>
          <a:solidFill>
            <a:srgbClr val="FFFFFF"/>
          </a:solidFill>
          <a:ln w="38100">
            <a:solidFill>
              <a:srgbClr val="7D4108"/>
            </a:solidFill>
            <a:prstDash val="solid"/>
          </a:ln>
        </p:spPr>
      </p:sp>
      <p:sp>
        <p:nvSpPr>
          <p:cNvPr id="28" name="Text 17"/>
          <p:cNvSpPr txBox="1"/>
          <p:nvPr/>
        </p:nvSpPr>
        <p:spPr>
          <a:xfrm>
            <a:off x="9616440" y="1409700"/>
            <a:ext cx="495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D4108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ϕ</a:t>
            </a:r>
            <a:endParaRPr lang="en-US" sz="2800" dirty="0"/>
          </a:p>
        </p:txBody>
      </p:sp>
      <p:sp>
        <p:nvSpPr>
          <p:cNvPr id="29" name="Shape 18"/>
          <p:cNvSpPr/>
          <p:nvPr/>
        </p:nvSpPr>
        <p:spPr>
          <a:xfrm>
            <a:off x="5189220" y="7132320"/>
            <a:ext cx="0" cy="-2804160"/>
          </a:xfrm>
          <a:prstGeom prst="line">
            <a:avLst/>
          </a:prstGeom>
          <a:noFill/>
          <a:ln w="50800">
            <a:solidFill>
              <a:srgbClr val="C89012"/>
            </a:solidFill>
            <a:prstDash val="solid"/>
            <a:headEnd type="none"/>
            <a:tailEnd type="none"/>
          </a:ln>
        </p:spPr>
      </p:sp>
      <p:sp>
        <p:nvSpPr>
          <p:cNvPr id="30" name="Shape 19"/>
          <p:cNvSpPr/>
          <p:nvPr/>
        </p:nvSpPr>
        <p:spPr>
          <a:xfrm>
            <a:off x="4175760" y="4328160"/>
            <a:ext cx="1013460" cy="0"/>
          </a:xfrm>
          <a:prstGeom prst="line">
            <a:avLst/>
          </a:prstGeom>
          <a:noFill/>
          <a:ln w="50800">
            <a:solidFill>
              <a:srgbClr val="C89012"/>
            </a:solidFill>
            <a:prstDash val="solid"/>
            <a:headEnd type="triangle"/>
            <a:tailEnd type="none"/>
          </a:ln>
        </p:spPr>
      </p:sp>
      <p:sp>
        <p:nvSpPr>
          <p:cNvPr id="31" name="Shape 20"/>
          <p:cNvSpPr/>
          <p:nvPr/>
        </p:nvSpPr>
        <p:spPr>
          <a:xfrm>
            <a:off x="5189220" y="7132320"/>
            <a:ext cx="190500" cy="0"/>
          </a:xfrm>
          <a:prstGeom prst="line">
            <a:avLst/>
          </a:prstGeom>
          <a:noFill/>
          <a:ln w="50800">
            <a:solidFill>
              <a:srgbClr val="C89012"/>
            </a:solidFill>
            <a:prstDash val="solid"/>
            <a:headEnd type="none"/>
            <a:tailEnd type="none"/>
          </a:ln>
        </p:spPr>
      </p:sp>
      <p:sp>
        <p:nvSpPr>
          <p:cNvPr id="32" name="Shape 21"/>
          <p:cNvSpPr/>
          <p:nvPr/>
        </p:nvSpPr>
        <p:spPr>
          <a:xfrm>
            <a:off x="10180320" y="7498080"/>
            <a:ext cx="0" cy="-3230880"/>
          </a:xfrm>
          <a:prstGeom prst="line">
            <a:avLst/>
          </a:prstGeom>
          <a:noFill/>
          <a:ln w="50800">
            <a:solidFill>
              <a:srgbClr val="7D4108"/>
            </a:solidFill>
            <a:prstDash val="solid"/>
            <a:headEnd type="none"/>
            <a:tailEnd type="none"/>
          </a:ln>
        </p:spPr>
      </p:sp>
      <p:sp>
        <p:nvSpPr>
          <p:cNvPr id="33" name="Shape 22"/>
          <p:cNvSpPr/>
          <p:nvPr/>
        </p:nvSpPr>
        <p:spPr>
          <a:xfrm>
            <a:off x="9220200" y="4267200"/>
            <a:ext cx="960120" cy="0"/>
          </a:xfrm>
          <a:prstGeom prst="line">
            <a:avLst/>
          </a:prstGeom>
          <a:noFill/>
          <a:ln w="50800">
            <a:solidFill>
              <a:srgbClr val="7D4108"/>
            </a:solidFill>
            <a:prstDash val="solid"/>
            <a:headEnd type="triangle"/>
            <a:tailEnd type="none"/>
          </a:ln>
        </p:spPr>
      </p:sp>
      <p:sp>
        <p:nvSpPr>
          <p:cNvPr id="34" name="Shape 23"/>
          <p:cNvSpPr/>
          <p:nvPr/>
        </p:nvSpPr>
        <p:spPr>
          <a:xfrm>
            <a:off x="10180320" y="7498080"/>
            <a:ext cx="182880" cy="0"/>
          </a:xfrm>
          <a:prstGeom prst="line">
            <a:avLst/>
          </a:prstGeom>
          <a:noFill/>
          <a:ln w="50800">
            <a:solidFill>
              <a:srgbClr val="7D4108"/>
            </a:solidFill>
            <a:prstDash val="solid"/>
            <a:headEnd type="none"/>
            <a:tailEnd type="none"/>
          </a:ln>
        </p:spPr>
      </p:sp>
      <p:sp>
        <p:nvSpPr>
          <p:cNvPr id="35" name="Shape 24"/>
          <p:cNvSpPr/>
          <p:nvPr/>
        </p:nvSpPr>
        <p:spPr>
          <a:xfrm>
            <a:off x="4930140" y="5951220"/>
            <a:ext cx="495300" cy="502920"/>
          </a:xfrm>
          <a:prstGeom prst="rect">
            <a:avLst/>
          </a:prstGeom>
          <a:solidFill>
            <a:srgbClr val="FFFFFF"/>
          </a:solidFill>
          <a:ln w="38100">
            <a:solidFill>
              <a:srgbClr val="C89012"/>
            </a:solidFill>
            <a:prstDash val="solid"/>
          </a:ln>
        </p:spPr>
      </p:sp>
      <p:sp>
        <p:nvSpPr>
          <p:cNvPr id="36" name="Text 25"/>
          <p:cNvSpPr txBox="1"/>
          <p:nvPr/>
        </p:nvSpPr>
        <p:spPr>
          <a:xfrm>
            <a:off x="4930140" y="5958840"/>
            <a:ext cx="49530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C89012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ψ</a:t>
            </a:r>
            <a:endParaRPr lang="en-US" sz="2800" dirty="0"/>
          </a:p>
        </p:txBody>
      </p:sp>
      <p:sp>
        <p:nvSpPr>
          <p:cNvPr id="37" name="Shape 26"/>
          <p:cNvSpPr/>
          <p:nvPr/>
        </p:nvSpPr>
        <p:spPr>
          <a:xfrm>
            <a:off x="9936480" y="6225540"/>
            <a:ext cx="495300" cy="510540"/>
          </a:xfrm>
          <a:prstGeom prst="rect">
            <a:avLst/>
          </a:prstGeom>
          <a:solidFill>
            <a:srgbClr val="FFFFFF"/>
          </a:solidFill>
          <a:ln w="38100">
            <a:solidFill>
              <a:srgbClr val="7D4108"/>
            </a:solidFill>
            <a:prstDash val="solid"/>
          </a:ln>
        </p:spPr>
      </p:sp>
      <p:sp>
        <p:nvSpPr>
          <p:cNvPr id="38" name="Text 27"/>
          <p:cNvSpPr txBox="1"/>
          <p:nvPr/>
        </p:nvSpPr>
        <p:spPr>
          <a:xfrm>
            <a:off x="9936480" y="6233160"/>
            <a:ext cx="495300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7D4108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ψ</a:t>
            </a:r>
            <a:endParaRPr lang="en-US" sz="2800" dirty="0"/>
          </a:p>
        </p:txBody>
      </p:sp>
      <p:sp>
        <p:nvSpPr>
          <p:cNvPr id="39" name="Text 28"/>
          <p:cNvSpPr txBox="1"/>
          <p:nvPr/>
        </p:nvSpPr>
        <p:spPr>
          <a:xfrm>
            <a:off x="106680" y="167640"/>
            <a:ext cx="46863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7070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Task:   “Thaw the steak in the microwave”</a:t>
            </a:r>
            <a:endParaRPr lang="en-US" sz="1800" dirty="0"/>
          </a:p>
        </p:txBody>
      </p:sp>
      <p:sp>
        <p:nvSpPr>
          <p:cNvPr id="40" name="Text 29"/>
          <p:cNvSpPr txBox="1"/>
          <p:nvPr/>
        </p:nvSpPr>
        <p:spPr>
          <a:xfrm>
            <a:off x="426720" y="1409700"/>
            <a:ext cx="65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70707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[o₀]</a:t>
            </a:r>
            <a:endParaRPr lang="en-US" sz="2200" dirty="0"/>
          </a:p>
        </p:txBody>
      </p:sp>
      <p:sp>
        <p:nvSpPr>
          <p:cNvPr id="41" name="Text 30"/>
          <p:cNvSpPr txBox="1"/>
          <p:nvPr/>
        </p:nvSpPr>
        <p:spPr>
          <a:xfrm>
            <a:off x="106680" y="2667000"/>
            <a:ext cx="4686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7070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 gripper is in front of microwave...</a:t>
            </a:r>
            <a:endParaRPr lang="en-US" sz="1800" dirty="0"/>
          </a:p>
        </p:txBody>
      </p:sp>
      <p:sp>
        <p:nvSpPr>
          <p:cNvPr id="42" name="Text 31"/>
          <p:cNvSpPr txBox="1"/>
          <p:nvPr/>
        </p:nvSpPr>
        <p:spPr>
          <a:xfrm>
            <a:off x="106680" y="2926080"/>
            <a:ext cx="4648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dirty="0">
                <a:solidFill>
                  <a:srgbClr val="C890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 robot needs to: </a:t>
            </a:r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C890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“Open microwave door”</a:t>
            </a:r>
            <a:endParaRPr lang="en-US" sz="1740" dirty="0"/>
          </a:p>
        </p:txBody>
      </p:sp>
      <p:sp>
        <p:nvSpPr>
          <p:cNvPr id="43" name="Text 32"/>
          <p:cNvSpPr txBox="1"/>
          <p:nvPr/>
        </p:nvSpPr>
        <p:spPr>
          <a:xfrm>
            <a:off x="365760" y="4076700"/>
            <a:ext cx="65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70707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[o₁₄]</a:t>
            </a:r>
            <a:endParaRPr lang="en-US" sz="2200" dirty="0"/>
          </a:p>
        </p:txBody>
      </p:sp>
      <p:sp>
        <p:nvSpPr>
          <p:cNvPr id="44" name="Text 33"/>
          <p:cNvSpPr txBox="1"/>
          <p:nvPr/>
        </p:nvSpPr>
        <p:spPr>
          <a:xfrm>
            <a:off x="106680" y="5356860"/>
            <a:ext cx="46863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0" dirty="0">
                <a:solidFill>
                  <a:srgbClr val="7070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 robot opened the microwave door.</a:t>
            </a:r>
            <a:endParaRPr lang="en-US" sz="1720" dirty="0"/>
          </a:p>
        </p:txBody>
      </p:sp>
      <p:sp>
        <p:nvSpPr>
          <p:cNvPr id="45" name="Text 34"/>
          <p:cNvSpPr txBox="1"/>
          <p:nvPr/>
        </p:nvSpPr>
        <p:spPr>
          <a:xfrm>
            <a:off x="106680" y="5623560"/>
            <a:ext cx="46863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C890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 robot needs to: </a:t>
            </a:r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C890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“Put steak in microwave”</a:t>
            </a:r>
            <a:endParaRPr lang="en-US" sz="1700" dirty="0"/>
          </a:p>
        </p:txBody>
      </p:sp>
      <p:sp>
        <p:nvSpPr>
          <p:cNvPr id="46" name="Text 35"/>
          <p:cNvSpPr txBox="1"/>
          <p:nvPr/>
        </p:nvSpPr>
        <p:spPr>
          <a:xfrm>
            <a:off x="289560" y="6827520"/>
            <a:ext cx="65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70707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[o₃₁]</a:t>
            </a:r>
            <a:endParaRPr lang="en-US" sz="2200" dirty="0"/>
          </a:p>
        </p:txBody>
      </p:sp>
      <p:sp>
        <p:nvSpPr>
          <p:cNvPr id="47" name="Text 36"/>
          <p:cNvSpPr txBox="1"/>
          <p:nvPr/>
        </p:nvSpPr>
        <p:spPr>
          <a:xfrm>
            <a:off x="106680" y="8039100"/>
            <a:ext cx="46863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7070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 robot put the steak in the microwave.</a:t>
            </a:r>
            <a:endParaRPr lang="en-US" sz="1650" dirty="0"/>
          </a:p>
        </p:txBody>
      </p:sp>
      <p:sp>
        <p:nvSpPr>
          <p:cNvPr id="48" name="Text 37"/>
          <p:cNvSpPr txBox="1"/>
          <p:nvPr/>
        </p:nvSpPr>
        <p:spPr>
          <a:xfrm>
            <a:off x="106680" y="8290560"/>
            <a:ext cx="46863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C890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 robot needs to: </a:t>
            </a:r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C890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“Close microwave door”</a:t>
            </a:r>
            <a:endParaRPr lang="en-US" sz="1650" dirty="0"/>
          </a:p>
        </p:txBody>
      </p:sp>
      <p:sp>
        <p:nvSpPr>
          <p:cNvPr id="49" name="Text 38"/>
          <p:cNvSpPr txBox="1"/>
          <p:nvPr/>
        </p:nvSpPr>
        <p:spPr>
          <a:xfrm>
            <a:off x="1981200" y="865632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7070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•••</a:t>
            </a:r>
            <a:endParaRPr lang="en-US" sz="2000" dirty="0"/>
          </a:p>
        </p:txBody>
      </p:sp>
      <p:sp>
        <p:nvSpPr>
          <p:cNvPr id="50" name="Text 39"/>
          <p:cNvSpPr txBox="1"/>
          <p:nvPr/>
        </p:nvSpPr>
        <p:spPr>
          <a:xfrm>
            <a:off x="1981200" y="886968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70707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•••</a:t>
            </a:r>
            <a:endParaRPr lang="en-US" sz="2000" dirty="0"/>
          </a:p>
        </p:txBody>
      </p:sp>
      <p:sp>
        <p:nvSpPr>
          <p:cNvPr id="51" name="Text 40"/>
          <p:cNvSpPr txBox="1"/>
          <p:nvPr/>
        </p:nvSpPr>
        <p:spPr>
          <a:xfrm>
            <a:off x="5250180" y="175260"/>
            <a:ext cx="44958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C890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Task: </a:t>
            </a:r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C890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“Open microwave door”</a:t>
            </a:r>
            <a:endParaRPr lang="en-US" sz="1800" dirty="0"/>
          </a:p>
        </p:txBody>
      </p:sp>
      <p:sp>
        <p:nvSpPr>
          <p:cNvPr id="52" name="Text 41"/>
          <p:cNvSpPr txBox="1"/>
          <p:nvPr/>
        </p:nvSpPr>
        <p:spPr>
          <a:xfrm>
            <a:off x="5478780" y="1356360"/>
            <a:ext cx="65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C89012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[o₀]</a:t>
            </a:r>
            <a:endParaRPr lang="en-US" sz="2200" dirty="0"/>
          </a:p>
        </p:txBody>
      </p:sp>
      <p:sp>
        <p:nvSpPr>
          <p:cNvPr id="53" name="Text 42"/>
          <p:cNvSpPr txBox="1"/>
          <p:nvPr/>
        </p:nvSpPr>
        <p:spPr>
          <a:xfrm>
            <a:off x="5250180" y="2636520"/>
            <a:ext cx="44958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20" dirty="0">
                <a:solidFill>
                  <a:srgbClr val="C890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 gripper is in front of microwave...</a:t>
            </a:r>
            <a:endParaRPr lang="en-US" sz="1720" dirty="0"/>
          </a:p>
        </p:txBody>
      </p:sp>
      <p:sp>
        <p:nvSpPr>
          <p:cNvPr id="54" name="Text 43"/>
          <p:cNvSpPr txBox="1"/>
          <p:nvPr/>
        </p:nvSpPr>
        <p:spPr>
          <a:xfrm>
            <a:off x="5250180" y="2918460"/>
            <a:ext cx="4495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60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 robot needs to: </a:t>
            </a:r>
            <a:pPr algn="l" indent="0" marL="0">
              <a:lnSpc>
                <a:spcPct val="100000"/>
              </a:lnSpc>
              <a:buNone/>
            </a:pPr>
            <a:r>
              <a:rPr lang="en-US" sz="1660" b="1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“Grasp door handle”</a:t>
            </a:r>
            <a:endParaRPr lang="en-US" sz="1660" dirty="0"/>
          </a:p>
        </p:txBody>
      </p:sp>
      <p:sp>
        <p:nvSpPr>
          <p:cNvPr id="55" name="Text 44"/>
          <p:cNvSpPr txBox="1"/>
          <p:nvPr/>
        </p:nvSpPr>
        <p:spPr>
          <a:xfrm>
            <a:off x="5478780" y="4000500"/>
            <a:ext cx="65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C89012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[o₉]</a:t>
            </a:r>
            <a:endParaRPr lang="en-US" sz="2200" dirty="0"/>
          </a:p>
        </p:txBody>
      </p:sp>
      <p:sp>
        <p:nvSpPr>
          <p:cNvPr id="56" name="Text 45"/>
          <p:cNvSpPr txBox="1"/>
          <p:nvPr/>
        </p:nvSpPr>
        <p:spPr>
          <a:xfrm>
            <a:off x="5250180" y="5234940"/>
            <a:ext cx="44958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C890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 robot fully grasped the door handle.</a:t>
            </a:r>
            <a:endParaRPr lang="en-US" sz="1620" dirty="0"/>
          </a:p>
        </p:txBody>
      </p:sp>
      <p:sp>
        <p:nvSpPr>
          <p:cNvPr id="57" name="Text 46"/>
          <p:cNvSpPr txBox="1"/>
          <p:nvPr/>
        </p:nvSpPr>
        <p:spPr>
          <a:xfrm>
            <a:off x="5250180" y="5524500"/>
            <a:ext cx="4495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 robot needs to: </a:t>
            </a:r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“Pull door open”</a:t>
            </a:r>
            <a:endParaRPr lang="en-US" sz="1620" dirty="0"/>
          </a:p>
        </p:txBody>
      </p:sp>
      <p:sp>
        <p:nvSpPr>
          <p:cNvPr id="58" name="Text 47"/>
          <p:cNvSpPr txBox="1"/>
          <p:nvPr/>
        </p:nvSpPr>
        <p:spPr>
          <a:xfrm>
            <a:off x="5394960" y="6918960"/>
            <a:ext cx="65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C89012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[o₁₄]</a:t>
            </a:r>
            <a:endParaRPr lang="en-US" sz="2200" dirty="0"/>
          </a:p>
        </p:txBody>
      </p:sp>
      <p:sp>
        <p:nvSpPr>
          <p:cNvPr id="59" name="Text 48"/>
          <p:cNvSpPr txBox="1"/>
          <p:nvPr/>
        </p:nvSpPr>
        <p:spPr>
          <a:xfrm>
            <a:off x="5250180" y="8046720"/>
            <a:ext cx="44958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C890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 robot opened the microwave door.</a:t>
            </a:r>
            <a:endParaRPr lang="en-US" sz="1620" dirty="0"/>
          </a:p>
        </p:txBody>
      </p:sp>
      <p:sp>
        <p:nvSpPr>
          <p:cNvPr id="60" name="Text 49"/>
          <p:cNvSpPr txBox="1"/>
          <p:nvPr/>
        </p:nvSpPr>
        <p:spPr>
          <a:xfrm>
            <a:off x="5250180" y="8275320"/>
            <a:ext cx="44958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C89012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Task is complete.</a:t>
            </a:r>
            <a:endParaRPr lang="en-US" sz="1620" dirty="0"/>
          </a:p>
        </p:txBody>
      </p:sp>
      <p:sp>
        <p:nvSpPr>
          <p:cNvPr id="61" name="Text 50"/>
          <p:cNvSpPr txBox="1"/>
          <p:nvPr/>
        </p:nvSpPr>
        <p:spPr>
          <a:xfrm>
            <a:off x="10271760" y="160020"/>
            <a:ext cx="43053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Task: </a:t>
            </a:r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“Grasp door handle”</a:t>
            </a:r>
            <a:endParaRPr lang="en-US" sz="1800" dirty="0"/>
          </a:p>
        </p:txBody>
      </p:sp>
      <p:sp>
        <p:nvSpPr>
          <p:cNvPr id="62" name="Text 51"/>
          <p:cNvSpPr txBox="1"/>
          <p:nvPr/>
        </p:nvSpPr>
        <p:spPr>
          <a:xfrm>
            <a:off x="10416540" y="1295400"/>
            <a:ext cx="65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7D4108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[o₀]</a:t>
            </a:r>
            <a:endParaRPr lang="en-US" sz="2200" dirty="0"/>
          </a:p>
        </p:txBody>
      </p:sp>
      <p:sp>
        <p:nvSpPr>
          <p:cNvPr id="63" name="Text 52"/>
          <p:cNvSpPr txBox="1"/>
          <p:nvPr/>
        </p:nvSpPr>
        <p:spPr>
          <a:xfrm>
            <a:off x="10271760" y="2567940"/>
            <a:ext cx="43053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 gripper is in front of microwave...</a:t>
            </a:r>
            <a:endParaRPr lang="en-US" sz="1620" dirty="0"/>
          </a:p>
        </p:txBody>
      </p:sp>
      <p:sp>
        <p:nvSpPr>
          <p:cNvPr id="64" name="Text 53"/>
          <p:cNvSpPr txBox="1"/>
          <p:nvPr/>
        </p:nvSpPr>
        <p:spPr>
          <a:xfrm>
            <a:off x="10271760" y="2804160"/>
            <a:ext cx="43053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Task progress: </a:t>
            </a:r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0%</a:t>
            </a:r>
            <a:endParaRPr lang="en-US" sz="1620" dirty="0"/>
          </a:p>
        </p:txBody>
      </p:sp>
      <p:sp>
        <p:nvSpPr>
          <p:cNvPr id="65" name="Text 54"/>
          <p:cNvSpPr txBox="1"/>
          <p:nvPr/>
        </p:nvSpPr>
        <p:spPr>
          <a:xfrm>
            <a:off x="10416540" y="3954780"/>
            <a:ext cx="65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7D4108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[o₁]</a:t>
            </a:r>
            <a:endParaRPr lang="en-US" sz="2200" dirty="0"/>
          </a:p>
        </p:txBody>
      </p:sp>
      <p:sp>
        <p:nvSpPr>
          <p:cNvPr id="66" name="Text 55"/>
          <p:cNvSpPr txBox="1"/>
          <p:nvPr/>
        </p:nvSpPr>
        <p:spPr>
          <a:xfrm>
            <a:off x="10271760" y="5242560"/>
            <a:ext cx="43053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 gripper moved closer to the door...</a:t>
            </a:r>
            <a:endParaRPr lang="en-US" sz="1620" dirty="0"/>
          </a:p>
        </p:txBody>
      </p:sp>
      <p:sp>
        <p:nvSpPr>
          <p:cNvPr id="67" name="Text 56"/>
          <p:cNvSpPr txBox="1"/>
          <p:nvPr/>
        </p:nvSpPr>
        <p:spPr>
          <a:xfrm>
            <a:off x="10271760" y="5478780"/>
            <a:ext cx="43053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Task progress: </a:t>
            </a:r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40%</a:t>
            </a:r>
            <a:endParaRPr lang="en-US" sz="1620" dirty="0"/>
          </a:p>
        </p:txBody>
      </p:sp>
      <p:sp>
        <p:nvSpPr>
          <p:cNvPr id="68" name="Text 57"/>
          <p:cNvSpPr txBox="1"/>
          <p:nvPr/>
        </p:nvSpPr>
        <p:spPr>
          <a:xfrm>
            <a:off x="12291060" y="5806440"/>
            <a:ext cx="609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•••</a:t>
            </a:r>
            <a:endParaRPr lang="en-US" sz="2000" dirty="0"/>
          </a:p>
        </p:txBody>
      </p:sp>
      <p:sp>
        <p:nvSpPr>
          <p:cNvPr id="69" name="Text 58"/>
          <p:cNvSpPr txBox="1"/>
          <p:nvPr/>
        </p:nvSpPr>
        <p:spPr>
          <a:xfrm>
            <a:off x="12291060" y="6057900"/>
            <a:ext cx="609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•••</a:t>
            </a:r>
            <a:endParaRPr lang="en-US" sz="2000" dirty="0"/>
          </a:p>
        </p:txBody>
      </p:sp>
      <p:sp>
        <p:nvSpPr>
          <p:cNvPr id="70" name="Text 59"/>
          <p:cNvSpPr txBox="1"/>
          <p:nvPr/>
        </p:nvSpPr>
        <p:spPr>
          <a:xfrm>
            <a:off x="10439400" y="7292340"/>
            <a:ext cx="655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i="1" dirty="0">
                <a:solidFill>
                  <a:srgbClr val="7D4108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[o₉]</a:t>
            </a:r>
            <a:endParaRPr lang="en-US" sz="2200" dirty="0"/>
          </a:p>
        </p:txBody>
      </p:sp>
      <p:sp>
        <p:nvSpPr>
          <p:cNvPr id="71" name="Text 60"/>
          <p:cNvSpPr txBox="1"/>
          <p:nvPr/>
        </p:nvSpPr>
        <p:spPr>
          <a:xfrm>
            <a:off x="10271760" y="8488680"/>
            <a:ext cx="43053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The robot fully grasped the door...</a:t>
            </a:r>
            <a:endParaRPr lang="en-US" sz="1620" dirty="0"/>
          </a:p>
        </p:txBody>
      </p:sp>
      <p:sp>
        <p:nvSpPr>
          <p:cNvPr id="72" name="Text 61"/>
          <p:cNvSpPr txBox="1"/>
          <p:nvPr/>
        </p:nvSpPr>
        <p:spPr>
          <a:xfrm>
            <a:off x="10271760" y="8717280"/>
            <a:ext cx="4305300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Task progress: </a:t>
            </a:r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100%</a:t>
            </a:r>
            <a:endParaRPr lang="en-US" sz="1620" dirty="0"/>
          </a:p>
        </p:txBody>
      </p:sp>
      <p:sp>
        <p:nvSpPr>
          <p:cNvPr id="73" name="Text 62"/>
          <p:cNvSpPr txBox="1"/>
          <p:nvPr/>
        </p:nvSpPr>
        <p:spPr>
          <a:xfrm>
            <a:off x="10271760" y="8938260"/>
            <a:ext cx="4305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7D410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Task is complete.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ROVER Recursive Reasoning Over Videos with Vision-Language Models for Embodied Task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98980" cy="91363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 Mon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ROVER Recursive Reasoning Over Videos</dc:title>
  <dc:subject>Editable recreation of ROVER recursive reasoning diagram</dc:subject>
  <dc:creator>OpenAI</dc:creator>
  <cp:lastModifiedBy>OpenAI</cp:lastModifiedBy>
  <cp:revision>1</cp:revision>
  <dcterms:created xsi:type="dcterms:W3CDTF">2026-09-07T14:01:46Z</dcterms:created>
  <dcterms:modified xsi:type="dcterms:W3CDTF">2026-09-07T14:01:46Z</dcterms:modified>
</cp:coreProperties>
</file>