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-2.jpg" ContentType="image/jpg"/>
  <Override PartName="/ppt/media/image-1-3.jpg" ContentType="image/jpg"/>
  <Override PartName="/ppt/media/image-1-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4198803" cy="7271309"/>
  <p:notesSz cx="7271309" cy="1419880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E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6903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6903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043" y="204826"/>
            <a:ext cx="7278624" cy="4747565"/>
          </a:xfrm>
          <a:prstGeom prst="rect">
            <a:avLst/>
          </a:prstGeom>
          <a:solidFill>
            <a:srgbClr val="FFF8FD"/>
          </a:solidFill>
          <a:ln w="12700">
            <a:solidFill>
              <a:srgbClr val="FFF8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7043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17043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6499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36499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55955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55955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75411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5411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94867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94867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214323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14323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33779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433779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653235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653235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872691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872691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092147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092147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311603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311603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531059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531059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750515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750515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2969971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969971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189427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3189427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408883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408883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628339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3628339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847795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3847795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4067251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067251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4286707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4286707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4506163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506163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4725619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4725619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4945075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4945075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5164531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5164531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5383987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5383987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5603443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5603443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5822899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5822899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6042355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6042355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261811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6261811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6481267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6481267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3" name="Shape 61"/>
          <p:cNvSpPr/>
          <p:nvPr/>
        </p:nvSpPr>
        <p:spPr>
          <a:xfrm>
            <a:off x="6700723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6700723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6920179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6920179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7139635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7139635" y="4952390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7359091" y="204826"/>
            <a:ext cx="36576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7359091" y="4952390"/>
            <a:ext cx="36576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117043" y="20482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7395667" y="20482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117043" y="42428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7395667" y="42428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117043" y="64373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395667" y="64373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117043" y="86319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7395667" y="86319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117043" y="108265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7395667" y="108265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117043" y="130210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7395667" y="130210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117043" y="152156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7395667" y="152156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117043" y="174101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7395667" y="174101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117043" y="196047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7395667" y="196047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117043" y="217993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7395667" y="217993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1" name="Shape 89"/>
          <p:cNvSpPr/>
          <p:nvPr/>
        </p:nvSpPr>
        <p:spPr>
          <a:xfrm>
            <a:off x="117043" y="239938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7395667" y="239938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117043" y="261884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7395667" y="261884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117043" y="283829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7395667" y="283829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7" name="Shape 95"/>
          <p:cNvSpPr/>
          <p:nvPr/>
        </p:nvSpPr>
        <p:spPr>
          <a:xfrm>
            <a:off x="117043" y="305775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7395667" y="305775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117043" y="327721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7395667" y="327721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117043" y="349666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7395667" y="349666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117043" y="371612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7395667" y="371612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117043" y="393557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7395667" y="393557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17043" y="415503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7395667" y="415503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117043" y="437449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7395667" y="437449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117043" y="459394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7395667" y="459394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117043" y="481340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7395667" y="481340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117043" y="5127955"/>
            <a:ext cx="7278624" cy="2121408"/>
          </a:xfrm>
          <a:prstGeom prst="rect">
            <a:avLst/>
          </a:prstGeom>
          <a:solidFill>
            <a:srgbClr val="EDFAF6"/>
          </a:solidFill>
          <a:ln w="12700">
            <a:solidFill>
              <a:srgbClr val="EDFAF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17043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117043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336499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336499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555955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555955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775411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775411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994867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994867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1214323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1214323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1433779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1433779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1653235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1653235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2" name="Shape 130"/>
          <p:cNvSpPr/>
          <p:nvPr/>
        </p:nvSpPr>
        <p:spPr>
          <a:xfrm>
            <a:off x="1872691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1872691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2092147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2092147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2311603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2311603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2531059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39" name="Shape 137"/>
          <p:cNvSpPr/>
          <p:nvPr/>
        </p:nvSpPr>
        <p:spPr>
          <a:xfrm>
            <a:off x="2531059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0" name="Shape 138"/>
          <p:cNvSpPr/>
          <p:nvPr/>
        </p:nvSpPr>
        <p:spPr>
          <a:xfrm>
            <a:off x="2750515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2750515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2969971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2969971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4" name="Shape 142"/>
          <p:cNvSpPr/>
          <p:nvPr/>
        </p:nvSpPr>
        <p:spPr>
          <a:xfrm>
            <a:off x="3189427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3189427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3408883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3408883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8" name="Shape 146"/>
          <p:cNvSpPr/>
          <p:nvPr/>
        </p:nvSpPr>
        <p:spPr>
          <a:xfrm>
            <a:off x="3628339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49" name="Shape 147"/>
          <p:cNvSpPr/>
          <p:nvPr/>
        </p:nvSpPr>
        <p:spPr>
          <a:xfrm>
            <a:off x="3628339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0" name="Shape 148"/>
          <p:cNvSpPr/>
          <p:nvPr/>
        </p:nvSpPr>
        <p:spPr>
          <a:xfrm>
            <a:off x="3847795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1" name="Shape 149"/>
          <p:cNvSpPr/>
          <p:nvPr/>
        </p:nvSpPr>
        <p:spPr>
          <a:xfrm>
            <a:off x="3847795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2" name="Shape 150"/>
          <p:cNvSpPr/>
          <p:nvPr/>
        </p:nvSpPr>
        <p:spPr>
          <a:xfrm>
            <a:off x="4067251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3" name="Shape 151"/>
          <p:cNvSpPr/>
          <p:nvPr/>
        </p:nvSpPr>
        <p:spPr>
          <a:xfrm>
            <a:off x="4067251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4" name="Shape 152"/>
          <p:cNvSpPr/>
          <p:nvPr/>
        </p:nvSpPr>
        <p:spPr>
          <a:xfrm>
            <a:off x="4286707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5" name="Shape 153"/>
          <p:cNvSpPr/>
          <p:nvPr/>
        </p:nvSpPr>
        <p:spPr>
          <a:xfrm>
            <a:off x="4286707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6" name="Shape 154"/>
          <p:cNvSpPr/>
          <p:nvPr/>
        </p:nvSpPr>
        <p:spPr>
          <a:xfrm>
            <a:off x="4506163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7" name="Shape 155"/>
          <p:cNvSpPr/>
          <p:nvPr/>
        </p:nvSpPr>
        <p:spPr>
          <a:xfrm>
            <a:off x="4506163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8" name="Shape 156"/>
          <p:cNvSpPr/>
          <p:nvPr/>
        </p:nvSpPr>
        <p:spPr>
          <a:xfrm>
            <a:off x="4725619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59" name="Shape 157"/>
          <p:cNvSpPr/>
          <p:nvPr/>
        </p:nvSpPr>
        <p:spPr>
          <a:xfrm>
            <a:off x="4725619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0" name="Shape 158"/>
          <p:cNvSpPr/>
          <p:nvPr/>
        </p:nvSpPr>
        <p:spPr>
          <a:xfrm>
            <a:off x="4945075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1" name="Shape 159"/>
          <p:cNvSpPr/>
          <p:nvPr/>
        </p:nvSpPr>
        <p:spPr>
          <a:xfrm>
            <a:off x="4945075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2" name="Shape 160"/>
          <p:cNvSpPr/>
          <p:nvPr/>
        </p:nvSpPr>
        <p:spPr>
          <a:xfrm>
            <a:off x="5164531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3" name="Shape 161"/>
          <p:cNvSpPr/>
          <p:nvPr/>
        </p:nvSpPr>
        <p:spPr>
          <a:xfrm>
            <a:off x="5164531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4" name="Shape 162"/>
          <p:cNvSpPr/>
          <p:nvPr/>
        </p:nvSpPr>
        <p:spPr>
          <a:xfrm>
            <a:off x="5383987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5383987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5603443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5603443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8" name="Shape 166"/>
          <p:cNvSpPr/>
          <p:nvPr/>
        </p:nvSpPr>
        <p:spPr>
          <a:xfrm>
            <a:off x="5822899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5822899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0" name="Shape 168"/>
          <p:cNvSpPr/>
          <p:nvPr/>
        </p:nvSpPr>
        <p:spPr>
          <a:xfrm>
            <a:off x="6042355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1" name="Shape 169"/>
          <p:cNvSpPr/>
          <p:nvPr/>
        </p:nvSpPr>
        <p:spPr>
          <a:xfrm>
            <a:off x="6042355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2" name="Shape 170"/>
          <p:cNvSpPr/>
          <p:nvPr/>
        </p:nvSpPr>
        <p:spPr>
          <a:xfrm>
            <a:off x="6261811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3" name="Shape 171"/>
          <p:cNvSpPr/>
          <p:nvPr/>
        </p:nvSpPr>
        <p:spPr>
          <a:xfrm>
            <a:off x="6261811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4" name="Shape 172"/>
          <p:cNvSpPr/>
          <p:nvPr/>
        </p:nvSpPr>
        <p:spPr>
          <a:xfrm>
            <a:off x="6481267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5" name="Shape 173"/>
          <p:cNvSpPr/>
          <p:nvPr/>
        </p:nvSpPr>
        <p:spPr>
          <a:xfrm>
            <a:off x="6481267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6" name="Shape 174"/>
          <p:cNvSpPr/>
          <p:nvPr/>
        </p:nvSpPr>
        <p:spPr>
          <a:xfrm>
            <a:off x="6700723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6700723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8" name="Shape 176"/>
          <p:cNvSpPr/>
          <p:nvPr/>
        </p:nvSpPr>
        <p:spPr>
          <a:xfrm>
            <a:off x="6920179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6920179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7139635" y="5127955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1" name="Shape 179"/>
          <p:cNvSpPr/>
          <p:nvPr/>
        </p:nvSpPr>
        <p:spPr>
          <a:xfrm>
            <a:off x="7139635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2" name="Shape 180"/>
          <p:cNvSpPr/>
          <p:nvPr/>
        </p:nvSpPr>
        <p:spPr>
          <a:xfrm>
            <a:off x="7359091" y="5127955"/>
            <a:ext cx="36576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3" name="Shape 181"/>
          <p:cNvSpPr/>
          <p:nvPr/>
        </p:nvSpPr>
        <p:spPr>
          <a:xfrm>
            <a:off x="7359091" y="7249363"/>
            <a:ext cx="36576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4" name="Shape 182"/>
          <p:cNvSpPr/>
          <p:nvPr/>
        </p:nvSpPr>
        <p:spPr>
          <a:xfrm>
            <a:off x="117043" y="5127955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5" name="Shape 183"/>
          <p:cNvSpPr/>
          <p:nvPr/>
        </p:nvSpPr>
        <p:spPr>
          <a:xfrm>
            <a:off x="7395667" y="5127955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6" name="Shape 184"/>
          <p:cNvSpPr/>
          <p:nvPr/>
        </p:nvSpPr>
        <p:spPr>
          <a:xfrm>
            <a:off x="117043" y="5347411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7" name="Shape 185"/>
          <p:cNvSpPr/>
          <p:nvPr/>
        </p:nvSpPr>
        <p:spPr>
          <a:xfrm>
            <a:off x="7395667" y="5347411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8" name="Shape 186"/>
          <p:cNvSpPr/>
          <p:nvPr/>
        </p:nvSpPr>
        <p:spPr>
          <a:xfrm>
            <a:off x="117043" y="5566867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89" name="Shape 187"/>
          <p:cNvSpPr/>
          <p:nvPr/>
        </p:nvSpPr>
        <p:spPr>
          <a:xfrm>
            <a:off x="7395667" y="5566867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0" name="Shape 188"/>
          <p:cNvSpPr/>
          <p:nvPr/>
        </p:nvSpPr>
        <p:spPr>
          <a:xfrm>
            <a:off x="117043" y="5786323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1" name="Shape 189"/>
          <p:cNvSpPr/>
          <p:nvPr/>
        </p:nvSpPr>
        <p:spPr>
          <a:xfrm>
            <a:off x="7395667" y="5786323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2" name="Shape 190"/>
          <p:cNvSpPr/>
          <p:nvPr/>
        </p:nvSpPr>
        <p:spPr>
          <a:xfrm>
            <a:off x="117043" y="6005779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3" name="Shape 191"/>
          <p:cNvSpPr/>
          <p:nvPr/>
        </p:nvSpPr>
        <p:spPr>
          <a:xfrm>
            <a:off x="7395667" y="6005779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4" name="Shape 192"/>
          <p:cNvSpPr/>
          <p:nvPr/>
        </p:nvSpPr>
        <p:spPr>
          <a:xfrm>
            <a:off x="117043" y="6225235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5" name="Shape 193"/>
          <p:cNvSpPr/>
          <p:nvPr/>
        </p:nvSpPr>
        <p:spPr>
          <a:xfrm>
            <a:off x="7395667" y="6225235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6" name="Shape 194"/>
          <p:cNvSpPr/>
          <p:nvPr/>
        </p:nvSpPr>
        <p:spPr>
          <a:xfrm>
            <a:off x="117043" y="6444691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7" name="Shape 195"/>
          <p:cNvSpPr/>
          <p:nvPr/>
        </p:nvSpPr>
        <p:spPr>
          <a:xfrm>
            <a:off x="7395667" y="6444691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8" name="Shape 196"/>
          <p:cNvSpPr/>
          <p:nvPr/>
        </p:nvSpPr>
        <p:spPr>
          <a:xfrm>
            <a:off x="117043" y="6664147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199" name="Shape 197"/>
          <p:cNvSpPr/>
          <p:nvPr/>
        </p:nvSpPr>
        <p:spPr>
          <a:xfrm>
            <a:off x="7395667" y="6664147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0" name="Shape 198"/>
          <p:cNvSpPr/>
          <p:nvPr/>
        </p:nvSpPr>
        <p:spPr>
          <a:xfrm>
            <a:off x="117043" y="6883603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1" name="Shape 199"/>
          <p:cNvSpPr/>
          <p:nvPr/>
        </p:nvSpPr>
        <p:spPr>
          <a:xfrm>
            <a:off x="7395667" y="6883603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2" name="Shape 200"/>
          <p:cNvSpPr/>
          <p:nvPr/>
        </p:nvSpPr>
        <p:spPr>
          <a:xfrm>
            <a:off x="117043" y="7103059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3" name="Shape 201"/>
          <p:cNvSpPr/>
          <p:nvPr/>
        </p:nvSpPr>
        <p:spPr>
          <a:xfrm>
            <a:off x="7395667" y="7103059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4" name="Shape 202"/>
          <p:cNvSpPr/>
          <p:nvPr/>
        </p:nvSpPr>
        <p:spPr>
          <a:xfrm>
            <a:off x="7520026" y="204826"/>
            <a:ext cx="6612941" cy="7044538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520026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6" name="Shape 204"/>
          <p:cNvSpPr/>
          <p:nvPr/>
        </p:nvSpPr>
        <p:spPr>
          <a:xfrm>
            <a:off x="7520026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7" name="Shape 205"/>
          <p:cNvSpPr/>
          <p:nvPr/>
        </p:nvSpPr>
        <p:spPr>
          <a:xfrm>
            <a:off x="7739482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8" name="Shape 206"/>
          <p:cNvSpPr/>
          <p:nvPr/>
        </p:nvSpPr>
        <p:spPr>
          <a:xfrm>
            <a:off x="7739482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7958938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0" name="Shape 208"/>
          <p:cNvSpPr/>
          <p:nvPr/>
        </p:nvSpPr>
        <p:spPr>
          <a:xfrm>
            <a:off x="7958938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1" name="Shape 209"/>
          <p:cNvSpPr/>
          <p:nvPr/>
        </p:nvSpPr>
        <p:spPr>
          <a:xfrm>
            <a:off x="8178394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2" name="Shape 210"/>
          <p:cNvSpPr/>
          <p:nvPr/>
        </p:nvSpPr>
        <p:spPr>
          <a:xfrm>
            <a:off x="8178394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8397850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4" name="Shape 212"/>
          <p:cNvSpPr/>
          <p:nvPr/>
        </p:nvSpPr>
        <p:spPr>
          <a:xfrm>
            <a:off x="8397850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5" name="Shape 213"/>
          <p:cNvSpPr/>
          <p:nvPr/>
        </p:nvSpPr>
        <p:spPr>
          <a:xfrm>
            <a:off x="8617306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6" name="Shape 214"/>
          <p:cNvSpPr/>
          <p:nvPr/>
        </p:nvSpPr>
        <p:spPr>
          <a:xfrm>
            <a:off x="8617306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8836762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8" name="Shape 216"/>
          <p:cNvSpPr/>
          <p:nvPr/>
        </p:nvSpPr>
        <p:spPr>
          <a:xfrm>
            <a:off x="8836762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19" name="Shape 217"/>
          <p:cNvSpPr/>
          <p:nvPr/>
        </p:nvSpPr>
        <p:spPr>
          <a:xfrm>
            <a:off x="9056218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9056218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1" name="Shape 219"/>
          <p:cNvSpPr/>
          <p:nvPr/>
        </p:nvSpPr>
        <p:spPr>
          <a:xfrm>
            <a:off x="9275674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2" name="Shape 220"/>
          <p:cNvSpPr/>
          <p:nvPr/>
        </p:nvSpPr>
        <p:spPr>
          <a:xfrm>
            <a:off x="9275674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9495130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4" name="Shape 222"/>
          <p:cNvSpPr/>
          <p:nvPr/>
        </p:nvSpPr>
        <p:spPr>
          <a:xfrm>
            <a:off x="9495130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5" name="Shape 223"/>
          <p:cNvSpPr/>
          <p:nvPr/>
        </p:nvSpPr>
        <p:spPr>
          <a:xfrm>
            <a:off x="9714586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6" name="Shape 224"/>
          <p:cNvSpPr/>
          <p:nvPr/>
        </p:nvSpPr>
        <p:spPr>
          <a:xfrm>
            <a:off x="9714586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7" name="Shape 225"/>
          <p:cNvSpPr/>
          <p:nvPr/>
        </p:nvSpPr>
        <p:spPr>
          <a:xfrm>
            <a:off x="9934042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9934042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10153498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0" name="Shape 228"/>
          <p:cNvSpPr/>
          <p:nvPr/>
        </p:nvSpPr>
        <p:spPr>
          <a:xfrm>
            <a:off x="10153498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10372954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2" name="Shape 230"/>
          <p:cNvSpPr/>
          <p:nvPr/>
        </p:nvSpPr>
        <p:spPr>
          <a:xfrm>
            <a:off x="10372954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3" name="Shape 231"/>
          <p:cNvSpPr/>
          <p:nvPr/>
        </p:nvSpPr>
        <p:spPr>
          <a:xfrm>
            <a:off x="10592410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4" name="Shape 232"/>
          <p:cNvSpPr/>
          <p:nvPr/>
        </p:nvSpPr>
        <p:spPr>
          <a:xfrm>
            <a:off x="10592410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5" name="Shape 233"/>
          <p:cNvSpPr/>
          <p:nvPr/>
        </p:nvSpPr>
        <p:spPr>
          <a:xfrm>
            <a:off x="10811866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6" name="Shape 234"/>
          <p:cNvSpPr/>
          <p:nvPr/>
        </p:nvSpPr>
        <p:spPr>
          <a:xfrm>
            <a:off x="10811866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7" name="Shape 235"/>
          <p:cNvSpPr/>
          <p:nvPr/>
        </p:nvSpPr>
        <p:spPr>
          <a:xfrm>
            <a:off x="11031322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8" name="Shape 236"/>
          <p:cNvSpPr/>
          <p:nvPr/>
        </p:nvSpPr>
        <p:spPr>
          <a:xfrm>
            <a:off x="11031322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11250778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0" name="Shape 238"/>
          <p:cNvSpPr/>
          <p:nvPr/>
        </p:nvSpPr>
        <p:spPr>
          <a:xfrm>
            <a:off x="11250778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1" name="Shape 239"/>
          <p:cNvSpPr/>
          <p:nvPr/>
        </p:nvSpPr>
        <p:spPr>
          <a:xfrm>
            <a:off x="11470234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2" name="Shape 240"/>
          <p:cNvSpPr/>
          <p:nvPr/>
        </p:nvSpPr>
        <p:spPr>
          <a:xfrm>
            <a:off x="11470234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3" name="Shape 241"/>
          <p:cNvSpPr/>
          <p:nvPr/>
        </p:nvSpPr>
        <p:spPr>
          <a:xfrm>
            <a:off x="11689690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4" name="Shape 242"/>
          <p:cNvSpPr/>
          <p:nvPr/>
        </p:nvSpPr>
        <p:spPr>
          <a:xfrm>
            <a:off x="11689690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5" name="Shape 243"/>
          <p:cNvSpPr/>
          <p:nvPr/>
        </p:nvSpPr>
        <p:spPr>
          <a:xfrm>
            <a:off x="11909146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6" name="Shape 244"/>
          <p:cNvSpPr/>
          <p:nvPr/>
        </p:nvSpPr>
        <p:spPr>
          <a:xfrm>
            <a:off x="11909146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7" name="Shape 245"/>
          <p:cNvSpPr/>
          <p:nvPr/>
        </p:nvSpPr>
        <p:spPr>
          <a:xfrm>
            <a:off x="12128602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8" name="Shape 246"/>
          <p:cNvSpPr/>
          <p:nvPr/>
        </p:nvSpPr>
        <p:spPr>
          <a:xfrm>
            <a:off x="12128602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49" name="Shape 247"/>
          <p:cNvSpPr/>
          <p:nvPr/>
        </p:nvSpPr>
        <p:spPr>
          <a:xfrm>
            <a:off x="12348058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0" name="Shape 248"/>
          <p:cNvSpPr/>
          <p:nvPr/>
        </p:nvSpPr>
        <p:spPr>
          <a:xfrm>
            <a:off x="12348058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1" name="Shape 249"/>
          <p:cNvSpPr/>
          <p:nvPr/>
        </p:nvSpPr>
        <p:spPr>
          <a:xfrm>
            <a:off x="12567514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12567514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12786970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12786970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13006426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6" name="Shape 254"/>
          <p:cNvSpPr/>
          <p:nvPr/>
        </p:nvSpPr>
        <p:spPr>
          <a:xfrm>
            <a:off x="13006426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7" name="Shape 255"/>
          <p:cNvSpPr/>
          <p:nvPr/>
        </p:nvSpPr>
        <p:spPr>
          <a:xfrm>
            <a:off x="13225882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8" name="Shape 256"/>
          <p:cNvSpPr/>
          <p:nvPr/>
        </p:nvSpPr>
        <p:spPr>
          <a:xfrm>
            <a:off x="13225882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59" name="Shape 257"/>
          <p:cNvSpPr/>
          <p:nvPr/>
        </p:nvSpPr>
        <p:spPr>
          <a:xfrm>
            <a:off x="13445338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0" name="Shape 258"/>
          <p:cNvSpPr/>
          <p:nvPr/>
        </p:nvSpPr>
        <p:spPr>
          <a:xfrm>
            <a:off x="13445338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1" name="Shape 259"/>
          <p:cNvSpPr/>
          <p:nvPr/>
        </p:nvSpPr>
        <p:spPr>
          <a:xfrm>
            <a:off x="13664794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2" name="Shape 260"/>
          <p:cNvSpPr/>
          <p:nvPr/>
        </p:nvSpPr>
        <p:spPr>
          <a:xfrm>
            <a:off x="13664794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3" name="Shape 261"/>
          <p:cNvSpPr/>
          <p:nvPr/>
        </p:nvSpPr>
        <p:spPr>
          <a:xfrm>
            <a:off x="13884250" y="204826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4" name="Shape 262"/>
          <p:cNvSpPr/>
          <p:nvPr/>
        </p:nvSpPr>
        <p:spPr>
          <a:xfrm>
            <a:off x="13884250" y="7249363"/>
            <a:ext cx="138989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5" name="Shape 263"/>
          <p:cNvSpPr/>
          <p:nvPr/>
        </p:nvSpPr>
        <p:spPr>
          <a:xfrm>
            <a:off x="14103706" y="204826"/>
            <a:ext cx="29261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6" name="Shape 264"/>
          <p:cNvSpPr/>
          <p:nvPr/>
        </p:nvSpPr>
        <p:spPr>
          <a:xfrm>
            <a:off x="14103706" y="7249363"/>
            <a:ext cx="29261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7" name="Shape 265"/>
          <p:cNvSpPr/>
          <p:nvPr/>
        </p:nvSpPr>
        <p:spPr>
          <a:xfrm>
            <a:off x="7520026" y="20482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8" name="Shape 266"/>
          <p:cNvSpPr/>
          <p:nvPr/>
        </p:nvSpPr>
        <p:spPr>
          <a:xfrm>
            <a:off x="14132966" y="20482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69" name="Shape 267"/>
          <p:cNvSpPr/>
          <p:nvPr/>
        </p:nvSpPr>
        <p:spPr>
          <a:xfrm>
            <a:off x="7520026" y="42428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0" name="Shape 268"/>
          <p:cNvSpPr/>
          <p:nvPr/>
        </p:nvSpPr>
        <p:spPr>
          <a:xfrm>
            <a:off x="14132966" y="42428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1" name="Shape 269"/>
          <p:cNvSpPr/>
          <p:nvPr/>
        </p:nvSpPr>
        <p:spPr>
          <a:xfrm>
            <a:off x="7520026" y="64373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2" name="Shape 270"/>
          <p:cNvSpPr/>
          <p:nvPr/>
        </p:nvSpPr>
        <p:spPr>
          <a:xfrm>
            <a:off x="14132966" y="64373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3" name="Shape 271"/>
          <p:cNvSpPr/>
          <p:nvPr/>
        </p:nvSpPr>
        <p:spPr>
          <a:xfrm>
            <a:off x="7520026" y="86319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4" name="Shape 272"/>
          <p:cNvSpPr/>
          <p:nvPr/>
        </p:nvSpPr>
        <p:spPr>
          <a:xfrm>
            <a:off x="14132966" y="86319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5" name="Shape 273"/>
          <p:cNvSpPr/>
          <p:nvPr/>
        </p:nvSpPr>
        <p:spPr>
          <a:xfrm>
            <a:off x="7520026" y="108265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6" name="Shape 274"/>
          <p:cNvSpPr/>
          <p:nvPr/>
        </p:nvSpPr>
        <p:spPr>
          <a:xfrm>
            <a:off x="14132966" y="108265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7" name="Shape 275"/>
          <p:cNvSpPr/>
          <p:nvPr/>
        </p:nvSpPr>
        <p:spPr>
          <a:xfrm>
            <a:off x="7520026" y="130210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8" name="Shape 276"/>
          <p:cNvSpPr/>
          <p:nvPr/>
        </p:nvSpPr>
        <p:spPr>
          <a:xfrm>
            <a:off x="14132966" y="130210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79" name="Shape 277"/>
          <p:cNvSpPr/>
          <p:nvPr/>
        </p:nvSpPr>
        <p:spPr>
          <a:xfrm>
            <a:off x="7520026" y="152156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0" name="Shape 278"/>
          <p:cNvSpPr/>
          <p:nvPr/>
        </p:nvSpPr>
        <p:spPr>
          <a:xfrm>
            <a:off x="14132966" y="152156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1" name="Shape 279"/>
          <p:cNvSpPr/>
          <p:nvPr/>
        </p:nvSpPr>
        <p:spPr>
          <a:xfrm>
            <a:off x="7520026" y="174101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2" name="Shape 280"/>
          <p:cNvSpPr/>
          <p:nvPr/>
        </p:nvSpPr>
        <p:spPr>
          <a:xfrm>
            <a:off x="14132966" y="174101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3" name="Shape 281"/>
          <p:cNvSpPr/>
          <p:nvPr/>
        </p:nvSpPr>
        <p:spPr>
          <a:xfrm>
            <a:off x="7520026" y="196047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4" name="Shape 282"/>
          <p:cNvSpPr/>
          <p:nvPr/>
        </p:nvSpPr>
        <p:spPr>
          <a:xfrm>
            <a:off x="14132966" y="196047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5" name="Shape 283"/>
          <p:cNvSpPr/>
          <p:nvPr/>
        </p:nvSpPr>
        <p:spPr>
          <a:xfrm>
            <a:off x="7520026" y="217993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6" name="Shape 284"/>
          <p:cNvSpPr/>
          <p:nvPr/>
        </p:nvSpPr>
        <p:spPr>
          <a:xfrm>
            <a:off x="14132966" y="217993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7" name="Shape 285"/>
          <p:cNvSpPr/>
          <p:nvPr/>
        </p:nvSpPr>
        <p:spPr>
          <a:xfrm>
            <a:off x="7520026" y="239938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8" name="Shape 286"/>
          <p:cNvSpPr/>
          <p:nvPr/>
        </p:nvSpPr>
        <p:spPr>
          <a:xfrm>
            <a:off x="14132966" y="239938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89" name="Shape 287"/>
          <p:cNvSpPr/>
          <p:nvPr/>
        </p:nvSpPr>
        <p:spPr>
          <a:xfrm>
            <a:off x="7520026" y="261884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0" name="Shape 288"/>
          <p:cNvSpPr/>
          <p:nvPr/>
        </p:nvSpPr>
        <p:spPr>
          <a:xfrm>
            <a:off x="14132966" y="261884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1" name="Shape 289"/>
          <p:cNvSpPr/>
          <p:nvPr/>
        </p:nvSpPr>
        <p:spPr>
          <a:xfrm>
            <a:off x="7520026" y="283829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2" name="Shape 290"/>
          <p:cNvSpPr/>
          <p:nvPr/>
        </p:nvSpPr>
        <p:spPr>
          <a:xfrm>
            <a:off x="14132966" y="283829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7520026" y="305775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14132966" y="305775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5" name="Shape 293"/>
          <p:cNvSpPr/>
          <p:nvPr/>
        </p:nvSpPr>
        <p:spPr>
          <a:xfrm>
            <a:off x="7520026" y="327721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6" name="Shape 294"/>
          <p:cNvSpPr/>
          <p:nvPr/>
        </p:nvSpPr>
        <p:spPr>
          <a:xfrm>
            <a:off x="14132966" y="327721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7" name="Shape 295"/>
          <p:cNvSpPr/>
          <p:nvPr/>
        </p:nvSpPr>
        <p:spPr>
          <a:xfrm>
            <a:off x="7520026" y="349666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8" name="Shape 296"/>
          <p:cNvSpPr/>
          <p:nvPr/>
        </p:nvSpPr>
        <p:spPr>
          <a:xfrm>
            <a:off x="14132966" y="349666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299" name="Shape 297"/>
          <p:cNvSpPr/>
          <p:nvPr/>
        </p:nvSpPr>
        <p:spPr>
          <a:xfrm>
            <a:off x="7520026" y="371612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0" name="Shape 298"/>
          <p:cNvSpPr/>
          <p:nvPr/>
        </p:nvSpPr>
        <p:spPr>
          <a:xfrm>
            <a:off x="14132966" y="371612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1" name="Shape 299"/>
          <p:cNvSpPr/>
          <p:nvPr/>
        </p:nvSpPr>
        <p:spPr>
          <a:xfrm>
            <a:off x="7520026" y="393557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2" name="Shape 300"/>
          <p:cNvSpPr/>
          <p:nvPr/>
        </p:nvSpPr>
        <p:spPr>
          <a:xfrm>
            <a:off x="14132966" y="393557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3" name="Shape 301"/>
          <p:cNvSpPr/>
          <p:nvPr/>
        </p:nvSpPr>
        <p:spPr>
          <a:xfrm>
            <a:off x="7520026" y="415503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4" name="Shape 302"/>
          <p:cNvSpPr/>
          <p:nvPr/>
        </p:nvSpPr>
        <p:spPr>
          <a:xfrm>
            <a:off x="14132966" y="415503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5" name="Shape 303"/>
          <p:cNvSpPr/>
          <p:nvPr/>
        </p:nvSpPr>
        <p:spPr>
          <a:xfrm>
            <a:off x="7520026" y="437449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6" name="Shape 304"/>
          <p:cNvSpPr/>
          <p:nvPr/>
        </p:nvSpPr>
        <p:spPr>
          <a:xfrm>
            <a:off x="14132966" y="437449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7" name="Shape 305"/>
          <p:cNvSpPr/>
          <p:nvPr/>
        </p:nvSpPr>
        <p:spPr>
          <a:xfrm>
            <a:off x="7520026" y="459394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8" name="Shape 306"/>
          <p:cNvSpPr/>
          <p:nvPr/>
        </p:nvSpPr>
        <p:spPr>
          <a:xfrm>
            <a:off x="14132966" y="459394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09" name="Shape 307"/>
          <p:cNvSpPr/>
          <p:nvPr/>
        </p:nvSpPr>
        <p:spPr>
          <a:xfrm>
            <a:off x="7520026" y="481340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0" name="Shape 308"/>
          <p:cNvSpPr/>
          <p:nvPr/>
        </p:nvSpPr>
        <p:spPr>
          <a:xfrm>
            <a:off x="14132966" y="481340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1" name="Shape 309"/>
          <p:cNvSpPr/>
          <p:nvPr/>
        </p:nvSpPr>
        <p:spPr>
          <a:xfrm>
            <a:off x="7520026" y="503285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2" name="Shape 310"/>
          <p:cNvSpPr/>
          <p:nvPr/>
        </p:nvSpPr>
        <p:spPr>
          <a:xfrm>
            <a:off x="14132966" y="503285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3" name="Shape 311"/>
          <p:cNvSpPr/>
          <p:nvPr/>
        </p:nvSpPr>
        <p:spPr>
          <a:xfrm>
            <a:off x="7520026" y="525231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4" name="Shape 312"/>
          <p:cNvSpPr/>
          <p:nvPr/>
        </p:nvSpPr>
        <p:spPr>
          <a:xfrm>
            <a:off x="14132966" y="525231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5" name="Shape 313"/>
          <p:cNvSpPr/>
          <p:nvPr/>
        </p:nvSpPr>
        <p:spPr>
          <a:xfrm>
            <a:off x="7520026" y="547177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6" name="Shape 314"/>
          <p:cNvSpPr/>
          <p:nvPr/>
        </p:nvSpPr>
        <p:spPr>
          <a:xfrm>
            <a:off x="14132966" y="547177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7" name="Shape 315"/>
          <p:cNvSpPr/>
          <p:nvPr/>
        </p:nvSpPr>
        <p:spPr>
          <a:xfrm>
            <a:off x="7520026" y="569122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8" name="Shape 316"/>
          <p:cNvSpPr/>
          <p:nvPr/>
        </p:nvSpPr>
        <p:spPr>
          <a:xfrm>
            <a:off x="14132966" y="569122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19" name="Shape 317"/>
          <p:cNvSpPr/>
          <p:nvPr/>
        </p:nvSpPr>
        <p:spPr>
          <a:xfrm>
            <a:off x="7520026" y="591068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0" name="Shape 318"/>
          <p:cNvSpPr/>
          <p:nvPr/>
        </p:nvSpPr>
        <p:spPr>
          <a:xfrm>
            <a:off x="14132966" y="591068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1" name="Shape 319"/>
          <p:cNvSpPr/>
          <p:nvPr/>
        </p:nvSpPr>
        <p:spPr>
          <a:xfrm>
            <a:off x="7520026" y="613013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2" name="Shape 320"/>
          <p:cNvSpPr/>
          <p:nvPr/>
        </p:nvSpPr>
        <p:spPr>
          <a:xfrm>
            <a:off x="14132966" y="6130138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3" name="Shape 321"/>
          <p:cNvSpPr/>
          <p:nvPr/>
        </p:nvSpPr>
        <p:spPr>
          <a:xfrm>
            <a:off x="7520026" y="634959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4" name="Shape 322"/>
          <p:cNvSpPr/>
          <p:nvPr/>
        </p:nvSpPr>
        <p:spPr>
          <a:xfrm>
            <a:off x="14132966" y="6349594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5" name="Shape 323"/>
          <p:cNvSpPr/>
          <p:nvPr/>
        </p:nvSpPr>
        <p:spPr>
          <a:xfrm>
            <a:off x="7520026" y="656905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6" name="Shape 324"/>
          <p:cNvSpPr/>
          <p:nvPr/>
        </p:nvSpPr>
        <p:spPr>
          <a:xfrm>
            <a:off x="14132966" y="6569050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7" name="Shape 325"/>
          <p:cNvSpPr/>
          <p:nvPr/>
        </p:nvSpPr>
        <p:spPr>
          <a:xfrm>
            <a:off x="7520026" y="678850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8" name="Shape 326"/>
          <p:cNvSpPr/>
          <p:nvPr/>
        </p:nvSpPr>
        <p:spPr>
          <a:xfrm>
            <a:off x="14132966" y="6788506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29" name="Shape 327"/>
          <p:cNvSpPr/>
          <p:nvPr/>
        </p:nvSpPr>
        <p:spPr>
          <a:xfrm>
            <a:off x="7520026" y="700796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30" name="Shape 328"/>
          <p:cNvSpPr/>
          <p:nvPr/>
        </p:nvSpPr>
        <p:spPr>
          <a:xfrm>
            <a:off x="14132966" y="7007962"/>
            <a:ext cx="0" cy="13898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31" name="Shape 329"/>
          <p:cNvSpPr/>
          <p:nvPr/>
        </p:nvSpPr>
        <p:spPr>
          <a:xfrm>
            <a:off x="7520026" y="7227418"/>
            <a:ext cx="0" cy="21946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32" name="Shape 330"/>
          <p:cNvSpPr/>
          <p:nvPr/>
        </p:nvSpPr>
        <p:spPr>
          <a:xfrm>
            <a:off x="14132966" y="7227418"/>
            <a:ext cx="0" cy="21946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333" name="Text 331"/>
          <p:cNvSpPr/>
          <p:nvPr/>
        </p:nvSpPr>
        <p:spPr>
          <a:xfrm>
            <a:off x="160934" y="212141"/>
            <a:ext cx="3145536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2" b="1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(A) Overall Pipeline</a:t>
            </a:r>
            <a:endParaRPr lang="en-US" sz="1682" dirty="0"/>
          </a:p>
        </p:txBody>
      </p:sp>
      <p:sp>
        <p:nvSpPr>
          <p:cNvPr id="334" name="Text 332"/>
          <p:cNvSpPr/>
          <p:nvPr/>
        </p:nvSpPr>
        <p:spPr>
          <a:xfrm>
            <a:off x="160934" y="5171846"/>
            <a:ext cx="475488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2" b="1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(B) Information Compression Module (ICM)</a:t>
            </a:r>
            <a:endParaRPr lang="en-US" sz="1682" dirty="0"/>
          </a:p>
        </p:txBody>
      </p:sp>
      <p:sp>
        <p:nvSpPr>
          <p:cNvPr id="335" name="Text 333"/>
          <p:cNvSpPr/>
          <p:nvPr/>
        </p:nvSpPr>
        <p:spPr>
          <a:xfrm>
            <a:off x="7637069" y="212141"/>
            <a:ext cx="4754880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2" b="1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(C) Overall Training Process</a:t>
            </a:r>
            <a:endParaRPr lang="en-US" sz="1682" dirty="0"/>
          </a:p>
        </p:txBody>
      </p:sp>
      <p:sp>
        <p:nvSpPr>
          <p:cNvPr id="336" name="Shape 334"/>
          <p:cNvSpPr/>
          <p:nvPr/>
        </p:nvSpPr>
        <p:spPr>
          <a:xfrm>
            <a:off x="175565" y="482803"/>
            <a:ext cx="2033626" cy="2450592"/>
          </a:xfrm>
          <a:prstGeom prst="rect">
            <a:avLst/>
          </a:prstGeom>
          <a:solidFill>
            <a:srgbClr val="FFFDFD"/>
          </a:solidFill>
          <a:ln w="22098">
            <a:solidFill>
              <a:srgbClr val="F5D2D7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585216" y="482803"/>
            <a:ext cx="124358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8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Query</a:t>
            </a:r>
            <a:endParaRPr lang="en-US" sz="1682" dirty="0"/>
          </a:p>
        </p:txBody>
      </p:sp>
      <p:pic>
        <p:nvPicPr>
          <p:cNvPr id="338" name="Image 0" descr="/home/wangfeifei/projects/skillopt/SkillOpt/ppt-rebuild/complex20-skill-ab-20260907/runs/gpt-5.6-sol/complex-005/.tmp/que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402" y="702259"/>
            <a:ext cx="1909267" cy="1280160"/>
          </a:xfrm>
          <a:prstGeom prst="rect">
            <a:avLst/>
          </a:prstGeom>
        </p:spPr>
      </p:pic>
      <p:sp>
        <p:nvSpPr>
          <p:cNvPr id="339" name="Text 336"/>
          <p:cNvSpPr/>
          <p:nvPr/>
        </p:nvSpPr>
        <p:spPr>
          <a:xfrm>
            <a:off x="241402" y="2048256"/>
            <a:ext cx="191658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Find an image with</a:t>
            </a:r>
            <a:endParaRPr lang="en-US" sz="1624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 different  animal</a:t>
            </a:r>
            <a:endParaRPr lang="en-US" sz="1624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but the same style.</a:t>
            </a:r>
            <a:endParaRPr lang="en-US" sz="1624" dirty="0"/>
          </a:p>
        </p:txBody>
      </p:sp>
      <p:sp>
        <p:nvSpPr>
          <p:cNvPr id="340" name="Shape 337"/>
          <p:cNvSpPr/>
          <p:nvPr/>
        </p:nvSpPr>
        <p:spPr>
          <a:xfrm>
            <a:off x="175565" y="3006547"/>
            <a:ext cx="2033626" cy="497434"/>
          </a:xfrm>
          <a:prstGeom prst="rect">
            <a:avLst/>
          </a:prstGeom>
          <a:solidFill>
            <a:srgbClr val="FFF9FB"/>
          </a:solidFill>
          <a:ln w="22098">
            <a:solidFill>
              <a:srgbClr val="F5D2D7"/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226771" y="3087014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643738" y="3087014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302106" y="3087014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44" name="Text 341"/>
          <p:cNvSpPr/>
          <p:nvPr/>
        </p:nvSpPr>
        <p:spPr>
          <a:xfrm>
            <a:off x="950976" y="3057754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345" name="Text 342"/>
          <p:cNvSpPr/>
          <p:nvPr/>
        </p:nvSpPr>
        <p:spPr>
          <a:xfrm>
            <a:off x="1616659" y="3130906"/>
            <a:ext cx="4023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T_q</a:t>
            </a:r>
            <a:endParaRPr lang="en-US" sz="1392" dirty="0"/>
          </a:p>
        </p:txBody>
      </p:sp>
      <p:sp>
        <p:nvSpPr>
          <p:cNvPr id="346" name="Text 343"/>
          <p:cNvSpPr/>
          <p:nvPr/>
        </p:nvSpPr>
        <p:spPr>
          <a:xfrm>
            <a:off x="2384755" y="482803"/>
            <a:ext cx="133136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8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Candidate 1</a:t>
            </a:r>
            <a:endParaRPr lang="en-US" sz="1682" dirty="0"/>
          </a:p>
        </p:txBody>
      </p:sp>
      <p:pic>
        <p:nvPicPr>
          <p:cNvPr id="347" name="Image 1" descr="/home/wangfeifei/projects/skillopt/SkillOpt/ppt-rebuild/complex20-skill-ab-20260907/runs/gpt-5.6-sol/complex-005/.tmp/cand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709574"/>
            <a:ext cx="1389888" cy="914400"/>
          </a:xfrm>
          <a:prstGeom prst="rect">
            <a:avLst/>
          </a:prstGeom>
        </p:spPr>
      </p:pic>
      <p:sp>
        <p:nvSpPr>
          <p:cNvPr id="348" name="Shape 344"/>
          <p:cNvSpPr/>
          <p:nvPr/>
        </p:nvSpPr>
        <p:spPr>
          <a:xfrm>
            <a:off x="2275027" y="1660550"/>
            <a:ext cx="1506931" cy="709574"/>
          </a:xfrm>
          <a:prstGeom prst="rect">
            <a:avLst/>
          </a:prstGeom>
          <a:solidFill>
            <a:srgbClr val="FBFDFB"/>
          </a:solidFill>
          <a:ln w="22098">
            <a:solidFill>
              <a:srgbClr val="C6E4D4"/>
            </a:solidFill>
            <a:prstDash val="solid"/>
          </a:ln>
        </p:spPr>
      </p:sp>
      <p:sp>
        <p:nvSpPr>
          <p:cNvPr id="349" name="Shape 345"/>
          <p:cNvSpPr/>
          <p:nvPr/>
        </p:nvSpPr>
        <p:spPr>
          <a:xfrm>
            <a:off x="2333549" y="1741018"/>
            <a:ext cx="314554" cy="307238"/>
          </a:xfrm>
          <a:prstGeom prst="rect">
            <a:avLst/>
          </a:prstGeom>
          <a:solidFill>
            <a:srgbClr val="AACDB9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50" name="Shape 346"/>
          <p:cNvSpPr/>
          <p:nvPr/>
        </p:nvSpPr>
        <p:spPr>
          <a:xfrm>
            <a:off x="2750515" y="1741018"/>
            <a:ext cx="314554" cy="307238"/>
          </a:xfrm>
          <a:prstGeom prst="rect">
            <a:avLst/>
          </a:prstGeom>
          <a:solidFill>
            <a:srgbClr val="AACDB9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51" name="Shape 347"/>
          <p:cNvSpPr/>
          <p:nvPr/>
        </p:nvSpPr>
        <p:spPr>
          <a:xfrm>
            <a:off x="3408883" y="1741018"/>
            <a:ext cx="314554" cy="307238"/>
          </a:xfrm>
          <a:prstGeom prst="rect">
            <a:avLst/>
          </a:prstGeom>
          <a:solidFill>
            <a:srgbClr val="AACDB9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52" name="Text 348"/>
          <p:cNvSpPr/>
          <p:nvPr/>
        </p:nvSpPr>
        <p:spPr>
          <a:xfrm>
            <a:off x="3057754" y="1711757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353" name="Text 349"/>
          <p:cNvSpPr/>
          <p:nvPr/>
        </p:nvSpPr>
        <p:spPr>
          <a:xfrm>
            <a:off x="2757830" y="2048256"/>
            <a:ext cx="73152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T_c₁</a:t>
            </a:r>
            <a:endParaRPr lang="en-US" sz="1392" dirty="0"/>
          </a:p>
        </p:txBody>
      </p:sp>
      <p:sp>
        <p:nvSpPr>
          <p:cNvPr id="354" name="Text 350"/>
          <p:cNvSpPr/>
          <p:nvPr/>
        </p:nvSpPr>
        <p:spPr>
          <a:xfrm>
            <a:off x="3935578" y="482803"/>
            <a:ext cx="133136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8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Candidate 2</a:t>
            </a:r>
            <a:endParaRPr lang="en-US" sz="1682" dirty="0"/>
          </a:p>
        </p:txBody>
      </p:sp>
      <p:pic>
        <p:nvPicPr>
          <p:cNvPr id="355" name="Image 2" descr="/home/wangfeifei/projects/skillopt/SkillOpt/ppt-rebuild/complex20-skill-ab-20260907/runs/gpt-5.6-sol/complex-005/.tmp/cand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002" y="709574"/>
            <a:ext cx="1389888" cy="914400"/>
          </a:xfrm>
          <a:prstGeom prst="rect">
            <a:avLst/>
          </a:prstGeom>
        </p:spPr>
      </p:pic>
      <p:sp>
        <p:nvSpPr>
          <p:cNvPr id="356" name="Shape 351"/>
          <p:cNvSpPr/>
          <p:nvPr/>
        </p:nvSpPr>
        <p:spPr>
          <a:xfrm>
            <a:off x="3833165" y="1660550"/>
            <a:ext cx="1499616" cy="709574"/>
          </a:xfrm>
          <a:prstGeom prst="rect">
            <a:avLst/>
          </a:prstGeom>
          <a:solidFill>
            <a:srgbClr val="F8FCFF"/>
          </a:solidFill>
          <a:ln w="22098">
            <a:solidFill>
              <a:srgbClr val="BCD9EB"/>
            </a:solidFill>
            <a:prstDash val="solid"/>
          </a:ln>
        </p:spPr>
      </p:sp>
      <p:sp>
        <p:nvSpPr>
          <p:cNvPr id="357" name="Shape 352"/>
          <p:cNvSpPr/>
          <p:nvPr/>
        </p:nvSpPr>
        <p:spPr>
          <a:xfrm>
            <a:off x="3891686" y="1741018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58" name="Shape 353"/>
          <p:cNvSpPr/>
          <p:nvPr/>
        </p:nvSpPr>
        <p:spPr>
          <a:xfrm>
            <a:off x="4308653" y="1741018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59" name="Shape 354"/>
          <p:cNvSpPr/>
          <p:nvPr/>
        </p:nvSpPr>
        <p:spPr>
          <a:xfrm>
            <a:off x="4967021" y="1741018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60" name="Text 355"/>
          <p:cNvSpPr/>
          <p:nvPr/>
        </p:nvSpPr>
        <p:spPr>
          <a:xfrm>
            <a:off x="4615891" y="1711757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361" name="Text 356"/>
          <p:cNvSpPr/>
          <p:nvPr/>
        </p:nvSpPr>
        <p:spPr>
          <a:xfrm>
            <a:off x="4315968" y="2048256"/>
            <a:ext cx="73152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T_c₂</a:t>
            </a:r>
            <a:endParaRPr lang="en-US" sz="1392" dirty="0"/>
          </a:p>
        </p:txBody>
      </p:sp>
      <p:sp>
        <p:nvSpPr>
          <p:cNvPr id="362" name="Text 357"/>
          <p:cNvSpPr/>
          <p:nvPr/>
        </p:nvSpPr>
        <p:spPr>
          <a:xfrm>
            <a:off x="5347411" y="1675181"/>
            <a:ext cx="460858" cy="6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2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⋯</a:t>
            </a:r>
            <a:endParaRPr lang="en-US" sz="2726" dirty="0"/>
          </a:p>
        </p:txBody>
      </p:sp>
      <p:sp>
        <p:nvSpPr>
          <p:cNvPr id="363" name="Text 358"/>
          <p:cNvSpPr/>
          <p:nvPr/>
        </p:nvSpPr>
        <p:spPr>
          <a:xfrm>
            <a:off x="5983834" y="482803"/>
            <a:ext cx="1243584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8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Candidate K</a:t>
            </a:r>
            <a:endParaRPr lang="en-US" sz="1682" dirty="0"/>
          </a:p>
        </p:txBody>
      </p:sp>
      <p:pic>
        <p:nvPicPr>
          <p:cNvPr id="364" name="Image 3" descr="/home/wangfeifei/projects/skillopt/SkillOpt/ppt-rebuild/complex20-skill-ab-20260907/runs/gpt-5.6-sol/complex-005/.tmp/candk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366" y="709574"/>
            <a:ext cx="1389888" cy="914400"/>
          </a:xfrm>
          <a:prstGeom prst="rect">
            <a:avLst/>
          </a:prstGeom>
        </p:spPr>
      </p:pic>
      <p:sp>
        <p:nvSpPr>
          <p:cNvPr id="365" name="Shape 359"/>
          <p:cNvSpPr/>
          <p:nvPr/>
        </p:nvSpPr>
        <p:spPr>
          <a:xfrm>
            <a:off x="5815584" y="1660550"/>
            <a:ext cx="1514246" cy="709574"/>
          </a:xfrm>
          <a:prstGeom prst="rect">
            <a:avLst/>
          </a:prstGeom>
          <a:solidFill>
            <a:srgbClr val="FBF9FD"/>
          </a:solidFill>
          <a:ln w="22098">
            <a:solidFill>
              <a:srgbClr val="CDBFDC"/>
            </a:solidFill>
            <a:prstDash val="solid"/>
          </a:ln>
        </p:spPr>
      </p:sp>
      <p:sp>
        <p:nvSpPr>
          <p:cNvPr id="366" name="Shape 360"/>
          <p:cNvSpPr/>
          <p:nvPr/>
        </p:nvSpPr>
        <p:spPr>
          <a:xfrm>
            <a:off x="5874106" y="1741018"/>
            <a:ext cx="314554" cy="307238"/>
          </a:xfrm>
          <a:prstGeom prst="rect">
            <a:avLst/>
          </a:prstGeom>
          <a:solidFill>
            <a:srgbClr val="B4A5C3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67" name="Shape 361"/>
          <p:cNvSpPr/>
          <p:nvPr/>
        </p:nvSpPr>
        <p:spPr>
          <a:xfrm>
            <a:off x="6291072" y="1741018"/>
            <a:ext cx="314554" cy="307238"/>
          </a:xfrm>
          <a:prstGeom prst="rect">
            <a:avLst/>
          </a:prstGeom>
          <a:solidFill>
            <a:srgbClr val="B4A5C3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68" name="Shape 362"/>
          <p:cNvSpPr/>
          <p:nvPr/>
        </p:nvSpPr>
        <p:spPr>
          <a:xfrm>
            <a:off x="6949440" y="1741018"/>
            <a:ext cx="314554" cy="307238"/>
          </a:xfrm>
          <a:prstGeom prst="rect">
            <a:avLst/>
          </a:prstGeom>
          <a:solidFill>
            <a:srgbClr val="B4A5C3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69" name="Text 363"/>
          <p:cNvSpPr/>
          <p:nvPr/>
        </p:nvSpPr>
        <p:spPr>
          <a:xfrm>
            <a:off x="6598310" y="1711757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370" name="Text 364"/>
          <p:cNvSpPr/>
          <p:nvPr/>
        </p:nvSpPr>
        <p:spPr>
          <a:xfrm>
            <a:off x="6298387" y="2048256"/>
            <a:ext cx="731520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T_cᴋ</a:t>
            </a:r>
            <a:endParaRPr lang="en-US" sz="1392" dirty="0"/>
          </a:p>
        </p:txBody>
      </p:sp>
      <p:sp>
        <p:nvSpPr>
          <p:cNvPr id="371" name="Shape 365"/>
          <p:cNvSpPr/>
          <p:nvPr/>
        </p:nvSpPr>
        <p:spPr>
          <a:xfrm>
            <a:off x="2267712" y="2538374"/>
            <a:ext cx="5054803" cy="314554"/>
          </a:xfrm>
          <a:prstGeom prst="roundRect">
            <a:avLst>
              <a:gd name="adj" fmla="val 16279"/>
            </a:avLst>
          </a:prstGeom>
          <a:solidFill>
            <a:srgbClr val="DDF4F1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372" name="Text 366"/>
          <p:cNvSpPr/>
          <p:nvPr/>
        </p:nvSpPr>
        <p:spPr>
          <a:xfrm>
            <a:off x="2296973" y="2567635"/>
            <a:ext cx="49962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98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Information Compression Module (ICM)</a:t>
            </a:r>
            <a:endParaRPr lang="en-US" sz="1798" dirty="0"/>
          </a:p>
        </p:txBody>
      </p:sp>
      <p:sp>
        <p:nvSpPr>
          <p:cNvPr id="373" name="Shape 367"/>
          <p:cNvSpPr/>
          <p:nvPr/>
        </p:nvSpPr>
        <p:spPr>
          <a:xfrm>
            <a:off x="3079699" y="2370125"/>
            <a:ext cx="0" cy="16093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374" name="Shape 368"/>
          <p:cNvSpPr/>
          <p:nvPr/>
        </p:nvSpPr>
        <p:spPr>
          <a:xfrm>
            <a:off x="4652467" y="2370125"/>
            <a:ext cx="0" cy="16093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375" name="Shape 369"/>
          <p:cNvSpPr/>
          <p:nvPr/>
        </p:nvSpPr>
        <p:spPr>
          <a:xfrm>
            <a:off x="6634886" y="2370125"/>
            <a:ext cx="0" cy="16093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376" name="Shape 370"/>
          <p:cNvSpPr/>
          <p:nvPr/>
        </p:nvSpPr>
        <p:spPr>
          <a:xfrm>
            <a:off x="2275027" y="2999232"/>
            <a:ext cx="1506931" cy="504749"/>
          </a:xfrm>
          <a:prstGeom prst="rect">
            <a:avLst/>
          </a:prstGeom>
          <a:solidFill>
            <a:srgbClr val="FBFDFB"/>
          </a:solidFill>
          <a:ln w="22098">
            <a:solidFill>
              <a:srgbClr val="C6E4D4"/>
            </a:solidFill>
            <a:prstDash val="solid"/>
          </a:ln>
        </p:spPr>
      </p:sp>
      <p:sp>
        <p:nvSpPr>
          <p:cNvPr id="377" name="Shape 371"/>
          <p:cNvSpPr/>
          <p:nvPr/>
        </p:nvSpPr>
        <p:spPr>
          <a:xfrm>
            <a:off x="2326234" y="3079699"/>
            <a:ext cx="314554" cy="307238"/>
          </a:xfrm>
          <a:prstGeom prst="rect">
            <a:avLst/>
          </a:prstGeom>
          <a:solidFill>
            <a:srgbClr val="AACDB9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78" name="Text 372"/>
          <p:cNvSpPr/>
          <p:nvPr/>
        </p:nvSpPr>
        <p:spPr>
          <a:xfrm>
            <a:off x="2611526" y="3101645"/>
            <a:ext cx="468173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tᶜ¹_con</a:t>
            </a:r>
            <a:endParaRPr lang="en-US" sz="1102" dirty="0"/>
          </a:p>
        </p:txBody>
      </p:sp>
      <p:sp>
        <p:nvSpPr>
          <p:cNvPr id="379" name="Shape 373"/>
          <p:cNvSpPr/>
          <p:nvPr/>
        </p:nvSpPr>
        <p:spPr>
          <a:xfrm>
            <a:off x="3116275" y="3079699"/>
            <a:ext cx="314554" cy="307238"/>
          </a:xfrm>
          <a:prstGeom prst="rect">
            <a:avLst/>
          </a:prstGeom>
          <a:solidFill>
            <a:srgbClr val="AACDB9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80" name="Text 374"/>
          <p:cNvSpPr/>
          <p:nvPr/>
        </p:nvSpPr>
        <p:spPr>
          <a:xfrm>
            <a:off x="3401568" y="3101645"/>
            <a:ext cx="42428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tᶜ¹_rel</a:t>
            </a:r>
            <a:endParaRPr lang="en-US" sz="1102" dirty="0"/>
          </a:p>
        </p:txBody>
      </p:sp>
      <p:sp>
        <p:nvSpPr>
          <p:cNvPr id="381" name="Shape 375"/>
          <p:cNvSpPr/>
          <p:nvPr/>
        </p:nvSpPr>
        <p:spPr>
          <a:xfrm>
            <a:off x="3833165" y="2999232"/>
            <a:ext cx="1499616" cy="504749"/>
          </a:xfrm>
          <a:prstGeom prst="rect">
            <a:avLst/>
          </a:prstGeom>
          <a:solidFill>
            <a:srgbClr val="F8FCFF"/>
          </a:solidFill>
          <a:ln w="22098">
            <a:solidFill>
              <a:srgbClr val="BCD9EB"/>
            </a:solidFill>
            <a:prstDash val="solid"/>
          </a:ln>
        </p:spPr>
      </p:sp>
      <p:sp>
        <p:nvSpPr>
          <p:cNvPr id="382" name="Shape 376"/>
          <p:cNvSpPr/>
          <p:nvPr/>
        </p:nvSpPr>
        <p:spPr>
          <a:xfrm>
            <a:off x="3884371" y="3079699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83" name="Text 377"/>
          <p:cNvSpPr/>
          <p:nvPr/>
        </p:nvSpPr>
        <p:spPr>
          <a:xfrm>
            <a:off x="4169664" y="3101645"/>
            <a:ext cx="468173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tᶜ²_con</a:t>
            </a:r>
            <a:endParaRPr lang="en-US" sz="1102" dirty="0"/>
          </a:p>
        </p:txBody>
      </p:sp>
      <p:sp>
        <p:nvSpPr>
          <p:cNvPr id="384" name="Shape 378"/>
          <p:cNvSpPr/>
          <p:nvPr/>
        </p:nvSpPr>
        <p:spPr>
          <a:xfrm>
            <a:off x="4674413" y="3079699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85" name="Text 379"/>
          <p:cNvSpPr/>
          <p:nvPr/>
        </p:nvSpPr>
        <p:spPr>
          <a:xfrm>
            <a:off x="4959706" y="3101645"/>
            <a:ext cx="42428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tᶜ²_rel</a:t>
            </a:r>
            <a:endParaRPr lang="en-US" sz="1102" dirty="0"/>
          </a:p>
        </p:txBody>
      </p:sp>
      <p:sp>
        <p:nvSpPr>
          <p:cNvPr id="386" name="Text 380"/>
          <p:cNvSpPr/>
          <p:nvPr/>
        </p:nvSpPr>
        <p:spPr>
          <a:xfrm>
            <a:off x="5347411" y="2991917"/>
            <a:ext cx="4681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10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⋯</a:t>
            </a:r>
            <a:endParaRPr lang="en-US" sz="2610" dirty="0"/>
          </a:p>
        </p:txBody>
      </p:sp>
      <p:sp>
        <p:nvSpPr>
          <p:cNvPr id="387" name="Shape 381"/>
          <p:cNvSpPr/>
          <p:nvPr/>
        </p:nvSpPr>
        <p:spPr>
          <a:xfrm>
            <a:off x="5815584" y="2999232"/>
            <a:ext cx="1514246" cy="504749"/>
          </a:xfrm>
          <a:prstGeom prst="rect">
            <a:avLst/>
          </a:prstGeom>
          <a:solidFill>
            <a:srgbClr val="FBF9FD"/>
          </a:solidFill>
          <a:ln w="22098">
            <a:solidFill>
              <a:srgbClr val="CDBFDC"/>
            </a:solidFill>
            <a:prstDash val="solid"/>
          </a:ln>
        </p:spPr>
      </p:sp>
      <p:sp>
        <p:nvSpPr>
          <p:cNvPr id="388" name="Shape 382"/>
          <p:cNvSpPr/>
          <p:nvPr/>
        </p:nvSpPr>
        <p:spPr>
          <a:xfrm>
            <a:off x="5866790" y="3079699"/>
            <a:ext cx="314554" cy="307238"/>
          </a:xfrm>
          <a:prstGeom prst="rect">
            <a:avLst/>
          </a:prstGeom>
          <a:solidFill>
            <a:srgbClr val="B4A5C3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89" name="Text 383"/>
          <p:cNvSpPr/>
          <p:nvPr/>
        </p:nvSpPr>
        <p:spPr>
          <a:xfrm>
            <a:off x="6152083" y="3101645"/>
            <a:ext cx="468173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tᶜᴋ_con</a:t>
            </a:r>
            <a:endParaRPr lang="en-US" sz="1102" dirty="0"/>
          </a:p>
        </p:txBody>
      </p:sp>
      <p:sp>
        <p:nvSpPr>
          <p:cNvPr id="390" name="Shape 384"/>
          <p:cNvSpPr/>
          <p:nvPr/>
        </p:nvSpPr>
        <p:spPr>
          <a:xfrm>
            <a:off x="6656832" y="3079699"/>
            <a:ext cx="314554" cy="307238"/>
          </a:xfrm>
          <a:prstGeom prst="rect">
            <a:avLst/>
          </a:prstGeom>
          <a:solidFill>
            <a:srgbClr val="B4A5C3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391" name="Text 385"/>
          <p:cNvSpPr/>
          <p:nvPr/>
        </p:nvSpPr>
        <p:spPr>
          <a:xfrm>
            <a:off x="6942125" y="3101645"/>
            <a:ext cx="42428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tᶜᴋ_rel</a:t>
            </a:r>
            <a:endParaRPr lang="en-US" sz="1102" dirty="0"/>
          </a:p>
        </p:txBody>
      </p:sp>
      <p:sp>
        <p:nvSpPr>
          <p:cNvPr id="392" name="Shape 386"/>
          <p:cNvSpPr/>
          <p:nvPr/>
        </p:nvSpPr>
        <p:spPr>
          <a:xfrm>
            <a:off x="3079699" y="2852928"/>
            <a:ext cx="0" cy="14630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393" name="Shape 387"/>
          <p:cNvSpPr/>
          <p:nvPr/>
        </p:nvSpPr>
        <p:spPr>
          <a:xfrm>
            <a:off x="4652467" y="2852928"/>
            <a:ext cx="0" cy="14630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394" name="Shape 388"/>
          <p:cNvSpPr/>
          <p:nvPr/>
        </p:nvSpPr>
        <p:spPr>
          <a:xfrm>
            <a:off x="6634886" y="2852928"/>
            <a:ext cx="0" cy="14630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395" name="Shape 389"/>
          <p:cNvSpPr/>
          <p:nvPr/>
        </p:nvSpPr>
        <p:spPr>
          <a:xfrm>
            <a:off x="182880" y="3650285"/>
            <a:ext cx="7139635" cy="358445"/>
          </a:xfrm>
          <a:prstGeom prst="roundRect">
            <a:avLst>
              <a:gd name="adj" fmla="val 14286"/>
            </a:avLst>
          </a:prstGeom>
          <a:solidFill>
            <a:srgbClr val="FFF7EC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396" name="Text 390"/>
          <p:cNvSpPr/>
          <p:nvPr/>
        </p:nvSpPr>
        <p:spPr>
          <a:xfrm>
            <a:off x="219456" y="3679546"/>
            <a:ext cx="7066483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endParaRPr lang="en-US" sz="1798" dirty="0"/>
          </a:p>
        </p:txBody>
      </p:sp>
      <p:sp>
        <p:nvSpPr>
          <p:cNvPr id="397" name="Shape 391"/>
          <p:cNvSpPr/>
          <p:nvPr/>
        </p:nvSpPr>
        <p:spPr>
          <a:xfrm>
            <a:off x="2531059" y="3701491"/>
            <a:ext cx="0" cy="36576"/>
          </a:xfrm>
          <a:prstGeom prst="line">
            <a:avLst/>
          </a:prstGeom>
          <a:noFill/>
          <a:ln w="14732">
            <a:solidFill>
              <a:srgbClr val="082C39"/>
            </a:solidFill>
            <a:prstDash val="solid"/>
            <a:tailEnd type="none"/>
          </a:ln>
        </p:spPr>
      </p:sp>
      <p:sp>
        <p:nvSpPr>
          <p:cNvPr id="398" name="Shape 392"/>
          <p:cNvSpPr/>
          <p:nvPr/>
        </p:nvSpPr>
        <p:spPr>
          <a:xfrm>
            <a:off x="2509114" y="3679546"/>
            <a:ext cx="43891" cy="43891"/>
          </a:xfrm>
          <a:prstGeom prst="ellipse">
            <a:avLst/>
          </a:prstGeom>
          <a:solidFill>
            <a:srgbClr val="BFE6EA"/>
          </a:solidFill>
          <a:ln w="11049">
            <a:solidFill>
              <a:srgbClr val="082C39"/>
            </a:solidFill>
            <a:prstDash val="solid"/>
          </a:ln>
        </p:spPr>
      </p:sp>
      <p:sp>
        <p:nvSpPr>
          <p:cNvPr id="399" name="Shape 393"/>
          <p:cNvSpPr/>
          <p:nvPr/>
        </p:nvSpPr>
        <p:spPr>
          <a:xfrm>
            <a:off x="2435962" y="3738067"/>
            <a:ext cx="197510" cy="160934"/>
          </a:xfrm>
          <a:prstGeom prst="roundRect">
            <a:avLst>
              <a:gd name="adj" fmla="val 22727"/>
            </a:avLst>
          </a:prstGeom>
          <a:solidFill>
            <a:srgbClr val="D9F0F2"/>
          </a:solidFill>
          <a:ln w="14732">
            <a:solidFill>
              <a:srgbClr val="082C39"/>
            </a:solidFill>
            <a:prstDash val="solid"/>
          </a:ln>
        </p:spPr>
      </p:sp>
      <p:sp>
        <p:nvSpPr>
          <p:cNvPr id="400" name="Shape 394"/>
          <p:cNvSpPr/>
          <p:nvPr/>
        </p:nvSpPr>
        <p:spPr>
          <a:xfrm>
            <a:off x="2487168" y="3789274"/>
            <a:ext cx="21946" cy="21946"/>
          </a:xfrm>
          <a:prstGeom prst="ellipse">
            <a:avLst/>
          </a:prstGeom>
          <a:solidFill>
            <a:srgbClr val="082C39"/>
          </a:solidFill>
          <a:ln w="7366">
            <a:solidFill>
              <a:srgbClr val="082C39"/>
            </a:solidFill>
            <a:prstDash val="solid"/>
          </a:ln>
        </p:spPr>
      </p:sp>
      <p:sp>
        <p:nvSpPr>
          <p:cNvPr id="401" name="Shape 395"/>
          <p:cNvSpPr/>
          <p:nvPr/>
        </p:nvSpPr>
        <p:spPr>
          <a:xfrm>
            <a:off x="2560320" y="3789274"/>
            <a:ext cx="21946" cy="21946"/>
          </a:xfrm>
          <a:prstGeom prst="ellipse">
            <a:avLst/>
          </a:prstGeom>
          <a:solidFill>
            <a:srgbClr val="082C39"/>
          </a:solidFill>
          <a:ln w="7366">
            <a:solidFill>
              <a:srgbClr val="082C39"/>
            </a:solidFill>
            <a:prstDash val="solid"/>
          </a:ln>
        </p:spPr>
      </p:sp>
      <p:sp>
        <p:nvSpPr>
          <p:cNvPr id="402" name="Shape 396"/>
          <p:cNvSpPr/>
          <p:nvPr/>
        </p:nvSpPr>
        <p:spPr>
          <a:xfrm>
            <a:off x="2487168" y="3847795"/>
            <a:ext cx="95098" cy="0"/>
          </a:xfrm>
          <a:prstGeom prst="line">
            <a:avLst/>
          </a:prstGeom>
          <a:noFill/>
          <a:ln w="11049">
            <a:solidFill>
              <a:srgbClr val="082C39"/>
            </a:solidFill>
            <a:prstDash val="solid"/>
            <a:tailEnd type="none"/>
          </a:ln>
        </p:spPr>
      </p:sp>
      <p:sp>
        <p:nvSpPr>
          <p:cNvPr id="403" name="Shape 397"/>
          <p:cNvSpPr/>
          <p:nvPr/>
        </p:nvSpPr>
        <p:spPr>
          <a:xfrm>
            <a:off x="2465222" y="3899002"/>
            <a:ext cx="-21946" cy="51206"/>
          </a:xfrm>
          <a:prstGeom prst="line">
            <a:avLst/>
          </a:prstGeom>
          <a:noFill/>
          <a:ln w="14732">
            <a:solidFill>
              <a:srgbClr val="082C39"/>
            </a:solidFill>
            <a:prstDash val="solid"/>
            <a:tailEnd type="none"/>
          </a:ln>
        </p:spPr>
      </p:sp>
      <p:sp>
        <p:nvSpPr>
          <p:cNvPr id="404" name="Shape 398"/>
          <p:cNvSpPr/>
          <p:nvPr/>
        </p:nvSpPr>
        <p:spPr>
          <a:xfrm>
            <a:off x="2604211" y="3899002"/>
            <a:ext cx="21946" cy="51206"/>
          </a:xfrm>
          <a:prstGeom prst="line">
            <a:avLst/>
          </a:prstGeom>
          <a:noFill/>
          <a:ln w="14732">
            <a:solidFill>
              <a:srgbClr val="082C39"/>
            </a:solidFill>
            <a:prstDash val="solid"/>
            <a:tailEnd type="none"/>
          </a:ln>
        </p:spPr>
      </p:sp>
      <p:sp>
        <p:nvSpPr>
          <p:cNvPr id="405" name="Text 399"/>
          <p:cNvSpPr/>
          <p:nvPr/>
        </p:nvSpPr>
        <p:spPr>
          <a:xfrm>
            <a:off x="2735885" y="3664915"/>
            <a:ext cx="2852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98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Large Language Model</a:t>
            </a:r>
            <a:endParaRPr lang="en-US" sz="1798" dirty="0"/>
          </a:p>
        </p:txBody>
      </p:sp>
      <p:sp>
        <p:nvSpPr>
          <p:cNvPr id="406" name="Shape 400"/>
          <p:cNvSpPr/>
          <p:nvPr/>
        </p:nvSpPr>
        <p:spPr>
          <a:xfrm>
            <a:off x="3818534" y="3503981"/>
            <a:ext cx="0" cy="14630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07" name="Shape 401"/>
          <p:cNvSpPr/>
          <p:nvPr/>
        </p:nvSpPr>
        <p:spPr>
          <a:xfrm>
            <a:off x="190195" y="4140403"/>
            <a:ext cx="7132320" cy="607162"/>
          </a:xfrm>
          <a:prstGeom prst="roundRect">
            <a:avLst>
              <a:gd name="adj" fmla="val 12048"/>
            </a:avLst>
          </a:prstGeom>
          <a:solidFill>
            <a:srgbClr val="F9FAFA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408" name="Text 402"/>
          <p:cNvSpPr/>
          <p:nvPr/>
        </p:nvSpPr>
        <p:spPr>
          <a:xfrm>
            <a:off x="277978" y="4169664"/>
            <a:ext cx="69567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&lt;think&gt; ... &lt;inspection-index-start&gt;2&lt;inspection-index-end&gt;T_c₂  ... &lt;inspection-</a:t>
            </a:r>
            <a:endParaRPr lang="en-US" sz="1392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index-start&gt;K&lt;inspection-index-end&gt;T_cᴋ  ... &lt;/think&gt; &lt;answer&gt;2&lt;/answer&gt;</a:t>
            </a:r>
            <a:endParaRPr lang="en-US" sz="1392" dirty="0"/>
          </a:p>
        </p:txBody>
      </p:sp>
      <p:sp>
        <p:nvSpPr>
          <p:cNvPr id="409" name="Shape 403"/>
          <p:cNvSpPr/>
          <p:nvPr/>
        </p:nvSpPr>
        <p:spPr>
          <a:xfrm>
            <a:off x="3818534" y="4008730"/>
            <a:ext cx="0" cy="124358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10" name="Shape 404"/>
          <p:cNvSpPr/>
          <p:nvPr/>
        </p:nvSpPr>
        <p:spPr>
          <a:xfrm>
            <a:off x="182880" y="5486400"/>
            <a:ext cx="2611526" cy="643738"/>
          </a:xfrm>
          <a:prstGeom prst="rect">
            <a:avLst/>
          </a:prstGeom>
          <a:solidFill>
            <a:srgbClr val="F7FCFA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11" name="Shape 405"/>
          <p:cNvSpPr/>
          <p:nvPr/>
        </p:nvSpPr>
        <p:spPr>
          <a:xfrm>
            <a:off x="256032" y="5647334"/>
            <a:ext cx="314554" cy="314554"/>
          </a:xfrm>
          <a:prstGeom prst="rect">
            <a:avLst/>
          </a:prstGeom>
          <a:solidFill>
            <a:srgbClr val="C5C7C8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12" name="Text 406"/>
          <p:cNvSpPr/>
          <p:nvPr/>
        </p:nvSpPr>
        <p:spPr>
          <a:xfrm>
            <a:off x="563270" y="5691226"/>
            <a:ext cx="4462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e_con</a:t>
            </a:r>
            <a:endParaRPr lang="en-US" sz="1392" dirty="0"/>
          </a:p>
        </p:txBody>
      </p:sp>
      <p:sp>
        <p:nvSpPr>
          <p:cNvPr id="413" name="Shape 407"/>
          <p:cNvSpPr/>
          <p:nvPr/>
        </p:nvSpPr>
        <p:spPr>
          <a:xfrm>
            <a:off x="1002182" y="5574182"/>
            <a:ext cx="1711757" cy="490118"/>
          </a:xfrm>
          <a:prstGeom prst="rect">
            <a:avLst/>
          </a:prstGeom>
          <a:solidFill>
            <a:srgbClr val="F5FBFD"/>
          </a:solidFill>
          <a:ln w="22098">
            <a:solidFill>
              <a:srgbClr val="BCD9EB"/>
            </a:solidFill>
            <a:prstDash val="solid"/>
          </a:ln>
        </p:spPr>
      </p:sp>
      <p:sp>
        <p:nvSpPr>
          <p:cNvPr id="414" name="Shape 408"/>
          <p:cNvSpPr/>
          <p:nvPr/>
        </p:nvSpPr>
        <p:spPr>
          <a:xfrm>
            <a:off x="1060704" y="5654650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15" name="Shape 409"/>
          <p:cNvSpPr/>
          <p:nvPr/>
        </p:nvSpPr>
        <p:spPr>
          <a:xfrm>
            <a:off x="1477670" y="5654650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16" name="Shape 410"/>
          <p:cNvSpPr/>
          <p:nvPr/>
        </p:nvSpPr>
        <p:spPr>
          <a:xfrm>
            <a:off x="2136038" y="5654650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17" name="Text 411"/>
          <p:cNvSpPr/>
          <p:nvPr/>
        </p:nvSpPr>
        <p:spPr>
          <a:xfrm>
            <a:off x="1784909" y="5625389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418" name="Text 412"/>
          <p:cNvSpPr/>
          <p:nvPr/>
        </p:nvSpPr>
        <p:spPr>
          <a:xfrm>
            <a:off x="2450592" y="5698541"/>
            <a:ext cx="4023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</a:t>
            </a:r>
            <a:endParaRPr lang="en-US" sz="1392" dirty="0"/>
          </a:p>
        </p:txBody>
      </p:sp>
      <p:sp>
        <p:nvSpPr>
          <p:cNvPr id="419" name="Shape 413"/>
          <p:cNvSpPr/>
          <p:nvPr/>
        </p:nvSpPr>
        <p:spPr>
          <a:xfrm>
            <a:off x="3123590" y="5486400"/>
            <a:ext cx="4198925" cy="643738"/>
          </a:xfrm>
          <a:prstGeom prst="rect">
            <a:avLst/>
          </a:prstGeom>
          <a:solidFill>
            <a:srgbClr val="F7FCFA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20" name="Shape 414"/>
          <p:cNvSpPr/>
          <p:nvPr/>
        </p:nvSpPr>
        <p:spPr>
          <a:xfrm>
            <a:off x="3408883" y="5574182"/>
            <a:ext cx="1719072" cy="490118"/>
          </a:xfrm>
          <a:prstGeom prst="rect">
            <a:avLst/>
          </a:prstGeom>
          <a:solidFill>
            <a:srgbClr val="F5FBFD"/>
          </a:solidFill>
          <a:ln w="22098">
            <a:solidFill>
              <a:srgbClr val="BCD9EB"/>
            </a:solidFill>
            <a:prstDash val="solid"/>
          </a:ln>
        </p:spPr>
      </p:sp>
      <p:sp>
        <p:nvSpPr>
          <p:cNvPr id="421" name="Shape 415"/>
          <p:cNvSpPr/>
          <p:nvPr/>
        </p:nvSpPr>
        <p:spPr>
          <a:xfrm>
            <a:off x="3467405" y="5654650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22" name="Shape 416"/>
          <p:cNvSpPr/>
          <p:nvPr/>
        </p:nvSpPr>
        <p:spPr>
          <a:xfrm>
            <a:off x="3884371" y="5654650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23" name="Shape 417"/>
          <p:cNvSpPr/>
          <p:nvPr/>
        </p:nvSpPr>
        <p:spPr>
          <a:xfrm>
            <a:off x="4542739" y="5654650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24" name="Text 418"/>
          <p:cNvSpPr/>
          <p:nvPr/>
        </p:nvSpPr>
        <p:spPr>
          <a:xfrm>
            <a:off x="4191610" y="5625389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425" name="Text 419"/>
          <p:cNvSpPr/>
          <p:nvPr/>
        </p:nvSpPr>
        <p:spPr>
          <a:xfrm>
            <a:off x="4857293" y="5698541"/>
            <a:ext cx="4023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</a:t>
            </a:r>
            <a:endParaRPr lang="en-US" sz="1392" dirty="0"/>
          </a:p>
        </p:txBody>
      </p:sp>
      <p:sp>
        <p:nvSpPr>
          <p:cNvPr id="426" name="Shape 420"/>
          <p:cNvSpPr/>
          <p:nvPr/>
        </p:nvSpPr>
        <p:spPr>
          <a:xfrm>
            <a:off x="5347411" y="5574182"/>
            <a:ext cx="1711757" cy="490118"/>
          </a:xfrm>
          <a:prstGeom prst="rect">
            <a:avLst/>
          </a:prstGeom>
          <a:solidFill>
            <a:srgbClr val="FFF9FA"/>
          </a:solidFill>
          <a:ln w="22098">
            <a:solidFill>
              <a:srgbClr val="F5D2D7"/>
            </a:solidFill>
            <a:prstDash val="solid"/>
          </a:ln>
        </p:spPr>
      </p:sp>
      <p:sp>
        <p:nvSpPr>
          <p:cNvPr id="427" name="Shape 421"/>
          <p:cNvSpPr/>
          <p:nvPr/>
        </p:nvSpPr>
        <p:spPr>
          <a:xfrm>
            <a:off x="5405933" y="5654650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28" name="Shape 422"/>
          <p:cNvSpPr/>
          <p:nvPr/>
        </p:nvSpPr>
        <p:spPr>
          <a:xfrm>
            <a:off x="5822899" y="5654650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29" name="Shape 423"/>
          <p:cNvSpPr/>
          <p:nvPr/>
        </p:nvSpPr>
        <p:spPr>
          <a:xfrm>
            <a:off x="6481267" y="5654650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30" name="Text 424"/>
          <p:cNvSpPr/>
          <p:nvPr/>
        </p:nvSpPr>
        <p:spPr>
          <a:xfrm>
            <a:off x="6130138" y="5625389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431" name="Text 425"/>
          <p:cNvSpPr/>
          <p:nvPr/>
        </p:nvSpPr>
        <p:spPr>
          <a:xfrm>
            <a:off x="6795821" y="5698541"/>
            <a:ext cx="4023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T_q</a:t>
            </a:r>
            <a:endParaRPr lang="en-US" sz="1392" dirty="0"/>
          </a:p>
        </p:txBody>
      </p:sp>
      <p:sp>
        <p:nvSpPr>
          <p:cNvPr id="432" name="Shape 426"/>
          <p:cNvSpPr/>
          <p:nvPr/>
        </p:nvSpPr>
        <p:spPr>
          <a:xfrm>
            <a:off x="1141171" y="6430061"/>
            <a:ext cx="738835" cy="534010"/>
          </a:xfrm>
          <a:prstGeom prst="roundRect">
            <a:avLst>
              <a:gd name="adj" fmla="val 16438"/>
            </a:avLst>
          </a:prstGeom>
          <a:solidFill>
            <a:srgbClr val="E6E8F5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433" name="Text 427"/>
          <p:cNvSpPr/>
          <p:nvPr/>
        </p:nvSpPr>
        <p:spPr>
          <a:xfrm>
            <a:off x="1170432" y="6459322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ATT 1</a:t>
            </a:r>
            <a:endParaRPr lang="en-US" sz="1566" dirty="0"/>
          </a:p>
        </p:txBody>
      </p:sp>
      <p:sp>
        <p:nvSpPr>
          <p:cNvPr id="434" name="Shape 428"/>
          <p:cNvSpPr/>
          <p:nvPr/>
        </p:nvSpPr>
        <p:spPr>
          <a:xfrm>
            <a:off x="1521562" y="6130138"/>
            <a:ext cx="0" cy="292608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35" name="Shape 429"/>
          <p:cNvSpPr/>
          <p:nvPr/>
        </p:nvSpPr>
        <p:spPr>
          <a:xfrm>
            <a:off x="1880006" y="6686093"/>
            <a:ext cx="270662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36" name="Shape 430"/>
          <p:cNvSpPr/>
          <p:nvPr/>
        </p:nvSpPr>
        <p:spPr>
          <a:xfrm>
            <a:off x="2150669" y="6517843"/>
            <a:ext cx="314554" cy="314554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37" name="Text 431"/>
          <p:cNvSpPr/>
          <p:nvPr/>
        </p:nvSpPr>
        <p:spPr>
          <a:xfrm>
            <a:off x="2099462" y="6810451"/>
            <a:ext cx="497434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t_con</a:t>
            </a:r>
            <a:endParaRPr lang="en-US" sz="1392" dirty="0"/>
          </a:p>
        </p:txBody>
      </p:sp>
      <p:sp>
        <p:nvSpPr>
          <p:cNvPr id="438" name="Shape 432"/>
          <p:cNvSpPr/>
          <p:nvPr/>
        </p:nvSpPr>
        <p:spPr>
          <a:xfrm>
            <a:off x="3130906" y="6430061"/>
            <a:ext cx="738835" cy="534010"/>
          </a:xfrm>
          <a:prstGeom prst="roundRect">
            <a:avLst>
              <a:gd name="adj" fmla="val 16438"/>
            </a:avLst>
          </a:prstGeom>
          <a:solidFill>
            <a:srgbClr val="E6E8F5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439" name="Text 433"/>
          <p:cNvSpPr/>
          <p:nvPr/>
        </p:nvSpPr>
        <p:spPr>
          <a:xfrm>
            <a:off x="3160166" y="6459322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ATT 2</a:t>
            </a:r>
            <a:endParaRPr lang="en-US" sz="1566" dirty="0"/>
          </a:p>
        </p:txBody>
      </p:sp>
      <p:sp>
        <p:nvSpPr>
          <p:cNvPr id="440" name="Shape 434"/>
          <p:cNvSpPr/>
          <p:nvPr/>
        </p:nvSpPr>
        <p:spPr>
          <a:xfrm>
            <a:off x="3496666" y="6130138"/>
            <a:ext cx="0" cy="292608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41" name="Shape 435"/>
          <p:cNvSpPr/>
          <p:nvPr/>
        </p:nvSpPr>
        <p:spPr>
          <a:xfrm>
            <a:off x="6020410" y="6130138"/>
            <a:ext cx="0" cy="131674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442" name="Shape 436"/>
          <p:cNvSpPr/>
          <p:nvPr/>
        </p:nvSpPr>
        <p:spPr>
          <a:xfrm>
            <a:off x="6020410" y="6261811"/>
            <a:ext cx="-2150669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443" name="Shape 437"/>
          <p:cNvSpPr/>
          <p:nvPr/>
        </p:nvSpPr>
        <p:spPr>
          <a:xfrm>
            <a:off x="3869741" y="6261811"/>
            <a:ext cx="0" cy="424282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44" name="Shape 438"/>
          <p:cNvSpPr/>
          <p:nvPr/>
        </p:nvSpPr>
        <p:spPr>
          <a:xfrm>
            <a:off x="3942893" y="6261811"/>
            <a:ext cx="2077517" cy="848563"/>
          </a:xfrm>
          <a:prstGeom prst="rect">
            <a:avLst/>
          </a:prstGeom>
          <a:solidFill>
            <a:srgbClr val="F7FCFA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45" name="Shape 439"/>
          <p:cNvSpPr/>
          <p:nvPr/>
        </p:nvSpPr>
        <p:spPr>
          <a:xfrm>
            <a:off x="4074566" y="6334963"/>
            <a:ext cx="1506931" cy="636422"/>
          </a:xfrm>
          <a:prstGeom prst="rect">
            <a:avLst/>
          </a:prstGeom>
          <a:solidFill>
            <a:srgbClr val="EFF8FA"/>
          </a:solidFill>
          <a:ln w="22098">
            <a:solidFill>
              <a:srgbClr val="BCD9EB"/>
            </a:solidFill>
            <a:prstDash val="solid"/>
          </a:ln>
        </p:spPr>
      </p:sp>
      <p:sp>
        <p:nvSpPr>
          <p:cNvPr id="446" name="Shape 440"/>
          <p:cNvSpPr/>
          <p:nvPr/>
        </p:nvSpPr>
        <p:spPr>
          <a:xfrm>
            <a:off x="4125773" y="6408115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47" name="Shape 441"/>
          <p:cNvSpPr/>
          <p:nvPr/>
        </p:nvSpPr>
        <p:spPr>
          <a:xfrm>
            <a:off x="4542739" y="6408115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48" name="Shape 442"/>
          <p:cNvSpPr/>
          <p:nvPr/>
        </p:nvSpPr>
        <p:spPr>
          <a:xfrm>
            <a:off x="5201107" y="6408115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49" name="Text 443"/>
          <p:cNvSpPr/>
          <p:nvPr/>
        </p:nvSpPr>
        <p:spPr>
          <a:xfrm>
            <a:off x="4849978" y="6378854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450" name="Text 444"/>
          <p:cNvSpPr/>
          <p:nvPr/>
        </p:nvSpPr>
        <p:spPr>
          <a:xfrm>
            <a:off x="5515661" y="6452006"/>
            <a:ext cx="4023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392" dirty="0"/>
          </a:p>
        </p:txBody>
      </p:sp>
      <p:sp>
        <p:nvSpPr>
          <p:cNvPr id="451" name="Text 445"/>
          <p:cNvSpPr/>
          <p:nvPr/>
        </p:nvSpPr>
        <p:spPr>
          <a:xfrm>
            <a:off x="4572000" y="6737299"/>
            <a:ext cx="5340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R_q,c</a:t>
            </a:r>
            <a:endParaRPr lang="en-US" sz="1392" dirty="0"/>
          </a:p>
        </p:txBody>
      </p:sp>
      <p:sp>
        <p:nvSpPr>
          <p:cNvPr id="452" name="Shape 446"/>
          <p:cNvSpPr/>
          <p:nvPr/>
        </p:nvSpPr>
        <p:spPr>
          <a:xfrm>
            <a:off x="5625389" y="6408115"/>
            <a:ext cx="314554" cy="314554"/>
          </a:xfrm>
          <a:prstGeom prst="rect">
            <a:avLst/>
          </a:prstGeom>
          <a:solidFill>
            <a:srgbClr val="C5C7C8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53" name="Text 447"/>
          <p:cNvSpPr/>
          <p:nvPr/>
        </p:nvSpPr>
        <p:spPr>
          <a:xfrm>
            <a:off x="5530291" y="6722669"/>
            <a:ext cx="5413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e_con</a:t>
            </a:r>
            <a:endParaRPr lang="en-US" sz="1392" dirty="0"/>
          </a:p>
        </p:txBody>
      </p:sp>
      <p:sp>
        <p:nvSpPr>
          <p:cNvPr id="454" name="Shape 448"/>
          <p:cNvSpPr/>
          <p:nvPr/>
        </p:nvSpPr>
        <p:spPr>
          <a:xfrm>
            <a:off x="3869741" y="6686093"/>
            <a:ext cx="197510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55" name="Shape 449"/>
          <p:cNvSpPr/>
          <p:nvPr/>
        </p:nvSpPr>
        <p:spPr>
          <a:xfrm>
            <a:off x="6137453" y="6430061"/>
            <a:ext cx="738835" cy="534010"/>
          </a:xfrm>
          <a:prstGeom prst="roundRect">
            <a:avLst>
              <a:gd name="adj" fmla="val 16438"/>
            </a:avLst>
          </a:prstGeom>
          <a:solidFill>
            <a:srgbClr val="E6E8F5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456" name="Text 450"/>
          <p:cNvSpPr/>
          <p:nvPr/>
        </p:nvSpPr>
        <p:spPr>
          <a:xfrm>
            <a:off x="6166714" y="6459322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ATT 1</a:t>
            </a:r>
            <a:endParaRPr lang="en-US" sz="1566" dirty="0"/>
          </a:p>
        </p:txBody>
      </p:sp>
      <p:sp>
        <p:nvSpPr>
          <p:cNvPr id="457" name="Shape 451"/>
          <p:cNvSpPr/>
          <p:nvPr/>
        </p:nvSpPr>
        <p:spPr>
          <a:xfrm>
            <a:off x="6020410" y="6686093"/>
            <a:ext cx="109728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58" name="Shape 452"/>
          <p:cNvSpPr/>
          <p:nvPr/>
        </p:nvSpPr>
        <p:spPr>
          <a:xfrm>
            <a:off x="6876288" y="6686093"/>
            <a:ext cx="109728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59" name="Shape 453"/>
          <p:cNvSpPr/>
          <p:nvPr/>
        </p:nvSpPr>
        <p:spPr>
          <a:xfrm>
            <a:off x="6986016" y="6517843"/>
            <a:ext cx="314554" cy="314554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60" name="Text 454"/>
          <p:cNvSpPr/>
          <p:nvPr/>
        </p:nvSpPr>
        <p:spPr>
          <a:xfrm>
            <a:off x="6920179" y="6810451"/>
            <a:ext cx="512064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t_rel</a:t>
            </a:r>
            <a:endParaRPr lang="en-US" sz="1392" dirty="0"/>
          </a:p>
        </p:txBody>
      </p:sp>
      <p:sp>
        <p:nvSpPr>
          <p:cNvPr id="461" name="Text 455"/>
          <p:cNvSpPr/>
          <p:nvPr/>
        </p:nvSpPr>
        <p:spPr>
          <a:xfrm>
            <a:off x="7644384" y="548640"/>
            <a:ext cx="5596128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Stage 1: Self-Alignment for Pretraining ICM</a:t>
            </a:r>
            <a:endParaRPr lang="en-US" sz="1682" dirty="0"/>
          </a:p>
        </p:txBody>
      </p:sp>
      <p:sp>
        <p:nvSpPr>
          <p:cNvPr id="462" name="Shape 456"/>
          <p:cNvSpPr/>
          <p:nvPr/>
        </p:nvSpPr>
        <p:spPr>
          <a:xfrm>
            <a:off x="7615123" y="855878"/>
            <a:ext cx="1880006" cy="1258214"/>
          </a:xfrm>
          <a:prstGeom prst="rect">
            <a:avLst/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63" name="Shape 457"/>
          <p:cNvSpPr/>
          <p:nvPr/>
        </p:nvSpPr>
        <p:spPr>
          <a:xfrm>
            <a:off x="7673645" y="943661"/>
            <a:ext cx="1711757" cy="497434"/>
          </a:xfrm>
          <a:prstGeom prst="rect">
            <a:avLst/>
          </a:prstGeom>
          <a:solidFill>
            <a:srgbClr val="FFF8F8"/>
          </a:solidFill>
          <a:ln w="22098">
            <a:solidFill>
              <a:srgbClr val="F5D2D7"/>
            </a:solidFill>
            <a:prstDash val="solid"/>
          </a:ln>
        </p:spPr>
      </p:sp>
      <p:sp>
        <p:nvSpPr>
          <p:cNvPr id="464" name="Shape 458"/>
          <p:cNvSpPr/>
          <p:nvPr/>
        </p:nvSpPr>
        <p:spPr>
          <a:xfrm>
            <a:off x="7732166" y="1031443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65" name="Shape 459"/>
          <p:cNvSpPr/>
          <p:nvPr/>
        </p:nvSpPr>
        <p:spPr>
          <a:xfrm>
            <a:off x="8149133" y="1031443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66" name="Shape 460"/>
          <p:cNvSpPr/>
          <p:nvPr/>
        </p:nvSpPr>
        <p:spPr>
          <a:xfrm>
            <a:off x="8807501" y="1031443"/>
            <a:ext cx="314554" cy="307238"/>
          </a:xfrm>
          <a:prstGeom prst="rect">
            <a:avLst/>
          </a:prstGeom>
          <a:solidFill>
            <a:srgbClr val="F6C5C7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67" name="Text 461"/>
          <p:cNvSpPr/>
          <p:nvPr/>
        </p:nvSpPr>
        <p:spPr>
          <a:xfrm>
            <a:off x="8456371" y="1002182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468" name="Text 462"/>
          <p:cNvSpPr/>
          <p:nvPr/>
        </p:nvSpPr>
        <p:spPr>
          <a:xfrm>
            <a:off x="9122054" y="1075334"/>
            <a:ext cx="4023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T_q</a:t>
            </a:r>
            <a:endParaRPr lang="en-US" sz="1392" dirty="0"/>
          </a:p>
        </p:txBody>
      </p:sp>
      <p:sp>
        <p:nvSpPr>
          <p:cNvPr id="469" name="Shape 463"/>
          <p:cNvSpPr/>
          <p:nvPr/>
        </p:nvSpPr>
        <p:spPr>
          <a:xfrm>
            <a:off x="7673645" y="1484986"/>
            <a:ext cx="1711757" cy="534010"/>
          </a:xfrm>
          <a:prstGeom prst="rect">
            <a:avLst/>
          </a:prstGeom>
          <a:solidFill>
            <a:srgbClr val="F5FBFD"/>
          </a:solidFill>
          <a:ln w="22098">
            <a:solidFill>
              <a:srgbClr val="BCD9EB"/>
            </a:solidFill>
            <a:prstDash val="solid"/>
          </a:ln>
        </p:spPr>
      </p:sp>
      <p:sp>
        <p:nvSpPr>
          <p:cNvPr id="470" name="Shape 464"/>
          <p:cNvSpPr/>
          <p:nvPr/>
        </p:nvSpPr>
        <p:spPr>
          <a:xfrm>
            <a:off x="7732166" y="1572768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71" name="Shape 465"/>
          <p:cNvSpPr/>
          <p:nvPr/>
        </p:nvSpPr>
        <p:spPr>
          <a:xfrm>
            <a:off x="8149133" y="1572768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72" name="Shape 466"/>
          <p:cNvSpPr/>
          <p:nvPr/>
        </p:nvSpPr>
        <p:spPr>
          <a:xfrm>
            <a:off x="8807501" y="1572768"/>
            <a:ext cx="314554" cy="307238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73" name="Text 467"/>
          <p:cNvSpPr/>
          <p:nvPr/>
        </p:nvSpPr>
        <p:spPr>
          <a:xfrm>
            <a:off x="8456371" y="1543507"/>
            <a:ext cx="29260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6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856" dirty="0"/>
          </a:p>
        </p:txBody>
      </p:sp>
      <p:sp>
        <p:nvSpPr>
          <p:cNvPr id="474" name="Text 468"/>
          <p:cNvSpPr/>
          <p:nvPr/>
        </p:nvSpPr>
        <p:spPr>
          <a:xfrm>
            <a:off x="9122054" y="1616659"/>
            <a:ext cx="40233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</a:t>
            </a:r>
            <a:endParaRPr lang="en-US" sz="1392" dirty="0"/>
          </a:p>
        </p:txBody>
      </p:sp>
      <p:sp>
        <p:nvSpPr>
          <p:cNvPr id="475" name="Shape 469"/>
          <p:cNvSpPr/>
          <p:nvPr/>
        </p:nvSpPr>
        <p:spPr>
          <a:xfrm>
            <a:off x="8602675" y="2018995"/>
            <a:ext cx="0" cy="204826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76" name="Shape 470"/>
          <p:cNvSpPr/>
          <p:nvPr/>
        </p:nvSpPr>
        <p:spPr>
          <a:xfrm>
            <a:off x="7615123" y="2231136"/>
            <a:ext cx="1880006" cy="307238"/>
          </a:xfrm>
          <a:prstGeom prst="roundRect">
            <a:avLst>
              <a:gd name="adj" fmla="val 14286"/>
            </a:avLst>
          </a:prstGeom>
          <a:solidFill>
            <a:srgbClr val="DDF4F1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477" name="Text 471"/>
          <p:cNvSpPr/>
          <p:nvPr/>
        </p:nvSpPr>
        <p:spPr>
          <a:xfrm>
            <a:off x="7637069" y="2260397"/>
            <a:ext cx="1836115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ICM</a:t>
            </a:r>
            <a:endParaRPr lang="en-US" sz="1740" dirty="0"/>
          </a:p>
        </p:txBody>
      </p:sp>
      <p:sp>
        <p:nvSpPr>
          <p:cNvPr id="478" name="Shape 472"/>
          <p:cNvSpPr/>
          <p:nvPr/>
        </p:nvSpPr>
        <p:spPr>
          <a:xfrm>
            <a:off x="7716804" y="2315261"/>
            <a:ext cx="118506" cy="131674"/>
          </a:xfrm>
          <a:prstGeom prst="ellipse">
            <a:avLst/>
          </a:prstGeom>
          <a:solidFill>
            <a:srgbClr val="F06422"/>
          </a:solidFill>
          <a:ln w="7366">
            <a:solidFill>
              <a:srgbClr val="F06422"/>
            </a:solidFill>
            <a:prstDash val="solid"/>
          </a:ln>
        </p:spPr>
      </p:sp>
      <p:sp>
        <p:nvSpPr>
          <p:cNvPr id="479" name="Shape 473"/>
          <p:cNvSpPr/>
          <p:nvPr/>
        </p:nvSpPr>
        <p:spPr>
          <a:xfrm>
            <a:off x="7749723" y="2354763"/>
            <a:ext cx="59253" cy="85588"/>
          </a:xfrm>
          <a:prstGeom prst="ellipse">
            <a:avLst/>
          </a:prstGeom>
          <a:solidFill>
            <a:srgbClr val="FFD447"/>
          </a:solidFill>
          <a:ln w="7366">
            <a:solidFill>
              <a:srgbClr val="FFD447"/>
            </a:solidFill>
            <a:prstDash val="solid"/>
          </a:ln>
        </p:spPr>
      </p:sp>
      <p:sp>
        <p:nvSpPr>
          <p:cNvPr id="480" name="Shape 474"/>
          <p:cNvSpPr/>
          <p:nvPr/>
        </p:nvSpPr>
        <p:spPr>
          <a:xfrm>
            <a:off x="7769474" y="2374514"/>
            <a:ext cx="26335" cy="52669"/>
          </a:xfrm>
          <a:prstGeom prst="ellipse">
            <a:avLst/>
          </a:prstGeom>
          <a:solidFill>
            <a:srgbClr val="FFF1A6"/>
          </a:solidFill>
          <a:ln w="7366">
            <a:solidFill>
              <a:srgbClr val="FFF1A6"/>
            </a:solidFill>
            <a:prstDash val="solid"/>
          </a:ln>
        </p:spPr>
      </p:sp>
      <p:sp>
        <p:nvSpPr>
          <p:cNvPr id="481" name="Shape 475"/>
          <p:cNvSpPr/>
          <p:nvPr/>
        </p:nvSpPr>
        <p:spPr>
          <a:xfrm>
            <a:off x="8602675" y="2538374"/>
            <a:ext cx="0" cy="153619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482" name="Shape 476"/>
          <p:cNvSpPr/>
          <p:nvPr/>
        </p:nvSpPr>
        <p:spPr>
          <a:xfrm>
            <a:off x="8046720" y="2633472"/>
            <a:ext cx="307238" cy="314554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83" name="Text 477"/>
          <p:cNvSpPr/>
          <p:nvPr/>
        </p:nvSpPr>
        <p:spPr>
          <a:xfrm>
            <a:off x="7600493" y="2596896"/>
            <a:ext cx="453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t_con</a:t>
            </a:r>
            <a:endParaRPr lang="en-US" sz="1392" dirty="0"/>
          </a:p>
        </p:txBody>
      </p:sp>
      <p:sp>
        <p:nvSpPr>
          <p:cNvPr id="484" name="Shape 478"/>
          <p:cNvSpPr/>
          <p:nvPr/>
        </p:nvSpPr>
        <p:spPr>
          <a:xfrm>
            <a:off x="8880653" y="2633472"/>
            <a:ext cx="307238" cy="314554"/>
          </a:xfrm>
          <a:prstGeom prst="rect">
            <a:avLst/>
          </a:prstGeom>
          <a:solidFill>
            <a:srgbClr val="A9CAE0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485" name="Text 479"/>
          <p:cNvSpPr/>
          <p:nvPr/>
        </p:nvSpPr>
        <p:spPr>
          <a:xfrm>
            <a:off x="9187891" y="259689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92" i="1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t_rel</a:t>
            </a:r>
            <a:endParaRPr lang="en-US" sz="1392" dirty="0"/>
          </a:p>
        </p:txBody>
      </p:sp>
      <p:sp>
        <p:nvSpPr>
          <p:cNvPr id="486" name="Shape 480"/>
          <p:cNvSpPr/>
          <p:nvPr/>
        </p:nvSpPr>
        <p:spPr>
          <a:xfrm>
            <a:off x="9751162" y="848563"/>
            <a:ext cx="2882189" cy="1192378"/>
          </a:xfrm>
          <a:prstGeom prst="roundRect">
            <a:avLst>
              <a:gd name="adj" fmla="val 15337"/>
            </a:avLst>
          </a:prstGeom>
          <a:solidFill>
            <a:srgbClr val="F5F5F4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487" name="Text 481"/>
          <p:cNvSpPr/>
          <p:nvPr/>
        </p:nvSpPr>
        <p:spPr>
          <a:xfrm>
            <a:off x="9824314" y="877824"/>
            <a:ext cx="273588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334" dirty="0"/>
          </a:p>
        </p:txBody>
      </p:sp>
      <p:sp>
        <p:nvSpPr>
          <p:cNvPr id="488" name="Text 482"/>
          <p:cNvSpPr/>
          <p:nvPr/>
        </p:nvSpPr>
        <p:spPr>
          <a:xfrm>
            <a:off x="9824314" y="892454"/>
            <a:ext cx="272857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6" b="1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Relationship    Prompt    Template:</a:t>
            </a:r>
            <a:endParaRPr lang="en-US" sz="1276" dirty="0"/>
          </a:p>
        </p:txBody>
      </p:sp>
      <p:sp>
        <p:nvSpPr>
          <p:cNvPr id="489" name="Text 483"/>
          <p:cNvSpPr/>
          <p:nvPr/>
        </p:nvSpPr>
        <p:spPr>
          <a:xfrm>
            <a:off x="9824314" y="1104595"/>
            <a:ext cx="2728570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According  to  &lt;rel&gt;,  describe  the</a:t>
            </a:r>
            <a:endParaRPr lang="en-US" sz="127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similarity,  difference  and  any</a:t>
            </a:r>
            <a:endParaRPr lang="en-US" sz="127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potential relationship between the</a:t>
            </a:r>
            <a:endParaRPr lang="en-US" sz="127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pair in detail.</a:t>
            </a:r>
            <a:endParaRPr lang="en-US" sz="1276" dirty="0"/>
          </a:p>
        </p:txBody>
      </p:sp>
      <p:sp>
        <p:nvSpPr>
          <p:cNvPr id="490" name="Shape 484"/>
          <p:cNvSpPr/>
          <p:nvPr/>
        </p:nvSpPr>
        <p:spPr>
          <a:xfrm>
            <a:off x="9751162" y="2201875"/>
            <a:ext cx="2852928" cy="541325"/>
          </a:xfrm>
          <a:prstGeom prst="roundRect">
            <a:avLst>
              <a:gd name="adj" fmla="val 21622"/>
            </a:avLst>
          </a:prstGeom>
          <a:solidFill>
            <a:srgbClr val="F5F5F4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491" name="Text 485"/>
          <p:cNvSpPr/>
          <p:nvPr/>
        </p:nvSpPr>
        <p:spPr>
          <a:xfrm>
            <a:off x="9824314" y="2231136"/>
            <a:ext cx="270662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276" dirty="0"/>
          </a:p>
        </p:txBody>
      </p:sp>
      <p:sp>
        <p:nvSpPr>
          <p:cNvPr id="492" name="Text 486"/>
          <p:cNvSpPr/>
          <p:nvPr/>
        </p:nvSpPr>
        <p:spPr>
          <a:xfrm>
            <a:off x="9824314" y="2238451"/>
            <a:ext cx="2670048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6" b="1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Content Prompt Template:</a:t>
            </a:r>
            <a:endParaRPr lang="en-US" sz="1276" dirty="0"/>
          </a:p>
        </p:txBody>
      </p:sp>
      <p:sp>
        <p:nvSpPr>
          <p:cNvPr id="493" name="Text 487"/>
          <p:cNvSpPr/>
          <p:nvPr/>
        </p:nvSpPr>
        <p:spPr>
          <a:xfrm>
            <a:off x="9824314" y="2443277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18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Describe the content of &lt;c&gt; in detail.</a:t>
            </a:r>
            <a:endParaRPr lang="en-US" sz="1218" dirty="0"/>
          </a:p>
        </p:txBody>
      </p:sp>
      <p:sp>
        <p:nvSpPr>
          <p:cNvPr id="494" name="Shape 488"/>
          <p:cNvSpPr/>
          <p:nvPr/>
        </p:nvSpPr>
        <p:spPr>
          <a:xfrm>
            <a:off x="9495130" y="1192378"/>
            <a:ext cx="248717" cy="0"/>
          </a:xfrm>
          <a:prstGeom prst="line">
            <a:avLst/>
          </a:prstGeom>
          <a:noFill/>
          <a:ln w="22098">
            <a:solidFill>
              <a:srgbClr val="5269B5"/>
            </a:solidFill>
            <a:prstDash val="solid"/>
            <a:tailEnd type="triangle"/>
          </a:ln>
        </p:spPr>
      </p:sp>
      <p:sp>
        <p:nvSpPr>
          <p:cNvPr id="495" name="Shape 489"/>
          <p:cNvSpPr/>
          <p:nvPr/>
        </p:nvSpPr>
        <p:spPr>
          <a:xfrm>
            <a:off x="9187891" y="2794406"/>
            <a:ext cx="446227" cy="0"/>
          </a:xfrm>
          <a:prstGeom prst="line">
            <a:avLst/>
          </a:prstGeom>
          <a:noFill/>
          <a:ln w="22098">
            <a:solidFill>
              <a:srgbClr val="A8A397"/>
            </a:solidFill>
            <a:prstDash val="solid"/>
            <a:tailEnd type="none"/>
          </a:ln>
        </p:spPr>
      </p:sp>
      <p:sp>
        <p:nvSpPr>
          <p:cNvPr id="496" name="Shape 490"/>
          <p:cNvSpPr/>
          <p:nvPr/>
        </p:nvSpPr>
        <p:spPr>
          <a:xfrm>
            <a:off x="9634118" y="2794406"/>
            <a:ext cx="0" cy="-1353312"/>
          </a:xfrm>
          <a:prstGeom prst="line">
            <a:avLst/>
          </a:prstGeom>
          <a:noFill/>
          <a:ln w="22098">
            <a:solidFill>
              <a:srgbClr val="A8A397"/>
            </a:solidFill>
            <a:prstDash val="solid"/>
            <a:tailEnd type="none"/>
          </a:ln>
        </p:spPr>
      </p:sp>
      <p:sp>
        <p:nvSpPr>
          <p:cNvPr id="497" name="Shape 491"/>
          <p:cNvSpPr/>
          <p:nvPr/>
        </p:nvSpPr>
        <p:spPr>
          <a:xfrm>
            <a:off x="9634118" y="1441094"/>
            <a:ext cx="109728" cy="0"/>
          </a:xfrm>
          <a:prstGeom prst="line">
            <a:avLst/>
          </a:prstGeom>
          <a:noFill/>
          <a:ln w="22098">
            <a:solidFill>
              <a:srgbClr val="A8A397"/>
            </a:solidFill>
            <a:prstDash val="solid"/>
            <a:tailEnd type="triangle"/>
          </a:ln>
        </p:spPr>
      </p:sp>
      <p:sp>
        <p:nvSpPr>
          <p:cNvPr id="498" name="Shape 492"/>
          <p:cNvSpPr/>
          <p:nvPr/>
        </p:nvSpPr>
        <p:spPr>
          <a:xfrm>
            <a:off x="9495130" y="1741018"/>
            <a:ext cx="138989" cy="0"/>
          </a:xfrm>
          <a:prstGeom prst="line">
            <a:avLst/>
          </a:prstGeom>
          <a:noFill/>
          <a:ln w="22098">
            <a:solidFill>
              <a:srgbClr val="9D86AA"/>
            </a:solidFill>
            <a:prstDash val="solid"/>
            <a:tailEnd type="none"/>
          </a:ln>
        </p:spPr>
      </p:sp>
      <p:sp>
        <p:nvSpPr>
          <p:cNvPr id="499" name="Shape 493"/>
          <p:cNvSpPr/>
          <p:nvPr/>
        </p:nvSpPr>
        <p:spPr>
          <a:xfrm>
            <a:off x="9634118" y="1741018"/>
            <a:ext cx="0" cy="585216"/>
          </a:xfrm>
          <a:prstGeom prst="line">
            <a:avLst/>
          </a:prstGeom>
          <a:noFill/>
          <a:ln w="22098">
            <a:solidFill>
              <a:srgbClr val="9D86AA"/>
            </a:solidFill>
            <a:prstDash val="solid"/>
            <a:tailEnd type="none"/>
          </a:ln>
        </p:spPr>
      </p:sp>
      <p:sp>
        <p:nvSpPr>
          <p:cNvPr id="500" name="Shape 494"/>
          <p:cNvSpPr/>
          <p:nvPr/>
        </p:nvSpPr>
        <p:spPr>
          <a:xfrm>
            <a:off x="9634118" y="2326234"/>
            <a:ext cx="109728" cy="0"/>
          </a:xfrm>
          <a:prstGeom prst="line">
            <a:avLst/>
          </a:prstGeom>
          <a:noFill/>
          <a:ln w="22098">
            <a:solidFill>
              <a:srgbClr val="9D86AA"/>
            </a:solidFill>
            <a:prstDash val="solid"/>
            <a:tailEnd type="triangle"/>
          </a:ln>
        </p:spPr>
      </p:sp>
      <p:sp>
        <p:nvSpPr>
          <p:cNvPr id="501" name="Shape 495"/>
          <p:cNvSpPr/>
          <p:nvPr/>
        </p:nvSpPr>
        <p:spPr>
          <a:xfrm>
            <a:off x="8353958" y="2794406"/>
            <a:ext cx="0" cy="234086"/>
          </a:xfrm>
          <a:prstGeom prst="line">
            <a:avLst/>
          </a:prstGeom>
          <a:noFill/>
          <a:ln w="22098">
            <a:solidFill>
              <a:srgbClr val="ABC7A1"/>
            </a:solidFill>
            <a:prstDash val="solid"/>
            <a:tailEnd type="none"/>
          </a:ln>
        </p:spPr>
      </p:sp>
      <p:sp>
        <p:nvSpPr>
          <p:cNvPr id="502" name="Shape 496"/>
          <p:cNvSpPr/>
          <p:nvPr/>
        </p:nvSpPr>
        <p:spPr>
          <a:xfrm>
            <a:off x="8353958" y="3028493"/>
            <a:ext cx="2823667" cy="0"/>
          </a:xfrm>
          <a:prstGeom prst="line">
            <a:avLst/>
          </a:prstGeom>
          <a:noFill/>
          <a:ln w="22098">
            <a:solidFill>
              <a:srgbClr val="ABC7A1"/>
            </a:solidFill>
            <a:prstDash val="solid"/>
            <a:tailEnd type="none"/>
          </a:ln>
        </p:spPr>
      </p:sp>
      <p:sp>
        <p:nvSpPr>
          <p:cNvPr id="503" name="Shape 497"/>
          <p:cNvSpPr/>
          <p:nvPr/>
        </p:nvSpPr>
        <p:spPr>
          <a:xfrm>
            <a:off x="11177626" y="3028493"/>
            <a:ext cx="0" cy="-285293"/>
          </a:xfrm>
          <a:prstGeom prst="line">
            <a:avLst/>
          </a:prstGeom>
          <a:noFill/>
          <a:ln w="22098">
            <a:solidFill>
              <a:srgbClr val="ABC7A1"/>
            </a:solidFill>
            <a:prstDash val="solid"/>
            <a:tailEnd type="triangle"/>
          </a:ln>
        </p:spPr>
      </p:sp>
      <p:sp>
        <p:nvSpPr>
          <p:cNvPr id="504" name="Shape 498"/>
          <p:cNvSpPr/>
          <p:nvPr/>
        </p:nvSpPr>
        <p:spPr>
          <a:xfrm>
            <a:off x="12896698" y="855878"/>
            <a:ext cx="343814" cy="1887322"/>
          </a:xfrm>
          <a:prstGeom prst="roundRect">
            <a:avLst>
              <a:gd name="adj" fmla="val 21277"/>
            </a:avLst>
          </a:prstGeom>
          <a:solidFill>
            <a:srgbClr val="F5F0E7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505" name="Text 499"/>
          <p:cNvSpPr/>
          <p:nvPr/>
        </p:nvSpPr>
        <p:spPr>
          <a:xfrm>
            <a:off x="12904013" y="885139"/>
            <a:ext cx="3291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endParaRPr lang="en-US" sz="1566" dirty="0"/>
          </a:p>
        </p:txBody>
      </p:sp>
      <p:sp>
        <p:nvSpPr>
          <p:cNvPr id="506" name="Text 500"/>
          <p:cNvSpPr/>
          <p:nvPr/>
        </p:nvSpPr>
        <p:spPr>
          <a:xfrm rot="16200000">
            <a:off x="12955219" y="1155802"/>
            <a:ext cx="2194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LLM</a:t>
            </a:r>
            <a:endParaRPr lang="en-US" sz="1566" dirty="0"/>
          </a:p>
        </p:txBody>
      </p:sp>
      <p:sp>
        <p:nvSpPr>
          <p:cNvPr id="507" name="Text 501"/>
          <p:cNvSpPr/>
          <p:nvPr/>
        </p:nvSpPr>
        <p:spPr>
          <a:xfrm>
            <a:off x="12933274" y="2435962"/>
            <a:ext cx="270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8" dirty="0">
                <a:solidFill>
                  <a:srgbClr val="67CDEB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❄</a:t>
            </a:r>
            <a:endParaRPr lang="en-US" sz="1508" dirty="0"/>
          </a:p>
        </p:txBody>
      </p:sp>
      <p:sp>
        <p:nvSpPr>
          <p:cNvPr id="508" name="Shape 502"/>
          <p:cNvSpPr/>
          <p:nvPr/>
        </p:nvSpPr>
        <p:spPr>
          <a:xfrm>
            <a:off x="12633350" y="1170432"/>
            <a:ext cx="263347" cy="0"/>
          </a:xfrm>
          <a:prstGeom prst="line">
            <a:avLst/>
          </a:prstGeom>
          <a:noFill/>
          <a:ln w="22098">
            <a:solidFill>
              <a:srgbClr val="5269B5"/>
            </a:solidFill>
            <a:prstDash val="solid"/>
            <a:tailEnd type="triangle"/>
          </a:ln>
        </p:spPr>
      </p:sp>
      <p:sp>
        <p:nvSpPr>
          <p:cNvPr id="509" name="Shape 503"/>
          <p:cNvSpPr/>
          <p:nvPr/>
        </p:nvSpPr>
        <p:spPr>
          <a:xfrm>
            <a:off x="12633350" y="1433779"/>
            <a:ext cx="263347" cy="0"/>
          </a:xfrm>
          <a:prstGeom prst="line">
            <a:avLst/>
          </a:prstGeom>
          <a:noFill/>
          <a:ln w="22098">
            <a:solidFill>
              <a:srgbClr val="A8A397"/>
            </a:solidFill>
            <a:prstDash val="solid"/>
            <a:tailEnd type="triangle"/>
          </a:ln>
        </p:spPr>
      </p:sp>
      <p:sp>
        <p:nvSpPr>
          <p:cNvPr id="510" name="Shape 504"/>
          <p:cNvSpPr/>
          <p:nvPr/>
        </p:nvSpPr>
        <p:spPr>
          <a:xfrm>
            <a:off x="12604090" y="2318918"/>
            <a:ext cx="292608" cy="0"/>
          </a:xfrm>
          <a:prstGeom prst="line">
            <a:avLst/>
          </a:prstGeom>
          <a:noFill/>
          <a:ln w="22098">
            <a:solidFill>
              <a:srgbClr val="9D86AA"/>
            </a:solidFill>
            <a:prstDash val="solid"/>
            <a:tailEnd type="triangle"/>
          </a:ln>
        </p:spPr>
      </p:sp>
      <p:sp>
        <p:nvSpPr>
          <p:cNvPr id="511" name="Shape 505"/>
          <p:cNvSpPr/>
          <p:nvPr/>
        </p:nvSpPr>
        <p:spPr>
          <a:xfrm>
            <a:off x="12604090" y="2589581"/>
            <a:ext cx="292608" cy="0"/>
          </a:xfrm>
          <a:prstGeom prst="line">
            <a:avLst/>
          </a:prstGeom>
          <a:noFill/>
          <a:ln w="22098">
            <a:solidFill>
              <a:srgbClr val="ABC7A1"/>
            </a:solidFill>
            <a:prstDash val="solid"/>
            <a:tailEnd type="triangle"/>
          </a:ln>
        </p:spPr>
      </p:sp>
      <p:sp>
        <p:nvSpPr>
          <p:cNvPr id="512" name="Shape 506"/>
          <p:cNvSpPr/>
          <p:nvPr/>
        </p:nvSpPr>
        <p:spPr>
          <a:xfrm>
            <a:off x="13525805" y="1031443"/>
            <a:ext cx="519379" cy="548640"/>
          </a:xfrm>
          <a:prstGeom prst="roundRect">
            <a:avLst>
              <a:gd name="adj" fmla="val 16901"/>
            </a:avLst>
          </a:prstGeom>
          <a:solidFill>
            <a:srgbClr val="BFE6EA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513" name="Text 507"/>
          <p:cNvSpPr/>
          <p:nvPr/>
        </p:nvSpPr>
        <p:spPr>
          <a:xfrm>
            <a:off x="13540435" y="1060704"/>
            <a:ext cx="490118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CE</a:t>
            </a:r>
            <a:endParaRPr lang="en-US" sz="1334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Loss</a:t>
            </a:r>
            <a:endParaRPr lang="en-US" sz="1334" dirty="0"/>
          </a:p>
        </p:txBody>
      </p:sp>
      <p:sp>
        <p:nvSpPr>
          <p:cNvPr id="514" name="Shape 508"/>
          <p:cNvSpPr/>
          <p:nvPr/>
        </p:nvSpPr>
        <p:spPr>
          <a:xfrm>
            <a:off x="13525805" y="2172614"/>
            <a:ext cx="519379" cy="548640"/>
          </a:xfrm>
          <a:prstGeom prst="roundRect">
            <a:avLst>
              <a:gd name="adj" fmla="val 16901"/>
            </a:avLst>
          </a:prstGeom>
          <a:solidFill>
            <a:srgbClr val="BFE6EA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515" name="Text 509"/>
          <p:cNvSpPr/>
          <p:nvPr/>
        </p:nvSpPr>
        <p:spPr>
          <a:xfrm>
            <a:off x="13540435" y="2201875"/>
            <a:ext cx="490118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CE</a:t>
            </a:r>
            <a:endParaRPr lang="en-US" sz="1334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Loss</a:t>
            </a:r>
            <a:endParaRPr lang="en-US" sz="1334" dirty="0"/>
          </a:p>
        </p:txBody>
      </p:sp>
      <p:sp>
        <p:nvSpPr>
          <p:cNvPr id="516" name="Shape 510"/>
          <p:cNvSpPr/>
          <p:nvPr/>
        </p:nvSpPr>
        <p:spPr>
          <a:xfrm>
            <a:off x="13240512" y="1170432"/>
            <a:ext cx="277978" cy="0"/>
          </a:xfrm>
          <a:prstGeom prst="line">
            <a:avLst/>
          </a:prstGeom>
          <a:noFill/>
          <a:ln w="22098">
            <a:solidFill>
              <a:srgbClr val="5269B5"/>
            </a:solidFill>
            <a:prstDash val="solid"/>
            <a:tailEnd type="triangle"/>
          </a:ln>
        </p:spPr>
      </p:sp>
      <p:sp>
        <p:nvSpPr>
          <p:cNvPr id="517" name="Shape 511"/>
          <p:cNvSpPr/>
          <p:nvPr/>
        </p:nvSpPr>
        <p:spPr>
          <a:xfrm>
            <a:off x="13240512" y="1433779"/>
            <a:ext cx="277978" cy="0"/>
          </a:xfrm>
          <a:prstGeom prst="line">
            <a:avLst/>
          </a:prstGeom>
          <a:noFill/>
          <a:ln w="22098">
            <a:solidFill>
              <a:srgbClr val="A8A397"/>
            </a:solidFill>
            <a:prstDash val="solid"/>
            <a:tailEnd type="triangle"/>
          </a:ln>
        </p:spPr>
      </p:sp>
      <p:sp>
        <p:nvSpPr>
          <p:cNvPr id="518" name="Shape 512"/>
          <p:cNvSpPr/>
          <p:nvPr/>
        </p:nvSpPr>
        <p:spPr>
          <a:xfrm>
            <a:off x="13240512" y="2318918"/>
            <a:ext cx="277978" cy="0"/>
          </a:xfrm>
          <a:prstGeom prst="line">
            <a:avLst/>
          </a:prstGeom>
          <a:noFill/>
          <a:ln w="22098">
            <a:solidFill>
              <a:srgbClr val="9D86AA"/>
            </a:solidFill>
            <a:prstDash val="solid"/>
            <a:tailEnd type="triangle"/>
          </a:ln>
        </p:spPr>
      </p:sp>
      <p:sp>
        <p:nvSpPr>
          <p:cNvPr id="519" name="Shape 513"/>
          <p:cNvSpPr/>
          <p:nvPr/>
        </p:nvSpPr>
        <p:spPr>
          <a:xfrm>
            <a:off x="13240512" y="2589581"/>
            <a:ext cx="277978" cy="0"/>
          </a:xfrm>
          <a:prstGeom prst="line">
            <a:avLst/>
          </a:prstGeom>
          <a:noFill/>
          <a:ln w="22098">
            <a:solidFill>
              <a:srgbClr val="ABC7A1"/>
            </a:solidFill>
            <a:prstDash val="solid"/>
            <a:tailEnd type="triangle"/>
          </a:ln>
        </p:spPr>
      </p:sp>
      <p:sp>
        <p:nvSpPr>
          <p:cNvPr id="520" name="Text 514"/>
          <p:cNvSpPr/>
          <p:nvPr/>
        </p:nvSpPr>
        <p:spPr>
          <a:xfrm>
            <a:off x="7644384" y="3196742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Stage 2: SFT with Synthetic Dataset for Activation</a:t>
            </a:r>
            <a:endParaRPr lang="en-US" sz="1682" dirty="0"/>
          </a:p>
        </p:txBody>
      </p:sp>
      <p:sp>
        <p:nvSpPr>
          <p:cNvPr id="521" name="Shape 515"/>
          <p:cNvSpPr/>
          <p:nvPr/>
        </p:nvSpPr>
        <p:spPr>
          <a:xfrm>
            <a:off x="7980883" y="3628339"/>
            <a:ext cx="87782" cy="87782"/>
          </a:xfrm>
          <a:prstGeom prst="ellipse">
            <a:avLst/>
          </a:prstGeom>
          <a:solidFill>
            <a:srgbClr val="8ECFEA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522" name="Shape 516"/>
          <p:cNvSpPr/>
          <p:nvPr/>
        </p:nvSpPr>
        <p:spPr>
          <a:xfrm>
            <a:off x="8024774" y="3708806"/>
            <a:ext cx="0" cy="65837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523" name="Shape 517"/>
          <p:cNvSpPr/>
          <p:nvPr/>
        </p:nvSpPr>
        <p:spPr>
          <a:xfrm>
            <a:off x="7878470" y="3752698"/>
            <a:ext cx="395021" cy="329184"/>
          </a:xfrm>
          <a:prstGeom prst="roundRect">
            <a:avLst>
              <a:gd name="adj" fmla="val 22222"/>
            </a:avLst>
          </a:prstGeom>
          <a:solidFill>
            <a:srgbClr val="8ECFEA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524" name="Shape 518"/>
          <p:cNvSpPr/>
          <p:nvPr/>
        </p:nvSpPr>
        <p:spPr>
          <a:xfrm>
            <a:off x="7936992" y="3803904"/>
            <a:ext cx="277978" cy="212141"/>
          </a:xfrm>
          <a:prstGeom prst="roundRect">
            <a:avLst>
              <a:gd name="adj" fmla="val 20690"/>
            </a:avLst>
          </a:prstGeom>
          <a:solidFill>
            <a:srgbClr val="EAF8FC"/>
          </a:solidFill>
          <a:ln w="14732">
            <a:solidFill>
              <a:srgbClr val="101315"/>
            </a:solidFill>
            <a:prstDash val="solid"/>
          </a:ln>
        </p:spPr>
      </p:sp>
      <p:sp>
        <p:nvSpPr>
          <p:cNvPr id="525" name="Shape 519"/>
          <p:cNvSpPr/>
          <p:nvPr/>
        </p:nvSpPr>
        <p:spPr>
          <a:xfrm>
            <a:off x="8002829" y="3877056"/>
            <a:ext cx="29261" cy="36576"/>
          </a:xfrm>
          <a:prstGeom prst="ellipse">
            <a:avLst/>
          </a:prstGeom>
          <a:solidFill>
            <a:srgbClr val="101315"/>
          </a:solidFill>
          <a:ln w="7366">
            <a:solidFill>
              <a:srgbClr val="101315"/>
            </a:solidFill>
            <a:prstDash val="solid"/>
          </a:ln>
        </p:spPr>
      </p:sp>
      <p:sp>
        <p:nvSpPr>
          <p:cNvPr id="526" name="Shape 520"/>
          <p:cNvSpPr/>
          <p:nvPr/>
        </p:nvSpPr>
        <p:spPr>
          <a:xfrm>
            <a:off x="8119872" y="3877056"/>
            <a:ext cx="29261" cy="36576"/>
          </a:xfrm>
          <a:prstGeom prst="ellipse">
            <a:avLst/>
          </a:prstGeom>
          <a:solidFill>
            <a:srgbClr val="101315"/>
          </a:solidFill>
          <a:ln w="7366">
            <a:solidFill>
              <a:srgbClr val="101315"/>
            </a:solidFill>
            <a:prstDash val="solid"/>
          </a:ln>
        </p:spPr>
      </p:sp>
      <p:sp>
        <p:nvSpPr>
          <p:cNvPr id="527" name="Text 521"/>
          <p:cNvSpPr/>
          <p:nvPr/>
        </p:nvSpPr>
        <p:spPr>
          <a:xfrm>
            <a:off x="7980883" y="3913632"/>
            <a:ext cx="197510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4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⌣</a:t>
            </a:r>
            <a:endParaRPr lang="en-US" sz="1044" dirty="0"/>
          </a:p>
        </p:txBody>
      </p:sp>
      <p:sp>
        <p:nvSpPr>
          <p:cNvPr id="528" name="Shape 522"/>
          <p:cNvSpPr/>
          <p:nvPr/>
        </p:nvSpPr>
        <p:spPr>
          <a:xfrm>
            <a:off x="7871155" y="3847795"/>
            <a:ext cx="-36576" cy="36576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529" name="Shape 523"/>
          <p:cNvSpPr/>
          <p:nvPr/>
        </p:nvSpPr>
        <p:spPr>
          <a:xfrm>
            <a:off x="8273491" y="3847795"/>
            <a:ext cx="36576" cy="36576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530" name="Shape 524"/>
          <p:cNvSpPr/>
          <p:nvPr/>
        </p:nvSpPr>
        <p:spPr>
          <a:xfrm>
            <a:off x="7958938" y="4081882"/>
            <a:ext cx="248717" cy="58522"/>
          </a:xfrm>
          <a:prstGeom prst="roundRect">
            <a:avLst>
              <a:gd name="adj" fmla="val 25000"/>
            </a:avLst>
          </a:prstGeom>
          <a:solidFill>
            <a:srgbClr val="8ECFEA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531" name="Shape 525"/>
          <p:cNvSpPr/>
          <p:nvPr/>
        </p:nvSpPr>
        <p:spPr>
          <a:xfrm>
            <a:off x="7995514" y="4081882"/>
            <a:ext cx="-29261" cy="95098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532" name="Shape 526"/>
          <p:cNvSpPr/>
          <p:nvPr/>
        </p:nvSpPr>
        <p:spPr>
          <a:xfrm>
            <a:off x="8171078" y="4081882"/>
            <a:ext cx="36576" cy="95098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533" name="Shape 527"/>
          <p:cNvSpPr/>
          <p:nvPr/>
        </p:nvSpPr>
        <p:spPr>
          <a:xfrm>
            <a:off x="7958938" y="4176979"/>
            <a:ext cx="256032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none"/>
          </a:ln>
        </p:spPr>
      </p:sp>
      <p:sp>
        <p:nvSpPr>
          <p:cNvPr id="534" name="Shape 528"/>
          <p:cNvSpPr/>
          <p:nvPr/>
        </p:nvSpPr>
        <p:spPr>
          <a:xfrm>
            <a:off x="7929677" y="3664915"/>
            <a:ext cx="277978" cy="102413"/>
          </a:xfrm>
          <a:prstGeom prst="rect">
            <a:avLst/>
          </a:prstGeom>
          <a:solidFill>
            <a:srgbClr val="213D68"/>
          </a:solidFill>
          <a:ln w="14732">
            <a:solidFill>
              <a:srgbClr val="101315"/>
            </a:solidFill>
            <a:prstDash val="solid"/>
          </a:ln>
        </p:spPr>
      </p:sp>
      <p:sp>
        <p:nvSpPr>
          <p:cNvPr id="535" name="Shape 529"/>
          <p:cNvSpPr/>
          <p:nvPr/>
        </p:nvSpPr>
        <p:spPr>
          <a:xfrm>
            <a:off x="7907731" y="3628339"/>
            <a:ext cx="329184" cy="95098"/>
          </a:xfrm>
          <a:prstGeom prst="rect">
            <a:avLst/>
          </a:prstGeom>
          <a:solidFill>
            <a:srgbClr val="213D68"/>
          </a:solidFill>
          <a:ln w="14732">
            <a:solidFill>
              <a:srgbClr val="101315"/>
            </a:solidFill>
            <a:prstDash val="solid"/>
          </a:ln>
        </p:spPr>
      </p:sp>
      <p:sp>
        <p:nvSpPr>
          <p:cNvPr id="536" name="Shape 530"/>
          <p:cNvSpPr/>
          <p:nvPr/>
        </p:nvSpPr>
        <p:spPr>
          <a:xfrm>
            <a:off x="8214970" y="3679546"/>
            <a:ext cx="43891" cy="109728"/>
          </a:xfrm>
          <a:prstGeom prst="line">
            <a:avLst/>
          </a:prstGeom>
          <a:noFill/>
          <a:ln w="14732">
            <a:solidFill>
              <a:srgbClr val="101315"/>
            </a:solidFill>
            <a:prstDash val="solid"/>
            <a:tailEnd type="none"/>
          </a:ln>
        </p:spPr>
      </p:sp>
      <p:sp>
        <p:nvSpPr>
          <p:cNvPr id="537" name="Text 531"/>
          <p:cNvSpPr/>
          <p:nvPr/>
        </p:nvSpPr>
        <p:spPr>
          <a:xfrm>
            <a:off x="7622438" y="4381805"/>
            <a:ext cx="870509" cy="39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Annotation</a:t>
            </a:r>
            <a:endParaRPr lang="en-US" sz="1276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MLLM</a:t>
            </a:r>
            <a:endParaRPr lang="en-US" sz="1276" dirty="0"/>
          </a:p>
        </p:txBody>
      </p:sp>
      <p:sp>
        <p:nvSpPr>
          <p:cNvPr id="538" name="Shape 532"/>
          <p:cNvSpPr/>
          <p:nvPr/>
        </p:nvSpPr>
        <p:spPr>
          <a:xfrm>
            <a:off x="8310067" y="4008730"/>
            <a:ext cx="270662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539" name="Shape 533"/>
          <p:cNvSpPr/>
          <p:nvPr/>
        </p:nvSpPr>
        <p:spPr>
          <a:xfrm>
            <a:off x="8588045" y="3547872"/>
            <a:ext cx="936346" cy="93634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36830">
            <a:solidFill>
              <a:srgbClr val="2A89D8"/>
            </a:solidFill>
            <a:prstDash val="solid"/>
          </a:ln>
        </p:spPr>
      </p:sp>
      <p:sp>
        <p:nvSpPr>
          <p:cNvPr id="540" name="Text 534"/>
          <p:cNvSpPr/>
          <p:nvPr/>
        </p:nvSpPr>
        <p:spPr>
          <a:xfrm>
            <a:off x="8595360" y="3577133"/>
            <a:ext cx="9217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160" dirty="0"/>
          </a:p>
        </p:txBody>
      </p:sp>
      <p:sp>
        <p:nvSpPr>
          <p:cNvPr id="541" name="Shape 535"/>
          <p:cNvSpPr/>
          <p:nvPr/>
        </p:nvSpPr>
        <p:spPr>
          <a:xfrm>
            <a:off x="8756294" y="3635654"/>
            <a:ext cx="249009" cy="329769"/>
          </a:xfrm>
          <a:prstGeom prst="roundRect">
            <a:avLst>
              <a:gd name="adj" fmla="val 8108"/>
            </a:avLst>
          </a:prstGeom>
          <a:solidFill>
            <a:srgbClr val="1686D9"/>
          </a:solidFill>
          <a:ln w="7366">
            <a:solidFill>
              <a:srgbClr val="1686D9"/>
            </a:solidFill>
            <a:prstDash val="solid"/>
          </a:ln>
        </p:spPr>
      </p:sp>
      <p:sp>
        <p:nvSpPr>
          <p:cNvPr id="542" name="Shape 536"/>
          <p:cNvSpPr/>
          <p:nvPr/>
        </p:nvSpPr>
        <p:spPr>
          <a:xfrm>
            <a:off x="8931274" y="3642384"/>
            <a:ext cx="67300" cy="7403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43" name="Shape 537"/>
          <p:cNvSpPr/>
          <p:nvPr/>
        </p:nvSpPr>
        <p:spPr>
          <a:xfrm>
            <a:off x="8931274" y="3642384"/>
            <a:ext cx="0" cy="7403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44" name="Shape 538"/>
          <p:cNvSpPr/>
          <p:nvPr/>
        </p:nvSpPr>
        <p:spPr>
          <a:xfrm>
            <a:off x="8931274" y="3716414"/>
            <a:ext cx="6730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45" name="Shape 539"/>
          <p:cNvSpPr/>
          <p:nvPr/>
        </p:nvSpPr>
        <p:spPr>
          <a:xfrm>
            <a:off x="8810134" y="3783714"/>
            <a:ext cx="14133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46" name="Shape 540"/>
          <p:cNvSpPr/>
          <p:nvPr/>
        </p:nvSpPr>
        <p:spPr>
          <a:xfrm>
            <a:off x="8810134" y="3830824"/>
            <a:ext cx="14133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47" name="Shape 541"/>
          <p:cNvSpPr/>
          <p:nvPr/>
        </p:nvSpPr>
        <p:spPr>
          <a:xfrm>
            <a:off x="8810134" y="3877934"/>
            <a:ext cx="10768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48" name="Shape 542"/>
          <p:cNvSpPr/>
          <p:nvPr/>
        </p:nvSpPr>
        <p:spPr>
          <a:xfrm>
            <a:off x="9122054" y="3635654"/>
            <a:ext cx="249009" cy="329769"/>
          </a:xfrm>
          <a:prstGeom prst="roundRect">
            <a:avLst>
              <a:gd name="adj" fmla="val 8108"/>
            </a:avLst>
          </a:prstGeom>
          <a:solidFill>
            <a:srgbClr val="1686D9"/>
          </a:solidFill>
          <a:ln w="7366">
            <a:solidFill>
              <a:srgbClr val="1686D9"/>
            </a:solidFill>
            <a:prstDash val="solid"/>
          </a:ln>
        </p:spPr>
      </p:sp>
      <p:sp>
        <p:nvSpPr>
          <p:cNvPr id="549" name="Shape 543"/>
          <p:cNvSpPr/>
          <p:nvPr/>
        </p:nvSpPr>
        <p:spPr>
          <a:xfrm>
            <a:off x="9297034" y="3642384"/>
            <a:ext cx="67300" cy="7403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0" name="Shape 544"/>
          <p:cNvSpPr/>
          <p:nvPr/>
        </p:nvSpPr>
        <p:spPr>
          <a:xfrm>
            <a:off x="9297034" y="3642384"/>
            <a:ext cx="0" cy="7403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1" name="Shape 545"/>
          <p:cNvSpPr/>
          <p:nvPr/>
        </p:nvSpPr>
        <p:spPr>
          <a:xfrm>
            <a:off x="9297034" y="3716414"/>
            <a:ext cx="6730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2" name="Shape 546"/>
          <p:cNvSpPr/>
          <p:nvPr/>
        </p:nvSpPr>
        <p:spPr>
          <a:xfrm>
            <a:off x="9175894" y="3783714"/>
            <a:ext cx="14133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3" name="Shape 547"/>
          <p:cNvSpPr/>
          <p:nvPr/>
        </p:nvSpPr>
        <p:spPr>
          <a:xfrm>
            <a:off x="9175894" y="3830824"/>
            <a:ext cx="14133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4" name="Shape 548"/>
          <p:cNvSpPr/>
          <p:nvPr/>
        </p:nvSpPr>
        <p:spPr>
          <a:xfrm>
            <a:off x="9175894" y="3877934"/>
            <a:ext cx="10768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5" name="Shape 549"/>
          <p:cNvSpPr/>
          <p:nvPr/>
        </p:nvSpPr>
        <p:spPr>
          <a:xfrm>
            <a:off x="8931859" y="4074566"/>
            <a:ext cx="249009" cy="329769"/>
          </a:xfrm>
          <a:prstGeom prst="roundRect">
            <a:avLst>
              <a:gd name="adj" fmla="val 8108"/>
            </a:avLst>
          </a:prstGeom>
          <a:solidFill>
            <a:srgbClr val="1686D9"/>
          </a:solidFill>
          <a:ln w="7366">
            <a:solidFill>
              <a:srgbClr val="1686D9"/>
            </a:solidFill>
            <a:prstDash val="solid"/>
          </a:ln>
        </p:spPr>
      </p:sp>
      <p:sp>
        <p:nvSpPr>
          <p:cNvPr id="556" name="Shape 550"/>
          <p:cNvSpPr/>
          <p:nvPr/>
        </p:nvSpPr>
        <p:spPr>
          <a:xfrm>
            <a:off x="9106839" y="4081296"/>
            <a:ext cx="67300" cy="7403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7" name="Shape 551"/>
          <p:cNvSpPr/>
          <p:nvPr/>
        </p:nvSpPr>
        <p:spPr>
          <a:xfrm>
            <a:off x="9106839" y="4081296"/>
            <a:ext cx="0" cy="7403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8" name="Shape 552"/>
          <p:cNvSpPr/>
          <p:nvPr/>
        </p:nvSpPr>
        <p:spPr>
          <a:xfrm>
            <a:off x="9106839" y="4155326"/>
            <a:ext cx="6730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59" name="Shape 553"/>
          <p:cNvSpPr/>
          <p:nvPr/>
        </p:nvSpPr>
        <p:spPr>
          <a:xfrm>
            <a:off x="8985699" y="4222626"/>
            <a:ext cx="14133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60" name="Shape 554"/>
          <p:cNvSpPr/>
          <p:nvPr/>
        </p:nvSpPr>
        <p:spPr>
          <a:xfrm>
            <a:off x="8985699" y="4269736"/>
            <a:ext cx="14133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61" name="Shape 555"/>
          <p:cNvSpPr/>
          <p:nvPr/>
        </p:nvSpPr>
        <p:spPr>
          <a:xfrm>
            <a:off x="8985699" y="4316846"/>
            <a:ext cx="107680" cy="0"/>
          </a:xfrm>
          <a:prstGeom prst="line">
            <a:avLst/>
          </a:prstGeom>
          <a:noFill/>
          <a:ln w="13553">
            <a:solidFill>
              <a:srgbClr val="FFFFFF"/>
            </a:solidFill>
            <a:prstDash val="solid"/>
            <a:tailEnd type="none"/>
          </a:ln>
        </p:spPr>
      </p:sp>
      <p:sp>
        <p:nvSpPr>
          <p:cNvPr id="562" name="Text 556"/>
          <p:cNvSpPr/>
          <p:nvPr/>
        </p:nvSpPr>
        <p:spPr>
          <a:xfrm>
            <a:off x="8602675" y="4520794"/>
            <a:ext cx="921715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Synthetic</a:t>
            </a:r>
            <a:endParaRPr lang="en-US" sz="1276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CoT Dataset</a:t>
            </a:r>
            <a:endParaRPr lang="en-US" sz="1276" dirty="0"/>
          </a:p>
        </p:txBody>
      </p:sp>
      <p:sp>
        <p:nvSpPr>
          <p:cNvPr id="563" name="Shape 557"/>
          <p:cNvSpPr/>
          <p:nvPr/>
        </p:nvSpPr>
        <p:spPr>
          <a:xfrm>
            <a:off x="9524390" y="4008730"/>
            <a:ext cx="380390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564" name="Text 558"/>
          <p:cNvSpPr/>
          <p:nvPr/>
        </p:nvSpPr>
        <p:spPr>
          <a:xfrm>
            <a:off x="9560966" y="3774643"/>
            <a:ext cx="336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SFT</a:t>
            </a:r>
            <a:endParaRPr lang="en-US" sz="1334" dirty="0"/>
          </a:p>
        </p:txBody>
      </p:sp>
      <p:sp>
        <p:nvSpPr>
          <p:cNvPr id="565" name="Shape 559"/>
          <p:cNvSpPr/>
          <p:nvPr/>
        </p:nvSpPr>
        <p:spPr>
          <a:xfrm>
            <a:off x="9904781" y="3496666"/>
            <a:ext cx="351130" cy="1031443"/>
          </a:xfrm>
          <a:prstGeom prst="roundRect">
            <a:avLst>
              <a:gd name="adj" fmla="val 20833"/>
            </a:avLst>
          </a:prstGeom>
          <a:solidFill>
            <a:srgbClr val="F5F0E7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566" name="Text 560"/>
          <p:cNvSpPr/>
          <p:nvPr/>
        </p:nvSpPr>
        <p:spPr>
          <a:xfrm>
            <a:off x="9912096" y="3525926"/>
            <a:ext cx="336499" cy="97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endParaRPr lang="en-US" sz="1508" dirty="0"/>
          </a:p>
        </p:txBody>
      </p:sp>
      <p:sp>
        <p:nvSpPr>
          <p:cNvPr id="567" name="Text 561"/>
          <p:cNvSpPr/>
          <p:nvPr/>
        </p:nvSpPr>
        <p:spPr>
          <a:xfrm rot="16200000">
            <a:off x="9970618" y="3613709"/>
            <a:ext cx="226771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LLM</a:t>
            </a:r>
            <a:endParaRPr lang="en-US" sz="1566" dirty="0"/>
          </a:p>
        </p:txBody>
      </p:sp>
      <p:sp>
        <p:nvSpPr>
          <p:cNvPr id="568" name="Shape 562"/>
          <p:cNvSpPr/>
          <p:nvPr/>
        </p:nvSpPr>
        <p:spPr>
          <a:xfrm>
            <a:off x="10006462" y="4304995"/>
            <a:ext cx="118506" cy="131674"/>
          </a:xfrm>
          <a:prstGeom prst="ellipse">
            <a:avLst/>
          </a:prstGeom>
          <a:solidFill>
            <a:srgbClr val="F06422"/>
          </a:solidFill>
          <a:ln w="7366">
            <a:solidFill>
              <a:srgbClr val="F06422"/>
            </a:solidFill>
            <a:prstDash val="solid"/>
          </a:ln>
        </p:spPr>
      </p:sp>
      <p:sp>
        <p:nvSpPr>
          <p:cNvPr id="569" name="Shape 563"/>
          <p:cNvSpPr/>
          <p:nvPr/>
        </p:nvSpPr>
        <p:spPr>
          <a:xfrm>
            <a:off x="10039380" y="4344497"/>
            <a:ext cx="59253" cy="85588"/>
          </a:xfrm>
          <a:prstGeom prst="ellipse">
            <a:avLst/>
          </a:prstGeom>
          <a:solidFill>
            <a:srgbClr val="FFD447"/>
          </a:solidFill>
          <a:ln w="7366">
            <a:solidFill>
              <a:srgbClr val="FFD447"/>
            </a:solidFill>
            <a:prstDash val="solid"/>
          </a:ln>
        </p:spPr>
      </p:sp>
      <p:sp>
        <p:nvSpPr>
          <p:cNvPr id="570" name="Shape 564"/>
          <p:cNvSpPr/>
          <p:nvPr/>
        </p:nvSpPr>
        <p:spPr>
          <a:xfrm>
            <a:off x="10059132" y="4364248"/>
            <a:ext cx="26335" cy="52669"/>
          </a:xfrm>
          <a:prstGeom prst="ellipse">
            <a:avLst/>
          </a:prstGeom>
          <a:solidFill>
            <a:srgbClr val="FFF1A6"/>
          </a:solidFill>
          <a:ln w="7366">
            <a:solidFill>
              <a:srgbClr val="FFF1A6"/>
            </a:solidFill>
            <a:prstDash val="solid"/>
          </a:ln>
        </p:spPr>
      </p:sp>
      <p:sp>
        <p:nvSpPr>
          <p:cNvPr id="571" name="Shape 565"/>
          <p:cNvSpPr/>
          <p:nvPr/>
        </p:nvSpPr>
        <p:spPr>
          <a:xfrm>
            <a:off x="10255910" y="4008730"/>
            <a:ext cx="65837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572" name="Shape 566"/>
          <p:cNvSpPr/>
          <p:nvPr/>
        </p:nvSpPr>
        <p:spPr>
          <a:xfrm>
            <a:off x="10321747" y="3496666"/>
            <a:ext cx="3723437" cy="1031443"/>
          </a:xfrm>
          <a:prstGeom prst="roundRect">
            <a:avLst>
              <a:gd name="adj" fmla="val 16312"/>
            </a:avLst>
          </a:prstGeom>
          <a:solidFill>
            <a:srgbClr val="F7F7F7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573" name="Text 567"/>
          <p:cNvSpPr/>
          <p:nvPr/>
        </p:nvSpPr>
        <p:spPr>
          <a:xfrm>
            <a:off x="10380269" y="3525926"/>
            <a:ext cx="3606394" cy="9729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160" dirty="0"/>
          </a:p>
        </p:txBody>
      </p:sp>
      <p:sp>
        <p:nvSpPr>
          <p:cNvPr id="574" name="Shape 568"/>
          <p:cNvSpPr/>
          <p:nvPr/>
        </p:nvSpPr>
        <p:spPr>
          <a:xfrm>
            <a:off x="10416845" y="3606394"/>
            <a:ext cx="257129" cy="340523"/>
          </a:xfrm>
          <a:prstGeom prst="roundRect">
            <a:avLst>
              <a:gd name="adj" fmla="val 8108"/>
            </a:avLst>
          </a:prstGeom>
          <a:solidFill>
            <a:srgbClr val="1686D9"/>
          </a:solidFill>
          <a:ln w="7366">
            <a:solidFill>
              <a:srgbClr val="1686D9"/>
            </a:solidFill>
            <a:prstDash val="solid"/>
          </a:ln>
        </p:spPr>
      </p:sp>
      <p:sp>
        <p:nvSpPr>
          <p:cNvPr id="575" name="Shape 569"/>
          <p:cNvSpPr/>
          <p:nvPr/>
        </p:nvSpPr>
        <p:spPr>
          <a:xfrm>
            <a:off x="10597530" y="3613343"/>
            <a:ext cx="69494" cy="76444"/>
          </a:xfrm>
          <a:prstGeom prst="line">
            <a:avLst/>
          </a:prstGeom>
          <a:noFill/>
          <a:ln w="13995">
            <a:solidFill>
              <a:srgbClr val="FFFFFF"/>
            </a:solidFill>
            <a:prstDash val="solid"/>
            <a:tailEnd type="none"/>
          </a:ln>
        </p:spPr>
      </p:sp>
      <p:sp>
        <p:nvSpPr>
          <p:cNvPr id="576" name="Shape 570"/>
          <p:cNvSpPr/>
          <p:nvPr/>
        </p:nvSpPr>
        <p:spPr>
          <a:xfrm>
            <a:off x="10597530" y="3613343"/>
            <a:ext cx="0" cy="76444"/>
          </a:xfrm>
          <a:prstGeom prst="line">
            <a:avLst/>
          </a:prstGeom>
          <a:noFill/>
          <a:ln w="13995">
            <a:solidFill>
              <a:srgbClr val="FFFFFF"/>
            </a:solidFill>
            <a:prstDash val="solid"/>
            <a:tailEnd type="none"/>
          </a:ln>
        </p:spPr>
      </p:sp>
      <p:sp>
        <p:nvSpPr>
          <p:cNvPr id="577" name="Shape 571"/>
          <p:cNvSpPr/>
          <p:nvPr/>
        </p:nvSpPr>
        <p:spPr>
          <a:xfrm>
            <a:off x="10597530" y="3689787"/>
            <a:ext cx="69494" cy="0"/>
          </a:xfrm>
          <a:prstGeom prst="line">
            <a:avLst/>
          </a:prstGeom>
          <a:noFill/>
          <a:ln w="13995">
            <a:solidFill>
              <a:srgbClr val="FFFFFF"/>
            </a:solidFill>
            <a:prstDash val="solid"/>
            <a:tailEnd type="none"/>
          </a:ln>
        </p:spPr>
      </p:sp>
      <p:sp>
        <p:nvSpPr>
          <p:cNvPr id="578" name="Shape 572"/>
          <p:cNvSpPr/>
          <p:nvPr/>
        </p:nvSpPr>
        <p:spPr>
          <a:xfrm>
            <a:off x="10472440" y="3759281"/>
            <a:ext cx="145938" cy="0"/>
          </a:xfrm>
          <a:prstGeom prst="line">
            <a:avLst/>
          </a:prstGeom>
          <a:noFill/>
          <a:ln w="13995">
            <a:solidFill>
              <a:srgbClr val="FFFFFF"/>
            </a:solidFill>
            <a:prstDash val="solid"/>
            <a:tailEnd type="none"/>
          </a:ln>
        </p:spPr>
      </p:sp>
      <p:sp>
        <p:nvSpPr>
          <p:cNvPr id="579" name="Shape 573"/>
          <p:cNvSpPr/>
          <p:nvPr/>
        </p:nvSpPr>
        <p:spPr>
          <a:xfrm>
            <a:off x="10472440" y="3807927"/>
            <a:ext cx="145938" cy="0"/>
          </a:xfrm>
          <a:prstGeom prst="line">
            <a:avLst/>
          </a:prstGeom>
          <a:noFill/>
          <a:ln w="13995">
            <a:solidFill>
              <a:srgbClr val="FFFFFF"/>
            </a:solidFill>
            <a:prstDash val="solid"/>
            <a:tailEnd type="none"/>
          </a:ln>
        </p:spPr>
      </p:sp>
      <p:sp>
        <p:nvSpPr>
          <p:cNvPr id="580" name="Shape 574"/>
          <p:cNvSpPr/>
          <p:nvPr/>
        </p:nvSpPr>
        <p:spPr>
          <a:xfrm>
            <a:off x="10472440" y="3856573"/>
            <a:ext cx="111191" cy="0"/>
          </a:xfrm>
          <a:prstGeom prst="line">
            <a:avLst/>
          </a:prstGeom>
          <a:noFill/>
          <a:ln w="13995">
            <a:solidFill>
              <a:srgbClr val="FFFFFF"/>
            </a:solidFill>
            <a:prstDash val="solid"/>
            <a:tailEnd type="none"/>
          </a:ln>
        </p:spPr>
      </p:sp>
      <p:sp>
        <p:nvSpPr>
          <p:cNvPr id="581" name="Text 575"/>
          <p:cNvSpPr/>
          <p:nvPr/>
        </p:nvSpPr>
        <p:spPr>
          <a:xfrm>
            <a:off x="10731398" y="3562502"/>
            <a:ext cx="3196742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(1): Retrieval result speculation</a:t>
            </a:r>
            <a:endParaRPr lang="en-US" sz="127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• (2): Quick verification for negative samples</a:t>
            </a:r>
            <a:endParaRPr lang="en-US" sz="127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  (3): Refined verification for positive samples</a:t>
            </a:r>
            <a:endParaRPr lang="en-US" sz="127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7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  (4): Retrieval result generation</a:t>
            </a:r>
            <a:endParaRPr lang="en-US" sz="1276" dirty="0"/>
          </a:p>
        </p:txBody>
      </p:sp>
      <p:sp>
        <p:nvSpPr>
          <p:cNvPr id="582" name="Text 576"/>
          <p:cNvSpPr/>
          <p:nvPr/>
        </p:nvSpPr>
        <p:spPr>
          <a:xfrm>
            <a:off x="7644384" y="5018227"/>
            <a:ext cx="5961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2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Stage 3: RL with Curriculum Reward for Enhancement</a:t>
            </a:r>
            <a:endParaRPr lang="en-US" sz="1682" dirty="0"/>
          </a:p>
        </p:txBody>
      </p:sp>
      <p:sp>
        <p:nvSpPr>
          <p:cNvPr id="583" name="Shape 577"/>
          <p:cNvSpPr/>
          <p:nvPr/>
        </p:nvSpPr>
        <p:spPr>
          <a:xfrm>
            <a:off x="7710221" y="5413248"/>
            <a:ext cx="343814" cy="1345997"/>
          </a:xfrm>
          <a:prstGeom prst="roundRect">
            <a:avLst>
              <a:gd name="adj" fmla="val 21277"/>
            </a:avLst>
          </a:prstGeom>
          <a:solidFill>
            <a:srgbClr val="F5F0E7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584" name="Text 578"/>
          <p:cNvSpPr/>
          <p:nvPr/>
        </p:nvSpPr>
        <p:spPr>
          <a:xfrm>
            <a:off x="7717536" y="5442509"/>
            <a:ext cx="329184" cy="1287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endParaRPr lang="en-US" sz="1508" dirty="0"/>
          </a:p>
        </p:txBody>
      </p:sp>
      <p:sp>
        <p:nvSpPr>
          <p:cNvPr id="585" name="Text 579"/>
          <p:cNvSpPr/>
          <p:nvPr/>
        </p:nvSpPr>
        <p:spPr>
          <a:xfrm rot="16200000">
            <a:off x="7776058" y="5603443"/>
            <a:ext cx="21945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LLM</a:t>
            </a:r>
            <a:endParaRPr lang="en-US" sz="1566" dirty="0"/>
          </a:p>
        </p:txBody>
      </p:sp>
      <p:sp>
        <p:nvSpPr>
          <p:cNvPr id="586" name="Shape 580"/>
          <p:cNvSpPr/>
          <p:nvPr/>
        </p:nvSpPr>
        <p:spPr>
          <a:xfrm>
            <a:off x="7797272" y="6514186"/>
            <a:ext cx="118506" cy="131674"/>
          </a:xfrm>
          <a:prstGeom prst="ellipse">
            <a:avLst/>
          </a:prstGeom>
          <a:solidFill>
            <a:srgbClr val="F06422"/>
          </a:solidFill>
          <a:ln w="7366">
            <a:solidFill>
              <a:srgbClr val="F06422"/>
            </a:solidFill>
            <a:prstDash val="solid"/>
          </a:ln>
        </p:spPr>
      </p:sp>
      <p:sp>
        <p:nvSpPr>
          <p:cNvPr id="587" name="Shape 581"/>
          <p:cNvSpPr/>
          <p:nvPr/>
        </p:nvSpPr>
        <p:spPr>
          <a:xfrm>
            <a:off x="7830190" y="6553688"/>
            <a:ext cx="59253" cy="85588"/>
          </a:xfrm>
          <a:prstGeom prst="ellipse">
            <a:avLst/>
          </a:prstGeom>
          <a:solidFill>
            <a:srgbClr val="FFD447"/>
          </a:solidFill>
          <a:ln w="7366">
            <a:solidFill>
              <a:srgbClr val="FFD447"/>
            </a:solidFill>
            <a:prstDash val="solid"/>
          </a:ln>
        </p:spPr>
      </p:sp>
      <p:sp>
        <p:nvSpPr>
          <p:cNvPr id="588" name="Shape 582"/>
          <p:cNvSpPr/>
          <p:nvPr/>
        </p:nvSpPr>
        <p:spPr>
          <a:xfrm>
            <a:off x="7849941" y="6573439"/>
            <a:ext cx="26335" cy="52669"/>
          </a:xfrm>
          <a:prstGeom prst="ellipse">
            <a:avLst/>
          </a:prstGeom>
          <a:solidFill>
            <a:srgbClr val="FFF1A6"/>
          </a:solidFill>
          <a:ln w="7366">
            <a:solidFill>
              <a:srgbClr val="FFF1A6"/>
            </a:solidFill>
            <a:prstDash val="solid"/>
          </a:ln>
        </p:spPr>
      </p:sp>
      <p:sp>
        <p:nvSpPr>
          <p:cNvPr id="589" name="Shape 583"/>
          <p:cNvSpPr/>
          <p:nvPr/>
        </p:nvSpPr>
        <p:spPr>
          <a:xfrm>
            <a:off x="8054035" y="6071616"/>
            <a:ext cx="219456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590" name="Shape 584"/>
          <p:cNvSpPr/>
          <p:nvPr/>
        </p:nvSpPr>
        <p:spPr>
          <a:xfrm>
            <a:off x="8273491" y="5413248"/>
            <a:ext cx="599846" cy="1345997"/>
          </a:xfrm>
          <a:prstGeom prst="rect">
            <a:avLst/>
          </a:prstGeom>
          <a:solidFill>
            <a:srgbClr val="F4F3F0"/>
          </a:solidFill>
          <a:ln w="22098">
            <a:solidFill>
              <a:srgbClr val="888888"/>
            </a:solidFill>
            <a:prstDash val="solid"/>
          </a:ln>
        </p:spPr>
      </p:sp>
      <p:sp>
        <p:nvSpPr>
          <p:cNvPr id="591" name="Shape 585"/>
          <p:cNvSpPr/>
          <p:nvPr/>
        </p:nvSpPr>
        <p:spPr>
          <a:xfrm>
            <a:off x="8332013" y="5471770"/>
            <a:ext cx="475488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592" name="Text 586"/>
          <p:cNvSpPr/>
          <p:nvPr/>
        </p:nvSpPr>
        <p:spPr>
          <a:xfrm>
            <a:off x="8346643" y="5501030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o1</a:t>
            </a:r>
            <a:endParaRPr lang="en-US" sz="1392" dirty="0"/>
          </a:p>
        </p:txBody>
      </p:sp>
      <p:sp>
        <p:nvSpPr>
          <p:cNvPr id="593" name="Shape 587"/>
          <p:cNvSpPr/>
          <p:nvPr/>
        </p:nvSpPr>
        <p:spPr>
          <a:xfrm>
            <a:off x="8332013" y="5815584"/>
            <a:ext cx="475488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594" name="Text 588"/>
          <p:cNvSpPr/>
          <p:nvPr/>
        </p:nvSpPr>
        <p:spPr>
          <a:xfrm>
            <a:off x="8346643" y="5844845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o2</a:t>
            </a:r>
            <a:endParaRPr lang="en-US" sz="1392" dirty="0"/>
          </a:p>
        </p:txBody>
      </p:sp>
      <p:sp>
        <p:nvSpPr>
          <p:cNvPr id="595" name="Shape 589"/>
          <p:cNvSpPr/>
          <p:nvPr/>
        </p:nvSpPr>
        <p:spPr>
          <a:xfrm>
            <a:off x="8332013" y="6159398"/>
            <a:ext cx="475488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596" name="Text 590"/>
          <p:cNvSpPr/>
          <p:nvPr/>
        </p:nvSpPr>
        <p:spPr>
          <a:xfrm>
            <a:off x="8346643" y="6188659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392" dirty="0"/>
          </a:p>
        </p:txBody>
      </p:sp>
      <p:sp>
        <p:nvSpPr>
          <p:cNvPr id="597" name="Shape 591"/>
          <p:cNvSpPr/>
          <p:nvPr/>
        </p:nvSpPr>
        <p:spPr>
          <a:xfrm>
            <a:off x="8332013" y="6408115"/>
            <a:ext cx="475488" cy="270662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598" name="Text 592"/>
          <p:cNvSpPr/>
          <p:nvPr/>
        </p:nvSpPr>
        <p:spPr>
          <a:xfrm>
            <a:off x="8346643" y="6437376"/>
            <a:ext cx="446227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o_G</a:t>
            </a:r>
            <a:endParaRPr lang="en-US" sz="1334" dirty="0"/>
          </a:p>
        </p:txBody>
      </p:sp>
      <p:sp>
        <p:nvSpPr>
          <p:cNvPr id="599" name="Text 593"/>
          <p:cNvSpPr/>
          <p:nvPr/>
        </p:nvSpPr>
        <p:spPr>
          <a:xfrm>
            <a:off x="8236915" y="6795821"/>
            <a:ext cx="687629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Rollout</a:t>
            </a:r>
            <a:endParaRPr lang="en-US" sz="1334" dirty="0"/>
          </a:p>
        </p:txBody>
      </p:sp>
      <p:sp>
        <p:nvSpPr>
          <p:cNvPr id="600" name="Shape 594"/>
          <p:cNvSpPr/>
          <p:nvPr/>
        </p:nvSpPr>
        <p:spPr>
          <a:xfrm>
            <a:off x="8873338" y="6071616"/>
            <a:ext cx="197510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601" name="Shape 595"/>
          <p:cNvSpPr/>
          <p:nvPr/>
        </p:nvSpPr>
        <p:spPr>
          <a:xfrm>
            <a:off x="9070848" y="5413248"/>
            <a:ext cx="2830982" cy="1345997"/>
          </a:xfrm>
          <a:prstGeom prst="roundRect">
            <a:avLst>
              <a:gd name="adj" fmla="val 16304"/>
            </a:avLst>
          </a:prstGeom>
          <a:solidFill>
            <a:srgbClr val="F7F7F5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602" name="Text 596"/>
          <p:cNvSpPr/>
          <p:nvPr/>
        </p:nvSpPr>
        <p:spPr>
          <a:xfrm>
            <a:off x="9107424" y="5442509"/>
            <a:ext cx="2757830" cy="12874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1160" dirty="0"/>
          </a:p>
        </p:txBody>
      </p:sp>
      <p:sp>
        <p:nvSpPr>
          <p:cNvPr id="603" name="Text 597"/>
          <p:cNvSpPr/>
          <p:nvPr/>
        </p:nvSpPr>
        <p:spPr>
          <a:xfrm>
            <a:off x="9326880" y="5471770"/>
            <a:ext cx="2348179" cy="24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Reward Calculation</a:t>
            </a:r>
            <a:endParaRPr lang="en-US" sz="1450" dirty="0"/>
          </a:p>
        </p:txBody>
      </p:sp>
      <p:sp>
        <p:nvSpPr>
          <p:cNvPr id="604" name="Text 598"/>
          <p:cNvSpPr/>
          <p:nvPr/>
        </p:nvSpPr>
        <p:spPr>
          <a:xfrm>
            <a:off x="9261043" y="5727802"/>
            <a:ext cx="629107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18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Format</a:t>
            </a:r>
            <a:endParaRPr lang="en-US" sz="1218" dirty="0"/>
          </a:p>
        </p:txBody>
      </p:sp>
      <p:sp>
        <p:nvSpPr>
          <p:cNvPr id="605" name="Text 599"/>
          <p:cNvSpPr/>
          <p:nvPr/>
        </p:nvSpPr>
        <p:spPr>
          <a:xfrm>
            <a:off x="10138867" y="5727802"/>
            <a:ext cx="629107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18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Result</a:t>
            </a:r>
            <a:endParaRPr lang="en-US" sz="1218" dirty="0"/>
          </a:p>
        </p:txBody>
      </p:sp>
      <p:sp>
        <p:nvSpPr>
          <p:cNvPr id="606" name="Text 600"/>
          <p:cNvSpPr/>
          <p:nvPr/>
        </p:nvSpPr>
        <p:spPr>
          <a:xfrm>
            <a:off x="11060582" y="5727802"/>
            <a:ext cx="731520" cy="20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18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Efficiency</a:t>
            </a:r>
            <a:endParaRPr lang="en-US" sz="1218" dirty="0"/>
          </a:p>
        </p:txBody>
      </p:sp>
      <p:sp>
        <p:nvSpPr>
          <p:cNvPr id="607" name="Shape 601"/>
          <p:cNvSpPr/>
          <p:nvPr/>
        </p:nvSpPr>
        <p:spPr>
          <a:xfrm>
            <a:off x="9326880" y="6027725"/>
            <a:ext cx="307238" cy="380390"/>
          </a:xfrm>
          <a:prstGeom prst="roundRect">
            <a:avLst>
              <a:gd name="adj" fmla="val 4762"/>
            </a:avLst>
          </a:prstGeom>
          <a:solidFill>
            <a:srgbClr val="FFF4DA"/>
          </a:solidFill>
          <a:ln w="14732">
            <a:solidFill>
              <a:srgbClr val="67767B"/>
            </a:solidFill>
            <a:prstDash val="solid"/>
          </a:ln>
        </p:spPr>
      </p:sp>
      <p:sp>
        <p:nvSpPr>
          <p:cNvPr id="608" name="Shape 602"/>
          <p:cNvSpPr/>
          <p:nvPr/>
        </p:nvSpPr>
        <p:spPr>
          <a:xfrm>
            <a:off x="9385402" y="6115507"/>
            <a:ext cx="146304" cy="0"/>
          </a:xfrm>
          <a:prstGeom prst="line">
            <a:avLst/>
          </a:prstGeom>
          <a:noFill/>
          <a:ln w="14732">
            <a:solidFill>
              <a:srgbClr val="67767B"/>
            </a:solidFill>
            <a:prstDash val="solid"/>
            <a:tailEnd type="none"/>
          </a:ln>
        </p:spPr>
      </p:sp>
      <p:sp>
        <p:nvSpPr>
          <p:cNvPr id="609" name="Shape 603"/>
          <p:cNvSpPr/>
          <p:nvPr/>
        </p:nvSpPr>
        <p:spPr>
          <a:xfrm>
            <a:off x="9385402" y="6174029"/>
            <a:ext cx="146304" cy="0"/>
          </a:xfrm>
          <a:prstGeom prst="line">
            <a:avLst/>
          </a:prstGeom>
          <a:noFill/>
          <a:ln w="14732">
            <a:solidFill>
              <a:srgbClr val="67767B"/>
            </a:solidFill>
            <a:prstDash val="solid"/>
            <a:tailEnd type="none"/>
          </a:ln>
        </p:spPr>
      </p:sp>
      <p:sp>
        <p:nvSpPr>
          <p:cNvPr id="610" name="Shape 604"/>
          <p:cNvSpPr/>
          <p:nvPr/>
        </p:nvSpPr>
        <p:spPr>
          <a:xfrm>
            <a:off x="9385402" y="6232550"/>
            <a:ext cx="146304" cy="0"/>
          </a:xfrm>
          <a:prstGeom prst="line">
            <a:avLst/>
          </a:prstGeom>
          <a:noFill/>
          <a:ln w="14732">
            <a:solidFill>
              <a:srgbClr val="67767B"/>
            </a:solidFill>
            <a:prstDash val="solid"/>
            <a:tailEnd type="none"/>
          </a:ln>
        </p:spPr>
      </p:sp>
      <p:sp>
        <p:nvSpPr>
          <p:cNvPr id="611" name="Shape 605"/>
          <p:cNvSpPr/>
          <p:nvPr/>
        </p:nvSpPr>
        <p:spPr>
          <a:xfrm>
            <a:off x="9385402" y="6291072"/>
            <a:ext cx="146304" cy="0"/>
          </a:xfrm>
          <a:prstGeom prst="line">
            <a:avLst/>
          </a:prstGeom>
          <a:noFill/>
          <a:ln w="14732">
            <a:solidFill>
              <a:srgbClr val="67767B"/>
            </a:solidFill>
            <a:prstDash val="solid"/>
            <a:tailEnd type="none"/>
          </a:ln>
        </p:spPr>
      </p:sp>
      <p:sp>
        <p:nvSpPr>
          <p:cNvPr id="612" name="Shape 606"/>
          <p:cNvSpPr/>
          <p:nvPr/>
        </p:nvSpPr>
        <p:spPr>
          <a:xfrm>
            <a:off x="9495130" y="6174029"/>
            <a:ext cx="182880" cy="182880"/>
          </a:xfrm>
          <a:prstGeom prst="ellipse">
            <a:avLst/>
          </a:prstGeom>
          <a:solidFill>
            <a:srgbClr val="E7F4E8"/>
          </a:solidFill>
          <a:ln w="22098">
            <a:solidFill>
              <a:srgbClr val="315864"/>
            </a:solidFill>
            <a:prstDash val="solid"/>
          </a:ln>
        </p:spPr>
      </p:sp>
      <p:sp>
        <p:nvSpPr>
          <p:cNvPr id="613" name="Text 607"/>
          <p:cNvSpPr/>
          <p:nvPr/>
        </p:nvSpPr>
        <p:spPr>
          <a:xfrm>
            <a:off x="9531706" y="6181344"/>
            <a:ext cx="11704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60" b="1" dirty="0">
                <a:solidFill>
                  <a:srgbClr val="2D6A67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✓</a:t>
            </a:r>
            <a:endParaRPr lang="en-US" sz="1160" dirty="0"/>
          </a:p>
        </p:txBody>
      </p:sp>
      <p:sp>
        <p:nvSpPr>
          <p:cNvPr id="614" name="Shape 608"/>
          <p:cNvSpPr/>
          <p:nvPr/>
        </p:nvSpPr>
        <p:spPr>
          <a:xfrm>
            <a:off x="10197389" y="6056986"/>
            <a:ext cx="204826" cy="175565"/>
          </a:xfrm>
          <a:prstGeom prst="roundRect">
            <a:avLst>
              <a:gd name="adj" fmla="val 8333"/>
            </a:avLst>
          </a:prstGeom>
          <a:solidFill>
            <a:srgbClr val="EEF3F3"/>
          </a:solidFill>
          <a:ln w="14732">
            <a:solidFill>
              <a:srgbClr val="67767B"/>
            </a:solidFill>
            <a:prstDash val="solid"/>
          </a:ln>
        </p:spPr>
      </p:sp>
      <p:sp>
        <p:nvSpPr>
          <p:cNvPr id="615" name="Shape 609"/>
          <p:cNvSpPr/>
          <p:nvPr/>
        </p:nvSpPr>
        <p:spPr>
          <a:xfrm>
            <a:off x="10233965" y="6086246"/>
            <a:ext cx="51206" cy="51206"/>
          </a:xfrm>
          <a:prstGeom prst="ellipse">
            <a:avLst/>
          </a:prstGeom>
          <a:solidFill>
            <a:srgbClr val="A5C5D1"/>
          </a:solidFill>
          <a:ln w="7366">
            <a:solidFill>
              <a:srgbClr val="A5C5D1"/>
            </a:solidFill>
            <a:prstDash val="solid"/>
          </a:ln>
        </p:spPr>
      </p:sp>
      <p:sp>
        <p:nvSpPr>
          <p:cNvPr id="616" name="Shape 610"/>
          <p:cNvSpPr/>
          <p:nvPr/>
        </p:nvSpPr>
        <p:spPr>
          <a:xfrm>
            <a:off x="10219334" y="6203290"/>
            <a:ext cx="73152" cy="-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17" name="Shape 611"/>
          <p:cNvSpPr/>
          <p:nvPr/>
        </p:nvSpPr>
        <p:spPr>
          <a:xfrm>
            <a:off x="10292486" y="6144768"/>
            <a:ext cx="87782" cy="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18" name="Shape 612"/>
          <p:cNvSpPr/>
          <p:nvPr/>
        </p:nvSpPr>
        <p:spPr>
          <a:xfrm>
            <a:off x="10431475" y="6056986"/>
            <a:ext cx="204826" cy="175565"/>
          </a:xfrm>
          <a:prstGeom prst="roundRect">
            <a:avLst>
              <a:gd name="adj" fmla="val 8333"/>
            </a:avLst>
          </a:prstGeom>
          <a:solidFill>
            <a:srgbClr val="EEF3F3"/>
          </a:solidFill>
          <a:ln w="14732">
            <a:solidFill>
              <a:srgbClr val="67767B"/>
            </a:solidFill>
            <a:prstDash val="solid"/>
          </a:ln>
        </p:spPr>
      </p:sp>
      <p:sp>
        <p:nvSpPr>
          <p:cNvPr id="619" name="Shape 613"/>
          <p:cNvSpPr/>
          <p:nvPr/>
        </p:nvSpPr>
        <p:spPr>
          <a:xfrm>
            <a:off x="10468051" y="6086246"/>
            <a:ext cx="51206" cy="51206"/>
          </a:xfrm>
          <a:prstGeom prst="ellipse">
            <a:avLst/>
          </a:prstGeom>
          <a:solidFill>
            <a:srgbClr val="A5C5D1"/>
          </a:solidFill>
          <a:ln w="7366">
            <a:solidFill>
              <a:srgbClr val="A5C5D1"/>
            </a:solidFill>
            <a:prstDash val="solid"/>
          </a:ln>
        </p:spPr>
      </p:sp>
      <p:sp>
        <p:nvSpPr>
          <p:cNvPr id="620" name="Shape 614"/>
          <p:cNvSpPr/>
          <p:nvPr/>
        </p:nvSpPr>
        <p:spPr>
          <a:xfrm>
            <a:off x="10453421" y="6203290"/>
            <a:ext cx="73152" cy="-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21" name="Shape 615"/>
          <p:cNvSpPr/>
          <p:nvPr/>
        </p:nvSpPr>
        <p:spPr>
          <a:xfrm>
            <a:off x="10526573" y="6144768"/>
            <a:ext cx="87782" cy="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22" name="Shape 616"/>
          <p:cNvSpPr/>
          <p:nvPr/>
        </p:nvSpPr>
        <p:spPr>
          <a:xfrm>
            <a:off x="10197389" y="6269126"/>
            <a:ext cx="204826" cy="175565"/>
          </a:xfrm>
          <a:prstGeom prst="roundRect">
            <a:avLst>
              <a:gd name="adj" fmla="val 8333"/>
            </a:avLst>
          </a:prstGeom>
          <a:solidFill>
            <a:srgbClr val="EEF3F3"/>
          </a:solidFill>
          <a:ln w="14732">
            <a:solidFill>
              <a:srgbClr val="67767B"/>
            </a:solidFill>
            <a:prstDash val="solid"/>
          </a:ln>
        </p:spPr>
      </p:sp>
      <p:sp>
        <p:nvSpPr>
          <p:cNvPr id="623" name="Shape 617"/>
          <p:cNvSpPr/>
          <p:nvPr/>
        </p:nvSpPr>
        <p:spPr>
          <a:xfrm>
            <a:off x="10233965" y="6298387"/>
            <a:ext cx="51206" cy="51206"/>
          </a:xfrm>
          <a:prstGeom prst="ellipse">
            <a:avLst/>
          </a:prstGeom>
          <a:solidFill>
            <a:srgbClr val="A5C5D1"/>
          </a:solidFill>
          <a:ln w="7366">
            <a:solidFill>
              <a:srgbClr val="A5C5D1"/>
            </a:solidFill>
            <a:prstDash val="solid"/>
          </a:ln>
        </p:spPr>
      </p:sp>
      <p:sp>
        <p:nvSpPr>
          <p:cNvPr id="624" name="Shape 618"/>
          <p:cNvSpPr/>
          <p:nvPr/>
        </p:nvSpPr>
        <p:spPr>
          <a:xfrm>
            <a:off x="10219334" y="6415430"/>
            <a:ext cx="73152" cy="-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25" name="Shape 619"/>
          <p:cNvSpPr/>
          <p:nvPr/>
        </p:nvSpPr>
        <p:spPr>
          <a:xfrm>
            <a:off x="10292486" y="6356909"/>
            <a:ext cx="87782" cy="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26" name="Shape 620"/>
          <p:cNvSpPr/>
          <p:nvPr/>
        </p:nvSpPr>
        <p:spPr>
          <a:xfrm>
            <a:off x="10431475" y="6269126"/>
            <a:ext cx="204826" cy="175565"/>
          </a:xfrm>
          <a:prstGeom prst="roundRect">
            <a:avLst>
              <a:gd name="adj" fmla="val 8333"/>
            </a:avLst>
          </a:prstGeom>
          <a:solidFill>
            <a:srgbClr val="EEF3F3"/>
          </a:solidFill>
          <a:ln w="14732">
            <a:solidFill>
              <a:srgbClr val="67767B"/>
            </a:solidFill>
            <a:prstDash val="solid"/>
          </a:ln>
        </p:spPr>
      </p:sp>
      <p:sp>
        <p:nvSpPr>
          <p:cNvPr id="627" name="Shape 621"/>
          <p:cNvSpPr/>
          <p:nvPr/>
        </p:nvSpPr>
        <p:spPr>
          <a:xfrm>
            <a:off x="10468051" y="6298387"/>
            <a:ext cx="51206" cy="51206"/>
          </a:xfrm>
          <a:prstGeom prst="ellipse">
            <a:avLst/>
          </a:prstGeom>
          <a:solidFill>
            <a:srgbClr val="A5C5D1"/>
          </a:solidFill>
          <a:ln w="7366">
            <a:solidFill>
              <a:srgbClr val="A5C5D1"/>
            </a:solidFill>
            <a:prstDash val="solid"/>
          </a:ln>
        </p:spPr>
      </p:sp>
      <p:sp>
        <p:nvSpPr>
          <p:cNvPr id="628" name="Shape 622"/>
          <p:cNvSpPr/>
          <p:nvPr/>
        </p:nvSpPr>
        <p:spPr>
          <a:xfrm>
            <a:off x="10453421" y="6415430"/>
            <a:ext cx="73152" cy="-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29" name="Shape 623"/>
          <p:cNvSpPr/>
          <p:nvPr/>
        </p:nvSpPr>
        <p:spPr>
          <a:xfrm>
            <a:off x="10526573" y="6356909"/>
            <a:ext cx="87782" cy="58522"/>
          </a:xfrm>
          <a:prstGeom prst="line">
            <a:avLst/>
          </a:prstGeom>
          <a:noFill/>
          <a:ln w="14732">
            <a:solidFill>
              <a:srgbClr val="6E8B8D"/>
            </a:solidFill>
            <a:prstDash val="solid"/>
            <a:tailEnd type="none"/>
          </a:ln>
        </p:spPr>
      </p:sp>
      <p:sp>
        <p:nvSpPr>
          <p:cNvPr id="630" name="Shape 624"/>
          <p:cNvSpPr/>
          <p:nvPr/>
        </p:nvSpPr>
        <p:spPr>
          <a:xfrm>
            <a:off x="10402214" y="6232550"/>
            <a:ext cx="197510" cy="197510"/>
          </a:xfrm>
          <a:prstGeom prst="ellipse">
            <a:avLst/>
          </a:prstGeom>
          <a:solidFill>
            <a:srgbClr val="FFFFFF"/>
          </a:solidFill>
          <a:ln w="22098">
            <a:solidFill>
              <a:srgbClr val="315864"/>
            </a:solidFill>
            <a:prstDash val="solid"/>
          </a:ln>
        </p:spPr>
      </p:sp>
      <p:sp>
        <p:nvSpPr>
          <p:cNvPr id="631" name="Shape 625"/>
          <p:cNvSpPr/>
          <p:nvPr/>
        </p:nvSpPr>
        <p:spPr>
          <a:xfrm>
            <a:off x="10548518" y="6393485"/>
            <a:ext cx="87782" cy="80467"/>
          </a:xfrm>
          <a:prstGeom prst="line">
            <a:avLst/>
          </a:prstGeom>
          <a:noFill/>
          <a:ln w="29464">
            <a:solidFill>
              <a:srgbClr val="315864"/>
            </a:solidFill>
            <a:prstDash val="solid"/>
            <a:tailEnd type="none"/>
          </a:ln>
        </p:spPr>
      </p:sp>
      <p:sp>
        <p:nvSpPr>
          <p:cNvPr id="632" name="Shape 626"/>
          <p:cNvSpPr/>
          <p:nvPr/>
        </p:nvSpPr>
        <p:spPr>
          <a:xfrm>
            <a:off x="11111789" y="6027725"/>
            <a:ext cx="234086" cy="402336"/>
          </a:xfrm>
          <a:prstGeom prst="roundRect">
            <a:avLst>
              <a:gd name="adj" fmla="val 37500"/>
            </a:avLst>
          </a:prstGeom>
          <a:solidFill>
            <a:srgbClr val="E8F4E6"/>
          </a:solidFill>
          <a:ln w="22098">
            <a:solidFill>
              <a:srgbClr val="61746E"/>
            </a:solidFill>
            <a:prstDash val="solid"/>
          </a:ln>
        </p:spPr>
      </p:sp>
      <p:sp>
        <p:nvSpPr>
          <p:cNvPr id="633" name="Shape 627"/>
          <p:cNvSpPr/>
          <p:nvPr/>
        </p:nvSpPr>
        <p:spPr>
          <a:xfrm>
            <a:off x="11170310" y="6078931"/>
            <a:ext cx="95098" cy="95098"/>
          </a:xfrm>
          <a:prstGeom prst="ellipse">
            <a:avLst/>
          </a:prstGeom>
          <a:solidFill>
            <a:srgbClr val="A7C6BD"/>
          </a:solidFill>
          <a:ln w="14732">
            <a:solidFill>
              <a:srgbClr val="61746E"/>
            </a:solidFill>
            <a:prstDash val="solid"/>
          </a:ln>
        </p:spPr>
      </p:sp>
      <p:sp>
        <p:nvSpPr>
          <p:cNvPr id="634" name="Shape 628"/>
          <p:cNvSpPr/>
          <p:nvPr/>
        </p:nvSpPr>
        <p:spPr>
          <a:xfrm>
            <a:off x="11228832" y="6181344"/>
            <a:ext cx="0" cy="175565"/>
          </a:xfrm>
          <a:prstGeom prst="line">
            <a:avLst/>
          </a:prstGeom>
          <a:noFill/>
          <a:ln w="14732">
            <a:solidFill>
              <a:srgbClr val="61746E"/>
            </a:solidFill>
            <a:prstDash val="solid"/>
            <a:tailEnd type="none"/>
          </a:ln>
        </p:spPr>
      </p:sp>
      <p:sp>
        <p:nvSpPr>
          <p:cNvPr id="635" name="Shape 629"/>
          <p:cNvSpPr/>
          <p:nvPr/>
        </p:nvSpPr>
        <p:spPr>
          <a:xfrm>
            <a:off x="11170310" y="6291072"/>
            <a:ext cx="95098" cy="95098"/>
          </a:xfrm>
          <a:prstGeom prst="ellipse">
            <a:avLst/>
          </a:prstGeom>
          <a:solidFill>
            <a:srgbClr val="AED5C6"/>
          </a:solidFill>
          <a:ln w="14732">
            <a:solidFill>
              <a:srgbClr val="61746E"/>
            </a:solidFill>
            <a:prstDash val="solid"/>
          </a:ln>
        </p:spPr>
      </p:sp>
      <p:sp>
        <p:nvSpPr>
          <p:cNvPr id="636" name="Shape 630"/>
          <p:cNvSpPr/>
          <p:nvPr/>
        </p:nvSpPr>
        <p:spPr>
          <a:xfrm>
            <a:off x="11397082" y="6042355"/>
            <a:ext cx="204826" cy="175565"/>
          </a:xfrm>
          <a:prstGeom prst="roundRect">
            <a:avLst>
              <a:gd name="adj" fmla="val 12500"/>
            </a:avLst>
          </a:prstGeom>
          <a:solidFill>
            <a:srgbClr val="F5F5EF"/>
          </a:solidFill>
          <a:ln w="7366">
            <a:solidFill>
              <a:srgbClr val="E6E3D9"/>
            </a:solidFill>
            <a:prstDash val="solid"/>
          </a:ln>
        </p:spPr>
      </p:sp>
      <p:sp>
        <p:nvSpPr>
          <p:cNvPr id="637" name="Shape 631"/>
          <p:cNvSpPr/>
          <p:nvPr/>
        </p:nvSpPr>
        <p:spPr>
          <a:xfrm>
            <a:off x="11397082" y="6254496"/>
            <a:ext cx="204826" cy="175565"/>
          </a:xfrm>
          <a:prstGeom prst="roundRect">
            <a:avLst>
              <a:gd name="adj" fmla="val 12500"/>
            </a:avLst>
          </a:prstGeom>
          <a:solidFill>
            <a:srgbClr val="F5F5EF"/>
          </a:solidFill>
          <a:ln w="7366">
            <a:solidFill>
              <a:srgbClr val="E6E3D9"/>
            </a:solidFill>
            <a:prstDash val="solid"/>
          </a:ln>
        </p:spPr>
      </p:sp>
      <p:sp>
        <p:nvSpPr>
          <p:cNvPr id="638" name="Shape 632"/>
          <p:cNvSpPr/>
          <p:nvPr/>
        </p:nvSpPr>
        <p:spPr>
          <a:xfrm>
            <a:off x="11901830" y="6071616"/>
            <a:ext cx="256032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639" name="Shape 633"/>
          <p:cNvSpPr/>
          <p:nvPr/>
        </p:nvSpPr>
        <p:spPr>
          <a:xfrm>
            <a:off x="12157862" y="5413248"/>
            <a:ext cx="592531" cy="1345997"/>
          </a:xfrm>
          <a:prstGeom prst="rect">
            <a:avLst/>
          </a:prstGeom>
          <a:solidFill>
            <a:srgbClr val="F4F3F0"/>
          </a:solidFill>
          <a:ln w="22098">
            <a:solidFill>
              <a:srgbClr val="888888"/>
            </a:solidFill>
            <a:prstDash val="solid"/>
          </a:ln>
        </p:spPr>
      </p:sp>
      <p:sp>
        <p:nvSpPr>
          <p:cNvPr id="640" name="Shape 634"/>
          <p:cNvSpPr/>
          <p:nvPr/>
        </p:nvSpPr>
        <p:spPr>
          <a:xfrm>
            <a:off x="12216384" y="5471770"/>
            <a:ext cx="475488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641" name="Text 635"/>
          <p:cNvSpPr/>
          <p:nvPr/>
        </p:nvSpPr>
        <p:spPr>
          <a:xfrm>
            <a:off x="12231014" y="5501030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r1</a:t>
            </a:r>
            <a:endParaRPr lang="en-US" sz="1392" dirty="0"/>
          </a:p>
        </p:txBody>
      </p:sp>
      <p:sp>
        <p:nvSpPr>
          <p:cNvPr id="642" name="Shape 636"/>
          <p:cNvSpPr/>
          <p:nvPr/>
        </p:nvSpPr>
        <p:spPr>
          <a:xfrm>
            <a:off x="12216384" y="5815584"/>
            <a:ext cx="475488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643" name="Text 637"/>
          <p:cNvSpPr/>
          <p:nvPr/>
        </p:nvSpPr>
        <p:spPr>
          <a:xfrm>
            <a:off x="12231014" y="5844845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r2</a:t>
            </a:r>
            <a:endParaRPr lang="en-US" sz="1392" dirty="0"/>
          </a:p>
        </p:txBody>
      </p:sp>
      <p:sp>
        <p:nvSpPr>
          <p:cNvPr id="644" name="Shape 638"/>
          <p:cNvSpPr/>
          <p:nvPr/>
        </p:nvSpPr>
        <p:spPr>
          <a:xfrm>
            <a:off x="12216384" y="6159398"/>
            <a:ext cx="475488" cy="27797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645" name="Text 639"/>
          <p:cNvSpPr/>
          <p:nvPr/>
        </p:nvSpPr>
        <p:spPr>
          <a:xfrm>
            <a:off x="12231014" y="6188659"/>
            <a:ext cx="4462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92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⋯</a:t>
            </a:r>
            <a:endParaRPr lang="en-US" sz="1392" dirty="0"/>
          </a:p>
        </p:txBody>
      </p:sp>
      <p:sp>
        <p:nvSpPr>
          <p:cNvPr id="646" name="Shape 640"/>
          <p:cNvSpPr/>
          <p:nvPr/>
        </p:nvSpPr>
        <p:spPr>
          <a:xfrm>
            <a:off x="12216384" y="6408115"/>
            <a:ext cx="475488" cy="270662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22098">
            <a:solidFill>
              <a:srgbClr val="101315"/>
            </a:solidFill>
            <a:prstDash val="solid"/>
          </a:ln>
        </p:spPr>
      </p:sp>
      <p:sp>
        <p:nvSpPr>
          <p:cNvPr id="647" name="Text 641"/>
          <p:cNvSpPr/>
          <p:nvPr/>
        </p:nvSpPr>
        <p:spPr>
          <a:xfrm>
            <a:off x="12231014" y="6437376"/>
            <a:ext cx="446227" cy="212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r_G</a:t>
            </a:r>
            <a:endParaRPr lang="en-US" sz="1334" dirty="0"/>
          </a:p>
        </p:txBody>
      </p:sp>
      <p:sp>
        <p:nvSpPr>
          <p:cNvPr id="648" name="Text 642"/>
          <p:cNvSpPr/>
          <p:nvPr/>
        </p:nvSpPr>
        <p:spPr>
          <a:xfrm>
            <a:off x="12113971" y="6795821"/>
            <a:ext cx="680314" cy="23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34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Reward</a:t>
            </a:r>
            <a:endParaRPr lang="en-US" sz="1334" dirty="0"/>
          </a:p>
        </p:txBody>
      </p:sp>
      <p:sp>
        <p:nvSpPr>
          <p:cNvPr id="649" name="Shape 643"/>
          <p:cNvSpPr/>
          <p:nvPr/>
        </p:nvSpPr>
        <p:spPr>
          <a:xfrm>
            <a:off x="12750394" y="6071616"/>
            <a:ext cx="197510" cy="0"/>
          </a:xfrm>
          <a:prstGeom prst="line">
            <a:avLst/>
          </a:prstGeom>
          <a:noFill/>
          <a:ln w="22098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650" name="Shape 644"/>
          <p:cNvSpPr/>
          <p:nvPr/>
        </p:nvSpPr>
        <p:spPr>
          <a:xfrm>
            <a:off x="12947904" y="5786323"/>
            <a:ext cx="738835" cy="534010"/>
          </a:xfrm>
          <a:prstGeom prst="roundRect">
            <a:avLst>
              <a:gd name="adj" fmla="val 16438"/>
            </a:avLst>
          </a:prstGeom>
          <a:solidFill>
            <a:srgbClr val="BFE6EA"/>
          </a:solidFill>
          <a:ln w="22098">
            <a:solidFill>
              <a:srgbClr val="082C39"/>
            </a:solidFill>
            <a:prstDash val="solid"/>
          </a:ln>
        </p:spPr>
      </p:sp>
      <p:sp>
        <p:nvSpPr>
          <p:cNvPr id="651" name="Text 645"/>
          <p:cNvSpPr/>
          <p:nvPr/>
        </p:nvSpPr>
        <p:spPr>
          <a:xfrm>
            <a:off x="12969850" y="5815584"/>
            <a:ext cx="694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8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GRPO</a:t>
            </a:r>
            <a:endParaRPr lang="en-US" sz="1508" dirty="0"/>
          </a:p>
        </p:txBody>
      </p:sp>
      <p:sp>
        <p:nvSpPr>
          <p:cNvPr id="652" name="Shape 646"/>
          <p:cNvSpPr/>
          <p:nvPr/>
        </p:nvSpPr>
        <p:spPr>
          <a:xfrm>
            <a:off x="13686739" y="6049670"/>
            <a:ext cx="270662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53" name="Shape 647"/>
          <p:cNvSpPr/>
          <p:nvPr/>
        </p:nvSpPr>
        <p:spPr>
          <a:xfrm>
            <a:off x="13957402" y="6049670"/>
            <a:ext cx="0" cy="1046074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54" name="Shape 648"/>
          <p:cNvSpPr/>
          <p:nvPr/>
        </p:nvSpPr>
        <p:spPr>
          <a:xfrm>
            <a:off x="13957402" y="7095744"/>
            <a:ext cx="-6078931" cy="0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none"/>
          </a:ln>
        </p:spPr>
      </p:sp>
      <p:sp>
        <p:nvSpPr>
          <p:cNvPr id="655" name="Shape 649"/>
          <p:cNvSpPr/>
          <p:nvPr/>
        </p:nvSpPr>
        <p:spPr>
          <a:xfrm>
            <a:off x="7878470" y="7095744"/>
            <a:ext cx="0" cy="-336499"/>
          </a:xfrm>
          <a:prstGeom prst="line">
            <a:avLst/>
          </a:prstGeom>
          <a:noFill/>
          <a:ln w="29464">
            <a:solidFill>
              <a:srgbClr val="101315"/>
            </a:solidFill>
            <a:prstDash val="solid"/>
            <a:tailEnd type="triangle"/>
          </a:ln>
        </p:spPr>
      </p:sp>
      <p:sp>
        <p:nvSpPr>
          <p:cNvPr id="656" name="Text 650"/>
          <p:cNvSpPr/>
          <p:nvPr/>
        </p:nvSpPr>
        <p:spPr>
          <a:xfrm>
            <a:off x="10270541" y="6803136"/>
            <a:ext cx="115580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6" dirty="0">
                <a:solidFill>
                  <a:srgbClr val="10131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Optimize</a:t>
            </a:r>
            <a:endParaRPr lang="en-US" sz="156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807440" y="6903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Retrv-R1 A Reasoning-Driven MLLM Framework for Universal and Efficient Multimodal Retrieval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98803" cy="72713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Retrv-R1 Overall Pipeline, ICM, and Training Process</dc:title>
  <dc:subject>Editable reconstruction of Retrv-R1 framework diagram</dc:subject>
  <dc:creator>OpenAI</dc:creator>
  <cp:lastModifiedBy>OpenAI</cp:lastModifiedBy>
  <cp:revision>1</cp:revision>
  <dcterms:created xsi:type="dcterms:W3CDTF">2026-09-07T13:40:02Z</dcterms:created>
  <dcterms:modified xsi:type="dcterms:W3CDTF">2026-09-07T13:40:02Z</dcterms:modified>
</cp:coreProperties>
</file>