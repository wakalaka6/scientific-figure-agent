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42508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425082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6176" y="26894"/>
            <a:ext cx="11766176" cy="289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8" b="1" i="0">
                <a:solidFill>
                  <a:srgbClr val="245F97"/>
                </a:solidFill>
                <a:latin typeface="Arial"/>
              </a:defRPr>
            </a:pPr>
            <a:r>
              <a:t>Stage 1 : Generating Metric-scale Camera, Video Depth, Object Category, Object Mask and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8941" y="484094"/>
            <a:ext cx="3025588" cy="369794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0611" y="356347"/>
            <a:ext cx="186241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99" y="369794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3" b="1" i="0">
                <a:solidFill>
                  <a:srgbClr val="111111"/>
                </a:solidFill>
                <a:latin typeface="DejaVu Sans"/>
              </a:defRPr>
            </a:pPr>
            <a:r>
              <a:t>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999" y="376517"/>
            <a:ext cx="158002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17" b="1" i="0">
                <a:solidFill>
                  <a:srgbClr val="111111"/>
                </a:solidFill>
                <a:latin typeface="Liberation Serif"/>
              </a:defRPr>
            </a:pPr>
            <a:r>
              <a:t>Raw Data Collection</a:t>
            </a:r>
          </a:p>
        </p:txBody>
      </p:sp>
      <p:pic>
        <p:nvPicPr>
          <p:cNvPr id="8" name="Picture 7" descr="raw_co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29" y="632011"/>
            <a:ext cx="2622176" cy="13783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0476" y="2097741"/>
            <a:ext cx="268941" cy="336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17" b="0" i="0">
                <a:solidFill>
                  <a:srgbClr val="A7A7A7"/>
                </a:solidFill>
                <a:latin typeface="DejaVu Sans"/>
              </a:defRPr>
            </a:pPr>
            <a:r>
              <a:t>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482" y="2077570"/>
            <a:ext cx="2353235" cy="423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Raw 2D video datasets with GT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instance mask &amp; semantic label</a:t>
            </a:r>
          </a:p>
        </p:txBody>
      </p:sp>
      <p:pic>
        <p:nvPicPr>
          <p:cNvPr id="11" name="Picture 10" descr="raw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05" y="2823882"/>
            <a:ext cx="2756647" cy="8740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2658" y="3731558"/>
            <a:ext cx="2017058" cy="389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17" b="1" i="0">
                <a:solidFill>
                  <a:srgbClr val="111111"/>
                </a:solidFill>
                <a:latin typeface="Liberation Serif"/>
              </a:defRPr>
            </a:pPr>
            <a:r>
              <a:t>Raw dynamic 3D datasets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17" b="1" i="0">
                <a:solidFill>
                  <a:srgbClr val="111111"/>
                </a:solidFill>
                <a:latin typeface="Liberation Serif"/>
              </a:defRPr>
            </a:pPr>
            <a:r>
              <a:t>with GT camera &amp; depth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9929" y="3818964"/>
            <a:ext cx="242047" cy="0"/>
          </a:xfrm>
          <a:prstGeom prst="line">
            <a:avLst/>
          </a:prstGeom>
          <a:ln w="2794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9929" y="3899647"/>
            <a:ext cx="242047" cy="0"/>
          </a:xfrm>
          <a:prstGeom prst="line">
            <a:avLst/>
          </a:prstGeom>
          <a:ln w="2794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9929" y="3980329"/>
            <a:ext cx="242047" cy="0"/>
          </a:xfrm>
          <a:prstGeom prst="line">
            <a:avLst/>
          </a:prstGeom>
          <a:ln w="2794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3274358" y="2030505"/>
            <a:ext cx="262217" cy="497541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2788" y="484094"/>
            <a:ext cx="2622176" cy="3697941"/>
          </a:xfrm>
          <a:prstGeom prst="roundRect">
            <a:avLst>
              <a:gd name="adj" fmla="val 12000"/>
            </a:avLst>
          </a:prstGeom>
          <a:solidFill>
            <a:srgbClr val="FFF1F3"/>
          </a:solidFill>
          <a:ln w="34925">
            <a:solidFill>
              <a:srgbClr val="F7B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84494" y="363070"/>
            <a:ext cx="2232211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8282" y="376517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 i="0">
                <a:solidFill>
                  <a:srgbClr val="111111"/>
                </a:solidFill>
                <a:latin typeface="DejaVu Sans"/>
              </a:defRPr>
            </a:pPr>
            <a:r>
              <a:t>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6882" y="383241"/>
            <a:ext cx="1949823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Powerful Foundation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0705" y="658905"/>
            <a:ext cx="1129552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odel_dep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152" y="672352"/>
            <a:ext cx="1102658" cy="6320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44152" y="1290917"/>
            <a:ext cx="1102658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UniDepth-V2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34217" y="658905"/>
            <a:ext cx="1142999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odel_segany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664" y="672352"/>
            <a:ext cx="1116105" cy="63201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47664" y="1290917"/>
            <a:ext cx="1116105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SegAnyMo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30705" y="1532964"/>
            <a:ext cx="1129552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odel_unim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4152" y="1546411"/>
            <a:ext cx="1102658" cy="63201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44152" y="2164976"/>
            <a:ext cx="1102658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UniMatch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34217" y="1532964"/>
            <a:ext cx="1142999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odel_cotra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664" y="1546411"/>
            <a:ext cx="1116105" cy="63201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47664" y="2164976"/>
            <a:ext cx="1116105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CoTracker-V3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0705" y="2420470"/>
            <a:ext cx="1129552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odel_s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4152" y="2433917"/>
            <a:ext cx="1102658" cy="63201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44152" y="3045758"/>
            <a:ext cx="1102658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SAM2 &amp; Variants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34217" y="2420470"/>
            <a:ext cx="1142999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model_vgg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7664" y="2433917"/>
            <a:ext cx="1116105" cy="63201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47664" y="3045758"/>
            <a:ext cx="1116105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VGGT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30705" y="3307976"/>
            <a:ext cx="1129552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odel_e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4152" y="3321423"/>
            <a:ext cx="1102658" cy="63201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44152" y="3953435"/>
            <a:ext cx="1102658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Epipolar Errors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34217" y="3307976"/>
            <a:ext cx="1142999" cy="6589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477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model_ll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7664" y="3321423"/>
            <a:ext cx="1116105" cy="63201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847664" y="3953435"/>
            <a:ext cx="1116105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Language Models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084794" y="1391770"/>
            <a:ext cx="295835" cy="497541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E31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6084794" y="3180229"/>
            <a:ext cx="295835" cy="497541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E31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20117" y="484094"/>
            <a:ext cx="2743199" cy="2218764"/>
          </a:xfrm>
          <a:prstGeom prst="roundRect">
            <a:avLst>
              <a:gd name="adj" fmla="val 12000"/>
            </a:avLst>
          </a:prstGeom>
          <a:solidFill>
            <a:srgbClr val="F9FDFC"/>
          </a:solidFill>
          <a:ln w="34925">
            <a:solidFill>
              <a:srgbClr val="729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70594" y="363070"/>
            <a:ext cx="184224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24382" y="376517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3" b="1" i="0">
                <a:solidFill>
                  <a:srgbClr val="111111"/>
                </a:solidFill>
                <a:latin typeface="DejaVu Sans"/>
              </a:defRPr>
            </a:pPr>
            <a:r>
              <a:t>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2982" y="383241"/>
            <a:ext cx="15598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17" b="1" i="0">
                <a:solidFill>
                  <a:srgbClr val="111111"/>
                </a:solidFill>
                <a:latin typeface="Liberation Serif"/>
              </a:defRPr>
            </a:pPr>
            <a:r>
              <a:t>Data Filter Strategy</a:t>
            </a:r>
          </a:p>
        </p:txBody>
      </p:sp>
      <p:sp>
        <p:nvSpPr>
          <p:cNvPr id="51" name="Oval 50"/>
          <p:cNvSpPr/>
          <p:nvPr/>
        </p:nvSpPr>
        <p:spPr>
          <a:xfrm>
            <a:off x="6548717" y="712694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8888" y="719417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71447" y="712694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111111"/>
                </a:solidFill>
                <a:latin typeface="Liberation Serif"/>
              </a:defRPr>
            </a:pPr>
            <a:r>
              <a:t>Proximal Depth Verification</a:t>
            </a:r>
          </a:p>
        </p:txBody>
      </p:sp>
      <p:sp>
        <p:nvSpPr>
          <p:cNvPr id="54" name="Oval 53"/>
          <p:cNvSpPr/>
          <p:nvPr/>
        </p:nvSpPr>
        <p:spPr>
          <a:xfrm>
            <a:off x="6548717" y="1035423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8888" y="1042147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1447" y="1035423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111111"/>
                </a:solidFill>
                <a:latin typeface="Liberation Serif"/>
              </a:defRPr>
            </a:pPr>
            <a:r>
              <a:t>Dynamic Object Coverage</a:t>
            </a:r>
          </a:p>
        </p:txBody>
      </p:sp>
      <p:sp>
        <p:nvSpPr>
          <p:cNvPr id="57" name="Oval 56"/>
          <p:cNvSpPr/>
          <p:nvPr/>
        </p:nvSpPr>
        <p:spPr>
          <a:xfrm>
            <a:off x="6548717" y="1358152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68888" y="1364876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1447" y="1358152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111111"/>
                </a:solidFill>
                <a:latin typeface="Liberation Serif"/>
              </a:defRPr>
            </a:pPr>
            <a:r>
              <a:t>Focal-Length Stability</a:t>
            </a:r>
          </a:p>
        </p:txBody>
      </p:sp>
      <p:sp>
        <p:nvSpPr>
          <p:cNvPr id="60" name="Oval 59"/>
          <p:cNvSpPr/>
          <p:nvPr/>
        </p:nvSpPr>
        <p:spPr>
          <a:xfrm>
            <a:off x="6548717" y="1680882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68888" y="1687605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71447" y="1680882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111111"/>
                </a:solidFill>
                <a:latin typeface="Liberation Serif"/>
              </a:defRPr>
            </a:pPr>
            <a:r>
              <a:t>Video Blur Degree</a:t>
            </a:r>
          </a:p>
        </p:txBody>
      </p:sp>
      <p:sp>
        <p:nvSpPr>
          <p:cNvPr id="63" name="Oval 62"/>
          <p:cNvSpPr/>
          <p:nvPr/>
        </p:nvSpPr>
        <p:spPr>
          <a:xfrm>
            <a:off x="6548717" y="2003611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68888" y="2010335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71447" y="2003611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111111"/>
                </a:solidFill>
                <a:latin typeface="Liberation Serif"/>
              </a:defRPr>
            </a:pPr>
            <a:r>
              <a:t>Camera Motion Smoothness</a:t>
            </a:r>
          </a:p>
        </p:txBody>
      </p:sp>
      <p:sp>
        <p:nvSpPr>
          <p:cNvPr id="66" name="Oval 65"/>
          <p:cNvSpPr/>
          <p:nvPr/>
        </p:nvSpPr>
        <p:spPr>
          <a:xfrm>
            <a:off x="6548717" y="2326341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68888" y="2333064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71447" y="2326341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111111"/>
                </a:solidFill>
                <a:latin typeface="Liberation Serif"/>
              </a:defRPr>
            </a:pPr>
            <a:r>
              <a:t>VLM Judgement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18711" y="1331258"/>
            <a:ext cx="537882" cy="4840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35" b="0" i="0">
                <a:solidFill>
                  <a:srgbClr val="4A8B3A"/>
                </a:solidFill>
                <a:latin typeface="DejaVu Sans"/>
              </a:defRPr>
            </a:pPr>
            <a:r>
              <a:t>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38882" y="1687605"/>
            <a:ext cx="504264" cy="3092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1" i="0">
                <a:solidFill>
                  <a:srgbClr val="4A8B3A"/>
                </a:solidFill>
                <a:latin typeface="Arial"/>
              </a:defRPr>
            </a:pPr>
            <a:r>
              <a:t>Random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1" i="0">
                <a:solidFill>
                  <a:srgbClr val="4A8B3A"/>
                </a:solidFill>
                <a:latin typeface="Arial"/>
              </a:defRPr>
            </a:pPr>
            <a:r>
              <a:t>forest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20117" y="2938182"/>
            <a:ext cx="2743199" cy="1237129"/>
          </a:xfrm>
          <a:prstGeom prst="roundRect">
            <a:avLst>
              <a:gd name="adj" fmla="val 12000"/>
            </a:avLst>
          </a:prstGeom>
          <a:solidFill>
            <a:srgbClr val="F5FAFD"/>
          </a:solidFill>
          <a:ln w="34925">
            <a:solidFill>
              <a:srgbClr val="80B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56294" y="2823882"/>
            <a:ext cx="2084294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10082" y="2837329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3" b="1" i="0">
                <a:solidFill>
                  <a:srgbClr val="111111"/>
                </a:solidFill>
                <a:latin typeface="DejaVu Sans"/>
              </a:defRPr>
            </a:pPr>
            <a:r>
              <a:t>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38682" y="2844052"/>
            <a:ext cx="1801905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17" b="1" i="0">
                <a:solidFill>
                  <a:srgbClr val="111111"/>
                </a:solidFill>
                <a:latin typeface="Liberation Serif"/>
              </a:defRPr>
            </a:pPr>
            <a:r>
              <a:t>Moving Object Recovery</a:t>
            </a:r>
          </a:p>
        </p:txBody>
      </p:sp>
      <p:sp>
        <p:nvSpPr>
          <p:cNvPr id="75" name="Oval 74"/>
          <p:cNvSpPr/>
          <p:nvPr/>
        </p:nvSpPr>
        <p:spPr>
          <a:xfrm>
            <a:off x="6548717" y="3173505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68888" y="3180229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71447" y="3173505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VLM-based object recognition</a:t>
            </a:r>
          </a:p>
        </p:txBody>
      </p:sp>
      <p:sp>
        <p:nvSpPr>
          <p:cNvPr id="78" name="Oval 77"/>
          <p:cNvSpPr/>
          <p:nvPr/>
        </p:nvSpPr>
        <p:spPr>
          <a:xfrm>
            <a:off x="6548717" y="3496235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68888" y="3502958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71447" y="3496235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Semantic-based Segmentation</a:t>
            </a:r>
          </a:p>
        </p:txBody>
      </p:sp>
      <p:sp>
        <p:nvSpPr>
          <p:cNvPr id="81" name="Oval 80"/>
          <p:cNvSpPr/>
          <p:nvPr/>
        </p:nvSpPr>
        <p:spPr>
          <a:xfrm>
            <a:off x="6548717" y="3818964"/>
            <a:ext cx="228599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68888" y="3825688"/>
            <a:ext cx="18825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71447" y="3818964"/>
            <a:ext cx="22187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Physical-aware Size Extraction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9056594" y="1371600"/>
            <a:ext cx="248770" cy="497541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397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ight Arrow 84"/>
          <p:cNvSpPr/>
          <p:nvPr/>
        </p:nvSpPr>
        <p:spPr>
          <a:xfrm>
            <a:off x="9056594" y="3180229"/>
            <a:ext cx="248770" cy="497541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3E8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278470" y="470647"/>
            <a:ext cx="3032311" cy="3671047"/>
          </a:xfrm>
          <a:prstGeom prst="roundRect">
            <a:avLst>
              <a:gd name="adj" fmla="val 12000"/>
            </a:avLst>
          </a:prstGeom>
          <a:solidFill>
            <a:srgbClr val="FFFDFB"/>
          </a:solidFill>
          <a:ln w="27940">
            <a:solidFill>
              <a:srgbClr val="F2B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352429" y="564776"/>
            <a:ext cx="2870947" cy="3469341"/>
          </a:xfrm>
          <a:prstGeom prst="roundRect">
            <a:avLst>
              <a:gd name="adj" fmla="val 12000"/>
            </a:avLst>
          </a:prstGeom>
          <a:solidFill>
            <a:srgbClr val="FBF8F6"/>
          </a:solidFill>
          <a:ln w="10477">
            <a:solidFill>
              <a:srgbClr val="D9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07070" y="356347"/>
            <a:ext cx="2514599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60858" y="369794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 i="0">
                <a:solidFill>
                  <a:srgbClr val="111111"/>
                </a:solidFill>
                <a:latin typeface="DejaVu Sans"/>
              </a:defRPr>
            </a:pPr>
            <a:r>
              <a:t>♟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789458" y="376517"/>
            <a:ext cx="2232211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Dynamic Bundle Adjustment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527241" y="719417"/>
            <a:ext cx="2521323" cy="430305"/>
          </a:xfrm>
          <a:prstGeom prst="roundRect">
            <a:avLst>
              <a:gd name="adj" fmla="val 12000"/>
            </a:avLst>
          </a:prstGeom>
          <a:solidFill>
            <a:srgbClr val="FFAA05"/>
          </a:solidFill>
          <a:ln w="6985">
            <a:solidFill>
              <a:srgbClr val="FFA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581029" y="719417"/>
            <a:ext cx="2413747" cy="430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Dynamic Masking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527241" y="1311088"/>
            <a:ext cx="2521323" cy="510988"/>
          </a:xfrm>
          <a:prstGeom prst="roundRect">
            <a:avLst>
              <a:gd name="adj" fmla="val 12000"/>
            </a:avLst>
          </a:prstGeom>
          <a:solidFill>
            <a:srgbClr val="DD9A2D"/>
          </a:solidFill>
          <a:ln w="6985">
            <a:solidFill>
              <a:srgbClr val="DD9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581029" y="1311088"/>
            <a:ext cx="2413747" cy="510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Coarse Camera Initialization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527241" y="1996888"/>
            <a:ext cx="2521323" cy="510988"/>
          </a:xfrm>
          <a:prstGeom prst="roundRect">
            <a:avLst>
              <a:gd name="adj" fmla="val 12000"/>
            </a:avLst>
          </a:prstGeom>
          <a:solidFill>
            <a:srgbClr val="CB7909"/>
          </a:solidFill>
          <a:ln w="6985">
            <a:solidFill>
              <a:srgbClr val="CB79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81029" y="1996888"/>
            <a:ext cx="2413747" cy="510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Static Area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Bundle Adjustment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527241" y="2689411"/>
            <a:ext cx="2521323" cy="510988"/>
          </a:xfrm>
          <a:prstGeom prst="roundRect">
            <a:avLst>
              <a:gd name="adj" fmla="val 12000"/>
            </a:avLst>
          </a:prstGeom>
          <a:solidFill>
            <a:srgbClr val="A85D22"/>
          </a:solidFill>
          <a:ln w="6985">
            <a:solidFill>
              <a:srgbClr val="A85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581029" y="2689411"/>
            <a:ext cx="2413747" cy="510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Non-Rigid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Bundle Adjustment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527241" y="3355041"/>
            <a:ext cx="2521323" cy="510988"/>
          </a:xfrm>
          <a:prstGeom prst="roundRect">
            <a:avLst>
              <a:gd name="adj" fmla="val 12000"/>
            </a:avLst>
          </a:prstGeom>
          <a:solidFill>
            <a:srgbClr val="665033"/>
          </a:solidFill>
          <a:ln w="6985">
            <a:solidFill>
              <a:srgbClr val="665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581029" y="3355041"/>
            <a:ext cx="2413747" cy="510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Sliding Window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11" b="1" i="0">
                <a:solidFill>
                  <a:srgbClr val="FFFFFF"/>
                </a:solidFill>
                <a:latin typeface="Arial"/>
              </a:defRPr>
            </a:pPr>
            <a:r>
              <a:t>Global Refinement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0784541" y="1149723"/>
            <a:ext cx="0" cy="161365"/>
          </a:xfrm>
          <a:prstGeom prst="line">
            <a:avLst/>
          </a:prstGeom>
          <a:ln w="2095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784541" y="1822076"/>
            <a:ext cx="0" cy="174812"/>
          </a:xfrm>
          <a:prstGeom prst="line">
            <a:avLst/>
          </a:prstGeom>
          <a:ln w="2095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784541" y="2507876"/>
            <a:ext cx="0" cy="181535"/>
          </a:xfrm>
          <a:prstGeom prst="line">
            <a:avLst/>
          </a:prstGeom>
          <a:ln w="2095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784541" y="3200400"/>
            <a:ext cx="0" cy="154641"/>
          </a:xfrm>
          <a:prstGeom prst="line">
            <a:avLst/>
          </a:prstGeom>
          <a:ln w="2095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511" y="4511488"/>
            <a:ext cx="12324230" cy="0"/>
          </a:xfrm>
          <a:prstGeom prst="line">
            <a:avLst/>
          </a:prstGeom>
          <a:ln w="69850">
            <a:solidFill>
              <a:srgbClr val="77777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349623" y="4585447"/>
            <a:ext cx="11766176" cy="289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35" b="1" i="0">
                <a:solidFill>
                  <a:srgbClr val="397D24"/>
                </a:solidFill>
                <a:latin typeface="Arial"/>
              </a:defRPr>
            </a:pPr>
            <a:r>
              <a:t>Stage 2 : Generating Finer-grained Captions For Moving Objects, Cameras and Dynamic Scenes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68941" y="5062817"/>
            <a:ext cx="5082988" cy="40139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815352" y="4928347"/>
            <a:ext cx="224565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69141" y="4941794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 i="0">
                <a:solidFill>
                  <a:srgbClr val="111111"/>
                </a:solidFill>
                <a:latin typeface="DejaVu Sans"/>
              </a:defRPr>
            </a:pPr>
            <a:r>
              <a:t>▣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97741" y="4948517"/>
            <a:ext cx="1963270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Moving Object Caption</a:t>
            </a:r>
          </a:p>
        </p:txBody>
      </p:sp>
      <p:pic>
        <p:nvPicPr>
          <p:cNvPr id="111" name="Picture 110" descr="video_ra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647" y="5204011"/>
            <a:ext cx="874058" cy="142538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443752" y="6609229"/>
            <a:ext cx="188258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76" b="1" i="0">
                <a:solidFill>
                  <a:srgbClr val="333333"/>
                </a:solidFill>
                <a:latin typeface="DejaVu Sans"/>
              </a:defRPr>
            </a:pPr>
            <a:r>
              <a:t>▣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2011" y="6609229"/>
            <a:ext cx="806823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Raw Videos</a:t>
            </a:r>
          </a:p>
        </p:txBody>
      </p:sp>
      <p:pic>
        <p:nvPicPr>
          <p:cNvPr id="114" name="Picture 113" descr="video_mas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647" y="6871447"/>
            <a:ext cx="874058" cy="1438835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423582" y="8317005"/>
            <a:ext cx="168088" cy="168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23" b="0" i="0">
                <a:solidFill>
                  <a:srgbClr val="D98C38"/>
                </a:solidFill>
                <a:latin typeface="DejaVu Sans"/>
              </a:defRPr>
            </a:pPr>
            <a:r>
              <a:t>▨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8394" y="8317005"/>
            <a:ext cx="874058" cy="168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5" b="1" i="0">
                <a:solidFill>
                  <a:srgbClr val="111111"/>
                </a:solidFill>
                <a:latin typeface="Liberation Serif"/>
              </a:defRPr>
            </a:pPr>
            <a:r>
              <a:t>Instance Masks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3582" y="8572500"/>
            <a:ext cx="974911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0" i="0">
                <a:solidFill>
                  <a:srgbClr val="111111"/>
                </a:solidFill>
                <a:latin typeface="Liberation Serif"/>
              </a:defRPr>
            </a:pPr>
            <a:r>
              <a:t>“A Young Boy”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03411" y="8848164"/>
            <a:ext cx="161364" cy="161364"/>
          </a:xfrm>
          <a:prstGeom prst="rect">
            <a:avLst/>
          </a:prstGeom>
          <a:solidFill>
            <a:srgbClr val="FFFFFF"/>
          </a:solidFill>
          <a:ln w="13970">
            <a:solidFill>
              <a:srgbClr val="5B9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6858" y="8848164"/>
            <a:ext cx="134470" cy="161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579A5C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8564" y="8841441"/>
            <a:ext cx="874058" cy="188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5" b="1" i="0">
                <a:solidFill>
                  <a:srgbClr val="111111"/>
                </a:solidFill>
                <a:latin typeface="Liberation Serif"/>
              </a:defRPr>
            </a:pPr>
            <a:r>
              <a:t>Instance Label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512794" y="5204011"/>
            <a:ext cx="3711388" cy="524435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580029" y="5271247"/>
            <a:ext cx="3563470" cy="1546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Liberation Serif"/>
              </a:rPr>
              <a:t>Prompt: </a:t>
            </a:r>
            <a:r>
              <a:rPr sz="900" b="0" i="0">
                <a:solidFill>
                  <a:srgbClr val="111111"/>
                </a:solidFill>
                <a:latin typeface="Liberation Serif"/>
              </a:rPr>
              <a:t>Given the &lt;raw video&gt;, </a:t>
            </a:r>
            <a:r>
              <a:rPr sz="900" b="0" i="0">
                <a:solidFill>
                  <a:srgbClr val="E8872B"/>
                </a:solidFill>
                <a:latin typeface="Liberation Serif"/>
              </a:rPr>
              <a:t>&lt;moving instance mask&gt;</a:t>
            </a:r>
            <a:r>
              <a:rPr sz="900" b="0" i="0">
                <a:solidFill>
                  <a:srgbClr val="111111"/>
                </a:solidFill>
                <a:latin typeface="Liberation Serif"/>
              </a:rPr>
              <a:t> and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80029" y="5425888"/>
            <a:ext cx="3563470" cy="1546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845C"/>
                </a:solidFill>
                <a:latin typeface="Liberation Serif"/>
              </a:rPr>
              <a:t>&lt;instance label&gt;. </a:t>
            </a:r>
            <a:r>
              <a:rPr sz="900" b="0" i="0">
                <a:solidFill>
                  <a:srgbClr val="111111"/>
                </a:solidFill>
                <a:latin typeface="Liberation Serif"/>
              </a:rPr>
              <a:t>Provide a description of the moving instance.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80029" y="5560358"/>
            <a:ext cx="3563470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Liberation Serif"/>
              </a:defRPr>
            </a:pPr>
            <a:r>
              <a:t>Focus on its action and attributes (e.g., color, shape, material).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512794" y="5795682"/>
            <a:ext cx="3711388" cy="1210235"/>
          </a:xfrm>
          <a:prstGeom prst="roundRect">
            <a:avLst>
              <a:gd name="adj" fmla="val 12000"/>
            </a:avLst>
          </a:prstGeom>
          <a:solidFill>
            <a:srgbClr val="E6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647264" y="5728447"/>
            <a:ext cx="3428999" cy="215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Response (object-level)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00199" y="5923429"/>
            <a:ext cx="3529852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1D73AD"/>
                </a:solidFill>
                <a:latin typeface="DejaVu Sans"/>
              </a:rPr>
              <a:t>&lt;think&gt; </a:t>
            </a:r>
            <a:r>
              <a:rPr sz="847" b="0" i="0">
                <a:solidFill>
                  <a:srgbClr val="111111"/>
                </a:solidFill>
                <a:latin typeface="DejaVu Sans"/>
              </a:rPr>
              <a:t>Alright, let's break down the attributes </a:t>
            </a:r>
            <a:r>
              <a:rPr sz="847" b="0" i="0">
                <a:solidFill>
                  <a:srgbClr val="48A6D9"/>
                </a:solidFill>
                <a:latin typeface="DejaVu Sans"/>
              </a:rPr>
              <a:t>step by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600199" y="6071347"/>
            <a:ext cx="3529852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48A6D9"/>
                </a:solidFill>
                <a:latin typeface="DejaVu Sans"/>
              </a:rPr>
              <a:t>step</a:t>
            </a:r>
            <a:r>
              <a:rPr sz="847" b="0" i="0">
                <a:solidFill>
                  <a:srgbClr val="111111"/>
                </a:solidFill>
                <a:latin typeface="DejaVu Sans"/>
              </a:rPr>
              <a:t>: First, observe the boy's action: stand, crouch, ...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00199" y="6219264"/>
            <a:ext cx="3529852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Then, see the boy's attire: light green shirt, ... Next,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00199" y="6367182"/>
            <a:ext cx="3529852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note the shape and movement: agile, ... Then, consider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00199" y="6515100"/>
            <a:ext cx="3529852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the material of the clothing: lightweight, ... Finally,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00199" y="6663017"/>
            <a:ext cx="3529852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111111"/>
                </a:solidFill>
                <a:latin typeface="DejaVu Sans"/>
              </a:rPr>
              <a:t>take into account the setting and engagement. </a:t>
            </a:r>
            <a:r>
              <a:rPr sz="847" b="0" i="0">
                <a:solidFill>
                  <a:srgbClr val="E31C13"/>
                </a:solidFill>
                <a:latin typeface="DejaVu Sans"/>
              </a:rPr>
              <a:t>&lt;/think&gt;  &lt;answer&gt;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00199" y="6810935"/>
            <a:ext cx="3529852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E31C13"/>
                </a:solidFill>
                <a:latin typeface="DejaVu Sans"/>
              </a:defRPr>
            </a:pPr>
            <a:r>
              <a:t>{...}&lt;/answer&gt;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512794" y="7079876"/>
            <a:ext cx="3711388" cy="1882588"/>
          </a:xfrm>
          <a:prstGeom prst="roundRect">
            <a:avLst>
              <a:gd name="adj" fmla="val 12000"/>
            </a:avLst>
          </a:prstGeom>
          <a:solidFill>
            <a:srgbClr val="EC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647264" y="7073152"/>
            <a:ext cx="3428999" cy="215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LLM-rephrased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714499" y="7362264"/>
            <a:ext cx="3361764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E31C13"/>
                </a:solidFill>
                <a:latin typeface="DejaVu Sans"/>
              </a:rPr>
              <a:t>&lt;answer&gt;</a:t>
            </a:r>
            <a:r>
              <a:rPr sz="847" b="0" i="0">
                <a:solidFill>
                  <a:srgbClr val="111111"/>
                </a:solidFill>
                <a:latin typeface="DejaVu Sans"/>
              </a:rPr>
              <a:t> {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16205" y="7516905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A young boy in a vibrant green vest with red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16205" y="7664823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trim and dark pants performs a dynamic sequence.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16205" y="7812741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Beginning in profile, they turn, extending arms and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916205" y="7960658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balancing on ready legs. Fluidly shifting from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16205" y="8108576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standing to a focused crouch, their movements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916205" y="8256494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display agility and control. The energetic sequence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916205" y="8404411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concludes with them seated, relaxed yet purposeful,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16205" y="8552329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embodying athleticism and grace throughout the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16205" y="8700247"/>
            <a:ext cx="3146611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transitions.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714499" y="8834717"/>
            <a:ext cx="3361764" cy="121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111111"/>
                </a:solidFill>
                <a:latin typeface="DejaVu Sans"/>
              </a:rPr>
              <a:t>} </a:t>
            </a:r>
            <a:r>
              <a:rPr sz="847" b="0" i="0">
                <a:solidFill>
                  <a:srgbClr val="E31C13"/>
                </a:solidFill>
                <a:latin typeface="DejaVu Sans"/>
              </a:rPr>
              <a:t>&lt;/answer&gt;</a:t>
            </a:r>
          </a:p>
        </p:txBody>
      </p:sp>
      <p:sp>
        <p:nvSpPr>
          <p:cNvPr id="147" name="Right Arrow 146"/>
          <p:cNvSpPr/>
          <p:nvPr/>
        </p:nvSpPr>
        <p:spPr>
          <a:xfrm>
            <a:off x="5358652" y="6656294"/>
            <a:ext cx="228599" cy="497541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5513294" y="5056094"/>
            <a:ext cx="4491317" cy="40139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A8A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70594" y="4928347"/>
            <a:ext cx="2050676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824382" y="4941794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 i="0">
                <a:solidFill>
                  <a:srgbClr val="111111"/>
                </a:solidFill>
                <a:latin typeface="DejaVu Sans"/>
              </a:defRPr>
            </a:pPr>
            <a:r>
              <a:t>◆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052982" y="4948517"/>
            <a:ext cx="1768288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Dynamic Scene Caption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587252" y="5183841"/>
            <a:ext cx="4316505" cy="43702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647764" y="5257800"/>
            <a:ext cx="4168588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1" i="0">
                <a:solidFill>
                  <a:srgbClr val="111111"/>
                </a:solidFill>
                <a:latin typeface="Liberation Serif"/>
              </a:rPr>
              <a:t>Prompt: </a:t>
            </a:r>
            <a:r>
              <a:rPr sz="847" b="0" i="0">
                <a:solidFill>
                  <a:srgbClr val="111111"/>
                </a:solidFill>
                <a:latin typeface="Liberation Serif"/>
              </a:rPr>
              <a:t>Given the &lt;raw video&gt;, </a:t>
            </a:r>
            <a:r>
              <a:rPr sz="847" b="0" i="0">
                <a:solidFill>
                  <a:srgbClr val="E8872B"/>
                </a:solidFill>
                <a:latin typeface="Liberation Serif"/>
              </a:rPr>
              <a:t>&lt;moving instance masks&gt;</a:t>
            </a:r>
            <a:r>
              <a:rPr sz="847" b="0" i="0">
                <a:solidFill>
                  <a:srgbClr val="111111"/>
                </a:solidFill>
                <a:latin typeface="Liberation Serif"/>
              </a:rPr>
              <a:t> 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647764" y="5405717"/>
            <a:ext cx="4168588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47845C"/>
                </a:solidFill>
                <a:latin typeface="Liberation Serif"/>
              </a:rPr>
              <a:t>&lt;instance label&gt; </a:t>
            </a:r>
            <a:r>
              <a:rPr sz="847" b="0" i="0">
                <a:solidFill>
                  <a:srgbClr val="111111"/>
                </a:solidFill>
                <a:latin typeface="Liberation Serif"/>
              </a:rPr>
              <a:t>and </a:t>
            </a:r>
            <a:r>
              <a:rPr sz="847" b="0" i="0">
                <a:solidFill>
                  <a:srgbClr val="E6A20C"/>
                </a:solidFill>
                <a:latin typeface="Liberation Serif"/>
              </a:rPr>
              <a:t>&lt;moving instance caption&gt;. </a:t>
            </a:r>
            <a:r>
              <a:rPr sz="847" b="0" i="0">
                <a:solidFill>
                  <a:srgbClr val="111111"/>
                </a:solidFill>
                <a:latin typeface="Liberation Serif"/>
              </a:rPr>
              <a:t>Describe the dynamic scene.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47764" y="5533464"/>
            <a:ext cx="4168588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Liberation Serif"/>
              </a:defRPr>
            </a:pPr>
            <a:r>
              <a:t>Focus on scene type, instance-scene interaction, motion pattern, etc.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587252" y="5688105"/>
            <a:ext cx="4316505" cy="1385047"/>
          </a:xfrm>
          <a:prstGeom prst="roundRect">
            <a:avLst>
              <a:gd name="adj" fmla="val 12000"/>
            </a:avLst>
          </a:prstGeom>
          <a:solidFill>
            <a:srgbClr val="E6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714999" y="5634317"/>
            <a:ext cx="4061011" cy="215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Response (scene-level)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61211" y="5869641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D73AD"/>
                </a:solidFill>
                <a:latin typeface="DejaVu Sans"/>
              </a:defRPr>
            </a:pPr>
            <a:r>
              <a:t>&lt;think&gt; Alright, let's break down the attributes step by step: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1211" y="6004111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First, identify the scene type: an indoor trampoline park, ...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1211" y="6138582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Then, note the primary interactive entities: a young boy, ...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661211" y="6273052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Next, observe the instance's motion patterns: jumps, spins, ...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661211" y="6407523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Then consider the static background components: padded walls, ...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661211" y="6541994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Finally, take into account the spatial relationships and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1211" y="6676464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interactions among moving instances and the scene: the boy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661211" y="6810935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actively interacts with the trampoline by jumping and performing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661211" y="6945405"/>
            <a:ext cx="4155141" cy="13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E31C13"/>
                </a:solidFill>
                <a:latin typeface="DejaVu Sans"/>
              </a:defRPr>
            </a:pPr>
            <a:r>
              <a:t>various acrobatic actions. &lt;/think&gt; &lt;answer&gt; {...}&lt;/answer&gt;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587252" y="7147111"/>
            <a:ext cx="4316505" cy="1795182"/>
          </a:xfrm>
          <a:prstGeom prst="roundRect">
            <a:avLst>
              <a:gd name="adj" fmla="val 12000"/>
            </a:avLst>
          </a:prstGeom>
          <a:solidFill>
            <a:srgbClr val="EC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714999" y="7106770"/>
            <a:ext cx="4061011" cy="215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LLM-rephrased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782235" y="7389158"/>
            <a:ext cx="3966882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E31C13"/>
                </a:solidFill>
                <a:latin typeface="DejaVu Sans"/>
              </a:rPr>
              <a:t>&lt;answer&gt;</a:t>
            </a:r>
            <a:r>
              <a:rPr sz="847" b="0" i="0">
                <a:solidFill>
                  <a:srgbClr val="111111"/>
                </a:solidFill>
                <a:latin typeface="DejaVu Sans"/>
              </a:rPr>
              <a:t> {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983941" y="7550523"/>
            <a:ext cx="3765176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Inside a vibrant indoor trampoline park, a young boy in a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983941" y="7705164"/>
            <a:ext cx="3765176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turquoise shirt dynamically jumps, spins, and flips. Brightly lit,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983941" y="7859805"/>
            <a:ext cx="3765176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the park features multiple trampolines with blue padding and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983941" y="8014447"/>
            <a:ext cx="3765176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colorful play structures like orange and red climbing frames.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983941" y="8169088"/>
            <a:ext cx="3765176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Other children in white and pink shirts enjoy the lively,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983941" y="8323729"/>
            <a:ext cx="3765176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energetic atmosphere as the boy's joyful acrobatics highlight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983941" y="8478370"/>
            <a:ext cx="3765176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the scene's playful activity and vibrant setting.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782235" y="8686800"/>
            <a:ext cx="3966882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111111"/>
                </a:solidFill>
                <a:latin typeface="DejaVu Sans"/>
              </a:rPr>
              <a:t>} </a:t>
            </a:r>
            <a:r>
              <a:rPr sz="847" b="0" i="0">
                <a:solidFill>
                  <a:srgbClr val="E31C13"/>
                </a:solidFill>
                <a:latin typeface="DejaVu Sans"/>
              </a:rPr>
              <a:t>&lt;/answer&gt;</a:t>
            </a:r>
          </a:p>
        </p:txBody>
      </p:sp>
      <p:sp>
        <p:nvSpPr>
          <p:cNvPr id="178" name="Right Arrow 177"/>
          <p:cNvSpPr/>
          <p:nvPr/>
        </p:nvSpPr>
        <p:spPr>
          <a:xfrm>
            <a:off x="10004611" y="6656294"/>
            <a:ext cx="228599" cy="497541"/>
          </a:xfrm>
          <a:prstGeom prst="rightArrow">
            <a:avLst>
              <a:gd name="adj1" fmla="val 42000"/>
              <a:gd name="adj2" fmla="val 50000"/>
            </a:avLst>
          </a:prstGeom>
          <a:solidFill>
            <a:srgbClr val="7C8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10152529" y="5056094"/>
            <a:ext cx="2191870" cy="4013947"/>
          </a:xfrm>
          <a:prstGeom prst="roundRect">
            <a:avLst>
              <a:gd name="adj" fmla="val 12000"/>
            </a:avLst>
          </a:prstGeom>
          <a:solidFill>
            <a:srgbClr val="FFFBFF"/>
          </a:solidFill>
          <a:ln w="34925">
            <a:solidFill>
              <a:srgbClr val="D7B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313894" y="4928347"/>
            <a:ext cx="1869141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367682" y="4941794"/>
            <a:ext cx="228599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DejaVu Sans"/>
              </a:defRPr>
            </a:pPr>
            <a:r>
              <a:t>◆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596282" y="4948517"/>
            <a:ext cx="1586752" cy="201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8" b="1" i="0">
                <a:solidFill>
                  <a:srgbClr val="111111"/>
                </a:solidFill>
                <a:latin typeface="Liberation Serif"/>
              </a:defRPr>
            </a:pPr>
            <a:r>
              <a:t>Camera Motion Caption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0226488" y="5197288"/>
            <a:ext cx="1976717" cy="84716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286999" y="5251076"/>
            <a:ext cx="389964" cy="161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1" i="0">
                <a:solidFill>
                  <a:srgbClr val="111111"/>
                </a:solidFill>
                <a:latin typeface="Liberation Serif"/>
              </a:defRPr>
            </a:pPr>
            <a:r>
              <a:t>Prompt: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690411" y="5251076"/>
            <a:ext cx="1445558" cy="161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Liberation Serif"/>
              </a:defRPr>
            </a:pPr>
            <a:r>
              <a:t>Given the &lt;raw video&gt;,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6999" y="5412441"/>
            <a:ext cx="1855694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47845C"/>
                </a:solidFill>
                <a:latin typeface="Liberation Serif"/>
              </a:rPr>
              <a:t>&lt;instance label&gt;, </a:t>
            </a:r>
            <a:r>
              <a:rPr sz="847" b="0" i="0">
                <a:solidFill>
                  <a:srgbClr val="E6A20C"/>
                </a:solidFill>
                <a:latin typeface="Liberation Serif"/>
              </a:rPr>
              <a:t>&lt;moving instance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286999" y="5573805"/>
            <a:ext cx="1855694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E6A20C"/>
                </a:solidFill>
                <a:latin typeface="Liberation Serif"/>
              </a:rPr>
              <a:t>caption&gt;, </a:t>
            </a:r>
            <a:r>
              <a:rPr sz="847" b="0" i="0">
                <a:solidFill>
                  <a:srgbClr val="111111"/>
                </a:solidFill>
                <a:latin typeface="Liberation Serif"/>
              </a:rPr>
              <a:t>and </a:t>
            </a:r>
            <a:r>
              <a:rPr sz="847" b="0" i="0">
                <a:solidFill>
                  <a:srgbClr val="6E76B7"/>
                </a:solidFill>
                <a:latin typeface="Liberation Serif"/>
              </a:rPr>
              <a:t>&lt;dynamic scene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286999" y="5735170"/>
            <a:ext cx="1855694" cy="147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7" b="0" i="0">
                <a:solidFill>
                  <a:srgbClr val="6E76B7"/>
                </a:solidFill>
                <a:latin typeface="Liberation Serif"/>
              </a:rPr>
              <a:t>caption&gt;. </a:t>
            </a:r>
            <a:r>
              <a:rPr sz="847" b="0" i="0">
                <a:solidFill>
                  <a:srgbClr val="111111"/>
                </a:solidFill>
                <a:latin typeface="Liberation Serif"/>
              </a:rPr>
              <a:t>Provide a description of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286999" y="5896535"/>
            <a:ext cx="1855694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Liberation Serif"/>
              </a:defRPr>
            </a:pPr>
            <a:r>
              <a:t>the camera motion.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0233211" y="6118411"/>
            <a:ext cx="1969994" cy="1223682"/>
          </a:xfrm>
          <a:prstGeom prst="roundRect">
            <a:avLst>
              <a:gd name="adj" fmla="val 12000"/>
            </a:avLst>
          </a:prstGeom>
          <a:solidFill>
            <a:srgbClr val="F7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354235" y="6138582"/>
            <a:ext cx="1727947" cy="215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Response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408023" y="6380629"/>
            <a:ext cx="1613647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E31C13"/>
                </a:solidFill>
                <a:latin typeface="DejaVu Sans"/>
              </a:defRPr>
            </a:pPr>
            <a:r>
              <a:t>&lt;answer&gt; {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703858" y="6548717"/>
            <a:ext cx="1411941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The camera smoothly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703858" y="6703358"/>
            <a:ext cx="1411941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pans right, tracking the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703858" y="6858000"/>
            <a:ext cx="1411941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subject from the side with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703858" y="7012641"/>
            <a:ext cx="1411941" cy="154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111111"/>
                </a:solidFill>
                <a:latin typeface="DejaVu Sans"/>
              </a:defRPr>
            </a:pPr>
            <a:r>
              <a:t>minimal shaking.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441641" y="7167282"/>
            <a:ext cx="1613647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E31C13"/>
                </a:solidFill>
                <a:latin typeface="DejaVu Sans"/>
              </a:defRPr>
            </a:pPr>
            <a:r>
              <a:t>}&lt;/answer&gt;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0233211" y="7416052"/>
            <a:ext cx="1969994" cy="1539688"/>
          </a:xfrm>
          <a:prstGeom prst="roundRect">
            <a:avLst>
              <a:gd name="adj" fmla="val 12000"/>
            </a:avLst>
          </a:prstGeom>
          <a:solidFill>
            <a:srgbClr val="F7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354235" y="7436223"/>
            <a:ext cx="1727947" cy="215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4" b="1" i="0">
                <a:solidFill>
                  <a:srgbClr val="111111"/>
                </a:solidFill>
                <a:latin typeface="Liberation Serif"/>
              </a:defRPr>
            </a:pPr>
            <a:r>
              <a:t>LLM-aligned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408023" y="7678270"/>
            <a:ext cx="1613647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E31C13"/>
                </a:solidFill>
                <a:latin typeface="DejaVu Sans"/>
              </a:defRPr>
            </a:pPr>
            <a:r>
              <a:t>&lt;answer&gt; {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582835" y="7846358"/>
            <a:ext cx="1559858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The camera smoothly pans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582835" y="7994276"/>
            <a:ext cx="1559858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right, tracking the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82835" y="8142194"/>
            <a:ext cx="1559858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young boy in the indoor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582835" y="8290111"/>
            <a:ext cx="1559858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trampoline park with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582835" y="8438029"/>
            <a:ext cx="1559858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4" b="0" i="0">
                <a:solidFill>
                  <a:srgbClr val="111111"/>
                </a:solidFill>
                <a:latin typeface="DejaVu Sans"/>
              </a:defRPr>
            </a:pPr>
            <a:r>
              <a:t>minimal shaking.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441641" y="8673352"/>
            <a:ext cx="1613647" cy="1479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7" b="0" i="0">
                <a:solidFill>
                  <a:srgbClr val="E31C13"/>
                </a:solidFill>
                <a:latin typeface="DejaVu Sans"/>
              </a:defRPr>
            </a:pPr>
            <a:r>
              <a:t>}&lt;/answer&gt;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3617" y="9063317"/>
            <a:ext cx="672352" cy="67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1" b="0" i="0">
                <a:solidFill>
                  <a:srgbClr val="FFFFFF"/>
                </a:solidFill>
                <a:latin typeface="Arial"/>
              </a:defRPr>
            </a:pPr>
            <a:r>
              <a:t>Editable rebuild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ynamicVerse A Physically-Aware Multimodal Framework for 4D World Model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25082" cy="914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