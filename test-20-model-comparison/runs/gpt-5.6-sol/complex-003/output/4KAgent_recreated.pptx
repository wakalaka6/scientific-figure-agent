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3444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4594" y="208236"/>
            <a:ext cx="220737" cy="147201"/>
          </a:xfrm>
          <a:prstGeom prst="roundRect">
            <a:avLst/>
          </a:prstGeom>
          <a:solidFill>
            <a:srgbClr val="FFFFFF"/>
          </a:solidFill>
          <a:ln w="10309">
            <a:solidFill>
              <a:srgbClr val="A82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0873" y="334409"/>
            <a:ext cx="168181" cy="47314"/>
          </a:xfrm>
          <a:prstGeom prst="roundRect">
            <a:avLst/>
          </a:prstGeom>
          <a:solidFill>
            <a:srgbClr val="FFFFFF"/>
          </a:solidFill>
          <a:ln w="9372">
            <a:solidFill>
              <a:srgbClr val="A82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4523" y="263436"/>
            <a:ext cx="26278" cy="26285"/>
          </a:xfrm>
          <a:prstGeom prst="ellipse">
            <a:avLst/>
          </a:prstGeom>
          <a:solidFill>
            <a:srgbClr val="A82791"/>
          </a:solidFill>
          <a:ln w="5715">
            <a:solidFill>
              <a:srgbClr val="A82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9125" y="263436"/>
            <a:ext cx="26278" cy="26285"/>
          </a:xfrm>
          <a:prstGeom prst="ellipse">
            <a:avLst/>
          </a:prstGeom>
          <a:solidFill>
            <a:srgbClr val="A82791"/>
          </a:solidFill>
          <a:ln w="5715">
            <a:solidFill>
              <a:srgbClr val="A82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91895" y="318637"/>
            <a:ext cx="126136" cy="0"/>
          </a:xfrm>
          <a:prstGeom prst="line">
            <a:avLst/>
          </a:prstGeom>
          <a:ln w="8435">
            <a:solidFill>
              <a:srgbClr val="A82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54963" y="171435"/>
            <a:ext cx="0" cy="36801"/>
          </a:xfrm>
          <a:prstGeom prst="line">
            <a:avLst/>
          </a:prstGeom>
          <a:ln w="9372">
            <a:solidFill>
              <a:srgbClr val="A82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2918" y="134635"/>
            <a:ext cx="89346" cy="68343"/>
          </a:xfrm>
          <a:prstGeom prst="roundRect">
            <a:avLst/>
          </a:prstGeom>
          <a:solidFill>
            <a:srgbClr val="FFFFFF"/>
          </a:solidFill>
          <a:ln w="7029">
            <a:solidFill>
              <a:srgbClr val="A82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918" y="129378"/>
            <a:ext cx="89346" cy="7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9" b="1" i="0">
                <a:solidFill>
                  <a:srgbClr val="A82791"/>
                </a:solidFill>
                <a:latin typeface="Liberation Sans"/>
              </a:defRPr>
            </a:pPr>
            <a:r>
              <a:t>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572" y="245036"/>
            <a:ext cx="0" cy="94630"/>
          </a:xfrm>
          <a:prstGeom prst="line">
            <a:avLst/>
          </a:prstGeom>
          <a:ln w="9372">
            <a:solidFill>
              <a:srgbClr val="A82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6355" y="245036"/>
            <a:ext cx="0" cy="94630"/>
          </a:xfrm>
          <a:prstGeom prst="line">
            <a:avLst/>
          </a:prstGeom>
          <a:ln w="9372">
            <a:solidFill>
              <a:srgbClr val="A82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2549" y="266065"/>
            <a:ext cx="0" cy="52572"/>
          </a:xfrm>
          <a:prstGeom prst="line">
            <a:avLst/>
          </a:prstGeom>
          <a:ln w="9372">
            <a:solidFill>
              <a:srgbClr val="A82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7378" y="266065"/>
            <a:ext cx="0" cy="52572"/>
          </a:xfrm>
          <a:prstGeom prst="line">
            <a:avLst/>
          </a:prstGeom>
          <a:ln w="9372">
            <a:solidFill>
              <a:srgbClr val="A82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7110" y="115401"/>
            <a:ext cx="1794616" cy="359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45" b="1" i="0">
                <a:solidFill>
                  <a:srgbClr val="A82791"/>
                </a:solidFill>
                <a:latin typeface="Liberation Serif"/>
              </a:defRPr>
            </a:pPr>
            <a:r>
              <a:t>Profile 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46" y="512897"/>
            <a:ext cx="1852300" cy="987327"/>
          </a:xfrm>
          <a:prstGeom prst="roundRect">
            <a:avLst/>
          </a:prstGeom>
          <a:solidFill>
            <a:srgbClr val="F7D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8689" y="589832"/>
            <a:ext cx="224327" cy="1282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736" y="615476"/>
            <a:ext cx="76912" cy="7693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747" y="570598"/>
            <a:ext cx="833214" cy="1731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111111"/>
                </a:solidFill>
                <a:latin typeface="Liberation Serif"/>
              </a:defRPr>
            </a:pPr>
            <a:r>
              <a:t>4K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8689" y="814224"/>
            <a:ext cx="224327" cy="1282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0736" y="839869"/>
            <a:ext cx="76912" cy="7693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747" y="794991"/>
            <a:ext cx="833214" cy="1731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111111"/>
                </a:solidFill>
                <a:latin typeface="Liberation Serif"/>
              </a:defRPr>
            </a:pPr>
            <a:r>
              <a:t>Face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8689" y="1064262"/>
            <a:ext cx="224327" cy="1282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0736" y="1089907"/>
            <a:ext cx="76912" cy="7693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747" y="1045028"/>
            <a:ext cx="833214" cy="1731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111111"/>
                </a:solidFill>
                <a:latin typeface="Liberation Serif"/>
              </a:defRPr>
            </a:pPr>
            <a:r>
              <a:t>VLM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8689" y="1307888"/>
            <a:ext cx="224327" cy="1282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0736" y="1333533"/>
            <a:ext cx="76912" cy="7693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747" y="1288654"/>
            <a:ext cx="833214" cy="1731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111111"/>
                </a:solidFill>
                <a:latin typeface="Liberation Serif"/>
              </a:defRPr>
            </a:pPr>
            <a:r>
              <a:t>Preference</a:t>
            </a:r>
          </a:p>
        </p:txBody>
      </p:sp>
      <p:sp>
        <p:nvSpPr>
          <p:cNvPr id="28" name="Oval 27"/>
          <p:cNvSpPr/>
          <p:nvPr/>
        </p:nvSpPr>
        <p:spPr>
          <a:xfrm>
            <a:off x="1031904" y="782168"/>
            <a:ext cx="64093" cy="64112"/>
          </a:xfrm>
          <a:prstGeom prst="ellipse">
            <a:avLst/>
          </a:prstGeom>
          <a:solidFill>
            <a:srgbClr val="F4B51D"/>
          </a:solidFill>
          <a:ln w="857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0091" y="724467"/>
            <a:ext cx="51274" cy="51289"/>
          </a:xfrm>
          <a:prstGeom prst="ellipse">
            <a:avLst/>
          </a:prstGeom>
          <a:solidFill>
            <a:srgbClr val="F4B51D"/>
          </a:solidFill>
          <a:ln w="685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980629" y="852692"/>
            <a:ext cx="121778" cy="115401"/>
          </a:xfrm>
          <a:prstGeom prst="line">
            <a:avLst/>
          </a:prstGeom>
          <a:ln w="171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02407" y="852692"/>
            <a:ext cx="83321" cy="141046"/>
          </a:xfrm>
          <a:prstGeom prst="line">
            <a:avLst/>
          </a:prstGeom>
          <a:ln w="171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147272" y="820635"/>
            <a:ext cx="96141" cy="57701"/>
          </a:xfrm>
          <a:prstGeom prst="line">
            <a:avLst/>
          </a:prstGeom>
          <a:ln w="142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6267" y="1134785"/>
            <a:ext cx="262142" cy="0"/>
          </a:xfrm>
          <a:prstGeom prst="line">
            <a:avLst/>
          </a:prstGeom>
          <a:ln w="28575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1243413" y="1051439"/>
            <a:ext cx="166642" cy="166691"/>
          </a:xfrm>
          <a:prstGeom prst="triangle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422874" y="903340"/>
            <a:ext cx="199971" cy="250037"/>
          </a:xfrm>
          <a:prstGeom prst="roundRect">
            <a:avLst/>
          </a:prstGeom>
          <a:solidFill>
            <a:srgbClr val="FFFFFF"/>
          </a:solidFill>
          <a:ln w="89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482866" y="878336"/>
            <a:ext cx="79988" cy="50007"/>
          </a:xfrm>
          <a:prstGeom prst="roundRect">
            <a:avLst/>
          </a:prstGeom>
          <a:solidFill>
            <a:srgbClr val="FFFFFF"/>
          </a:solidFill>
          <a:ln w="89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457869" y="968350"/>
            <a:ext cx="29995" cy="30004"/>
          </a:xfrm>
          <a:prstGeom prst="roundRect">
            <a:avLst/>
          </a:prstGeom>
          <a:solidFill>
            <a:srgbClr val="FFFFFF"/>
          </a:solidFill>
          <a:ln w="534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507862" y="983352"/>
            <a:ext cx="74990" cy="0"/>
          </a:xfrm>
          <a:prstGeom prst="line">
            <a:avLst/>
          </a:prstGeom>
          <a:ln w="62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457869" y="1028359"/>
            <a:ext cx="29995" cy="30004"/>
          </a:xfrm>
          <a:prstGeom prst="roundRect">
            <a:avLst/>
          </a:prstGeom>
          <a:solidFill>
            <a:srgbClr val="FFFFFF"/>
          </a:solidFill>
          <a:ln w="534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507862" y="1043361"/>
            <a:ext cx="74990" cy="0"/>
          </a:xfrm>
          <a:prstGeom prst="line">
            <a:avLst/>
          </a:prstGeom>
          <a:ln w="62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457869" y="1088368"/>
            <a:ext cx="29995" cy="30004"/>
          </a:xfrm>
          <a:prstGeom prst="roundRect">
            <a:avLst/>
          </a:prstGeom>
          <a:solidFill>
            <a:srgbClr val="FFFFFF"/>
          </a:solidFill>
          <a:ln w="534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507862" y="1103370"/>
            <a:ext cx="74990" cy="0"/>
          </a:xfrm>
          <a:prstGeom prst="line">
            <a:avLst/>
          </a:prstGeom>
          <a:ln w="62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454370" y="944846"/>
            <a:ext cx="36994" cy="37005"/>
          </a:xfrm>
          <a:prstGeom prst="ellipse">
            <a:avLst/>
          </a:prstGeom>
          <a:solidFill>
            <a:srgbClr val="E64134"/>
          </a:solidFill>
          <a:ln w="4457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1607848" y="978351"/>
            <a:ext cx="59991" cy="135021"/>
          </a:xfrm>
          <a:prstGeom prst="line">
            <a:avLst/>
          </a:prstGeom>
          <a:ln w="22288">
            <a:solidFill>
              <a:srgbClr val="E8A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617847" y="983352"/>
            <a:ext cx="59991" cy="135020"/>
          </a:xfrm>
          <a:prstGeom prst="line">
            <a:avLst/>
          </a:prstGeom>
          <a:ln w="534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39553" y="1224542"/>
            <a:ext cx="499928" cy="217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5" b="1" i="0">
                <a:solidFill>
                  <a:srgbClr val="111111"/>
                </a:solidFill>
                <a:latin typeface="Liberation Serif"/>
              </a:defRPr>
            </a:pPr>
            <a:r>
              <a:t>Profile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909985" y="1128374"/>
            <a:ext cx="500569" cy="0"/>
          </a:xfrm>
          <a:prstGeom prst="line">
            <a:avLst/>
          </a:prstGeom>
          <a:ln w="3429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2377867" y="1019383"/>
            <a:ext cx="217917" cy="217981"/>
          </a:xfrm>
          <a:prstGeom prst="triangle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nput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14" y="1583570"/>
            <a:ext cx="1608745" cy="1250187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147414" y="1583570"/>
            <a:ext cx="1608745" cy="1250187"/>
          </a:xfrm>
          <a:prstGeom prst="rect">
            <a:avLst/>
          </a:prstGeom>
          <a:noFill/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evron 50"/>
          <p:cNvSpPr/>
          <p:nvPr/>
        </p:nvSpPr>
        <p:spPr>
          <a:xfrm>
            <a:off x="1794616" y="2141346"/>
            <a:ext cx="672981" cy="224392"/>
          </a:xfrm>
          <a:prstGeom prst="chevron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836520" y="208236"/>
            <a:ext cx="220737" cy="147201"/>
          </a:xfrm>
          <a:prstGeom prst="roundRect">
            <a:avLst/>
          </a:prstGeom>
          <a:solidFill>
            <a:srgbClr val="FFFFFF"/>
          </a:solidFill>
          <a:ln w="10309">
            <a:solidFill>
              <a:srgbClr val="1CA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862798" y="334409"/>
            <a:ext cx="168181" cy="47314"/>
          </a:xfrm>
          <a:prstGeom prst="roundRect">
            <a:avLst/>
          </a:prstGeom>
          <a:solidFill>
            <a:srgbClr val="FFFFFF"/>
          </a:solidFill>
          <a:ln w="9372">
            <a:solidFill>
              <a:srgbClr val="1CA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886448" y="263436"/>
            <a:ext cx="26278" cy="26285"/>
          </a:xfrm>
          <a:prstGeom prst="ellipse">
            <a:avLst/>
          </a:prstGeom>
          <a:solidFill>
            <a:srgbClr val="1CA7D4"/>
          </a:solidFill>
          <a:ln w="5715">
            <a:solidFill>
              <a:srgbClr val="1CA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981050" y="263436"/>
            <a:ext cx="26278" cy="26285"/>
          </a:xfrm>
          <a:prstGeom prst="ellipse">
            <a:avLst/>
          </a:prstGeom>
          <a:solidFill>
            <a:srgbClr val="1CA7D4"/>
          </a:solidFill>
          <a:ln w="5715">
            <a:solidFill>
              <a:srgbClr val="1CA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883821" y="318637"/>
            <a:ext cx="126135" cy="0"/>
          </a:xfrm>
          <a:prstGeom prst="line">
            <a:avLst/>
          </a:prstGeom>
          <a:ln w="8435">
            <a:solidFill>
              <a:srgbClr val="1CA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946889" y="171435"/>
            <a:ext cx="0" cy="36801"/>
          </a:xfrm>
          <a:prstGeom prst="line">
            <a:avLst/>
          </a:prstGeom>
          <a:ln w="9372">
            <a:solidFill>
              <a:srgbClr val="1CA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2904843" y="134635"/>
            <a:ext cx="89346" cy="68343"/>
          </a:xfrm>
          <a:prstGeom prst="roundRect">
            <a:avLst/>
          </a:prstGeom>
          <a:solidFill>
            <a:srgbClr val="FFFFFF"/>
          </a:solidFill>
          <a:ln w="7029">
            <a:solidFill>
              <a:srgbClr val="1CA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04843" y="129378"/>
            <a:ext cx="89346" cy="7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9" b="1" i="0">
                <a:solidFill>
                  <a:srgbClr val="1CA7D4"/>
                </a:solidFill>
                <a:latin typeface="Liberation Sans"/>
              </a:defRPr>
            </a:pPr>
            <a:r>
              <a:t>P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815497" y="245036"/>
            <a:ext cx="0" cy="94630"/>
          </a:xfrm>
          <a:prstGeom prst="line">
            <a:avLst/>
          </a:prstGeom>
          <a:ln w="9372">
            <a:solidFill>
              <a:srgbClr val="1CA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078280" y="245036"/>
            <a:ext cx="0" cy="94630"/>
          </a:xfrm>
          <a:prstGeom prst="line">
            <a:avLst/>
          </a:prstGeom>
          <a:ln w="9372">
            <a:solidFill>
              <a:srgbClr val="1CA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794474" y="266065"/>
            <a:ext cx="0" cy="52572"/>
          </a:xfrm>
          <a:prstGeom prst="line">
            <a:avLst/>
          </a:prstGeom>
          <a:ln w="9372">
            <a:solidFill>
              <a:srgbClr val="1CA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099303" y="266065"/>
            <a:ext cx="0" cy="52572"/>
          </a:xfrm>
          <a:prstGeom prst="line">
            <a:avLst/>
          </a:prstGeom>
          <a:ln w="9372">
            <a:solidFill>
              <a:srgbClr val="1CA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204672" y="115401"/>
            <a:ext cx="2339411" cy="371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90" b="1" i="0">
                <a:solidFill>
                  <a:srgbClr val="1CA7D4"/>
                </a:solidFill>
                <a:latin typeface="Liberation Serif"/>
              </a:defRPr>
            </a:pPr>
            <a:r>
              <a:t>Perception Agent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499644" y="512897"/>
            <a:ext cx="2595785" cy="2340094"/>
          </a:xfrm>
          <a:prstGeom prst="roundRect">
            <a:avLst/>
          </a:prstGeom>
          <a:solidFill>
            <a:srgbClr val="E3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582966" y="615476"/>
            <a:ext cx="2441960" cy="557775"/>
          </a:xfrm>
          <a:prstGeom prst="roundRect">
            <a:avLst/>
          </a:prstGeom>
          <a:noFill/>
          <a:ln w="22860">
            <a:solidFill>
              <a:srgbClr val="A7A7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91925" y="711645"/>
            <a:ext cx="2211224" cy="32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1" i="0">
                <a:solidFill>
                  <a:srgbClr val="111111"/>
                </a:solidFill>
                <a:latin typeface="Liberation Serif"/>
              </a:defRPr>
            </a:pPr>
            <a:r>
              <a:t>Stage 1: Image Analyzer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800742" y="1166841"/>
            <a:ext cx="0" cy="281453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68"/>
          <p:cNvSpPr/>
          <p:nvPr/>
        </p:nvSpPr>
        <p:spPr>
          <a:xfrm rot="10800000">
            <a:off x="3717420" y="1423290"/>
            <a:ext cx="166642" cy="16669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960975" y="1243776"/>
            <a:ext cx="147671" cy="198491"/>
          </a:xfrm>
          <a:prstGeom prst="roundRect">
            <a:avLst/>
          </a:prstGeom>
          <a:solidFill>
            <a:srgbClr val="FFFFFF"/>
          </a:solidFill>
          <a:ln w="822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3993278" y="1308401"/>
            <a:ext cx="83065" cy="0"/>
          </a:xfrm>
          <a:prstGeom prst="line">
            <a:avLst/>
          </a:prstGeom>
          <a:ln w="617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993278" y="1345330"/>
            <a:ext cx="83065" cy="0"/>
          </a:xfrm>
          <a:prstGeom prst="line">
            <a:avLst/>
          </a:prstGeom>
          <a:ln w="617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993278" y="1382258"/>
            <a:ext cx="83065" cy="0"/>
          </a:xfrm>
          <a:prstGeom prst="line">
            <a:avLst/>
          </a:prstGeom>
          <a:ln w="617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4178893" y="1198897"/>
            <a:ext cx="672981" cy="333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35" b="1" i="0">
                <a:solidFill>
                  <a:srgbClr val="111111"/>
                </a:solidFill>
                <a:latin typeface="Liberation Serif"/>
              </a:defRPr>
            </a:pPr>
            <a:r>
              <a:t>Quality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35" b="1" i="0">
                <a:solidFill>
                  <a:srgbClr val="111111"/>
                </a:solidFill>
                <a:latin typeface="Liberation Serif"/>
              </a:defRPr>
            </a:pPr>
            <a:r>
              <a:t>scores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82966" y="1513047"/>
            <a:ext cx="2441960" cy="564187"/>
          </a:xfrm>
          <a:prstGeom prst="roundRect">
            <a:avLst/>
          </a:prstGeom>
          <a:noFill/>
          <a:ln w="22860">
            <a:solidFill>
              <a:srgbClr val="A7A7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647059" y="1589982"/>
            <a:ext cx="2313773" cy="3974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1" i="0">
                <a:solidFill>
                  <a:srgbClr val="111111"/>
                </a:solidFill>
                <a:latin typeface="Liberation Serif"/>
              </a:defRPr>
            </a:pPr>
            <a:r>
              <a:t>Stage 2: Degradation Reasoning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15" b="1" i="0">
                <a:solidFill>
                  <a:srgbClr val="111111"/>
                </a:solidFill>
                <a:latin typeface="Liberation Serif"/>
              </a:defRPr>
            </a:pPr>
            <a:r>
              <a:t>&amp; Task Planning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800742" y="2077234"/>
            <a:ext cx="0" cy="264784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Isosceles Triangle 77"/>
          <p:cNvSpPr/>
          <p:nvPr/>
        </p:nvSpPr>
        <p:spPr>
          <a:xfrm rot="10800000">
            <a:off x="3730239" y="2320860"/>
            <a:ext cx="141005" cy="141046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960975" y="2160580"/>
            <a:ext cx="166642" cy="166691"/>
          </a:xfrm>
          <a:prstGeom prst="ellipse">
            <a:avLst/>
          </a:prstGeom>
          <a:solidFill>
            <a:srgbClr val="FFFFFF"/>
          </a:solidFill>
          <a:ln w="11430">
            <a:solidFill>
              <a:srgbClr val="687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4101981" y="2301627"/>
            <a:ext cx="64093" cy="64112"/>
          </a:xfrm>
          <a:prstGeom prst="line">
            <a:avLst/>
          </a:prstGeom>
          <a:ln w="17145">
            <a:solidFill>
              <a:srgbClr val="6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4198121" y="2147758"/>
            <a:ext cx="730665" cy="230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35" b="1" i="0">
                <a:solidFill>
                  <a:srgbClr val="111111"/>
                </a:solidFill>
                <a:latin typeface="Liberation Serif"/>
              </a:defRPr>
            </a:pPr>
            <a:r>
              <a:t>Description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582966" y="2404206"/>
            <a:ext cx="2441960" cy="384673"/>
          </a:xfrm>
          <a:prstGeom prst="roundRect">
            <a:avLst/>
          </a:prstGeom>
          <a:noFill/>
          <a:ln w="22860">
            <a:solidFill>
              <a:srgbClr val="A7A7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986755" y="2499733"/>
            <a:ext cx="148696" cy="185925"/>
          </a:xfrm>
          <a:prstGeom prst="roundRect">
            <a:avLst/>
          </a:prstGeom>
          <a:solidFill>
            <a:srgbClr val="FFFFFF"/>
          </a:solidFill>
          <a:ln w="662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031364" y="2481141"/>
            <a:ext cx="59478" cy="37185"/>
          </a:xfrm>
          <a:prstGeom prst="roundRect">
            <a:avLst/>
          </a:prstGeom>
          <a:solidFill>
            <a:srgbClr val="FFFFFF"/>
          </a:solidFill>
          <a:ln w="662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012777" y="2548074"/>
            <a:ext cx="22304" cy="22311"/>
          </a:xfrm>
          <a:prstGeom prst="roundRect">
            <a:avLst/>
          </a:prstGeom>
          <a:solidFill>
            <a:srgbClr val="FFFFFF"/>
          </a:solidFill>
          <a:ln w="3977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3049951" y="2559230"/>
            <a:ext cx="55761" cy="0"/>
          </a:xfrm>
          <a:prstGeom prst="line">
            <a:avLst/>
          </a:prstGeom>
          <a:ln w="46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3012777" y="2592696"/>
            <a:ext cx="22304" cy="22311"/>
          </a:xfrm>
          <a:prstGeom prst="roundRect">
            <a:avLst/>
          </a:prstGeom>
          <a:solidFill>
            <a:srgbClr val="FFFFFF"/>
          </a:solidFill>
          <a:ln w="3977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3049951" y="2603852"/>
            <a:ext cx="55761" cy="0"/>
          </a:xfrm>
          <a:prstGeom prst="line">
            <a:avLst/>
          </a:prstGeom>
          <a:ln w="46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012777" y="2637318"/>
            <a:ext cx="22304" cy="22311"/>
          </a:xfrm>
          <a:prstGeom prst="roundRect">
            <a:avLst/>
          </a:prstGeom>
          <a:solidFill>
            <a:srgbClr val="FFFFFF"/>
          </a:solidFill>
          <a:ln w="3977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3049951" y="2648474"/>
            <a:ext cx="55761" cy="0"/>
          </a:xfrm>
          <a:prstGeom prst="line">
            <a:avLst/>
          </a:prstGeom>
          <a:ln w="46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3010174" y="2530597"/>
            <a:ext cx="27508" cy="27516"/>
          </a:xfrm>
          <a:prstGeom prst="ellipse">
            <a:avLst/>
          </a:prstGeom>
          <a:solidFill>
            <a:srgbClr val="E64134"/>
          </a:solidFill>
          <a:ln w="331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V="1">
            <a:off x="3124299" y="2555511"/>
            <a:ext cx="44609" cy="100400"/>
          </a:xfrm>
          <a:prstGeom prst="line">
            <a:avLst/>
          </a:prstGeom>
          <a:ln w="16573">
            <a:solidFill>
              <a:srgbClr val="E8A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131734" y="2559230"/>
            <a:ext cx="44609" cy="100399"/>
          </a:xfrm>
          <a:prstGeom prst="line">
            <a:avLst/>
          </a:prstGeom>
          <a:ln w="397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332859" y="2455496"/>
            <a:ext cx="1442102" cy="2949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0" i="0">
                <a:solidFill>
                  <a:srgbClr val="111111"/>
                </a:solidFill>
                <a:latin typeface="Liberation Serif"/>
              </a:defRPr>
            </a:pPr>
            <a:r>
              <a:t>Restoration Plan</a:t>
            </a:r>
          </a:p>
        </p:txBody>
      </p:sp>
      <p:sp>
        <p:nvSpPr>
          <p:cNvPr id="95" name="Chevron 94"/>
          <p:cNvSpPr/>
          <p:nvPr/>
        </p:nvSpPr>
        <p:spPr>
          <a:xfrm>
            <a:off x="5108248" y="2141346"/>
            <a:ext cx="602478" cy="224392"/>
          </a:xfrm>
          <a:prstGeom prst="chevron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002736" y="208236"/>
            <a:ext cx="220737" cy="147201"/>
          </a:xfrm>
          <a:prstGeom prst="roundRect">
            <a:avLst/>
          </a:prstGeom>
          <a:solidFill>
            <a:srgbClr val="FFFFFF"/>
          </a:solidFill>
          <a:ln w="10309">
            <a:solidFill>
              <a:srgbClr val="318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029015" y="334409"/>
            <a:ext cx="168181" cy="47314"/>
          </a:xfrm>
          <a:prstGeom prst="roundRect">
            <a:avLst/>
          </a:prstGeom>
          <a:solidFill>
            <a:srgbClr val="FFFFFF"/>
          </a:solidFill>
          <a:ln w="9372">
            <a:solidFill>
              <a:srgbClr val="318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052665" y="263436"/>
            <a:ext cx="26278" cy="26285"/>
          </a:xfrm>
          <a:prstGeom prst="ellipse">
            <a:avLst/>
          </a:prstGeom>
          <a:solidFill>
            <a:srgbClr val="31852C"/>
          </a:solidFill>
          <a:ln w="5715">
            <a:solidFill>
              <a:srgbClr val="318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147267" y="263436"/>
            <a:ext cx="26278" cy="26285"/>
          </a:xfrm>
          <a:prstGeom prst="ellipse">
            <a:avLst/>
          </a:prstGeom>
          <a:solidFill>
            <a:srgbClr val="31852C"/>
          </a:solidFill>
          <a:ln w="5715">
            <a:solidFill>
              <a:srgbClr val="318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6050037" y="318637"/>
            <a:ext cx="126136" cy="0"/>
          </a:xfrm>
          <a:prstGeom prst="line">
            <a:avLst/>
          </a:prstGeom>
          <a:ln w="8435">
            <a:solidFill>
              <a:srgbClr val="318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113105" y="171435"/>
            <a:ext cx="0" cy="36801"/>
          </a:xfrm>
          <a:prstGeom prst="line">
            <a:avLst/>
          </a:prstGeom>
          <a:ln w="9372">
            <a:solidFill>
              <a:srgbClr val="318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6071060" y="134635"/>
            <a:ext cx="89346" cy="68343"/>
          </a:xfrm>
          <a:prstGeom prst="roundRect">
            <a:avLst/>
          </a:prstGeom>
          <a:solidFill>
            <a:srgbClr val="FFFFFF"/>
          </a:solidFill>
          <a:ln w="7029">
            <a:solidFill>
              <a:srgbClr val="318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71060" y="129378"/>
            <a:ext cx="89346" cy="7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9" b="1" i="0">
                <a:solidFill>
                  <a:srgbClr val="31852C"/>
                </a:solidFill>
                <a:latin typeface="Liberation Sans"/>
              </a:defRPr>
            </a:pPr>
            <a:r>
              <a:t>R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981714" y="245036"/>
            <a:ext cx="0" cy="94630"/>
          </a:xfrm>
          <a:prstGeom prst="line">
            <a:avLst/>
          </a:prstGeom>
          <a:ln w="9372">
            <a:solidFill>
              <a:srgbClr val="318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244497" y="245036"/>
            <a:ext cx="0" cy="94630"/>
          </a:xfrm>
          <a:prstGeom prst="line">
            <a:avLst/>
          </a:prstGeom>
          <a:ln w="9372">
            <a:solidFill>
              <a:srgbClr val="318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960691" y="266065"/>
            <a:ext cx="0" cy="52572"/>
          </a:xfrm>
          <a:prstGeom prst="line">
            <a:avLst/>
          </a:prstGeom>
          <a:ln w="9372">
            <a:solidFill>
              <a:srgbClr val="318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265520" y="266065"/>
            <a:ext cx="0" cy="52572"/>
          </a:xfrm>
          <a:prstGeom prst="line">
            <a:avLst/>
          </a:prstGeom>
          <a:ln w="9372">
            <a:solidFill>
              <a:srgbClr val="318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6364480" y="115401"/>
            <a:ext cx="2467598" cy="371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90" b="1" i="0">
                <a:solidFill>
                  <a:srgbClr val="31852C"/>
                </a:solidFill>
                <a:latin typeface="Liberation Serif"/>
              </a:defRPr>
            </a:pPr>
            <a:r>
              <a:t>Restoration Agent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736364" y="512897"/>
            <a:ext cx="2499644" cy="2340094"/>
          </a:xfrm>
          <a:prstGeom prst="roundRect">
            <a:avLst/>
          </a:prstGeom>
          <a:solidFill>
            <a:srgbClr val="E7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819685" y="615476"/>
            <a:ext cx="2320183" cy="1365589"/>
          </a:xfrm>
          <a:prstGeom prst="roundRect">
            <a:avLst/>
          </a:prstGeom>
          <a:noFill/>
          <a:ln w="22860">
            <a:solidFill>
              <a:srgbClr val="A7A7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697766" y="634710"/>
            <a:ext cx="576841" cy="224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1" i="0">
                <a:solidFill>
                  <a:srgbClr val="111111"/>
                </a:solidFill>
                <a:latin typeface="Liberation Serif"/>
              </a:defRPr>
            </a:pPr>
            <a:r>
              <a:t>Task 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28644" y="846280"/>
            <a:ext cx="910127" cy="250037"/>
          </a:xfrm>
          <a:prstGeom prst="rect">
            <a:avLst/>
          </a:prstGeom>
          <a:solidFill>
            <a:srgbClr val="F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92738" y="820635"/>
            <a:ext cx="781940" cy="2820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0" i="0">
                <a:solidFill>
                  <a:srgbClr val="111111"/>
                </a:solidFill>
                <a:latin typeface="Liberation Serif"/>
              </a:defRPr>
            </a:pPr>
            <a:r>
              <a:t>Execution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65648" y="846280"/>
            <a:ext cx="890899" cy="250037"/>
          </a:xfrm>
          <a:prstGeom prst="rect">
            <a:avLst/>
          </a:prstGeom>
          <a:solidFill>
            <a:srgbClr val="F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210514" y="820635"/>
            <a:ext cx="801168" cy="2820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0" i="0">
                <a:solidFill>
                  <a:srgbClr val="111111"/>
                </a:solidFill>
                <a:latin typeface="Liberation Serif"/>
              </a:defRPr>
            </a:pPr>
            <a:r>
              <a:t>Rollback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6390117" y="1096318"/>
            <a:ext cx="0" cy="109632"/>
          </a:xfrm>
          <a:prstGeom prst="line">
            <a:avLst/>
          </a:prstGeom>
          <a:ln w="1143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10800000">
            <a:off x="6345252" y="1192486"/>
            <a:ext cx="89730" cy="89757"/>
          </a:xfrm>
          <a:prstGeom prst="triangle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928644" y="1224542"/>
            <a:ext cx="929355" cy="269271"/>
          </a:xfrm>
          <a:prstGeom prst="rect">
            <a:avLst/>
          </a:prstGeom>
          <a:solidFill>
            <a:srgbClr val="F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986328" y="1205309"/>
            <a:ext cx="807577" cy="301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0" i="0">
                <a:solidFill>
                  <a:srgbClr val="111111"/>
                </a:solidFill>
                <a:latin typeface="Liberation Serif"/>
              </a:defRPr>
            </a:pPr>
            <a:r>
              <a:t>Reflection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58000" y="1057851"/>
            <a:ext cx="301239" cy="288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75" b="1" i="1">
                <a:solidFill>
                  <a:srgbClr val="929292"/>
                </a:solidFill>
                <a:latin typeface="Liberation Serif"/>
              </a:defRPr>
            </a:pPr>
            <a:r>
              <a:t>if low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75" b="1" i="1">
                <a:solidFill>
                  <a:srgbClr val="929292"/>
                </a:solidFill>
                <a:latin typeface="Liberation Serif"/>
              </a:defRPr>
            </a:pPr>
            <a:r>
              <a:t>quality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269736" y="1131067"/>
            <a:ext cx="142672" cy="95142"/>
          </a:xfrm>
          <a:prstGeom prst="roundRect">
            <a:avLst/>
          </a:prstGeom>
          <a:solidFill>
            <a:srgbClr val="FFFFFF"/>
          </a:solidFill>
          <a:ln w="6663">
            <a:solidFill>
              <a:srgbClr val="6F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7286721" y="1212617"/>
            <a:ext cx="108702" cy="30581"/>
          </a:xfrm>
          <a:prstGeom prst="roundRect">
            <a:avLst/>
          </a:prstGeom>
          <a:solidFill>
            <a:srgbClr val="FFFFFF"/>
          </a:solidFill>
          <a:ln w="6057">
            <a:solidFill>
              <a:srgbClr val="6F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302007" y="1166745"/>
            <a:ext cx="16984" cy="16989"/>
          </a:xfrm>
          <a:prstGeom prst="ellipse">
            <a:avLst/>
          </a:prstGeom>
          <a:solidFill>
            <a:srgbClr val="6F6F6F"/>
          </a:solidFill>
          <a:ln w="5715">
            <a:solidFill>
              <a:srgbClr val="6F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363152" y="1166745"/>
            <a:ext cx="16984" cy="16989"/>
          </a:xfrm>
          <a:prstGeom prst="ellipse">
            <a:avLst/>
          </a:prstGeom>
          <a:solidFill>
            <a:srgbClr val="6F6F6F"/>
          </a:solidFill>
          <a:ln w="5715">
            <a:solidFill>
              <a:srgbClr val="6F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0308" y="1202423"/>
            <a:ext cx="81527" cy="0"/>
          </a:xfrm>
          <a:prstGeom prst="line">
            <a:avLst/>
          </a:prstGeom>
          <a:ln w="5452">
            <a:solidFill>
              <a:srgbClr val="6F6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341072" y="1107281"/>
            <a:ext cx="0" cy="23786"/>
          </a:xfrm>
          <a:prstGeom prst="line">
            <a:avLst/>
          </a:prstGeom>
          <a:ln w="6057">
            <a:solidFill>
              <a:srgbClr val="6F6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7313896" y="1083495"/>
            <a:ext cx="57748" cy="44173"/>
          </a:xfrm>
          <a:prstGeom prst="roundRect">
            <a:avLst/>
          </a:prstGeom>
          <a:solidFill>
            <a:srgbClr val="FFFFFF"/>
          </a:solidFill>
          <a:ln w="4543">
            <a:solidFill>
              <a:srgbClr val="6F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313896" y="1080097"/>
            <a:ext cx="57748" cy="475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8" b="1" i="0">
                <a:solidFill>
                  <a:srgbClr val="6F6F6F"/>
                </a:solidFill>
                <a:latin typeface="Liberation Sans"/>
              </a:defRPr>
            </a:pPr>
            <a:r>
              <a:t>P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7256148" y="1154852"/>
            <a:ext cx="0" cy="61163"/>
          </a:xfrm>
          <a:prstGeom prst="line">
            <a:avLst/>
          </a:prstGeom>
          <a:ln w="6057">
            <a:solidFill>
              <a:srgbClr val="6F6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425996" y="1154852"/>
            <a:ext cx="0" cy="61163"/>
          </a:xfrm>
          <a:prstGeom prst="line">
            <a:avLst/>
          </a:prstGeom>
          <a:ln w="6057">
            <a:solidFill>
              <a:srgbClr val="6F6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242560" y="1168444"/>
            <a:ext cx="0" cy="33979"/>
          </a:xfrm>
          <a:prstGeom prst="line">
            <a:avLst/>
          </a:prstGeom>
          <a:ln w="6057">
            <a:solidFill>
              <a:srgbClr val="6F6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439584" y="1168444"/>
            <a:ext cx="0" cy="33979"/>
          </a:xfrm>
          <a:prstGeom prst="line">
            <a:avLst/>
          </a:prstGeom>
          <a:ln w="6057">
            <a:solidFill>
              <a:srgbClr val="6F6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 flipV="1">
            <a:off x="7724046" y="1134134"/>
            <a:ext cx="5625" cy="225044"/>
          </a:xfrm>
          <a:prstGeom prst="line">
            <a:avLst/>
          </a:prstGeom>
          <a:ln w="11430">
            <a:solidFill>
              <a:srgbClr val="A7A7A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Isosceles Triangle 133"/>
          <p:cNvSpPr/>
          <p:nvPr/>
        </p:nvSpPr>
        <p:spPr>
          <a:xfrm rot="21514074">
            <a:off x="7678396" y="1057851"/>
            <a:ext cx="89730" cy="89757"/>
          </a:xfrm>
          <a:prstGeom prst="triangle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69437" y="1346355"/>
            <a:ext cx="467882" cy="128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75" b="1" i="1">
                <a:solidFill>
                  <a:srgbClr val="929292"/>
                </a:solidFill>
                <a:latin typeface="Liberation Serif"/>
              </a:defRPr>
            </a:pPr>
            <a:r>
              <a:t>Re-Plan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6396527" y="1493813"/>
            <a:ext cx="0" cy="71165"/>
          </a:xfrm>
          <a:prstGeom prst="line">
            <a:avLst/>
          </a:prstGeom>
          <a:ln w="1143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Isosceles Triangle 136"/>
          <p:cNvSpPr/>
          <p:nvPr/>
        </p:nvSpPr>
        <p:spPr>
          <a:xfrm rot="10800000">
            <a:off x="6351661" y="1551514"/>
            <a:ext cx="89730" cy="89757"/>
          </a:xfrm>
          <a:prstGeom prst="triangle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069650" y="1480991"/>
            <a:ext cx="288420" cy="128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75" b="1" i="1">
                <a:solidFill>
                  <a:srgbClr val="929292"/>
                </a:solidFill>
                <a:latin typeface="Liberation Serif"/>
              </a:defRPr>
            </a:pPr>
            <a:r>
              <a:t>if SR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28644" y="1596393"/>
            <a:ext cx="2115084" cy="282093"/>
          </a:xfrm>
          <a:prstGeom prst="rect">
            <a:avLst/>
          </a:prstGeom>
          <a:solidFill>
            <a:srgbClr val="F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92738" y="1577159"/>
            <a:ext cx="1986897" cy="3077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0" i="0">
                <a:solidFill>
                  <a:srgbClr val="111111"/>
                </a:solidFill>
                <a:latin typeface="Liberation Serif"/>
              </a:defRPr>
            </a:pPr>
            <a:r>
              <a:t>Face Restoration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6986186" y="1981066"/>
            <a:ext cx="0" cy="108991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Isosceles Triangle 141"/>
          <p:cNvSpPr/>
          <p:nvPr/>
        </p:nvSpPr>
        <p:spPr>
          <a:xfrm rot="10800000">
            <a:off x="6922093" y="2070823"/>
            <a:ext cx="128186" cy="128224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5819685" y="2141346"/>
            <a:ext cx="2320183" cy="250037"/>
          </a:xfrm>
          <a:prstGeom prst="roundRect">
            <a:avLst/>
          </a:prstGeom>
          <a:noFill/>
          <a:ln w="17145">
            <a:solidFill>
              <a:srgbClr val="A7A7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441392" y="2134935"/>
            <a:ext cx="1089588" cy="2500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0" i="0">
                <a:solidFill>
                  <a:srgbClr val="111111"/>
                </a:solidFill>
                <a:latin typeface="Liberation Serif"/>
              </a:defRPr>
            </a:pPr>
            <a:r>
              <a:t>Task 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83637" y="2359328"/>
            <a:ext cx="192280" cy="1474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1" i="0">
                <a:solidFill>
                  <a:srgbClr val="111111"/>
                </a:solidFill>
                <a:latin typeface="Liberation Serif"/>
              </a:defRPr>
            </a:pPr>
            <a:r>
              <a:t>⋮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819685" y="2538842"/>
            <a:ext cx="2320183" cy="243626"/>
          </a:xfrm>
          <a:prstGeom prst="roundRect">
            <a:avLst/>
          </a:prstGeom>
          <a:noFill/>
          <a:ln w="17145">
            <a:solidFill>
              <a:srgbClr val="A7A7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441392" y="2532431"/>
            <a:ext cx="1089588" cy="2436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0" i="0">
                <a:solidFill>
                  <a:srgbClr val="111111"/>
                </a:solidFill>
                <a:latin typeface="Liberation Serif"/>
              </a:defRPr>
            </a:pPr>
            <a:r>
              <a:t>Task K</a:t>
            </a:r>
          </a:p>
        </p:txBody>
      </p:sp>
      <p:sp>
        <p:nvSpPr>
          <p:cNvPr id="148" name="Chevron 147"/>
          <p:cNvSpPr/>
          <p:nvPr/>
        </p:nvSpPr>
        <p:spPr>
          <a:xfrm>
            <a:off x="8261646" y="2141346"/>
            <a:ext cx="474291" cy="224392"/>
          </a:xfrm>
          <a:prstGeom prst="chevron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output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394" y="205158"/>
            <a:ext cx="3525140" cy="2628599"/>
          </a:xfrm>
          <a:prstGeom prst="rect">
            <a:avLst/>
          </a:prstGeom>
        </p:spPr>
      </p:pic>
      <p:sp>
        <p:nvSpPr>
          <p:cNvPr id="150" name="Rectangle 149"/>
          <p:cNvSpPr/>
          <p:nvPr/>
        </p:nvSpPr>
        <p:spPr>
          <a:xfrm>
            <a:off x="8774394" y="205158"/>
            <a:ext cx="3525140" cy="2628599"/>
          </a:xfrm>
          <a:prstGeom prst="rect">
            <a:avLst/>
          </a:prstGeom>
          <a:noFill/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1" name="Connector 150"/>
          <p:cNvCxnSpPr/>
          <p:nvPr/>
        </p:nvCxnSpPr>
        <p:spPr>
          <a:xfrm flipH="1">
            <a:off x="262783" y="2833758"/>
            <a:ext cx="2236861" cy="314150"/>
          </a:xfrm>
          <a:prstGeom prst="line">
            <a:avLst/>
          </a:prstGeom>
          <a:ln w="22860">
            <a:solidFill>
              <a:srgbClr val="4A86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5082611" y="2833758"/>
            <a:ext cx="198689" cy="359028"/>
          </a:xfrm>
          <a:prstGeom prst="line">
            <a:avLst/>
          </a:prstGeom>
          <a:ln w="22860">
            <a:solidFill>
              <a:srgbClr val="4A86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5697908" y="2840169"/>
            <a:ext cx="243555" cy="371851"/>
          </a:xfrm>
          <a:prstGeom prst="line">
            <a:avLst/>
          </a:prstGeom>
          <a:ln w="22860">
            <a:solidFill>
              <a:srgbClr val="4F7E3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29600" y="2840169"/>
            <a:ext cx="1647201" cy="371851"/>
          </a:xfrm>
          <a:prstGeom prst="line">
            <a:avLst/>
          </a:prstGeom>
          <a:ln w="22860">
            <a:solidFill>
              <a:srgbClr val="4F7E3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ounded Rectangle 154"/>
          <p:cNvSpPr/>
          <p:nvPr/>
        </p:nvSpPr>
        <p:spPr>
          <a:xfrm>
            <a:off x="32046" y="3141496"/>
            <a:ext cx="5287710" cy="4135235"/>
          </a:xfrm>
          <a:prstGeom prst="roundRect">
            <a:avLst/>
          </a:prstGeom>
          <a:noFill/>
          <a:ln w="22860">
            <a:solidFill>
              <a:srgbClr val="4A86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34596" y="3218431"/>
            <a:ext cx="5037745" cy="1057851"/>
          </a:xfrm>
          <a:prstGeom prst="roundRect">
            <a:avLst/>
          </a:prstGeom>
          <a:solidFill>
            <a:srgbClr val="D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69192" y="3269721"/>
            <a:ext cx="801168" cy="2628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60" b="1" i="1">
                <a:solidFill>
                  <a:srgbClr val="095D77"/>
                </a:solidFill>
                <a:latin typeface="Liberation Sans"/>
              </a:defRPr>
            </a:pPr>
            <a:r>
              <a:t>Stage 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01168" y="3513347"/>
            <a:ext cx="141005" cy="16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F8C61D"/>
                </a:solidFill>
                <a:latin typeface="Liberation Sans"/>
              </a:defRPr>
            </a:pPr>
            <a:r>
              <a:t>★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54992" y="3513347"/>
            <a:ext cx="141005" cy="16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F8C61D"/>
                </a:solidFill>
                <a:latin typeface="Liberation Sans"/>
              </a:defRPr>
            </a:pPr>
            <a:r>
              <a:t>★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08816" y="3513347"/>
            <a:ext cx="141005" cy="16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F8C61D"/>
                </a:solidFill>
                <a:latin typeface="Liberation Sans"/>
              </a:defRPr>
            </a:pPr>
            <a:r>
              <a:t>★</a:t>
            </a:r>
          </a:p>
        </p:txBody>
      </p:sp>
      <p:sp>
        <p:nvSpPr>
          <p:cNvPr id="161" name="Oval 160"/>
          <p:cNvSpPr/>
          <p:nvPr/>
        </p:nvSpPr>
        <p:spPr>
          <a:xfrm>
            <a:off x="916536" y="3769796"/>
            <a:ext cx="230736" cy="166691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26805" y="3821086"/>
            <a:ext cx="102549" cy="102579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34454" y="3821086"/>
            <a:ext cx="102549" cy="102579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954992" y="3776207"/>
            <a:ext cx="160234" cy="0"/>
          </a:xfrm>
          <a:prstGeom prst="line">
            <a:avLst/>
          </a:prstGeom>
          <a:ln w="171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435835" y="3994188"/>
            <a:ext cx="1185728" cy="230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95" b="1" i="0">
                <a:solidFill>
                  <a:srgbClr val="111111"/>
                </a:solidFill>
                <a:latin typeface="Liberation Serif"/>
              </a:defRPr>
            </a:pPr>
            <a:r>
              <a:t>Expert IQA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1551061" y="3846730"/>
            <a:ext cx="390970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Isosceles Triangle 166"/>
          <p:cNvSpPr/>
          <p:nvPr/>
        </p:nvSpPr>
        <p:spPr>
          <a:xfrm rot="5400000">
            <a:off x="1922803" y="3782618"/>
            <a:ext cx="128186" cy="128224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140721" y="3391534"/>
            <a:ext cx="1294687" cy="8078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185586" y="3455646"/>
            <a:ext cx="717846" cy="16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527BA8"/>
                </a:solidFill>
                <a:latin typeface="Liberation Serif"/>
              </a:defRPr>
            </a:pPr>
            <a:r>
              <a:t>CLIPIQA+: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948299" y="3455646"/>
            <a:ext cx="442244" cy="16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65" b="1" i="0">
                <a:solidFill>
                  <a:srgbClr val="527BA8"/>
                </a:solidFill>
                <a:latin typeface="Liberation Serif"/>
              </a:defRPr>
            </a:pPr>
            <a:r>
              <a:t>0.6344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185586" y="3641571"/>
            <a:ext cx="717846" cy="16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527BA8"/>
                </a:solidFill>
                <a:latin typeface="Liberation Serif"/>
              </a:defRPr>
            </a:pPr>
            <a:r>
              <a:t>TOPIQ: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948299" y="3641571"/>
            <a:ext cx="442244" cy="16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65" b="1" i="0">
                <a:solidFill>
                  <a:srgbClr val="527BA8"/>
                </a:solidFill>
                <a:latin typeface="Liberation Serif"/>
              </a:defRPr>
            </a:pPr>
            <a:r>
              <a:t>0.5907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185586" y="3827497"/>
            <a:ext cx="717846" cy="16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527BA8"/>
                </a:solidFill>
                <a:latin typeface="Liberation Serif"/>
              </a:defRPr>
            </a:pPr>
            <a:r>
              <a:t>MUSIQ: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948299" y="3827497"/>
            <a:ext cx="442244" cy="16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65" b="1" i="0">
                <a:solidFill>
                  <a:srgbClr val="527BA8"/>
                </a:solidFill>
                <a:latin typeface="Liberation Serif"/>
              </a:defRPr>
            </a:pPr>
            <a:r>
              <a:t>62.9828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185586" y="4013422"/>
            <a:ext cx="717846" cy="16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527BA8"/>
                </a:solidFill>
                <a:latin typeface="Liberation Serif"/>
              </a:defRPr>
            </a:pPr>
            <a:r>
              <a:t>NIQE: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948299" y="4013422"/>
            <a:ext cx="442244" cy="16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65" b="1" i="0">
                <a:solidFill>
                  <a:srgbClr val="527BA8"/>
                </a:solidFill>
                <a:latin typeface="Liberation Serif"/>
              </a:defRPr>
            </a:pPr>
            <a:r>
              <a:t>3.5966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3576414" y="3846730"/>
            <a:ext cx="403789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Isosceles Triangle 177"/>
          <p:cNvSpPr/>
          <p:nvPr/>
        </p:nvSpPr>
        <p:spPr>
          <a:xfrm rot="5400000">
            <a:off x="3960975" y="3782618"/>
            <a:ext cx="128186" cy="128224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4403220" y="3583870"/>
            <a:ext cx="235863" cy="317034"/>
          </a:xfrm>
          <a:prstGeom prst="roundRect">
            <a:avLst/>
          </a:prstGeom>
          <a:solidFill>
            <a:srgbClr val="FFFFFF"/>
          </a:solidFill>
          <a:ln w="1314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4454815" y="3687091"/>
            <a:ext cx="132674" cy="0"/>
          </a:xfrm>
          <a:prstGeom prst="line">
            <a:avLst/>
          </a:prstGeom>
          <a:ln w="985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4454815" y="3746074"/>
            <a:ext cx="132674" cy="0"/>
          </a:xfrm>
          <a:prstGeom prst="line">
            <a:avLst/>
          </a:prstGeom>
          <a:ln w="985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4454815" y="3805058"/>
            <a:ext cx="132674" cy="0"/>
          </a:xfrm>
          <a:prstGeom prst="line">
            <a:avLst/>
          </a:prstGeom>
          <a:ln w="985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3781514" y="3987777"/>
            <a:ext cx="1185728" cy="230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11111"/>
                </a:solidFill>
                <a:latin typeface="Liberation Serif"/>
              </a:defRPr>
            </a:pPr>
            <a:r>
              <a:t>Quality Scores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34596" y="4404506"/>
            <a:ext cx="5037745" cy="2019533"/>
          </a:xfrm>
          <a:prstGeom prst="roundRect">
            <a:avLst/>
          </a:prstGeom>
          <a:solidFill>
            <a:srgbClr val="D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69192" y="4423740"/>
            <a:ext cx="801168" cy="2628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60" b="1" i="1">
                <a:solidFill>
                  <a:srgbClr val="095D77"/>
                </a:solidFill>
                <a:latin typeface="Liberation Sans"/>
              </a:defRPr>
            </a:pPr>
            <a:r>
              <a:t>Stage 2</a:t>
            </a:r>
          </a:p>
        </p:txBody>
      </p:sp>
      <p:pic>
        <p:nvPicPr>
          <p:cNvPr id="186" name="Picture 185" descr="input_sce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99" y="4898170"/>
            <a:ext cx="583250" cy="442374"/>
          </a:xfrm>
          <a:prstGeom prst="rect">
            <a:avLst/>
          </a:prstGeom>
        </p:spPr>
      </p:pic>
      <p:cxnSp>
        <p:nvCxnSpPr>
          <p:cNvPr id="187" name="Connector 186"/>
          <p:cNvCxnSpPr/>
          <p:nvPr/>
        </p:nvCxnSpPr>
        <p:spPr>
          <a:xfrm>
            <a:off x="788349" y="5109740"/>
            <a:ext cx="139083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Isosceles Triangle 187"/>
          <p:cNvSpPr/>
          <p:nvPr/>
        </p:nvSpPr>
        <p:spPr>
          <a:xfrm rot="5400000">
            <a:off x="910127" y="5052039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442244" y="5532881"/>
            <a:ext cx="188691" cy="253627"/>
          </a:xfrm>
          <a:prstGeom prst="roundRect">
            <a:avLst/>
          </a:prstGeom>
          <a:solidFill>
            <a:srgbClr val="FFFFFF"/>
          </a:solidFill>
          <a:ln w="105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>
            <a:off x="483521" y="5615457"/>
            <a:ext cx="106138" cy="0"/>
          </a:xfrm>
          <a:prstGeom prst="line">
            <a:avLst/>
          </a:prstGeom>
          <a:ln w="788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483521" y="5662644"/>
            <a:ext cx="106138" cy="0"/>
          </a:xfrm>
          <a:prstGeom prst="line">
            <a:avLst/>
          </a:prstGeom>
          <a:ln w="788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483521" y="5709830"/>
            <a:ext cx="106138" cy="0"/>
          </a:xfrm>
          <a:prstGeom prst="line">
            <a:avLst/>
          </a:prstGeom>
          <a:ln w="788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85800" y="5712395"/>
            <a:ext cx="241632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Isosceles Triangle 193"/>
          <p:cNvSpPr/>
          <p:nvPr/>
        </p:nvSpPr>
        <p:spPr>
          <a:xfrm rot="5400000">
            <a:off x="910127" y="5654694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1025495" y="5078325"/>
            <a:ext cx="207855" cy="251000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025495" y="5329325"/>
            <a:ext cx="207855" cy="27888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025495" y="5329325"/>
            <a:ext cx="207855" cy="306776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233350" y="5022548"/>
            <a:ext cx="262078" cy="55777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1233350" y="5078325"/>
            <a:ext cx="262078" cy="176630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1233350" y="5078325"/>
            <a:ext cx="262078" cy="436925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1233350" y="5078325"/>
            <a:ext cx="262078" cy="650739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233350" y="5022548"/>
            <a:ext cx="262078" cy="334665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233350" y="5254955"/>
            <a:ext cx="262078" cy="102258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233350" y="5357213"/>
            <a:ext cx="262078" cy="158037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233350" y="5357213"/>
            <a:ext cx="262078" cy="371851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233350" y="5022548"/>
            <a:ext cx="262078" cy="613553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233350" y="5254955"/>
            <a:ext cx="262078" cy="381146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233350" y="5515250"/>
            <a:ext cx="262078" cy="120851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233350" y="5636101"/>
            <a:ext cx="262078" cy="92963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495428" y="5022548"/>
            <a:ext cx="234967" cy="120851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495428" y="5022548"/>
            <a:ext cx="234967" cy="371851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495428" y="5022548"/>
            <a:ext cx="234967" cy="613553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495428" y="5143399"/>
            <a:ext cx="234967" cy="111556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495428" y="5254955"/>
            <a:ext cx="234967" cy="139444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495428" y="5254955"/>
            <a:ext cx="234967" cy="381146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495428" y="5143399"/>
            <a:ext cx="234967" cy="371851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495428" y="5394399"/>
            <a:ext cx="234967" cy="120851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495428" y="5515250"/>
            <a:ext cx="234967" cy="120851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1495428" y="5143399"/>
            <a:ext cx="234967" cy="585665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1495428" y="5394399"/>
            <a:ext cx="234967" cy="334665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495428" y="5636101"/>
            <a:ext cx="234967" cy="92963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1730395" y="5143399"/>
            <a:ext cx="198818" cy="195222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730395" y="5338621"/>
            <a:ext cx="198818" cy="55778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730395" y="5338621"/>
            <a:ext cx="198818" cy="297480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Oval 224"/>
          <p:cNvSpPr/>
          <p:nvPr/>
        </p:nvSpPr>
        <p:spPr>
          <a:xfrm>
            <a:off x="993448" y="5297269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201303" y="5046269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201303" y="5325157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201303" y="5604045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63381" y="4990492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463381" y="5222898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463381" y="5483194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463381" y="5697008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98348" y="5111343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98348" y="5362342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98348" y="5604045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897166" y="5306565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188164" y="5217769"/>
            <a:ext cx="587416" cy="334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85" b="1" i="0">
                <a:solidFill>
                  <a:srgbClr val="000000"/>
                </a:solidFill>
                <a:latin typeface="Liberation Serif"/>
              </a:defRPr>
            </a:pPr>
            <a:r>
              <a:t>VLM</a:t>
            </a:r>
          </a:p>
        </p:txBody>
      </p:sp>
      <p:cxnSp>
        <p:nvCxnSpPr>
          <p:cNvPr id="238" name="Connector 237"/>
          <p:cNvCxnSpPr/>
          <p:nvPr/>
        </p:nvCxnSpPr>
        <p:spPr>
          <a:xfrm flipV="1">
            <a:off x="1916394" y="4913825"/>
            <a:ext cx="114250" cy="195915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Isosceles Triangle 238"/>
          <p:cNvSpPr/>
          <p:nvPr/>
        </p:nvSpPr>
        <p:spPr>
          <a:xfrm rot="1815386">
            <a:off x="1993306" y="4821236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980487" y="4769946"/>
            <a:ext cx="115368" cy="115401"/>
          </a:xfrm>
          <a:prstGeom prst="ellipse">
            <a:avLst/>
          </a:prstGeom>
          <a:solidFill>
            <a:srgbClr val="FFFFFF"/>
          </a:solidFill>
          <a:ln w="10287">
            <a:solidFill>
              <a:srgbClr val="687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Connector 240"/>
          <p:cNvCxnSpPr/>
          <p:nvPr/>
        </p:nvCxnSpPr>
        <p:spPr>
          <a:xfrm>
            <a:off x="2083037" y="4872525"/>
            <a:ext cx="51275" cy="51290"/>
          </a:xfrm>
          <a:prstGeom prst="line">
            <a:avLst/>
          </a:prstGeom>
          <a:ln w="11430">
            <a:solidFill>
              <a:srgbClr val="6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2153540" y="4712245"/>
            <a:ext cx="974220" cy="211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222222"/>
                </a:solidFill>
                <a:latin typeface="Liberation Serif"/>
              </a:defRPr>
            </a:pPr>
            <a:r>
              <a:t>Description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967669" y="4962282"/>
            <a:ext cx="1288278" cy="487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2025353" y="4987927"/>
            <a:ext cx="1179319" cy="4295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778AD"/>
                </a:solidFill>
                <a:latin typeface="Liberation Serif"/>
              </a:defRPr>
            </a:pPr>
            <a:r>
              <a:t>"A young girl with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778AD"/>
                </a:solidFill>
                <a:latin typeface="Liberation Serif"/>
              </a:defRPr>
            </a:pPr>
            <a:r>
              <a:t>long brown hair,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778AD"/>
                </a:solidFill>
                <a:latin typeface="Liberation Serif"/>
              </a:defRPr>
            </a:pPr>
            <a:r>
              <a:t>firefighting efforts."</a:t>
            </a:r>
          </a:p>
        </p:txBody>
      </p:sp>
      <p:cxnSp>
        <p:nvCxnSpPr>
          <p:cNvPr id="245" name="Connector 244"/>
          <p:cNvCxnSpPr/>
          <p:nvPr/>
        </p:nvCxnSpPr>
        <p:spPr>
          <a:xfrm>
            <a:off x="1922803" y="5423890"/>
            <a:ext cx="124327" cy="178434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Isosceles Triangle 245"/>
          <p:cNvSpPr/>
          <p:nvPr/>
        </p:nvSpPr>
        <p:spPr>
          <a:xfrm rot="8707480">
            <a:off x="2012534" y="5577759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961259" y="5539292"/>
            <a:ext cx="672981" cy="217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222222"/>
                </a:solidFill>
                <a:latin typeface="Liberation Serif"/>
              </a:defRPr>
            </a:pPr>
            <a:r>
              <a:t>Distortion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980487" y="5808563"/>
            <a:ext cx="608887" cy="2179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031762" y="5795741"/>
            <a:ext cx="506338" cy="230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4778AD"/>
                </a:solidFill>
                <a:latin typeface="Liberation Serif"/>
              </a:defRPr>
            </a:pPr>
            <a:r>
              <a:t>"Noise"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653469" y="5808563"/>
            <a:ext cx="179461" cy="217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222222"/>
                </a:solidFill>
                <a:latin typeface="Liberation Serif"/>
              </a:defRPr>
            </a:pPr>
            <a:r>
              <a:t>+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794474" y="5808563"/>
            <a:ext cx="544794" cy="217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B51A67"/>
                </a:solidFill>
                <a:latin typeface="Liberation Serif"/>
              </a:defRPr>
            </a:pPr>
            <a:r>
              <a:t>"LR"×2</a:t>
            </a:r>
          </a:p>
        </p:txBody>
      </p:sp>
      <p:cxnSp>
        <p:nvCxnSpPr>
          <p:cNvPr id="252" name="Connector 251"/>
          <p:cNvCxnSpPr/>
          <p:nvPr/>
        </p:nvCxnSpPr>
        <p:spPr>
          <a:xfrm flipV="1">
            <a:off x="3223900" y="5727141"/>
            <a:ext cx="0" cy="190413"/>
          </a:xfrm>
          <a:prstGeom prst="line">
            <a:avLst/>
          </a:prstGeom>
          <a:ln w="17145">
            <a:solidFill>
              <a:srgbClr val="B21B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Isosceles Triangle 252"/>
          <p:cNvSpPr/>
          <p:nvPr/>
        </p:nvSpPr>
        <p:spPr>
          <a:xfrm>
            <a:off x="3166216" y="5629049"/>
            <a:ext cx="115368" cy="115401"/>
          </a:xfrm>
          <a:prstGeom prst="triangle">
            <a:avLst/>
          </a:prstGeom>
          <a:solidFill>
            <a:srgbClr val="B21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012534" y="6141947"/>
            <a:ext cx="1788207" cy="230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60" b="1" i="1">
                <a:solidFill>
                  <a:srgbClr val="B21B68"/>
                </a:solidFill>
                <a:latin typeface="Liberation Sans"/>
              </a:defRPr>
            </a:pPr>
            <a:r>
              <a:t>Upscaling Setting for 4K</a:t>
            </a:r>
          </a:p>
        </p:txBody>
      </p:sp>
      <p:pic>
        <p:nvPicPr>
          <p:cNvPr id="255" name="Picture 254" descr="input_sce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450" y="4513497"/>
            <a:ext cx="576841" cy="448785"/>
          </a:xfrm>
          <a:prstGeom prst="rect">
            <a:avLst/>
          </a:prstGeom>
        </p:spPr>
      </p:pic>
      <p:sp>
        <p:nvSpPr>
          <p:cNvPr id="256" name="TextBox 255"/>
          <p:cNvSpPr txBox="1"/>
          <p:nvPr/>
        </p:nvSpPr>
        <p:spPr>
          <a:xfrm>
            <a:off x="3211082" y="4949460"/>
            <a:ext cx="794758" cy="217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222222"/>
                </a:solidFill>
                <a:latin typeface="Liberation Serif"/>
              </a:defRPr>
            </a:pPr>
            <a:r>
              <a:t>Agenda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3089304" y="5180264"/>
            <a:ext cx="1089588" cy="1474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75" b="0" i="0">
                <a:solidFill>
                  <a:srgbClr val="4F72A4"/>
                </a:solidFill>
                <a:latin typeface="Liberation Serif"/>
              </a:defRPr>
            </a:pPr>
            <a:r>
              <a:t>["DN", "SR", "SR"]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089304" y="5346956"/>
            <a:ext cx="1089588" cy="1474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90" b="1" i="0">
                <a:solidFill>
                  <a:srgbClr val="4F72A4"/>
                </a:solidFill>
                <a:latin typeface="Liberation Serif"/>
              </a:defRPr>
            </a:pPr>
            <a:r>
              <a:t>↕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3076485" y="5462357"/>
            <a:ext cx="1134454" cy="269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75" b="0" i="0">
                <a:solidFill>
                  <a:srgbClr val="4F72A4"/>
                </a:solidFill>
                <a:latin typeface="Liberation Serif"/>
              </a:defRPr>
            </a:pPr>
            <a:r>
              <a:t>["Noise", "LR", "LR"]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166074" y="4519908"/>
            <a:ext cx="781940" cy="217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0" i="0">
                <a:solidFill>
                  <a:srgbClr val="222222"/>
                </a:solidFill>
                <a:latin typeface="Liberation Serif"/>
              </a:defRPr>
            </a:pPr>
            <a:r>
              <a:t>Experience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4646775" y="4795591"/>
            <a:ext cx="0" cy="171179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Isosceles Triangle 261"/>
          <p:cNvSpPr/>
          <p:nvPr/>
        </p:nvSpPr>
        <p:spPr>
          <a:xfrm rot="10800000">
            <a:off x="4589091" y="4949460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>
            <a:off x="4025069" y="4923815"/>
            <a:ext cx="262358" cy="193974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Isosceles Triangle 263"/>
          <p:cNvSpPr/>
          <p:nvPr/>
        </p:nvSpPr>
        <p:spPr>
          <a:xfrm rot="7588154">
            <a:off x="4262214" y="5084096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5" name="Connector 264"/>
          <p:cNvCxnSpPr/>
          <p:nvPr/>
        </p:nvCxnSpPr>
        <p:spPr>
          <a:xfrm flipV="1">
            <a:off x="4076343" y="5571141"/>
            <a:ext cx="205782" cy="166899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Isosceles Triangle 265"/>
          <p:cNvSpPr/>
          <p:nvPr/>
        </p:nvSpPr>
        <p:spPr>
          <a:xfrm rot="3057869">
            <a:off x="4255805" y="5488002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 flipV="1">
            <a:off x="4281442" y="5146541"/>
            <a:ext cx="190166" cy="247537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4281442" y="5394078"/>
            <a:ext cx="190166" cy="27504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4281442" y="5394078"/>
            <a:ext cx="190166" cy="302545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4471608" y="5091533"/>
            <a:ext cx="239773" cy="55008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4471608" y="5146541"/>
            <a:ext cx="239773" cy="174193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4471608" y="5146541"/>
            <a:ext cx="239773" cy="430898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4471608" y="5146541"/>
            <a:ext cx="239773" cy="641763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4471608" y="5091533"/>
            <a:ext cx="239773" cy="330049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4471608" y="5320734"/>
            <a:ext cx="239773" cy="100848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4471608" y="5421582"/>
            <a:ext cx="239773" cy="155857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4471608" y="5421582"/>
            <a:ext cx="239773" cy="366722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4471608" y="5091533"/>
            <a:ext cx="239773" cy="605090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4471608" y="5320734"/>
            <a:ext cx="239773" cy="375889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4471608" y="5577439"/>
            <a:ext cx="239773" cy="119184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4471608" y="5696623"/>
            <a:ext cx="239773" cy="91681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4711381" y="5091533"/>
            <a:ext cx="214970" cy="119184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4711381" y="5091533"/>
            <a:ext cx="214970" cy="366721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4711381" y="5091533"/>
            <a:ext cx="214970" cy="605090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4711381" y="5210717"/>
            <a:ext cx="214970" cy="110017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4711381" y="5320734"/>
            <a:ext cx="214970" cy="137520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4711381" y="5320734"/>
            <a:ext cx="214970" cy="375889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4711381" y="5210717"/>
            <a:ext cx="214970" cy="366722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4711381" y="5458254"/>
            <a:ext cx="214970" cy="119185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4711381" y="5577439"/>
            <a:ext cx="214970" cy="119184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4711381" y="5210717"/>
            <a:ext cx="214970" cy="577587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4711381" y="5458254"/>
            <a:ext cx="214970" cy="330050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4711381" y="5696623"/>
            <a:ext cx="214970" cy="91681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4926351" y="5210717"/>
            <a:ext cx="181897" cy="192529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4926351" y="5403246"/>
            <a:ext cx="181897" cy="55008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4926351" y="5403246"/>
            <a:ext cx="181897" cy="293377"/>
          </a:xfrm>
          <a:prstGeom prst="line">
            <a:avLst/>
          </a:prstGeom>
          <a:ln w="11430">
            <a:solidFill>
              <a:srgbClr val="E9B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Oval 296"/>
          <p:cNvSpPr/>
          <p:nvPr/>
        </p:nvSpPr>
        <p:spPr>
          <a:xfrm>
            <a:off x="4249396" y="5362022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4439561" y="5114485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4439561" y="5389526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4439561" y="5664567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4679335" y="5059476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4679335" y="5288678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4679335" y="5545383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4679335" y="5756248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4894304" y="5178661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4894304" y="5426198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4894304" y="5664567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5076201" y="5371190"/>
            <a:ext cx="64093" cy="641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9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4430268" y="5284061"/>
            <a:ext cx="537423" cy="3300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85" b="1" i="0">
                <a:solidFill>
                  <a:srgbClr val="000000"/>
                </a:solidFill>
                <a:latin typeface="Liberation Serif"/>
              </a:defRPr>
            </a:pPr>
            <a:r>
              <a:t>VLM</a:t>
            </a:r>
          </a:p>
        </p:txBody>
      </p:sp>
      <p:cxnSp>
        <p:nvCxnSpPr>
          <p:cNvPr id="310" name="Connector 309"/>
          <p:cNvCxnSpPr/>
          <p:nvPr/>
        </p:nvCxnSpPr>
        <p:spPr>
          <a:xfrm>
            <a:off x="4672413" y="5911143"/>
            <a:ext cx="0" cy="535978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Isosceles Triangle 310"/>
          <p:cNvSpPr/>
          <p:nvPr/>
        </p:nvSpPr>
        <p:spPr>
          <a:xfrm rot="10800000">
            <a:off x="4595500" y="6424040"/>
            <a:ext cx="153824" cy="153869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34596" y="6539442"/>
            <a:ext cx="5037745" cy="634710"/>
          </a:xfrm>
          <a:prstGeom prst="roundRect">
            <a:avLst/>
          </a:prstGeom>
          <a:noFill/>
          <a:ln w="17145">
            <a:solidFill>
              <a:srgbClr val="A7A7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ounded Rectangle 312"/>
          <p:cNvSpPr/>
          <p:nvPr/>
        </p:nvSpPr>
        <p:spPr>
          <a:xfrm>
            <a:off x="1730523" y="6656767"/>
            <a:ext cx="169206" cy="211570"/>
          </a:xfrm>
          <a:prstGeom prst="roundRect">
            <a:avLst/>
          </a:prstGeom>
          <a:solidFill>
            <a:srgbClr val="FFFFFF"/>
          </a:solidFill>
          <a:ln w="754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ounded Rectangle 313"/>
          <p:cNvSpPr/>
          <p:nvPr/>
        </p:nvSpPr>
        <p:spPr>
          <a:xfrm>
            <a:off x="1781285" y="6635610"/>
            <a:ext cx="67682" cy="42314"/>
          </a:xfrm>
          <a:prstGeom prst="roundRect">
            <a:avLst/>
          </a:prstGeom>
          <a:solidFill>
            <a:srgbClr val="FFFFFF"/>
          </a:solidFill>
          <a:ln w="754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1760134" y="6711776"/>
            <a:ext cx="25381" cy="25388"/>
          </a:xfrm>
          <a:prstGeom prst="roundRect">
            <a:avLst/>
          </a:prstGeom>
          <a:solidFill>
            <a:srgbClr val="FFFFFF"/>
          </a:solidFill>
          <a:ln w="452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6" name="Connector 315"/>
          <p:cNvCxnSpPr/>
          <p:nvPr/>
        </p:nvCxnSpPr>
        <p:spPr>
          <a:xfrm>
            <a:off x="1802436" y="6724470"/>
            <a:ext cx="63452" cy="0"/>
          </a:xfrm>
          <a:prstGeom prst="line">
            <a:avLst/>
          </a:prstGeom>
          <a:ln w="528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Rounded Rectangle 316"/>
          <p:cNvSpPr/>
          <p:nvPr/>
        </p:nvSpPr>
        <p:spPr>
          <a:xfrm>
            <a:off x="1760134" y="6762552"/>
            <a:ext cx="25381" cy="25388"/>
          </a:xfrm>
          <a:prstGeom prst="roundRect">
            <a:avLst/>
          </a:prstGeom>
          <a:solidFill>
            <a:srgbClr val="FFFFFF"/>
          </a:solidFill>
          <a:ln w="452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1802436" y="6775247"/>
            <a:ext cx="63452" cy="0"/>
          </a:xfrm>
          <a:prstGeom prst="line">
            <a:avLst/>
          </a:prstGeom>
          <a:ln w="528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ounded Rectangle 318"/>
          <p:cNvSpPr/>
          <p:nvPr/>
        </p:nvSpPr>
        <p:spPr>
          <a:xfrm>
            <a:off x="1760134" y="6813329"/>
            <a:ext cx="25381" cy="25388"/>
          </a:xfrm>
          <a:prstGeom prst="roundRect">
            <a:avLst/>
          </a:prstGeom>
          <a:solidFill>
            <a:srgbClr val="FFFFFF"/>
          </a:solidFill>
          <a:ln w="452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1802436" y="6826024"/>
            <a:ext cx="63452" cy="0"/>
          </a:xfrm>
          <a:prstGeom prst="line">
            <a:avLst/>
          </a:prstGeom>
          <a:ln w="528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Oval 320"/>
          <p:cNvSpPr/>
          <p:nvPr/>
        </p:nvSpPr>
        <p:spPr>
          <a:xfrm>
            <a:off x="1757173" y="6691888"/>
            <a:ext cx="31303" cy="31312"/>
          </a:xfrm>
          <a:prstGeom prst="ellipse">
            <a:avLst/>
          </a:prstGeom>
          <a:solidFill>
            <a:srgbClr val="E64134"/>
          </a:solidFill>
          <a:ln w="377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 flipV="1">
            <a:off x="1887039" y="6720238"/>
            <a:ext cx="50762" cy="114248"/>
          </a:xfrm>
          <a:prstGeom prst="line">
            <a:avLst/>
          </a:prstGeom>
          <a:ln w="18859">
            <a:solidFill>
              <a:srgbClr val="E8A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1895499" y="6724470"/>
            <a:ext cx="50762" cy="114248"/>
          </a:xfrm>
          <a:prstGeom prst="line">
            <a:avLst/>
          </a:prstGeom>
          <a:ln w="452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TextBox 323"/>
          <p:cNvSpPr txBox="1"/>
          <p:nvPr/>
        </p:nvSpPr>
        <p:spPr>
          <a:xfrm>
            <a:off x="2063809" y="6590732"/>
            <a:ext cx="1724114" cy="256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5" b="1" i="0">
                <a:solidFill>
                  <a:srgbClr val="111111"/>
                </a:solidFill>
                <a:latin typeface="Liberation Serif"/>
              </a:defRPr>
            </a:pPr>
            <a:r>
              <a:t>Restoration Plan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217917" y="6866414"/>
            <a:ext cx="1435693" cy="2436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1" i="0">
                <a:solidFill>
                  <a:srgbClr val="4F7E31"/>
                </a:solidFill>
                <a:latin typeface="Liberation Serif"/>
              </a:defRPr>
            </a:pPr>
            <a:r>
              <a:t>Super-Resolution</a:t>
            </a:r>
          </a:p>
        </p:txBody>
      </p:sp>
      <p:cxnSp>
        <p:nvCxnSpPr>
          <p:cNvPr id="326" name="Connector 325"/>
          <p:cNvCxnSpPr/>
          <p:nvPr/>
        </p:nvCxnSpPr>
        <p:spPr>
          <a:xfrm>
            <a:off x="1666429" y="6994639"/>
            <a:ext cx="452500" cy="0"/>
          </a:xfrm>
          <a:prstGeom prst="line">
            <a:avLst/>
          </a:prstGeom>
          <a:ln w="2286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Isosceles Triangle 326"/>
          <p:cNvSpPr/>
          <p:nvPr/>
        </p:nvSpPr>
        <p:spPr>
          <a:xfrm rot="5400000">
            <a:off x="2095856" y="6917704"/>
            <a:ext cx="153824" cy="153869"/>
          </a:xfrm>
          <a:prstGeom prst="triangle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2288136" y="6866414"/>
            <a:ext cx="1128044" cy="2436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1" i="0">
                <a:solidFill>
                  <a:srgbClr val="4F7E31"/>
                </a:solidFill>
                <a:latin typeface="Liberation Serif"/>
              </a:defRPr>
            </a:pPr>
            <a:r>
              <a:t>Denoising</a:t>
            </a:r>
          </a:p>
        </p:txBody>
      </p:sp>
      <p:cxnSp>
        <p:nvCxnSpPr>
          <p:cNvPr id="329" name="Connector 328"/>
          <p:cNvCxnSpPr/>
          <p:nvPr/>
        </p:nvCxnSpPr>
        <p:spPr>
          <a:xfrm>
            <a:off x="3429000" y="6994639"/>
            <a:ext cx="292266" cy="0"/>
          </a:xfrm>
          <a:prstGeom prst="line">
            <a:avLst/>
          </a:prstGeom>
          <a:ln w="2286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Isosceles Triangle 329"/>
          <p:cNvSpPr/>
          <p:nvPr/>
        </p:nvSpPr>
        <p:spPr>
          <a:xfrm rot="5400000">
            <a:off x="3698192" y="6917704"/>
            <a:ext cx="153824" cy="153869"/>
          </a:xfrm>
          <a:prstGeom prst="triangle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3864835" y="6866414"/>
            <a:ext cx="1217775" cy="2436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1" i="0">
                <a:solidFill>
                  <a:srgbClr val="4F7E31"/>
                </a:solidFill>
                <a:latin typeface="Liberation Serif"/>
              </a:defRPr>
            </a:pPr>
            <a:r>
              <a:t>Super-Resolution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5685089" y="3141496"/>
            <a:ext cx="6614444" cy="4135235"/>
          </a:xfrm>
          <a:prstGeom prst="roundRect">
            <a:avLst/>
          </a:prstGeom>
          <a:noFill/>
          <a:ln w="22860">
            <a:solidFill>
              <a:srgbClr val="4F7E3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ounded Rectangle 332"/>
          <p:cNvSpPr/>
          <p:nvPr/>
        </p:nvSpPr>
        <p:spPr>
          <a:xfrm>
            <a:off x="5947872" y="3218431"/>
            <a:ext cx="6101697" cy="480841"/>
          </a:xfrm>
          <a:prstGeom prst="roundRect">
            <a:avLst/>
          </a:prstGeom>
          <a:solidFill>
            <a:srgbClr val="F0F6E6"/>
          </a:solidFill>
          <a:ln w="17145">
            <a:solidFill>
              <a:srgbClr val="A7A7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ounded Rectangle 333"/>
          <p:cNvSpPr/>
          <p:nvPr/>
        </p:nvSpPr>
        <p:spPr>
          <a:xfrm>
            <a:off x="6140153" y="3278697"/>
            <a:ext cx="174334" cy="217981"/>
          </a:xfrm>
          <a:prstGeom prst="roundRect">
            <a:avLst/>
          </a:prstGeom>
          <a:solidFill>
            <a:srgbClr val="FFFFFF"/>
          </a:solidFill>
          <a:ln w="777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ounded Rectangle 334"/>
          <p:cNvSpPr/>
          <p:nvPr/>
        </p:nvSpPr>
        <p:spPr>
          <a:xfrm>
            <a:off x="6192453" y="3256898"/>
            <a:ext cx="69733" cy="43596"/>
          </a:xfrm>
          <a:prstGeom prst="roundRect">
            <a:avLst/>
          </a:prstGeom>
          <a:solidFill>
            <a:srgbClr val="FFFFFF"/>
          </a:solidFill>
          <a:ln w="777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ounded Rectangle 335"/>
          <p:cNvSpPr/>
          <p:nvPr/>
        </p:nvSpPr>
        <p:spPr>
          <a:xfrm>
            <a:off x="6170661" y="3335372"/>
            <a:ext cx="26150" cy="26157"/>
          </a:xfrm>
          <a:prstGeom prst="roundRect">
            <a:avLst/>
          </a:prstGeom>
          <a:solidFill>
            <a:srgbClr val="FFFFFF"/>
          </a:solidFill>
          <a:ln w="466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6214245" y="3348451"/>
            <a:ext cx="65375" cy="0"/>
          </a:xfrm>
          <a:prstGeom prst="line">
            <a:avLst/>
          </a:prstGeom>
          <a:ln w="54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Rounded Rectangle 337"/>
          <p:cNvSpPr/>
          <p:nvPr/>
        </p:nvSpPr>
        <p:spPr>
          <a:xfrm>
            <a:off x="6170661" y="3387687"/>
            <a:ext cx="26150" cy="26157"/>
          </a:xfrm>
          <a:prstGeom prst="roundRect">
            <a:avLst/>
          </a:prstGeom>
          <a:solidFill>
            <a:srgbClr val="FFFFFF"/>
          </a:solidFill>
          <a:ln w="466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9" name="Connector 338"/>
          <p:cNvCxnSpPr/>
          <p:nvPr/>
        </p:nvCxnSpPr>
        <p:spPr>
          <a:xfrm>
            <a:off x="6214245" y="3400766"/>
            <a:ext cx="65375" cy="0"/>
          </a:xfrm>
          <a:prstGeom prst="line">
            <a:avLst/>
          </a:prstGeom>
          <a:ln w="54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Rounded Rectangle 339"/>
          <p:cNvSpPr/>
          <p:nvPr/>
        </p:nvSpPr>
        <p:spPr>
          <a:xfrm>
            <a:off x="6170661" y="3440003"/>
            <a:ext cx="26150" cy="26157"/>
          </a:xfrm>
          <a:prstGeom prst="roundRect">
            <a:avLst/>
          </a:prstGeom>
          <a:solidFill>
            <a:srgbClr val="FFFFFF"/>
          </a:solidFill>
          <a:ln w="466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1" name="Connector 340"/>
          <p:cNvCxnSpPr/>
          <p:nvPr/>
        </p:nvCxnSpPr>
        <p:spPr>
          <a:xfrm>
            <a:off x="6214245" y="3453082"/>
            <a:ext cx="65375" cy="0"/>
          </a:xfrm>
          <a:prstGeom prst="line">
            <a:avLst/>
          </a:prstGeom>
          <a:ln w="54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Oval 341"/>
          <p:cNvSpPr/>
          <p:nvPr/>
        </p:nvSpPr>
        <p:spPr>
          <a:xfrm>
            <a:off x="6167610" y="3314881"/>
            <a:ext cx="32251" cy="32261"/>
          </a:xfrm>
          <a:prstGeom prst="ellipse">
            <a:avLst/>
          </a:prstGeom>
          <a:solidFill>
            <a:srgbClr val="E64134"/>
          </a:solidFill>
          <a:ln w="388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3" name="Connector 342"/>
          <p:cNvCxnSpPr/>
          <p:nvPr/>
        </p:nvCxnSpPr>
        <p:spPr>
          <a:xfrm flipV="1">
            <a:off x="6301412" y="3344091"/>
            <a:ext cx="52300" cy="117710"/>
          </a:xfrm>
          <a:prstGeom prst="line">
            <a:avLst/>
          </a:prstGeom>
          <a:ln w="19431">
            <a:solidFill>
              <a:srgbClr val="E8A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6310129" y="3348451"/>
            <a:ext cx="52300" cy="117710"/>
          </a:xfrm>
          <a:prstGeom prst="line">
            <a:avLst/>
          </a:prstGeom>
          <a:ln w="466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TextBox 344"/>
          <p:cNvSpPr txBox="1"/>
          <p:nvPr/>
        </p:nvSpPr>
        <p:spPr>
          <a:xfrm>
            <a:off x="6473439" y="3250487"/>
            <a:ext cx="1371600" cy="4039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1" i="0">
                <a:solidFill>
                  <a:srgbClr val="4F7E31"/>
                </a:solidFill>
                <a:latin typeface="Liberation Serif"/>
              </a:defRPr>
            </a:pPr>
            <a:r>
              <a:t>Task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60" b="1" i="0">
                <a:solidFill>
                  <a:srgbClr val="4F7E31"/>
                </a:solidFill>
                <a:latin typeface="Liberation Serif"/>
              </a:defRPr>
            </a:pPr>
            <a:r>
              <a:t>Super-Resolution</a:t>
            </a:r>
          </a:p>
        </p:txBody>
      </p:sp>
      <p:cxnSp>
        <p:nvCxnSpPr>
          <p:cNvPr id="346" name="Connector 345"/>
          <p:cNvCxnSpPr/>
          <p:nvPr/>
        </p:nvCxnSpPr>
        <p:spPr>
          <a:xfrm>
            <a:off x="7857857" y="3455646"/>
            <a:ext cx="343541" cy="0"/>
          </a:xfrm>
          <a:prstGeom prst="line">
            <a:avLst/>
          </a:prstGeom>
          <a:ln w="2286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Isosceles Triangle 346"/>
          <p:cNvSpPr/>
          <p:nvPr/>
        </p:nvSpPr>
        <p:spPr>
          <a:xfrm rot="5400000">
            <a:off x="8178325" y="3378712"/>
            <a:ext cx="153824" cy="153869"/>
          </a:xfrm>
          <a:prstGeom prst="triangle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ounded Rectangle 347"/>
          <p:cNvSpPr/>
          <p:nvPr/>
        </p:nvSpPr>
        <p:spPr>
          <a:xfrm>
            <a:off x="8441108" y="3278697"/>
            <a:ext cx="174334" cy="217981"/>
          </a:xfrm>
          <a:prstGeom prst="roundRect">
            <a:avLst/>
          </a:prstGeom>
          <a:solidFill>
            <a:srgbClr val="FFFFFF"/>
          </a:solidFill>
          <a:ln w="777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ounded Rectangle 348"/>
          <p:cNvSpPr/>
          <p:nvPr/>
        </p:nvSpPr>
        <p:spPr>
          <a:xfrm>
            <a:off x="8493408" y="3256898"/>
            <a:ext cx="69733" cy="43596"/>
          </a:xfrm>
          <a:prstGeom prst="roundRect">
            <a:avLst/>
          </a:prstGeom>
          <a:solidFill>
            <a:srgbClr val="FFFFFF"/>
          </a:solidFill>
          <a:ln w="777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ounded Rectangle 349"/>
          <p:cNvSpPr/>
          <p:nvPr/>
        </p:nvSpPr>
        <p:spPr>
          <a:xfrm>
            <a:off x="8471616" y="3335372"/>
            <a:ext cx="26150" cy="26157"/>
          </a:xfrm>
          <a:prstGeom prst="roundRect">
            <a:avLst/>
          </a:prstGeom>
          <a:solidFill>
            <a:srgbClr val="FFFFFF"/>
          </a:solidFill>
          <a:ln w="466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8515200" y="3348451"/>
            <a:ext cx="65375" cy="0"/>
          </a:xfrm>
          <a:prstGeom prst="line">
            <a:avLst/>
          </a:prstGeom>
          <a:ln w="54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ounded Rectangle 351"/>
          <p:cNvSpPr/>
          <p:nvPr/>
        </p:nvSpPr>
        <p:spPr>
          <a:xfrm>
            <a:off x="8471616" y="3387687"/>
            <a:ext cx="26150" cy="26157"/>
          </a:xfrm>
          <a:prstGeom prst="roundRect">
            <a:avLst/>
          </a:prstGeom>
          <a:solidFill>
            <a:srgbClr val="FFFFFF"/>
          </a:solidFill>
          <a:ln w="466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3" name="Connector 352"/>
          <p:cNvCxnSpPr/>
          <p:nvPr/>
        </p:nvCxnSpPr>
        <p:spPr>
          <a:xfrm>
            <a:off x="8515200" y="3400766"/>
            <a:ext cx="65375" cy="0"/>
          </a:xfrm>
          <a:prstGeom prst="line">
            <a:avLst/>
          </a:prstGeom>
          <a:ln w="54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ounded Rectangle 353"/>
          <p:cNvSpPr/>
          <p:nvPr/>
        </p:nvSpPr>
        <p:spPr>
          <a:xfrm>
            <a:off x="8471616" y="3440003"/>
            <a:ext cx="26150" cy="26157"/>
          </a:xfrm>
          <a:prstGeom prst="roundRect">
            <a:avLst/>
          </a:prstGeom>
          <a:solidFill>
            <a:srgbClr val="FFFFFF"/>
          </a:solidFill>
          <a:ln w="466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5" name="Connector 354"/>
          <p:cNvCxnSpPr/>
          <p:nvPr/>
        </p:nvCxnSpPr>
        <p:spPr>
          <a:xfrm>
            <a:off x="8515200" y="3453082"/>
            <a:ext cx="65375" cy="0"/>
          </a:xfrm>
          <a:prstGeom prst="line">
            <a:avLst/>
          </a:prstGeom>
          <a:ln w="54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Oval 355"/>
          <p:cNvSpPr/>
          <p:nvPr/>
        </p:nvSpPr>
        <p:spPr>
          <a:xfrm>
            <a:off x="8468566" y="3314881"/>
            <a:ext cx="32251" cy="32261"/>
          </a:xfrm>
          <a:prstGeom prst="ellipse">
            <a:avLst/>
          </a:prstGeom>
          <a:solidFill>
            <a:srgbClr val="E64134"/>
          </a:solidFill>
          <a:ln w="388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7" name="Connector 356"/>
          <p:cNvCxnSpPr/>
          <p:nvPr/>
        </p:nvCxnSpPr>
        <p:spPr>
          <a:xfrm flipV="1">
            <a:off x="8602367" y="3344091"/>
            <a:ext cx="52300" cy="117710"/>
          </a:xfrm>
          <a:prstGeom prst="line">
            <a:avLst/>
          </a:prstGeom>
          <a:ln w="19431">
            <a:solidFill>
              <a:srgbClr val="E8A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8611084" y="3348451"/>
            <a:ext cx="52300" cy="117710"/>
          </a:xfrm>
          <a:prstGeom prst="line">
            <a:avLst/>
          </a:prstGeom>
          <a:ln w="466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" name="TextBox 358"/>
          <p:cNvSpPr txBox="1"/>
          <p:nvPr/>
        </p:nvSpPr>
        <p:spPr>
          <a:xfrm>
            <a:off x="8793622" y="3250487"/>
            <a:ext cx="833214" cy="4039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1" i="0">
                <a:solidFill>
                  <a:srgbClr val="4F7E31"/>
                </a:solidFill>
                <a:latin typeface="Liberation Serif"/>
              </a:defRPr>
            </a:pPr>
            <a:r>
              <a:t>Task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60" b="1" i="0">
                <a:solidFill>
                  <a:srgbClr val="4F7E31"/>
                </a:solidFill>
                <a:latin typeface="Liberation Serif"/>
              </a:defRPr>
            </a:pPr>
            <a:r>
              <a:t>Denoising</a:t>
            </a:r>
          </a:p>
        </p:txBody>
      </p:sp>
      <p:cxnSp>
        <p:nvCxnSpPr>
          <p:cNvPr id="360" name="Connector 359"/>
          <p:cNvCxnSpPr/>
          <p:nvPr/>
        </p:nvCxnSpPr>
        <p:spPr>
          <a:xfrm>
            <a:off x="9646065" y="3455646"/>
            <a:ext cx="369178" cy="0"/>
          </a:xfrm>
          <a:prstGeom prst="line">
            <a:avLst/>
          </a:prstGeom>
          <a:ln w="2286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Isosceles Triangle 360"/>
          <p:cNvSpPr/>
          <p:nvPr/>
        </p:nvSpPr>
        <p:spPr>
          <a:xfrm rot="5400000">
            <a:off x="9992170" y="3378712"/>
            <a:ext cx="153824" cy="153869"/>
          </a:xfrm>
          <a:prstGeom prst="triangle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ounded Rectangle 361"/>
          <p:cNvSpPr/>
          <p:nvPr/>
        </p:nvSpPr>
        <p:spPr>
          <a:xfrm>
            <a:off x="10222906" y="3278697"/>
            <a:ext cx="174334" cy="217981"/>
          </a:xfrm>
          <a:prstGeom prst="roundRect">
            <a:avLst/>
          </a:prstGeom>
          <a:solidFill>
            <a:srgbClr val="FFFFFF"/>
          </a:solidFill>
          <a:ln w="777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ounded Rectangle 362"/>
          <p:cNvSpPr/>
          <p:nvPr/>
        </p:nvSpPr>
        <p:spPr>
          <a:xfrm>
            <a:off x="10275206" y="3256898"/>
            <a:ext cx="69733" cy="43596"/>
          </a:xfrm>
          <a:prstGeom prst="roundRect">
            <a:avLst/>
          </a:prstGeom>
          <a:solidFill>
            <a:srgbClr val="FFFFFF"/>
          </a:solidFill>
          <a:ln w="777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ounded Rectangle 363"/>
          <p:cNvSpPr/>
          <p:nvPr/>
        </p:nvSpPr>
        <p:spPr>
          <a:xfrm>
            <a:off x="10253415" y="3335372"/>
            <a:ext cx="26150" cy="26157"/>
          </a:xfrm>
          <a:prstGeom prst="roundRect">
            <a:avLst/>
          </a:prstGeom>
          <a:solidFill>
            <a:srgbClr val="FFFFFF"/>
          </a:solidFill>
          <a:ln w="466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10296998" y="3348451"/>
            <a:ext cx="65375" cy="0"/>
          </a:xfrm>
          <a:prstGeom prst="line">
            <a:avLst/>
          </a:prstGeom>
          <a:ln w="54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Rounded Rectangle 365"/>
          <p:cNvSpPr/>
          <p:nvPr/>
        </p:nvSpPr>
        <p:spPr>
          <a:xfrm>
            <a:off x="10253415" y="3387687"/>
            <a:ext cx="26150" cy="26157"/>
          </a:xfrm>
          <a:prstGeom prst="roundRect">
            <a:avLst/>
          </a:prstGeom>
          <a:solidFill>
            <a:srgbClr val="FFFFFF"/>
          </a:solidFill>
          <a:ln w="466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7" name="Connector 366"/>
          <p:cNvCxnSpPr/>
          <p:nvPr/>
        </p:nvCxnSpPr>
        <p:spPr>
          <a:xfrm>
            <a:off x="10296998" y="3400766"/>
            <a:ext cx="65375" cy="0"/>
          </a:xfrm>
          <a:prstGeom prst="line">
            <a:avLst/>
          </a:prstGeom>
          <a:ln w="54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Rounded Rectangle 367"/>
          <p:cNvSpPr/>
          <p:nvPr/>
        </p:nvSpPr>
        <p:spPr>
          <a:xfrm>
            <a:off x="10253415" y="3440003"/>
            <a:ext cx="26150" cy="26157"/>
          </a:xfrm>
          <a:prstGeom prst="roundRect">
            <a:avLst/>
          </a:prstGeom>
          <a:solidFill>
            <a:srgbClr val="FFFFFF"/>
          </a:solidFill>
          <a:ln w="466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9" name="Connector 368"/>
          <p:cNvCxnSpPr/>
          <p:nvPr/>
        </p:nvCxnSpPr>
        <p:spPr>
          <a:xfrm>
            <a:off x="10296998" y="3453082"/>
            <a:ext cx="65375" cy="0"/>
          </a:xfrm>
          <a:prstGeom prst="line">
            <a:avLst/>
          </a:prstGeom>
          <a:ln w="54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Oval 369"/>
          <p:cNvSpPr/>
          <p:nvPr/>
        </p:nvSpPr>
        <p:spPr>
          <a:xfrm>
            <a:off x="10250364" y="3314881"/>
            <a:ext cx="32251" cy="32261"/>
          </a:xfrm>
          <a:prstGeom prst="ellipse">
            <a:avLst/>
          </a:prstGeom>
          <a:solidFill>
            <a:srgbClr val="E64134"/>
          </a:solidFill>
          <a:ln w="388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 flipV="1">
            <a:off x="10384165" y="3344091"/>
            <a:ext cx="52300" cy="117710"/>
          </a:xfrm>
          <a:prstGeom prst="line">
            <a:avLst/>
          </a:prstGeom>
          <a:ln w="19431">
            <a:solidFill>
              <a:srgbClr val="E8A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10392882" y="3348451"/>
            <a:ext cx="52300" cy="117710"/>
          </a:xfrm>
          <a:prstGeom prst="line">
            <a:avLst/>
          </a:prstGeom>
          <a:ln w="466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TextBox 372"/>
          <p:cNvSpPr txBox="1"/>
          <p:nvPr/>
        </p:nvSpPr>
        <p:spPr>
          <a:xfrm>
            <a:off x="10575420" y="3250487"/>
            <a:ext cx="1390828" cy="4039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1" i="0">
                <a:solidFill>
                  <a:srgbClr val="4F7E31"/>
                </a:solidFill>
                <a:latin typeface="Liberation Serif"/>
              </a:defRPr>
            </a:pPr>
            <a:r>
              <a:t>Task 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60" b="1" i="0">
                <a:solidFill>
                  <a:srgbClr val="4F7E31"/>
                </a:solidFill>
                <a:latin typeface="Liberation Serif"/>
              </a:defRPr>
            </a:pPr>
            <a:r>
              <a:t>Super-Resolution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7659168" y="3718506"/>
            <a:ext cx="1986897" cy="237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1" i="0">
                <a:solidFill>
                  <a:srgbClr val="4F7E31"/>
                </a:solidFill>
                <a:latin typeface="Liberation Serif"/>
              </a:defRPr>
            </a:pPr>
            <a:r>
              <a:t>Task 1  Super-Resolution</a:t>
            </a:r>
          </a:p>
        </p:txBody>
      </p:sp>
      <p:sp>
        <p:nvSpPr>
          <p:cNvPr id="375" name="Rounded Rectangle 374"/>
          <p:cNvSpPr/>
          <p:nvPr/>
        </p:nvSpPr>
        <p:spPr>
          <a:xfrm>
            <a:off x="5813276" y="3974955"/>
            <a:ext cx="3275175" cy="3199197"/>
          </a:xfrm>
          <a:prstGeom prst="roundRect">
            <a:avLst/>
          </a:prstGeom>
          <a:noFill/>
          <a:ln w="22860">
            <a:solidFill>
              <a:srgbClr val="A7A7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6069650" y="4109590"/>
            <a:ext cx="1025495" cy="237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15" b="1" i="1">
                <a:solidFill>
                  <a:srgbClr val="31852C"/>
                </a:solidFill>
                <a:latin typeface="Liberation Sans"/>
              </a:defRPr>
            </a:pPr>
            <a:r>
              <a:t>Execution</a:t>
            </a:r>
          </a:p>
        </p:txBody>
      </p:sp>
      <p:pic>
        <p:nvPicPr>
          <p:cNvPr id="377" name="Picture 376" descr="input_sce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829" y="4058301"/>
            <a:ext cx="570431" cy="442374"/>
          </a:xfrm>
          <a:prstGeom prst="rect">
            <a:avLst/>
          </a:prstGeom>
        </p:spPr>
      </p:pic>
      <p:sp>
        <p:nvSpPr>
          <p:cNvPr id="378" name="TextBox 377"/>
          <p:cNvSpPr txBox="1"/>
          <p:nvPr/>
        </p:nvSpPr>
        <p:spPr>
          <a:xfrm>
            <a:off x="8268056" y="4231404"/>
            <a:ext cx="589659" cy="217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70" b="1" i="1">
                <a:solidFill>
                  <a:srgbClr val="B21B68"/>
                </a:solidFill>
                <a:latin typeface="Liberation Sans"/>
              </a:defRPr>
            </a:pPr>
            <a:r>
              <a:t>Q–MoE</a:t>
            </a:r>
          </a:p>
        </p:txBody>
      </p:sp>
      <p:cxnSp>
        <p:nvCxnSpPr>
          <p:cNvPr id="379" name="Connector 378"/>
          <p:cNvCxnSpPr/>
          <p:nvPr/>
        </p:nvCxnSpPr>
        <p:spPr>
          <a:xfrm flipH="1">
            <a:off x="6878248" y="4500675"/>
            <a:ext cx="556593" cy="119732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Isosceles Triangle 379"/>
          <p:cNvSpPr/>
          <p:nvPr/>
        </p:nvSpPr>
        <p:spPr>
          <a:xfrm rot="15471791">
            <a:off x="6781087" y="4571198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1" name="Connector 380"/>
          <p:cNvCxnSpPr/>
          <p:nvPr/>
        </p:nvCxnSpPr>
        <p:spPr>
          <a:xfrm>
            <a:off x="7434841" y="4500675"/>
            <a:ext cx="0" cy="87833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Isosceles Triangle 381"/>
          <p:cNvSpPr/>
          <p:nvPr/>
        </p:nvSpPr>
        <p:spPr>
          <a:xfrm rot="10800000">
            <a:off x="7377157" y="4571198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3" name="Connector 382"/>
          <p:cNvCxnSpPr/>
          <p:nvPr/>
        </p:nvCxnSpPr>
        <p:spPr>
          <a:xfrm>
            <a:off x="7434841" y="4500675"/>
            <a:ext cx="614129" cy="120452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Isosceles Triangle 383"/>
          <p:cNvSpPr/>
          <p:nvPr/>
        </p:nvSpPr>
        <p:spPr>
          <a:xfrm rot="6065623">
            <a:off x="8030910" y="4571198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ounded Rectangle 384"/>
          <p:cNvSpPr/>
          <p:nvPr/>
        </p:nvSpPr>
        <p:spPr>
          <a:xfrm>
            <a:off x="6191428" y="4693011"/>
            <a:ext cx="660162" cy="698822"/>
          </a:xfrm>
          <a:prstGeom prst="roundRect">
            <a:avLst/>
          </a:prstGeom>
          <a:solidFill>
            <a:srgbClr val="E7E7E7"/>
          </a:solidFill>
          <a:ln w="6858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ounded Rectangle 385"/>
          <p:cNvSpPr/>
          <p:nvPr/>
        </p:nvSpPr>
        <p:spPr>
          <a:xfrm>
            <a:off x="6172200" y="4660955"/>
            <a:ext cx="660162" cy="698822"/>
          </a:xfrm>
          <a:prstGeom prst="roundRect">
            <a:avLst/>
          </a:prstGeom>
          <a:solidFill>
            <a:srgbClr val="FFFFFF"/>
          </a:solidFill>
          <a:ln w="6858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6204246" y="4693011"/>
            <a:ext cx="596069" cy="1795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111111"/>
                </a:solidFill>
                <a:latin typeface="Liberation Serif"/>
              </a:defRPr>
            </a:pPr>
            <a:r>
              <a:t>Tool 1</a:t>
            </a:r>
          </a:p>
        </p:txBody>
      </p:sp>
      <p:pic>
        <p:nvPicPr>
          <p:cNvPr id="388" name="Picture 387" descr="input_sce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93" y="4885348"/>
            <a:ext cx="531975" cy="410317"/>
          </a:xfrm>
          <a:prstGeom prst="rect">
            <a:avLst/>
          </a:prstGeom>
        </p:spPr>
      </p:pic>
      <p:sp>
        <p:nvSpPr>
          <p:cNvPr id="389" name="Rounded Rectangle 388"/>
          <p:cNvSpPr/>
          <p:nvPr/>
        </p:nvSpPr>
        <p:spPr>
          <a:xfrm>
            <a:off x="7127192" y="4693011"/>
            <a:ext cx="660162" cy="698822"/>
          </a:xfrm>
          <a:prstGeom prst="roundRect">
            <a:avLst/>
          </a:prstGeom>
          <a:solidFill>
            <a:srgbClr val="E7E7E7"/>
          </a:solidFill>
          <a:ln w="6858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ounded Rectangle 389"/>
          <p:cNvSpPr/>
          <p:nvPr/>
        </p:nvSpPr>
        <p:spPr>
          <a:xfrm>
            <a:off x="7107964" y="4660955"/>
            <a:ext cx="660162" cy="698822"/>
          </a:xfrm>
          <a:prstGeom prst="roundRect">
            <a:avLst/>
          </a:prstGeom>
          <a:solidFill>
            <a:srgbClr val="FFFFFF"/>
          </a:solidFill>
          <a:ln w="6858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7140011" y="4693011"/>
            <a:ext cx="596069" cy="1795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111111"/>
                </a:solidFill>
                <a:latin typeface="Liberation Serif"/>
              </a:defRPr>
            </a:pPr>
            <a:r>
              <a:t>Tool 2</a:t>
            </a:r>
          </a:p>
        </p:txBody>
      </p:sp>
      <p:pic>
        <p:nvPicPr>
          <p:cNvPr id="392" name="Picture 391" descr="input_sce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057" y="4885348"/>
            <a:ext cx="531975" cy="410317"/>
          </a:xfrm>
          <a:prstGeom prst="rect">
            <a:avLst/>
          </a:prstGeom>
        </p:spPr>
      </p:pic>
      <p:sp>
        <p:nvSpPr>
          <p:cNvPr id="393" name="TextBox 392"/>
          <p:cNvSpPr txBox="1"/>
          <p:nvPr/>
        </p:nvSpPr>
        <p:spPr>
          <a:xfrm>
            <a:off x="7780945" y="4872525"/>
            <a:ext cx="301239" cy="256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 i="0">
                <a:solidFill>
                  <a:srgbClr val="111111"/>
                </a:solidFill>
                <a:latin typeface="Liberation Serif"/>
              </a:defRPr>
            </a:pPr>
            <a:r>
              <a:t>…</a:t>
            </a:r>
          </a:p>
        </p:txBody>
      </p:sp>
      <p:sp>
        <p:nvSpPr>
          <p:cNvPr id="394" name="Rounded Rectangle 393"/>
          <p:cNvSpPr/>
          <p:nvPr/>
        </p:nvSpPr>
        <p:spPr>
          <a:xfrm>
            <a:off x="8114231" y="4693011"/>
            <a:ext cx="660162" cy="698822"/>
          </a:xfrm>
          <a:prstGeom prst="roundRect">
            <a:avLst/>
          </a:prstGeom>
          <a:solidFill>
            <a:srgbClr val="E7E7E7"/>
          </a:solidFill>
          <a:ln w="6858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ounded Rectangle 394"/>
          <p:cNvSpPr/>
          <p:nvPr/>
        </p:nvSpPr>
        <p:spPr>
          <a:xfrm>
            <a:off x="8095003" y="4660955"/>
            <a:ext cx="660162" cy="698822"/>
          </a:xfrm>
          <a:prstGeom prst="roundRect">
            <a:avLst/>
          </a:prstGeom>
          <a:solidFill>
            <a:srgbClr val="FFFFFF"/>
          </a:solidFill>
          <a:ln w="6858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8127050" y="4693011"/>
            <a:ext cx="596069" cy="1795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111111"/>
                </a:solidFill>
                <a:latin typeface="Liberation Serif"/>
              </a:defRPr>
            </a:pPr>
            <a:r>
              <a:t>Tool N</a:t>
            </a:r>
          </a:p>
        </p:txBody>
      </p:sp>
      <p:pic>
        <p:nvPicPr>
          <p:cNvPr id="397" name="Picture 396" descr="output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097" y="4885348"/>
            <a:ext cx="531975" cy="410317"/>
          </a:xfrm>
          <a:prstGeom prst="rect">
            <a:avLst/>
          </a:prstGeom>
        </p:spPr>
      </p:pic>
      <p:cxnSp>
        <p:nvCxnSpPr>
          <p:cNvPr id="398" name="Connector 397"/>
          <p:cNvCxnSpPr/>
          <p:nvPr/>
        </p:nvCxnSpPr>
        <p:spPr>
          <a:xfrm>
            <a:off x="6505485" y="5366189"/>
            <a:ext cx="0" cy="83346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6505485" y="5449535"/>
            <a:ext cx="1916395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7434841" y="5366189"/>
            <a:ext cx="0" cy="333384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8421880" y="5366189"/>
            <a:ext cx="0" cy="83346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Oval 401"/>
          <p:cNvSpPr/>
          <p:nvPr/>
        </p:nvSpPr>
        <p:spPr>
          <a:xfrm>
            <a:off x="8030910" y="5539292"/>
            <a:ext cx="128186" cy="128224"/>
          </a:xfrm>
          <a:prstGeom prst="ellipse">
            <a:avLst/>
          </a:prstGeom>
          <a:solidFill>
            <a:srgbClr val="FFFFFF"/>
          </a:solidFill>
          <a:ln w="10287">
            <a:solidFill>
              <a:srgbClr val="687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3" name="Connector 402"/>
          <p:cNvCxnSpPr/>
          <p:nvPr/>
        </p:nvCxnSpPr>
        <p:spPr>
          <a:xfrm>
            <a:off x="8146278" y="5654694"/>
            <a:ext cx="51275" cy="51290"/>
          </a:xfrm>
          <a:prstGeom prst="line">
            <a:avLst/>
          </a:prstGeom>
          <a:ln w="11430">
            <a:solidFill>
              <a:srgbClr val="6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TextBox 403"/>
          <p:cNvSpPr txBox="1"/>
          <p:nvPr/>
        </p:nvSpPr>
        <p:spPr>
          <a:xfrm>
            <a:off x="8229600" y="5526470"/>
            <a:ext cx="672981" cy="19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22222"/>
                </a:solidFill>
                <a:latin typeface="Liberation Serif"/>
              </a:defRPr>
            </a:pPr>
            <a:r>
              <a:t>Description</a:t>
            </a:r>
          </a:p>
        </p:txBody>
      </p:sp>
      <p:cxnSp>
        <p:nvCxnSpPr>
          <p:cNvPr id="405" name="Connector 404"/>
          <p:cNvCxnSpPr/>
          <p:nvPr/>
        </p:nvCxnSpPr>
        <p:spPr>
          <a:xfrm>
            <a:off x="9088452" y="5712395"/>
            <a:ext cx="0" cy="0"/>
          </a:xfrm>
          <a:prstGeom prst="line">
            <a:avLst/>
          </a:prstGeom>
          <a:ln w="57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5999147" y="5750862"/>
            <a:ext cx="2922662" cy="0"/>
          </a:xfrm>
          <a:prstGeom prst="line">
            <a:avLst/>
          </a:prstGeom>
          <a:ln w="17145">
            <a:solidFill>
              <a:srgbClr val="A7A7A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TextBox 406"/>
          <p:cNvSpPr txBox="1"/>
          <p:nvPr/>
        </p:nvSpPr>
        <p:spPr>
          <a:xfrm>
            <a:off x="6076059" y="5834208"/>
            <a:ext cx="1025495" cy="237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15" b="1" i="1">
                <a:solidFill>
                  <a:srgbClr val="31852C"/>
                </a:solidFill>
                <a:latin typeface="Liberation Sans"/>
              </a:defRPr>
            </a:pPr>
            <a:r>
              <a:t>Reflection</a:t>
            </a:r>
          </a:p>
        </p:txBody>
      </p:sp>
      <p:sp>
        <p:nvSpPr>
          <p:cNvPr id="408" name="Rounded Rectangle 407"/>
          <p:cNvSpPr/>
          <p:nvPr/>
        </p:nvSpPr>
        <p:spPr>
          <a:xfrm>
            <a:off x="7204104" y="5866264"/>
            <a:ext cx="1544652" cy="314149"/>
          </a:xfrm>
          <a:prstGeom prst="roundRect">
            <a:avLst/>
          </a:prstGeom>
          <a:solidFill>
            <a:srgbClr val="F2F1D8"/>
          </a:solidFill>
          <a:ln w="14287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7274607" y="5834208"/>
            <a:ext cx="1410056" cy="359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1" i="1">
                <a:solidFill>
                  <a:srgbClr val="111111"/>
                </a:solidFill>
                <a:latin typeface="Liberation Serif"/>
              </a:defRPr>
            </a:pPr>
            <a:r>
              <a:t>Score-base Select</a:t>
            </a:r>
          </a:p>
        </p:txBody>
      </p:sp>
      <p:cxnSp>
        <p:nvCxnSpPr>
          <p:cNvPr id="410" name="Connector 409"/>
          <p:cNvCxnSpPr/>
          <p:nvPr/>
        </p:nvCxnSpPr>
        <p:spPr>
          <a:xfrm>
            <a:off x="7986044" y="6180414"/>
            <a:ext cx="0" cy="256449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Isosceles Triangle 410"/>
          <p:cNvSpPr/>
          <p:nvPr/>
        </p:nvSpPr>
        <p:spPr>
          <a:xfrm rot="10800000">
            <a:off x="7921951" y="6417629"/>
            <a:ext cx="128186" cy="128224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2" name="Picture 411" descr="output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641" y="6507386"/>
            <a:ext cx="512747" cy="391084"/>
          </a:xfrm>
          <a:prstGeom prst="rect">
            <a:avLst/>
          </a:prstGeom>
        </p:spPr>
      </p:pic>
      <p:sp>
        <p:nvSpPr>
          <p:cNvPr id="413" name="TextBox 412"/>
          <p:cNvSpPr txBox="1"/>
          <p:nvPr/>
        </p:nvSpPr>
        <p:spPr>
          <a:xfrm>
            <a:off x="7082327" y="6674078"/>
            <a:ext cx="987039" cy="2436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111111"/>
                </a:solidFill>
                <a:latin typeface="Liberation Serif"/>
              </a:defRPr>
            </a:pPr>
            <a:r>
              <a:t>(0.927,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7165648" y="6468919"/>
            <a:ext cx="230736" cy="230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0" i="0">
                <a:solidFill>
                  <a:srgbClr val="C89616"/>
                </a:solidFill>
                <a:latin typeface="Liberation Sans"/>
              </a:defRPr>
            </a:pPr>
            <a:r>
              <a:t>☺</a:t>
            </a:r>
          </a:p>
        </p:txBody>
      </p:sp>
      <p:cxnSp>
        <p:nvCxnSpPr>
          <p:cNvPr id="415" name="Connector 414"/>
          <p:cNvCxnSpPr/>
          <p:nvPr/>
        </p:nvCxnSpPr>
        <p:spPr>
          <a:xfrm flipH="1">
            <a:off x="7133601" y="6577909"/>
            <a:ext cx="269193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7133601" y="6372750"/>
            <a:ext cx="0" cy="205159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/>
          <p:cNvSpPr txBox="1"/>
          <p:nvPr/>
        </p:nvSpPr>
        <p:spPr>
          <a:xfrm>
            <a:off x="5986328" y="6225292"/>
            <a:ext cx="813986" cy="1666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5" b="1" i="0">
                <a:solidFill>
                  <a:srgbClr val="4F7E31"/>
                </a:solidFill>
                <a:latin typeface="Liberation Serif"/>
              </a:defRPr>
            </a:pPr>
            <a:r>
              <a:t>High quality ?</a:t>
            </a:r>
          </a:p>
        </p:txBody>
      </p:sp>
      <p:cxnSp>
        <p:nvCxnSpPr>
          <p:cNvPr id="418" name="Connector 417"/>
          <p:cNvCxnSpPr/>
          <p:nvPr/>
        </p:nvCxnSpPr>
        <p:spPr>
          <a:xfrm flipH="1">
            <a:off x="7002851" y="6372750"/>
            <a:ext cx="130750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Isosceles Triangle 418"/>
          <p:cNvSpPr/>
          <p:nvPr/>
        </p:nvSpPr>
        <p:spPr>
          <a:xfrm rot="16200000">
            <a:off x="6915684" y="6321461"/>
            <a:ext cx="102549" cy="102579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6390117" y="6417629"/>
            <a:ext cx="205099" cy="1410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777777"/>
                </a:solidFill>
                <a:latin typeface="Liberation Serif"/>
              </a:defRPr>
            </a:pPr>
            <a:r>
              <a:t>No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6454211" y="6526620"/>
            <a:ext cx="0" cy="143611"/>
          </a:xfrm>
          <a:prstGeom prst="line">
            <a:avLst/>
          </a:prstGeom>
          <a:ln w="1143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Isosceles Triangle 421"/>
          <p:cNvSpPr/>
          <p:nvPr/>
        </p:nvSpPr>
        <p:spPr>
          <a:xfrm rot="10800000">
            <a:off x="6402936" y="6654844"/>
            <a:ext cx="102549" cy="102579"/>
          </a:xfrm>
          <a:prstGeom prst="triangle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6095287" y="6712545"/>
            <a:ext cx="743484" cy="314149"/>
          </a:xfrm>
          <a:prstGeom prst="rect">
            <a:avLst/>
          </a:prstGeom>
          <a:solidFill>
            <a:srgbClr val="F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6152971" y="6680489"/>
            <a:ext cx="628115" cy="3526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999999"/>
                </a:solidFill>
                <a:latin typeface="Liberation Serif"/>
              </a:defRPr>
            </a:pPr>
            <a:r>
              <a:t>Rollback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979635" y="6885648"/>
            <a:ext cx="794758" cy="1666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22222"/>
                </a:solidFill>
                <a:latin typeface="Liberation Serif"/>
              </a:defRPr>
            </a:pPr>
            <a:r>
              <a:t>Tool 4</a:t>
            </a:r>
          </a:p>
        </p:txBody>
      </p:sp>
      <p:sp>
        <p:nvSpPr>
          <p:cNvPr id="426" name="Rounded Rectangle 425"/>
          <p:cNvSpPr/>
          <p:nvPr/>
        </p:nvSpPr>
        <p:spPr>
          <a:xfrm>
            <a:off x="9216639" y="3974955"/>
            <a:ext cx="2826521" cy="3199197"/>
          </a:xfrm>
          <a:prstGeom prst="roundRect">
            <a:avLst/>
          </a:prstGeom>
          <a:noFill/>
          <a:ln w="22860">
            <a:solidFill>
              <a:srgbClr val="A7A7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9505059" y="4013422"/>
            <a:ext cx="1038314" cy="224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15" b="1" i="0">
                <a:solidFill>
                  <a:srgbClr val="111111"/>
                </a:solidFill>
                <a:latin typeface="Liberation Serif"/>
              </a:defRPr>
            </a:pPr>
            <a:r>
              <a:t>Face Crop</a:t>
            </a:r>
          </a:p>
        </p:txBody>
      </p:sp>
      <p:pic>
        <p:nvPicPr>
          <p:cNvPr id="428" name="Picture 427" descr="input_fa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9280" y="4026245"/>
            <a:ext cx="416607" cy="423140"/>
          </a:xfrm>
          <a:prstGeom prst="rect">
            <a:avLst/>
          </a:prstGeom>
        </p:spPr>
      </p:pic>
      <p:sp>
        <p:nvSpPr>
          <p:cNvPr id="429" name="TextBox 428"/>
          <p:cNvSpPr txBox="1"/>
          <p:nvPr/>
        </p:nvSpPr>
        <p:spPr>
          <a:xfrm>
            <a:off x="10947162" y="4148058"/>
            <a:ext cx="1038314" cy="2436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1" i="1">
                <a:solidFill>
                  <a:srgbClr val="B21B68"/>
                </a:solidFill>
                <a:latin typeface="Liberation Sans"/>
              </a:defRPr>
            </a:pPr>
            <a:r>
              <a:t>Face Restoration</a:t>
            </a:r>
          </a:p>
        </p:txBody>
      </p:sp>
      <p:cxnSp>
        <p:nvCxnSpPr>
          <p:cNvPr id="430" name="Connector 429"/>
          <p:cNvCxnSpPr/>
          <p:nvPr/>
        </p:nvCxnSpPr>
        <p:spPr>
          <a:xfrm flipH="1">
            <a:off x="10171437" y="4455796"/>
            <a:ext cx="512942" cy="173019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Isosceles Triangle 430"/>
          <p:cNvSpPr/>
          <p:nvPr/>
        </p:nvSpPr>
        <p:spPr>
          <a:xfrm rot="15081925">
            <a:off x="10075491" y="4584021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2" name="Connector 431"/>
          <p:cNvCxnSpPr/>
          <p:nvPr/>
        </p:nvCxnSpPr>
        <p:spPr>
          <a:xfrm>
            <a:off x="10684379" y="4455796"/>
            <a:ext cx="0" cy="145535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Isosceles Triangle 432"/>
          <p:cNvSpPr/>
          <p:nvPr/>
        </p:nvSpPr>
        <p:spPr>
          <a:xfrm rot="10800000">
            <a:off x="10626695" y="4584021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4" name="Connector 433"/>
          <p:cNvCxnSpPr/>
          <p:nvPr/>
        </p:nvCxnSpPr>
        <p:spPr>
          <a:xfrm>
            <a:off x="10684379" y="4455796"/>
            <a:ext cx="602153" cy="174676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Isosceles Triangle 434"/>
          <p:cNvSpPr/>
          <p:nvPr/>
        </p:nvSpPr>
        <p:spPr>
          <a:xfrm rot="6370330">
            <a:off x="11267629" y="4584021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ounded Rectangle 435"/>
          <p:cNvSpPr/>
          <p:nvPr/>
        </p:nvSpPr>
        <p:spPr>
          <a:xfrm>
            <a:off x="9517878" y="4693011"/>
            <a:ext cx="602478" cy="711645"/>
          </a:xfrm>
          <a:prstGeom prst="roundRect">
            <a:avLst/>
          </a:prstGeom>
          <a:solidFill>
            <a:srgbClr val="E7E7E7"/>
          </a:solidFill>
          <a:ln w="6858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ounded Rectangle 436"/>
          <p:cNvSpPr/>
          <p:nvPr/>
        </p:nvSpPr>
        <p:spPr>
          <a:xfrm>
            <a:off x="9498650" y="4660955"/>
            <a:ext cx="602478" cy="711645"/>
          </a:xfrm>
          <a:prstGeom prst="roundRect">
            <a:avLst/>
          </a:prstGeom>
          <a:solidFill>
            <a:srgbClr val="FFFFFF"/>
          </a:solidFill>
          <a:ln w="6858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9530697" y="4693011"/>
            <a:ext cx="538385" cy="1795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111111"/>
                </a:solidFill>
                <a:latin typeface="Liberation Serif"/>
              </a:defRPr>
            </a:pPr>
            <a:r>
              <a:t>Tool 1</a:t>
            </a:r>
          </a:p>
        </p:txBody>
      </p:sp>
      <p:pic>
        <p:nvPicPr>
          <p:cNvPr id="439" name="Picture 438" descr="input_fa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743" y="4885348"/>
            <a:ext cx="474291" cy="423140"/>
          </a:xfrm>
          <a:prstGeom prst="rect">
            <a:avLst/>
          </a:prstGeom>
        </p:spPr>
      </p:pic>
      <p:sp>
        <p:nvSpPr>
          <p:cNvPr id="440" name="Rounded Rectangle 439"/>
          <p:cNvSpPr/>
          <p:nvPr/>
        </p:nvSpPr>
        <p:spPr>
          <a:xfrm>
            <a:off x="10395958" y="4693011"/>
            <a:ext cx="602478" cy="711645"/>
          </a:xfrm>
          <a:prstGeom prst="roundRect">
            <a:avLst/>
          </a:prstGeom>
          <a:solidFill>
            <a:srgbClr val="E7E7E7"/>
          </a:solidFill>
          <a:ln w="6858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ounded Rectangle 440"/>
          <p:cNvSpPr/>
          <p:nvPr/>
        </p:nvSpPr>
        <p:spPr>
          <a:xfrm>
            <a:off x="10376730" y="4660955"/>
            <a:ext cx="602478" cy="711645"/>
          </a:xfrm>
          <a:prstGeom prst="roundRect">
            <a:avLst/>
          </a:prstGeom>
          <a:solidFill>
            <a:srgbClr val="FFFFFF"/>
          </a:solidFill>
          <a:ln w="6858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10408777" y="4693011"/>
            <a:ext cx="538385" cy="1795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111111"/>
                </a:solidFill>
                <a:latin typeface="Liberation Serif"/>
              </a:defRPr>
            </a:pPr>
            <a:r>
              <a:t>Tool 2</a:t>
            </a:r>
          </a:p>
        </p:txBody>
      </p:sp>
      <p:pic>
        <p:nvPicPr>
          <p:cNvPr id="443" name="Picture 442" descr="input_fa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824" y="4885348"/>
            <a:ext cx="474291" cy="423140"/>
          </a:xfrm>
          <a:prstGeom prst="rect">
            <a:avLst/>
          </a:prstGeom>
        </p:spPr>
      </p:pic>
      <p:sp>
        <p:nvSpPr>
          <p:cNvPr id="444" name="TextBox 443"/>
          <p:cNvSpPr txBox="1"/>
          <p:nvPr/>
        </p:nvSpPr>
        <p:spPr>
          <a:xfrm>
            <a:off x="10979209" y="4872525"/>
            <a:ext cx="294829" cy="256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 i="0">
                <a:solidFill>
                  <a:srgbClr val="111111"/>
                </a:solidFill>
                <a:latin typeface="Liberation Serif"/>
              </a:defRPr>
            </a:pPr>
            <a:r>
              <a:t>…</a:t>
            </a:r>
          </a:p>
        </p:txBody>
      </p:sp>
      <p:sp>
        <p:nvSpPr>
          <p:cNvPr id="445" name="Rounded Rectangle 444"/>
          <p:cNvSpPr/>
          <p:nvPr/>
        </p:nvSpPr>
        <p:spPr>
          <a:xfrm>
            <a:off x="11299676" y="4693011"/>
            <a:ext cx="602478" cy="711645"/>
          </a:xfrm>
          <a:prstGeom prst="roundRect">
            <a:avLst/>
          </a:prstGeom>
          <a:solidFill>
            <a:srgbClr val="E7E7E7"/>
          </a:solidFill>
          <a:ln w="6858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ounded Rectangle 445"/>
          <p:cNvSpPr/>
          <p:nvPr/>
        </p:nvSpPr>
        <p:spPr>
          <a:xfrm>
            <a:off x="11280448" y="4660955"/>
            <a:ext cx="602478" cy="711645"/>
          </a:xfrm>
          <a:prstGeom prst="roundRect">
            <a:avLst/>
          </a:prstGeom>
          <a:solidFill>
            <a:srgbClr val="FFFFFF"/>
          </a:solidFill>
          <a:ln w="6858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11312495" y="4693011"/>
            <a:ext cx="538385" cy="1795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111111"/>
                </a:solidFill>
                <a:latin typeface="Liberation Serif"/>
              </a:defRPr>
            </a:pPr>
            <a:r>
              <a:t>Tool N</a:t>
            </a:r>
          </a:p>
        </p:txBody>
      </p:sp>
      <p:pic>
        <p:nvPicPr>
          <p:cNvPr id="448" name="Picture 447" descr="output_fac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4542" y="4885348"/>
            <a:ext cx="474291" cy="423140"/>
          </a:xfrm>
          <a:prstGeom prst="rect">
            <a:avLst/>
          </a:prstGeom>
        </p:spPr>
      </p:pic>
      <p:cxnSp>
        <p:nvCxnSpPr>
          <p:cNvPr id="449" name="Connector 448"/>
          <p:cNvCxnSpPr/>
          <p:nvPr/>
        </p:nvCxnSpPr>
        <p:spPr>
          <a:xfrm>
            <a:off x="9799889" y="5372600"/>
            <a:ext cx="0" cy="92322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Isosceles Triangle 449"/>
          <p:cNvSpPr/>
          <p:nvPr/>
        </p:nvSpPr>
        <p:spPr>
          <a:xfrm rot="10800000">
            <a:off x="9748614" y="5449535"/>
            <a:ext cx="102549" cy="102579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1" name="Connector 450"/>
          <p:cNvCxnSpPr/>
          <p:nvPr/>
        </p:nvCxnSpPr>
        <p:spPr>
          <a:xfrm>
            <a:off x="10677970" y="5372600"/>
            <a:ext cx="0" cy="92322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Isosceles Triangle 451"/>
          <p:cNvSpPr/>
          <p:nvPr/>
        </p:nvSpPr>
        <p:spPr>
          <a:xfrm rot="10800000">
            <a:off x="10626695" y="5449535"/>
            <a:ext cx="102549" cy="102579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3" name="Connector 452"/>
          <p:cNvCxnSpPr/>
          <p:nvPr/>
        </p:nvCxnSpPr>
        <p:spPr>
          <a:xfrm>
            <a:off x="11581687" y="5372600"/>
            <a:ext cx="0" cy="92322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Isosceles Triangle 453"/>
          <p:cNvSpPr/>
          <p:nvPr/>
        </p:nvSpPr>
        <p:spPr>
          <a:xfrm rot="10800000">
            <a:off x="11530413" y="5449535"/>
            <a:ext cx="102549" cy="102579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ounded Rectangle 454"/>
          <p:cNvSpPr/>
          <p:nvPr/>
        </p:nvSpPr>
        <p:spPr>
          <a:xfrm>
            <a:off x="9485831" y="5500825"/>
            <a:ext cx="2416323" cy="314149"/>
          </a:xfrm>
          <a:prstGeom prst="roundRect">
            <a:avLst/>
          </a:prstGeom>
          <a:solidFill>
            <a:srgbClr val="F2F1D8"/>
          </a:solidFill>
          <a:ln w="14287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9562743" y="5468769"/>
            <a:ext cx="2268908" cy="371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1" i="1">
                <a:solidFill>
                  <a:srgbClr val="111111"/>
                </a:solidFill>
                <a:latin typeface="Liberation Serif"/>
              </a:defRPr>
            </a:pPr>
            <a:r>
              <a:t>Score-based Select for face</a:t>
            </a:r>
          </a:p>
        </p:txBody>
      </p:sp>
      <p:cxnSp>
        <p:nvCxnSpPr>
          <p:cNvPr id="457" name="Connector 456"/>
          <p:cNvCxnSpPr/>
          <p:nvPr/>
        </p:nvCxnSpPr>
        <p:spPr>
          <a:xfrm>
            <a:off x="10684379" y="5814974"/>
            <a:ext cx="0" cy="22247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Isosceles Triangle 457"/>
          <p:cNvSpPr/>
          <p:nvPr/>
        </p:nvSpPr>
        <p:spPr>
          <a:xfrm rot="10800000">
            <a:off x="10626695" y="6020133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9421738" y="5834208"/>
            <a:ext cx="1166500" cy="224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1" i="1">
                <a:solidFill>
                  <a:srgbClr val="B21B68"/>
                </a:solidFill>
                <a:latin typeface="Liberation Sans"/>
              </a:defRPr>
            </a:pPr>
            <a:r>
              <a:t>Face Q–MoE</a:t>
            </a:r>
          </a:p>
        </p:txBody>
      </p:sp>
      <p:pic>
        <p:nvPicPr>
          <p:cNvPr id="460" name="Picture 459" descr="output_fac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9280" y="6090657"/>
            <a:ext cx="423016" cy="416729"/>
          </a:xfrm>
          <a:prstGeom prst="rect">
            <a:avLst/>
          </a:prstGeom>
        </p:spPr>
      </p:pic>
      <p:sp>
        <p:nvSpPr>
          <p:cNvPr id="461" name="TextBox 460"/>
          <p:cNvSpPr txBox="1"/>
          <p:nvPr/>
        </p:nvSpPr>
        <p:spPr>
          <a:xfrm>
            <a:off x="10959981" y="6097068"/>
            <a:ext cx="999857" cy="4295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90" b="0" i="0">
                <a:solidFill>
                  <a:srgbClr val="111111"/>
                </a:solidFill>
                <a:latin typeface="Liberation Serif"/>
              </a:defRPr>
            </a:pPr>
            <a:r>
              <a:t>Best Face from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90" b="0" i="0">
                <a:solidFill>
                  <a:srgbClr val="111111"/>
                </a:solidFill>
                <a:latin typeface="Liberation Serif"/>
              </a:defRPr>
            </a:pPr>
            <a:r>
              <a:t>Tool 1</a:t>
            </a:r>
          </a:p>
        </p:txBody>
      </p:sp>
      <p:sp>
        <p:nvSpPr>
          <p:cNvPr id="462" name="Rectangle 461"/>
          <p:cNvSpPr/>
          <p:nvPr/>
        </p:nvSpPr>
        <p:spPr>
          <a:xfrm>
            <a:off x="9511469" y="6206059"/>
            <a:ext cx="634525" cy="365439"/>
          </a:xfrm>
          <a:prstGeom prst="rect">
            <a:avLst/>
          </a:prstGeom>
          <a:solidFill>
            <a:srgbClr val="F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9581971" y="6186825"/>
            <a:ext cx="493519" cy="3974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111111"/>
                </a:solidFill>
                <a:latin typeface="Liberation Serif"/>
              </a:defRPr>
            </a:pPr>
            <a:r>
              <a:t>Paste</a:t>
            </a:r>
          </a:p>
        </p:txBody>
      </p:sp>
      <p:cxnSp>
        <p:nvCxnSpPr>
          <p:cNvPr id="464" name="Connector 463"/>
          <p:cNvCxnSpPr/>
          <p:nvPr/>
        </p:nvCxnSpPr>
        <p:spPr>
          <a:xfrm flipH="1">
            <a:off x="10192782" y="6295816"/>
            <a:ext cx="286498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Isosceles Triangle 464"/>
          <p:cNvSpPr/>
          <p:nvPr/>
        </p:nvSpPr>
        <p:spPr>
          <a:xfrm rot="16200000">
            <a:off x="10094719" y="6238115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6" name="Connector 465"/>
          <p:cNvCxnSpPr/>
          <p:nvPr/>
        </p:nvCxnSpPr>
        <p:spPr>
          <a:xfrm>
            <a:off x="9094861" y="6340694"/>
            <a:ext cx="369819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Isosceles Triangle 466"/>
          <p:cNvSpPr/>
          <p:nvPr/>
        </p:nvSpPr>
        <p:spPr>
          <a:xfrm rot="5400000">
            <a:off x="9447375" y="6282993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8" name="Connector 467"/>
          <p:cNvCxnSpPr/>
          <p:nvPr/>
        </p:nvCxnSpPr>
        <p:spPr>
          <a:xfrm>
            <a:off x="9831936" y="6571498"/>
            <a:ext cx="0" cy="250038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9831936" y="6821536"/>
            <a:ext cx="844111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Isosceles Triangle 469"/>
          <p:cNvSpPr/>
          <p:nvPr/>
        </p:nvSpPr>
        <p:spPr>
          <a:xfrm rot="5400000">
            <a:off x="10658742" y="6763835"/>
            <a:ext cx="115368" cy="11540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1" name="Picture 470" descr="output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426" y="6629199"/>
            <a:ext cx="435835" cy="371850"/>
          </a:xfrm>
          <a:prstGeom prst="rect">
            <a:avLst/>
          </a:prstGeom>
        </p:spPr>
      </p:pic>
      <p:sp>
        <p:nvSpPr>
          <p:cNvPr id="472" name="TextBox 471"/>
          <p:cNvSpPr txBox="1"/>
          <p:nvPr/>
        </p:nvSpPr>
        <p:spPr>
          <a:xfrm>
            <a:off x="11120214" y="6462507"/>
            <a:ext cx="852442" cy="2500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111111"/>
                </a:solidFill>
                <a:latin typeface="Liberation Serif"/>
              </a:defRPr>
            </a:pPr>
            <a:r>
              <a:t>Output</a:t>
            </a:r>
          </a:p>
        </p:txBody>
      </p:sp>
      <p:cxnSp>
        <p:nvCxnSpPr>
          <p:cNvPr id="473" name="Connector 472"/>
          <p:cNvCxnSpPr/>
          <p:nvPr/>
        </p:nvCxnSpPr>
        <p:spPr>
          <a:xfrm>
            <a:off x="11165080" y="6827947"/>
            <a:ext cx="749893" cy="0"/>
          </a:xfrm>
          <a:prstGeom prst="line">
            <a:avLst/>
          </a:prstGeom>
          <a:ln w="1714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Isosceles Triangle 473"/>
          <p:cNvSpPr/>
          <p:nvPr/>
        </p:nvSpPr>
        <p:spPr>
          <a:xfrm rot="5400000">
            <a:off x="11895745" y="6763835"/>
            <a:ext cx="128186" cy="128224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4KAgent Agentic Any Image to 4K Super-Resolu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"/>
            <a:ext cx="12344400" cy="73130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