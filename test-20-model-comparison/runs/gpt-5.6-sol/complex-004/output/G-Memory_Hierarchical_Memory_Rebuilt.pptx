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B1E972-14D3-4318-8143-B15129D59A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47EE37-09D6-417B-B1B4-5509480005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C789BF-8CFE-4C5E-BF93-2295D22C8F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71847A-975F-4AA4-9D3F-92E474E281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4C038D-A10D-4819-934C-02C2AEAFB3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35FF4E-67B8-411B-8343-2A52C4499F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136E83-D467-4545-8167-B2CABFFB09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93D4C9-37C2-42B4-B6ED-E0F963A2E7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7A4F6B-D36A-4767-9608-37EFE42D23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AD8784-86FD-4778-A092-FD998C2128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FDFE03-35E0-4D0D-81A7-734DF766D3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74E824-21DD-4753-BA9C-9B8C0CDC2B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2AFECC3-57DA-4AE6-A8B7-CD80426C66A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3" name="001 Background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4" name="002 Dashed outer border"/>
          <p:cNvSpPr/>
          <p:nvPr/>
        </p:nvSpPr>
        <p:spPr>
          <a:xfrm>
            <a:off x="106560" y="121680"/>
            <a:ext cx="11978640" cy="6613920"/>
          </a:xfrm>
          <a:prstGeom prst="rect">
            <a:avLst/>
          </a:prstGeom>
          <a:noFill/>
          <a:ln w="11160">
            <a:solidFill>
              <a:srgbClr val="858585"/>
            </a:solidFill>
            <a:custDash>
              <a:ds d="64516" sp="64516"/>
              <a:ds d="64516" sp="64516"/>
            </a:custDash>
            <a:round/>
          </a:ln>
        </p:spPr>
      </p:sp>
      <p:sp>
        <p:nvSpPr>
          <p:cNvPr id="45" name="003 Symbols panel back 2"/>
          <p:cNvSpPr/>
          <p:nvPr/>
        </p:nvSpPr>
        <p:spPr>
          <a:xfrm>
            <a:off x="335160" y="365760"/>
            <a:ext cx="2179080" cy="1691640"/>
          </a:xfrm>
          <a:prstGeom prst="rect">
            <a:avLst/>
          </a:prstGeom>
          <a:solidFill>
            <a:srgbClr val="f3f3f3">
              <a:alpha val="58000"/>
            </a:srgbClr>
          </a:solidFill>
          <a:ln w="11160">
            <a:solidFill>
              <a:srgbClr val="7d7d7d">
                <a:alpha val="58000"/>
              </a:srgbClr>
            </a:solidFill>
            <a:round/>
          </a:ln>
        </p:spPr>
      </p:sp>
      <p:sp>
        <p:nvSpPr>
          <p:cNvPr id="46" name="004 Symbols panel back 1"/>
          <p:cNvSpPr/>
          <p:nvPr/>
        </p:nvSpPr>
        <p:spPr>
          <a:xfrm>
            <a:off x="281880" y="312120"/>
            <a:ext cx="2179080" cy="1691640"/>
          </a:xfrm>
          <a:prstGeom prst="rect">
            <a:avLst/>
          </a:prstGeom>
          <a:solidFill>
            <a:srgbClr val="f3f3f3">
              <a:alpha val="58000"/>
            </a:srgbClr>
          </a:solidFill>
          <a:ln w="11160">
            <a:solidFill>
              <a:srgbClr val="7d7d7d">
                <a:alpha val="58000"/>
              </a:srgbClr>
            </a:solidFill>
            <a:round/>
          </a:ln>
        </p:spPr>
      </p:sp>
      <p:sp>
        <p:nvSpPr>
          <p:cNvPr id="47" name="005 Symbols panel"/>
          <p:cNvSpPr/>
          <p:nvPr/>
        </p:nvSpPr>
        <p:spPr>
          <a:xfrm>
            <a:off x="228600" y="258840"/>
            <a:ext cx="2179080" cy="1691640"/>
          </a:xfrm>
          <a:prstGeom prst="rect">
            <a:avLst/>
          </a:prstGeom>
          <a:solidFill>
            <a:srgbClr val="f3f3f3"/>
          </a:solidFill>
          <a:ln w="15120">
            <a:solidFill>
              <a:srgbClr val="7d7d7d"/>
            </a:solidFill>
            <a:round/>
          </a:ln>
        </p:spPr>
      </p:sp>
      <p:sp>
        <p:nvSpPr>
          <p:cNvPr id="48" name="006 Clipboard icon"/>
          <p:cNvSpPr/>
          <p:nvPr/>
        </p:nvSpPr>
        <p:spPr>
          <a:xfrm>
            <a:off x="335160" y="375120"/>
            <a:ext cx="174600" cy="219960"/>
          </a:xfrm>
          <a:prstGeom prst="roundRect">
            <a:avLst/>
          </a:prstGeom>
          <a:solidFill>
            <a:srgbClr val="f9fbf1"/>
          </a:solidFill>
          <a:ln w="9000">
            <a:solidFill>
              <a:srgbClr val="222222"/>
            </a:solidFill>
            <a:round/>
          </a:ln>
        </p:spPr>
      </p:sp>
      <p:sp>
        <p:nvSpPr>
          <p:cNvPr id="49" name="007 Clipboard clip"/>
          <p:cNvSpPr/>
          <p:nvPr/>
        </p:nvSpPr>
        <p:spPr>
          <a:xfrm>
            <a:off x="380520" y="342720"/>
            <a:ext cx="90360" cy="51480"/>
          </a:xfrm>
          <a:prstGeom prst="roundRect">
            <a:avLst/>
          </a:prstGeom>
          <a:solidFill>
            <a:srgbClr val="ffd94a"/>
          </a:solidFill>
          <a:ln w="6840">
            <a:solidFill>
              <a:srgbClr val="222222"/>
            </a:solidFill>
            <a:round/>
          </a:ln>
        </p:spPr>
      </p:sp>
      <p:sp>
        <p:nvSpPr>
          <p:cNvPr id="50" name="008 Clipboard checkbox"/>
          <p:cNvSpPr/>
          <p:nvPr/>
        </p:nvSpPr>
        <p:spPr>
          <a:xfrm>
            <a:off x="361080" y="420480"/>
            <a:ext cx="25560" cy="25560"/>
          </a:xfrm>
          <a:prstGeom prst="rect">
            <a:avLst/>
          </a:prstGeom>
          <a:solidFill>
            <a:srgbClr val="2eb6cf"/>
          </a:solidFill>
          <a:ln w="4320">
            <a:solidFill>
              <a:srgbClr val="222222"/>
            </a:solidFill>
            <a:round/>
          </a:ln>
        </p:spPr>
      </p:sp>
      <p:sp>
        <p:nvSpPr>
          <p:cNvPr id="51" name="009 Graph edge"/>
          <p:cNvSpPr/>
          <p:nvPr/>
        </p:nvSpPr>
        <p:spPr>
          <a:xfrm>
            <a:off x="406440" y="433440"/>
            <a:ext cx="77760" cy="0"/>
          </a:xfrm>
          <a:prstGeom prst="line">
            <a:avLst/>
          </a:prstGeom>
          <a:ln w="5040">
            <a:solidFill>
              <a:srgbClr val="7373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010 Clipboard checkbox"/>
          <p:cNvSpPr/>
          <p:nvPr/>
        </p:nvSpPr>
        <p:spPr>
          <a:xfrm>
            <a:off x="361080" y="465840"/>
            <a:ext cx="25560" cy="25560"/>
          </a:xfrm>
          <a:prstGeom prst="rect">
            <a:avLst/>
          </a:prstGeom>
          <a:solidFill>
            <a:srgbClr val="8ecf41"/>
          </a:solidFill>
          <a:ln w="4320">
            <a:solidFill>
              <a:srgbClr val="222222"/>
            </a:solidFill>
            <a:round/>
          </a:ln>
        </p:spPr>
      </p:sp>
      <p:sp>
        <p:nvSpPr>
          <p:cNvPr id="53" name="011 Graph edge"/>
          <p:cNvSpPr/>
          <p:nvPr/>
        </p:nvSpPr>
        <p:spPr>
          <a:xfrm>
            <a:off x="406440" y="478800"/>
            <a:ext cx="77760" cy="0"/>
          </a:xfrm>
          <a:prstGeom prst="line">
            <a:avLst/>
          </a:prstGeom>
          <a:ln w="5040">
            <a:solidFill>
              <a:srgbClr val="7373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012 Clipboard checkbox"/>
          <p:cNvSpPr/>
          <p:nvPr/>
        </p:nvSpPr>
        <p:spPr>
          <a:xfrm>
            <a:off x="361080" y="511200"/>
            <a:ext cx="25560" cy="25560"/>
          </a:xfrm>
          <a:prstGeom prst="rect">
            <a:avLst/>
          </a:prstGeom>
          <a:solidFill>
            <a:srgbClr val="2eb6cf"/>
          </a:solidFill>
          <a:ln w="4320">
            <a:solidFill>
              <a:srgbClr val="222222"/>
            </a:solidFill>
            <a:round/>
          </a:ln>
        </p:spPr>
      </p:sp>
      <p:sp>
        <p:nvSpPr>
          <p:cNvPr id="55" name="013 Graph edge"/>
          <p:cNvSpPr/>
          <p:nvPr/>
        </p:nvSpPr>
        <p:spPr>
          <a:xfrm>
            <a:off x="406440" y="524160"/>
            <a:ext cx="77760" cy="0"/>
          </a:xfrm>
          <a:prstGeom prst="line">
            <a:avLst/>
          </a:prstGeom>
          <a:ln w="5040">
            <a:solidFill>
              <a:srgbClr val="7373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014 Section title"/>
          <p:cNvSpPr txBox="1"/>
          <p:nvPr/>
        </p:nvSpPr>
        <p:spPr>
          <a:xfrm>
            <a:off x="670320" y="342720"/>
            <a:ext cx="137160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1" lang="en-US" sz="1380" spc="-1" strike="noStrike">
                <a:solidFill>
                  <a:srgbClr val="222222"/>
                </a:solidFill>
                <a:latin typeface="DejaVu Serif"/>
                <a:ea typeface="DejaVu Serif"/>
              </a:rPr>
              <a:t>Symbols</a:t>
            </a:r>
            <a:endParaRPr b="0" lang="en-US" sz="1380" spc="-1" strike="noStrike">
              <a:latin typeface="Arial"/>
            </a:endParaRPr>
          </a:p>
        </p:txBody>
      </p:sp>
      <p:sp>
        <p:nvSpPr>
          <p:cNvPr id="57" name="015 Black font sample"/>
          <p:cNvSpPr/>
          <p:nvPr/>
        </p:nvSpPr>
        <p:spPr>
          <a:xfrm>
            <a:off x="320040" y="677880"/>
            <a:ext cx="609480" cy="167400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</p:sp>
      <p:sp>
        <p:nvSpPr>
          <p:cNvPr id="58" name="016 Text"/>
          <p:cNvSpPr txBox="1"/>
          <p:nvPr/>
        </p:nvSpPr>
        <p:spPr>
          <a:xfrm>
            <a:off x="342720" y="677880"/>
            <a:ext cx="578880" cy="16740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0" lang="en-US" sz="720" spc="-1" strike="noStrike">
                <a:solidFill>
                  <a:srgbClr val="ffffff"/>
                </a:solidFill>
                <a:latin typeface="Arial"/>
                <a:ea typeface="Arial"/>
              </a:rPr>
              <a:t>Black font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59" name="017 Text"/>
          <p:cNvSpPr txBox="1"/>
          <p:nvPr/>
        </p:nvSpPr>
        <p:spPr>
          <a:xfrm>
            <a:off x="952200" y="677880"/>
            <a:ext cx="1249560" cy="16740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0" lang="en-US" sz="780" spc="-1" strike="noStrike">
                <a:solidFill>
                  <a:srgbClr val="737373"/>
                </a:solidFill>
                <a:latin typeface="Arial"/>
                <a:ea typeface="Arial"/>
              </a:rPr>
              <a:t>: Notations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60" name="018 Red font sample"/>
          <p:cNvSpPr/>
          <p:nvPr/>
        </p:nvSpPr>
        <p:spPr>
          <a:xfrm>
            <a:off x="320040" y="891360"/>
            <a:ext cx="518040" cy="167400"/>
          </a:xfrm>
          <a:prstGeom prst="rect">
            <a:avLst/>
          </a:prstGeom>
          <a:solidFill>
            <a:srgbClr val="f01818"/>
          </a:solidFill>
          <a:ln w="0">
            <a:noFill/>
          </a:ln>
        </p:spPr>
      </p:sp>
      <p:sp>
        <p:nvSpPr>
          <p:cNvPr id="61" name="019 Text"/>
          <p:cNvSpPr txBox="1"/>
          <p:nvPr/>
        </p:nvSpPr>
        <p:spPr>
          <a:xfrm>
            <a:off x="327600" y="891360"/>
            <a:ext cx="510480" cy="16740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0" lang="en-US" sz="720" spc="-1" strike="noStrike">
                <a:solidFill>
                  <a:srgbClr val="ffffff"/>
                </a:solidFill>
                <a:latin typeface="Arial"/>
                <a:ea typeface="Arial"/>
              </a:rPr>
              <a:t>Red font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62" name="020 Text"/>
          <p:cNvSpPr txBox="1"/>
          <p:nvPr/>
        </p:nvSpPr>
        <p:spPr>
          <a:xfrm>
            <a:off x="860760" y="891360"/>
            <a:ext cx="1295280" cy="16740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0" lang="en-US" sz="780" spc="-1" strike="noStrike">
                <a:solidFill>
                  <a:srgbClr val="737373"/>
                </a:solidFill>
                <a:latin typeface="Arial"/>
                <a:ea typeface="Arial"/>
              </a:rPr>
              <a:t>: Operations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63" name="021 Forward process"/>
          <p:cNvSpPr/>
          <p:nvPr/>
        </p:nvSpPr>
        <p:spPr>
          <a:xfrm>
            <a:off x="350280" y="1180800"/>
            <a:ext cx="487800" cy="0"/>
          </a:xfrm>
          <a:prstGeom prst="line">
            <a:avLst/>
          </a:prstGeom>
          <a:ln w="99000">
            <a:solidFill>
              <a:srgbClr val="f01818">
                <a:alpha val="7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022 Forward process inset"/>
          <p:cNvSpPr/>
          <p:nvPr/>
        </p:nvSpPr>
        <p:spPr>
          <a:xfrm>
            <a:off x="350280" y="1180800"/>
            <a:ext cx="350640" cy="0"/>
          </a:xfrm>
          <a:prstGeom prst="line">
            <a:avLst/>
          </a:prstGeom>
          <a:ln w="53280">
            <a:solidFill>
              <a:srgbClr val="ffd8d8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023 Text"/>
          <p:cNvSpPr txBox="1"/>
          <p:nvPr/>
        </p:nvSpPr>
        <p:spPr>
          <a:xfrm>
            <a:off x="914400" y="1097280"/>
            <a:ext cx="1257120" cy="1828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0" lang="en-US" sz="750" spc="-1" strike="noStrike">
                <a:solidFill>
                  <a:srgbClr val="737373"/>
                </a:solidFill>
                <a:latin typeface="Arial"/>
                <a:ea typeface="Arial"/>
              </a:rPr>
              <a:t>: Forward Process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66" name="024 Graph edge"/>
          <p:cNvSpPr/>
          <p:nvPr/>
        </p:nvSpPr>
        <p:spPr>
          <a:xfrm>
            <a:off x="327600" y="1371600"/>
            <a:ext cx="510480" cy="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025 Text"/>
          <p:cNvSpPr txBox="1"/>
          <p:nvPr/>
        </p:nvSpPr>
        <p:spPr>
          <a:xfrm>
            <a:off x="914400" y="1287720"/>
            <a:ext cx="1257120" cy="1828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0" lang="en-US" sz="750" spc="-1" strike="noStrike">
                <a:solidFill>
                  <a:srgbClr val="737373"/>
                </a:solidFill>
                <a:latin typeface="Arial"/>
                <a:ea typeface="Arial"/>
              </a:rPr>
              <a:t>: Edges between nodes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68" name="026 Legend insight node"/>
          <p:cNvSpPr/>
          <p:nvPr/>
        </p:nvSpPr>
        <p:spPr>
          <a:xfrm>
            <a:off x="320040" y="1493280"/>
            <a:ext cx="167400" cy="167400"/>
          </a:xfrm>
          <a:prstGeom prst="ellipse">
            <a:avLst/>
          </a:prstGeom>
          <a:solidFill>
            <a:srgbClr val="5bb468"/>
          </a:solidFill>
          <a:ln w="15120">
            <a:solidFill>
              <a:srgbClr val="006d0d"/>
            </a:solidFill>
            <a:round/>
          </a:ln>
        </p:spPr>
      </p:sp>
      <p:sp>
        <p:nvSpPr>
          <p:cNvPr id="69" name="027 Legend insight node label"/>
          <p:cNvSpPr txBox="1"/>
          <p:nvPr/>
        </p:nvSpPr>
        <p:spPr>
          <a:xfrm>
            <a:off x="320040" y="1500840"/>
            <a:ext cx="167400" cy="15228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0" name="028 Text"/>
          <p:cNvSpPr txBox="1"/>
          <p:nvPr/>
        </p:nvSpPr>
        <p:spPr>
          <a:xfrm>
            <a:off x="525600" y="1485720"/>
            <a:ext cx="761760" cy="1828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0" lang="en-US" sz="750" spc="-1" strike="noStrike">
                <a:solidFill>
                  <a:srgbClr val="737373"/>
                </a:solidFill>
                <a:latin typeface="Arial"/>
                <a:ea typeface="Arial"/>
              </a:rPr>
              <a:t>: Insight node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71" name="029 Legend query node"/>
          <p:cNvSpPr/>
          <p:nvPr/>
        </p:nvSpPr>
        <p:spPr>
          <a:xfrm>
            <a:off x="1363680" y="1493280"/>
            <a:ext cx="167400" cy="167400"/>
          </a:xfrm>
          <a:prstGeom prst="ellipse">
            <a:avLst/>
          </a:prstGeom>
          <a:solidFill>
            <a:srgbClr val="70a9e2"/>
          </a:solidFill>
          <a:ln w="15120">
            <a:solidFill>
              <a:srgbClr val="003d72"/>
            </a:solidFill>
            <a:round/>
          </a:ln>
        </p:spPr>
      </p:sp>
      <p:sp>
        <p:nvSpPr>
          <p:cNvPr id="72" name="030 Legend query node label"/>
          <p:cNvSpPr txBox="1"/>
          <p:nvPr/>
        </p:nvSpPr>
        <p:spPr>
          <a:xfrm>
            <a:off x="1363680" y="1500840"/>
            <a:ext cx="167400" cy="15228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3" name="031 Text"/>
          <p:cNvSpPr txBox="1"/>
          <p:nvPr/>
        </p:nvSpPr>
        <p:spPr>
          <a:xfrm>
            <a:off x="1569600" y="1485720"/>
            <a:ext cx="700920" cy="1828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0" lang="en-US" sz="750" spc="-1" strike="noStrike">
                <a:solidFill>
                  <a:srgbClr val="737373"/>
                </a:solidFill>
                <a:latin typeface="Arial"/>
                <a:ea typeface="Arial"/>
              </a:rPr>
              <a:t>: Query node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74" name="032 Legend utterance node"/>
          <p:cNvSpPr/>
          <p:nvPr/>
        </p:nvSpPr>
        <p:spPr>
          <a:xfrm>
            <a:off x="320040" y="1721880"/>
            <a:ext cx="167400" cy="167400"/>
          </a:xfrm>
          <a:prstGeom prst="ellipse">
            <a:avLst/>
          </a:prstGeom>
          <a:solidFill>
            <a:srgbClr val="c78cff"/>
          </a:solidFill>
          <a:ln w="15120">
            <a:solidFill>
              <a:srgbClr val="3e0077"/>
            </a:solidFill>
            <a:round/>
          </a:ln>
        </p:spPr>
      </p:sp>
      <p:sp>
        <p:nvSpPr>
          <p:cNvPr id="75" name="033 Legend utterance node label"/>
          <p:cNvSpPr txBox="1"/>
          <p:nvPr/>
        </p:nvSpPr>
        <p:spPr>
          <a:xfrm>
            <a:off x="320040" y="1729440"/>
            <a:ext cx="167400" cy="15228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6" name="034 Text"/>
          <p:cNvSpPr txBox="1"/>
          <p:nvPr/>
        </p:nvSpPr>
        <p:spPr>
          <a:xfrm>
            <a:off x="525600" y="1714320"/>
            <a:ext cx="1447560" cy="1828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0" lang="en-US" sz="750" spc="-1" strike="noStrike">
                <a:solidFill>
                  <a:srgbClr val="737373"/>
                </a:solidFill>
                <a:latin typeface="Arial"/>
                <a:ea typeface="Arial"/>
              </a:rPr>
              <a:t>: Agent utterance node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77" name="035 Query task panel back 2"/>
          <p:cNvSpPr/>
          <p:nvPr/>
        </p:nvSpPr>
        <p:spPr>
          <a:xfrm>
            <a:off x="342720" y="2323800"/>
            <a:ext cx="2179080" cy="4335480"/>
          </a:xfrm>
          <a:prstGeom prst="rect">
            <a:avLst/>
          </a:prstGeom>
          <a:solidFill>
            <a:srgbClr val="f7f7f7">
              <a:alpha val="58000"/>
            </a:srgbClr>
          </a:solidFill>
          <a:ln w="11160">
            <a:solidFill>
              <a:srgbClr val="777777">
                <a:alpha val="58000"/>
              </a:srgbClr>
            </a:solidFill>
            <a:round/>
          </a:ln>
        </p:spPr>
      </p:sp>
      <p:sp>
        <p:nvSpPr>
          <p:cNvPr id="78" name="036 Query task panel back 1"/>
          <p:cNvSpPr/>
          <p:nvPr/>
        </p:nvSpPr>
        <p:spPr>
          <a:xfrm>
            <a:off x="289440" y="2270520"/>
            <a:ext cx="2179080" cy="4335480"/>
          </a:xfrm>
          <a:prstGeom prst="rect">
            <a:avLst/>
          </a:prstGeom>
          <a:solidFill>
            <a:srgbClr val="f7f7f7">
              <a:alpha val="58000"/>
            </a:srgbClr>
          </a:solidFill>
          <a:ln w="11160">
            <a:solidFill>
              <a:srgbClr val="777777">
                <a:alpha val="58000"/>
              </a:srgbClr>
            </a:solidFill>
            <a:round/>
          </a:ln>
        </p:spPr>
      </p:sp>
      <p:sp>
        <p:nvSpPr>
          <p:cNvPr id="79" name="037 Query task panel"/>
          <p:cNvSpPr/>
          <p:nvPr/>
        </p:nvSpPr>
        <p:spPr>
          <a:xfrm>
            <a:off x="236160" y="2217240"/>
            <a:ext cx="2179080" cy="4335480"/>
          </a:xfrm>
          <a:prstGeom prst="rect">
            <a:avLst/>
          </a:prstGeom>
          <a:solidFill>
            <a:srgbClr val="f7f7f7"/>
          </a:solidFill>
          <a:ln w="15120">
            <a:solidFill>
              <a:srgbClr val="777777"/>
            </a:solidFill>
            <a:round/>
          </a:ln>
        </p:spPr>
      </p:sp>
      <p:sp>
        <p:nvSpPr>
          <p:cNvPr id="80" name="038 Section title"/>
          <p:cNvSpPr txBox="1"/>
          <p:nvPr/>
        </p:nvSpPr>
        <p:spPr>
          <a:xfrm>
            <a:off x="472320" y="2323800"/>
            <a:ext cx="175248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1" lang="en-US" sz="1320" spc="-1" strike="noStrike">
                <a:solidFill>
                  <a:srgbClr val="222222"/>
                </a:solidFill>
                <a:latin typeface="DejaVu Serif"/>
                <a:ea typeface="DejaVu Serif"/>
              </a:rPr>
              <a:t>Query/Task Q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81" name="039 Task card Embodied"/>
          <p:cNvSpPr/>
          <p:nvPr/>
        </p:nvSpPr>
        <p:spPr>
          <a:xfrm>
            <a:off x="556200" y="2628720"/>
            <a:ext cx="1714320" cy="1165680"/>
          </a:xfrm>
          <a:prstGeom prst="roundRect">
            <a:avLst/>
          </a:prstGeom>
          <a:solidFill>
            <a:srgbClr val="e8f7f6">
              <a:alpha val="94000"/>
            </a:srgbClr>
          </a:solidFill>
          <a:ln w="11880">
            <a:solidFill>
              <a:srgbClr val="66b9bd">
                <a:alpha val="94000"/>
              </a:srgbClr>
            </a:solidFill>
            <a:round/>
          </a:ln>
        </p:spPr>
      </p:sp>
      <p:sp>
        <p:nvSpPr>
          <p:cNvPr id="82" name="040 Task topic"/>
          <p:cNvSpPr txBox="1"/>
          <p:nvPr/>
        </p:nvSpPr>
        <p:spPr>
          <a:xfrm>
            <a:off x="617040" y="2682000"/>
            <a:ext cx="1592280" cy="159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50" spc="-1" strike="noStrike">
                <a:solidFill>
                  <a:srgbClr val="222222"/>
                </a:solidFill>
                <a:latin typeface="Courier New"/>
                <a:ea typeface="Courier New"/>
              </a:rPr>
              <a:t>Topic: Embodied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3" name="041 Task difficulty"/>
          <p:cNvSpPr txBox="1"/>
          <p:nvPr/>
        </p:nvSpPr>
        <p:spPr>
          <a:xfrm>
            <a:off x="617040" y="2834640"/>
            <a:ext cx="1592280" cy="159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30" spc="-1" strike="noStrike">
                <a:solidFill>
                  <a:srgbClr val="222222"/>
                </a:solidFill>
                <a:latin typeface="Courier New"/>
                <a:ea typeface="Courier New"/>
              </a:rPr>
              <a:t>Difficulty: ★☆☆☆☆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84" name="042 Task description"/>
          <p:cNvSpPr txBox="1"/>
          <p:nvPr/>
        </p:nvSpPr>
        <p:spPr>
          <a:xfrm>
            <a:off x="655200" y="3009600"/>
            <a:ext cx="1539000" cy="7315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You are in the middle of a</a:t>
            </a:r>
            <a:endParaRPr b="0" lang="en-US" sz="710" spc="-1" strike="noStrike">
              <a:latin typeface="Arial"/>
            </a:endParaRPr>
          </a:p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room. Looking quickly around</a:t>
            </a:r>
            <a:endParaRPr b="0" lang="en-US" sz="710" spc="-1" strike="noStrike">
              <a:latin typeface="Arial"/>
            </a:endParaRPr>
          </a:p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you, you see a cabinet 6, a</a:t>
            </a:r>
            <a:endParaRPr b="0" lang="en-US" sz="710" spc="-1" strike="noStrike">
              <a:latin typeface="Arial"/>
            </a:endParaRPr>
          </a:p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cabinet 5, ... Your task is to:</a:t>
            </a:r>
            <a:endParaRPr b="0" lang="en-US" sz="710" spc="-1" strike="noStrike">
              <a:latin typeface="Arial"/>
            </a:endParaRPr>
          </a:p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put a clean egg in microwave.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5" name="043 Task card Web search"/>
          <p:cNvSpPr/>
          <p:nvPr/>
        </p:nvSpPr>
        <p:spPr>
          <a:xfrm>
            <a:off x="411480" y="3886200"/>
            <a:ext cx="1744920" cy="777240"/>
          </a:xfrm>
          <a:prstGeom prst="roundRect">
            <a:avLst/>
          </a:prstGeom>
          <a:solidFill>
            <a:srgbClr val="f6f0f7">
              <a:alpha val="94000"/>
            </a:srgbClr>
          </a:solidFill>
          <a:ln w="11880">
            <a:solidFill>
              <a:srgbClr val="cbb5d1">
                <a:alpha val="94000"/>
              </a:srgbClr>
            </a:solidFill>
            <a:round/>
          </a:ln>
        </p:spPr>
      </p:sp>
      <p:sp>
        <p:nvSpPr>
          <p:cNvPr id="86" name="044 Task topic"/>
          <p:cNvSpPr txBox="1"/>
          <p:nvPr/>
        </p:nvSpPr>
        <p:spPr>
          <a:xfrm>
            <a:off x="472320" y="3939480"/>
            <a:ext cx="1622880" cy="159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50" spc="-1" strike="noStrike">
                <a:solidFill>
                  <a:srgbClr val="222222"/>
                </a:solidFill>
                <a:latin typeface="Courier New"/>
                <a:ea typeface="Courier New"/>
              </a:rPr>
              <a:t>Topic: Web search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7" name="045 Task difficulty"/>
          <p:cNvSpPr txBox="1"/>
          <p:nvPr/>
        </p:nvSpPr>
        <p:spPr>
          <a:xfrm>
            <a:off x="472320" y="4091760"/>
            <a:ext cx="1622880" cy="159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30" spc="-1" strike="noStrike">
                <a:solidFill>
                  <a:srgbClr val="222222"/>
                </a:solidFill>
                <a:latin typeface="Courier New"/>
                <a:ea typeface="Courier New"/>
              </a:rPr>
              <a:t>Difficulty: ★★☆☆☆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88" name="046 Task description"/>
          <p:cNvSpPr txBox="1"/>
          <p:nvPr/>
        </p:nvSpPr>
        <p:spPr>
          <a:xfrm>
            <a:off x="510480" y="4267080"/>
            <a:ext cx="1569600" cy="342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Are both Lygodium or</a:t>
            </a:r>
            <a:endParaRPr b="0" lang="en-US" sz="710" spc="-1" strike="noStrike">
              <a:latin typeface="Arial"/>
            </a:endParaRPr>
          </a:p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Maxillaria a genus of orchids?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9" name="047 Task card Embodied"/>
          <p:cNvSpPr/>
          <p:nvPr/>
        </p:nvSpPr>
        <p:spPr>
          <a:xfrm>
            <a:off x="769320" y="4739400"/>
            <a:ext cx="1562040" cy="1036080"/>
          </a:xfrm>
          <a:prstGeom prst="roundRect">
            <a:avLst/>
          </a:prstGeom>
          <a:solidFill>
            <a:srgbClr val="fff2ef">
              <a:alpha val="94000"/>
            </a:srgbClr>
          </a:solidFill>
          <a:ln w="11880">
            <a:solidFill>
              <a:srgbClr val="dc9b91">
                <a:alpha val="94000"/>
              </a:srgbClr>
            </a:solidFill>
            <a:round/>
          </a:ln>
        </p:spPr>
      </p:sp>
      <p:sp>
        <p:nvSpPr>
          <p:cNvPr id="90" name="048 Task topic"/>
          <p:cNvSpPr txBox="1"/>
          <p:nvPr/>
        </p:nvSpPr>
        <p:spPr>
          <a:xfrm>
            <a:off x="830520" y="4792680"/>
            <a:ext cx="1440000" cy="159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50" spc="-1" strike="noStrike">
                <a:solidFill>
                  <a:srgbClr val="222222"/>
                </a:solidFill>
                <a:latin typeface="Courier New"/>
                <a:ea typeface="Courier New"/>
              </a:rPr>
              <a:t>Topic: Embodied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91" name="049 Task difficulty"/>
          <p:cNvSpPr txBox="1"/>
          <p:nvPr/>
        </p:nvSpPr>
        <p:spPr>
          <a:xfrm>
            <a:off x="830520" y="4945320"/>
            <a:ext cx="1440000" cy="159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30" spc="-1" strike="noStrike">
                <a:solidFill>
                  <a:srgbClr val="222222"/>
                </a:solidFill>
                <a:latin typeface="Courier New"/>
                <a:ea typeface="Courier New"/>
              </a:rPr>
              <a:t>Difficulty: ★★★★☆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92" name="050 Task description"/>
          <p:cNvSpPr txBox="1"/>
          <p:nvPr/>
        </p:nvSpPr>
        <p:spPr>
          <a:xfrm>
            <a:off x="868680" y="5120640"/>
            <a:ext cx="1386720" cy="6019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Your task is to find a</a:t>
            </a:r>
            <a:endParaRPr b="0" lang="en-US" sz="710" spc="-1" strike="noStrike">
              <a:latin typeface="Arial"/>
            </a:endParaRPr>
          </a:p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butterfly egg in the</a:t>
            </a:r>
            <a:endParaRPr b="0" lang="en-US" sz="710" spc="-1" strike="noStrike">
              <a:latin typeface="Arial"/>
            </a:endParaRPr>
          </a:p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outside. Move it to the</a:t>
            </a:r>
            <a:endParaRPr b="0" lang="en-US" sz="710" spc="-1" strike="noStrike">
              <a:latin typeface="Arial"/>
            </a:endParaRPr>
          </a:p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green box in the bathroom.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93" name="051 Task card Game"/>
          <p:cNvSpPr/>
          <p:nvPr/>
        </p:nvSpPr>
        <p:spPr>
          <a:xfrm>
            <a:off x="357840" y="5836680"/>
            <a:ext cx="1562040" cy="700920"/>
          </a:xfrm>
          <a:prstGeom prst="roundRect">
            <a:avLst/>
          </a:prstGeom>
          <a:solidFill>
            <a:srgbClr val="fff8e9">
              <a:alpha val="94000"/>
            </a:srgbClr>
          </a:solidFill>
          <a:ln w="11880">
            <a:solidFill>
              <a:srgbClr val="e8b64f">
                <a:alpha val="94000"/>
              </a:srgbClr>
            </a:solidFill>
            <a:round/>
          </a:ln>
        </p:spPr>
      </p:sp>
      <p:sp>
        <p:nvSpPr>
          <p:cNvPr id="94" name="052 Task topic"/>
          <p:cNvSpPr txBox="1"/>
          <p:nvPr/>
        </p:nvSpPr>
        <p:spPr>
          <a:xfrm>
            <a:off x="419040" y="5889960"/>
            <a:ext cx="1440000" cy="159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50" spc="-1" strike="noStrike">
                <a:solidFill>
                  <a:srgbClr val="222222"/>
                </a:solidFill>
                <a:latin typeface="Courier New"/>
                <a:ea typeface="Courier New"/>
              </a:rPr>
              <a:t>Topic: Game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95" name="053 Task difficulty"/>
          <p:cNvSpPr txBox="1"/>
          <p:nvPr/>
        </p:nvSpPr>
        <p:spPr>
          <a:xfrm>
            <a:off x="419040" y="6042600"/>
            <a:ext cx="1440000" cy="159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30" spc="-1" strike="noStrike">
                <a:solidFill>
                  <a:srgbClr val="222222"/>
                </a:solidFill>
                <a:latin typeface="Courier New"/>
                <a:ea typeface="Courier New"/>
              </a:rPr>
              <a:t>Difficulty: ★★★★☆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96" name="054 Task description"/>
          <p:cNvSpPr txBox="1"/>
          <p:nvPr/>
        </p:nvSpPr>
        <p:spPr>
          <a:xfrm>
            <a:off x="457200" y="6217920"/>
            <a:ext cx="1386720" cy="26640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b1 is on b2., b2 is on b6.,</a:t>
            </a:r>
            <a:endParaRPr b="0" lang="en-US" sz="710" spc="-1" strike="noStrike">
              <a:latin typeface="Arial"/>
            </a:endParaRPr>
          </a:p>
          <a:p>
            <a:r>
              <a:rPr b="0" lang="en-US" sz="710" spc="-1" strike="noStrike">
                <a:solidFill>
                  <a:srgbClr val="222222"/>
                </a:solidFill>
                <a:latin typeface="Arial"/>
                <a:ea typeface="Arial"/>
              </a:rPr>
              <a:t>b3 is on b7., b5 is on b3.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97" name="055 Section title"/>
          <p:cNvSpPr txBox="1"/>
          <p:nvPr/>
        </p:nvSpPr>
        <p:spPr>
          <a:xfrm>
            <a:off x="2781000" y="396000"/>
            <a:ext cx="144756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1" lang="en-US" sz="1260" spc="-1" strike="noStrike">
                <a:solidFill>
                  <a:srgbClr val="006d0d"/>
                </a:solidFill>
                <a:latin typeface="DejaVu Serif"/>
                <a:ea typeface="DejaVu Serif"/>
              </a:rPr>
              <a:t>Insight Graph</a:t>
            </a:r>
            <a:endParaRPr b="0" lang="en-US" sz="1260" spc="-1" strike="noStrike">
              <a:latin typeface="Arial"/>
            </a:endParaRPr>
          </a:p>
        </p:txBody>
      </p:sp>
      <p:sp>
        <p:nvSpPr>
          <p:cNvPr id="98" name="056 Text"/>
          <p:cNvSpPr txBox="1"/>
          <p:nvPr/>
        </p:nvSpPr>
        <p:spPr>
          <a:xfrm>
            <a:off x="2971800" y="670320"/>
            <a:ext cx="1295280" cy="2131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i="1" lang="en-US" sz="900" spc="-1" strike="noStrike">
                <a:solidFill>
                  <a:srgbClr val="006d0d"/>
                </a:solidFill>
                <a:latin typeface="DejaVu Serif"/>
                <a:ea typeface="DejaVu Serif"/>
              </a:rPr>
              <a:t>G_insight⁽ᵗ⁾ = (I, εᵢ)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057 Insight graph t"/>
          <p:cNvSpPr/>
          <p:nvPr/>
        </p:nvSpPr>
        <p:spPr>
          <a:xfrm>
            <a:off x="3901320" y="266400"/>
            <a:ext cx="1904760" cy="1904760"/>
          </a:xfrm>
          <a:prstGeom prst="ellipse">
            <a:avLst/>
          </a:prstGeom>
          <a:solidFill>
            <a:srgbClr val="edf7ed"/>
          </a:solidFill>
          <a:ln w="30240">
            <a:solidFill>
              <a:srgbClr val="006d0d"/>
            </a:solidFill>
            <a:round/>
          </a:ln>
        </p:spPr>
      </p:sp>
      <p:sp>
        <p:nvSpPr>
          <p:cNvPr id="100" name="058 Graph edge"/>
          <p:cNvSpPr/>
          <p:nvPr/>
        </p:nvSpPr>
        <p:spPr>
          <a:xfrm flipV="1">
            <a:off x="4587120" y="777240"/>
            <a:ext cx="556200" cy="756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059 Graph edge"/>
          <p:cNvSpPr/>
          <p:nvPr/>
        </p:nvSpPr>
        <p:spPr>
          <a:xfrm flipV="1">
            <a:off x="4244040" y="891360"/>
            <a:ext cx="251640" cy="36576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060 Graph edge"/>
          <p:cNvSpPr/>
          <p:nvPr/>
        </p:nvSpPr>
        <p:spPr>
          <a:xfrm>
            <a:off x="4663440" y="952200"/>
            <a:ext cx="624600" cy="49536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061 Graph edge"/>
          <p:cNvSpPr/>
          <p:nvPr/>
        </p:nvSpPr>
        <p:spPr>
          <a:xfrm flipV="1">
            <a:off x="4602240" y="1447560"/>
            <a:ext cx="609840" cy="16020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062 Graph edge"/>
          <p:cNvSpPr/>
          <p:nvPr/>
        </p:nvSpPr>
        <p:spPr>
          <a:xfrm flipH="1" flipV="1">
            <a:off x="4213800" y="1272240"/>
            <a:ext cx="327600" cy="30492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063 Graph edge"/>
          <p:cNvSpPr/>
          <p:nvPr/>
        </p:nvSpPr>
        <p:spPr>
          <a:xfrm flipV="1">
            <a:off x="4625280" y="822960"/>
            <a:ext cx="541080" cy="73908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064 Graph edge"/>
          <p:cNvSpPr/>
          <p:nvPr/>
        </p:nvSpPr>
        <p:spPr>
          <a:xfrm>
            <a:off x="4609800" y="860760"/>
            <a:ext cx="678240" cy="571680"/>
          </a:xfrm>
          <a:prstGeom prst="line">
            <a:avLst/>
          </a:prstGeom>
          <a:ln w="1656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065 Graph node"/>
          <p:cNvSpPr/>
          <p:nvPr/>
        </p:nvSpPr>
        <p:spPr>
          <a:xfrm>
            <a:off x="4396680" y="594360"/>
            <a:ext cx="380880" cy="380880"/>
          </a:xfrm>
          <a:prstGeom prst="ellipse">
            <a:avLst/>
          </a:prstGeom>
          <a:solidFill>
            <a:srgbClr val="5bb468"/>
          </a:solidFill>
          <a:ln w="30240">
            <a:solidFill>
              <a:srgbClr val="006d0d"/>
            </a:solidFill>
            <a:round/>
          </a:ln>
        </p:spPr>
      </p:sp>
      <p:sp>
        <p:nvSpPr>
          <p:cNvPr id="108" name="066 Graph node label"/>
          <p:cNvSpPr txBox="1"/>
          <p:nvPr/>
        </p:nvSpPr>
        <p:spPr>
          <a:xfrm>
            <a:off x="4396680" y="601920"/>
            <a:ext cx="380880" cy="3657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ι₁</a:t>
            </a:r>
            <a:endParaRPr b="0" lang="en-US" sz="1140" spc="-1" strike="noStrike">
              <a:latin typeface="Arial"/>
            </a:endParaRPr>
          </a:p>
        </p:txBody>
      </p:sp>
      <p:sp>
        <p:nvSpPr>
          <p:cNvPr id="109" name="067 Graph node"/>
          <p:cNvSpPr/>
          <p:nvPr/>
        </p:nvSpPr>
        <p:spPr>
          <a:xfrm>
            <a:off x="5029200" y="586440"/>
            <a:ext cx="380880" cy="380880"/>
          </a:xfrm>
          <a:prstGeom prst="ellipse">
            <a:avLst/>
          </a:prstGeom>
          <a:solidFill>
            <a:srgbClr val="8cff3d"/>
          </a:solidFill>
          <a:ln w="30240">
            <a:solidFill>
              <a:srgbClr val="006d0d"/>
            </a:solidFill>
            <a:round/>
          </a:ln>
        </p:spPr>
      </p:sp>
      <p:sp>
        <p:nvSpPr>
          <p:cNvPr id="110" name="068 Graph node label"/>
          <p:cNvSpPr txBox="1"/>
          <p:nvPr/>
        </p:nvSpPr>
        <p:spPr>
          <a:xfrm>
            <a:off x="5029200" y="594360"/>
            <a:ext cx="380880" cy="3657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ι₂</a:t>
            </a:r>
            <a:endParaRPr b="0" lang="en-US" sz="1140" spc="-1" strike="noStrike">
              <a:latin typeface="Arial"/>
            </a:endParaRPr>
          </a:p>
        </p:txBody>
      </p:sp>
      <p:sp>
        <p:nvSpPr>
          <p:cNvPr id="111" name="069 Graph node"/>
          <p:cNvSpPr/>
          <p:nvPr/>
        </p:nvSpPr>
        <p:spPr>
          <a:xfrm>
            <a:off x="4038480" y="1081800"/>
            <a:ext cx="365760" cy="365760"/>
          </a:xfrm>
          <a:prstGeom prst="ellipse">
            <a:avLst/>
          </a:prstGeom>
          <a:solidFill>
            <a:srgbClr val="81ce66"/>
          </a:solidFill>
          <a:ln w="30240">
            <a:solidFill>
              <a:srgbClr val="006d0d"/>
            </a:solidFill>
            <a:round/>
          </a:ln>
        </p:spPr>
      </p:sp>
      <p:sp>
        <p:nvSpPr>
          <p:cNvPr id="112" name="070 Graph node label"/>
          <p:cNvSpPr txBox="1"/>
          <p:nvPr/>
        </p:nvSpPr>
        <p:spPr>
          <a:xfrm>
            <a:off x="4038480" y="1089360"/>
            <a:ext cx="365760" cy="3502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80" spc="-1" strike="noStrike">
                <a:solidFill>
                  <a:srgbClr val="222222"/>
                </a:solidFill>
                <a:latin typeface="DejaVu Serif"/>
                <a:ea typeface="DejaVu Serif"/>
              </a:rPr>
              <a:t>ι₃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113" name="071 Graph node"/>
          <p:cNvSpPr/>
          <p:nvPr/>
        </p:nvSpPr>
        <p:spPr>
          <a:xfrm>
            <a:off x="4457520" y="1424880"/>
            <a:ext cx="380880" cy="380880"/>
          </a:xfrm>
          <a:prstGeom prst="ellipse">
            <a:avLst/>
          </a:prstGeom>
          <a:solidFill>
            <a:srgbClr val="08ea62"/>
          </a:solidFill>
          <a:ln w="30240">
            <a:solidFill>
              <a:srgbClr val="006d0d"/>
            </a:solidFill>
            <a:round/>
          </a:ln>
        </p:spPr>
      </p:sp>
      <p:sp>
        <p:nvSpPr>
          <p:cNvPr id="114" name="072 Graph node label"/>
          <p:cNvSpPr txBox="1"/>
          <p:nvPr/>
        </p:nvSpPr>
        <p:spPr>
          <a:xfrm>
            <a:off x="4457520" y="1432440"/>
            <a:ext cx="380880" cy="3657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ι₄</a:t>
            </a:r>
            <a:endParaRPr b="0" lang="en-US" sz="1140" spc="-1" strike="noStrike">
              <a:latin typeface="Arial"/>
            </a:endParaRPr>
          </a:p>
        </p:txBody>
      </p:sp>
      <p:sp>
        <p:nvSpPr>
          <p:cNvPr id="115" name="073 Graph node"/>
          <p:cNvSpPr/>
          <p:nvPr/>
        </p:nvSpPr>
        <p:spPr>
          <a:xfrm>
            <a:off x="5227200" y="1371600"/>
            <a:ext cx="380880" cy="380880"/>
          </a:xfrm>
          <a:prstGeom prst="ellipse">
            <a:avLst/>
          </a:prstGeom>
          <a:solidFill>
            <a:srgbClr val="77e7bd"/>
          </a:solidFill>
          <a:ln w="30240">
            <a:solidFill>
              <a:srgbClr val="006d0d"/>
            </a:solidFill>
            <a:round/>
          </a:ln>
        </p:spPr>
      </p:sp>
      <p:sp>
        <p:nvSpPr>
          <p:cNvPr id="116" name="074 Graph node label"/>
          <p:cNvSpPr txBox="1"/>
          <p:nvPr/>
        </p:nvSpPr>
        <p:spPr>
          <a:xfrm>
            <a:off x="5227200" y="1379160"/>
            <a:ext cx="380880" cy="3657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ι₅</a:t>
            </a:r>
            <a:endParaRPr b="0" lang="en-US" sz="1140" spc="-1" strike="noStrike">
              <a:latin typeface="Arial"/>
            </a:endParaRPr>
          </a:p>
        </p:txBody>
      </p:sp>
      <p:sp>
        <p:nvSpPr>
          <p:cNvPr id="117" name="075 Retrieved insight note"/>
          <p:cNvSpPr/>
          <p:nvPr/>
        </p:nvSpPr>
        <p:spPr>
          <a:xfrm>
            <a:off x="2842200" y="967680"/>
            <a:ext cx="1173240" cy="1295280"/>
          </a:xfrm>
          <a:prstGeom prst="rect">
            <a:avLst/>
          </a:prstGeom>
          <a:solidFill>
            <a:srgbClr val="aad9c6"/>
          </a:solidFill>
          <a:ln w="11160">
            <a:solidFill>
              <a:srgbClr val="11745f"/>
            </a:solidFill>
            <a:round/>
          </a:ln>
        </p:spPr>
      </p:sp>
      <p:sp>
        <p:nvSpPr>
          <p:cNvPr id="118" name="076 Insight note tail"/>
          <p:cNvSpPr/>
          <p:nvPr/>
        </p:nvSpPr>
        <p:spPr>
          <a:xfrm>
            <a:off x="4015440" y="1904760"/>
            <a:ext cx="251640" cy="175320"/>
          </a:xfrm>
          <a:custGeom>
            <a:avLst/>
            <a:gdLst/>
            <a:ahLst/>
            <a:rect l="0" t="0" r="r" b="b"/>
            <a:pathLst>
              <a:path w="699" h="487">
                <a:moveTo>
                  <a:pt x="0" y="0"/>
                </a:moveTo>
                <a:lnTo>
                  <a:pt x="699" y="106"/>
                </a:lnTo>
                <a:lnTo>
                  <a:pt x="0" y="487"/>
                </a:lnTo>
                <a:lnTo>
                  <a:pt x="0" y="0"/>
                </a:lnTo>
                <a:close/>
              </a:path>
            </a:pathLst>
          </a:custGeom>
          <a:solidFill>
            <a:srgbClr val="aad9c6"/>
          </a:solidFill>
          <a:ln w="11160">
            <a:solidFill>
              <a:srgbClr val="11745f"/>
            </a:solidFill>
            <a:round/>
          </a:ln>
        </p:spPr>
      </p:sp>
      <p:sp>
        <p:nvSpPr>
          <p:cNvPr id="119" name="077 Insight note label"/>
          <p:cNvSpPr/>
          <p:nvPr/>
        </p:nvSpPr>
        <p:spPr>
          <a:xfrm>
            <a:off x="2910600" y="1036080"/>
            <a:ext cx="685800" cy="205560"/>
          </a:xfrm>
          <a:prstGeom prst="rect">
            <a:avLst/>
          </a:prstGeom>
          <a:solidFill>
            <a:srgbClr val="dfeeda"/>
          </a:solidFill>
          <a:ln w="9000">
            <a:solidFill>
              <a:srgbClr val="4d9c55"/>
            </a:solidFill>
            <a:round/>
          </a:ln>
        </p:spPr>
      </p:sp>
      <p:sp>
        <p:nvSpPr>
          <p:cNvPr id="120" name="078 Text"/>
          <p:cNvSpPr txBox="1"/>
          <p:nvPr/>
        </p:nvSpPr>
        <p:spPr>
          <a:xfrm>
            <a:off x="2941200" y="1036080"/>
            <a:ext cx="624600" cy="2055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222222"/>
                </a:solidFill>
                <a:latin typeface="DejaVu Serif"/>
                <a:ea typeface="DejaVu Serif"/>
              </a:rPr>
              <a:t>Insight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1" name="079 Text"/>
          <p:cNvSpPr txBox="1"/>
          <p:nvPr/>
        </p:nvSpPr>
        <p:spPr>
          <a:xfrm>
            <a:off x="2926080" y="1317960"/>
            <a:ext cx="1005840" cy="85320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Ensure the search</a:t>
            </a:r>
            <a:endParaRPr b="0" lang="en-US" sz="770" spc="-1" strike="noStrike">
              <a:latin typeface="Arial"/>
            </a:endParaRPr>
          </a:p>
          <a:p>
            <a:pPr algn="ctr">
              <a:buNone/>
            </a:pPr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terms are precise</a:t>
            </a:r>
            <a:endParaRPr b="0" lang="en-US" sz="770" spc="-1" strike="noStrike">
              <a:latin typeface="Arial"/>
            </a:endParaRPr>
          </a:p>
          <a:p>
            <a:pPr algn="ctr">
              <a:buNone/>
            </a:pPr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and directly</a:t>
            </a:r>
            <a:endParaRPr b="0" lang="en-US" sz="770" spc="-1" strike="noStrike">
              <a:latin typeface="Arial"/>
            </a:endParaRPr>
          </a:p>
          <a:p>
            <a:pPr algn="ctr">
              <a:buNone/>
            </a:pPr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related to the</a:t>
            </a:r>
            <a:endParaRPr b="0" lang="en-US" sz="770" spc="-1" strike="noStrike">
              <a:latin typeface="Arial"/>
            </a:endParaRPr>
          </a:p>
          <a:p>
            <a:pPr algn="ctr">
              <a:buNone/>
            </a:pPr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specific entity or</a:t>
            </a:r>
            <a:endParaRPr b="0" lang="en-US" sz="770" spc="-1" strike="noStrike">
              <a:latin typeface="Arial"/>
            </a:endParaRPr>
          </a:p>
          <a:p>
            <a:pPr algn="ctr">
              <a:buNone/>
            </a:pPr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institution ...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122" name="080 Query graph t"/>
          <p:cNvSpPr/>
          <p:nvPr/>
        </p:nvSpPr>
        <p:spPr>
          <a:xfrm>
            <a:off x="3886200" y="2506680"/>
            <a:ext cx="1965960" cy="1965960"/>
          </a:xfrm>
          <a:prstGeom prst="ellipse">
            <a:avLst/>
          </a:prstGeom>
          <a:solidFill>
            <a:srgbClr val="e7f0ff"/>
          </a:solidFill>
          <a:ln w="30240">
            <a:solidFill>
              <a:srgbClr val="003d72"/>
            </a:solidFill>
            <a:round/>
          </a:ln>
        </p:spPr>
      </p:sp>
      <p:sp>
        <p:nvSpPr>
          <p:cNvPr id="123" name="081 Section title"/>
          <p:cNvSpPr txBox="1"/>
          <p:nvPr/>
        </p:nvSpPr>
        <p:spPr>
          <a:xfrm>
            <a:off x="2804040" y="2628720"/>
            <a:ext cx="152388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1" lang="en-US" sz="1200" spc="-1" strike="noStrike">
                <a:solidFill>
                  <a:srgbClr val="0965d8"/>
                </a:solidFill>
                <a:latin typeface="DejaVu Serif"/>
                <a:ea typeface="DejaVu Serif"/>
              </a:rPr>
              <a:t>Query Graph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4" name="082 Text"/>
          <p:cNvSpPr txBox="1"/>
          <p:nvPr/>
        </p:nvSpPr>
        <p:spPr>
          <a:xfrm>
            <a:off x="3025080" y="2872440"/>
            <a:ext cx="1409400" cy="2131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i="1" lang="en-US" sz="870" spc="-1" strike="noStrike">
                <a:solidFill>
                  <a:srgbClr val="0965d8"/>
                </a:solidFill>
                <a:latin typeface="DejaVu Serif"/>
                <a:ea typeface="DejaVu Serif"/>
              </a:rPr>
              <a:t>G_query⁽ᵗ⁾ = (Q, ε_q)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25" name="083 Traversal cone"/>
          <p:cNvSpPr/>
          <p:nvPr/>
        </p:nvSpPr>
        <p:spPr>
          <a:xfrm>
            <a:off x="4541400" y="1310400"/>
            <a:ext cx="1089720" cy="2255760"/>
          </a:xfrm>
          <a:custGeom>
            <a:avLst/>
            <a:gdLst/>
            <a:ahLst/>
            <a:rect l="0" t="0" r="r" b="b"/>
            <a:pathLst>
              <a:path w="3027" h="6266">
                <a:moveTo>
                  <a:pt x="0" y="4847"/>
                </a:moveTo>
                <a:lnTo>
                  <a:pt x="3027" y="0"/>
                </a:lnTo>
                <a:lnTo>
                  <a:pt x="889" y="6266"/>
                </a:lnTo>
                <a:lnTo>
                  <a:pt x="0" y="4847"/>
                </a:lnTo>
                <a:close/>
              </a:path>
            </a:pathLst>
          </a:custGeom>
          <a:solidFill>
            <a:srgbClr val="cde5f2">
              <a:alpha val="57000"/>
            </a:srgbClr>
          </a:solidFill>
          <a:ln w="21240">
            <a:solidFill>
              <a:srgbClr val="888888">
                <a:alpha val="57000"/>
              </a:srgbClr>
            </a:solidFill>
            <a:custDash>
              <a:ds d="33898" sp="33898"/>
              <a:ds d="33898" sp="33898"/>
            </a:custDash>
            <a:round/>
          </a:ln>
        </p:spPr>
      </p:sp>
      <p:sp>
        <p:nvSpPr>
          <p:cNvPr id="126" name="084 Graph edge"/>
          <p:cNvSpPr/>
          <p:nvPr/>
        </p:nvSpPr>
        <p:spPr>
          <a:xfrm flipV="1">
            <a:off x="4366080" y="2910600"/>
            <a:ext cx="358200" cy="320040"/>
          </a:xfrm>
          <a:prstGeom prst="line">
            <a:avLst/>
          </a:prstGeom>
          <a:ln w="26640">
            <a:solidFill>
              <a:srgbClr val="86abd0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085 Graph edge"/>
          <p:cNvSpPr/>
          <p:nvPr/>
        </p:nvSpPr>
        <p:spPr>
          <a:xfrm flipV="1">
            <a:off x="4426920" y="2804040"/>
            <a:ext cx="373680" cy="442080"/>
          </a:xfrm>
          <a:prstGeom prst="line">
            <a:avLst/>
          </a:prstGeom>
          <a:ln w="26640">
            <a:solidFill>
              <a:srgbClr val="86abd0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086 Graph edge"/>
          <p:cNvSpPr/>
          <p:nvPr/>
        </p:nvSpPr>
        <p:spPr>
          <a:xfrm flipV="1">
            <a:off x="4488120" y="2697480"/>
            <a:ext cx="388440" cy="563760"/>
          </a:xfrm>
          <a:prstGeom prst="line">
            <a:avLst/>
          </a:prstGeom>
          <a:ln w="26640">
            <a:solidFill>
              <a:srgbClr val="86abd0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087 Graph edge"/>
          <p:cNvSpPr/>
          <p:nvPr/>
        </p:nvSpPr>
        <p:spPr>
          <a:xfrm flipV="1">
            <a:off x="4548960" y="2590560"/>
            <a:ext cx="403920" cy="685800"/>
          </a:xfrm>
          <a:prstGeom prst="line">
            <a:avLst/>
          </a:prstGeom>
          <a:ln w="26640">
            <a:solidFill>
              <a:srgbClr val="86abd0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088 Graph edge"/>
          <p:cNvSpPr/>
          <p:nvPr/>
        </p:nvSpPr>
        <p:spPr>
          <a:xfrm flipV="1">
            <a:off x="4609800" y="2484000"/>
            <a:ext cx="419400" cy="807840"/>
          </a:xfrm>
          <a:prstGeom prst="line">
            <a:avLst/>
          </a:prstGeom>
          <a:ln w="26640">
            <a:solidFill>
              <a:srgbClr val="86abd0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089 Graph edge"/>
          <p:cNvSpPr/>
          <p:nvPr/>
        </p:nvSpPr>
        <p:spPr>
          <a:xfrm flipV="1">
            <a:off x="4671000" y="2377440"/>
            <a:ext cx="434160" cy="929520"/>
          </a:xfrm>
          <a:prstGeom prst="line">
            <a:avLst/>
          </a:prstGeom>
          <a:ln w="26640">
            <a:solidFill>
              <a:srgbClr val="86abd0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090 Graph edge"/>
          <p:cNvSpPr/>
          <p:nvPr/>
        </p:nvSpPr>
        <p:spPr>
          <a:xfrm flipH="1" flipV="1">
            <a:off x="4609800" y="1820880"/>
            <a:ext cx="38160" cy="1569960"/>
          </a:xfrm>
          <a:prstGeom prst="line">
            <a:avLst/>
          </a:prstGeom>
          <a:ln w="26640">
            <a:solidFill>
              <a:srgbClr val="111111"/>
            </a:solidFill>
            <a:custDash>
              <a:ds d="27027" sp="27027"/>
              <a:ds d="27027" sp="27027"/>
            </a:custDash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091 Text"/>
          <p:cNvSpPr txBox="1"/>
          <p:nvPr/>
        </p:nvSpPr>
        <p:spPr>
          <a:xfrm>
            <a:off x="4907160" y="1996200"/>
            <a:ext cx="990360" cy="419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1" lang="en-US" sz="1020" spc="-1" strike="noStrike">
                <a:solidFill>
                  <a:srgbClr val="f01818"/>
                </a:solidFill>
                <a:latin typeface="DejaVu Serif"/>
                <a:ea typeface="DejaVu Serif"/>
              </a:rPr>
              <a:t>upward</a:t>
            </a:r>
            <a:endParaRPr b="0" lang="en-US" sz="1020" spc="-1" strike="noStrike">
              <a:latin typeface="Arial"/>
            </a:endParaRPr>
          </a:p>
          <a:p>
            <a:pPr algn="ctr">
              <a:buNone/>
            </a:pPr>
            <a:r>
              <a:rPr b="1" lang="en-US" sz="1020" spc="-1" strike="noStrike">
                <a:solidFill>
                  <a:srgbClr val="f01818"/>
                </a:solidFill>
                <a:latin typeface="DejaVu Serif"/>
                <a:ea typeface="DejaVu Serif"/>
              </a:rPr>
              <a:t>traversal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34" name="092 Text"/>
          <p:cNvSpPr txBox="1"/>
          <p:nvPr/>
        </p:nvSpPr>
        <p:spPr>
          <a:xfrm>
            <a:off x="4305240" y="4244040"/>
            <a:ext cx="1104840" cy="45720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1" lang="en-US" sz="1020" spc="-1" strike="noStrike">
                <a:solidFill>
                  <a:srgbClr val="f01818"/>
                </a:solidFill>
                <a:latin typeface="DejaVu Serif"/>
                <a:ea typeface="DejaVu Serif"/>
              </a:rPr>
              <a:t>downward</a:t>
            </a:r>
            <a:endParaRPr b="0" lang="en-US" sz="1020" spc="-1" strike="noStrike">
              <a:latin typeface="Arial"/>
            </a:endParaRPr>
          </a:p>
          <a:p>
            <a:pPr algn="ctr">
              <a:buNone/>
            </a:pPr>
            <a:r>
              <a:rPr b="1" lang="en-US" sz="1020" spc="-1" strike="noStrike">
                <a:solidFill>
                  <a:srgbClr val="f01818"/>
                </a:solidFill>
                <a:latin typeface="DejaVu Serif"/>
                <a:ea typeface="DejaVu Serif"/>
              </a:rPr>
              <a:t>traversal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35" name="093 Graph edge"/>
          <p:cNvSpPr/>
          <p:nvPr/>
        </p:nvSpPr>
        <p:spPr>
          <a:xfrm>
            <a:off x="4449960" y="3223080"/>
            <a:ext cx="7560" cy="61740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094 Graph edge"/>
          <p:cNvSpPr/>
          <p:nvPr/>
        </p:nvSpPr>
        <p:spPr>
          <a:xfrm flipV="1">
            <a:off x="4457520" y="3504960"/>
            <a:ext cx="464760" cy="33552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095 Graph edge"/>
          <p:cNvSpPr/>
          <p:nvPr/>
        </p:nvSpPr>
        <p:spPr>
          <a:xfrm>
            <a:off x="4922280" y="3504960"/>
            <a:ext cx="472680" cy="41148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096 Graph edge"/>
          <p:cNvSpPr/>
          <p:nvPr/>
        </p:nvSpPr>
        <p:spPr>
          <a:xfrm flipV="1">
            <a:off x="4922280" y="3124080"/>
            <a:ext cx="495360" cy="38088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097 Graph edge"/>
          <p:cNvSpPr/>
          <p:nvPr/>
        </p:nvSpPr>
        <p:spPr>
          <a:xfrm flipV="1">
            <a:off x="5394960" y="3124080"/>
            <a:ext cx="22680" cy="79236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098 Graph edge"/>
          <p:cNvSpPr/>
          <p:nvPr/>
        </p:nvSpPr>
        <p:spPr>
          <a:xfrm>
            <a:off x="4449960" y="3223080"/>
            <a:ext cx="472320" cy="281880"/>
          </a:xfrm>
          <a:prstGeom prst="line">
            <a:avLst/>
          </a:prstGeom>
          <a:ln w="1872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099 Graph node"/>
          <p:cNvSpPr/>
          <p:nvPr/>
        </p:nvSpPr>
        <p:spPr>
          <a:xfrm>
            <a:off x="4282200" y="3055320"/>
            <a:ext cx="335160" cy="335160"/>
          </a:xfrm>
          <a:prstGeom prst="ellipse">
            <a:avLst/>
          </a:prstGeom>
          <a:solidFill>
            <a:srgbClr val="70a9e2"/>
          </a:solidFill>
          <a:ln w="30240">
            <a:solidFill>
              <a:srgbClr val="003d72"/>
            </a:solidFill>
            <a:round/>
          </a:ln>
        </p:spPr>
      </p:sp>
      <p:sp>
        <p:nvSpPr>
          <p:cNvPr id="142" name="100 Graph node label"/>
          <p:cNvSpPr txBox="1"/>
          <p:nvPr/>
        </p:nvSpPr>
        <p:spPr>
          <a:xfrm>
            <a:off x="4282200" y="3063240"/>
            <a:ext cx="335160" cy="320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222222"/>
                </a:solidFill>
                <a:latin typeface="DejaVu Serif"/>
                <a:ea typeface="DejaVu Serif"/>
              </a:rPr>
              <a:t>q₁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43" name="101 Graph node"/>
          <p:cNvSpPr/>
          <p:nvPr/>
        </p:nvSpPr>
        <p:spPr>
          <a:xfrm>
            <a:off x="4289760" y="3718440"/>
            <a:ext cx="335160" cy="335160"/>
          </a:xfrm>
          <a:prstGeom prst="ellipse">
            <a:avLst/>
          </a:prstGeom>
          <a:solidFill>
            <a:srgbClr val="70a9e2"/>
          </a:solidFill>
          <a:ln w="30240">
            <a:solidFill>
              <a:srgbClr val="003d72"/>
            </a:solidFill>
            <a:round/>
          </a:ln>
        </p:spPr>
      </p:sp>
      <p:sp>
        <p:nvSpPr>
          <p:cNvPr id="144" name="102 Graph node label"/>
          <p:cNvSpPr txBox="1"/>
          <p:nvPr/>
        </p:nvSpPr>
        <p:spPr>
          <a:xfrm>
            <a:off x="4289760" y="3726000"/>
            <a:ext cx="335160" cy="320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222222"/>
                </a:solidFill>
                <a:latin typeface="DejaVu Serif"/>
                <a:ea typeface="DejaVu Serif"/>
              </a:rPr>
              <a:t>q₂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45" name="103 Graph node"/>
          <p:cNvSpPr/>
          <p:nvPr/>
        </p:nvSpPr>
        <p:spPr>
          <a:xfrm>
            <a:off x="4746960" y="3329640"/>
            <a:ext cx="350280" cy="350280"/>
          </a:xfrm>
          <a:prstGeom prst="ellipse">
            <a:avLst/>
          </a:prstGeom>
          <a:solidFill>
            <a:srgbClr val="77aee3"/>
          </a:solidFill>
          <a:ln w="30240">
            <a:solidFill>
              <a:srgbClr val="003d72"/>
            </a:solidFill>
            <a:round/>
          </a:ln>
        </p:spPr>
      </p:sp>
      <p:sp>
        <p:nvSpPr>
          <p:cNvPr id="146" name="104 Graph node label"/>
          <p:cNvSpPr txBox="1"/>
          <p:nvPr/>
        </p:nvSpPr>
        <p:spPr>
          <a:xfrm>
            <a:off x="4746960" y="3337560"/>
            <a:ext cx="350280" cy="3351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222222"/>
                </a:solidFill>
                <a:latin typeface="DejaVu Serif"/>
                <a:ea typeface="DejaVu Serif"/>
              </a:rPr>
              <a:t>q₄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47" name="105 Graph node"/>
          <p:cNvSpPr/>
          <p:nvPr/>
        </p:nvSpPr>
        <p:spPr>
          <a:xfrm>
            <a:off x="5249880" y="2963880"/>
            <a:ext cx="335160" cy="335160"/>
          </a:xfrm>
          <a:prstGeom prst="ellipse">
            <a:avLst/>
          </a:prstGeom>
          <a:solidFill>
            <a:srgbClr val="70a9e2"/>
          </a:solidFill>
          <a:ln w="30240">
            <a:solidFill>
              <a:srgbClr val="003d72"/>
            </a:solidFill>
            <a:round/>
          </a:ln>
        </p:spPr>
      </p:sp>
      <p:sp>
        <p:nvSpPr>
          <p:cNvPr id="148" name="106 Graph node label"/>
          <p:cNvSpPr txBox="1"/>
          <p:nvPr/>
        </p:nvSpPr>
        <p:spPr>
          <a:xfrm>
            <a:off x="5249880" y="2971800"/>
            <a:ext cx="335160" cy="320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222222"/>
                </a:solidFill>
                <a:latin typeface="DejaVu Serif"/>
                <a:ea typeface="DejaVu Serif"/>
              </a:rPr>
              <a:t>q₅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49" name="107 Graph node"/>
          <p:cNvSpPr/>
          <p:nvPr/>
        </p:nvSpPr>
        <p:spPr>
          <a:xfrm>
            <a:off x="5227200" y="3802320"/>
            <a:ext cx="335160" cy="335160"/>
          </a:xfrm>
          <a:prstGeom prst="ellipse">
            <a:avLst/>
          </a:prstGeom>
          <a:solidFill>
            <a:srgbClr val="70a9e2"/>
          </a:solidFill>
          <a:ln w="30240">
            <a:solidFill>
              <a:srgbClr val="003d72"/>
            </a:solidFill>
            <a:round/>
          </a:ln>
        </p:spPr>
      </p:sp>
      <p:sp>
        <p:nvSpPr>
          <p:cNvPr id="150" name="108 Graph node label"/>
          <p:cNvSpPr txBox="1"/>
          <p:nvPr/>
        </p:nvSpPr>
        <p:spPr>
          <a:xfrm>
            <a:off x="5227200" y="3809880"/>
            <a:ext cx="335160" cy="320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222222"/>
                </a:solidFill>
                <a:latin typeface="DejaVu Serif"/>
                <a:ea typeface="DejaVu Serif"/>
              </a:rPr>
              <a:t>q₃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51" name="109 Query note"/>
          <p:cNvSpPr/>
          <p:nvPr/>
        </p:nvSpPr>
        <p:spPr>
          <a:xfrm>
            <a:off x="2834640" y="2423160"/>
            <a:ext cx="1447560" cy="670320"/>
          </a:xfrm>
          <a:prstGeom prst="rect">
            <a:avLst/>
          </a:prstGeom>
          <a:solidFill>
            <a:srgbClr val="e4ecff"/>
          </a:solidFill>
          <a:ln w="11160">
            <a:solidFill>
              <a:srgbClr val="183e9c"/>
            </a:solidFill>
            <a:round/>
          </a:ln>
        </p:spPr>
      </p:sp>
      <p:sp>
        <p:nvSpPr>
          <p:cNvPr id="152" name="110 Query note tail"/>
          <p:cNvSpPr/>
          <p:nvPr/>
        </p:nvSpPr>
        <p:spPr>
          <a:xfrm>
            <a:off x="4038480" y="3063240"/>
            <a:ext cx="114120" cy="144720"/>
          </a:xfrm>
          <a:custGeom>
            <a:avLst/>
            <a:gdLst/>
            <a:ahLst/>
            <a:rect l="0" t="0" r="r" b="b"/>
            <a:pathLst>
              <a:path w="317" h="402">
                <a:moveTo>
                  <a:pt x="0" y="84"/>
                </a:moveTo>
                <a:lnTo>
                  <a:pt x="317" y="402"/>
                </a:lnTo>
                <a:lnTo>
                  <a:pt x="317" y="0"/>
                </a:lnTo>
                <a:lnTo>
                  <a:pt x="0" y="84"/>
                </a:lnTo>
                <a:close/>
              </a:path>
            </a:pathLst>
          </a:custGeom>
          <a:solidFill>
            <a:srgbClr val="e4ecff"/>
          </a:solidFill>
          <a:ln w="11160">
            <a:solidFill>
              <a:srgbClr val="183e9c"/>
            </a:solidFill>
            <a:round/>
          </a:ln>
        </p:spPr>
      </p:sp>
      <p:sp>
        <p:nvSpPr>
          <p:cNvPr id="153" name="111 Query note label"/>
          <p:cNvSpPr/>
          <p:nvPr/>
        </p:nvSpPr>
        <p:spPr>
          <a:xfrm>
            <a:off x="2903040" y="2484000"/>
            <a:ext cx="571320" cy="198000"/>
          </a:xfrm>
          <a:prstGeom prst="rect">
            <a:avLst/>
          </a:prstGeom>
          <a:solidFill>
            <a:srgbClr val="d7e7ff"/>
          </a:solidFill>
          <a:ln w="9000">
            <a:solidFill>
              <a:srgbClr val="587db4"/>
            </a:solidFill>
            <a:round/>
          </a:ln>
        </p:spPr>
      </p:sp>
      <p:sp>
        <p:nvSpPr>
          <p:cNvPr id="154" name="112 Text"/>
          <p:cNvSpPr txBox="1"/>
          <p:nvPr/>
        </p:nvSpPr>
        <p:spPr>
          <a:xfrm>
            <a:off x="2941200" y="2484000"/>
            <a:ext cx="518040" cy="19800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1" lang="en-US" sz="870" spc="-1" strike="noStrike">
                <a:solidFill>
                  <a:srgbClr val="222222"/>
                </a:solidFill>
                <a:latin typeface="DejaVu Serif"/>
                <a:ea typeface="DejaVu Serif"/>
              </a:rPr>
              <a:t>Query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55" name="113 Text"/>
          <p:cNvSpPr txBox="1"/>
          <p:nvPr/>
        </p:nvSpPr>
        <p:spPr>
          <a:xfrm>
            <a:off x="2918160" y="2674440"/>
            <a:ext cx="1264680" cy="357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Are Deodato and</a:t>
            </a:r>
            <a:endParaRPr b="0" lang="en-US" sz="770" spc="-1" strike="noStrike">
              <a:latin typeface="Arial"/>
            </a:endParaRPr>
          </a:p>
          <a:p>
            <a:pPr algn="ctr">
              <a:buNone/>
            </a:pPr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Alejandro both film</a:t>
            </a:r>
            <a:endParaRPr b="0" lang="en-US" sz="770" spc="-1" strike="noStrike">
              <a:latin typeface="Arial"/>
            </a:endParaRPr>
          </a:p>
          <a:p>
            <a:pPr algn="ctr">
              <a:buNone/>
            </a:pPr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directors?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156" name="114 Text"/>
          <p:cNvSpPr txBox="1"/>
          <p:nvPr/>
        </p:nvSpPr>
        <p:spPr>
          <a:xfrm>
            <a:off x="2788920" y="3421080"/>
            <a:ext cx="1218960" cy="419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1" lang="en-US" sz="1080" spc="-1" strike="noStrike">
                <a:solidFill>
                  <a:srgbClr val="f01818"/>
                </a:solidFill>
                <a:latin typeface="DejaVu Serif"/>
                <a:ea typeface="DejaVu Serif"/>
              </a:rPr>
              <a:t>Similarity-</a:t>
            </a:r>
            <a:endParaRPr b="0" lang="en-US" sz="1080" spc="-1" strike="noStrike">
              <a:latin typeface="Arial"/>
            </a:endParaRPr>
          </a:p>
          <a:p>
            <a:pPr algn="ctr">
              <a:buNone/>
            </a:pPr>
            <a:r>
              <a:rPr b="1" lang="en-US" sz="1080" spc="-1" strike="noStrike">
                <a:solidFill>
                  <a:srgbClr val="f01818"/>
                </a:solidFill>
                <a:latin typeface="DejaVu Serif"/>
                <a:ea typeface="DejaVu Serif"/>
              </a:rPr>
              <a:t>based Retrieval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157" name="115 Forward process"/>
          <p:cNvSpPr/>
          <p:nvPr/>
        </p:nvSpPr>
        <p:spPr>
          <a:xfrm>
            <a:off x="2262960" y="3916440"/>
            <a:ext cx="1851840" cy="0"/>
          </a:xfrm>
          <a:prstGeom prst="line">
            <a:avLst/>
          </a:prstGeom>
          <a:ln w="99000">
            <a:solidFill>
              <a:srgbClr val="f01818">
                <a:alpha val="7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116 Forward process inset"/>
          <p:cNvSpPr/>
          <p:nvPr/>
        </p:nvSpPr>
        <p:spPr>
          <a:xfrm>
            <a:off x="2262960" y="3916440"/>
            <a:ext cx="1714680" cy="0"/>
          </a:xfrm>
          <a:prstGeom prst="line">
            <a:avLst/>
          </a:prstGeom>
          <a:ln w="53280">
            <a:solidFill>
              <a:srgbClr val="ffd8d8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117 Interaction graph Q"/>
          <p:cNvSpPr/>
          <p:nvPr/>
        </p:nvSpPr>
        <p:spPr>
          <a:xfrm>
            <a:off x="3886200" y="4724280"/>
            <a:ext cx="1965960" cy="1965960"/>
          </a:xfrm>
          <a:prstGeom prst="ellipse">
            <a:avLst/>
          </a:prstGeom>
          <a:solidFill>
            <a:srgbClr val="f7e4f3"/>
          </a:solidFill>
          <a:ln w="30240">
            <a:solidFill>
              <a:srgbClr val="3e0077"/>
            </a:solidFill>
            <a:round/>
          </a:ln>
        </p:spPr>
      </p:sp>
      <p:sp>
        <p:nvSpPr>
          <p:cNvPr id="160" name="118 Section title"/>
          <p:cNvSpPr txBox="1"/>
          <p:nvPr/>
        </p:nvSpPr>
        <p:spPr>
          <a:xfrm>
            <a:off x="2849760" y="5958720"/>
            <a:ext cx="114300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1" lang="en-US" sz="1140" spc="-1" strike="noStrike">
                <a:solidFill>
                  <a:srgbClr val="3e0077"/>
                </a:solidFill>
                <a:latin typeface="DejaVu Serif"/>
                <a:ea typeface="DejaVu Serif"/>
              </a:rPr>
              <a:t>Interaction</a:t>
            </a:r>
            <a:endParaRPr b="0" lang="en-US" sz="1140" spc="-1" strike="noStrike">
              <a:latin typeface="Arial"/>
            </a:endParaRPr>
          </a:p>
          <a:p>
            <a:pPr algn="ctr">
              <a:buNone/>
            </a:pPr>
            <a:r>
              <a:rPr b="1" lang="en-US" sz="1140" spc="-1" strike="noStrike">
                <a:solidFill>
                  <a:srgbClr val="3e0077"/>
                </a:solidFill>
                <a:latin typeface="DejaVu Serif"/>
                <a:ea typeface="DejaVu Serif"/>
              </a:rPr>
              <a:t>Graphs</a:t>
            </a:r>
            <a:endParaRPr b="0" lang="en-US" sz="1140" spc="-1" strike="noStrike">
              <a:latin typeface="Arial"/>
            </a:endParaRPr>
          </a:p>
        </p:txBody>
      </p:sp>
      <p:sp>
        <p:nvSpPr>
          <p:cNvPr id="161" name="119 Text"/>
          <p:cNvSpPr txBox="1"/>
          <p:nvPr/>
        </p:nvSpPr>
        <p:spPr>
          <a:xfrm>
            <a:off x="2697480" y="6446520"/>
            <a:ext cx="1371600" cy="2131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0" i="1" lang="en-US" sz="839" spc="-1" strike="noStrike">
                <a:solidFill>
                  <a:srgbClr val="3e0077"/>
                </a:solidFill>
                <a:latin typeface="DejaVu Serif"/>
                <a:ea typeface="DejaVu Serif"/>
              </a:rPr>
              <a:t>G_inter⁽Q⁾ = (U⁽Q⁾, εᵤ⁽Q⁾)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62" name="120 Interactions note"/>
          <p:cNvSpPr/>
          <p:nvPr/>
        </p:nvSpPr>
        <p:spPr>
          <a:xfrm>
            <a:off x="2689560" y="4739400"/>
            <a:ext cx="1203840" cy="1059120"/>
          </a:xfrm>
          <a:prstGeom prst="rect">
            <a:avLst/>
          </a:prstGeom>
          <a:solidFill>
            <a:srgbClr val="eee6ff"/>
          </a:solidFill>
          <a:ln w="10440">
            <a:solidFill>
              <a:srgbClr val="3e0077"/>
            </a:solidFill>
            <a:round/>
          </a:ln>
        </p:spPr>
      </p:sp>
      <p:sp>
        <p:nvSpPr>
          <p:cNvPr id="163" name="121 Interactions note tail"/>
          <p:cNvSpPr/>
          <p:nvPr/>
        </p:nvSpPr>
        <p:spPr>
          <a:xfrm>
            <a:off x="3886200" y="5463360"/>
            <a:ext cx="198000" cy="175320"/>
          </a:xfrm>
          <a:custGeom>
            <a:avLst/>
            <a:gdLst/>
            <a:ahLst/>
            <a:rect l="0" t="0" r="r" b="b"/>
            <a:pathLst>
              <a:path w="550" h="487">
                <a:moveTo>
                  <a:pt x="0" y="0"/>
                </a:moveTo>
                <a:lnTo>
                  <a:pt x="550" y="381"/>
                </a:lnTo>
                <a:lnTo>
                  <a:pt x="0" y="487"/>
                </a:lnTo>
                <a:lnTo>
                  <a:pt x="0" y="0"/>
                </a:lnTo>
                <a:close/>
              </a:path>
            </a:pathLst>
          </a:custGeom>
          <a:solidFill>
            <a:srgbClr val="eee6ff"/>
          </a:solidFill>
          <a:ln w="10440">
            <a:solidFill>
              <a:srgbClr val="3e0077"/>
            </a:solidFill>
            <a:round/>
          </a:ln>
        </p:spPr>
      </p:sp>
      <p:sp>
        <p:nvSpPr>
          <p:cNvPr id="164" name="122 Interactions label"/>
          <p:cNvSpPr/>
          <p:nvPr/>
        </p:nvSpPr>
        <p:spPr>
          <a:xfrm>
            <a:off x="2765880" y="4800600"/>
            <a:ext cx="952200" cy="205560"/>
          </a:xfrm>
          <a:prstGeom prst="rect">
            <a:avLst/>
          </a:prstGeom>
          <a:solidFill>
            <a:srgbClr val="eee6ff"/>
          </a:solidFill>
          <a:ln w="8280">
            <a:solidFill>
              <a:srgbClr val="7c5dad"/>
            </a:solidFill>
            <a:round/>
          </a:ln>
        </p:spPr>
      </p:sp>
      <p:sp>
        <p:nvSpPr>
          <p:cNvPr id="165" name="123 Text"/>
          <p:cNvSpPr txBox="1"/>
          <p:nvPr/>
        </p:nvSpPr>
        <p:spPr>
          <a:xfrm>
            <a:off x="2804040" y="4800600"/>
            <a:ext cx="876240" cy="2055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1" lang="en-US" sz="839" spc="-1" strike="noStrike">
                <a:solidFill>
                  <a:srgbClr val="222222"/>
                </a:solidFill>
                <a:latin typeface="DejaVu Serif"/>
                <a:ea typeface="DejaVu Serif"/>
              </a:rPr>
              <a:t>Interactions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66" name="124 Text"/>
          <p:cNvSpPr txBox="1"/>
          <p:nvPr/>
        </p:nvSpPr>
        <p:spPr>
          <a:xfrm>
            <a:off x="2765880" y="5036760"/>
            <a:ext cx="1081800" cy="6933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00" spc="-1" strike="noStrike">
                <a:solidFill>
                  <a:srgbClr val="222222"/>
                </a:solidFill>
                <a:latin typeface="Arial"/>
                <a:ea typeface="Arial"/>
              </a:rPr>
              <a:t>· CEO agent:</a:t>
            </a:r>
            <a:endParaRPr b="0" lang="en-US" sz="700" spc="-1" strike="noStrike">
              <a:latin typeface="Arial"/>
            </a:endParaRPr>
          </a:p>
          <a:p>
            <a:r>
              <a:rPr b="0" lang="en-US" sz="700" spc="-1" strike="noStrike">
                <a:solidFill>
                  <a:srgbClr val="222222"/>
                </a:solidFill>
                <a:latin typeface="Arial"/>
                <a:ea typeface="Arial"/>
              </a:rPr>
              <a:t>  </a:t>
            </a:r>
            <a:r>
              <a:rPr b="0" lang="en-US" sz="700" spc="-1" strike="noStrike">
                <a:solidFill>
                  <a:srgbClr val="222222"/>
                </a:solidFill>
                <a:latin typeface="Arial"/>
                <a:ea typeface="Arial"/>
              </a:rPr>
              <a:t>assigning tasks...</a:t>
            </a:r>
            <a:endParaRPr b="0" lang="en-US" sz="700" spc="-1" strike="noStrike">
              <a:latin typeface="Arial"/>
            </a:endParaRPr>
          </a:p>
          <a:p>
            <a:r>
              <a:rPr b="0" lang="en-US" sz="700" spc="-1" strike="noStrike">
                <a:solidFill>
                  <a:srgbClr val="222222"/>
                </a:solidFill>
                <a:latin typeface="Arial"/>
                <a:ea typeface="Arial"/>
              </a:rPr>
              <a:t>· Thinker agent:</a:t>
            </a:r>
            <a:endParaRPr b="0" lang="en-US" sz="700" spc="-1" strike="noStrike">
              <a:latin typeface="Arial"/>
            </a:endParaRPr>
          </a:p>
          <a:p>
            <a:r>
              <a:rPr b="0" lang="en-US" sz="700" spc="-1" strike="noStrike">
                <a:solidFill>
                  <a:srgbClr val="222222"/>
                </a:solidFill>
                <a:latin typeface="Arial"/>
                <a:ea typeface="Arial"/>
              </a:rPr>
              <a:t>  </a:t>
            </a:r>
            <a:r>
              <a:rPr b="0" lang="en-US" sz="700" spc="-1" strike="noStrike">
                <a:solidFill>
                  <a:srgbClr val="222222"/>
                </a:solidFill>
                <a:latin typeface="Arial"/>
                <a:ea typeface="Arial"/>
              </a:rPr>
              <a:t>OK, I will...</a:t>
            </a:r>
            <a:endParaRPr b="0" lang="en-US" sz="700" spc="-1" strike="noStrike">
              <a:latin typeface="Arial"/>
            </a:endParaRPr>
          </a:p>
          <a:p>
            <a:r>
              <a:rPr b="0" lang="en-US" sz="700" spc="-1" strike="noStrike">
                <a:solidFill>
                  <a:srgbClr val="222222"/>
                </a:solidFill>
                <a:latin typeface="Arial"/>
                <a:ea typeface="Arial"/>
              </a:rPr>
              <a:t>· Executor agent: ...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67" name="125 Graph edge"/>
          <p:cNvSpPr/>
          <p:nvPr/>
        </p:nvSpPr>
        <p:spPr>
          <a:xfrm flipH="1">
            <a:off x="4228920" y="5029200"/>
            <a:ext cx="640080" cy="35028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126 Graph edge"/>
          <p:cNvSpPr/>
          <p:nvPr/>
        </p:nvSpPr>
        <p:spPr>
          <a:xfrm>
            <a:off x="4228920" y="5379480"/>
            <a:ext cx="624960" cy="39636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127 Graph edge"/>
          <p:cNvSpPr/>
          <p:nvPr/>
        </p:nvSpPr>
        <p:spPr>
          <a:xfrm flipV="1">
            <a:off x="4853880" y="5394960"/>
            <a:ext cx="525600" cy="38088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128 Graph edge"/>
          <p:cNvSpPr/>
          <p:nvPr/>
        </p:nvSpPr>
        <p:spPr>
          <a:xfrm>
            <a:off x="4853880" y="5775840"/>
            <a:ext cx="510480" cy="44964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129 Graph edge"/>
          <p:cNvSpPr/>
          <p:nvPr/>
        </p:nvSpPr>
        <p:spPr>
          <a:xfrm flipH="1">
            <a:off x="4221360" y="5775840"/>
            <a:ext cx="632520" cy="29700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130 Graph edge"/>
          <p:cNvSpPr/>
          <p:nvPr/>
        </p:nvSpPr>
        <p:spPr>
          <a:xfrm>
            <a:off x="4221360" y="6072840"/>
            <a:ext cx="647640" cy="32796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131 Graph edge"/>
          <p:cNvSpPr/>
          <p:nvPr/>
        </p:nvSpPr>
        <p:spPr>
          <a:xfrm flipV="1">
            <a:off x="4869000" y="6149160"/>
            <a:ext cx="518040" cy="25164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132 Graph edge"/>
          <p:cNvSpPr/>
          <p:nvPr/>
        </p:nvSpPr>
        <p:spPr>
          <a:xfrm flipH="1" flipV="1">
            <a:off x="4853880" y="5029200"/>
            <a:ext cx="525600" cy="36576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133 Interaction agent"/>
          <p:cNvSpPr/>
          <p:nvPr/>
        </p:nvSpPr>
        <p:spPr>
          <a:xfrm>
            <a:off x="4739400" y="4899600"/>
            <a:ext cx="258840" cy="258840"/>
          </a:xfrm>
          <a:prstGeom prst="ellipse">
            <a:avLst/>
          </a:prstGeom>
          <a:solidFill>
            <a:srgbClr val="502084"/>
          </a:solidFill>
          <a:ln w="12600">
            <a:solidFill>
              <a:srgbClr val="222222"/>
            </a:solidFill>
            <a:round/>
          </a:ln>
        </p:spPr>
      </p:sp>
      <p:sp>
        <p:nvSpPr>
          <p:cNvPr id="176" name="134 Interaction agent screen"/>
          <p:cNvSpPr/>
          <p:nvPr/>
        </p:nvSpPr>
        <p:spPr>
          <a:xfrm>
            <a:off x="4793760" y="4979880"/>
            <a:ext cx="150120" cy="109800"/>
          </a:xfrm>
          <a:prstGeom prst="roundRect">
            <a:avLst/>
          </a:prstGeom>
          <a:solidFill>
            <a:srgbClr val="fff4b7"/>
          </a:solidFill>
          <a:ln w="9720">
            <a:solidFill>
              <a:srgbClr val="222222"/>
            </a:solidFill>
            <a:round/>
          </a:ln>
        </p:spPr>
      </p:sp>
      <p:sp>
        <p:nvSpPr>
          <p:cNvPr id="177" name="135 Interaction agent eye"/>
          <p:cNvSpPr/>
          <p:nvPr/>
        </p:nvSpPr>
        <p:spPr>
          <a:xfrm>
            <a:off x="4827600" y="501624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178" name="136 Interaction agent eye"/>
          <p:cNvSpPr/>
          <p:nvPr/>
        </p:nvSpPr>
        <p:spPr>
          <a:xfrm>
            <a:off x="4884480" y="501624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179" name="137 Graph edge"/>
          <p:cNvSpPr/>
          <p:nvPr/>
        </p:nvSpPr>
        <p:spPr>
          <a:xfrm>
            <a:off x="4823640" y="505764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138 Graph edge"/>
          <p:cNvSpPr/>
          <p:nvPr/>
        </p:nvSpPr>
        <p:spPr>
          <a:xfrm flipV="1">
            <a:off x="4869000" y="494100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139 Interaction agent antenna"/>
          <p:cNvSpPr/>
          <p:nvPr/>
        </p:nvSpPr>
        <p:spPr>
          <a:xfrm>
            <a:off x="4853880" y="492804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182" name="140 Interaction agent"/>
          <p:cNvSpPr/>
          <p:nvPr/>
        </p:nvSpPr>
        <p:spPr>
          <a:xfrm>
            <a:off x="4099320" y="524988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183" name="141 Interaction agent screen"/>
          <p:cNvSpPr/>
          <p:nvPr/>
        </p:nvSpPr>
        <p:spPr>
          <a:xfrm>
            <a:off x="4153680" y="5330160"/>
            <a:ext cx="150120" cy="109800"/>
          </a:xfrm>
          <a:prstGeom prst="roundRect">
            <a:avLst/>
          </a:prstGeom>
          <a:solidFill>
            <a:srgbClr val="ffd7ea"/>
          </a:solidFill>
          <a:ln w="9720">
            <a:solidFill>
              <a:srgbClr val="222222"/>
            </a:solidFill>
            <a:round/>
          </a:ln>
        </p:spPr>
      </p:sp>
      <p:sp>
        <p:nvSpPr>
          <p:cNvPr id="184" name="142 Interaction agent eye"/>
          <p:cNvSpPr/>
          <p:nvPr/>
        </p:nvSpPr>
        <p:spPr>
          <a:xfrm>
            <a:off x="4187520" y="536652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185" name="143 Interaction agent eye"/>
          <p:cNvSpPr/>
          <p:nvPr/>
        </p:nvSpPr>
        <p:spPr>
          <a:xfrm>
            <a:off x="4244400" y="536652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186" name="144 Graph edge"/>
          <p:cNvSpPr/>
          <p:nvPr/>
        </p:nvSpPr>
        <p:spPr>
          <a:xfrm>
            <a:off x="4183560" y="540792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145 Graph edge"/>
          <p:cNvSpPr/>
          <p:nvPr/>
        </p:nvSpPr>
        <p:spPr>
          <a:xfrm flipV="1">
            <a:off x="4228920" y="529128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146 Interaction agent antenna"/>
          <p:cNvSpPr/>
          <p:nvPr/>
        </p:nvSpPr>
        <p:spPr>
          <a:xfrm>
            <a:off x="4213800" y="527832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189" name="147 Interaction agent"/>
          <p:cNvSpPr/>
          <p:nvPr/>
        </p:nvSpPr>
        <p:spPr>
          <a:xfrm>
            <a:off x="5249880" y="526536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190" name="148 Interaction agent screen"/>
          <p:cNvSpPr/>
          <p:nvPr/>
        </p:nvSpPr>
        <p:spPr>
          <a:xfrm>
            <a:off x="5304600" y="5345640"/>
            <a:ext cx="150120" cy="109800"/>
          </a:xfrm>
          <a:prstGeom prst="roundRect">
            <a:avLst/>
          </a:prstGeom>
          <a:solidFill>
            <a:srgbClr val="e6e6db"/>
          </a:solidFill>
          <a:ln w="9720">
            <a:solidFill>
              <a:srgbClr val="222222"/>
            </a:solidFill>
            <a:round/>
          </a:ln>
        </p:spPr>
      </p:sp>
      <p:sp>
        <p:nvSpPr>
          <p:cNvPr id="191" name="149 Interaction agent eye"/>
          <p:cNvSpPr/>
          <p:nvPr/>
        </p:nvSpPr>
        <p:spPr>
          <a:xfrm>
            <a:off x="5338080" y="538200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192" name="150 Interaction agent eye"/>
          <p:cNvSpPr/>
          <p:nvPr/>
        </p:nvSpPr>
        <p:spPr>
          <a:xfrm>
            <a:off x="5394960" y="538200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193" name="151 Graph edge"/>
          <p:cNvSpPr/>
          <p:nvPr/>
        </p:nvSpPr>
        <p:spPr>
          <a:xfrm>
            <a:off x="5334120" y="542340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152 Graph edge"/>
          <p:cNvSpPr/>
          <p:nvPr/>
        </p:nvSpPr>
        <p:spPr>
          <a:xfrm flipV="1">
            <a:off x="5379480" y="530676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153 Interaction agent antenna"/>
          <p:cNvSpPr/>
          <p:nvPr/>
        </p:nvSpPr>
        <p:spPr>
          <a:xfrm>
            <a:off x="5364360" y="529380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196" name="154 Interaction agent"/>
          <p:cNvSpPr/>
          <p:nvPr/>
        </p:nvSpPr>
        <p:spPr>
          <a:xfrm>
            <a:off x="4724280" y="564624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197" name="155 Interaction agent screen"/>
          <p:cNvSpPr/>
          <p:nvPr/>
        </p:nvSpPr>
        <p:spPr>
          <a:xfrm>
            <a:off x="4778640" y="5726520"/>
            <a:ext cx="150120" cy="109800"/>
          </a:xfrm>
          <a:prstGeom prst="roundRect">
            <a:avLst/>
          </a:prstGeom>
          <a:solidFill>
            <a:srgbClr val="fff4b7"/>
          </a:solidFill>
          <a:ln w="9720">
            <a:solidFill>
              <a:srgbClr val="222222"/>
            </a:solidFill>
            <a:round/>
          </a:ln>
        </p:spPr>
      </p:sp>
      <p:sp>
        <p:nvSpPr>
          <p:cNvPr id="198" name="156 Interaction agent eye"/>
          <p:cNvSpPr/>
          <p:nvPr/>
        </p:nvSpPr>
        <p:spPr>
          <a:xfrm>
            <a:off x="4812480" y="576288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199" name="157 Interaction agent eye"/>
          <p:cNvSpPr/>
          <p:nvPr/>
        </p:nvSpPr>
        <p:spPr>
          <a:xfrm>
            <a:off x="4869360" y="576288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200" name="158 Graph edge"/>
          <p:cNvSpPr/>
          <p:nvPr/>
        </p:nvSpPr>
        <p:spPr>
          <a:xfrm>
            <a:off x="4808520" y="580428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159 Graph edge"/>
          <p:cNvSpPr/>
          <p:nvPr/>
        </p:nvSpPr>
        <p:spPr>
          <a:xfrm flipV="1">
            <a:off x="4853880" y="568764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160 Interaction agent antenna"/>
          <p:cNvSpPr/>
          <p:nvPr/>
        </p:nvSpPr>
        <p:spPr>
          <a:xfrm>
            <a:off x="4838400" y="567468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203" name="161 Interaction agent"/>
          <p:cNvSpPr/>
          <p:nvPr/>
        </p:nvSpPr>
        <p:spPr>
          <a:xfrm>
            <a:off x="4091760" y="594360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204" name="162 Interaction agent screen"/>
          <p:cNvSpPr/>
          <p:nvPr/>
        </p:nvSpPr>
        <p:spPr>
          <a:xfrm>
            <a:off x="4146120" y="6023880"/>
            <a:ext cx="150120" cy="109800"/>
          </a:xfrm>
          <a:prstGeom prst="roundRect">
            <a:avLst/>
          </a:prstGeom>
          <a:solidFill>
            <a:srgbClr val="e3a5ff"/>
          </a:solidFill>
          <a:ln w="9720">
            <a:solidFill>
              <a:srgbClr val="222222"/>
            </a:solidFill>
            <a:round/>
          </a:ln>
        </p:spPr>
      </p:sp>
      <p:sp>
        <p:nvSpPr>
          <p:cNvPr id="205" name="163 Interaction agent eye"/>
          <p:cNvSpPr/>
          <p:nvPr/>
        </p:nvSpPr>
        <p:spPr>
          <a:xfrm>
            <a:off x="4179960" y="605988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206" name="164 Interaction agent eye"/>
          <p:cNvSpPr/>
          <p:nvPr/>
        </p:nvSpPr>
        <p:spPr>
          <a:xfrm>
            <a:off x="4236840" y="605988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207" name="165 Graph edge"/>
          <p:cNvSpPr/>
          <p:nvPr/>
        </p:nvSpPr>
        <p:spPr>
          <a:xfrm>
            <a:off x="4176000" y="610128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166 Graph edge"/>
          <p:cNvSpPr/>
          <p:nvPr/>
        </p:nvSpPr>
        <p:spPr>
          <a:xfrm flipV="1">
            <a:off x="4221360" y="598500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167 Interaction agent antenna"/>
          <p:cNvSpPr/>
          <p:nvPr/>
        </p:nvSpPr>
        <p:spPr>
          <a:xfrm>
            <a:off x="4206240" y="597204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210" name="168 Interaction agent"/>
          <p:cNvSpPr/>
          <p:nvPr/>
        </p:nvSpPr>
        <p:spPr>
          <a:xfrm>
            <a:off x="5234760" y="609588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211" name="169 Interaction agent screen"/>
          <p:cNvSpPr/>
          <p:nvPr/>
        </p:nvSpPr>
        <p:spPr>
          <a:xfrm>
            <a:off x="5289120" y="6176160"/>
            <a:ext cx="150120" cy="109800"/>
          </a:xfrm>
          <a:prstGeom prst="roundRect">
            <a:avLst/>
          </a:prstGeom>
          <a:solidFill>
            <a:srgbClr val="efecd5"/>
          </a:solidFill>
          <a:ln w="9720">
            <a:solidFill>
              <a:srgbClr val="222222"/>
            </a:solidFill>
            <a:round/>
          </a:ln>
        </p:spPr>
      </p:sp>
      <p:sp>
        <p:nvSpPr>
          <p:cNvPr id="212" name="170 Interaction agent eye"/>
          <p:cNvSpPr/>
          <p:nvPr/>
        </p:nvSpPr>
        <p:spPr>
          <a:xfrm>
            <a:off x="5322960" y="621252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213" name="171 Interaction agent eye"/>
          <p:cNvSpPr/>
          <p:nvPr/>
        </p:nvSpPr>
        <p:spPr>
          <a:xfrm>
            <a:off x="5379840" y="621252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214" name="172 Graph edge"/>
          <p:cNvSpPr/>
          <p:nvPr/>
        </p:nvSpPr>
        <p:spPr>
          <a:xfrm>
            <a:off x="5319000" y="625392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173 Graph edge"/>
          <p:cNvSpPr/>
          <p:nvPr/>
        </p:nvSpPr>
        <p:spPr>
          <a:xfrm flipV="1">
            <a:off x="5364360" y="613728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174 Interaction agent antenna"/>
          <p:cNvSpPr/>
          <p:nvPr/>
        </p:nvSpPr>
        <p:spPr>
          <a:xfrm>
            <a:off x="5349240" y="612432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217" name="175 Interaction agent"/>
          <p:cNvSpPr/>
          <p:nvPr/>
        </p:nvSpPr>
        <p:spPr>
          <a:xfrm>
            <a:off x="4739400" y="627120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218" name="176 Interaction agent screen"/>
          <p:cNvSpPr/>
          <p:nvPr/>
        </p:nvSpPr>
        <p:spPr>
          <a:xfrm>
            <a:off x="4793760" y="6351480"/>
            <a:ext cx="150120" cy="109800"/>
          </a:xfrm>
          <a:prstGeom prst="roundRect">
            <a:avLst/>
          </a:prstGeom>
          <a:solidFill>
            <a:srgbClr val="ffd3e3"/>
          </a:solidFill>
          <a:ln w="9720">
            <a:solidFill>
              <a:srgbClr val="222222"/>
            </a:solidFill>
            <a:round/>
          </a:ln>
        </p:spPr>
      </p:sp>
      <p:sp>
        <p:nvSpPr>
          <p:cNvPr id="219" name="177 Interaction agent eye"/>
          <p:cNvSpPr/>
          <p:nvPr/>
        </p:nvSpPr>
        <p:spPr>
          <a:xfrm>
            <a:off x="4827600" y="638784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220" name="178 Interaction agent eye"/>
          <p:cNvSpPr/>
          <p:nvPr/>
        </p:nvSpPr>
        <p:spPr>
          <a:xfrm>
            <a:off x="4884480" y="638784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221" name="179 Graph edge"/>
          <p:cNvSpPr/>
          <p:nvPr/>
        </p:nvSpPr>
        <p:spPr>
          <a:xfrm>
            <a:off x="4823640" y="642924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180 Graph edge"/>
          <p:cNvSpPr/>
          <p:nvPr/>
        </p:nvSpPr>
        <p:spPr>
          <a:xfrm flipV="1">
            <a:off x="4869000" y="631260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181 Interaction agent antenna"/>
          <p:cNvSpPr/>
          <p:nvPr/>
        </p:nvSpPr>
        <p:spPr>
          <a:xfrm>
            <a:off x="4853880" y="629964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224" name="182 Graph edge"/>
          <p:cNvSpPr/>
          <p:nvPr/>
        </p:nvSpPr>
        <p:spPr>
          <a:xfrm>
            <a:off x="4503240" y="3855600"/>
            <a:ext cx="830520" cy="945000"/>
          </a:xfrm>
          <a:prstGeom prst="line">
            <a:avLst/>
          </a:prstGeom>
          <a:ln w="18000">
            <a:solidFill>
              <a:srgbClr val="888888"/>
            </a:solidFill>
            <a:custDash>
              <a:ds d="40000" sp="40000"/>
              <a:ds d="40000" sp="40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183 Graph edge"/>
          <p:cNvSpPr/>
          <p:nvPr/>
        </p:nvSpPr>
        <p:spPr>
          <a:xfrm>
            <a:off x="5059440" y="4076640"/>
            <a:ext cx="830520" cy="853200"/>
          </a:xfrm>
          <a:prstGeom prst="line">
            <a:avLst/>
          </a:prstGeom>
          <a:ln w="18000">
            <a:solidFill>
              <a:srgbClr val="888888"/>
            </a:solidFill>
            <a:custDash>
              <a:ds d="40000" sp="40000"/>
              <a:ds d="40000" sp="40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184 Graph edge"/>
          <p:cNvSpPr/>
          <p:nvPr/>
        </p:nvSpPr>
        <p:spPr>
          <a:xfrm flipV="1">
            <a:off x="5364360" y="6347160"/>
            <a:ext cx="921960" cy="190800"/>
          </a:xfrm>
          <a:prstGeom prst="line">
            <a:avLst/>
          </a:prstGeom>
          <a:ln w="18000">
            <a:solidFill>
              <a:srgbClr val="888888"/>
            </a:solidFill>
            <a:custDash>
              <a:ds d="40000" sp="40000"/>
              <a:ds d="40000" sp="40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185 Distilled insights panel back 2"/>
          <p:cNvSpPr/>
          <p:nvPr/>
        </p:nvSpPr>
        <p:spPr>
          <a:xfrm>
            <a:off x="6126480" y="487440"/>
            <a:ext cx="3543120" cy="1508760"/>
          </a:xfrm>
          <a:prstGeom prst="rect">
            <a:avLst/>
          </a:prstGeom>
          <a:solidFill>
            <a:srgbClr val="dfeeda">
              <a:alpha val="58000"/>
            </a:srgbClr>
          </a:solidFill>
          <a:ln w="11160">
            <a:solidFill>
              <a:srgbClr val="6b8e88">
                <a:alpha val="58000"/>
              </a:srgbClr>
            </a:solidFill>
            <a:round/>
          </a:ln>
        </p:spPr>
      </p:sp>
      <p:sp>
        <p:nvSpPr>
          <p:cNvPr id="228" name="186 Distilled insights panel back 1"/>
          <p:cNvSpPr/>
          <p:nvPr/>
        </p:nvSpPr>
        <p:spPr>
          <a:xfrm>
            <a:off x="6072840" y="434160"/>
            <a:ext cx="3543120" cy="1508760"/>
          </a:xfrm>
          <a:prstGeom prst="rect">
            <a:avLst/>
          </a:prstGeom>
          <a:solidFill>
            <a:srgbClr val="dfeeda">
              <a:alpha val="58000"/>
            </a:srgbClr>
          </a:solidFill>
          <a:ln w="11160">
            <a:solidFill>
              <a:srgbClr val="6b8e88">
                <a:alpha val="58000"/>
              </a:srgbClr>
            </a:solidFill>
            <a:round/>
          </a:ln>
        </p:spPr>
      </p:sp>
      <p:sp>
        <p:nvSpPr>
          <p:cNvPr id="229" name="187 Distilled insights panel"/>
          <p:cNvSpPr/>
          <p:nvPr/>
        </p:nvSpPr>
        <p:spPr>
          <a:xfrm>
            <a:off x="6019560" y="380880"/>
            <a:ext cx="3543120" cy="1508760"/>
          </a:xfrm>
          <a:prstGeom prst="rect">
            <a:avLst/>
          </a:prstGeom>
          <a:solidFill>
            <a:srgbClr val="dfeeda"/>
          </a:solidFill>
          <a:ln w="15120">
            <a:solidFill>
              <a:srgbClr val="6b8e88"/>
            </a:solidFill>
            <a:round/>
          </a:ln>
        </p:spPr>
      </p:sp>
      <p:sp>
        <p:nvSpPr>
          <p:cNvPr id="230" name="188 Section title"/>
          <p:cNvSpPr txBox="1"/>
          <p:nvPr/>
        </p:nvSpPr>
        <p:spPr>
          <a:xfrm>
            <a:off x="6172200" y="510480"/>
            <a:ext cx="205740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1" lang="en-US" sz="1260" spc="-1" strike="noStrike">
                <a:solidFill>
                  <a:srgbClr val="222222"/>
                </a:solidFill>
                <a:latin typeface="DejaVu Serif"/>
                <a:ea typeface="DejaVu Serif"/>
              </a:rPr>
              <a:t>Distilled Insights</a:t>
            </a:r>
            <a:endParaRPr b="0" lang="en-US" sz="1260" spc="-1" strike="noStrike">
              <a:latin typeface="Arial"/>
            </a:endParaRPr>
          </a:p>
        </p:txBody>
      </p:sp>
      <p:sp>
        <p:nvSpPr>
          <p:cNvPr id="231" name="189 Insight bulb"/>
          <p:cNvSpPr/>
          <p:nvPr/>
        </p:nvSpPr>
        <p:spPr>
          <a:xfrm>
            <a:off x="6256080" y="769320"/>
            <a:ext cx="213120" cy="213120"/>
          </a:xfrm>
          <a:prstGeom prst="ellipse">
            <a:avLst/>
          </a:prstGeom>
          <a:solidFill>
            <a:srgbClr val="ffe281"/>
          </a:solidFill>
          <a:ln w="9720">
            <a:solidFill>
              <a:srgbClr val="222222"/>
            </a:solidFill>
            <a:round/>
          </a:ln>
        </p:spPr>
      </p:sp>
      <p:sp>
        <p:nvSpPr>
          <p:cNvPr id="232" name="190 Bulb base"/>
          <p:cNvSpPr/>
          <p:nvPr/>
        </p:nvSpPr>
        <p:spPr>
          <a:xfrm>
            <a:off x="6324480" y="967680"/>
            <a:ext cx="75960" cy="68400"/>
          </a:xfrm>
          <a:prstGeom prst="roundRect">
            <a:avLst/>
          </a:prstGeom>
          <a:solidFill>
            <a:srgbClr val="d7d7ef"/>
          </a:solidFill>
          <a:ln w="7560">
            <a:solidFill>
              <a:srgbClr val="222222"/>
            </a:solidFill>
            <a:round/>
          </a:ln>
        </p:spPr>
      </p:sp>
      <p:sp>
        <p:nvSpPr>
          <p:cNvPr id="233" name="191 Graph edge"/>
          <p:cNvSpPr/>
          <p:nvPr/>
        </p:nvSpPr>
        <p:spPr>
          <a:xfrm flipH="1" flipV="1">
            <a:off x="6309000" y="723600"/>
            <a:ext cx="53640" cy="15480"/>
          </a:xfrm>
          <a:prstGeom prst="line">
            <a:avLst/>
          </a:prstGeom>
          <a:ln w="756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192 Graph edge"/>
          <p:cNvSpPr/>
          <p:nvPr/>
        </p:nvSpPr>
        <p:spPr>
          <a:xfrm flipV="1">
            <a:off x="6362640" y="677880"/>
            <a:ext cx="0" cy="61200"/>
          </a:xfrm>
          <a:prstGeom prst="line">
            <a:avLst/>
          </a:prstGeom>
          <a:ln w="756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193 Graph edge"/>
          <p:cNvSpPr/>
          <p:nvPr/>
        </p:nvSpPr>
        <p:spPr>
          <a:xfrm flipV="1">
            <a:off x="6362640" y="723600"/>
            <a:ext cx="53640" cy="15480"/>
          </a:xfrm>
          <a:prstGeom prst="line">
            <a:avLst/>
          </a:prstGeom>
          <a:ln w="756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194 Text"/>
          <p:cNvSpPr txBox="1"/>
          <p:nvPr/>
        </p:nvSpPr>
        <p:spPr>
          <a:xfrm>
            <a:off x="6568200" y="746640"/>
            <a:ext cx="1790640" cy="4874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Insight 1: Clearly identify key</a:t>
            </a:r>
            <a:endParaRPr b="0" lang="en-US" sz="770" spc="-1" strike="noStrike">
              <a:latin typeface="Arial"/>
            </a:endParaRPr>
          </a:p>
          <a:p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entities and their roles, use</a:t>
            </a:r>
            <a:endParaRPr b="0" lang="en-US" sz="770" spc="-1" strike="noStrike">
              <a:latin typeface="Arial"/>
            </a:endParaRPr>
          </a:p>
          <a:p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specific names and titles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237" name="195 Text"/>
          <p:cNvSpPr txBox="1"/>
          <p:nvPr/>
        </p:nvSpPr>
        <p:spPr>
          <a:xfrm>
            <a:off x="8336160" y="944640"/>
            <a:ext cx="510480" cy="1904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 Serif"/>
                <a:ea typeface="DejaVu Serif"/>
              </a:rPr>
              <a:t>from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238" name="196 Insight source agent"/>
          <p:cNvSpPr/>
          <p:nvPr/>
        </p:nvSpPr>
        <p:spPr>
          <a:xfrm>
            <a:off x="8945640" y="845640"/>
            <a:ext cx="258840" cy="258840"/>
          </a:xfrm>
          <a:prstGeom prst="ellipse">
            <a:avLst/>
          </a:prstGeom>
          <a:solidFill>
            <a:srgbClr val="4a1687"/>
          </a:solidFill>
          <a:ln w="12600">
            <a:solidFill>
              <a:srgbClr val="222222"/>
            </a:solidFill>
            <a:round/>
          </a:ln>
        </p:spPr>
      </p:sp>
      <p:sp>
        <p:nvSpPr>
          <p:cNvPr id="239" name="197 Insight source agent screen"/>
          <p:cNvSpPr/>
          <p:nvPr/>
        </p:nvSpPr>
        <p:spPr>
          <a:xfrm>
            <a:off x="9000360" y="925920"/>
            <a:ext cx="150120" cy="109800"/>
          </a:xfrm>
          <a:prstGeom prst="roundRect">
            <a:avLst/>
          </a:prstGeom>
          <a:solidFill>
            <a:srgbClr val="fff4b7"/>
          </a:solidFill>
          <a:ln w="9720">
            <a:solidFill>
              <a:srgbClr val="222222"/>
            </a:solidFill>
            <a:round/>
          </a:ln>
        </p:spPr>
      </p:sp>
      <p:sp>
        <p:nvSpPr>
          <p:cNvPr id="240" name="198 Insight source agent eye"/>
          <p:cNvSpPr/>
          <p:nvPr/>
        </p:nvSpPr>
        <p:spPr>
          <a:xfrm>
            <a:off x="9033840" y="96228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241" name="199 Insight source agent eye"/>
          <p:cNvSpPr/>
          <p:nvPr/>
        </p:nvSpPr>
        <p:spPr>
          <a:xfrm>
            <a:off x="9090720" y="96228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242" name="200 Graph edge"/>
          <p:cNvSpPr/>
          <p:nvPr/>
        </p:nvSpPr>
        <p:spPr>
          <a:xfrm>
            <a:off x="9029880" y="100368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201 Graph edge"/>
          <p:cNvSpPr/>
          <p:nvPr/>
        </p:nvSpPr>
        <p:spPr>
          <a:xfrm flipV="1">
            <a:off x="9075240" y="88704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202 Insight source agent antenna"/>
          <p:cNvSpPr/>
          <p:nvPr/>
        </p:nvSpPr>
        <p:spPr>
          <a:xfrm>
            <a:off x="9060120" y="87408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245" name="203 Insight bulb"/>
          <p:cNvSpPr/>
          <p:nvPr/>
        </p:nvSpPr>
        <p:spPr>
          <a:xfrm>
            <a:off x="6256080" y="1341000"/>
            <a:ext cx="213120" cy="213120"/>
          </a:xfrm>
          <a:prstGeom prst="ellipse">
            <a:avLst/>
          </a:prstGeom>
          <a:solidFill>
            <a:srgbClr val="ffe281"/>
          </a:solidFill>
          <a:ln w="9720">
            <a:solidFill>
              <a:srgbClr val="222222"/>
            </a:solidFill>
            <a:round/>
          </a:ln>
        </p:spPr>
      </p:sp>
      <p:sp>
        <p:nvSpPr>
          <p:cNvPr id="246" name="204 Bulb base"/>
          <p:cNvSpPr/>
          <p:nvPr/>
        </p:nvSpPr>
        <p:spPr>
          <a:xfrm>
            <a:off x="6324480" y="1539000"/>
            <a:ext cx="75960" cy="68400"/>
          </a:xfrm>
          <a:prstGeom prst="roundRect">
            <a:avLst/>
          </a:prstGeom>
          <a:solidFill>
            <a:srgbClr val="d7d7ef"/>
          </a:solidFill>
          <a:ln w="7560">
            <a:solidFill>
              <a:srgbClr val="222222"/>
            </a:solidFill>
            <a:round/>
          </a:ln>
        </p:spPr>
      </p:sp>
      <p:sp>
        <p:nvSpPr>
          <p:cNvPr id="247" name="205 Graph edge"/>
          <p:cNvSpPr/>
          <p:nvPr/>
        </p:nvSpPr>
        <p:spPr>
          <a:xfrm flipH="1" flipV="1">
            <a:off x="6309000" y="1295280"/>
            <a:ext cx="53640" cy="15120"/>
          </a:xfrm>
          <a:prstGeom prst="line">
            <a:avLst/>
          </a:prstGeom>
          <a:ln w="756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206 Graph edge"/>
          <p:cNvSpPr/>
          <p:nvPr/>
        </p:nvSpPr>
        <p:spPr>
          <a:xfrm flipV="1">
            <a:off x="6362640" y="1249560"/>
            <a:ext cx="0" cy="60840"/>
          </a:xfrm>
          <a:prstGeom prst="line">
            <a:avLst/>
          </a:prstGeom>
          <a:ln w="756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207 Graph edge"/>
          <p:cNvSpPr/>
          <p:nvPr/>
        </p:nvSpPr>
        <p:spPr>
          <a:xfrm flipV="1">
            <a:off x="6362640" y="1295280"/>
            <a:ext cx="53640" cy="15120"/>
          </a:xfrm>
          <a:prstGeom prst="line">
            <a:avLst/>
          </a:prstGeom>
          <a:ln w="756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208 Text"/>
          <p:cNvSpPr txBox="1"/>
          <p:nvPr/>
        </p:nvSpPr>
        <p:spPr>
          <a:xfrm>
            <a:off x="6568200" y="1310400"/>
            <a:ext cx="1600200" cy="518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Insight 2: Double-</a:t>
            </a:r>
            <a:endParaRPr b="0" lang="en-US" sz="770" spc="-1" strike="noStrike">
              <a:latin typeface="Arial"/>
            </a:endParaRPr>
          </a:p>
          <a:p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check the relevance</a:t>
            </a:r>
            <a:endParaRPr b="0" lang="en-US" sz="770" spc="-1" strike="noStrike">
              <a:latin typeface="Arial"/>
            </a:endParaRPr>
          </a:p>
          <a:p>
            <a:r>
              <a:rPr b="0" lang="en-US" sz="770" spc="-1" strike="noStrike">
                <a:solidFill>
                  <a:srgbClr val="222222"/>
                </a:solidFill>
                <a:latin typeface="Arial"/>
                <a:ea typeface="Arial"/>
              </a:rPr>
              <a:t>of the search results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251" name="209 Text"/>
          <p:cNvSpPr txBox="1"/>
          <p:nvPr/>
        </p:nvSpPr>
        <p:spPr>
          <a:xfrm>
            <a:off x="7833240" y="1485720"/>
            <a:ext cx="441720" cy="1904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 Serif"/>
                <a:ea typeface="DejaVu Serif"/>
              </a:rPr>
              <a:t>from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252" name="210 Insight source agent"/>
          <p:cNvSpPr/>
          <p:nvPr/>
        </p:nvSpPr>
        <p:spPr>
          <a:xfrm>
            <a:off x="8267760" y="1424880"/>
            <a:ext cx="258840" cy="258840"/>
          </a:xfrm>
          <a:prstGeom prst="ellipse">
            <a:avLst/>
          </a:prstGeom>
          <a:solidFill>
            <a:srgbClr val="4a1687"/>
          </a:solidFill>
          <a:ln w="12600">
            <a:solidFill>
              <a:srgbClr val="222222"/>
            </a:solidFill>
            <a:round/>
          </a:ln>
        </p:spPr>
      </p:sp>
      <p:sp>
        <p:nvSpPr>
          <p:cNvPr id="253" name="211 Insight source agent screen"/>
          <p:cNvSpPr/>
          <p:nvPr/>
        </p:nvSpPr>
        <p:spPr>
          <a:xfrm>
            <a:off x="8322120" y="1505160"/>
            <a:ext cx="150120" cy="109800"/>
          </a:xfrm>
          <a:prstGeom prst="roundRect">
            <a:avLst/>
          </a:prstGeom>
          <a:solidFill>
            <a:srgbClr val="fff4b7"/>
          </a:solidFill>
          <a:ln w="9720">
            <a:solidFill>
              <a:srgbClr val="222222"/>
            </a:solidFill>
            <a:round/>
          </a:ln>
        </p:spPr>
      </p:sp>
      <p:sp>
        <p:nvSpPr>
          <p:cNvPr id="254" name="212 Insight source agent eye"/>
          <p:cNvSpPr/>
          <p:nvPr/>
        </p:nvSpPr>
        <p:spPr>
          <a:xfrm>
            <a:off x="8355600" y="154152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255" name="213 Insight source agent eye"/>
          <p:cNvSpPr/>
          <p:nvPr/>
        </p:nvSpPr>
        <p:spPr>
          <a:xfrm>
            <a:off x="8412840" y="154152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256" name="214 Graph edge"/>
          <p:cNvSpPr/>
          <p:nvPr/>
        </p:nvSpPr>
        <p:spPr>
          <a:xfrm>
            <a:off x="8351640" y="158292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215 Graph edge"/>
          <p:cNvSpPr/>
          <p:nvPr/>
        </p:nvSpPr>
        <p:spPr>
          <a:xfrm flipV="1">
            <a:off x="8397000" y="146628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216 Insight source agent antenna"/>
          <p:cNvSpPr/>
          <p:nvPr/>
        </p:nvSpPr>
        <p:spPr>
          <a:xfrm>
            <a:off x="8381880" y="145332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259" name="217 Text"/>
          <p:cNvSpPr txBox="1"/>
          <p:nvPr/>
        </p:nvSpPr>
        <p:spPr>
          <a:xfrm>
            <a:off x="8595360" y="1470600"/>
            <a:ext cx="243720" cy="2131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lang="en-US" sz="839" spc="-1" strike="noStrike">
                <a:solidFill>
                  <a:srgbClr val="222222"/>
                </a:solidFill>
                <a:latin typeface="DejaVu Serif"/>
                <a:ea typeface="DejaVu Serif"/>
              </a:rPr>
              <a:t>and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260" name="218 Insight source agent"/>
          <p:cNvSpPr/>
          <p:nvPr/>
        </p:nvSpPr>
        <p:spPr>
          <a:xfrm>
            <a:off x="8953560" y="1424880"/>
            <a:ext cx="258840" cy="258840"/>
          </a:xfrm>
          <a:prstGeom prst="ellipse">
            <a:avLst/>
          </a:prstGeom>
          <a:solidFill>
            <a:srgbClr val="4a1687"/>
          </a:solidFill>
          <a:ln w="12600">
            <a:solidFill>
              <a:srgbClr val="222222"/>
            </a:solidFill>
            <a:round/>
          </a:ln>
        </p:spPr>
      </p:sp>
      <p:sp>
        <p:nvSpPr>
          <p:cNvPr id="261" name="219 Insight source agent screen"/>
          <p:cNvSpPr/>
          <p:nvPr/>
        </p:nvSpPr>
        <p:spPr>
          <a:xfrm>
            <a:off x="9007920" y="1505160"/>
            <a:ext cx="150120" cy="109800"/>
          </a:xfrm>
          <a:prstGeom prst="roundRect">
            <a:avLst/>
          </a:prstGeom>
          <a:solidFill>
            <a:srgbClr val="ffd1df"/>
          </a:solidFill>
          <a:ln w="9720">
            <a:solidFill>
              <a:srgbClr val="222222"/>
            </a:solidFill>
            <a:round/>
          </a:ln>
        </p:spPr>
      </p:sp>
      <p:sp>
        <p:nvSpPr>
          <p:cNvPr id="262" name="220 Insight source agent eye"/>
          <p:cNvSpPr/>
          <p:nvPr/>
        </p:nvSpPr>
        <p:spPr>
          <a:xfrm>
            <a:off x="9041400" y="154152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263" name="221 Insight source agent eye"/>
          <p:cNvSpPr/>
          <p:nvPr/>
        </p:nvSpPr>
        <p:spPr>
          <a:xfrm>
            <a:off x="9098640" y="154152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264" name="222 Graph edge"/>
          <p:cNvSpPr/>
          <p:nvPr/>
        </p:nvSpPr>
        <p:spPr>
          <a:xfrm>
            <a:off x="9037440" y="158292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223 Graph edge"/>
          <p:cNvSpPr/>
          <p:nvPr/>
        </p:nvSpPr>
        <p:spPr>
          <a:xfrm flipV="1">
            <a:off x="9082800" y="146628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224 Insight source agent antenna"/>
          <p:cNvSpPr/>
          <p:nvPr/>
        </p:nvSpPr>
        <p:spPr>
          <a:xfrm>
            <a:off x="9067680" y="145332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267" name="225 Forward process"/>
          <p:cNvSpPr/>
          <p:nvPr/>
        </p:nvSpPr>
        <p:spPr>
          <a:xfrm>
            <a:off x="5684400" y="1562040"/>
            <a:ext cx="457200" cy="0"/>
          </a:xfrm>
          <a:prstGeom prst="line">
            <a:avLst/>
          </a:prstGeom>
          <a:ln w="99000">
            <a:solidFill>
              <a:srgbClr val="f01818">
                <a:alpha val="7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226 Forward process inset"/>
          <p:cNvSpPr/>
          <p:nvPr/>
        </p:nvSpPr>
        <p:spPr>
          <a:xfrm>
            <a:off x="5684400" y="1562040"/>
            <a:ext cx="320040" cy="0"/>
          </a:xfrm>
          <a:prstGeom prst="line">
            <a:avLst/>
          </a:prstGeom>
          <a:ln w="53280">
            <a:solidFill>
              <a:srgbClr val="ffd8d8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227 Text"/>
          <p:cNvSpPr txBox="1"/>
          <p:nvPr/>
        </p:nvSpPr>
        <p:spPr>
          <a:xfrm>
            <a:off x="6735960" y="1973520"/>
            <a:ext cx="2361960" cy="2743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1" i="1" lang="en-US" sz="1080" spc="-1" strike="noStrike">
                <a:solidFill>
                  <a:srgbClr val="f01818"/>
                </a:solidFill>
                <a:latin typeface="DejaVu Serif"/>
                <a:ea typeface="DejaVu Serif"/>
              </a:rPr>
              <a:t>Memory     Augmentation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270" name="228 Forward process"/>
          <p:cNvSpPr/>
          <p:nvPr/>
        </p:nvSpPr>
        <p:spPr>
          <a:xfrm>
            <a:off x="7688520" y="1820880"/>
            <a:ext cx="0" cy="564120"/>
          </a:xfrm>
          <a:prstGeom prst="line">
            <a:avLst/>
          </a:prstGeom>
          <a:ln w="99000">
            <a:solidFill>
              <a:srgbClr val="f01818">
                <a:alpha val="7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229 Forward process inset"/>
          <p:cNvSpPr/>
          <p:nvPr/>
        </p:nvSpPr>
        <p:spPr>
          <a:xfrm>
            <a:off x="7688520" y="1820880"/>
            <a:ext cx="0" cy="426960"/>
          </a:xfrm>
          <a:prstGeom prst="line">
            <a:avLst/>
          </a:prstGeom>
          <a:ln w="53280">
            <a:solidFill>
              <a:srgbClr val="ffd8d8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230 Multi-agent system panel"/>
          <p:cNvSpPr/>
          <p:nvPr/>
        </p:nvSpPr>
        <p:spPr>
          <a:xfrm>
            <a:off x="6072840" y="2232360"/>
            <a:ext cx="1790640" cy="2118240"/>
          </a:xfrm>
          <a:prstGeom prst="rect">
            <a:avLst/>
          </a:prstGeom>
          <a:solidFill>
            <a:srgbClr val="dceaff"/>
          </a:solidFill>
          <a:ln w="0">
            <a:noFill/>
          </a:ln>
        </p:spPr>
      </p:sp>
      <p:sp>
        <p:nvSpPr>
          <p:cNvPr id="273" name="231 Section title"/>
          <p:cNvSpPr txBox="1"/>
          <p:nvPr/>
        </p:nvSpPr>
        <p:spPr>
          <a:xfrm>
            <a:off x="6194880" y="2316240"/>
            <a:ext cx="160020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Multi-agent</a:t>
            </a:r>
            <a:endParaRPr b="0" lang="en-US" sz="1140" spc="-1" strike="noStrike">
              <a:latin typeface="Arial"/>
            </a:endParaRPr>
          </a:p>
          <a:p>
            <a:r>
              <a:rPr b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System G</a:t>
            </a:r>
            <a:endParaRPr b="0" lang="en-US" sz="1140" spc="-1" strike="noStrike">
              <a:latin typeface="Arial"/>
            </a:endParaRPr>
          </a:p>
        </p:txBody>
      </p:sp>
      <p:sp>
        <p:nvSpPr>
          <p:cNvPr id="274" name="232 System agent"/>
          <p:cNvSpPr/>
          <p:nvPr/>
        </p:nvSpPr>
        <p:spPr>
          <a:xfrm>
            <a:off x="6156720" y="2804040"/>
            <a:ext cx="518040" cy="518040"/>
          </a:xfrm>
          <a:prstGeom prst="ellipse">
            <a:avLst/>
          </a:prstGeom>
          <a:solidFill>
            <a:srgbClr val="cce65e"/>
          </a:solidFill>
          <a:ln w="12600">
            <a:solidFill>
              <a:srgbClr val="222222"/>
            </a:solidFill>
            <a:round/>
          </a:ln>
        </p:spPr>
      </p:sp>
      <p:sp>
        <p:nvSpPr>
          <p:cNvPr id="275" name="233 System agent screen"/>
          <p:cNvSpPr/>
          <p:nvPr/>
        </p:nvSpPr>
        <p:spPr>
          <a:xfrm>
            <a:off x="6265800" y="2964600"/>
            <a:ext cx="300240" cy="219960"/>
          </a:xfrm>
          <a:prstGeom prst="roundRect">
            <a:avLst/>
          </a:prstGeom>
          <a:solidFill>
            <a:srgbClr val="ffd3f2"/>
          </a:solidFill>
          <a:ln w="9720">
            <a:solidFill>
              <a:srgbClr val="222222"/>
            </a:solidFill>
            <a:round/>
          </a:ln>
        </p:spPr>
      </p:sp>
      <p:sp>
        <p:nvSpPr>
          <p:cNvPr id="276" name="234 System agent eye"/>
          <p:cNvSpPr/>
          <p:nvPr/>
        </p:nvSpPr>
        <p:spPr>
          <a:xfrm>
            <a:off x="6333120" y="3037320"/>
            <a:ext cx="51480" cy="5148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277" name="235 System agent eye"/>
          <p:cNvSpPr/>
          <p:nvPr/>
        </p:nvSpPr>
        <p:spPr>
          <a:xfrm>
            <a:off x="6446880" y="3037320"/>
            <a:ext cx="51480" cy="5148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278" name="236 Graph edge"/>
          <p:cNvSpPr/>
          <p:nvPr/>
        </p:nvSpPr>
        <p:spPr>
          <a:xfrm>
            <a:off x="6325200" y="3120120"/>
            <a:ext cx="18144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237 Graph edge"/>
          <p:cNvSpPr/>
          <p:nvPr/>
        </p:nvSpPr>
        <p:spPr>
          <a:xfrm flipV="1">
            <a:off x="6415920" y="2886840"/>
            <a:ext cx="0" cy="7776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238 System agent antenna"/>
          <p:cNvSpPr/>
          <p:nvPr/>
        </p:nvSpPr>
        <p:spPr>
          <a:xfrm>
            <a:off x="6400800" y="286092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281" name="239 System agent"/>
          <p:cNvSpPr/>
          <p:nvPr/>
        </p:nvSpPr>
        <p:spPr>
          <a:xfrm>
            <a:off x="7132320" y="2804040"/>
            <a:ext cx="518040" cy="518040"/>
          </a:xfrm>
          <a:prstGeom prst="ellipse">
            <a:avLst/>
          </a:prstGeom>
          <a:solidFill>
            <a:srgbClr val="44aeb0"/>
          </a:solidFill>
          <a:ln w="12600">
            <a:solidFill>
              <a:srgbClr val="222222"/>
            </a:solidFill>
            <a:round/>
          </a:ln>
        </p:spPr>
      </p:sp>
      <p:sp>
        <p:nvSpPr>
          <p:cNvPr id="282" name="240 System agent screen"/>
          <p:cNvSpPr/>
          <p:nvPr/>
        </p:nvSpPr>
        <p:spPr>
          <a:xfrm>
            <a:off x="7241040" y="2964600"/>
            <a:ext cx="300240" cy="219960"/>
          </a:xfrm>
          <a:prstGeom prst="roundRect">
            <a:avLst/>
          </a:prstGeom>
          <a:solidFill>
            <a:srgbClr val="ffe7cc"/>
          </a:solidFill>
          <a:ln w="9720">
            <a:solidFill>
              <a:srgbClr val="222222"/>
            </a:solidFill>
            <a:round/>
          </a:ln>
        </p:spPr>
      </p:sp>
      <p:sp>
        <p:nvSpPr>
          <p:cNvPr id="283" name="241 System agent eye"/>
          <p:cNvSpPr/>
          <p:nvPr/>
        </p:nvSpPr>
        <p:spPr>
          <a:xfrm>
            <a:off x="7308360" y="3037320"/>
            <a:ext cx="51480" cy="5148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284" name="242 System agent eye"/>
          <p:cNvSpPr/>
          <p:nvPr/>
        </p:nvSpPr>
        <p:spPr>
          <a:xfrm>
            <a:off x="7422480" y="3037320"/>
            <a:ext cx="51480" cy="5148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285" name="243 Graph edge"/>
          <p:cNvSpPr/>
          <p:nvPr/>
        </p:nvSpPr>
        <p:spPr>
          <a:xfrm>
            <a:off x="7300440" y="3120120"/>
            <a:ext cx="18144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244 Graph edge"/>
          <p:cNvSpPr/>
          <p:nvPr/>
        </p:nvSpPr>
        <p:spPr>
          <a:xfrm flipV="1">
            <a:off x="7391160" y="2886840"/>
            <a:ext cx="0" cy="7776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245 System agent antenna"/>
          <p:cNvSpPr/>
          <p:nvPr/>
        </p:nvSpPr>
        <p:spPr>
          <a:xfrm>
            <a:off x="7376040" y="286092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288" name="246 System agent"/>
          <p:cNvSpPr/>
          <p:nvPr/>
        </p:nvSpPr>
        <p:spPr>
          <a:xfrm>
            <a:off x="6156720" y="3687840"/>
            <a:ext cx="518040" cy="518040"/>
          </a:xfrm>
          <a:prstGeom prst="ellipse">
            <a:avLst/>
          </a:prstGeom>
          <a:solidFill>
            <a:srgbClr val="8dcf76"/>
          </a:solidFill>
          <a:ln w="12600">
            <a:solidFill>
              <a:srgbClr val="222222"/>
            </a:solidFill>
            <a:round/>
          </a:ln>
        </p:spPr>
      </p:sp>
      <p:sp>
        <p:nvSpPr>
          <p:cNvPr id="289" name="247 System agent screen"/>
          <p:cNvSpPr/>
          <p:nvPr/>
        </p:nvSpPr>
        <p:spPr>
          <a:xfrm>
            <a:off x="6265800" y="3848400"/>
            <a:ext cx="300240" cy="219960"/>
          </a:xfrm>
          <a:prstGeom prst="roundRect">
            <a:avLst/>
          </a:prstGeom>
          <a:solidFill>
            <a:srgbClr val="fff0b0"/>
          </a:solidFill>
          <a:ln w="9720">
            <a:solidFill>
              <a:srgbClr val="222222"/>
            </a:solidFill>
            <a:round/>
          </a:ln>
        </p:spPr>
      </p:sp>
      <p:sp>
        <p:nvSpPr>
          <p:cNvPr id="290" name="248 System agent eye"/>
          <p:cNvSpPr/>
          <p:nvPr/>
        </p:nvSpPr>
        <p:spPr>
          <a:xfrm>
            <a:off x="6333120" y="3921120"/>
            <a:ext cx="51480" cy="5148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291" name="249 System agent eye"/>
          <p:cNvSpPr/>
          <p:nvPr/>
        </p:nvSpPr>
        <p:spPr>
          <a:xfrm>
            <a:off x="6446880" y="3921120"/>
            <a:ext cx="51480" cy="5148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292" name="250 Graph edge"/>
          <p:cNvSpPr/>
          <p:nvPr/>
        </p:nvSpPr>
        <p:spPr>
          <a:xfrm>
            <a:off x="6325200" y="4003920"/>
            <a:ext cx="18144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251 Graph edge"/>
          <p:cNvSpPr/>
          <p:nvPr/>
        </p:nvSpPr>
        <p:spPr>
          <a:xfrm flipV="1">
            <a:off x="6415920" y="3770640"/>
            <a:ext cx="0" cy="7776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252 System agent antenna"/>
          <p:cNvSpPr/>
          <p:nvPr/>
        </p:nvSpPr>
        <p:spPr>
          <a:xfrm>
            <a:off x="6400800" y="374472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295" name="253 System agent"/>
          <p:cNvSpPr/>
          <p:nvPr/>
        </p:nvSpPr>
        <p:spPr>
          <a:xfrm>
            <a:off x="7132320" y="3687840"/>
            <a:ext cx="518040" cy="518040"/>
          </a:xfrm>
          <a:prstGeom prst="ellipse">
            <a:avLst/>
          </a:prstGeom>
          <a:solidFill>
            <a:srgbClr val="294a9c"/>
          </a:solidFill>
          <a:ln w="12600">
            <a:solidFill>
              <a:srgbClr val="222222"/>
            </a:solidFill>
            <a:round/>
          </a:ln>
        </p:spPr>
      </p:sp>
      <p:sp>
        <p:nvSpPr>
          <p:cNvPr id="296" name="254 System agent screen"/>
          <p:cNvSpPr/>
          <p:nvPr/>
        </p:nvSpPr>
        <p:spPr>
          <a:xfrm>
            <a:off x="7241040" y="3848400"/>
            <a:ext cx="300240" cy="219960"/>
          </a:xfrm>
          <a:prstGeom prst="roundRect">
            <a:avLst/>
          </a:prstGeom>
          <a:solidFill>
            <a:srgbClr val="fff6bd"/>
          </a:solidFill>
          <a:ln w="9720">
            <a:solidFill>
              <a:srgbClr val="222222"/>
            </a:solidFill>
            <a:round/>
          </a:ln>
        </p:spPr>
      </p:sp>
      <p:sp>
        <p:nvSpPr>
          <p:cNvPr id="297" name="255 System agent eye"/>
          <p:cNvSpPr/>
          <p:nvPr/>
        </p:nvSpPr>
        <p:spPr>
          <a:xfrm>
            <a:off x="7308360" y="3921120"/>
            <a:ext cx="51480" cy="5148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298" name="256 System agent eye"/>
          <p:cNvSpPr/>
          <p:nvPr/>
        </p:nvSpPr>
        <p:spPr>
          <a:xfrm>
            <a:off x="7422480" y="3921120"/>
            <a:ext cx="51480" cy="5148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299" name="257 Graph edge"/>
          <p:cNvSpPr/>
          <p:nvPr/>
        </p:nvSpPr>
        <p:spPr>
          <a:xfrm>
            <a:off x="7300440" y="4003920"/>
            <a:ext cx="18144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258 Graph edge"/>
          <p:cNvSpPr/>
          <p:nvPr/>
        </p:nvSpPr>
        <p:spPr>
          <a:xfrm flipV="1">
            <a:off x="7391160" y="3770640"/>
            <a:ext cx="0" cy="7776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259 System agent antenna"/>
          <p:cNvSpPr/>
          <p:nvPr/>
        </p:nvSpPr>
        <p:spPr>
          <a:xfrm>
            <a:off x="7376040" y="374472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302" name="260 Graph edge"/>
          <p:cNvSpPr/>
          <p:nvPr/>
        </p:nvSpPr>
        <p:spPr>
          <a:xfrm>
            <a:off x="6690240" y="3085920"/>
            <a:ext cx="426600" cy="0"/>
          </a:xfrm>
          <a:prstGeom prst="line">
            <a:avLst/>
          </a:prstGeom>
          <a:ln w="60840">
            <a:solidFill>
              <a:srgbClr val="2b74c9">
                <a:alpha val="6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261 Graph edge"/>
          <p:cNvSpPr/>
          <p:nvPr/>
        </p:nvSpPr>
        <p:spPr>
          <a:xfrm flipH="1">
            <a:off x="7299720" y="3337560"/>
            <a:ext cx="30600" cy="320040"/>
          </a:xfrm>
          <a:prstGeom prst="line">
            <a:avLst/>
          </a:prstGeom>
          <a:ln w="60840">
            <a:solidFill>
              <a:srgbClr val="2b74c9">
                <a:alpha val="6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262 Graph edge"/>
          <p:cNvSpPr/>
          <p:nvPr/>
        </p:nvSpPr>
        <p:spPr>
          <a:xfrm flipH="1">
            <a:off x="6713280" y="3947040"/>
            <a:ext cx="419040" cy="0"/>
          </a:xfrm>
          <a:prstGeom prst="line">
            <a:avLst/>
          </a:prstGeom>
          <a:ln w="60840">
            <a:solidFill>
              <a:srgbClr val="2b74c9">
                <a:alpha val="6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263 Graph edge"/>
          <p:cNvSpPr/>
          <p:nvPr/>
        </p:nvSpPr>
        <p:spPr>
          <a:xfrm flipV="1">
            <a:off x="6469200" y="3383280"/>
            <a:ext cx="23040" cy="304560"/>
          </a:xfrm>
          <a:prstGeom prst="line">
            <a:avLst/>
          </a:prstGeom>
          <a:ln w="60840">
            <a:solidFill>
              <a:srgbClr val="2b74c9">
                <a:alpha val="6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264 Text"/>
          <p:cNvSpPr txBox="1"/>
          <p:nvPr/>
        </p:nvSpPr>
        <p:spPr>
          <a:xfrm>
            <a:off x="6598800" y="3413520"/>
            <a:ext cx="65520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444444"/>
                </a:solidFill>
                <a:latin typeface="DejaVu Serif"/>
                <a:ea typeface="DejaVu Serif"/>
              </a:rPr>
              <a:t>Iteration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307" name="265 Output and feedback panel"/>
          <p:cNvSpPr/>
          <p:nvPr/>
        </p:nvSpPr>
        <p:spPr>
          <a:xfrm>
            <a:off x="7962840" y="2232360"/>
            <a:ext cx="1714320" cy="2118240"/>
          </a:xfrm>
          <a:prstGeom prst="rect">
            <a:avLst/>
          </a:prstGeom>
          <a:solidFill>
            <a:srgbClr val="dceaff"/>
          </a:solidFill>
          <a:ln w="0">
            <a:noFill/>
          </a:ln>
        </p:spPr>
      </p:sp>
      <p:sp>
        <p:nvSpPr>
          <p:cNvPr id="308" name="266 Clipboard icon"/>
          <p:cNvSpPr/>
          <p:nvPr/>
        </p:nvSpPr>
        <p:spPr>
          <a:xfrm>
            <a:off x="8084880" y="2361960"/>
            <a:ext cx="205560" cy="258840"/>
          </a:xfrm>
          <a:prstGeom prst="roundRect">
            <a:avLst/>
          </a:prstGeom>
          <a:solidFill>
            <a:srgbClr val="f9fbf1"/>
          </a:solidFill>
          <a:ln w="10440">
            <a:solidFill>
              <a:srgbClr val="222222"/>
            </a:solidFill>
            <a:round/>
          </a:ln>
        </p:spPr>
      </p:sp>
      <p:sp>
        <p:nvSpPr>
          <p:cNvPr id="309" name="267 Clipboard clip"/>
          <p:cNvSpPr/>
          <p:nvPr/>
        </p:nvSpPr>
        <p:spPr>
          <a:xfrm>
            <a:off x="8138160" y="2323800"/>
            <a:ext cx="106560" cy="60840"/>
          </a:xfrm>
          <a:prstGeom prst="roundRect">
            <a:avLst/>
          </a:prstGeom>
          <a:solidFill>
            <a:srgbClr val="ffd94a"/>
          </a:solidFill>
          <a:ln w="8280">
            <a:solidFill>
              <a:srgbClr val="222222"/>
            </a:solidFill>
            <a:round/>
          </a:ln>
        </p:spPr>
      </p:sp>
      <p:sp>
        <p:nvSpPr>
          <p:cNvPr id="310" name="268 Clipboard checkbox"/>
          <p:cNvSpPr/>
          <p:nvPr/>
        </p:nvSpPr>
        <p:spPr>
          <a:xfrm>
            <a:off x="8115120" y="2415240"/>
            <a:ext cx="30240" cy="30240"/>
          </a:xfrm>
          <a:prstGeom prst="rect">
            <a:avLst/>
          </a:prstGeom>
          <a:solidFill>
            <a:srgbClr val="2eb6cf"/>
          </a:solidFill>
          <a:ln w="5040">
            <a:solidFill>
              <a:srgbClr val="222222"/>
            </a:solidFill>
            <a:round/>
          </a:ln>
        </p:spPr>
      </p:sp>
      <p:sp>
        <p:nvSpPr>
          <p:cNvPr id="311" name="269 Graph edge"/>
          <p:cNvSpPr/>
          <p:nvPr/>
        </p:nvSpPr>
        <p:spPr>
          <a:xfrm>
            <a:off x="8168400" y="2430720"/>
            <a:ext cx="91440" cy="0"/>
          </a:xfrm>
          <a:prstGeom prst="line">
            <a:avLst/>
          </a:prstGeom>
          <a:ln w="5760">
            <a:solidFill>
              <a:srgbClr val="7373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270 Clipboard checkbox"/>
          <p:cNvSpPr/>
          <p:nvPr/>
        </p:nvSpPr>
        <p:spPr>
          <a:xfrm>
            <a:off x="8115120" y="2468880"/>
            <a:ext cx="30240" cy="30240"/>
          </a:xfrm>
          <a:prstGeom prst="rect">
            <a:avLst/>
          </a:prstGeom>
          <a:solidFill>
            <a:srgbClr val="8ecf41"/>
          </a:solidFill>
          <a:ln w="5040">
            <a:solidFill>
              <a:srgbClr val="222222"/>
            </a:solidFill>
            <a:round/>
          </a:ln>
        </p:spPr>
      </p:sp>
      <p:sp>
        <p:nvSpPr>
          <p:cNvPr id="313" name="271 Graph edge"/>
          <p:cNvSpPr/>
          <p:nvPr/>
        </p:nvSpPr>
        <p:spPr>
          <a:xfrm>
            <a:off x="8168400" y="2484000"/>
            <a:ext cx="91440" cy="0"/>
          </a:xfrm>
          <a:prstGeom prst="line">
            <a:avLst/>
          </a:prstGeom>
          <a:ln w="5760">
            <a:solidFill>
              <a:srgbClr val="7373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272 Clipboard checkbox"/>
          <p:cNvSpPr/>
          <p:nvPr/>
        </p:nvSpPr>
        <p:spPr>
          <a:xfrm>
            <a:off x="8115120" y="2522160"/>
            <a:ext cx="30240" cy="30240"/>
          </a:xfrm>
          <a:prstGeom prst="rect">
            <a:avLst/>
          </a:prstGeom>
          <a:solidFill>
            <a:srgbClr val="2eb6cf"/>
          </a:solidFill>
          <a:ln w="5040">
            <a:solidFill>
              <a:srgbClr val="222222"/>
            </a:solidFill>
            <a:round/>
          </a:ln>
        </p:spPr>
      </p:sp>
      <p:sp>
        <p:nvSpPr>
          <p:cNvPr id="315" name="273 Graph edge"/>
          <p:cNvSpPr/>
          <p:nvPr/>
        </p:nvSpPr>
        <p:spPr>
          <a:xfrm>
            <a:off x="8168400" y="2537280"/>
            <a:ext cx="91440" cy="0"/>
          </a:xfrm>
          <a:prstGeom prst="line">
            <a:avLst/>
          </a:prstGeom>
          <a:ln w="5760">
            <a:solidFill>
              <a:srgbClr val="7373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274 Section title"/>
          <p:cNvSpPr txBox="1"/>
          <p:nvPr/>
        </p:nvSpPr>
        <p:spPr>
          <a:xfrm>
            <a:off x="8412480" y="2286000"/>
            <a:ext cx="114300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Output</a:t>
            </a:r>
            <a:endParaRPr b="0" lang="en-US" sz="1140" spc="-1" strike="noStrike">
              <a:latin typeface="Arial"/>
            </a:endParaRPr>
          </a:p>
          <a:p>
            <a:r>
              <a:rPr b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Solution</a:t>
            </a:r>
            <a:endParaRPr b="0" lang="en-US" sz="1140" spc="-1" strike="noStrike">
              <a:latin typeface="Arial"/>
            </a:endParaRPr>
          </a:p>
        </p:txBody>
      </p:sp>
      <p:sp>
        <p:nvSpPr>
          <p:cNvPr id="317" name="275 Text"/>
          <p:cNvSpPr txBox="1"/>
          <p:nvPr/>
        </p:nvSpPr>
        <p:spPr>
          <a:xfrm>
            <a:off x="8084880" y="2765880"/>
            <a:ext cx="1432440" cy="5637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50" spc="-1" strike="noStrike">
                <a:solidFill>
                  <a:srgbClr val="222222"/>
                </a:solidFill>
                <a:latin typeface="Arial"/>
                <a:ea typeface="Arial"/>
              </a:rPr>
              <a:t>Since both are confirmed</a:t>
            </a:r>
            <a:endParaRPr b="0" lang="en-US" sz="750" spc="-1" strike="noStrike">
              <a:latin typeface="Arial"/>
            </a:endParaRPr>
          </a:p>
          <a:p>
            <a:r>
              <a:rPr b="0" lang="en-US" sz="750" spc="-1" strike="noStrike">
                <a:solidFill>
                  <a:srgbClr val="222222"/>
                </a:solidFill>
                <a:latin typeface="Arial"/>
                <a:ea typeface="Arial"/>
              </a:rPr>
              <a:t>as film directors from</a:t>
            </a:r>
            <a:endParaRPr b="0" lang="en-US" sz="750" spc="-1" strike="noStrike">
              <a:latin typeface="Arial"/>
            </a:endParaRPr>
          </a:p>
          <a:p>
            <a:r>
              <a:rPr b="0" lang="en-US" sz="750" spc="-1" strike="noStrike">
                <a:solidFill>
                  <a:srgbClr val="222222"/>
                </a:solidFill>
                <a:latin typeface="Arial"/>
                <a:ea typeface="Arial"/>
              </a:rPr>
              <a:t>their respective countries,</a:t>
            </a:r>
            <a:endParaRPr b="0" lang="en-US" sz="750" spc="-1" strike="noStrike">
              <a:latin typeface="Arial"/>
            </a:endParaRPr>
          </a:p>
          <a:p>
            <a:r>
              <a:rPr b="0" lang="en-US" sz="750" spc="-1" strike="noStrike">
                <a:solidFill>
                  <a:srgbClr val="222222"/>
                </a:solidFill>
                <a:latin typeface="Arial"/>
                <a:ea typeface="Arial"/>
              </a:rPr>
              <a:t>the answer is Yes.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318" name="276 Text"/>
          <p:cNvSpPr txBox="1"/>
          <p:nvPr/>
        </p:nvSpPr>
        <p:spPr>
          <a:xfrm>
            <a:off x="8084880" y="3413520"/>
            <a:ext cx="140184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✓ </a:t>
            </a:r>
            <a:r>
              <a:rPr b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Environment</a:t>
            </a:r>
            <a:endParaRPr b="0" lang="en-US" sz="1140" spc="-1" strike="noStrike">
              <a:latin typeface="Arial"/>
            </a:endParaRPr>
          </a:p>
          <a:p>
            <a:r>
              <a:rPr b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   </a:t>
            </a:r>
            <a:r>
              <a:rPr b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Feedback</a:t>
            </a:r>
            <a:endParaRPr b="0" lang="en-US" sz="1140" spc="-1" strike="noStrike">
              <a:latin typeface="Arial"/>
            </a:endParaRPr>
          </a:p>
        </p:txBody>
      </p:sp>
      <p:sp>
        <p:nvSpPr>
          <p:cNvPr id="319" name="277 Text"/>
          <p:cNvSpPr txBox="1"/>
          <p:nvPr/>
        </p:nvSpPr>
        <p:spPr>
          <a:xfrm>
            <a:off x="8115120" y="3855600"/>
            <a:ext cx="1409400" cy="4035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50" spc="-1" strike="noStrike">
                <a:solidFill>
                  <a:srgbClr val="222222"/>
                </a:solidFill>
                <a:latin typeface="Arial"/>
                <a:ea typeface="Arial"/>
              </a:rPr>
              <a:t>· Execution: Success</a:t>
            </a:r>
            <a:endParaRPr b="0" lang="en-US" sz="750" spc="-1" strike="noStrike">
              <a:latin typeface="Arial"/>
            </a:endParaRPr>
          </a:p>
          <a:p>
            <a:r>
              <a:rPr b="0" lang="en-US" sz="750" spc="-1" strike="noStrike">
                <a:solidFill>
                  <a:srgbClr val="222222"/>
                </a:solidFill>
                <a:latin typeface="Arial"/>
                <a:ea typeface="Arial"/>
              </a:rPr>
              <a:t>· Token cost: 3,345</a:t>
            </a:r>
            <a:endParaRPr b="0" lang="en-US" sz="750" spc="-1" strike="noStrike">
              <a:latin typeface="Arial"/>
            </a:endParaRPr>
          </a:p>
          <a:p>
            <a:r>
              <a:rPr b="0" lang="en-US" sz="750" spc="-1" strike="noStrike">
                <a:solidFill>
                  <a:srgbClr val="222222"/>
                </a:solidFill>
                <a:latin typeface="Arial"/>
                <a:ea typeface="Arial"/>
              </a:rPr>
              <a:t>· Tool calls: 3 ...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320" name="278 Forward process"/>
          <p:cNvSpPr/>
          <p:nvPr/>
        </p:nvSpPr>
        <p:spPr>
          <a:xfrm>
            <a:off x="7802640" y="3459240"/>
            <a:ext cx="274320" cy="0"/>
          </a:xfrm>
          <a:prstGeom prst="line">
            <a:avLst/>
          </a:prstGeom>
          <a:ln w="99000">
            <a:solidFill>
              <a:srgbClr val="f01818">
                <a:alpha val="7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279 Forward process inset"/>
          <p:cNvSpPr/>
          <p:nvPr/>
        </p:nvSpPr>
        <p:spPr>
          <a:xfrm>
            <a:off x="7802640" y="3459240"/>
            <a:ext cx="137160" cy="0"/>
          </a:xfrm>
          <a:prstGeom prst="line">
            <a:avLst/>
          </a:prstGeom>
          <a:ln w="53280">
            <a:solidFill>
              <a:srgbClr val="ffd8d8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280 Trajectory condensation panel back 2"/>
          <p:cNvSpPr/>
          <p:nvPr/>
        </p:nvSpPr>
        <p:spPr>
          <a:xfrm>
            <a:off x="6126480" y="4792680"/>
            <a:ext cx="3566160" cy="1904760"/>
          </a:xfrm>
          <a:prstGeom prst="rect">
            <a:avLst/>
          </a:prstGeom>
          <a:solidFill>
            <a:srgbClr val="f2dceb">
              <a:alpha val="58000"/>
            </a:srgbClr>
          </a:solidFill>
          <a:ln w="11160">
            <a:solidFill>
              <a:srgbClr val="c28caf">
                <a:alpha val="58000"/>
              </a:srgbClr>
            </a:solidFill>
            <a:round/>
          </a:ln>
        </p:spPr>
      </p:sp>
      <p:sp>
        <p:nvSpPr>
          <p:cNvPr id="323" name="281 Trajectory condensation panel back 1"/>
          <p:cNvSpPr/>
          <p:nvPr/>
        </p:nvSpPr>
        <p:spPr>
          <a:xfrm>
            <a:off x="6072840" y="4739400"/>
            <a:ext cx="3566160" cy="1904760"/>
          </a:xfrm>
          <a:prstGeom prst="rect">
            <a:avLst/>
          </a:prstGeom>
          <a:solidFill>
            <a:srgbClr val="f2dceb">
              <a:alpha val="58000"/>
            </a:srgbClr>
          </a:solidFill>
          <a:ln w="11160">
            <a:solidFill>
              <a:srgbClr val="c28caf">
                <a:alpha val="58000"/>
              </a:srgbClr>
            </a:solidFill>
            <a:round/>
          </a:ln>
        </p:spPr>
      </p:sp>
      <p:sp>
        <p:nvSpPr>
          <p:cNvPr id="324" name="282 Trajectory condensation panel"/>
          <p:cNvSpPr/>
          <p:nvPr/>
        </p:nvSpPr>
        <p:spPr>
          <a:xfrm>
            <a:off x="6019560" y="4686120"/>
            <a:ext cx="3566160" cy="1904760"/>
          </a:xfrm>
          <a:prstGeom prst="rect">
            <a:avLst/>
          </a:prstGeom>
          <a:solidFill>
            <a:srgbClr val="f2dceb"/>
          </a:solidFill>
          <a:ln w="15120">
            <a:solidFill>
              <a:srgbClr val="c28caf"/>
            </a:solidFill>
            <a:round/>
          </a:ln>
        </p:spPr>
      </p:sp>
      <p:sp>
        <p:nvSpPr>
          <p:cNvPr id="325" name="283 Text"/>
          <p:cNvSpPr txBox="1"/>
          <p:nvPr/>
        </p:nvSpPr>
        <p:spPr>
          <a:xfrm rot="16200000">
            <a:off x="5631120" y="5539680"/>
            <a:ext cx="914400" cy="3657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1" lang="en-US" sz="960" spc="-1" strike="noStrike">
                <a:solidFill>
                  <a:srgbClr val="f01818"/>
                </a:solidFill>
                <a:latin typeface="DejaVu Serif"/>
                <a:ea typeface="DejaVu Serif"/>
              </a:rPr>
              <a:t>Core Path</a:t>
            </a:r>
            <a:endParaRPr b="0" lang="en-US" sz="960" spc="-1" strike="noStrike">
              <a:latin typeface="Arial"/>
            </a:endParaRPr>
          </a:p>
          <a:p>
            <a:pPr algn="ctr">
              <a:buNone/>
            </a:pPr>
            <a:r>
              <a:rPr b="1" lang="en-US" sz="960" spc="-1" strike="noStrike">
                <a:solidFill>
                  <a:srgbClr val="f01818"/>
                </a:solidFill>
                <a:latin typeface="DejaVu Serif"/>
                <a:ea typeface="DejaVu Serif"/>
              </a:rPr>
              <a:t>Extraction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326" name="284 Section title"/>
          <p:cNvSpPr txBox="1"/>
          <p:nvPr/>
        </p:nvSpPr>
        <p:spPr>
          <a:xfrm>
            <a:off x="7299720" y="4892040"/>
            <a:ext cx="211824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>
            <a:noAutofit/>
          </a:bodyPr>
          <a:p>
            <a:r>
              <a:rPr b="1" lang="en-US" sz="1140" spc="-1" strike="noStrike">
                <a:solidFill>
                  <a:srgbClr val="222222"/>
                </a:solidFill>
                <a:latin typeface="DejaVu Serif"/>
                <a:ea typeface="DejaVu Serif"/>
              </a:rPr>
              <a:t>Trajectory Condensation</a:t>
            </a:r>
            <a:endParaRPr b="0" lang="en-US" sz="1140" spc="-1" strike="noStrike">
              <a:latin typeface="Arial"/>
            </a:endParaRPr>
          </a:p>
        </p:txBody>
      </p:sp>
      <p:sp>
        <p:nvSpPr>
          <p:cNvPr id="327" name="285 Core path graph"/>
          <p:cNvSpPr/>
          <p:nvPr/>
        </p:nvSpPr>
        <p:spPr>
          <a:xfrm>
            <a:off x="6293880" y="4945320"/>
            <a:ext cx="1348560" cy="1348560"/>
          </a:xfrm>
          <a:prstGeom prst="ellipse">
            <a:avLst/>
          </a:prstGeom>
          <a:solidFill>
            <a:srgbClr val="f9e5f3"/>
          </a:solidFill>
          <a:ln w="26640">
            <a:solidFill>
              <a:srgbClr val="3e0077"/>
            </a:solidFill>
            <a:round/>
          </a:ln>
        </p:spPr>
      </p:sp>
      <p:sp>
        <p:nvSpPr>
          <p:cNvPr id="328" name="286 Graph edge"/>
          <p:cNvSpPr/>
          <p:nvPr/>
        </p:nvSpPr>
        <p:spPr>
          <a:xfrm flipV="1">
            <a:off x="6553080" y="5234760"/>
            <a:ext cx="411480" cy="266760"/>
          </a:xfrm>
          <a:prstGeom prst="line">
            <a:avLst/>
          </a:prstGeom>
          <a:ln w="1512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287 Graph edge"/>
          <p:cNvSpPr/>
          <p:nvPr/>
        </p:nvSpPr>
        <p:spPr>
          <a:xfrm>
            <a:off x="6553080" y="5501520"/>
            <a:ext cx="396360" cy="281880"/>
          </a:xfrm>
          <a:prstGeom prst="line">
            <a:avLst/>
          </a:prstGeom>
          <a:ln w="1512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288 Graph edge"/>
          <p:cNvSpPr/>
          <p:nvPr/>
        </p:nvSpPr>
        <p:spPr>
          <a:xfrm>
            <a:off x="6964560" y="5234760"/>
            <a:ext cx="335160" cy="670680"/>
          </a:xfrm>
          <a:prstGeom prst="line">
            <a:avLst/>
          </a:prstGeom>
          <a:ln w="1512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289 Core path agent"/>
          <p:cNvSpPr/>
          <p:nvPr/>
        </p:nvSpPr>
        <p:spPr>
          <a:xfrm>
            <a:off x="6423480" y="537192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332" name="290 Core path agent screen"/>
          <p:cNvSpPr/>
          <p:nvPr/>
        </p:nvSpPr>
        <p:spPr>
          <a:xfrm>
            <a:off x="6477840" y="5452200"/>
            <a:ext cx="150120" cy="109800"/>
          </a:xfrm>
          <a:prstGeom prst="roundRect">
            <a:avLst/>
          </a:prstGeom>
          <a:solidFill>
            <a:srgbClr val="ffd9e6"/>
          </a:solidFill>
          <a:ln w="9720">
            <a:solidFill>
              <a:srgbClr val="222222"/>
            </a:solidFill>
            <a:round/>
          </a:ln>
        </p:spPr>
      </p:sp>
      <p:sp>
        <p:nvSpPr>
          <p:cNvPr id="333" name="291 Core path agent eye"/>
          <p:cNvSpPr/>
          <p:nvPr/>
        </p:nvSpPr>
        <p:spPr>
          <a:xfrm>
            <a:off x="6511680" y="548856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334" name="292 Core path agent eye"/>
          <p:cNvSpPr/>
          <p:nvPr/>
        </p:nvSpPr>
        <p:spPr>
          <a:xfrm>
            <a:off x="6568560" y="548856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335" name="293 Graph edge"/>
          <p:cNvSpPr/>
          <p:nvPr/>
        </p:nvSpPr>
        <p:spPr>
          <a:xfrm>
            <a:off x="6507720" y="552996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294 Graph edge"/>
          <p:cNvSpPr/>
          <p:nvPr/>
        </p:nvSpPr>
        <p:spPr>
          <a:xfrm flipV="1">
            <a:off x="6553080" y="541332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295 Core path agent antenna"/>
          <p:cNvSpPr/>
          <p:nvPr/>
        </p:nvSpPr>
        <p:spPr>
          <a:xfrm>
            <a:off x="6537960" y="540036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338" name="296 Core path agent"/>
          <p:cNvSpPr/>
          <p:nvPr/>
        </p:nvSpPr>
        <p:spPr>
          <a:xfrm>
            <a:off x="6834960" y="510516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339" name="297 Core path agent screen"/>
          <p:cNvSpPr/>
          <p:nvPr/>
        </p:nvSpPr>
        <p:spPr>
          <a:xfrm>
            <a:off x="6889320" y="5185440"/>
            <a:ext cx="150120" cy="109800"/>
          </a:xfrm>
          <a:prstGeom prst="roundRect">
            <a:avLst/>
          </a:prstGeom>
          <a:solidFill>
            <a:srgbClr val="fff5bd"/>
          </a:solidFill>
          <a:ln w="9720">
            <a:solidFill>
              <a:srgbClr val="222222"/>
            </a:solidFill>
            <a:round/>
          </a:ln>
        </p:spPr>
      </p:sp>
      <p:sp>
        <p:nvSpPr>
          <p:cNvPr id="340" name="298 Core path agent eye"/>
          <p:cNvSpPr/>
          <p:nvPr/>
        </p:nvSpPr>
        <p:spPr>
          <a:xfrm>
            <a:off x="6923160" y="522180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341" name="299 Core path agent eye"/>
          <p:cNvSpPr/>
          <p:nvPr/>
        </p:nvSpPr>
        <p:spPr>
          <a:xfrm>
            <a:off x="6980040" y="522180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342" name="300 Graph edge"/>
          <p:cNvSpPr/>
          <p:nvPr/>
        </p:nvSpPr>
        <p:spPr>
          <a:xfrm>
            <a:off x="6919200" y="526320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301 Graph edge"/>
          <p:cNvSpPr/>
          <p:nvPr/>
        </p:nvSpPr>
        <p:spPr>
          <a:xfrm flipV="1">
            <a:off x="6964560" y="514656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302 Core path agent antenna"/>
          <p:cNvSpPr/>
          <p:nvPr/>
        </p:nvSpPr>
        <p:spPr>
          <a:xfrm>
            <a:off x="6949440" y="513360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345" name="303 Core path agent"/>
          <p:cNvSpPr/>
          <p:nvPr/>
        </p:nvSpPr>
        <p:spPr>
          <a:xfrm>
            <a:off x="6819840" y="565380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346" name="304 Core path agent screen"/>
          <p:cNvSpPr/>
          <p:nvPr/>
        </p:nvSpPr>
        <p:spPr>
          <a:xfrm>
            <a:off x="6874200" y="5734080"/>
            <a:ext cx="150120" cy="109800"/>
          </a:xfrm>
          <a:prstGeom prst="roundRect">
            <a:avLst/>
          </a:prstGeom>
          <a:solidFill>
            <a:srgbClr val="fff5bd"/>
          </a:solidFill>
          <a:ln w="9720">
            <a:solidFill>
              <a:srgbClr val="222222"/>
            </a:solidFill>
            <a:round/>
          </a:ln>
        </p:spPr>
      </p:sp>
      <p:sp>
        <p:nvSpPr>
          <p:cNvPr id="347" name="305 Core path agent eye"/>
          <p:cNvSpPr/>
          <p:nvPr/>
        </p:nvSpPr>
        <p:spPr>
          <a:xfrm>
            <a:off x="6908040" y="577044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348" name="306 Core path agent eye"/>
          <p:cNvSpPr/>
          <p:nvPr/>
        </p:nvSpPr>
        <p:spPr>
          <a:xfrm>
            <a:off x="6964920" y="577044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349" name="307 Graph edge"/>
          <p:cNvSpPr/>
          <p:nvPr/>
        </p:nvSpPr>
        <p:spPr>
          <a:xfrm>
            <a:off x="6904080" y="581184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308 Graph edge"/>
          <p:cNvSpPr/>
          <p:nvPr/>
        </p:nvSpPr>
        <p:spPr>
          <a:xfrm flipV="1">
            <a:off x="6949440" y="569520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309 Core path agent antenna"/>
          <p:cNvSpPr/>
          <p:nvPr/>
        </p:nvSpPr>
        <p:spPr>
          <a:xfrm>
            <a:off x="6933960" y="568224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352" name="310 Core path agent"/>
          <p:cNvSpPr/>
          <p:nvPr/>
        </p:nvSpPr>
        <p:spPr>
          <a:xfrm>
            <a:off x="7170480" y="577584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353" name="311 Core path agent screen"/>
          <p:cNvSpPr/>
          <p:nvPr/>
        </p:nvSpPr>
        <p:spPr>
          <a:xfrm>
            <a:off x="7224840" y="5856120"/>
            <a:ext cx="150120" cy="109800"/>
          </a:xfrm>
          <a:prstGeom prst="roundRect">
            <a:avLst/>
          </a:prstGeom>
          <a:solidFill>
            <a:srgbClr val="eae6d9"/>
          </a:solidFill>
          <a:ln w="9720">
            <a:solidFill>
              <a:srgbClr val="222222"/>
            </a:solidFill>
            <a:round/>
          </a:ln>
        </p:spPr>
      </p:sp>
      <p:sp>
        <p:nvSpPr>
          <p:cNvPr id="354" name="312 Core path agent eye"/>
          <p:cNvSpPr/>
          <p:nvPr/>
        </p:nvSpPr>
        <p:spPr>
          <a:xfrm>
            <a:off x="7258320" y="589248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355" name="313 Core path agent eye"/>
          <p:cNvSpPr/>
          <p:nvPr/>
        </p:nvSpPr>
        <p:spPr>
          <a:xfrm>
            <a:off x="7315560" y="589248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356" name="314 Graph edge"/>
          <p:cNvSpPr/>
          <p:nvPr/>
        </p:nvSpPr>
        <p:spPr>
          <a:xfrm>
            <a:off x="7254360" y="593388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315 Graph edge"/>
          <p:cNvSpPr/>
          <p:nvPr/>
        </p:nvSpPr>
        <p:spPr>
          <a:xfrm flipV="1">
            <a:off x="7299720" y="581724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316 Core path agent antenna"/>
          <p:cNvSpPr/>
          <p:nvPr/>
        </p:nvSpPr>
        <p:spPr>
          <a:xfrm>
            <a:off x="7284600" y="580428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359" name="317 Discarded event"/>
          <p:cNvSpPr/>
          <p:nvPr/>
        </p:nvSpPr>
        <p:spPr>
          <a:xfrm>
            <a:off x="7216200" y="5394960"/>
            <a:ext cx="213120" cy="213120"/>
          </a:xfrm>
          <a:prstGeom prst="ellipse">
            <a:avLst/>
          </a:prstGeom>
          <a:solidFill>
            <a:srgbClr val="eeeeee"/>
          </a:solidFill>
          <a:ln w="11160">
            <a:solidFill>
              <a:srgbClr val="737373"/>
            </a:solidFill>
            <a:round/>
          </a:ln>
        </p:spPr>
      </p:sp>
      <p:sp>
        <p:nvSpPr>
          <p:cNvPr id="360" name="318 Discarded event"/>
          <p:cNvSpPr/>
          <p:nvPr/>
        </p:nvSpPr>
        <p:spPr>
          <a:xfrm>
            <a:off x="6454080" y="5867280"/>
            <a:ext cx="213120" cy="213120"/>
          </a:xfrm>
          <a:prstGeom prst="ellipse">
            <a:avLst/>
          </a:prstGeom>
          <a:solidFill>
            <a:srgbClr val="eeeeee"/>
          </a:solidFill>
          <a:ln w="11160">
            <a:solidFill>
              <a:srgbClr val="737373"/>
            </a:solidFill>
            <a:round/>
          </a:ln>
        </p:spPr>
      </p:sp>
      <p:sp>
        <p:nvSpPr>
          <p:cNvPr id="361" name="319 Discarded event"/>
          <p:cNvSpPr/>
          <p:nvPr/>
        </p:nvSpPr>
        <p:spPr>
          <a:xfrm>
            <a:off x="6873120" y="6072840"/>
            <a:ext cx="213120" cy="213120"/>
          </a:xfrm>
          <a:prstGeom prst="ellipse">
            <a:avLst/>
          </a:prstGeom>
          <a:solidFill>
            <a:srgbClr val="eeeeee"/>
          </a:solidFill>
          <a:ln w="11160">
            <a:solidFill>
              <a:srgbClr val="737373"/>
            </a:solidFill>
            <a:round/>
          </a:ln>
        </p:spPr>
      </p:sp>
      <p:sp>
        <p:nvSpPr>
          <p:cNvPr id="362" name="320 Text"/>
          <p:cNvSpPr txBox="1"/>
          <p:nvPr/>
        </p:nvSpPr>
        <p:spPr>
          <a:xfrm>
            <a:off x="7749360" y="5196600"/>
            <a:ext cx="1630440" cy="2131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960" spc="-1" strike="noStrike">
                <a:solidFill>
                  <a:srgbClr val="222222"/>
                </a:solidFill>
                <a:latin typeface="DejaVu Serif"/>
                <a:ea typeface="DejaVu Serif"/>
              </a:rPr>
              <a:t>🤝 </a:t>
            </a:r>
            <a:r>
              <a:rPr b="0" lang="en-US" sz="960" spc="-1" strike="noStrike">
                <a:solidFill>
                  <a:srgbClr val="222222"/>
                </a:solidFill>
                <a:latin typeface="DejaVu Serif"/>
                <a:ea typeface="DejaVu Serif"/>
              </a:rPr>
              <a:t>Collab. Experience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363" name="321 Text"/>
          <p:cNvSpPr txBox="1"/>
          <p:nvPr/>
        </p:nvSpPr>
        <p:spPr>
          <a:xfrm>
            <a:off x="7756920" y="5478480"/>
            <a:ext cx="1661040" cy="42660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30" spc="-1" strike="noStrike">
                <a:solidFill>
                  <a:srgbClr val="222222"/>
                </a:solidFill>
                <a:latin typeface="Arial"/>
                <a:ea typeface="Arial"/>
              </a:rPr>
              <a:t>· This history follows a chain-</a:t>
            </a:r>
            <a:endParaRPr b="0" lang="en-US" sz="730" spc="-1" strike="noStrike">
              <a:latin typeface="Arial"/>
            </a:endParaRPr>
          </a:p>
          <a:p>
            <a:r>
              <a:rPr b="0" lang="en-US" sz="730" spc="-1" strike="noStrike">
                <a:solidFill>
                  <a:srgbClr val="222222"/>
                </a:solidFill>
                <a:latin typeface="Arial"/>
                <a:ea typeface="Arial"/>
              </a:rPr>
              <a:t>  </a:t>
            </a:r>
            <a:r>
              <a:rPr b="0" lang="en-US" sz="730" spc="-1" strike="noStrike">
                <a:solidFill>
                  <a:srgbClr val="222222"/>
                </a:solidFill>
                <a:latin typeface="Arial"/>
                <a:ea typeface="Arial"/>
              </a:rPr>
              <a:t>style, collaboration strategy...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364" name="322 Text"/>
          <p:cNvSpPr txBox="1"/>
          <p:nvPr/>
        </p:nvSpPr>
        <p:spPr>
          <a:xfrm>
            <a:off x="7749360" y="5935680"/>
            <a:ext cx="1661040" cy="2131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960" spc="-1" strike="noStrike">
                <a:solidFill>
                  <a:srgbClr val="222222"/>
                </a:solidFill>
                <a:latin typeface="DejaVu Serif"/>
                <a:ea typeface="DejaVu Serif"/>
              </a:rPr>
              <a:t>⚠ </a:t>
            </a:r>
            <a:r>
              <a:rPr b="0" lang="en-US" sz="960" spc="-1" strike="noStrike">
                <a:solidFill>
                  <a:srgbClr val="222222"/>
                </a:solidFill>
                <a:latin typeface="DejaVu Serif"/>
                <a:ea typeface="DejaVu Serif"/>
              </a:rPr>
              <a:t>Failure Lessons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365" name="323 Text"/>
          <p:cNvSpPr txBox="1"/>
          <p:nvPr/>
        </p:nvSpPr>
        <p:spPr>
          <a:xfrm>
            <a:off x="7756920" y="6202440"/>
            <a:ext cx="1676160" cy="2894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>
            <a:noAutofit/>
          </a:bodyPr>
          <a:p>
            <a:r>
              <a:rPr b="0" lang="en-US" sz="730" spc="-1" strike="noStrike">
                <a:solidFill>
                  <a:srgbClr val="222222"/>
                </a:solidFill>
                <a:latin typeface="Arial"/>
                <a:ea typeface="Arial"/>
              </a:rPr>
              <a:t>· Take care when summarizing the</a:t>
            </a:r>
            <a:endParaRPr b="0" lang="en-US" sz="730" spc="-1" strike="noStrike">
              <a:latin typeface="Arial"/>
            </a:endParaRPr>
          </a:p>
          <a:p>
            <a:r>
              <a:rPr b="0" lang="en-US" sz="730" spc="-1" strike="noStrike">
                <a:solidFill>
                  <a:srgbClr val="222222"/>
                </a:solidFill>
                <a:latin typeface="Arial"/>
                <a:ea typeface="Arial"/>
              </a:rPr>
              <a:t>  </a:t>
            </a:r>
            <a:r>
              <a:rPr b="0" lang="en-US" sz="730" spc="-1" strike="noStrike">
                <a:solidFill>
                  <a:srgbClr val="222222"/>
                </a:solidFill>
                <a:latin typeface="Arial"/>
                <a:ea typeface="Arial"/>
              </a:rPr>
              <a:t>final result, DO NOT ...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366" name="324 Text"/>
          <p:cNvSpPr txBox="1"/>
          <p:nvPr/>
        </p:nvSpPr>
        <p:spPr>
          <a:xfrm>
            <a:off x="6675120" y="4404240"/>
            <a:ext cx="2361960" cy="2588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1" i="1" lang="en-US" sz="1080" spc="-1" strike="noStrike">
                <a:solidFill>
                  <a:srgbClr val="f01818"/>
                </a:solidFill>
                <a:latin typeface="DejaVu Serif"/>
                <a:ea typeface="DejaVu Serif"/>
              </a:rPr>
              <a:t>Memory     Augmentation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367" name="325 Forward process"/>
          <p:cNvSpPr/>
          <p:nvPr/>
        </p:nvSpPr>
        <p:spPr>
          <a:xfrm flipV="1">
            <a:off x="7665480" y="4327920"/>
            <a:ext cx="0" cy="411480"/>
          </a:xfrm>
          <a:prstGeom prst="line">
            <a:avLst/>
          </a:prstGeom>
          <a:ln w="99000">
            <a:solidFill>
              <a:srgbClr val="f01818">
                <a:alpha val="7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326 Forward process inset"/>
          <p:cNvSpPr/>
          <p:nvPr/>
        </p:nvSpPr>
        <p:spPr>
          <a:xfrm flipV="1">
            <a:off x="7665480" y="4465080"/>
            <a:ext cx="0" cy="274320"/>
          </a:xfrm>
          <a:prstGeom prst="line">
            <a:avLst/>
          </a:prstGeom>
          <a:ln w="53280">
            <a:solidFill>
              <a:srgbClr val="ffd8d8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327 Insight update band"/>
          <p:cNvSpPr/>
          <p:nvPr/>
        </p:nvSpPr>
        <p:spPr>
          <a:xfrm>
            <a:off x="10751760" y="1661040"/>
            <a:ext cx="411480" cy="3276360"/>
          </a:xfrm>
          <a:prstGeom prst="rect">
            <a:avLst/>
          </a:prstGeom>
          <a:solidFill>
            <a:srgbClr val="ffd5d5">
              <a:alpha val="37000"/>
            </a:srgbClr>
          </a:solidFill>
          <a:ln w="15120">
            <a:solidFill>
              <a:srgbClr val="bd4a4a">
                <a:alpha val="37000"/>
              </a:srgbClr>
            </a:solidFill>
            <a:round/>
          </a:ln>
        </p:spPr>
      </p:sp>
      <p:sp>
        <p:nvSpPr>
          <p:cNvPr id="370" name="328 Interaction update cone"/>
          <p:cNvSpPr/>
          <p:nvPr/>
        </p:nvSpPr>
        <p:spPr>
          <a:xfrm>
            <a:off x="10218240" y="3436560"/>
            <a:ext cx="1486080" cy="1485720"/>
          </a:xfrm>
          <a:custGeom>
            <a:avLst/>
            <a:gdLst/>
            <a:ahLst/>
            <a:rect l="0" t="0" r="r" b="b"/>
            <a:pathLst>
              <a:path w="4128" h="4127">
                <a:moveTo>
                  <a:pt x="2053" y="0"/>
                </a:moveTo>
                <a:lnTo>
                  <a:pt x="0" y="4127"/>
                </a:lnTo>
                <a:lnTo>
                  <a:pt x="4128" y="4127"/>
                </a:lnTo>
                <a:lnTo>
                  <a:pt x="2053" y="0"/>
                </a:lnTo>
                <a:close/>
              </a:path>
            </a:pathLst>
          </a:custGeom>
          <a:solidFill>
            <a:srgbClr val="ffd5d5">
              <a:alpha val="38000"/>
            </a:srgbClr>
          </a:solidFill>
          <a:ln w="15120">
            <a:solidFill>
              <a:srgbClr val="e08a8a">
                <a:alpha val="38000"/>
              </a:srgbClr>
            </a:solidFill>
            <a:round/>
          </a:ln>
        </p:spPr>
      </p:sp>
      <p:sp>
        <p:nvSpPr>
          <p:cNvPr id="371" name="329 Insight graph t plus 1"/>
          <p:cNvSpPr/>
          <p:nvPr/>
        </p:nvSpPr>
        <p:spPr>
          <a:xfrm>
            <a:off x="9982080" y="266400"/>
            <a:ext cx="1981080" cy="1981080"/>
          </a:xfrm>
          <a:prstGeom prst="ellipse">
            <a:avLst/>
          </a:prstGeom>
          <a:solidFill>
            <a:srgbClr val="edf7ed"/>
          </a:solidFill>
          <a:ln w="30240">
            <a:solidFill>
              <a:srgbClr val="006d0d"/>
            </a:solidFill>
            <a:round/>
          </a:ln>
        </p:spPr>
      </p:sp>
      <p:sp>
        <p:nvSpPr>
          <p:cNvPr id="372" name="330 Graph edge"/>
          <p:cNvSpPr/>
          <p:nvPr/>
        </p:nvSpPr>
        <p:spPr>
          <a:xfrm>
            <a:off x="10721160" y="777240"/>
            <a:ext cx="594360" cy="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331 Graph edge"/>
          <p:cNvSpPr/>
          <p:nvPr/>
        </p:nvSpPr>
        <p:spPr>
          <a:xfrm flipV="1">
            <a:off x="10386000" y="876240"/>
            <a:ext cx="281880" cy="38088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332 Graph edge"/>
          <p:cNvSpPr/>
          <p:nvPr/>
        </p:nvSpPr>
        <p:spPr>
          <a:xfrm>
            <a:off x="10828080" y="906480"/>
            <a:ext cx="685800" cy="35820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333 Graph edge"/>
          <p:cNvSpPr/>
          <p:nvPr/>
        </p:nvSpPr>
        <p:spPr>
          <a:xfrm>
            <a:off x="10477440" y="1287720"/>
            <a:ext cx="419040" cy="11412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334 Graph edge"/>
          <p:cNvSpPr/>
          <p:nvPr/>
        </p:nvSpPr>
        <p:spPr>
          <a:xfrm flipV="1">
            <a:off x="10896480" y="1295280"/>
            <a:ext cx="624960" cy="10656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335 Graph edge"/>
          <p:cNvSpPr/>
          <p:nvPr/>
        </p:nvSpPr>
        <p:spPr>
          <a:xfrm>
            <a:off x="10805040" y="898920"/>
            <a:ext cx="700920" cy="54864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336 Graph node"/>
          <p:cNvSpPr/>
          <p:nvPr/>
        </p:nvSpPr>
        <p:spPr>
          <a:xfrm>
            <a:off x="10530720" y="586440"/>
            <a:ext cx="380880" cy="380880"/>
          </a:xfrm>
          <a:prstGeom prst="ellipse">
            <a:avLst/>
          </a:prstGeom>
          <a:solidFill>
            <a:srgbClr val="5bb468"/>
          </a:solidFill>
          <a:ln w="30240">
            <a:solidFill>
              <a:srgbClr val="006d0d"/>
            </a:solidFill>
            <a:round/>
          </a:ln>
        </p:spPr>
      </p:sp>
      <p:sp>
        <p:nvSpPr>
          <p:cNvPr id="379" name="337 Graph node label"/>
          <p:cNvSpPr txBox="1"/>
          <p:nvPr/>
        </p:nvSpPr>
        <p:spPr>
          <a:xfrm>
            <a:off x="10530720" y="594360"/>
            <a:ext cx="380880" cy="3657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80" spc="-1" strike="noStrike">
                <a:solidFill>
                  <a:srgbClr val="222222"/>
                </a:solidFill>
                <a:latin typeface="DejaVu Serif"/>
                <a:ea typeface="DejaVu Serif"/>
              </a:rPr>
              <a:t>ι₁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380" name="338 Graph node"/>
          <p:cNvSpPr/>
          <p:nvPr/>
        </p:nvSpPr>
        <p:spPr>
          <a:xfrm>
            <a:off x="11170800" y="586440"/>
            <a:ext cx="380880" cy="380880"/>
          </a:xfrm>
          <a:prstGeom prst="ellipse">
            <a:avLst/>
          </a:prstGeom>
          <a:solidFill>
            <a:srgbClr val="8cff3d"/>
          </a:solidFill>
          <a:ln w="30240">
            <a:solidFill>
              <a:srgbClr val="006d0d"/>
            </a:solidFill>
            <a:round/>
          </a:ln>
        </p:spPr>
      </p:sp>
      <p:sp>
        <p:nvSpPr>
          <p:cNvPr id="381" name="339 Graph node label"/>
          <p:cNvSpPr txBox="1"/>
          <p:nvPr/>
        </p:nvSpPr>
        <p:spPr>
          <a:xfrm>
            <a:off x="11170800" y="594360"/>
            <a:ext cx="380880" cy="3657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80" spc="-1" strike="noStrike">
                <a:solidFill>
                  <a:srgbClr val="222222"/>
                </a:solidFill>
                <a:latin typeface="DejaVu Serif"/>
                <a:ea typeface="DejaVu Serif"/>
              </a:rPr>
              <a:t>ι₂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382" name="340 Graph node"/>
          <p:cNvSpPr/>
          <p:nvPr/>
        </p:nvSpPr>
        <p:spPr>
          <a:xfrm>
            <a:off x="10172520" y="1081800"/>
            <a:ext cx="365760" cy="365760"/>
          </a:xfrm>
          <a:prstGeom prst="ellipse">
            <a:avLst/>
          </a:prstGeom>
          <a:solidFill>
            <a:srgbClr val="82cf67"/>
          </a:solidFill>
          <a:ln w="30240">
            <a:solidFill>
              <a:srgbClr val="006d0d"/>
            </a:solidFill>
            <a:round/>
          </a:ln>
        </p:spPr>
      </p:sp>
      <p:sp>
        <p:nvSpPr>
          <p:cNvPr id="383" name="341 Graph node label"/>
          <p:cNvSpPr txBox="1"/>
          <p:nvPr/>
        </p:nvSpPr>
        <p:spPr>
          <a:xfrm>
            <a:off x="10172520" y="1089360"/>
            <a:ext cx="365760" cy="3502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80" spc="-1" strike="noStrike">
                <a:solidFill>
                  <a:srgbClr val="222222"/>
                </a:solidFill>
                <a:latin typeface="DejaVu Serif"/>
                <a:ea typeface="DejaVu Serif"/>
              </a:rPr>
              <a:t>ι₃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384" name="342 Graph node"/>
          <p:cNvSpPr/>
          <p:nvPr/>
        </p:nvSpPr>
        <p:spPr>
          <a:xfrm>
            <a:off x="10759320" y="1158120"/>
            <a:ext cx="380880" cy="380880"/>
          </a:xfrm>
          <a:prstGeom prst="ellipse">
            <a:avLst/>
          </a:prstGeom>
          <a:solidFill>
            <a:srgbClr val="0beb62"/>
          </a:solidFill>
          <a:ln w="30240">
            <a:solidFill>
              <a:srgbClr val="006d0d"/>
            </a:solidFill>
            <a:round/>
          </a:ln>
        </p:spPr>
      </p:sp>
      <p:sp>
        <p:nvSpPr>
          <p:cNvPr id="385" name="343 Graph node label"/>
          <p:cNvSpPr txBox="1"/>
          <p:nvPr/>
        </p:nvSpPr>
        <p:spPr>
          <a:xfrm>
            <a:off x="10759320" y="1165680"/>
            <a:ext cx="380880" cy="3657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80" spc="-1" strike="noStrike">
                <a:solidFill>
                  <a:srgbClr val="222222"/>
                </a:solidFill>
                <a:latin typeface="DejaVu Serif"/>
                <a:ea typeface="DejaVu Serif"/>
              </a:rPr>
              <a:t>ι₄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386" name="344 Graph node"/>
          <p:cNvSpPr/>
          <p:nvPr/>
        </p:nvSpPr>
        <p:spPr>
          <a:xfrm>
            <a:off x="11361240" y="1104840"/>
            <a:ext cx="380880" cy="380880"/>
          </a:xfrm>
          <a:prstGeom prst="ellipse">
            <a:avLst/>
          </a:prstGeom>
          <a:solidFill>
            <a:srgbClr val="77e7bd"/>
          </a:solidFill>
          <a:ln w="30240">
            <a:solidFill>
              <a:srgbClr val="006d0d"/>
            </a:solidFill>
            <a:round/>
          </a:ln>
        </p:spPr>
      </p:sp>
      <p:sp>
        <p:nvSpPr>
          <p:cNvPr id="387" name="345 Graph node label"/>
          <p:cNvSpPr txBox="1"/>
          <p:nvPr/>
        </p:nvSpPr>
        <p:spPr>
          <a:xfrm>
            <a:off x="11361240" y="1112400"/>
            <a:ext cx="380880" cy="3657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80" spc="-1" strike="noStrike">
                <a:solidFill>
                  <a:srgbClr val="222222"/>
                </a:solidFill>
                <a:latin typeface="DejaVu Serif"/>
                <a:ea typeface="DejaVu Serif"/>
              </a:rPr>
              <a:t>ι₅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388" name="346 New insight node"/>
          <p:cNvSpPr/>
          <p:nvPr/>
        </p:nvSpPr>
        <p:spPr>
          <a:xfrm>
            <a:off x="10751760" y="1760040"/>
            <a:ext cx="396000" cy="396000"/>
          </a:xfrm>
          <a:prstGeom prst="ellipse">
            <a:avLst/>
          </a:prstGeom>
          <a:solidFill>
            <a:srgbClr val="ffe7e2"/>
          </a:solidFill>
          <a:ln w="30240">
            <a:solidFill>
              <a:srgbClr val="bd4a4a"/>
            </a:solidFill>
            <a:round/>
          </a:ln>
        </p:spPr>
      </p:sp>
      <p:sp>
        <p:nvSpPr>
          <p:cNvPr id="389" name="347 New insight node label"/>
          <p:cNvSpPr txBox="1"/>
          <p:nvPr/>
        </p:nvSpPr>
        <p:spPr>
          <a:xfrm>
            <a:off x="10751760" y="1767600"/>
            <a:ext cx="396000" cy="3808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80" spc="-1" strike="noStrike">
                <a:solidFill>
                  <a:srgbClr val="5d1d1d"/>
                </a:solidFill>
                <a:latin typeface="DejaVu Serif"/>
                <a:ea typeface="DejaVu Serif"/>
              </a:rPr>
              <a:t>ι₆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390" name="348 Graph edge"/>
          <p:cNvSpPr/>
          <p:nvPr/>
        </p:nvSpPr>
        <p:spPr>
          <a:xfrm>
            <a:off x="10949760" y="1539000"/>
            <a:ext cx="0" cy="221040"/>
          </a:xfrm>
          <a:prstGeom prst="line">
            <a:avLst/>
          </a:prstGeom>
          <a:ln w="22680">
            <a:solidFill>
              <a:srgbClr val="bd4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349 Graph edge"/>
          <p:cNvSpPr/>
          <p:nvPr/>
        </p:nvSpPr>
        <p:spPr>
          <a:xfrm flipH="1">
            <a:off x="11109960" y="1447560"/>
            <a:ext cx="350280" cy="373320"/>
          </a:xfrm>
          <a:prstGeom prst="line">
            <a:avLst/>
          </a:prstGeom>
          <a:ln w="22680">
            <a:solidFill>
              <a:srgbClr val="bd4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350 Text"/>
          <p:cNvSpPr txBox="1"/>
          <p:nvPr/>
        </p:nvSpPr>
        <p:spPr>
          <a:xfrm>
            <a:off x="10188000" y="1600200"/>
            <a:ext cx="868680" cy="3351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0" i="1" lang="en-US" sz="870" spc="-1" strike="noStrike">
                <a:solidFill>
                  <a:srgbClr val="006d0d"/>
                </a:solidFill>
                <a:latin typeface="DejaVu Serif"/>
                <a:ea typeface="DejaVu Serif"/>
              </a:rPr>
              <a:t>G_insight⁽ᵗ⁺¹⁾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393" name="351 Text"/>
          <p:cNvSpPr txBox="1"/>
          <p:nvPr/>
        </p:nvSpPr>
        <p:spPr>
          <a:xfrm>
            <a:off x="9905760" y="1981080"/>
            <a:ext cx="891360" cy="53316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f01818"/>
                </a:solidFill>
                <a:latin typeface="DejaVu Serif"/>
                <a:ea typeface="DejaVu Serif"/>
              </a:rPr>
              <a:t>Update</a:t>
            </a:r>
            <a:endParaRPr b="0" lang="en-US" sz="1020" spc="-1" strike="noStrike">
              <a:latin typeface="Arial"/>
            </a:endParaRPr>
          </a:p>
          <a:p>
            <a:pPr algn="ctr">
              <a:buNone/>
            </a:pPr>
            <a:r>
              <a:rPr b="0" i="1" lang="en-US" sz="1020" spc="-1" strike="noStrike">
                <a:solidFill>
                  <a:srgbClr val="f01818"/>
                </a:solidFill>
                <a:latin typeface="DejaVu Serif"/>
                <a:ea typeface="DejaVu Serif"/>
              </a:rPr>
              <a:t>Insights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394" name="352 Query graph t plus 1"/>
          <p:cNvSpPr/>
          <p:nvPr/>
        </p:nvSpPr>
        <p:spPr>
          <a:xfrm>
            <a:off x="9982080" y="2522160"/>
            <a:ext cx="1981080" cy="1981080"/>
          </a:xfrm>
          <a:prstGeom prst="ellipse">
            <a:avLst/>
          </a:prstGeom>
          <a:solidFill>
            <a:srgbClr val="e7f0ff"/>
          </a:solidFill>
          <a:ln w="30240">
            <a:solidFill>
              <a:srgbClr val="003d72"/>
            </a:solidFill>
            <a:round/>
          </a:ln>
        </p:spPr>
      </p:sp>
      <p:sp>
        <p:nvSpPr>
          <p:cNvPr id="395" name="353 Graph edge"/>
          <p:cNvSpPr/>
          <p:nvPr/>
        </p:nvSpPr>
        <p:spPr>
          <a:xfrm>
            <a:off x="10378440" y="3192480"/>
            <a:ext cx="0" cy="72396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354 Graph edge"/>
          <p:cNvSpPr/>
          <p:nvPr/>
        </p:nvSpPr>
        <p:spPr>
          <a:xfrm flipV="1">
            <a:off x="10378440" y="3436560"/>
            <a:ext cx="571320" cy="47988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355 Graph edge"/>
          <p:cNvSpPr/>
          <p:nvPr/>
        </p:nvSpPr>
        <p:spPr>
          <a:xfrm>
            <a:off x="10949760" y="3436560"/>
            <a:ext cx="617400" cy="60192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356 Graph edge"/>
          <p:cNvSpPr/>
          <p:nvPr/>
        </p:nvSpPr>
        <p:spPr>
          <a:xfrm flipV="1">
            <a:off x="10949760" y="2986920"/>
            <a:ext cx="594360" cy="44964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357 Graph edge"/>
          <p:cNvSpPr/>
          <p:nvPr/>
        </p:nvSpPr>
        <p:spPr>
          <a:xfrm flipH="1" flipV="1">
            <a:off x="11544120" y="2986920"/>
            <a:ext cx="23040" cy="105156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358 Graph node"/>
          <p:cNvSpPr/>
          <p:nvPr/>
        </p:nvSpPr>
        <p:spPr>
          <a:xfrm>
            <a:off x="10210680" y="3025080"/>
            <a:ext cx="335160" cy="335160"/>
          </a:xfrm>
          <a:prstGeom prst="ellipse">
            <a:avLst/>
          </a:prstGeom>
          <a:solidFill>
            <a:srgbClr val="70a9e2"/>
          </a:solidFill>
          <a:ln w="30240">
            <a:solidFill>
              <a:srgbClr val="003d72"/>
            </a:solidFill>
            <a:round/>
          </a:ln>
        </p:spPr>
      </p:sp>
      <p:sp>
        <p:nvSpPr>
          <p:cNvPr id="401" name="359 Graph node label"/>
          <p:cNvSpPr txBox="1"/>
          <p:nvPr/>
        </p:nvSpPr>
        <p:spPr>
          <a:xfrm>
            <a:off x="10210680" y="3032640"/>
            <a:ext cx="335160" cy="320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222222"/>
                </a:solidFill>
                <a:latin typeface="DejaVu Serif"/>
                <a:ea typeface="DejaVu Serif"/>
              </a:rPr>
              <a:t>q₁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402" name="360 Graph node"/>
          <p:cNvSpPr/>
          <p:nvPr/>
        </p:nvSpPr>
        <p:spPr>
          <a:xfrm>
            <a:off x="10210680" y="3794760"/>
            <a:ext cx="335160" cy="335160"/>
          </a:xfrm>
          <a:prstGeom prst="ellipse">
            <a:avLst/>
          </a:prstGeom>
          <a:solidFill>
            <a:srgbClr val="70a9e2"/>
          </a:solidFill>
          <a:ln w="30240">
            <a:solidFill>
              <a:srgbClr val="003d72"/>
            </a:solidFill>
            <a:round/>
          </a:ln>
        </p:spPr>
      </p:sp>
      <p:sp>
        <p:nvSpPr>
          <p:cNvPr id="403" name="361 Graph node label"/>
          <p:cNvSpPr txBox="1"/>
          <p:nvPr/>
        </p:nvSpPr>
        <p:spPr>
          <a:xfrm>
            <a:off x="10210680" y="3802320"/>
            <a:ext cx="335160" cy="320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222222"/>
                </a:solidFill>
                <a:latin typeface="DejaVu Serif"/>
                <a:ea typeface="DejaVu Serif"/>
              </a:rPr>
              <a:t>q₂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404" name="362 New query node"/>
          <p:cNvSpPr/>
          <p:nvPr/>
        </p:nvSpPr>
        <p:spPr>
          <a:xfrm>
            <a:off x="10751760" y="3238200"/>
            <a:ext cx="396000" cy="396000"/>
          </a:xfrm>
          <a:prstGeom prst="ellipse">
            <a:avLst/>
          </a:prstGeom>
          <a:solidFill>
            <a:srgbClr val="ffe8e4"/>
          </a:solidFill>
          <a:ln w="30240">
            <a:solidFill>
              <a:srgbClr val="bd4a4a"/>
            </a:solidFill>
            <a:round/>
          </a:ln>
        </p:spPr>
      </p:sp>
      <p:sp>
        <p:nvSpPr>
          <p:cNvPr id="405" name="363 New query node label"/>
          <p:cNvSpPr txBox="1"/>
          <p:nvPr/>
        </p:nvSpPr>
        <p:spPr>
          <a:xfrm>
            <a:off x="10751760" y="3246120"/>
            <a:ext cx="396000" cy="3808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80" spc="-1" strike="noStrike">
                <a:solidFill>
                  <a:srgbClr val="5d1d1d"/>
                </a:solidFill>
                <a:latin typeface="DejaVu Serif"/>
                <a:ea typeface="DejaVu Serif"/>
              </a:rPr>
              <a:t>q₆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406" name="364 Graph node"/>
          <p:cNvSpPr/>
          <p:nvPr/>
        </p:nvSpPr>
        <p:spPr>
          <a:xfrm>
            <a:off x="11391840" y="2811600"/>
            <a:ext cx="335160" cy="335160"/>
          </a:xfrm>
          <a:prstGeom prst="ellipse">
            <a:avLst/>
          </a:prstGeom>
          <a:solidFill>
            <a:srgbClr val="70a9e2"/>
          </a:solidFill>
          <a:ln w="30240">
            <a:solidFill>
              <a:srgbClr val="003d72"/>
            </a:solidFill>
            <a:round/>
          </a:ln>
        </p:spPr>
      </p:sp>
      <p:sp>
        <p:nvSpPr>
          <p:cNvPr id="407" name="365 Graph node label"/>
          <p:cNvSpPr txBox="1"/>
          <p:nvPr/>
        </p:nvSpPr>
        <p:spPr>
          <a:xfrm>
            <a:off x="11391840" y="2819160"/>
            <a:ext cx="335160" cy="320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222222"/>
                </a:solidFill>
                <a:latin typeface="DejaVu Serif"/>
                <a:ea typeface="DejaVu Serif"/>
              </a:rPr>
              <a:t>q₅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408" name="366 Graph node"/>
          <p:cNvSpPr/>
          <p:nvPr/>
        </p:nvSpPr>
        <p:spPr>
          <a:xfrm>
            <a:off x="11399400" y="3863160"/>
            <a:ext cx="335160" cy="335160"/>
          </a:xfrm>
          <a:prstGeom prst="ellipse">
            <a:avLst/>
          </a:prstGeom>
          <a:solidFill>
            <a:srgbClr val="70a9e2"/>
          </a:solidFill>
          <a:ln w="30240">
            <a:solidFill>
              <a:srgbClr val="003d72"/>
            </a:solidFill>
            <a:round/>
          </a:ln>
        </p:spPr>
      </p:sp>
      <p:sp>
        <p:nvSpPr>
          <p:cNvPr id="409" name="367 Graph node label"/>
          <p:cNvSpPr txBox="1"/>
          <p:nvPr/>
        </p:nvSpPr>
        <p:spPr>
          <a:xfrm>
            <a:off x="11399400" y="3870720"/>
            <a:ext cx="335160" cy="320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222222"/>
                </a:solidFill>
                <a:latin typeface="DejaVu Serif"/>
                <a:ea typeface="DejaVu Serif"/>
              </a:rPr>
              <a:t>q₃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410" name="368 Graph node"/>
          <p:cNvSpPr/>
          <p:nvPr/>
        </p:nvSpPr>
        <p:spPr>
          <a:xfrm>
            <a:off x="11673720" y="3436560"/>
            <a:ext cx="335160" cy="335160"/>
          </a:xfrm>
          <a:prstGeom prst="ellipse">
            <a:avLst/>
          </a:prstGeom>
          <a:solidFill>
            <a:srgbClr val="70a9e2"/>
          </a:solidFill>
          <a:ln w="30240">
            <a:solidFill>
              <a:srgbClr val="003d72"/>
            </a:solidFill>
            <a:round/>
          </a:ln>
        </p:spPr>
      </p:sp>
      <p:sp>
        <p:nvSpPr>
          <p:cNvPr id="411" name="369 Graph node label"/>
          <p:cNvSpPr txBox="1"/>
          <p:nvPr/>
        </p:nvSpPr>
        <p:spPr>
          <a:xfrm>
            <a:off x="11673720" y="3444120"/>
            <a:ext cx="335160" cy="320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ctr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222222"/>
                </a:solidFill>
                <a:latin typeface="DejaVu Serif"/>
                <a:ea typeface="DejaVu Serif"/>
              </a:rPr>
              <a:t>q₄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412" name="370 Graph edge"/>
          <p:cNvSpPr/>
          <p:nvPr/>
        </p:nvSpPr>
        <p:spPr>
          <a:xfrm flipV="1">
            <a:off x="10949760" y="2179080"/>
            <a:ext cx="0" cy="1059120"/>
          </a:xfrm>
          <a:prstGeom prst="line">
            <a:avLst/>
          </a:prstGeom>
          <a:ln w="22680">
            <a:solidFill>
              <a:srgbClr val="bd4a4a"/>
            </a:solidFill>
            <a:custDash>
              <a:ds d="31746" sp="31746"/>
              <a:ds d="31746" sp="31746"/>
            </a:custDash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371 Graph edge"/>
          <p:cNvSpPr/>
          <p:nvPr/>
        </p:nvSpPr>
        <p:spPr>
          <a:xfrm>
            <a:off x="10949760" y="3634560"/>
            <a:ext cx="0" cy="1089720"/>
          </a:xfrm>
          <a:prstGeom prst="line">
            <a:avLst/>
          </a:prstGeom>
          <a:ln w="22680">
            <a:solidFill>
              <a:srgbClr val="bd4a4a"/>
            </a:solidFill>
            <a:custDash>
              <a:ds d="31746" sp="31746"/>
              <a:ds d="31746" sp="31746"/>
            </a:custDash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372 Text"/>
          <p:cNvSpPr txBox="1"/>
          <p:nvPr/>
        </p:nvSpPr>
        <p:spPr>
          <a:xfrm>
            <a:off x="9829800" y="4076640"/>
            <a:ext cx="975240" cy="3808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0" i="1" lang="en-US" sz="870" spc="-1" strike="noStrike">
                <a:solidFill>
                  <a:srgbClr val="003d72"/>
                </a:solidFill>
                <a:latin typeface="DejaVu Serif"/>
                <a:ea typeface="DejaVu Serif"/>
              </a:rPr>
              <a:t>G_query⁽ᵗ⁺¹⁾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415" name="373 Forward process"/>
          <p:cNvSpPr/>
          <p:nvPr/>
        </p:nvSpPr>
        <p:spPr>
          <a:xfrm>
            <a:off x="9662040" y="3444120"/>
            <a:ext cx="945000" cy="0"/>
          </a:xfrm>
          <a:prstGeom prst="line">
            <a:avLst/>
          </a:prstGeom>
          <a:ln w="99000">
            <a:solidFill>
              <a:srgbClr val="f01818">
                <a:alpha val="7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374 Forward process inset"/>
          <p:cNvSpPr/>
          <p:nvPr/>
        </p:nvSpPr>
        <p:spPr>
          <a:xfrm>
            <a:off x="9662040" y="3444120"/>
            <a:ext cx="807840" cy="0"/>
          </a:xfrm>
          <a:prstGeom prst="line">
            <a:avLst/>
          </a:prstGeom>
          <a:ln w="53280">
            <a:solidFill>
              <a:srgbClr val="ffd8d8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375 Interaction graph Q updated"/>
          <p:cNvSpPr/>
          <p:nvPr/>
        </p:nvSpPr>
        <p:spPr>
          <a:xfrm>
            <a:off x="9982080" y="4724280"/>
            <a:ext cx="1981080" cy="1981080"/>
          </a:xfrm>
          <a:prstGeom prst="ellipse">
            <a:avLst/>
          </a:prstGeom>
          <a:solidFill>
            <a:srgbClr val="f7e4f3"/>
          </a:solidFill>
          <a:ln w="30240">
            <a:solidFill>
              <a:srgbClr val="3e0077"/>
            </a:solidFill>
            <a:round/>
          </a:ln>
        </p:spPr>
      </p:sp>
      <p:sp>
        <p:nvSpPr>
          <p:cNvPr id="418" name="376 Graph edge"/>
          <p:cNvSpPr/>
          <p:nvPr/>
        </p:nvSpPr>
        <p:spPr>
          <a:xfrm>
            <a:off x="10561320" y="5394960"/>
            <a:ext cx="830520" cy="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377 Graph edge"/>
          <p:cNvSpPr/>
          <p:nvPr/>
        </p:nvSpPr>
        <p:spPr>
          <a:xfrm>
            <a:off x="10561320" y="5394960"/>
            <a:ext cx="0" cy="75420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378 Graph edge"/>
          <p:cNvSpPr/>
          <p:nvPr/>
        </p:nvSpPr>
        <p:spPr>
          <a:xfrm>
            <a:off x="10561320" y="6149160"/>
            <a:ext cx="830520" cy="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379 Graph edge"/>
          <p:cNvSpPr/>
          <p:nvPr/>
        </p:nvSpPr>
        <p:spPr>
          <a:xfrm flipV="1">
            <a:off x="11391840" y="5394960"/>
            <a:ext cx="0" cy="754200"/>
          </a:xfrm>
          <a:prstGeom prst="line">
            <a:avLst/>
          </a:prstGeom>
          <a:ln w="22680">
            <a:solidFill>
              <a:srgbClr val="7373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380 Updated interaction agent"/>
          <p:cNvSpPr/>
          <p:nvPr/>
        </p:nvSpPr>
        <p:spPr>
          <a:xfrm>
            <a:off x="10431720" y="526536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423" name="381 Updated interaction agent screen"/>
          <p:cNvSpPr/>
          <p:nvPr/>
        </p:nvSpPr>
        <p:spPr>
          <a:xfrm>
            <a:off x="10486080" y="5345640"/>
            <a:ext cx="150120" cy="109800"/>
          </a:xfrm>
          <a:prstGeom prst="roundRect">
            <a:avLst/>
          </a:prstGeom>
          <a:solidFill>
            <a:srgbClr val="ffd4e2"/>
          </a:solidFill>
          <a:ln w="9720">
            <a:solidFill>
              <a:srgbClr val="222222"/>
            </a:solidFill>
            <a:round/>
          </a:ln>
        </p:spPr>
      </p:sp>
      <p:sp>
        <p:nvSpPr>
          <p:cNvPr id="424" name="382 Updated interaction agent eye"/>
          <p:cNvSpPr/>
          <p:nvPr/>
        </p:nvSpPr>
        <p:spPr>
          <a:xfrm>
            <a:off x="10519920" y="538200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425" name="383 Updated interaction agent eye"/>
          <p:cNvSpPr/>
          <p:nvPr/>
        </p:nvSpPr>
        <p:spPr>
          <a:xfrm>
            <a:off x="10576800" y="538200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426" name="384 Graph edge"/>
          <p:cNvSpPr/>
          <p:nvPr/>
        </p:nvSpPr>
        <p:spPr>
          <a:xfrm>
            <a:off x="10515960" y="542340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385 Graph edge"/>
          <p:cNvSpPr/>
          <p:nvPr/>
        </p:nvSpPr>
        <p:spPr>
          <a:xfrm flipV="1">
            <a:off x="10561320" y="530676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386 Updated interaction agent antenna"/>
          <p:cNvSpPr/>
          <p:nvPr/>
        </p:nvSpPr>
        <p:spPr>
          <a:xfrm>
            <a:off x="10545840" y="529380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429" name="387 Updated interaction agent"/>
          <p:cNvSpPr/>
          <p:nvPr/>
        </p:nvSpPr>
        <p:spPr>
          <a:xfrm>
            <a:off x="11262240" y="526536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430" name="388 Updated interaction agent screen"/>
          <p:cNvSpPr/>
          <p:nvPr/>
        </p:nvSpPr>
        <p:spPr>
          <a:xfrm>
            <a:off x="11316600" y="5345640"/>
            <a:ext cx="150120" cy="109800"/>
          </a:xfrm>
          <a:prstGeom prst="roundRect">
            <a:avLst/>
          </a:prstGeom>
          <a:solidFill>
            <a:srgbClr val="ffd4e2"/>
          </a:solidFill>
          <a:ln w="9720">
            <a:solidFill>
              <a:srgbClr val="222222"/>
            </a:solidFill>
            <a:round/>
          </a:ln>
        </p:spPr>
      </p:sp>
      <p:sp>
        <p:nvSpPr>
          <p:cNvPr id="431" name="389 Updated interaction agent eye"/>
          <p:cNvSpPr/>
          <p:nvPr/>
        </p:nvSpPr>
        <p:spPr>
          <a:xfrm>
            <a:off x="11350440" y="538200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432" name="390 Updated interaction agent eye"/>
          <p:cNvSpPr/>
          <p:nvPr/>
        </p:nvSpPr>
        <p:spPr>
          <a:xfrm>
            <a:off x="11407320" y="538200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433" name="391 Graph edge"/>
          <p:cNvSpPr/>
          <p:nvPr/>
        </p:nvSpPr>
        <p:spPr>
          <a:xfrm>
            <a:off x="11346480" y="542340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392 Graph edge"/>
          <p:cNvSpPr/>
          <p:nvPr/>
        </p:nvSpPr>
        <p:spPr>
          <a:xfrm flipV="1">
            <a:off x="11391840" y="530676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393 Updated interaction agent antenna"/>
          <p:cNvSpPr/>
          <p:nvPr/>
        </p:nvSpPr>
        <p:spPr>
          <a:xfrm>
            <a:off x="11376720" y="529380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436" name="394 Updated interaction agent"/>
          <p:cNvSpPr/>
          <p:nvPr/>
        </p:nvSpPr>
        <p:spPr>
          <a:xfrm>
            <a:off x="10431720" y="601956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437" name="395 Updated interaction agent screen"/>
          <p:cNvSpPr/>
          <p:nvPr/>
        </p:nvSpPr>
        <p:spPr>
          <a:xfrm>
            <a:off x="10486080" y="6099840"/>
            <a:ext cx="150120" cy="109800"/>
          </a:xfrm>
          <a:prstGeom prst="roundRect">
            <a:avLst/>
          </a:prstGeom>
          <a:solidFill>
            <a:srgbClr val="ffd4e2"/>
          </a:solidFill>
          <a:ln w="9720">
            <a:solidFill>
              <a:srgbClr val="222222"/>
            </a:solidFill>
            <a:round/>
          </a:ln>
        </p:spPr>
      </p:sp>
      <p:sp>
        <p:nvSpPr>
          <p:cNvPr id="438" name="396 Updated interaction agent eye"/>
          <p:cNvSpPr/>
          <p:nvPr/>
        </p:nvSpPr>
        <p:spPr>
          <a:xfrm>
            <a:off x="10519920" y="613620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439" name="397 Updated interaction agent eye"/>
          <p:cNvSpPr/>
          <p:nvPr/>
        </p:nvSpPr>
        <p:spPr>
          <a:xfrm>
            <a:off x="10576800" y="613620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440" name="398 Graph edge"/>
          <p:cNvSpPr/>
          <p:nvPr/>
        </p:nvSpPr>
        <p:spPr>
          <a:xfrm>
            <a:off x="10515960" y="617760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399 Graph edge"/>
          <p:cNvSpPr/>
          <p:nvPr/>
        </p:nvSpPr>
        <p:spPr>
          <a:xfrm flipV="1">
            <a:off x="10561320" y="606096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400 Updated interaction agent antenna"/>
          <p:cNvSpPr/>
          <p:nvPr/>
        </p:nvSpPr>
        <p:spPr>
          <a:xfrm>
            <a:off x="10545840" y="604800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443" name="401 Updated interaction agent"/>
          <p:cNvSpPr/>
          <p:nvPr/>
        </p:nvSpPr>
        <p:spPr>
          <a:xfrm>
            <a:off x="11262240" y="6019560"/>
            <a:ext cx="258840" cy="258840"/>
          </a:xfrm>
          <a:prstGeom prst="ellipse">
            <a:avLst/>
          </a:prstGeom>
          <a:solidFill>
            <a:srgbClr val="512083"/>
          </a:solidFill>
          <a:ln w="12600">
            <a:solidFill>
              <a:srgbClr val="222222"/>
            </a:solidFill>
            <a:round/>
          </a:ln>
        </p:spPr>
      </p:sp>
      <p:sp>
        <p:nvSpPr>
          <p:cNvPr id="444" name="402 Updated interaction agent screen"/>
          <p:cNvSpPr/>
          <p:nvPr/>
        </p:nvSpPr>
        <p:spPr>
          <a:xfrm>
            <a:off x="11316600" y="6099840"/>
            <a:ext cx="150120" cy="109800"/>
          </a:xfrm>
          <a:prstGeom prst="roundRect">
            <a:avLst/>
          </a:prstGeom>
          <a:solidFill>
            <a:srgbClr val="fff4b7"/>
          </a:solidFill>
          <a:ln w="9720">
            <a:solidFill>
              <a:srgbClr val="222222"/>
            </a:solidFill>
            <a:round/>
          </a:ln>
        </p:spPr>
      </p:sp>
      <p:sp>
        <p:nvSpPr>
          <p:cNvPr id="445" name="403 Updated interaction agent eye"/>
          <p:cNvSpPr/>
          <p:nvPr/>
        </p:nvSpPr>
        <p:spPr>
          <a:xfrm>
            <a:off x="11350440" y="6136200"/>
            <a:ext cx="25560" cy="25560"/>
          </a:xfrm>
          <a:prstGeom prst="ellipse">
            <a:avLst/>
          </a:prstGeom>
          <a:solidFill>
            <a:srgbClr val="1c4b8f"/>
          </a:solidFill>
          <a:ln w="3600">
            <a:solidFill>
              <a:srgbClr val="1c4b8f"/>
            </a:solidFill>
            <a:round/>
          </a:ln>
        </p:spPr>
      </p:sp>
      <p:sp>
        <p:nvSpPr>
          <p:cNvPr id="446" name="404 Updated interaction agent eye"/>
          <p:cNvSpPr/>
          <p:nvPr/>
        </p:nvSpPr>
        <p:spPr>
          <a:xfrm>
            <a:off x="11407320" y="6136200"/>
            <a:ext cx="25560" cy="25560"/>
          </a:xfrm>
          <a:prstGeom prst="ellipse">
            <a:avLst/>
          </a:prstGeom>
          <a:solidFill>
            <a:srgbClr val="d51c67"/>
          </a:solidFill>
          <a:ln w="3600">
            <a:solidFill>
              <a:srgbClr val="d51c67"/>
            </a:solidFill>
            <a:round/>
          </a:ln>
        </p:spPr>
      </p:sp>
      <p:sp>
        <p:nvSpPr>
          <p:cNvPr id="447" name="405 Graph edge"/>
          <p:cNvSpPr/>
          <p:nvPr/>
        </p:nvSpPr>
        <p:spPr>
          <a:xfrm>
            <a:off x="11346480" y="6177600"/>
            <a:ext cx="90720" cy="0"/>
          </a:xfrm>
          <a:prstGeom prst="line">
            <a:avLst/>
          </a:prstGeom>
          <a:ln w="9000">
            <a:solidFill>
              <a:srgbClr val="d51c6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406 Graph edge"/>
          <p:cNvSpPr/>
          <p:nvPr/>
        </p:nvSpPr>
        <p:spPr>
          <a:xfrm flipV="1">
            <a:off x="11391840" y="6060960"/>
            <a:ext cx="0" cy="38880"/>
          </a:xfrm>
          <a:prstGeom prst="line">
            <a:avLst/>
          </a:prstGeom>
          <a:ln w="90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407 Updated interaction agent antenna"/>
          <p:cNvSpPr/>
          <p:nvPr/>
        </p:nvSpPr>
        <p:spPr>
          <a:xfrm>
            <a:off x="11376720" y="6048000"/>
            <a:ext cx="30240" cy="30240"/>
          </a:xfrm>
          <a:prstGeom prst="ellipse">
            <a:avLst/>
          </a:prstGeom>
          <a:solidFill>
            <a:srgbClr val="ffcf27"/>
          </a:solidFill>
          <a:ln w="4320">
            <a:solidFill>
              <a:srgbClr val="222222"/>
            </a:solidFill>
            <a:round/>
          </a:ln>
        </p:spPr>
      </p:sp>
      <p:sp>
        <p:nvSpPr>
          <p:cNvPr id="450" name="408 Chat bubble"/>
          <p:cNvSpPr/>
          <p:nvPr/>
        </p:nvSpPr>
        <p:spPr>
          <a:xfrm>
            <a:off x="9966960" y="4945320"/>
            <a:ext cx="419040" cy="289440"/>
          </a:xfrm>
          <a:prstGeom prst="roundRect">
            <a:avLst/>
          </a:prstGeom>
          <a:solidFill>
            <a:srgbClr val="37a6e9"/>
          </a:solidFill>
          <a:ln w="7560">
            <a:solidFill>
              <a:srgbClr val="37a6e9"/>
            </a:solidFill>
            <a:round/>
          </a:ln>
        </p:spPr>
      </p:sp>
      <p:sp>
        <p:nvSpPr>
          <p:cNvPr id="451" name="409 Chat tail"/>
          <p:cNvSpPr/>
          <p:nvPr/>
        </p:nvSpPr>
        <p:spPr>
          <a:xfrm>
            <a:off x="10050840" y="5234760"/>
            <a:ext cx="62640" cy="91440"/>
          </a:xfrm>
          <a:custGeom>
            <a:avLst/>
            <a:gdLst/>
            <a:ahLst/>
            <a:rect l="0" t="0" r="r" b="b"/>
            <a:pathLst>
              <a:path w="174" h="254">
                <a:moveTo>
                  <a:pt x="0" y="0"/>
                </a:moveTo>
                <a:lnTo>
                  <a:pt x="174" y="0"/>
                </a:lnTo>
                <a:lnTo>
                  <a:pt x="69" y="254"/>
                </a:lnTo>
                <a:lnTo>
                  <a:pt x="0" y="0"/>
                </a:lnTo>
                <a:close/>
              </a:path>
            </a:pathLst>
          </a:custGeom>
          <a:solidFill>
            <a:srgbClr val="37a6e9"/>
          </a:solidFill>
          <a:ln w="7560">
            <a:solidFill>
              <a:srgbClr val="37a6e9"/>
            </a:solidFill>
            <a:round/>
          </a:ln>
        </p:spPr>
      </p:sp>
      <p:sp>
        <p:nvSpPr>
          <p:cNvPr id="452" name="410 Chat dot"/>
          <p:cNvSpPr/>
          <p:nvPr/>
        </p:nvSpPr>
        <p:spPr>
          <a:xfrm>
            <a:off x="10065960" y="504432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53" name="411 Chat dot"/>
          <p:cNvSpPr/>
          <p:nvPr/>
        </p:nvSpPr>
        <p:spPr>
          <a:xfrm>
            <a:off x="10164960" y="504432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54" name="412 Chat dot"/>
          <p:cNvSpPr/>
          <p:nvPr/>
        </p:nvSpPr>
        <p:spPr>
          <a:xfrm>
            <a:off x="10263960" y="504432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55" name="413 Chat bubble"/>
          <p:cNvSpPr/>
          <p:nvPr/>
        </p:nvSpPr>
        <p:spPr>
          <a:xfrm>
            <a:off x="11376720" y="4838400"/>
            <a:ext cx="464760" cy="289440"/>
          </a:xfrm>
          <a:prstGeom prst="roundRect">
            <a:avLst/>
          </a:prstGeom>
          <a:solidFill>
            <a:srgbClr val="37a6e9"/>
          </a:solidFill>
          <a:ln w="7560">
            <a:solidFill>
              <a:srgbClr val="37a6e9"/>
            </a:solidFill>
            <a:round/>
          </a:ln>
        </p:spPr>
      </p:sp>
      <p:sp>
        <p:nvSpPr>
          <p:cNvPr id="456" name="414 Chat tail"/>
          <p:cNvSpPr/>
          <p:nvPr/>
        </p:nvSpPr>
        <p:spPr>
          <a:xfrm>
            <a:off x="11469600" y="5128200"/>
            <a:ext cx="69840" cy="91440"/>
          </a:xfrm>
          <a:custGeom>
            <a:avLst/>
            <a:gdLst/>
            <a:ahLst/>
            <a:rect l="0" t="0" r="r" b="b"/>
            <a:pathLst>
              <a:path w="194" h="254">
                <a:moveTo>
                  <a:pt x="0" y="0"/>
                </a:moveTo>
                <a:lnTo>
                  <a:pt x="194" y="0"/>
                </a:lnTo>
                <a:lnTo>
                  <a:pt x="77" y="254"/>
                </a:lnTo>
                <a:lnTo>
                  <a:pt x="0" y="0"/>
                </a:lnTo>
                <a:close/>
              </a:path>
            </a:pathLst>
          </a:custGeom>
          <a:solidFill>
            <a:srgbClr val="37a6e9"/>
          </a:solidFill>
          <a:ln w="7560">
            <a:solidFill>
              <a:srgbClr val="37a6e9"/>
            </a:solidFill>
            <a:round/>
          </a:ln>
        </p:spPr>
      </p:sp>
      <p:sp>
        <p:nvSpPr>
          <p:cNvPr id="457" name="415 Chat dot"/>
          <p:cNvSpPr/>
          <p:nvPr/>
        </p:nvSpPr>
        <p:spPr>
          <a:xfrm>
            <a:off x="11475720" y="493776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58" name="416 Chat dot"/>
          <p:cNvSpPr/>
          <p:nvPr/>
        </p:nvSpPr>
        <p:spPr>
          <a:xfrm>
            <a:off x="11574720" y="493776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59" name="417 Chat dot"/>
          <p:cNvSpPr/>
          <p:nvPr/>
        </p:nvSpPr>
        <p:spPr>
          <a:xfrm>
            <a:off x="11673720" y="493776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60" name="418 Chat bubble"/>
          <p:cNvSpPr/>
          <p:nvPr/>
        </p:nvSpPr>
        <p:spPr>
          <a:xfrm>
            <a:off x="9989640" y="5691960"/>
            <a:ext cx="472320" cy="289440"/>
          </a:xfrm>
          <a:prstGeom prst="roundRect">
            <a:avLst/>
          </a:prstGeom>
          <a:solidFill>
            <a:srgbClr val="37a6e9"/>
          </a:solidFill>
          <a:ln w="7560">
            <a:solidFill>
              <a:srgbClr val="37a6e9"/>
            </a:solidFill>
            <a:round/>
          </a:ln>
        </p:spPr>
      </p:sp>
      <p:sp>
        <p:nvSpPr>
          <p:cNvPr id="461" name="419 Chat tail"/>
          <p:cNvSpPr/>
          <p:nvPr/>
        </p:nvSpPr>
        <p:spPr>
          <a:xfrm>
            <a:off x="10084320" y="5981400"/>
            <a:ext cx="70920" cy="91440"/>
          </a:xfrm>
          <a:custGeom>
            <a:avLst/>
            <a:gdLst/>
            <a:ahLst/>
            <a:rect l="0" t="0" r="r" b="b"/>
            <a:pathLst>
              <a:path w="197" h="254">
                <a:moveTo>
                  <a:pt x="0" y="0"/>
                </a:moveTo>
                <a:lnTo>
                  <a:pt x="197" y="0"/>
                </a:lnTo>
                <a:lnTo>
                  <a:pt x="78" y="254"/>
                </a:lnTo>
                <a:lnTo>
                  <a:pt x="0" y="0"/>
                </a:lnTo>
                <a:close/>
              </a:path>
            </a:pathLst>
          </a:custGeom>
          <a:solidFill>
            <a:srgbClr val="37a6e9"/>
          </a:solidFill>
          <a:ln w="7560">
            <a:solidFill>
              <a:srgbClr val="37a6e9"/>
            </a:solidFill>
            <a:round/>
          </a:ln>
        </p:spPr>
      </p:sp>
      <p:sp>
        <p:nvSpPr>
          <p:cNvPr id="462" name="420 Chat dot"/>
          <p:cNvSpPr/>
          <p:nvPr/>
        </p:nvSpPr>
        <p:spPr>
          <a:xfrm>
            <a:off x="10088640" y="579096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63" name="421 Chat dot"/>
          <p:cNvSpPr/>
          <p:nvPr/>
        </p:nvSpPr>
        <p:spPr>
          <a:xfrm>
            <a:off x="10188000" y="579096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64" name="422 Chat dot"/>
          <p:cNvSpPr/>
          <p:nvPr/>
        </p:nvSpPr>
        <p:spPr>
          <a:xfrm>
            <a:off x="10287000" y="579096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65" name="423 Chat bubble"/>
          <p:cNvSpPr/>
          <p:nvPr/>
        </p:nvSpPr>
        <p:spPr>
          <a:xfrm>
            <a:off x="11391840" y="5669280"/>
            <a:ext cx="472320" cy="289440"/>
          </a:xfrm>
          <a:prstGeom prst="roundRect">
            <a:avLst/>
          </a:prstGeom>
          <a:solidFill>
            <a:srgbClr val="37a6e9"/>
          </a:solidFill>
          <a:ln w="7560">
            <a:solidFill>
              <a:srgbClr val="37a6e9"/>
            </a:solidFill>
            <a:round/>
          </a:ln>
        </p:spPr>
      </p:sp>
      <p:sp>
        <p:nvSpPr>
          <p:cNvPr id="466" name="424 Chat tail"/>
          <p:cNvSpPr/>
          <p:nvPr/>
        </p:nvSpPr>
        <p:spPr>
          <a:xfrm>
            <a:off x="11486160" y="5958720"/>
            <a:ext cx="70920" cy="91440"/>
          </a:xfrm>
          <a:custGeom>
            <a:avLst/>
            <a:gdLst/>
            <a:ahLst/>
            <a:rect l="0" t="0" r="r" b="b"/>
            <a:pathLst>
              <a:path w="197" h="254">
                <a:moveTo>
                  <a:pt x="0" y="0"/>
                </a:moveTo>
                <a:lnTo>
                  <a:pt x="197" y="0"/>
                </a:lnTo>
                <a:lnTo>
                  <a:pt x="79" y="254"/>
                </a:lnTo>
                <a:lnTo>
                  <a:pt x="0" y="0"/>
                </a:lnTo>
                <a:close/>
              </a:path>
            </a:pathLst>
          </a:custGeom>
          <a:solidFill>
            <a:srgbClr val="37a6e9"/>
          </a:solidFill>
          <a:ln w="7560">
            <a:solidFill>
              <a:srgbClr val="37a6e9"/>
            </a:solidFill>
            <a:round/>
          </a:ln>
        </p:spPr>
      </p:sp>
      <p:sp>
        <p:nvSpPr>
          <p:cNvPr id="467" name="425 Chat dot"/>
          <p:cNvSpPr/>
          <p:nvPr/>
        </p:nvSpPr>
        <p:spPr>
          <a:xfrm>
            <a:off x="11490840" y="576828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68" name="426 Chat dot"/>
          <p:cNvSpPr/>
          <p:nvPr/>
        </p:nvSpPr>
        <p:spPr>
          <a:xfrm>
            <a:off x="11589840" y="576828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69" name="427 Chat dot"/>
          <p:cNvSpPr/>
          <p:nvPr/>
        </p:nvSpPr>
        <p:spPr>
          <a:xfrm>
            <a:off x="11688840" y="5768280"/>
            <a:ext cx="60840" cy="60840"/>
          </a:xfrm>
          <a:prstGeom prst="ellipse">
            <a:avLst/>
          </a:prstGeom>
          <a:solidFill>
            <a:srgbClr val="ffffff"/>
          </a:solidFill>
          <a:ln w="3600">
            <a:solidFill>
              <a:srgbClr val="ffffff"/>
            </a:solidFill>
            <a:round/>
          </a:ln>
        </p:spPr>
      </p:sp>
      <p:sp>
        <p:nvSpPr>
          <p:cNvPr id="470" name="428 Text"/>
          <p:cNvSpPr txBox="1"/>
          <p:nvPr/>
        </p:nvSpPr>
        <p:spPr>
          <a:xfrm>
            <a:off x="10607040" y="5684400"/>
            <a:ext cx="761760" cy="3502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0" i="1" lang="en-US" sz="960" spc="-1" strike="noStrike">
                <a:solidFill>
                  <a:srgbClr val="333333"/>
                </a:solidFill>
                <a:latin typeface="DejaVu Serif"/>
                <a:ea typeface="DejaVu Serif"/>
              </a:rPr>
              <a:t>G_inter⁽Q⁾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471" name="429 Text"/>
          <p:cNvSpPr txBox="1"/>
          <p:nvPr/>
        </p:nvSpPr>
        <p:spPr>
          <a:xfrm>
            <a:off x="10439280" y="4305240"/>
            <a:ext cx="1143000" cy="4190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0" bIns="0" anchor="t" anchorCtr="1">
            <a:noAutofit/>
          </a:bodyPr>
          <a:p>
            <a:pPr algn="ctr">
              <a:buNone/>
            </a:pPr>
            <a:r>
              <a:rPr b="0" i="1" lang="en-US" sz="1020" spc="-1" strike="noStrike">
                <a:solidFill>
                  <a:srgbClr val="f01818"/>
                </a:solidFill>
                <a:latin typeface="DejaVu Serif"/>
                <a:ea typeface="DejaVu Serif"/>
              </a:rPr>
              <a:t>Update</a:t>
            </a:r>
            <a:endParaRPr b="0" lang="en-US" sz="1020" spc="-1" strike="noStrike">
              <a:latin typeface="Arial"/>
            </a:endParaRPr>
          </a:p>
          <a:p>
            <a:pPr algn="ctr">
              <a:buNone/>
            </a:pPr>
            <a:r>
              <a:rPr b="0" i="1" lang="en-US" sz="1020" spc="-1" strike="noStrike">
                <a:solidFill>
                  <a:srgbClr val="f01818"/>
                </a:solidFill>
                <a:latin typeface="DejaVu Serif"/>
                <a:ea typeface="DejaVu Serif"/>
              </a:rPr>
              <a:t>Interaction</a:t>
            </a:r>
            <a:endParaRPr b="0" lang="en-US" sz="10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7" name="Content Placeholder 6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8" name="Content Placeholder 7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pic>
        <p:nvPicPr>
          <p:cNvPr id="9" name="__ORIGINAL_REFERENCE_IMAGE__" descr="G-Memory Tracing Hierarchical Memory for Multi-Agent System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2"/>
            <a:ext cx="12192000" cy="6852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2026-09-07T21:46:14Z</dcterms:created>
  <dc:creator/>
  <dc:description/>
  <dc:language>en-US</dc:language>
  <cp:lastModifiedBy/>
  <dcterms:modified xsi:type="dcterms:W3CDTF">2026-09-07T21:46:30Z</dcterms:modified>
  <cp:revision>1</cp:revision>
  <dc:subject/>
  <dc:title/>
</cp:coreProperties>
</file>