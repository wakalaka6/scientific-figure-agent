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716000" cy="6847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nvas background"/>
          <p:cNvSpPr/>
          <p:nvPr/>
        </p:nvSpPr>
        <p:spPr>
          <a:xfrm>
            <a:off x="0" y="0"/>
            <a:ext cx="13716000" cy="684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MS section background"/>
          <p:cNvSpPr/>
          <p:nvPr/>
        </p:nvSpPr>
        <p:spPr>
          <a:xfrm>
            <a:off x="14400" y="43200"/>
            <a:ext cx="13687200" cy="3153600"/>
          </a:xfrm>
          <a:prstGeom prst="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JP section background"/>
          <p:cNvSpPr/>
          <p:nvPr/>
        </p:nvSpPr>
        <p:spPr>
          <a:xfrm>
            <a:off x="14400" y="3326400"/>
            <a:ext cx="13687200" cy="3520800"/>
          </a:xfrm>
          <a:prstGeom prst="rect">
            <a:avLst/>
          </a:prstGeom>
          <a:solidFill>
            <a:srgbClr val="F2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ataset panel"/>
          <p:cNvSpPr/>
          <p:nvPr/>
        </p:nvSpPr>
        <p:spPr>
          <a:xfrm>
            <a:off x="86400" y="158400"/>
            <a:ext cx="6897600" cy="2484000"/>
          </a:xfrm>
          <a:prstGeom prst="rect">
            <a:avLst/>
          </a:prstGeom>
          <a:solidFill>
            <a:srgbClr val="CBE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Dataset image — idr" descr="i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00" y="302400"/>
            <a:ext cx="1756800" cy="1728000"/>
          </a:xfrm>
          <a:prstGeom prst="rect">
            <a:avLst/>
          </a:prstGeom>
        </p:spPr>
      </p:pic>
      <p:pic>
        <p:nvPicPr>
          <p:cNvPr id="7" name="Dataset image — hipsc" descr="hip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200" y="302400"/>
            <a:ext cx="1764000" cy="1728000"/>
          </a:xfrm>
          <a:prstGeom prst="rect">
            <a:avLst/>
          </a:prstGeom>
        </p:spPr>
      </p:pic>
      <p:pic>
        <p:nvPicPr>
          <p:cNvPr id="8" name="Dataset image — atlas" descr="atl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8400" y="302400"/>
            <a:ext cx="2937600" cy="1728000"/>
          </a:xfrm>
          <a:prstGeom prst="rect">
            <a:avLst/>
          </a:prstGeom>
        </p:spPr>
      </p:pic>
      <p:sp>
        <p:nvSpPr>
          <p:cNvPr id="9" name="Dataset summary"/>
          <p:cNvSpPr txBox="1"/>
          <p:nvPr/>
        </p:nvSpPr>
        <p:spPr>
          <a:xfrm>
            <a:off x="201600" y="2210400"/>
            <a:ext cx="612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8E959D"/>
                </a:solidFill>
                <a:latin typeface="Arial"/>
              </a:rPr>
              <a:t>Raw-level Dataset, 2-5D dimensionality, MB-TB level file size</a:t>
            </a:r>
          </a:p>
        </p:txBody>
      </p:sp>
      <p:sp>
        <p:nvSpPr>
          <p:cNvPr id="10" name="More datasets indicator"/>
          <p:cNvSpPr txBox="1"/>
          <p:nvPr/>
        </p:nvSpPr>
        <p:spPr>
          <a:xfrm>
            <a:off x="6480000" y="2059200"/>
            <a:ext cx="4176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0" b="1" i="0">
                <a:solidFill>
                  <a:srgbClr val="4F77C5"/>
                </a:solidFill>
                <a:latin typeface="Arial"/>
              </a:rPr>
              <a:t>•••  •••</a:t>
            </a:r>
          </a:p>
        </p:txBody>
      </p:sp>
      <p:cxnSp>
        <p:nvCxnSpPr>
          <p:cNvPr id="11" name="Dataset to RMS arrow"/>
          <p:cNvCxnSpPr/>
          <p:nvPr/>
        </p:nvCxnSpPr>
        <p:spPr>
          <a:xfrm>
            <a:off x="6984000" y="885600"/>
            <a:ext cx="432000" cy="0"/>
          </a:xfrm>
          <a:prstGeom prst="line">
            <a:avLst/>
          </a:prstGeom>
          <a:ln w="11520">
            <a:solidFill>
              <a:srgbClr val="4F77C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MS title"/>
          <p:cNvSpPr txBox="1"/>
          <p:nvPr/>
        </p:nvSpPr>
        <p:spPr>
          <a:xfrm>
            <a:off x="86400" y="2829600"/>
            <a:ext cx="7776000" cy="31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4F77C5"/>
                </a:solidFill>
                <a:latin typeface="Arial"/>
              </a:rPr>
              <a:t>Multi-modal, Multi-dimensionality Dataset with Random Multi-scale Sampling (RMS)</a:t>
            </a:r>
          </a:p>
        </p:txBody>
      </p:sp>
      <p:sp>
        <p:nvSpPr>
          <p:cNvPr id="13" name="Sampling column band"/>
          <p:cNvSpPr/>
          <p:nvPr/>
        </p:nvSpPr>
        <p:spPr>
          <a:xfrm>
            <a:off x="9028800" y="158400"/>
            <a:ext cx="964800" cy="2937600"/>
          </a:xfrm>
          <a:prstGeom prst="rect">
            <a:avLst/>
          </a:prstGeom>
          <a:solidFill>
            <a:srgbClr val="DD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ampling column band"/>
          <p:cNvSpPr/>
          <p:nvPr/>
        </p:nvSpPr>
        <p:spPr>
          <a:xfrm>
            <a:off x="10000800" y="158400"/>
            <a:ext cx="892800" cy="2937600"/>
          </a:xfrm>
          <a:prstGeom prst="rect">
            <a:avLst/>
          </a:prstGeom>
          <a:solidFill>
            <a:srgbClr val="DDE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ampling column band"/>
          <p:cNvSpPr/>
          <p:nvPr/>
        </p:nvSpPr>
        <p:spPr>
          <a:xfrm>
            <a:off x="10936800" y="158400"/>
            <a:ext cx="885600" cy="2937600"/>
          </a:xfrm>
          <a:prstGeom prst="rect">
            <a:avLst/>
          </a:prstGeom>
          <a:solidFill>
            <a:srgbClr val="F5E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ampling column band"/>
          <p:cNvSpPr/>
          <p:nvPr/>
        </p:nvSpPr>
        <p:spPr>
          <a:xfrm>
            <a:off x="11865600" y="158400"/>
            <a:ext cx="892800" cy="2937600"/>
          </a:xfrm>
          <a:prstGeom prst="rect">
            <a:avLst/>
          </a:prstGeom>
          <a:solidFill>
            <a:srgbClr val="DF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ampling column band"/>
          <p:cNvSpPr/>
          <p:nvPr/>
        </p:nvSpPr>
        <p:spPr>
          <a:xfrm>
            <a:off x="12801600" y="158400"/>
            <a:ext cx="885600" cy="2937600"/>
          </a:xfrm>
          <a:prstGeom prst="rect">
            <a:avLst/>
          </a:prstGeom>
          <a:solidFill>
            <a:srgbClr val="F1E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— 12 Combo"/>
          <p:cNvSpPr txBox="1"/>
          <p:nvPr/>
        </p:nvSpPr>
        <p:spPr>
          <a:xfrm>
            <a:off x="9057600" y="158400"/>
            <a:ext cx="878400" cy="23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8E959D"/>
                </a:solidFill>
                <a:latin typeface="Arial"/>
              </a:rPr>
              <a:t>12 Combo</a:t>
            </a:r>
          </a:p>
        </p:txBody>
      </p:sp>
      <p:sp>
        <p:nvSpPr>
          <p:cNvPr id="19" name="Header — Masked"/>
          <p:cNvSpPr txBox="1"/>
          <p:nvPr/>
        </p:nvSpPr>
        <p:spPr>
          <a:xfrm>
            <a:off x="10000800" y="158400"/>
            <a:ext cx="878400" cy="23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8E959D"/>
                </a:solidFill>
                <a:latin typeface="Arial"/>
              </a:rPr>
              <a:t>Masked</a:t>
            </a:r>
          </a:p>
        </p:txBody>
      </p:sp>
      <p:sp>
        <p:nvSpPr>
          <p:cNvPr id="20" name="Header — Deformed"/>
          <p:cNvSpPr txBox="1"/>
          <p:nvPr/>
        </p:nvSpPr>
        <p:spPr>
          <a:xfrm>
            <a:off x="10944000" y="158400"/>
            <a:ext cx="878400" cy="23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8E959D"/>
                </a:solidFill>
                <a:latin typeface="Arial"/>
              </a:rPr>
              <a:t>Deformed</a:t>
            </a:r>
          </a:p>
        </p:txBody>
      </p:sp>
      <p:sp>
        <p:nvSpPr>
          <p:cNvPr id="21" name="Header — Noisy"/>
          <p:cNvSpPr txBox="1"/>
          <p:nvPr/>
        </p:nvSpPr>
        <p:spPr>
          <a:xfrm>
            <a:off x="11872800" y="158400"/>
            <a:ext cx="878400" cy="23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8E959D"/>
                </a:solidFill>
                <a:latin typeface="Arial"/>
              </a:rPr>
              <a:t>Noisy</a:t>
            </a:r>
          </a:p>
        </p:txBody>
      </p:sp>
      <p:sp>
        <p:nvSpPr>
          <p:cNvPr id="22" name="Header — Low-Res"/>
          <p:cNvSpPr txBox="1"/>
          <p:nvPr/>
        </p:nvSpPr>
        <p:spPr>
          <a:xfrm>
            <a:off x="12808800" y="158400"/>
            <a:ext cx="878400" cy="23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8E959D"/>
                </a:solidFill>
                <a:latin typeface="Arial"/>
              </a:rPr>
              <a:t>Low-Res</a:t>
            </a:r>
          </a:p>
        </p:txBody>
      </p:sp>
      <p:sp>
        <p:nvSpPr>
          <p:cNvPr id="23" name="Sample count"/>
          <p:cNvSpPr txBox="1"/>
          <p:nvPr/>
        </p:nvSpPr>
        <p:spPr>
          <a:xfrm>
            <a:off x="7416000" y="158400"/>
            <a:ext cx="1512000" cy="23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8E959D"/>
                </a:solidFill>
                <a:latin typeface="Arial"/>
              </a:rPr>
              <a:t>1 Raw Data Sampled</a:t>
            </a:r>
          </a:p>
        </p:txBody>
      </p:sp>
      <p:cxnSp>
        <p:nvCxnSpPr>
          <p:cNvPr id="24" name="Sample-to-combos arrow"/>
          <p:cNvCxnSpPr/>
          <p:nvPr/>
        </p:nvCxnSpPr>
        <p:spPr>
          <a:xfrm>
            <a:off x="8726400" y="288000"/>
            <a:ext cx="288000" cy="0"/>
          </a:xfrm>
          <a:prstGeom prst="line">
            <a:avLst/>
          </a:prstGeom>
          <a:ln w="10080">
            <a:solidFill>
              <a:srgbClr val="A6ABB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Sampling image — raw_full" descr="raw_fu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6000" y="396000"/>
            <a:ext cx="1454400" cy="972000"/>
          </a:xfrm>
          <a:prstGeom prst="rect">
            <a:avLst/>
          </a:prstGeom>
        </p:spPr>
      </p:pic>
      <p:pic>
        <p:nvPicPr>
          <p:cNvPr id="26" name="Sampling image — raw_half" descr="raw_hal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7200" y="1468800"/>
            <a:ext cx="1123200" cy="763200"/>
          </a:xfrm>
          <a:prstGeom prst="rect">
            <a:avLst/>
          </a:prstGeom>
        </p:spPr>
      </p:pic>
      <p:pic>
        <p:nvPicPr>
          <p:cNvPr id="27" name="Sampling image — raw_quarter" descr="raw_quar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9600" y="2376000"/>
            <a:ext cx="820800" cy="554400"/>
          </a:xfrm>
          <a:prstGeom prst="rect">
            <a:avLst/>
          </a:prstGeom>
        </p:spPr>
      </p:pic>
      <p:pic>
        <p:nvPicPr>
          <p:cNvPr id="28" name="Sampling image — local" descr="loc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2400" y="468000"/>
            <a:ext cx="756000" cy="756000"/>
          </a:xfrm>
          <a:prstGeom prst="rect">
            <a:avLst/>
          </a:prstGeom>
        </p:spPr>
      </p:pic>
      <p:pic>
        <p:nvPicPr>
          <p:cNvPr id="29" name="Sampling image — mid" descr="mi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2400" y="1404000"/>
            <a:ext cx="756000" cy="756000"/>
          </a:xfrm>
          <a:prstGeom prst="rect">
            <a:avLst/>
          </a:prstGeom>
        </p:spPr>
      </p:pic>
      <p:pic>
        <p:nvPicPr>
          <p:cNvPr id="30" name="Sampling image — global" descr="glob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2400" y="2304000"/>
            <a:ext cx="756000" cy="756000"/>
          </a:xfrm>
          <a:prstGeom prst="rect">
            <a:avLst/>
          </a:prstGeom>
        </p:spPr>
      </p:pic>
      <p:pic>
        <p:nvPicPr>
          <p:cNvPr id="31" name="Sampling image — mask_1" descr="mask_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58400" y="468000"/>
            <a:ext cx="763200" cy="756000"/>
          </a:xfrm>
          <a:prstGeom prst="rect">
            <a:avLst/>
          </a:prstGeom>
        </p:spPr>
      </p:pic>
      <p:pic>
        <p:nvPicPr>
          <p:cNvPr id="32" name="Sampling image — mask_2" descr="mask_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8400" y="1404000"/>
            <a:ext cx="763200" cy="756000"/>
          </a:xfrm>
          <a:prstGeom prst="rect">
            <a:avLst/>
          </a:prstGeom>
        </p:spPr>
      </p:pic>
      <p:pic>
        <p:nvPicPr>
          <p:cNvPr id="33" name="Sampling image — mask_3" descr="mask_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8400" y="2304000"/>
            <a:ext cx="763200" cy="756000"/>
          </a:xfrm>
          <a:prstGeom prst="rect">
            <a:avLst/>
          </a:prstGeom>
        </p:spPr>
      </p:pic>
      <p:pic>
        <p:nvPicPr>
          <p:cNvPr id="34" name="Sampling image — deform_1" descr="deform_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94400" y="468000"/>
            <a:ext cx="820800" cy="756000"/>
          </a:xfrm>
          <a:prstGeom prst="rect">
            <a:avLst/>
          </a:prstGeom>
        </p:spPr>
      </p:pic>
      <p:pic>
        <p:nvPicPr>
          <p:cNvPr id="35" name="Sampling image — deform_2" descr="deform_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94400" y="1404000"/>
            <a:ext cx="820800" cy="756000"/>
          </a:xfrm>
          <a:prstGeom prst="rect">
            <a:avLst/>
          </a:prstGeom>
        </p:spPr>
      </p:pic>
      <p:pic>
        <p:nvPicPr>
          <p:cNvPr id="36" name="Sampling image — deform_3" descr="deform_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94400" y="2304000"/>
            <a:ext cx="820800" cy="756000"/>
          </a:xfrm>
          <a:prstGeom prst="rect">
            <a:avLst/>
          </a:prstGeom>
        </p:spPr>
      </p:pic>
      <p:pic>
        <p:nvPicPr>
          <p:cNvPr id="37" name="Sampling image — noise_1" descr="noise_1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937600" y="468000"/>
            <a:ext cx="748800" cy="756000"/>
          </a:xfrm>
          <a:prstGeom prst="rect">
            <a:avLst/>
          </a:prstGeom>
        </p:spPr>
      </p:pic>
      <p:pic>
        <p:nvPicPr>
          <p:cNvPr id="38" name="Sampling image — noise_2" descr="noise_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937600" y="1404000"/>
            <a:ext cx="748800" cy="756000"/>
          </a:xfrm>
          <a:prstGeom prst="rect">
            <a:avLst/>
          </a:prstGeom>
        </p:spPr>
      </p:pic>
      <p:pic>
        <p:nvPicPr>
          <p:cNvPr id="39" name="Sampling image — noise_3" descr="noise_3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937600" y="2304000"/>
            <a:ext cx="748800" cy="756000"/>
          </a:xfrm>
          <a:prstGeom prst="rect">
            <a:avLst/>
          </a:prstGeom>
        </p:spPr>
      </p:pic>
      <p:pic>
        <p:nvPicPr>
          <p:cNvPr id="40" name="Sampling image — low_1" descr="low_1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859200" y="468000"/>
            <a:ext cx="770400" cy="756000"/>
          </a:xfrm>
          <a:prstGeom prst="rect">
            <a:avLst/>
          </a:prstGeom>
        </p:spPr>
      </p:pic>
      <p:pic>
        <p:nvPicPr>
          <p:cNvPr id="41" name="Sampling image — low_2" descr="low_2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859200" y="1404000"/>
            <a:ext cx="770400" cy="756000"/>
          </a:xfrm>
          <a:prstGeom prst="rect">
            <a:avLst/>
          </a:prstGeom>
        </p:spPr>
      </p:pic>
      <p:pic>
        <p:nvPicPr>
          <p:cNvPr id="42" name="Sampling image — low_3" descr="low_3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859200" y="2304000"/>
            <a:ext cx="770400" cy="756000"/>
          </a:xfrm>
          <a:prstGeom prst="rect">
            <a:avLst/>
          </a:prstGeom>
        </p:spPr>
      </p:pic>
      <p:sp>
        <p:nvSpPr>
          <p:cNvPr id="43" name="Selection label veil"/>
          <p:cNvSpPr/>
          <p:nvPr/>
        </p:nvSpPr>
        <p:spPr>
          <a:xfrm>
            <a:off x="7516800" y="460800"/>
            <a:ext cx="1245600" cy="41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election window label"/>
          <p:cNvSpPr txBox="1"/>
          <p:nvPr/>
        </p:nvSpPr>
        <p:spPr>
          <a:xfrm>
            <a:off x="7545600" y="468000"/>
            <a:ext cx="1202400" cy="41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3" b="1" i="0">
                <a:solidFill>
                  <a:srgbClr val="FFFFFF"/>
                </a:solidFill>
                <a:latin typeface="Arial"/>
              </a:rPr>
              <a:t>2/3D Selection
window</a:t>
            </a:r>
          </a:p>
        </p:txBody>
      </p:sp>
      <p:cxnSp>
        <p:nvCxnSpPr>
          <p:cNvPr id="45" name="Scale hierarchy 1"/>
          <p:cNvCxnSpPr/>
          <p:nvPr/>
        </p:nvCxnSpPr>
        <p:spPr>
          <a:xfrm>
            <a:off x="8143200" y="1368000"/>
            <a:ext cx="0" cy="93600"/>
          </a:xfrm>
          <a:prstGeom prst="line">
            <a:avLst/>
          </a:prstGeom>
          <a:ln w="10080">
            <a:solidFill>
              <a:srgbClr val="4F77C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cale hierarchy 2"/>
          <p:cNvCxnSpPr/>
          <p:nvPr/>
        </p:nvCxnSpPr>
        <p:spPr>
          <a:xfrm>
            <a:off x="8308800" y="2232000"/>
            <a:ext cx="0" cy="136800"/>
          </a:xfrm>
          <a:prstGeom prst="line">
            <a:avLst/>
          </a:prstGeom>
          <a:ln w="10080">
            <a:solidFill>
              <a:srgbClr val="4F77C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election to crop arrow"/>
          <p:cNvCxnSpPr/>
          <p:nvPr/>
        </p:nvCxnSpPr>
        <p:spPr>
          <a:xfrm>
            <a:off x="8690400" y="892800"/>
            <a:ext cx="432000" cy="0"/>
          </a:xfrm>
          <a:prstGeom prst="line">
            <a:avLst/>
          </a:prstGeom>
          <a:ln w="8640">
            <a:solidFill>
              <a:srgbClr val="EF83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election to crop arrow"/>
          <p:cNvCxnSpPr/>
          <p:nvPr/>
        </p:nvCxnSpPr>
        <p:spPr>
          <a:xfrm>
            <a:off x="8488800" y="1792800"/>
            <a:ext cx="633600" cy="0"/>
          </a:xfrm>
          <a:prstGeom prst="line">
            <a:avLst/>
          </a:prstGeom>
          <a:ln w="8640">
            <a:solidFill>
              <a:srgbClr val="EF83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election to crop arrow"/>
          <p:cNvCxnSpPr/>
          <p:nvPr/>
        </p:nvCxnSpPr>
        <p:spPr>
          <a:xfrm>
            <a:off x="8712000" y="2692800"/>
            <a:ext cx="410400" cy="0"/>
          </a:xfrm>
          <a:prstGeom prst="line">
            <a:avLst/>
          </a:prstGeom>
          <a:ln w="8640">
            <a:solidFill>
              <a:srgbClr val="EF83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ask panel"/>
          <p:cNvSpPr/>
          <p:nvPr/>
        </p:nvSpPr>
        <p:spPr>
          <a:xfrm>
            <a:off x="86400" y="3621600"/>
            <a:ext cx="5479200" cy="1288800"/>
          </a:xfrm>
          <a:prstGeom prst="rect">
            <a:avLst/>
          </a:prstGeom>
          <a:solidFill>
            <a:srgbClr val="A8C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ask panel"/>
          <p:cNvSpPr/>
          <p:nvPr/>
        </p:nvSpPr>
        <p:spPr>
          <a:xfrm>
            <a:off x="5680800" y="3621600"/>
            <a:ext cx="8006400" cy="1288800"/>
          </a:xfrm>
          <a:prstGeom prst="rect">
            <a:avLst/>
          </a:prstGeom>
          <a:solidFill>
            <a:srgbClr val="A8C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ask panel"/>
          <p:cNvSpPr/>
          <p:nvPr/>
        </p:nvSpPr>
        <p:spPr>
          <a:xfrm>
            <a:off x="86400" y="5169600"/>
            <a:ext cx="5479200" cy="1296000"/>
          </a:xfrm>
          <a:prstGeom prst="rect">
            <a:avLst/>
          </a:prstGeom>
          <a:solidFill>
            <a:srgbClr val="A8C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ask panel"/>
          <p:cNvSpPr/>
          <p:nvPr/>
        </p:nvSpPr>
        <p:spPr>
          <a:xfrm>
            <a:off x="5680800" y="5169600"/>
            <a:ext cx="8006400" cy="1296000"/>
          </a:xfrm>
          <a:prstGeom prst="rect">
            <a:avLst/>
          </a:prstGeom>
          <a:solidFill>
            <a:srgbClr val="A8C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ask: Image Restoration"/>
          <p:cNvSpPr txBox="1"/>
          <p:nvPr/>
        </p:nvSpPr>
        <p:spPr>
          <a:xfrm>
            <a:off x="108000" y="3398400"/>
            <a:ext cx="2736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7" b="1" i="0">
                <a:solidFill>
                  <a:srgbClr val="4D9B65"/>
                </a:solidFill>
                <a:latin typeface="Arial"/>
              </a:rPr>
              <a:t>Task: Image Restoration</a:t>
            </a:r>
          </a:p>
        </p:txBody>
      </p:sp>
      <p:sp>
        <p:nvSpPr>
          <p:cNvPr id="55" name="Task: Image Fusion"/>
          <p:cNvSpPr txBox="1"/>
          <p:nvPr/>
        </p:nvSpPr>
        <p:spPr>
          <a:xfrm>
            <a:off x="5702400" y="3398400"/>
            <a:ext cx="2736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7" b="1" i="0">
                <a:solidFill>
                  <a:srgbClr val="4D9B65"/>
                </a:solidFill>
                <a:latin typeface="Arial"/>
              </a:rPr>
              <a:t>Task: Image Fusion</a:t>
            </a:r>
          </a:p>
        </p:txBody>
      </p:sp>
      <p:sp>
        <p:nvSpPr>
          <p:cNvPr id="56" name="Task: Image Super-resolution"/>
          <p:cNvSpPr txBox="1"/>
          <p:nvPr/>
        </p:nvSpPr>
        <p:spPr>
          <a:xfrm>
            <a:off x="108000" y="4989600"/>
            <a:ext cx="2736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7" b="1" i="0">
                <a:solidFill>
                  <a:srgbClr val="4D9B65"/>
                </a:solidFill>
                <a:latin typeface="Arial"/>
              </a:rPr>
              <a:t>Task: Image Super-resolution</a:t>
            </a:r>
          </a:p>
        </p:txBody>
      </p:sp>
      <p:sp>
        <p:nvSpPr>
          <p:cNvPr id="57" name="Task: Image Registration"/>
          <p:cNvSpPr txBox="1"/>
          <p:nvPr/>
        </p:nvSpPr>
        <p:spPr>
          <a:xfrm>
            <a:off x="5702400" y="4989600"/>
            <a:ext cx="2736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7" b="1" i="0">
                <a:solidFill>
                  <a:srgbClr val="4D9B65"/>
                </a:solidFill>
                <a:latin typeface="Arial"/>
              </a:rPr>
              <a:t>Task: Image Registration</a:t>
            </a:r>
          </a:p>
        </p:txBody>
      </p:sp>
      <p:pic>
        <p:nvPicPr>
          <p:cNvPr id="58" name="Task image — rest_raw" descr="rest_raw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4000" y="3693600"/>
            <a:ext cx="1159200" cy="1152000"/>
          </a:xfrm>
          <a:prstGeom prst="rect">
            <a:avLst/>
          </a:prstGeom>
        </p:spPr>
      </p:pic>
      <p:pic>
        <p:nvPicPr>
          <p:cNvPr id="59" name="Task image — rest_noisy" descr="rest_noisy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872000" y="3693600"/>
            <a:ext cx="1159200" cy="1152000"/>
          </a:xfrm>
          <a:prstGeom prst="rect">
            <a:avLst/>
          </a:prstGeom>
        </p:spPr>
      </p:pic>
      <p:pic>
        <p:nvPicPr>
          <p:cNvPr id="60" name="Task image — rest_out" descr="rest_out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34400" y="3693600"/>
            <a:ext cx="1166400" cy="1152000"/>
          </a:xfrm>
          <a:prstGeom prst="rect">
            <a:avLst/>
          </a:prstGeom>
        </p:spPr>
      </p:pic>
      <p:pic>
        <p:nvPicPr>
          <p:cNvPr id="61" name="Task image — sr_raw" descr="sr_raw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4000" y="5241600"/>
            <a:ext cx="1159200" cy="1152000"/>
          </a:xfrm>
          <a:prstGeom prst="rect">
            <a:avLst/>
          </a:prstGeom>
        </p:spPr>
      </p:pic>
      <p:pic>
        <p:nvPicPr>
          <p:cNvPr id="62" name="Task image — sr_down" descr="sr_down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872000" y="5241600"/>
            <a:ext cx="1159200" cy="1152000"/>
          </a:xfrm>
          <a:prstGeom prst="rect">
            <a:avLst/>
          </a:prstGeom>
        </p:spPr>
      </p:pic>
      <p:pic>
        <p:nvPicPr>
          <p:cNvPr id="63" name="Task image — sr_out" descr="sr_out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34400" y="5241600"/>
            <a:ext cx="1166400" cy="1152000"/>
          </a:xfrm>
          <a:prstGeom prst="rect">
            <a:avLst/>
          </a:prstGeom>
        </p:spPr>
      </p:pic>
      <p:pic>
        <p:nvPicPr>
          <p:cNvPr id="64" name="Task image — fusion_raw" descr="fusion_raw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52800" y="3693600"/>
            <a:ext cx="1166400" cy="1152000"/>
          </a:xfrm>
          <a:prstGeom prst="rect">
            <a:avLst/>
          </a:prstGeom>
        </p:spPr>
      </p:pic>
      <p:pic>
        <p:nvPicPr>
          <p:cNvPr id="65" name="Task image — masked_a" descr="masked_a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66400" y="3693600"/>
            <a:ext cx="1159200" cy="1152000"/>
          </a:xfrm>
          <a:prstGeom prst="rect">
            <a:avLst/>
          </a:prstGeom>
        </p:spPr>
      </p:pic>
      <p:pic>
        <p:nvPicPr>
          <p:cNvPr id="66" name="Task image — masked_b" descr="masked_b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697600" y="3693600"/>
            <a:ext cx="1159200" cy="1152000"/>
          </a:xfrm>
          <a:prstGeom prst="rect">
            <a:avLst/>
          </a:prstGeom>
        </p:spPr>
      </p:pic>
      <p:pic>
        <p:nvPicPr>
          <p:cNvPr id="67" name="Task image — visible_ab" descr="visible_ab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928800" y="3693600"/>
            <a:ext cx="1166400" cy="1152000"/>
          </a:xfrm>
          <a:prstGeom prst="rect">
            <a:avLst/>
          </a:prstGeom>
        </p:spPr>
      </p:pic>
      <p:pic>
        <p:nvPicPr>
          <p:cNvPr id="68" name="Task image — fusion_out" descr="fusion_out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2405600" y="3693600"/>
            <a:ext cx="1159200" cy="1152000"/>
          </a:xfrm>
          <a:prstGeom prst="rect">
            <a:avLst/>
          </a:prstGeom>
        </p:spPr>
      </p:pic>
      <p:pic>
        <p:nvPicPr>
          <p:cNvPr id="69" name="Task image — reg_raw" descr="reg_raw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752800" y="5241600"/>
            <a:ext cx="1166400" cy="1152000"/>
          </a:xfrm>
          <a:prstGeom prst="rect">
            <a:avLst/>
          </a:prstGeom>
        </p:spPr>
      </p:pic>
      <p:pic>
        <p:nvPicPr>
          <p:cNvPr id="70" name="Task image — deformed" descr="deform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66400" y="5241600"/>
            <a:ext cx="1159200" cy="1152000"/>
          </a:xfrm>
          <a:prstGeom prst="rect">
            <a:avLst/>
          </a:prstGeom>
        </p:spPr>
      </p:pic>
      <p:pic>
        <p:nvPicPr>
          <p:cNvPr id="71" name="Task image — error_pre" descr="error_pr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697600" y="5241600"/>
            <a:ext cx="1159200" cy="1152000"/>
          </a:xfrm>
          <a:prstGeom prst="rect">
            <a:avLst/>
          </a:prstGeom>
        </p:spPr>
      </p:pic>
      <p:pic>
        <p:nvPicPr>
          <p:cNvPr id="72" name="Task image — registered" descr="register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1174400" y="5241600"/>
            <a:ext cx="1159200" cy="1152000"/>
          </a:xfrm>
          <a:prstGeom prst="rect">
            <a:avLst/>
          </a:prstGeom>
        </p:spPr>
      </p:pic>
      <p:pic>
        <p:nvPicPr>
          <p:cNvPr id="73" name="Task image — error_post" descr="error_post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2405600" y="5241600"/>
            <a:ext cx="1159200" cy="1152000"/>
          </a:xfrm>
          <a:prstGeom prst="rect">
            <a:avLst/>
          </a:prstGeom>
        </p:spPr>
      </p:pic>
      <p:sp>
        <p:nvSpPr>
          <p:cNvPr id="74" name="random-noise perturbation symbol"/>
          <p:cNvSpPr/>
          <p:nvPr/>
        </p:nvSpPr>
        <p:spPr>
          <a:xfrm>
            <a:off x="1389600" y="4096800"/>
            <a:ext cx="417600" cy="352800"/>
          </a:xfrm>
          <a:prstGeom prst="trapezoid">
            <a:avLst/>
          </a:prstGeom>
          <a:solidFill>
            <a:srgbClr val="C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random-noise stripe left"/>
          <p:cNvCxnSpPr/>
          <p:nvPr/>
        </p:nvCxnSpPr>
        <p:spPr>
          <a:xfrm flipH="1">
            <a:off x="1440000" y="4125600"/>
            <a:ext cx="72000" cy="295200"/>
          </a:xfrm>
          <a:prstGeom prst="line">
            <a:avLst/>
          </a:prstGeom>
          <a:ln w="28800">
            <a:solidFill>
              <a:srgbClr val="D9A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random-noise stripe right"/>
          <p:cNvCxnSpPr/>
          <p:nvPr/>
        </p:nvCxnSpPr>
        <p:spPr>
          <a:xfrm>
            <a:off x="1720800" y="4125600"/>
            <a:ext cx="50400" cy="295200"/>
          </a:xfrm>
          <a:prstGeom prst="line">
            <a:avLst/>
          </a:prstGeom>
          <a:ln w="28800">
            <a:solidFill>
              <a:srgbClr val="D9A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andom-noise label"/>
          <p:cNvSpPr txBox="1"/>
          <p:nvPr/>
        </p:nvSpPr>
        <p:spPr>
          <a:xfrm>
            <a:off x="1411200" y="4140000"/>
            <a:ext cx="374400" cy="27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10" b="1" i="0">
                <a:solidFill>
                  <a:srgbClr val="172126"/>
                </a:solidFill>
                <a:latin typeface="Arial"/>
              </a:rPr>
              <a:t>Random
Noise</a:t>
            </a:r>
          </a:p>
        </p:txBody>
      </p:sp>
      <p:cxnSp>
        <p:nvCxnSpPr>
          <p:cNvPr id="78" name="Restoration connector 1"/>
          <p:cNvCxnSpPr/>
          <p:nvPr/>
        </p:nvCxnSpPr>
        <p:spPr>
          <a:xfrm>
            <a:off x="1303200" y="4276800"/>
            <a:ext cx="86400" cy="0"/>
          </a:xfrm>
          <a:prstGeom prst="line">
            <a:avLst/>
          </a:prstGeom>
          <a:ln w="8640">
            <a:solidFill>
              <a:srgbClr val="1721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Restoration connector 2"/>
          <p:cNvCxnSpPr/>
          <p:nvPr/>
        </p:nvCxnSpPr>
        <p:spPr>
          <a:xfrm>
            <a:off x="1807200" y="4276800"/>
            <a:ext cx="64800" cy="0"/>
          </a:xfrm>
          <a:prstGeom prst="line">
            <a:avLst/>
          </a:prstGeom>
          <a:ln w="8640">
            <a:solidFill>
              <a:srgbClr val="17212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storation Mamba encoder block"/>
          <p:cNvSpPr/>
          <p:nvPr/>
        </p:nvSpPr>
        <p:spPr>
          <a:xfrm rot="10800000">
            <a:off x="3110400" y="3693600"/>
            <a:ext cx="1137600" cy="799200"/>
          </a:xfrm>
          <a:prstGeom prst="trapezoid">
            <a:avLst/>
          </a:prstGeom>
          <a:solidFill>
            <a:srgbClr val="4D9B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storation Mamba decoder block"/>
          <p:cNvSpPr/>
          <p:nvPr/>
        </p:nvSpPr>
        <p:spPr>
          <a:xfrm>
            <a:off x="3110400" y="4536000"/>
            <a:ext cx="1137600" cy="309600"/>
          </a:xfrm>
          <a:prstGeom prst="trapezoid">
            <a:avLst/>
          </a:prstGeom>
          <a:solidFill>
            <a:srgbClr val="89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storation Mamba encoder label"/>
          <p:cNvSpPr txBox="1"/>
          <p:nvPr/>
        </p:nvSpPr>
        <p:spPr>
          <a:xfrm>
            <a:off x="3218400" y="3866400"/>
            <a:ext cx="921600" cy="51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3" b="1" i="0">
                <a:solidFill>
                  <a:srgbClr val="FFFFFF"/>
                </a:solidFill>
                <a:latin typeface="Arial"/>
              </a:rPr>
              <a:t>Mamba
Encoder</a:t>
            </a:r>
          </a:p>
        </p:txBody>
      </p:sp>
      <p:sp>
        <p:nvSpPr>
          <p:cNvPr id="83" name="Restoration Mamba decoder label"/>
          <p:cNvSpPr txBox="1"/>
          <p:nvPr/>
        </p:nvSpPr>
        <p:spPr>
          <a:xfrm>
            <a:off x="3254400" y="4550400"/>
            <a:ext cx="849600" cy="29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FFFFFF"/>
                </a:solidFill>
                <a:latin typeface="Arial"/>
              </a:rPr>
              <a:t>Conv
Decoder</a:t>
            </a:r>
          </a:p>
        </p:txBody>
      </p:sp>
      <p:cxnSp>
        <p:nvCxnSpPr>
          <p:cNvPr id="84" name="Restoration input route 1"/>
          <p:cNvCxnSpPr/>
          <p:nvPr/>
        </p:nvCxnSpPr>
        <p:spPr>
          <a:xfrm flipV="1">
            <a:off x="2448000" y="3492000"/>
            <a:ext cx="0" cy="201600"/>
          </a:xfrm>
          <a:prstGeom prst="line">
            <a:avLst/>
          </a:prstGeom>
          <a:ln w="10800">
            <a:solidFill>
              <a:srgbClr val="4B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Restoration input route 2"/>
          <p:cNvCxnSpPr/>
          <p:nvPr/>
        </p:nvCxnSpPr>
        <p:spPr>
          <a:xfrm>
            <a:off x="2448000" y="3492000"/>
            <a:ext cx="1224000" cy="0"/>
          </a:xfrm>
          <a:prstGeom prst="line">
            <a:avLst/>
          </a:prstGeom>
          <a:ln w="10800">
            <a:solidFill>
              <a:srgbClr val="4B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Restoration input route 3"/>
          <p:cNvCxnSpPr/>
          <p:nvPr/>
        </p:nvCxnSpPr>
        <p:spPr>
          <a:xfrm>
            <a:off x="3672000" y="3492000"/>
            <a:ext cx="0" cy="201600"/>
          </a:xfrm>
          <a:prstGeom prst="line">
            <a:avLst/>
          </a:prstGeom>
          <a:ln w="10800">
            <a:solidFill>
              <a:srgbClr val="4B99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Restoration output route 1"/>
          <p:cNvCxnSpPr/>
          <p:nvPr/>
        </p:nvCxnSpPr>
        <p:spPr>
          <a:xfrm>
            <a:off x="3672000" y="4845600"/>
            <a:ext cx="0" cy="180000"/>
          </a:xfrm>
          <a:prstGeom prst="line">
            <a:avLst/>
          </a:prstGeom>
          <a:ln w="10800">
            <a:solidFill>
              <a:srgbClr val="4B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Restoration output route 2"/>
          <p:cNvCxnSpPr/>
          <p:nvPr/>
        </p:nvCxnSpPr>
        <p:spPr>
          <a:xfrm>
            <a:off x="3672000" y="5025600"/>
            <a:ext cx="1245600" cy="0"/>
          </a:xfrm>
          <a:prstGeom prst="line">
            <a:avLst/>
          </a:prstGeom>
          <a:ln w="10800">
            <a:solidFill>
              <a:srgbClr val="4B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Restoration output route 3"/>
          <p:cNvCxnSpPr/>
          <p:nvPr/>
        </p:nvCxnSpPr>
        <p:spPr>
          <a:xfrm flipV="1">
            <a:off x="4917600" y="4845600"/>
            <a:ext cx="0" cy="180000"/>
          </a:xfrm>
          <a:prstGeom prst="line">
            <a:avLst/>
          </a:prstGeom>
          <a:ln w="10800">
            <a:solidFill>
              <a:srgbClr val="4B99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andom-lowres perturbation symbol"/>
          <p:cNvSpPr/>
          <p:nvPr/>
        </p:nvSpPr>
        <p:spPr>
          <a:xfrm>
            <a:off x="1389600" y="5644800"/>
            <a:ext cx="417600" cy="352800"/>
          </a:xfrm>
          <a:prstGeom prst="trapezoid">
            <a:avLst/>
          </a:prstGeom>
          <a:solidFill>
            <a:srgbClr val="C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random-lowres stripe left"/>
          <p:cNvCxnSpPr/>
          <p:nvPr/>
        </p:nvCxnSpPr>
        <p:spPr>
          <a:xfrm flipH="1">
            <a:off x="1440000" y="5673600"/>
            <a:ext cx="72000" cy="295200"/>
          </a:xfrm>
          <a:prstGeom prst="line">
            <a:avLst/>
          </a:prstGeom>
          <a:ln w="28800">
            <a:solidFill>
              <a:srgbClr val="D9A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random-lowres stripe right"/>
          <p:cNvCxnSpPr/>
          <p:nvPr/>
        </p:nvCxnSpPr>
        <p:spPr>
          <a:xfrm>
            <a:off x="1720800" y="5673600"/>
            <a:ext cx="50400" cy="295200"/>
          </a:xfrm>
          <a:prstGeom prst="line">
            <a:avLst/>
          </a:prstGeom>
          <a:ln w="28800">
            <a:solidFill>
              <a:srgbClr val="D9A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andom-lowres label"/>
          <p:cNvSpPr txBox="1"/>
          <p:nvPr/>
        </p:nvSpPr>
        <p:spPr>
          <a:xfrm>
            <a:off x="1411200" y="5688000"/>
            <a:ext cx="374400" cy="27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10" b="1" i="0">
                <a:solidFill>
                  <a:srgbClr val="172126"/>
                </a:solidFill>
                <a:latin typeface="Arial"/>
              </a:rPr>
              <a:t>Random
Low-Res</a:t>
            </a:r>
          </a:p>
        </p:txBody>
      </p:sp>
      <p:cxnSp>
        <p:nvCxnSpPr>
          <p:cNvPr id="94" name="Super-resolution connector 1"/>
          <p:cNvCxnSpPr/>
          <p:nvPr/>
        </p:nvCxnSpPr>
        <p:spPr>
          <a:xfrm>
            <a:off x="1303200" y="5824800"/>
            <a:ext cx="86400" cy="0"/>
          </a:xfrm>
          <a:prstGeom prst="line">
            <a:avLst/>
          </a:prstGeom>
          <a:ln w="8640">
            <a:solidFill>
              <a:srgbClr val="1721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uper-resolution connector 2"/>
          <p:cNvCxnSpPr/>
          <p:nvPr/>
        </p:nvCxnSpPr>
        <p:spPr>
          <a:xfrm>
            <a:off x="1807200" y="5824800"/>
            <a:ext cx="64800" cy="0"/>
          </a:xfrm>
          <a:prstGeom prst="line">
            <a:avLst/>
          </a:prstGeom>
          <a:ln w="8640">
            <a:solidFill>
              <a:srgbClr val="17212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Super-resolution Mamba encoder block"/>
          <p:cNvSpPr/>
          <p:nvPr/>
        </p:nvSpPr>
        <p:spPr>
          <a:xfrm rot="10800000">
            <a:off x="3110400" y="5241600"/>
            <a:ext cx="1137600" cy="799200"/>
          </a:xfrm>
          <a:prstGeom prst="trapezoid">
            <a:avLst/>
          </a:prstGeom>
          <a:solidFill>
            <a:srgbClr val="4D9B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Super-resolution Mamba decoder block"/>
          <p:cNvSpPr/>
          <p:nvPr/>
        </p:nvSpPr>
        <p:spPr>
          <a:xfrm>
            <a:off x="3110400" y="6084000"/>
            <a:ext cx="1137600" cy="309600"/>
          </a:xfrm>
          <a:prstGeom prst="trapezoid">
            <a:avLst/>
          </a:prstGeom>
          <a:solidFill>
            <a:srgbClr val="89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uper-resolution Mamba encoder label"/>
          <p:cNvSpPr txBox="1"/>
          <p:nvPr/>
        </p:nvSpPr>
        <p:spPr>
          <a:xfrm>
            <a:off x="3218400" y="5414400"/>
            <a:ext cx="921600" cy="51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3" b="1" i="0">
                <a:solidFill>
                  <a:srgbClr val="FFFFFF"/>
                </a:solidFill>
                <a:latin typeface="Arial"/>
              </a:rPr>
              <a:t>Mamba
Encoder</a:t>
            </a:r>
          </a:p>
        </p:txBody>
      </p:sp>
      <p:sp>
        <p:nvSpPr>
          <p:cNvPr id="99" name="Super-resolution Mamba decoder label"/>
          <p:cNvSpPr txBox="1"/>
          <p:nvPr/>
        </p:nvSpPr>
        <p:spPr>
          <a:xfrm>
            <a:off x="3254400" y="6098400"/>
            <a:ext cx="849600" cy="29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FFFFFF"/>
                </a:solidFill>
                <a:latin typeface="Arial"/>
              </a:rPr>
              <a:t>Conv
Decoder</a:t>
            </a:r>
          </a:p>
        </p:txBody>
      </p:sp>
      <p:cxnSp>
        <p:nvCxnSpPr>
          <p:cNvPr id="100" name="Super-resolution input route 1"/>
          <p:cNvCxnSpPr/>
          <p:nvPr/>
        </p:nvCxnSpPr>
        <p:spPr>
          <a:xfrm flipV="1">
            <a:off x="2448000" y="5040000"/>
            <a:ext cx="0" cy="201600"/>
          </a:xfrm>
          <a:prstGeom prst="line">
            <a:avLst/>
          </a:prstGeom>
          <a:ln w="10800">
            <a:solidFill>
              <a:srgbClr val="4B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uper-resolution input route 2"/>
          <p:cNvCxnSpPr/>
          <p:nvPr/>
        </p:nvCxnSpPr>
        <p:spPr>
          <a:xfrm>
            <a:off x="2448000" y="5040000"/>
            <a:ext cx="1224000" cy="0"/>
          </a:xfrm>
          <a:prstGeom prst="line">
            <a:avLst/>
          </a:prstGeom>
          <a:ln w="10800">
            <a:solidFill>
              <a:srgbClr val="4B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uper-resolution input route 3"/>
          <p:cNvCxnSpPr/>
          <p:nvPr/>
        </p:nvCxnSpPr>
        <p:spPr>
          <a:xfrm>
            <a:off x="3672000" y="5040000"/>
            <a:ext cx="0" cy="201600"/>
          </a:xfrm>
          <a:prstGeom prst="line">
            <a:avLst/>
          </a:prstGeom>
          <a:ln w="10800">
            <a:solidFill>
              <a:srgbClr val="4B99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uper-resolution output route 1"/>
          <p:cNvCxnSpPr/>
          <p:nvPr/>
        </p:nvCxnSpPr>
        <p:spPr>
          <a:xfrm>
            <a:off x="3672000" y="6393600"/>
            <a:ext cx="0" cy="180000"/>
          </a:xfrm>
          <a:prstGeom prst="line">
            <a:avLst/>
          </a:prstGeom>
          <a:ln w="10800">
            <a:solidFill>
              <a:srgbClr val="4B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uper-resolution output route 2"/>
          <p:cNvCxnSpPr/>
          <p:nvPr/>
        </p:nvCxnSpPr>
        <p:spPr>
          <a:xfrm>
            <a:off x="3672000" y="6573600"/>
            <a:ext cx="1245600" cy="0"/>
          </a:xfrm>
          <a:prstGeom prst="line">
            <a:avLst/>
          </a:prstGeom>
          <a:ln w="10800">
            <a:solidFill>
              <a:srgbClr val="4B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uper-resolution output route 3"/>
          <p:cNvCxnSpPr/>
          <p:nvPr/>
        </p:nvCxnSpPr>
        <p:spPr>
          <a:xfrm flipV="1">
            <a:off x="4917600" y="6393600"/>
            <a:ext cx="0" cy="180000"/>
          </a:xfrm>
          <a:prstGeom prst="line">
            <a:avLst/>
          </a:prstGeom>
          <a:ln w="10800">
            <a:solidFill>
              <a:srgbClr val="4B99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andom-masking perturbation symbol"/>
          <p:cNvSpPr/>
          <p:nvPr/>
        </p:nvSpPr>
        <p:spPr>
          <a:xfrm>
            <a:off x="6991200" y="4096800"/>
            <a:ext cx="417600" cy="352800"/>
          </a:xfrm>
          <a:prstGeom prst="trapezoid">
            <a:avLst/>
          </a:prstGeom>
          <a:solidFill>
            <a:srgbClr val="C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random-masking stripe left"/>
          <p:cNvCxnSpPr/>
          <p:nvPr/>
        </p:nvCxnSpPr>
        <p:spPr>
          <a:xfrm flipH="1">
            <a:off x="7041600" y="4125600"/>
            <a:ext cx="72000" cy="295200"/>
          </a:xfrm>
          <a:prstGeom prst="line">
            <a:avLst/>
          </a:prstGeom>
          <a:ln w="28800">
            <a:solidFill>
              <a:srgbClr val="D9A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random-masking stripe right"/>
          <p:cNvCxnSpPr/>
          <p:nvPr/>
        </p:nvCxnSpPr>
        <p:spPr>
          <a:xfrm>
            <a:off x="7322400" y="4125600"/>
            <a:ext cx="50400" cy="295200"/>
          </a:xfrm>
          <a:prstGeom prst="line">
            <a:avLst/>
          </a:prstGeom>
          <a:ln w="28800">
            <a:solidFill>
              <a:srgbClr val="D9A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andom-masking label"/>
          <p:cNvSpPr txBox="1"/>
          <p:nvPr/>
        </p:nvSpPr>
        <p:spPr>
          <a:xfrm>
            <a:off x="7012800" y="4140000"/>
            <a:ext cx="374400" cy="27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10" b="1" i="0">
                <a:solidFill>
                  <a:srgbClr val="172126"/>
                </a:solidFill>
                <a:latin typeface="Arial"/>
              </a:rPr>
              <a:t>Random
Masking</a:t>
            </a:r>
          </a:p>
        </p:txBody>
      </p:sp>
      <p:cxnSp>
        <p:nvCxnSpPr>
          <p:cNvPr id="110" name="Fusion connector 1"/>
          <p:cNvCxnSpPr/>
          <p:nvPr/>
        </p:nvCxnSpPr>
        <p:spPr>
          <a:xfrm>
            <a:off x="6919200" y="4276800"/>
            <a:ext cx="72000" cy="0"/>
          </a:xfrm>
          <a:prstGeom prst="line">
            <a:avLst/>
          </a:prstGeom>
          <a:ln w="8640">
            <a:solidFill>
              <a:srgbClr val="1721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Fusion connector 2"/>
          <p:cNvCxnSpPr/>
          <p:nvPr/>
        </p:nvCxnSpPr>
        <p:spPr>
          <a:xfrm>
            <a:off x="7408800" y="4276800"/>
            <a:ext cx="57600" cy="0"/>
          </a:xfrm>
          <a:prstGeom prst="line">
            <a:avLst/>
          </a:prstGeom>
          <a:ln w="8640">
            <a:solidFill>
              <a:srgbClr val="17212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Fusion Mamba encoder block"/>
          <p:cNvSpPr/>
          <p:nvPr/>
        </p:nvSpPr>
        <p:spPr>
          <a:xfrm rot="10800000">
            <a:off x="11167200" y="3693600"/>
            <a:ext cx="1144800" cy="799200"/>
          </a:xfrm>
          <a:prstGeom prst="trapezoid">
            <a:avLst/>
          </a:prstGeom>
          <a:solidFill>
            <a:srgbClr val="4D9B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usion Mamba decoder block"/>
          <p:cNvSpPr/>
          <p:nvPr/>
        </p:nvSpPr>
        <p:spPr>
          <a:xfrm>
            <a:off x="11167200" y="4536000"/>
            <a:ext cx="1144800" cy="309600"/>
          </a:xfrm>
          <a:prstGeom prst="trapezoid">
            <a:avLst/>
          </a:prstGeom>
          <a:solidFill>
            <a:srgbClr val="89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usion Mamba encoder label"/>
          <p:cNvSpPr txBox="1"/>
          <p:nvPr/>
        </p:nvSpPr>
        <p:spPr>
          <a:xfrm>
            <a:off x="11275200" y="3866400"/>
            <a:ext cx="928800" cy="51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3" b="1" i="0">
                <a:solidFill>
                  <a:srgbClr val="FFFFFF"/>
                </a:solidFill>
                <a:latin typeface="Arial"/>
              </a:rPr>
              <a:t>Mamba
Encoder</a:t>
            </a:r>
          </a:p>
        </p:txBody>
      </p:sp>
      <p:sp>
        <p:nvSpPr>
          <p:cNvPr id="115" name="Fusion Mamba decoder label"/>
          <p:cNvSpPr txBox="1"/>
          <p:nvPr/>
        </p:nvSpPr>
        <p:spPr>
          <a:xfrm>
            <a:off x="11311200" y="4550400"/>
            <a:ext cx="856800" cy="29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FFFFFF"/>
                </a:solidFill>
                <a:latin typeface="Arial"/>
              </a:rPr>
              <a:t>Conv
Decoder</a:t>
            </a:r>
          </a:p>
        </p:txBody>
      </p:sp>
      <p:cxnSp>
        <p:nvCxnSpPr>
          <p:cNvPr id="116" name="Fusion input route A 1"/>
          <p:cNvCxnSpPr/>
          <p:nvPr/>
        </p:nvCxnSpPr>
        <p:spPr>
          <a:xfrm flipV="1">
            <a:off x="8042400" y="3492000"/>
            <a:ext cx="0" cy="201600"/>
          </a:xfrm>
          <a:prstGeom prst="line">
            <a:avLst/>
          </a:prstGeom>
          <a:ln w="10800">
            <a:solidFill>
              <a:srgbClr val="4B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Fusion input route A 2"/>
          <p:cNvCxnSpPr/>
          <p:nvPr/>
        </p:nvCxnSpPr>
        <p:spPr>
          <a:xfrm>
            <a:off x="8042400" y="3492000"/>
            <a:ext cx="3693600" cy="0"/>
          </a:xfrm>
          <a:prstGeom prst="line">
            <a:avLst/>
          </a:prstGeom>
          <a:ln w="10800">
            <a:solidFill>
              <a:srgbClr val="4B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Fusion input route A 3"/>
          <p:cNvCxnSpPr/>
          <p:nvPr/>
        </p:nvCxnSpPr>
        <p:spPr>
          <a:xfrm>
            <a:off x="11736000" y="3492000"/>
            <a:ext cx="0" cy="201600"/>
          </a:xfrm>
          <a:prstGeom prst="line">
            <a:avLst/>
          </a:prstGeom>
          <a:ln w="10800">
            <a:solidFill>
              <a:srgbClr val="4B99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Fusion input route B"/>
          <p:cNvCxnSpPr/>
          <p:nvPr/>
        </p:nvCxnSpPr>
        <p:spPr>
          <a:xfrm flipV="1">
            <a:off x="9273600" y="3492000"/>
            <a:ext cx="0" cy="201600"/>
          </a:xfrm>
          <a:prstGeom prst="line">
            <a:avLst/>
          </a:prstGeom>
          <a:ln w="10800">
            <a:solidFill>
              <a:srgbClr val="4B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Fusion output route 1"/>
          <p:cNvCxnSpPr/>
          <p:nvPr/>
        </p:nvCxnSpPr>
        <p:spPr>
          <a:xfrm>
            <a:off x="11736000" y="4845600"/>
            <a:ext cx="0" cy="180000"/>
          </a:xfrm>
          <a:prstGeom prst="line">
            <a:avLst/>
          </a:prstGeom>
          <a:ln w="10800">
            <a:solidFill>
              <a:srgbClr val="4B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Fusion output route 2"/>
          <p:cNvCxnSpPr/>
          <p:nvPr/>
        </p:nvCxnSpPr>
        <p:spPr>
          <a:xfrm>
            <a:off x="11736000" y="5025600"/>
            <a:ext cx="1252800" cy="0"/>
          </a:xfrm>
          <a:prstGeom prst="line">
            <a:avLst/>
          </a:prstGeom>
          <a:ln w="10800">
            <a:solidFill>
              <a:srgbClr val="4B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Fusion output route 3"/>
          <p:cNvCxnSpPr/>
          <p:nvPr/>
        </p:nvCxnSpPr>
        <p:spPr>
          <a:xfrm flipV="1">
            <a:off x="12988800" y="4845600"/>
            <a:ext cx="0" cy="180000"/>
          </a:xfrm>
          <a:prstGeom prst="line">
            <a:avLst/>
          </a:prstGeom>
          <a:ln w="10800">
            <a:solidFill>
              <a:srgbClr val="4B99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andom-deforming perturbation symbol"/>
          <p:cNvSpPr/>
          <p:nvPr/>
        </p:nvSpPr>
        <p:spPr>
          <a:xfrm>
            <a:off x="6991200" y="5644800"/>
            <a:ext cx="417600" cy="352800"/>
          </a:xfrm>
          <a:prstGeom prst="trapezoid">
            <a:avLst/>
          </a:prstGeom>
          <a:solidFill>
            <a:srgbClr val="CDB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random-deforming stripe left"/>
          <p:cNvCxnSpPr/>
          <p:nvPr/>
        </p:nvCxnSpPr>
        <p:spPr>
          <a:xfrm flipH="1">
            <a:off x="7041600" y="5673600"/>
            <a:ext cx="72000" cy="295200"/>
          </a:xfrm>
          <a:prstGeom prst="line">
            <a:avLst/>
          </a:prstGeom>
          <a:ln w="28800">
            <a:solidFill>
              <a:srgbClr val="D9A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random-deforming stripe right"/>
          <p:cNvCxnSpPr/>
          <p:nvPr/>
        </p:nvCxnSpPr>
        <p:spPr>
          <a:xfrm>
            <a:off x="7322400" y="5673600"/>
            <a:ext cx="50400" cy="295200"/>
          </a:xfrm>
          <a:prstGeom prst="line">
            <a:avLst/>
          </a:prstGeom>
          <a:ln w="28800">
            <a:solidFill>
              <a:srgbClr val="D9A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andom-deforming label"/>
          <p:cNvSpPr txBox="1"/>
          <p:nvPr/>
        </p:nvSpPr>
        <p:spPr>
          <a:xfrm>
            <a:off x="7012800" y="5688000"/>
            <a:ext cx="374400" cy="27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10" b="1" i="0">
                <a:solidFill>
                  <a:srgbClr val="172126"/>
                </a:solidFill>
                <a:latin typeface="Arial"/>
              </a:rPr>
              <a:t>Random
Deforming</a:t>
            </a:r>
          </a:p>
        </p:txBody>
      </p:sp>
      <p:cxnSp>
        <p:nvCxnSpPr>
          <p:cNvPr id="127" name="Registration connector 1"/>
          <p:cNvCxnSpPr/>
          <p:nvPr/>
        </p:nvCxnSpPr>
        <p:spPr>
          <a:xfrm>
            <a:off x="6919200" y="5824800"/>
            <a:ext cx="72000" cy="0"/>
          </a:xfrm>
          <a:prstGeom prst="line">
            <a:avLst/>
          </a:prstGeom>
          <a:ln w="8640">
            <a:solidFill>
              <a:srgbClr val="1721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Registration connector 2"/>
          <p:cNvCxnSpPr/>
          <p:nvPr/>
        </p:nvCxnSpPr>
        <p:spPr>
          <a:xfrm>
            <a:off x="7408800" y="5824800"/>
            <a:ext cx="57600" cy="0"/>
          </a:xfrm>
          <a:prstGeom prst="line">
            <a:avLst/>
          </a:prstGeom>
          <a:ln w="8640">
            <a:solidFill>
              <a:srgbClr val="17212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gistration Mamba encoder block"/>
          <p:cNvSpPr/>
          <p:nvPr/>
        </p:nvSpPr>
        <p:spPr>
          <a:xfrm rot="10800000">
            <a:off x="9928800" y="5241600"/>
            <a:ext cx="1159200" cy="799200"/>
          </a:xfrm>
          <a:prstGeom prst="trapezoid">
            <a:avLst/>
          </a:prstGeom>
          <a:solidFill>
            <a:srgbClr val="4D9B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gistration Mamba decoder block"/>
          <p:cNvSpPr/>
          <p:nvPr/>
        </p:nvSpPr>
        <p:spPr>
          <a:xfrm>
            <a:off x="9928800" y="6084000"/>
            <a:ext cx="1159200" cy="309600"/>
          </a:xfrm>
          <a:prstGeom prst="trapezoid">
            <a:avLst/>
          </a:prstGeom>
          <a:solidFill>
            <a:srgbClr val="89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gistration Mamba encoder label"/>
          <p:cNvSpPr txBox="1"/>
          <p:nvPr/>
        </p:nvSpPr>
        <p:spPr>
          <a:xfrm>
            <a:off x="10036800" y="5414400"/>
            <a:ext cx="943200" cy="51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3" b="1" i="0">
                <a:solidFill>
                  <a:srgbClr val="FFFFFF"/>
                </a:solidFill>
                <a:latin typeface="Arial"/>
              </a:rPr>
              <a:t>Mamba
Encoder</a:t>
            </a:r>
          </a:p>
        </p:txBody>
      </p:sp>
      <p:sp>
        <p:nvSpPr>
          <p:cNvPr id="132" name="Registration Mamba decoder label"/>
          <p:cNvSpPr txBox="1"/>
          <p:nvPr/>
        </p:nvSpPr>
        <p:spPr>
          <a:xfrm>
            <a:off x="10072800" y="6098400"/>
            <a:ext cx="871200" cy="29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7" b="1" i="0">
                <a:solidFill>
                  <a:srgbClr val="FFFFFF"/>
                </a:solidFill>
                <a:latin typeface="Arial"/>
              </a:rPr>
              <a:t>Conv
Decoder</a:t>
            </a:r>
          </a:p>
        </p:txBody>
      </p:sp>
      <p:cxnSp>
        <p:nvCxnSpPr>
          <p:cNvPr id="133" name="Registration input route 1"/>
          <p:cNvCxnSpPr/>
          <p:nvPr/>
        </p:nvCxnSpPr>
        <p:spPr>
          <a:xfrm flipV="1">
            <a:off x="8042400" y="5040000"/>
            <a:ext cx="0" cy="201600"/>
          </a:xfrm>
          <a:prstGeom prst="line">
            <a:avLst/>
          </a:prstGeom>
          <a:ln w="10800">
            <a:solidFill>
              <a:srgbClr val="4B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Registration input route 2"/>
          <p:cNvCxnSpPr/>
          <p:nvPr/>
        </p:nvCxnSpPr>
        <p:spPr>
          <a:xfrm>
            <a:off x="8042400" y="5040000"/>
            <a:ext cx="2469600" cy="0"/>
          </a:xfrm>
          <a:prstGeom prst="line">
            <a:avLst/>
          </a:prstGeom>
          <a:ln w="10800">
            <a:solidFill>
              <a:srgbClr val="4B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Registration input route 3"/>
          <p:cNvCxnSpPr/>
          <p:nvPr/>
        </p:nvCxnSpPr>
        <p:spPr>
          <a:xfrm>
            <a:off x="10512000" y="5040000"/>
            <a:ext cx="0" cy="201600"/>
          </a:xfrm>
          <a:prstGeom prst="line">
            <a:avLst/>
          </a:prstGeom>
          <a:ln w="10800">
            <a:solidFill>
              <a:srgbClr val="4B99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Registration output route 1"/>
          <p:cNvCxnSpPr/>
          <p:nvPr/>
        </p:nvCxnSpPr>
        <p:spPr>
          <a:xfrm>
            <a:off x="10512000" y="6393600"/>
            <a:ext cx="0" cy="180000"/>
          </a:xfrm>
          <a:prstGeom prst="line">
            <a:avLst/>
          </a:prstGeom>
          <a:ln w="10800">
            <a:solidFill>
              <a:srgbClr val="4B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Registration output route 2"/>
          <p:cNvCxnSpPr/>
          <p:nvPr/>
        </p:nvCxnSpPr>
        <p:spPr>
          <a:xfrm>
            <a:off x="10512000" y="6573600"/>
            <a:ext cx="1245600" cy="0"/>
          </a:xfrm>
          <a:prstGeom prst="line">
            <a:avLst/>
          </a:prstGeom>
          <a:ln w="10800">
            <a:solidFill>
              <a:srgbClr val="4B9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Registration output route 3"/>
          <p:cNvCxnSpPr/>
          <p:nvPr/>
        </p:nvCxnSpPr>
        <p:spPr>
          <a:xfrm flipV="1">
            <a:off x="11757600" y="6393600"/>
            <a:ext cx="0" cy="180000"/>
          </a:xfrm>
          <a:prstGeom prst="line">
            <a:avLst/>
          </a:prstGeom>
          <a:ln w="10800">
            <a:solidFill>
              <a:srgbClr val="4B996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Legend misalign"/>
          <p:cNvSpPr txBox="1"/>
          <p:nvPr/>
        </p:nvSpPr>
        <p:spPr>
          <a:xfrm>
            <a:off x="11952000" y="6501600"/>
            <a:ext cx="576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3" b="1" i="0">
                <a:solidFill>
                  <a:srgbClr val="8E959D"/>
                </a:solidFill>
                <a:latin typeface="Arial"/>
              </a:rPr>
              <a:t>Misalign</a:t>
            </a:r>
          </a:p>
        </p:txBody>
      </p:sp>
      <p:sp>
        <p:nvSpPr>
          <p:cNvPr id="140" name="Alignment gradient swatch 1"/>
          <p:cNvSpPr/>
          <p:nvPr/>
        </p:nvSpPr>
        <p:spPr>
          <a:xfrm>
            <a:off x="12564000" y="6566400"/>
            <a:ext cx="66240" cy="79200"/>
          </a:xfrm>
          <a:prstGeom prst="rect">
            <a:avLst/>
          </a:prstGeom>
          <a:solidFill>
            <a:srgbClr val="D9E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Alignment gradient swatch 2"/>
          <p:cNvSpPr/>
          <p:nvPr/>
        </p:nvSpPr>
        <p:spPr>
          <a:xfrm>
            <a:off x="12628800" y="6566400"/>
            <a:ext cx="66240" cy="79200"/>
          </a:xfrm>
          <a:prstGeom prst="rect">
            <a:avLst/>
          </a:prstGeom>
          <a:solidFill>
            <a:srgbClr val="D8D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Alignment gradient swatch 3"/>
          <p:cNvSpPr/>
          <p:nvPr/>
        </p:nvSpPr>
        <p:spPr>
          <a:xfrm>
            <a:off x="12693600" y="6566400"/>
            <a:ext cx="66240" cy="79200"/>
          </a:xfrm>
          <a:prstGeom prst="rect">
            <a:avLst/>
          </a:prstGeom>
          <a:solidFill>
            <a:srgbClr val="D8D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Alignment gradient swatch 4"/>
          <p:cNvSpPr/>
          <p:nvPr/>
        </p:nvSpPr>
        <p:spPr>
          <a:xfrm>
            <a:off x="12758400" y="6566400"/>
            <a:ext cx="66240" cy="79200"/>
          </a:xfrm>
          <a:prstGeom prst="rect">
            <a:avLst/>
          </a:prstGeom>
          <a:solidFill>
            <a:srgbClr val="D7C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Alignment gradient swatch 5"/>
          <p:cNvSpPr/>
          <p:nvPr/>
        </p:nvSpPr>
        <p:spPr>
          <a:xfrm>
            <a:off x="12823200" y="6566400"/>
            <a:ext cx="66240" cy="79200"/>
          </a:xfrm>
          <a:prstGeom prst="rect">
            <a:avLst/>
          </a:prstGeom>
          <a:solidFill>
            <a:srgbClr val="D6C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Alignment gradient swatch 6"/>
          <p:cNvSpPr/>
          <p:nvPr/>
        </p:nvSpPr>
        <p:spPr>
          <a:xfrm>
            <a:off x="12888000" y="6566400"/>
            <a:ext cx="66240" cy="79200"/>
          </a:xfrm>
          <a:prstGeom prst="rect">
            <a:avLst/>
          </a:prstGeom>
          <a:solidFill>
            <a:srgbClr val="D5B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Alignment gradient swatch 7"/>
          <p:cNvSpPr/>
          <p:nvPr/>
        </p:nvSpPr>
        <p:spPr>
          <a:xfrm>
            <a:off x="12952800" y="6566400"/>
            <a:ext cx="66240" cy="79200"/>
          </a:xfrm>
          <a:prstGeom prst="rect">
            <a:avLst/>
          </a:prstGeom>
          <a:solidFill>
            <a:srgbClr val="D4A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Alignment gradient swatch 8"/>
          <p:cNvSpPr/>
          <p:nvPr/>
        </p:nvSpPr>
        <p:spPr>
          <a:xfrm>
            <a:off x="13017600" y="6566400"/>
            <a:ext cx="66240" cy="79200"/>
          </a:xfrm>
          <a:prstGeom prst="rect">
            <a:avLst/>
          </a:prstGeom>
          <a:solidFill>
            <a:srgbClr val="D6A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Alignment gradient swatch 9"/>
          <p:cNvSpPr/>
          <p:nvPr/>
        </p:nvSpPr>
        <p:spPr>
          <a:xfrm>
            <a:off x="13082400" y="6566400"/>
            <a:ext cx="66240" cy="79200"/>
          </a:xfrm>
          <a:prstGeom prst="rect">
            <a:avLst/>
          </a:prstGeom>
          <a:solidFill>
            <a:srgbClr val="D99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Alignment gradient swatch 10"/>
          <p:cNvSpPr/>
          <p:nvPr/>
        </p:nvSpPr>
        <p:spPr>
          <a:xfrm>
            <a:off x="13147200" y="6566400"/>
            <a:ext cx="66240" cy="79200"/>
          </a:xfrm>
          <a:prstGeom prst="rect">
            <a:avLst/>
          </a:prstGeom>
          <a:solidFill>
            <a:srgbClr val="DB7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Alignment gradient swatch 11"/>
          <p:cNvSpPr/>
          <p:nvPr/>
        </p:nvSpPr>
        <p:spPr>
          <a:xfrm>
            <a:off x="13212000" y="6566400"/>
            <a:ext cx="66240" cy="79200"/>
          </a:xfrm>
          <a:prstGeom prst="rect">
            <a:avLst/>
          </a:prstGeom>
          <a:solidFill>
            <a:srgbClr val="DC6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Alignment gradient swatch 12"/>
          <p:cNvSpPr/>
          <p:nvPr/>
        </p:nvSpPr>
        <p:spPr>
          <a:xfrm>
            <a:off x="13276800" y="6566400"/>
            <a:ext cx="66240" cy="79200"/>
          </a:xfrm>
          <a:prstGeom prst="rect">
            <a:avLst/>
          </a:prstGeom>
          <a:solidFill>
            <a:srgbClr val="DA3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Legend align"/>
          <p:cNvSpPr txBox="1"/>
          <p:nvPr/>
        </p:nvSpPr>
        <p:spPr>
          <a:xfrm>
            <a:off x="13348800" y="6501600"/>
            <a:ext cx="36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8E959D"/>
                </a:solidFill>
                <a:latin typeface="Arial"/>
              </a:rPr>
              <a:t>Align</a:t>
            </a:r>
          </a:p>
        </p:txBody>
      </p:sp>
      <p:sp>
        <p:nvSpPr>
          <p:cNvPr id="153" name="TJP title"/>
          <p:cNvSpPr txBox="1"/>
          <p:nvPr/>
        </p:nvSpPr>
        <p:spPr>
          <a:xfrm>
            <a:off x="86400" y="6667200"/>
            <a:ext cx="9072000" cy="280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4D9B65"/>
                </a:solidFill>
                <a:latin typeface="Arial"/>
              </a:rPr>
              <a:t>Task-related Joint-embedding Pre-training (TJP) on Multi-head Hierarchy Mamba2 (MHM)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Orochi Versatile Biomedical Image Processor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684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