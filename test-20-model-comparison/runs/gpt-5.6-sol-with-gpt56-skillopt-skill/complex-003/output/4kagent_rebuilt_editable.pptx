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44400" cy="73130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344400" cy="7313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Perception zoom link left"/>
          <p:cNvCxnSpPr/>
          <p:nvPr/>
        </p:nvCxnSpPr>
        <p:spPr>
          <a:xfrm flipV="1">
            <a:off x="115368" y="3146988"/>
            <a:ext cx="108959" cy="89731"/>
          </a:xfrm>
          <a:prstGeom prst="line">
            <a:avLst/>
          </a:prstGeom>
          <a:ln w="25637">
            <a:solidFill>
              <a:srgbClr val="4E88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4327" y="3146988"/>
            <a:ext cx="948583" cy="0"/>
          </a:xfrm>
          <a:prstGeom prst="line">
            <a:avLst/>
          </a:prstGeom>
          <a:ln w="25637">
            <a:solidFill>
              <a:srgbClr val="4E88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72910" y="2820112"/>
            <a:ext cx="1326734" cy="326876"/>
          </a:xfrm>
          <a:prstGeom prst="line">
            <a:avLst/>
          </a:prstGeom>
          <a:ln w="25637">
            <a:solidFill>
              <a:srgbClr val="4E88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Perception zoom link right"/>
          <p:cNvCxnSpPr/>
          <p:nvPr/>
        </p:nvCxnSpPr>
        <p:spPr>
          <a:xfrm>
            <a:off x="5082611" y="2813702"/>
            <a:ext cx="185871" cy="320468"/>
          </a:xfrm>
          <a:prstGeom prst="line">
            <a:avLst/>
          </a:prstGeom>
          <a:ln w="25637">
            <a:solidFill>
              <a:srgbClr val="4E88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68482" y="3134170"/>
            <a:ext cx="57684" cy="166643"/>
          </a:xfrm>
          <a:prstGeom prst="line">
            <a:avLst/>
          </a:prstGeom>
          <a:ln w="25637">
            <a:solidFill>
              <a:srgbClr val="4E88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erception detail boundary"/>
          <p:cNvSpPr/>
          <p:nvPr/>
        </p:nvSpPr>
        <p:spPr>
          <a:xfrm>
            <a:off x="32046" y="3140579"/>
            <a:ext cx="5294119" cy="4140437"/>
          </a:xfrm>
          <a:prstGeom prst="roundRect">
            <a:avLst/>
          </a:prstGeom>
          <a:solidFill>
            <a:srgbClr val="FFFFFF"/>
          </a:solidFill>
          <a:ln w="25637">
            <a:solidFill>
              <a:srgbClr val="4E88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Restoration zoom link left"/>
          <p:cNvCxnSpPr/>
          <p:nvPr/>
        </p:nvCxnSpPr>
        <p:spPr>
          <a:xfrm flipV="1">
            <a:off x="5813276" y="2839340"/>
            <a:ext cx="134596" cy="390970"/>
          </a:xfrm>
          <a:prstGeom prst="line">
            <a:avLst/>
          </a:prstGeom>
          <a:ln w="25637">
            <a:solidFill>
              <a:srgbClr val="355F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storation zoom link right"/>
          <p:cNvCxnSpPr/>
          <p:nvPr/>
        </p:nvCxnSpPr>
        <p:spPr>
          <a:xfrm>
            <a:off x="8236009" y="2762428"/>
            <a:ext cx="1576699" cy="384560"/>
          </a:xfrm>
          <a:prstGeom prst="line">
            <a:avLst/>
          </a:prstGeom>
          <a:ln w="25637">
            <a:solidFill>
              <a:srgbClr val="355F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storation detail boundary"/>
          <p:cNvSpPr/>
          <p:nvPr/>
        </p:nvSpPr>
        <p:spPr>
          <a:xfrm>
            <a:off x="5685089" y="3140579"/>
            <a:ext cx="6588807" cy="4140437"/>
          </a:xfrm>
          <a:prstGeom prst="roundRect">
            <a:avLst/>
          </a:prstGeom>
          <a:solidFill>
            <a:srgbClr val="FFFFFF"/>
          </a:solidFill>
          <a:ln w="25637">
            <a:solidFill>
              <a:srgbClr val="355F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? robot head"/>
          <p:cNvSpPr/>
          <p:nvPr/>
        </p:nvSpPr>
        <p:spPr>
          <a:xfrm>
            <a:off x="153824" y="262783"/>
            <a:ext cx="275601" cy="18587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B52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05099" y="448654"/>
            <a:ext cx="0" cy="38456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5099" y="487110"/>
            <a:ext cx="173052" cy="0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8151" y="448654"/>
            <a:ext cx="0" cy="38456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958" y="307648"/>
            <a:ext cx="0" cy="108959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4291" y="307648"/>
            <a:ext cx="0" cy="108959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8958" y="333285"/>
            <a:ext cx="32047" cy="0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426" y="333285"/>
            <a:ext cx="44865" cy="0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17917" y="320467"/>
            <a:ext cx="38456" cy="38456"/>
          </a:xfrm>
          <a:prstGeom prst="ellipse">
            <a:avLst/>
          </a:prstGeom>
          <a:solidFill>
            <a:srgbClr val="B52795"/>
          </a:solidFill>
          <a:ln w="6409">
            <a:solidFill>
              <a:srgbClr val="B52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6876" y="320467"/>
            <a:ext cx="38456" cy="38456"/>
          </a:xfrm>
          <a:prstGeom prst="ellipse">
            <a:avLst/>
          </a:prstGeom>
          <a:solidFill>
            <a:srgbClr val="B52795"/>
          </a:solidFill>
          <a:ln w="6409">
            <a:solidFill>
              <a:srgbClr val="B52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49964" y="397379"/>
            <a:ext cx="83321" cy="0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8420" y="211508"/>
            <a:ext cx="0" cy="51275"/>
          </a:xfrm>
          <a:prstGeom prst="line">
            <a:avLst/>
          </a:prstGeom>
          <a:ln w="12818">
            <a:solidFill>
              <a:srgbClr val="B52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0736" y="134596"/>
            <a:ext cx="115368" cy="89730"/>
          </a:xfrm>
          <a:prstGeom prst="roundRect">
            <a:avLst/>
          </a:prstGeom>
          <a:solidFill>
            <a:srgbClr val="FFFFFF"/>
          </a:solidFill>
          <a:ln w="11536">
            <a:solidFill>
              <a:srgbClr val="B52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736" y="128186"/>
            <a:ext cx="115368" cy="961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4" b="1" i="0">
                <a:solidFill>
                  <a:srgbClr val="B52795"/>
                </a:solidFill>
                <a:latin typeface="Liberation Serif"/>
              </a:rPr>
              <a:t>?</a:t>
            </a:r>
          </a:p>
        </p:txBody>
      </p:sp>
      <p:sp>
        <p:nvSpPr>
          <p:cNvPr id="26" name="Profile Module title"/>
          <p:cNvSpPr txBox="1"/>
          <p:nvPr/>
        </p:nvSpPr>
        <p:spPr>
          <a:xfrm>
            <a:off x="474291" y="147414"/>
            <a:ext cx="1826663" cy="3396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67" b="1" i="0">
                <a:solidFill>
                  <a:srgbClr val="B52795"/>
                </a:solidFill>
                <a:latin typeface="Liberation Serif"/>
              </a:rPr>
              <a:t>Profile Module</a:t>
            </a:r>
          </a:p>
        </p:txBody>
      </p:sp>
      <p:sp>
        <p:nvSpPr>
          <p:cNvPr id="27" name="P robot head"/>
          <p:cNvSpPr/>
          <p:nvPr/>
        </p:nvSpPr>
        <p:spPr>
          <a:xfrm>
            <a:off x="2845749" y="262783"/>
            <a:ext cx="275601" cy="18587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5A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897024" y="448654"/>
            <a:ext cx="0" cy="38456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97024" y="487110"/>
            <a:ext cx="173052" cy="0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0076" y="448654"/>
            <a:ext cx="0" cy="38456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00884" y="307648"/>
            <a:ext cx="0" cy="108959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66216" y="307648"/>
            <a:ext cx="0" cy="108959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800884" y="333285"/>
            <a:ext cx="32046" cy="0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21351" y="333285"/>
            <a:ext cx="44865" cy="0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909842" y="320467"/>
            <a:ext cx="38456" cy="38456"/>
          </a:xfrm>
          <a:prstGeom prst="ellipse">
            <a:avLst/>
          </a:prstGeom>
          <a:solidFill>
            <a:srgbClr val="15A8D3"/>
          </a:solidFill>
          <a:ln w="6409">
            <a:solidFill>
              <a:srgbClr val="15A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8801" y="320467"/>
            <a:ext cx="38456" cy="38456"/>
          </a:xfrm>
          <a:prstGeom prst="ellipse">
            <a:avLst/>
          </a:prstGeom>
          <a:solidFill>
            <a:srgbClr val="15A8D3"/>
          </a:solidFill>
          <a:ln w="6409">
            <a:solidFill>
              <a:srgbClr val="15A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941889" y="397379"/>
            <a:ext cx="83322" cy="0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980345" y="211508"/>
            <a:ext cx="0" cy="51275"/>
          </a:xfrm>
          <a:prstGeom prst="line">
            <a:avLst/>
          </a:prstGeom>
          <a:ln w="12818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922661" y="134596"/>
            <a:ext cx="115368" cy="89730"/>
          </a:xfrm>
          <a:prstGeom prst="roundRect">
            <a:avLst/>
          </a:prstGeom>
          <a:solidFill>
            <a:srgbClr val="FFFFFF"/>
          </a:solidFill>
          <a:ln w="11536">
            <a:solidFill>
              <a:srgbClr val="15A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2661" y="128186"/>
            <a:ext cx="115368" cy="961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4" b="1" i="0">
                <a:solidFill>
                  <a:srgbClr val="15A8D3"/>
                </a:solidFill>
                <a:latin typeface="Liberation Serif"/>
              </a:rPr>
              <a:t>P</a:t>
            </a:r>
          </a:p>
        </p:txBody>
      </p:sp>
      <p:sp>
        <p:nvSpPr>
          <p:cNvPr id="41" name="Perception Agent title"/>
          <p:cNvSpPr txBox="1"/>
          <p:nvPr/>
        </p:nvSpPr>
        <p:spPr>
          <a:xfrm>
            <a:off x="3198263" y="147414"/>
            <a:ext cx="2320183" cy="3396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67" b="1" i="0">
                <a:solidFill>
                  <a:srgbClr val="15A8D3"/>
                </a:solidFill>
                <a:latin typeface="Liberation Serif"/>
              </a:rPr>
              <a:t>Perception Agent</a:t>
            </a:r>
          </a:p>
        </p:txBody>
      </p:sp>
      <p:sp>
        <p:nvSpPr>
          <p:cNvPr id="42" name="R robot head"/>
          <p:cNvSpPr/>
          <p:nvPr/>
        </p:nvSpPr>
        <p:spPr>
          <a:xfrm>
            <a:off x="6018375" y="262783"/>
            <a:ext cx="275601" cy="18587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3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069650" y="448654"/>
            <a:ext cx="0" cy="38456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69650" y="487110"/>
            <a:ext cx="173052" cy="0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242702" y="448654"/>
            <a:ext cx="0" cy="38456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73510" y="307648"/>
            <a:ext cx="0" cy="108959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38842" y="307648"/>
            <a:ext cx="0" cy="108959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973510" y="333285"/>
            <a:ext cx="32047" cy="0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293977" y="333285"/>
            <a:ext cx="44865" cy="0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082469" y="320467"/>
            <a:ext cx="38456" cy="38456"/>
          </a:xfrm>
          <a:prstGeom prst="ellipse">
            <a:avLst/>
          </a:prstGeom>
          <a:solidFill>
            <a:srgbClr val="3F8C28"/>
          </a:solidFill>
          <a:ln w="6409">
            <a:solidFill>
              <a:srgbClr val="3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91428" y="320467"/>
            <a:ext cx="38456" cy="38456"/>
          </a:xfrm>
          <a:prstGeom prst="ellipse">
            <a:avLst/>
          </a:prstGeom>
          <a:solidFill>
            <a:srgbClr val="3F8C28"/>
          </a:solidFill>
          <a:ln w="6409">
            <a:solidFill>
              <a:srgbClr val="3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114515" y="397379"/>
            <a:ext cx="83322" cy="0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152971" y="211508"/>
            <a:ext cx="0" cy="51275"/>
          </a:xfrm>
          <a:prstGeom prst="line">
            <a:avLst/>
          </a:prstGeom>
          <a:ln w="12818">
            <a:solidFill>
              <a:srgbClr val="3F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095287" y="134596"/>
            <a:ext cx="115368" cy="89730"/>
          </a:xfrm>
          <a:prstGeom prst="roundRect">
            <a:avLst/>
          </a:prstGeom>
          <a:solidFill>
            <a:srgbClr val="FFFFFF"/>
          </a:solidFill>
          <a:ln w="11536">
            <a:solidFill>
              <a:srgbClr val="3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5287" y="128186"/>
            <a:ext cx="115368" cy="961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4" b="1" i="0">
                <a:solidFill>
                  <a:srgbClr val="3F8C28"/>
                </a:solidFill>
                <a:latin typeface="Liberation Serif"/>
              </a:rPr>
              <a:t>R</a:t>
            </a:r>
          </a:p>
        </p:txBody>
      </p:sp>
      <p:sp>
        <p:nvSpPr>
          <p:cNvPr id="56" name="Restoration Agent title"/>
          <p:cNvSpPr txBox="1"/>
          <p:nvPr/>
        </p:nvSpPr>
        <p:spPr>
          <a:xfrm>
            <a:off x="6370889" y="147414"/>
            <a:ext cx="2243271" cy="3396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67" b="1" i="0">
                <a:solidFill>
                  <a:srgbClr val="3F8C28"/>
                </a:solidFill>
                <a:latin typeface="Liberation Serif"/>
              </a:rPr>
              <a:t>Restoration Agent</a:t>
            </a:r>
          </a:p>
        </p:txBody>
      </p:sp>
      <p:sp>
        <p:nvSpPr>
          <p:cNvPr id="57" name="Profile panel"/>
          <p:cNvSpPr/>
          <p:nvPr/>
        </p:nvSpPr>
        <p:spPr>
          <a:xfrm>
            <a:off x="32046" y="519157"/>
            <a:ext cx="1845891" cy="974220"/>
          </a:xfrm>
          <a:prstGeom prst="roundRect">
            <a:avLst/>
          </a:prstGeom>
          <a:solidFill>
            <a:srgbClr val="F9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erception panel"/>
          <p:cNvSpPr/>
          <p:nvPr/>
        </p:nvSpPr>
        <p:spPr>
          <a:xfrm>
            <a:off x="2493235" y="519157"/>
            <a:ext cx="2608603" cy="2307364"/>
          </a:xfrm>
          <a:prstGeom prst="roundRect">
            <a:avLst/>
          </a:prstGeom>
          <a:solidFill>
            <a:srgbClr val="D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storation panel"/>
          <p:cNvSpPr/>
          <p:nvPr/>
        </p:nvSpPr>
        <p:spPr>
          <a:xfrm>
            <a:off x="5729955" y="519157"/>
            <a:ext cx="2525282" cy="2313773"/>
          </a:xfrm>
          <a:prstGeom prst="roundRect">
            <a:avLst/>
          </a:prstGeom>
          <a:solidFill>
            <a:srgbClr val="EC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98689" y="596069"/>
            <a:ext cx="217917" cy="128186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30736" y="628115"/>
            <a:ext cx="64093" cy="64093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6338" y="557613"/>
            <a:ext cx="961401" cy="2050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4K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98689" y="826805"/>
            <a:ext cx="217917" cy="128186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30736" y="858852"/>
            <a:ext cx="64093" cy="64093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6338" y="788349"/>
            <a:ext cx="961401" cy="2050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Face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8689" y="1083179"/>
            <a:ext cx="217917" cy="128186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0736" y="1115226"/>
            <a:ext cx="64093" cy="64093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6338" y="1044723"/>
            <a:ext cx="961401" cy="2050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689" y="1333143"/>
            <a:ext cx="217917" cy="128186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30736" y="1365190"/>
            <a:ext cx="64093" cy="64093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6338" y="1294687"/>
            <a:ext cx="961401" cy="2050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Preference</a:t>
            </a: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954992" y="762712"/>
            <a:ext cx="44865" cy="32046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54992" y="724256"/>
            <a:ext cx="25637" cy="38456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0629" y="724256"/>
            <a:ext cx="44866" cy="38456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019085" y="679390"/>
            <a:ext cx="6410" cy="83322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7542" y="717846"/>
            <a:ext cx="38456" cy="89731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5998" y="717846"/>
            <a:ext cx="32046" cy="25638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28044" y="672981"/>
            <a:ext cx="6410" cy="70503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60091" y="762712"/>
            <a:ext cx="44866" cy="57684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04957" y="762712"/>
            <a:ext cx="19228" cy="32046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198547" y="794758"/>
            <a:ext cx="25638" cy="83322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140863" y="878080"/>
            <a:ext cx="57684" cy="70503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070360" y="916536"/>
            <a:ext cx="70503" cy="32047"/>
          </a:xfrm>
          <a:prstGeom prst="line">
            <a:avLst/>
          </a:prstGeom>
          <a:ln w="1538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224185" y="660162"/>
            <a:ext cx="38456" cy="38456"/>
          </a:xfrm>
          <a:prstGeom prst="line">
            <a:avLst/>
          </a:prstGeom>
          <a:ln w="12818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75459" y="762712"/>
            <a:ext cx="51275" cy="6409"/>
          </a:xfrm>
          <a:prstGeom prst="line">
            <a:avLst/>
          </a:prstGeom>
          <a:ln w="12818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243413" y="833214"/>
            <a:ext cx="44865" cy="32047"/>
          </a:xfrm>
          <a:prstGeom prst="line">
            <a:avLst/>
          </a:prstGeom>
          <a:ln w="12818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Profile internal arrow"/>
          <p:cNvSpPr/>
          <p:nvPr/>
        </p:nvSpPr>
        <p:spPr>
          <a:xfrm>
            <a:off x="999857" y="1057542"/>
            <a:ext cx="326876" cy="173052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rofile document"/>
          <p:cNvSpPr/>
          <p:nvPr/>
        </p:nvSpPr>
        <p:spPr>
          <a:xfrm>
            <a:off x="1429284" y="884489"/>
            <a:ext cx="275601" cy="346104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21477" y="884442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493377" y="1063951"/>
            <a:ext cx="160234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493377" y="1115226"/>
            <a:ext cx="160234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493377" y="1166500"/>
            <a:ext cx="121778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685657" y="999857"/>
            <a:ext cx="115369" cy="185871"/>
          </a:xfrm>
          <a:prstGeom prst="line">
            <a:avLst/>
          </a:prstGeom>
          <a:ln w="38456">
            <a:solidFill>
              <a:srgbClr val="E8A5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685657" y="999857"/>
            <a:ext cx="115369" cy="185871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506196" y="935764"/>
            <a:ext cx="108958" cy="108958"/>
          </a:xfrm>
          <a:prstGeom prst="ellipse">
            <a:avLst/>
          </a:prstGeom>
          <a:solidFill>
            <a:srgbClr val="ED4D39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544652" y="974220"/>
            <a:ext cx="32046" cy="32046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71600" y="1294687"/>
            <a:ext cx="461472" cy="1666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11111"/>
                </a:solidFill>
                <a:latin typeface="Liberation Serif"/>
              </a:rPr>
              <a:t>Profile</a:t>
            </a:r>
          </a:p>
        </p:txBody>
      </p:sp>
      <p:sp>
        <p:nvSpPr>
          <p:cNvPr id="98" name="Profile handoff"/>
          <p:cNvSpPr/>
          <p:nvPr/>
        </p:nvSpPr>
        <p:spPr>
          <a:xfrm>
            <a:off x="2012534" y="711437"/>
            <a:ext cx="314057" cy="371742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243150" y="711399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076628" y="890899"/>
            <a:ext cx="198689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076628" y="942173"/>
            <a:ext cx="198689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076628" y="993448"/>
            <a:ext cx="160233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307364" y="826805"/>
            <a:ext cx="115368" cy="211509"/>
          </a:xfrm>
          <a:prstGeom prst="line">
            <a:avLst/>
          </a:prstGeom>
          <a:ln w="38456">
            <a:solidFill>
              <a:srgbClr val="E8A5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307364" y="826805"/>
            <a:ext cx="115368" cy="211509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2089446" y="762712"/>
            <a:ext cx="108958" cy="108958"/>
          </a:xfrm>
          <a:prstGeom prst="ellipse">
            <a:avLst/>
          </a:prstGeom>
          <a:solidFill>
            <a:srgbClr val="ED4D39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127902" y="801168"/>
            <a:ext cx="32046" cy="32046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Profile to perception"/>
          <p:cNvSpPr/>
          <p:nvPr/>
        </p:nvSpPr>
        <p:spPr>
          <a:xfrm>
            <a:off x="1897166" y="1051132"/>
            <a:ext cx="589659" cy="198689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Low resolution input" descr="inpu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4" y="1583108"/>
            <a:ext cx="1608745" cy="1249822"/>
          </a:xfrm>
          <a:prstGeom prst="rect">
            <a:avLst/>
          </a:prstGeom>
        </p:spPr>
      </p:pic>
      <p:sp>
        <p:nvSpPr>
          <p:cNvPr id="109" name="Input to perception"/>
          <p:cNvSpPr/>
          <p:nvPr/>
        </p:nvSpPr>
        <p:spPr>
          <a:xfrm>
            <a:off x="1801026" y="2127902"/>
            <a:ext cx="679390" cy="224327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tage 1 box"/>
          <p:cNvSpPr/>
          <p:nvPr/>
        </p:nvSpPr>
        <p:spPr>
          <a:xfrm>
            <a:off x="2576557" y="621706"/>
            <a:ext cx="2448370" cy="538385"/>
          </a:xfrm>
          <a:prstGeom prst="roundRect">
            <a:avLst/>
          </a:prstGeom>
          <a:solidFill>
            <a:srgbClr val="EAF9F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30381" y="762712"/>
            <a:ext cx="2147130" cy="307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111111"/>
                </a:solidFill>
                <a:latin typeface="Liberation Serif"/>
              </a:rPr>
              <a:t>Stage 1: Image Analyzer</a:t>
            </a:r>
          </a:p>
        </p:txBody>
      </p:sp>
      <p:cxnSp>
        <p:nvCxnSpPr>
          <p:cNvPr id="112" name="Analyzer to Stage 2"/>
          <p:cNvCxnSpPr/>
          <p:nvPr/>
        </p:nvCxnSpPr>
        <p:spPr>
          <a:xfrm>
            <a:off x="3800742" y="1160091"/>
            <a:ext cx="0" cy="339695"/>
          </a:xfrm>
          <a:prstGeom prst="line">
            <a:avLst/>
          </a:prstGeom>
          <a:ln w="320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Quality score document"/>
          <p:cNvSpPr/>
          <p:nvPr/>
        </p:nvSpPr>
        <p:spPr>
          <a:xfrm>
            <a:off x="3954566" y="1237003"/>
            <a:ext cx="179461" cy="269192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050488" y="1236937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4018659" y="1416465"/>
            <a:ext cx="64094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018659" y="1467740"/>
            <a:ext cx="64094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18659" y="1519014"/>
            <a:ext cx="25638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66074" y="1185728"/>
            <a:ext cx="801168" cy="346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11111"/>
                </a:solidFill>
                <a:latin typeface="Liberation Serif"/>
              </a:rPr>
              <a:t>Quality</a:t>
            </a:r>
            <a:br/>
            <a:r>
              <a:rPr sz="1110" b="1" i="0">
                <a:solidFill>
                  <a:srgbClr val="111111"/>
                </a:solidFill>
                <a:latin typeface="Liberation Serif"/>
              </a:rPr>
              <a:t>scores</a:t>
            </a:r>
          </a:p>
        </p:txBody>
      </p:sp>
      <p:sp>
        <p:nvSpPr>
          <p:cNvPr id="119" name="Stage 2 box"/>
          <p:cNvSpPr/>
          <p:nvPr/>
        </p:nvSpPr>
        <p:spPr>
          <a:xfrm>
            <a:off x="2576557" y="1519014"/>
            <a:ext cx="2448370" cy="557613"/>
          </a:xfrm>
          <a:prstGeom prst="roundRect">
            <a:avLst/>
          </a:prstGeom>
          <a:solidFill>
            <a:srgbClr val="EAF9F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21422" y="1570289"/>
            <a:ext cx="2345820" cy="461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111111"/>
                </a:solidFill>
                <a:latin typeface="Liberation Serif"/>
              </a:rPr>
              <a:t>Stage 2: Degradation Reasoning</a:t>
            </a:r>
            <a:br/>
            <a:r>
              <a:rPr sz="1261" b="1" i="0">
                <a:solidFill>
                  <a:srgbClr val="111111"/>
                </a:solidFill>
                <a:latin typeface="Liberation Serif"/>
              </a:rPr>
              <a:t>&amp; Task Planning</a:t>
            </a:r>
          </a:p>
        </p:txBody>
      </p:sp>
      <p:cxnSp>
        <p:nvCxnSpPr>
          <p:cNvPr id="121" name="Stage 2 to plan"/>
          <p:cNvCxnSpPr/>
          <p:nvPr/>
        </p:nvCxnSpPr>
        <p:spPr>
          <a:xfrm>
            <a:off x="3800742" y="2076628"/>
            <a:ext cx="0" cy="314057"/>
          </a:xfrm>
          <a:prstGeom prst="line">
            <a:avLst/>
          </a:prstGeom>
          <a:ln w="320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3909700" y="2115084"/>
            <a:ext cx="141005" cy="141005"/>
          </a:xfrm>
          <a:prstGeom prst="ellipse">
            <a:avLst/>
          </a:prstGeom>
          <a:solidFill>
            <a:srgbClr val="FFFFFF"/>
          </a:solidFill>
          <a:ln w="11536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928928" y="2121493"/>
            <a:ext cx="102549" cy="115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8D8D8D"/>
                </a:solidFill>
                <a:latin typeface="Liberation Sans"/>
              </a:rPr>
              <a:t>A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018659" y="2230452"/>
            <a:ext cx="64094" cy="70503"/>
          </a:xfrm>
          <a:prstGeom prst="line">
            <a:avLst/>
          </a:prstGeom>
          <a:ln w="141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114800" y="2083037"/>
            <a:ext cx="839624" cy="2756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sp>
        <p:nvSpPr>
          <p:cNvPr id="126" name="Restoration plan box"/>
          <p:cNvSpPr/>
          <p:nvPr/>
        </p:nvSpPr>
        <p:spPr>
          <a:xfrm>
            <a:off x="2576557" y="2397095"/>
            <a:ext cx="2448370" cy="378151"/>
          </a:xfrm>
          <a:prstGeom prst="roundRect">
            <a:avLst/>
          </a:prstGeom>
          <a:solidFill>
            <a:srgbClr val="F5FBF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986755" y="2486826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3018801" y="2550919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018801" y="2602194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018801" y="2653469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005983" y="2461188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057257" y="2461188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3031620" y="2499644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3063667" y="2563738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063667" y="2615013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063667" y="2666287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050848" y="2474007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02123" y="2474007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3076485" y="2512463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3108532" y="2576557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108532" y="2627831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108532" y="2679106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095714" y="2486826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146988" y="2486826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3307222" y="2454779"/>
            <a:ext cx="1576699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Restoration Plan</a:t>
            </a:r>
          </a:p>
        </p:txBody>
      </p:sp>
      <p:sp>
        <p:nvSpPr>
          <p:cNvPr id="146" name="Plan handoff"/>
          <p:cNvSpPr/>
          <p:nvPr/>
        </p:nvSpPr>
        <p:spPr>
          <a:xfrm>
            <a:off x="5223616" y="711437"/>
            <a:ext cx="307648" cy="371742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5447650" y="711399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5287710" y="890899"/>
            <a:ext cx="192280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287710" y="942173"/>
            <a:ext cx="192280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287710" y="993448"/>
            <a:ext cx="153824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512037" y="826805"/>
            <a:ext cx="115368" cy="211509"/>
          </a:xfrm>
          <a:prstGeom prst="line">
            <a:avLst/>
          </a:prstGeom>
          <a:ln w="38456">
            <a:solidFill>
              <a:srgbClr val="E8A5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512037" y="826805"/>
            <a:ext cx="115368" cy="211509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5300528" y="762712"/>
            <a:ext cx="108958" cy="108958"/>
          </a:xfrm>
          <a:prstGeom prst="ellipse">
            <a:avLst/>
          </a:prstGeom>
          <a:solidFill>
            <a:srgbClr val="ED4D39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38985" y="801168"/>
            <a:ext cx="32046" cy="32046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Perception to restoration"/>
          <p:cNvSpPr/>
          <p:nvPr/>
        </p:nvSpPr>
        <p:spPr>
          <a:xfrm>
            <a:off x="5108248" y="2134312"/>
            <a:ext cx="615297" cy="224327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ask 1 boundary"/>
          <p:cNvSpPr/>
          <p:nvPr/>
        </p:nvSpPr>
        <p:spPr>
          <a:xfrm>
            <a:off x="5826095" y="628115"/>
            <a:ext cx="2313773" cy="1345962"/>
          </a:xfrm>
          <a:prstGeom prst="roundRect">
            <a:avLst/>
          </a:prstGeom>
          <a:solidFill>
            <a:srgbClr val="F2FAE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33672" y="628115"/>
            <a:ext cx="724256" cy="2371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3" b="1" i="0">
                <a:solidFill>
                  <a:srgbClr val="111111"/>
                </a:solidFill>
                <a:latin typeface="Liberation Serif"/>
              </a:rPr>
              <a:t>Task 1</a:t>
            </a:r>
          </a:p>
        </p:txBody>
      </p:sp>
      <p:sp>
        <p:nvSpPr>
          <p:cNvPr id="158" name="Execution highlight"/>
          <p:cNvSpPr/>
          <p:nvPr/>
        </p:nvSpPr>
        <p:spPr>
          <a:xfrm>
            <a:off x="5922235" y="839624"/>
            <a:ext cx="929355" cy="262783"/>
          </a:xfrm>
          <a:prstGeom prst="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954282" y="826805"/>
            <a:ext cx="858852" cy="2691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Execution</a:t>
            </a:r>
          </a:p>
        </p:txBody>
      </p:sp>
      <p:sp>
        <p:nvSpPr>
          <p:cNvPr id="160" name="Reflection highlight"/>
          <p:cNvSpPr/>
          <p:nvPr/>
        </p:nvSpPr>
        <p:spPr>
          <a:xfrm>
            <a:off x="5922235" y="1230594"/>
            <a:ext cx="929355" cy="256373"/>
          </a:xfrm>
          <a:prstGeom prst="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973510" y="1217775"/>
            <a:ext cx="820396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Reflection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6396527" y="1095998"/>
            <a:ext cx="0" cy="134596"/>
          </a:xfrm>
          <a:prstGeom prst="line">
            <a:avLst/>
          </a:prstGeom>
          <a:ln w="16023">
            <a:solidFill>
              <a:srgbClr val="A9A9A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396527" y="1486968"/>
            <a:ext cx="0" cy="115368"/>
          </a:xfrm>
          <a:prstGeom prst="line">
            <a:avLst/>
          </a:prstGeom>
          <a:ln w="16023">
            <a:solidFill>
              <a:srgbClr val="A9A9A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6024785" y="1486968"/>
            <a:ext cx="448654" cy="1538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7" b="1" i="1">
                <a:solidFill>
                  <a:srgbClr val="A9A9A9"/>
                </a:solidFill>
                <a:latin typeface="Liberation Serif"/>
              </a:rPr>
              <a:t>if SR</a:t>
            </a:r>
          </a:p>
        </p:txBody>
      </p:sp>
      <p:sp>
        <p:nvSpPr>
          <p:cNvPr id="165" name="Rollback highlight"/>
          <p:cNvSpPr/>
          <p:nvPr/>
        </p:nvSpPr>
        <p:spPr>
          <a:xfrm>
            <a:off x="7165648" y="839624"/>
            <a:ext cx="878080" cy="653753"/>
          </a:xfrm>
          <a:prstGeom prst="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197695" y="833214"/>
            <a:ext cx="813986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Rollback</a:t>
            </a:r>
          </a:p>
        </p:txBody>
      </p:sp>
      <p:sp>
        <p:nvSpPr>
          <p:cNvPr id="167" name="P robot head"/>
          <p:cNvSpPr/>
          <p:nvPr/>
        </p:nvSpPr>
        <p:spPr>
          <a:xfrm>
            <a:off x="7287426" y="1211366"/>
            <a:ext cx="275601" cy="18587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7338700" y="1397237"/>
            <a:ext cx="0" cy="38456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338700" y="1435693"/>
            <a:ext cx="173053" cy="0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7511753" y="1397237"/>
            <a:ext cx="0" cy="38456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242560" y="1256231"/>
            <a:ext cx="0" cy="108959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607893" y="1256231"/>
            <a:ext cx="0" cy="108959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7242560" y="1281869"/>
            <a:ext cx="32047" cy="0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563028" y="1281869"/>
            <a:ext cx="44865" cy="0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351519" y="1269050"/>
            <a:ext cx="38456" cy="38456"/>
          </a:xfrm>
          <a:prstGeom prst="ellipse">
            <a:avLst/>
          </a:prstGeom>
          <a:solidFill>
            <a:srgbClr val="A9A9A9"/>
          </a:solidFill>
          <a:ln w="6409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60478" y="1269050"/>
            <a:ext cx="38456" cy="38456"/>
          </a:xfrm>
          <a:prstGeom prst="ellipse">
            <a:avLst/>
          </a:prstGeom>
          <a:solidFill>
            <a:srgbClr val="A9A9A9"/>
          </a:solidFill>
          <a:ln w="6409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383566" y="1345962"/>
            <a:ext cx="83321" cy="0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7422022" y="1160091"/>
            <a:ext cx="0" cy="51275"/>
          </a:xfrm>
          <a:prstGeom prst="line">
            <a:avLst/>
          </a:prstGeom>
          <a:ln w="12818">
            <a:solidFill>
              <a:srgbClr val="A9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7364338" y="1083179"/>
            <a:ext cx="115368" cy="89730"/>
          </a:xfrm>
          <a:prstGeom prst="roundRect">
            <a:avLst/>
          </a:prstGeom>
          <a:solidFill>
            <a:srgbClr val="FFFFFF"/>
          </a:solidFill>
          <a:ln w="11536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364338" y="1076770"/>
            <a:ext cx="115368" cy="961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4" b="1" i="0">
                <a:solidFill>
                  <a:srgbClr val="A9A9A9"/>
                </a:solidFill>
                <a:latin typeface="Liberation Serif"/>
              </a:rPr>
              <a:t>P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7588665" y="1128044"/>
            <a:ext cx="166643" cy="12819"/>
          </a:xfrm>
          <a:prstGeom prst="line">
            <a:avLst/>
          </a:prstGeom>
          <a:ln w="16023">
            <a:solidFill>
              <a:srgbClr val="A9A9A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755308" y="1140863"/>
            <a:ext cx="19228" cy="128187"/>
          </a:xfrm>
          <a:prstGeom prst="line">
            <a:avLst/>
          </a:prstGeom>
          <a:ln w="16023">
            <a:solidFill>
              <a:srgbClr val="A9A9A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7530981" y="1256231"/>
            <a:ext cx="448654" cy="173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7" b="1" i="1">
                <a:solidFill>
                  <a:srgbClr val="A9A9A9"/>
                </a:solidFill>
                <a:latin typeface="Liberation Serif"/>
              </a:rPr>
              <a:t>Re-Plan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38771" y="1051132"/>
            <a:ext cx="410198" cy="3396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7" b="1" i="1">
                <a:solidFill>
                  <a:srgbClr val="A9A9A9"/>
                </a:solidFill>
                <a:latin typeface="Liberation Serif"/>
              </a:rPr>
              <a:t>if low</a:t>
            </a:r>
            <a:br/>
            <a:r>
              <a:rPr sz="757" b="1" i="1">
                <a:solidFill>
                  <a:srgbClr val="A9A9A9"/>
                </a:solidFill>
                <a:latin typeface="Liberation Serif"/>
              </a:rPr>
              <a:t>quality</a:t>
            </a:r>
          </a:p>
        </p:txBody>
      </p:sp>
      <p:sp>
        <p:nvSpPr>
          <p:cNvPr id="185" name="Face restoration highlight"/>
          <p:cNvSpPr/>
          <p:nvPr/>
        </p:nvSpPr>
        <p:spPr>
          <a:xfrm>
            <a:off x="5922235" y="1602336"/>
            <a:ext cx="2121493" cy="269192"/>
          </a:xfrm>
          <a:prstGeom prst="rect">
            <a:avLst/>
          </a:prstGeom>
          <a:solidFill>
            <a:srgbClr val="FF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063241" y="1602336"/>
            <a:ext cx="1852300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Face Restoration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6986186" y="1974078"/>
            <a:ext cx="0" cy="173052"/>
          </a:xfrm>
          <a:prstGeom prst="line">
            <a:avLst/>
          </a:prstGeom>
          <a:ln w="25637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ask 2"/>
          <p:cNvSpPr/>
          <p:nvPr/>
        </p:nvSpPr>
        <p:spPr>
          <a:xfrm>
            <a:off x="5826095" y="2147130"/>
            <a:ext cx="2313773" cy="237145"/>
          </a:xfrm>
          <a:prstGeom prst="roundRect">
            <a:avLst/>
          </a:prstGeom>
          <a:solidFill>
            <a:srgbClr val="F3FBE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441392" y="2134312"/>
            <a:ext cx="1095998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Task 2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819543" y="2352229"/>
            <a:ext cx="352514" cy="1666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⋮</a:t>
            </a:r>
          </a:p>
        </p:txBody>
      </p:sp>
      <p:sp>
        <p:nvSpPr>
          <p:cNvPr id="191" name="Task K"/>
          <p:cNvSpPr/>
          <p:nvPr/>
        </p:nvSpPr>
        <p:spPr>
          <a:xfrm>
            <a:off x="5826095" y="2538100"/>
            <a:ext cx="2313773" cy="243555"/>
          </a:xfrm>
          <a:prstGeom prst="roundRect">
            <a:avLst/>
          </a:prstGeom>
          <a:solidFill>
            <a:srgbClr val="F3FBED"/>
          </a:solidFill>
          <a:ln w="25637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441392" y="2531691"/>
            <a:ext cx="1095998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Task K</a:t>
            </a:r>
          </a:p>
        </p:txBody>
      </p:sp>
      <p:sp>
        <p:nvSpPr>
          <p:cNvPr id="193" name="Restoration to output"/>
          <p:cNvSpPr/>
          <p:nvPr/>
        </p:nvSpPr>
        <p:spPr>
          <a:xfrm>
            <a:off x="8255237" y="2127902"/>
            <a:ext cx="512747" cy="230736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4K output photo" descr="output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985" y="198689"/>
            <a:ext cx="3518730" cy="2640650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269192" y="3249538"/>
            <a:ext cx="929355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075C75"/>
                </a:solidFill>
                <a:latin typeface="Liberation Sans"/>
              </a:rPr>
              <a:t>Stage 1</a:t>
            </a:r>
          </a:p>
        </p:txBody>
      </p:sp>
      <p:sp>
        <p:nvSpPr>
          <p:cNvPr id="196" name="Expanded Stage 1"/>
          <p:cNvSpPr/>
          <p:nvPr/>
        </p:nvSpPr>
        <p:spPr>
          <a:xfrm>
            <a:off x="128186" y="3223900"/>
            <a:ext cx="5076201" cy="1057542"/>
          </a:xfrm>
          <a:prstGeom prst="roundRect">
            <a:avLst/>
          </a:prstGeom>
          <a:solidFill>
            <a:srgbClr val="E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69192" y="3268766"/>
            <a:ext cx="929355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075C75"/>
                </a:solidFill>
                <a:latin typeface="Liberation Sans"/>
              </a:rPr>
              <a:t>Stage 1</a:t>
            </a:r>
          </a:p>
        </p:txBody>
      </p:sp>
      <p:sp>
        <p:nvSpPr>
          <p:cNvPr id="198" name="Freeform 197"/>
          <p:cNvSpPr/>
          <p:nvPr/>
        </p:nvSpPr>
        <p:spPr>
          <a:xfrm>
            <a:off x="788307" y="3569813"/>
            <a:ext cx="166634" cy="153816"/>
          </a:xfrm>
          <a:custGeom>
            <a:avLst/>
            <a:gdLst/>
            <a:ahLst/>
            <a:cxnLst/>
            <a:rect l="l" t="t" r="r" b="b"/>
            <a:pathLst>
              <a:path w="26" h="24">
                <a:moveTo>
                  <a:pt x="13" y="0"/>
                </a:moveTo>
                <a:lnTo>
                  <a:pt x="17" y="8"/>
                </a:lnTo>
                <a:lnTo>
                  <a:pt x="26" y="9"/>
                </a:lnTo>
                <a:lnTo>
                  <a:pt x="19" y="15"/>
                </a:lnTo>
                <a:lnTo>
                  <a:pt x="21" y="24"/>
                </a:lnTo>
                <a:lnTo>
                  <a:pt x="13" y="19"/>
                </a:lnTo>
                <a:lnTo>
                  <a:pt x="5" y="24"/>
                </a:lnTo>
                <a:lnTo>
                  <a:pt x="7" y="15"/>
                </a:lnTo>
                <a:lnTo>
                  <a:pt x="0" y="9"/>
                </a:lnTo>
                <a:lnTo>
                  <a:pt x="9" y="8"/>
                </a:lnTo>
                <a:close/>
              </a:path>
            </a:pathLst>
          </a:custGeom>
          <a:solidFill>
            <a:srgbClr val="FFD84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942123" y="3569813"/>
            <a:ext cx="166634" cy="153816"/>
          </a:xfrm>
          <a:custGeom>
            <a:avLst/>
            <a:gdLst/>
            <a:ahLst/>
            <a:cxnLst/>
            <a:rect l="l" t="t" r="r" b="b"/>
            <a:pathLst>
              <a:path w="26" h="24">
                <a:moveTo>
                  <a:pt x="13" y="0"/>
                </a:moveTo>
                <a:lnTo>
                  <a:pt x="17" y="8"/>
                </a:lnTo>
                <a:lnTo>
                  <a:pt x="26" y="9"/>
                </a:lnTo>
                <a:lnTo>
                  <a:pt x="19" y="15"/>
                </a:lnTo>
                <a:lnTo>
                  <a:pt x="21" y="24"/>
                </a:lnTo>
                <a:lnTo>
                  <a:pt x="13" y="19"/>
                </a:lnTo>
                <a:lnTo>
                  <a:pt x="5" y="24"/>
                </a:lnTo>
                <a:lnTo>
                  <a:pt x="7" y="15"/>
                </a:lnTo>
                <a:lnTo>
                  <a:pt x="0" y="9"/>
                </a:lnTo>
                <a:lnTo>
                  <a:pt x="9" y="8"/>
                </a:lnTo>
                <a:close/>
              </a:path>
            </a:pathLst>
          </a:custGeom>
          <a:solidFill>
            <a:srgbClr val="FFD84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095939" y="3569813"/>
            <a:ext cx="166634" cy="153816"/>
          </a:xfrm>
          <a:custGeom>
            <a:avLst/>
            <a:gdLst/>
            <a:ahLst/>
            <a:cxnLst/>
            <a:rect l="l" t="t" r="r" b="b"/>
            <a:pathLst>
              <a:path w="26" h="24">
                <a:moveTo>
                  <a:pt x="13" y="0"/>
                </a:moveTo>
                <a:lnTo>
                  <a:pt x="17" y="8"/>
                </a:lnTo>
                <a:lnTo>
                  <a:pt x="26" y="9"/>
                </a:lnTo>
                <a:lnTo>
                  <a:pt x="19" y="15"/>
                </a:lnTo>
                <a:lnTo>
                  <a:pt x="21" y="24"/>
                </a:lnTo>
                <a:lnTo>
                  <a:pt x="13" y="19"/>
                </a:lnTo>
                <a:lnTo>
                  <a:pt x="5" y="24"/>
                </a:lnTo>
                <a:lnTo>
                  <a:pt x="7" y="15"/>
                </a:lnTo>
                <a:lnTo>
                  <a:pt x="0" y="9"/>
                </a:lnTo>
                <a:lnTo>
                  <a:pt x="9" y="8"/>
                </a:lnTo>
                <a:close/>
              </a:path>
            </a:pathLst>
          </a:custGeom>
          <a:solidFill>
            <a:srgbClr val="FFD84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58852" y="3800742"/>
            <a:ext cx="64093" cy="64093"/>
          </a:xfrm>
          <a:prstGeom prst="ellipse">
            <a:avLst/>
          </a:prstGeom>
          <a:solidFill>
            <a:srgbClr val="111111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890899" y="3864835"/>
            <a:ext cx="0" cy="76912"/>
          </a:xfrm>
          <a:prstGeom prst="line">
            <a:avLst/>
          </a:prstGeom>
          <a:ln w="1922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1025495" y="3800742"/>
            <a:ext cx="64093" cy="64093"/>
          </a:xfrm>
          <a:prstGeom prst="ellipse">
            <a:avLst/>
          </a:prstGeom>
          <a:solidFill>
            <a:srgbClr val="15A8D3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1057542" y="3864835"/>
            <a:ext cx="0" cy="76912"/>
          </a:xfrm>
          <a:prstGeom prst="line">
            <a:avLst/>
          </a:prstGeom>
          <a:ln w="1922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1192138" y="3800742"/>
            <a:ext cx="64093" cy="64093"/>
          </a:xfrm>
          <a:prstGeom prst="ellipse">
            <a:avLst/>
          </a:prstGeom>
          <a:solidFill>
            <a:srgbClr val="111111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1224185" y="3864835"/>
            <a:ext cx="0" cy="76912"/>
          </a:xfrm>
          <a:prstGeom prst="line">
            <a:avLst/>
          </a:prstGeom>
          <a:ln w="1922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3214" y="3954566"/>
            <a:ext cx="115369" cy="0"/>
          </a:xfrm>
          <a:prstGeom prst="line">
            <a:avLst/>
          </a:prstGeom>
          <a:ln w="2563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99857" y="3954566"/>
            <a:ext cx="121778" cy="0"/>
          </a:xfrm>
          <a:prstGeom prst="line">
            <a:avLst/>
          </a:prstGeom>
          <a:ln w="32046">
            <a:solidFill>
              <a:srgbClr val="15A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166500" y="3954566"/>
            <a:ext cx="115369" cy="0"/>
          </a:xfrm>
          <a:prstGeom prst="line">
            <a:avLst/>
          </a:prstGeom>
          <a:ln w="2563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448654" y="4005841"/>
            <a:ext cx="1249822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Expert IQA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1544652" y="3845607"/>
            <a:ext cx="43583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Quality metric table"/>
          <p:cNvSpPr/>
          <p:nvPr/>
        </p:nvSpPr>
        <p:spPr>
          <a:xfrm>
            <a:off x="2140721" y="3396953"/>
            <a:ext cx="1288278" cy="8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224042" y="3448228"/>
            <a:ext cx="724256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CLIPIQA+: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54708" y="3448228"/>
            <a:ext cx="384560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0.6344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24042" y="3621280"/>
            <a:ext cx="724256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TOPIQ: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954708" y="3621280"/>
            <a:ext cx="384560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0.5907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224042" y="3794332"/>
            <a:ext cx="724256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MUSIQ: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954708" y="3794332"/>
            <a:ext cx="384560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62.9828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224042" y="3967385"/>
            <a:ext cx="724256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NIQE: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954708" y="3967385"/>
            <a:ext cx="384560" cy="1602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8" b="1" i="0">
                <a:solidFill>
                  <a:srgbClr val="4E88B9"/>
                </a:solidFill>
                <a:latin typeface="Liberation Serif"/>
              </a:rPr>
              <a:t>3.5966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3582824" y="3819970"/>
            <a:ext cx="43583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Quality Scores document"/>
          <p:cNvSpPr/>
          <p:nvPr/>
        </p:nvSpPr>
        <p:spPr>
          <a:xfrm>
            <a:off x="4396811" y="3557186"/>
            <a:ext cx="288420" cy="37815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4601662" y="3556995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4460904" y="3736648"/>
            <a:ext cx="173053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460904" y="3787923"/>
            <a:ext cx="173053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460904" y="3839198"/>
            <a:ext cx="134596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3819970" y="4005841"/>
            <a:ext cx="1230594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Quality Scores</a:t>
            </a:r>
          </a:p>
        </p:txBody>
      </p:sp>
      <p:sp>
        <p:nvSpPr>
          <p:cNvPr id="228" name="Expanded Stage 2"/>
          <p:cNvSpPr/>
          <p:nvPr/>
        </p:nvSpPr>
        <p:spPr>
          <a:xfrm>
            <a:off x="128186" y="4403220"/>
            <a:ext cx="5076201" cy="2012534"/>
          </a:xfrm>
          <a:prstGeom prst="roundRect">
            <a:avLst/>
          </a:prstGeom>
          <a:solidFill>
            <a:srgbClr val="E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269192" y="4441676"/>
            <a:ext cx="929355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075C75"/>
                </a:solidFill>
                <a:latin typeface="Liberation Sans"/>
              </a:rPr>
              <a:t>Stage 2</a:t>
            </a:r>
          </a:p>
        </p:txBody>
      </p:sp>
      <p:pic>
        <p:nvPicPr>
          <p:cNvPr id="230" name="Stage 2 source image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08" y="4736506"/>
            <a:ext cx="538385" cy="423016"/>
          </a:xfrm>
          <a:prstGeom prst="rect">
            <a:avLst/>
          </a:prstGeom>
        </p:spPr>
      </p:pic>
      <p:cxnSp>
        <p:nvCxnSpPr>
          <p:cNvPr id="231" name="Connector 230"/>
          <p:cNvCxnSpPr/>
          <p:nvPr/>
        </p:nvCxnSpPr>
        <p:spPr>
          <a:xfrm>
            <a:off x="756302" y="4928786"/>
            <a:ext cx="198690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Stage 2 quality score doc"/>
          <p:cNvSpPr/>
          <p:nvPr/>
        </p:nvSpPr>
        <p:spPr>
          <a:xfrm>
            <a:off x="435835" y="5281300"/>
            <a:ext cx="243555" cy="314057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596037" y="5281016"/>
            <a:ext cx="83317" cy="8331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0"/>
                </a:move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solidFill>
            <a:srgbClr val="FFFFFF"/>
          </a:solidFill>
          <a:ln w="96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>
            <a:off x="499928" y="5460762"/>
            <a:ext cx="128187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99928" y="5512037"/>
            <a:ext cx="128187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99928" y="5563312"/>
            <a:ext cx="89731" cy="0"/>
          </a:xfrm>
          <a:prstGeom prst="line">
            <a:avLst/>
          </a:prstGeom>
          <a:ln w="1089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166642" y="5608177"/>
            <a:ext cx="801168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111111"/>
                </a:solidFill>
                <a:latin typeface="Liberation Serif"/>
              </a:rPr>
              <a:t>Quality Scores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749893" y="5454353"/>
            <a:ext cx="211508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29340" y="4712151"/>
            <a:ext cx="260220" cy="126905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29340" y="4839056"/>
            <a:ext cx="260220" cy="23265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29340" y="4839056"/>
            <a:ext cx="278807" cy="750854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1047928" y="4712151"/>
            <a:ext cx="241632" cy="44416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289560" y="4712151"/>
            <a:ext cx="250926" cy="423016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289560" y="4712151"/>
            <a:ext cx="529732" cy="44416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1047928" y="4712151"/>
            <a:ext cx="483264" cy="44416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1289560" y="4712151"/>
            <a:ext cx="241632" cy="359564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531192" y="4712151"/>
            <a:ext cx="288100" cy="44416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531192" y="4712151"/>
            <a:ext cx="46468" cy="82488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>
            <a:off x="1289560" y="4860206"/>
            <a:ext cx="501852" cy="21150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1540486" y="4860206"/>
            <a:ext cx="250926" cy="274961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791412" y="4860206"/>
            <a:ext cx="0" cy="57107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047928" y="5071715"/>
            <a:ext cx="241632" cy="8460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1029340" y="5156318"/>
            <a:ext cx="18588" cy="29611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47928" y="5156318"/>
            <a:ext cx="260219" cy="43359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289560" y="5071715"/>
            <a:ext cx="250926" cy="6345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1029340" y="5071715"/>
            <a:ext cx="260220" cy="380715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289560" y="5071715"/>
            <a:ext cx="288100" cy="465318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540486" y="5135167"/>
            <a:ext cx="278806" cy="21151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1308147" y="5135167"/>
            <a:ext cx="232339" cy="45474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540486" y="5135167"/>
            <a:ext cx="250926" cy="29611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1577660" y="5156318"/>
            <a:ext cx="241632" cy="380715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1791412" y="5156318"/>
            <a:ext cx="27880" cy="274961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29340" y="5452430"/>
            <a:ext cx="278807" cy="13748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308147" y="5537033"/>
            <a:ext cx="269513" cy="5287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577660" y="5431279"/>
            <a:ext cx="213752" cy="105754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990884" y="4800600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251104" y="4673694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492736" y="4673694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752956" y="4821750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09471" y="5117862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251104" y="5033259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502030" y="5096711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780836" y="5117862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90884" y="5413974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269691" y="5551454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539204" y="5498577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752956" y="539282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178037" y="4976536"/>
            <a:ext cx="511145" cy="401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4" b="1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788207" y="4601910"/>
            <a:ext cx="141006" cy="173052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Oval 279"/>
          <p:cNvSpPr/>
          <p:nvPr/>
        </p:nvSpPr>
        <p:spPr>
          <a:xfrm>
            <a:off x="1961259" y="4492951"/>
            <a:ext cx="141005" cy="141005"/>
          </a:xfrm>
          <a:prstGeom prst="ellipse">
            <a:avLst/>
          </a:prstGeom>
          <a:solidFill>
            <a:srgbClr val="FFFFFF"/>
          </a:solidFill>
          <a:ln w="11536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980487" y="4499360"/>
            <a:ext cx="102549" cy="115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8D8D8D"/>
                </a:solidFill>
                <a:latin typeface="Liberation Sans"/>
              </a:rPr>
              <a:t>A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2070218" y="4608319"/>
            <a:ext cx="64094" cy="70503"/>
          </a:xfrm>
          <a:prstGeom prst="line">
            <a:avLst/>
          </a:prstGeom>
          <a:ln w="141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2159949" y="4467314"/>
            <a:ext cx="974220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sp>
        <p:nvSpPr>
          <p:cNvPr id="284" name="Description quote"/>
          <p:cNvSpPr/>
          <p:nvPr/>
        </p:nvSpPr>
        <p:spPr>
          <a:xfrm>
            <a:off x="1967669" y="4730097"/>
            <a:ext cx="1102407" cy="493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999715" y="4736506"/>
            <a:ext cx="1044723" cy="480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8" b="0" i="0">
                <a:solidFill>
                  <a:srgbClr val="4E88B9"/>
                </a:solidFill>
                <a:latin typeface="Liberation Serif"/>
              </a:rPr>
              <a:t>"A young girl with</a:t>
            </a:r>
            <a:br/>
            <a:r>
              <a:rPr sz="908" b="0" i="0">
                <a:solidFill>
                  <a:srgbClr val="4E88B9"/>
                </a:solidFill>
                <a:latin typeface="Liberation Serif"/>
              </a:rPr>
              <a:t>long brown hair, …</a:t>
            </a:r>
            <a:br/>
            <a:r>
              <a:rPr sz="908" b="0" i="0">
                <a:solidFill>
                  <a:srgbClr val="4E88B9"/>
                </a:solidFill>
                <a:latin typeface="Liberation Serif"/>
              </a:rPr>
              <a:t>firefighting efforts."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1794616" y="5454353"/>
            <a:ext cx="147415" cy="17946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1980487" y="5377441"/>
            <a:ext cx="1121635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Distortion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980487" y="5614586"/>
            <a:ext cx="551203" cy="1858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999715" y="5608177"/>
            <a:ext cx="512747" cy="1858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8" b="0" i="0">
                <a:solidFill>
                  <a:srgbClr val="4E88B9"/>
                </a:solidFill>
                <a:latin typeface="Liberation Serif"/>
              </a:rPr>
              <a:t>"Noise"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2538100" y="5710727"/>
            <a:ext cx="192281" cy="0"/>
          </a:xfrm>
          <a:prstGeom prst="line">
            <a:avLst/>
          </a:prstGeom>
          <a:ln w="16023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2717562" y="5601768"/>
            <a:ext cx="679390" cy="21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8" b="0" i="0">
                <a:solidFill>
                  <a:srgbClr val="B52795"/>
                </a:solidFill>
                <a:latin typeface="Liberation Serif"/>
              </a:rPr>
              <a:t>+ "LR"×2</a:t>
            </a:r>
          </a:p>
        </p:txBody>
      </p:sp>
      <p:pic>
        <p:nvPicPr>
          <p:cNvPr id="292" name="Agenda thumbnail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222" y="4518588"/>
            <a:ext cx="551203" cy="429426"/>
          </a:xfrm>
          <a:prstGeom prst="rect">
            <a:avLst/>
          </a:prstGeom>
        </p:spPr>
      </p:pic>
      <p:sp>
        <p:nvSpPr>
          <p:cNvPr id="293" name="TextBox 292"/>
          <p:cNvSpPr txBox="1"/>
          <p:nvPr/>
        </p:nvSpPr>
        <p:spPr>
          <a:xfrm>
            <a:off x="3268766" y="4973652"/>
            <a:ext cx="634525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11111"/>
                </a:solidFill>
                <a:latin typeface="Liberation Serif"/>
              </a:rPr>
              <a:t>Agenda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146988" y="5191570"/>
            <a:ext cx="884489" cy="1666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7" b="0" i="0">
                <a:solidFill>
                  <a:srgbClr val="4E88B9"/>
                </a:solidFill>
                <a:latin typeface="Liberation Serif"/>
              </a:rPr>
              <a:t>["DN", "SR", "SR"]</a:t>
            </a:r>
          </a:p>
        </p:txBody>
      </p:sp>
      <p:cxnSp>
        <p:nvCxnSpPr>
          <p:cNvPr id="295" name="Connector 294"/>
          <p:cNvCxnSpPr/>
          <p:nvPr/>
        </p:nvCxnSpPr>
        <p:spPr>
          <a:xfrm flipV="1">
            <a:off x="3576414" y="5178751"/>
            <a:ext cx="0" cy="211508"/>
          </a:xfrm>
          <a:prstGeom prst="line">
            <a:avLst/>
          </a:prstGeom>
          <a:ln w="12818">
            <a:solidFill>
              <a:srgbClr val="4E88B9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3102123" y="5383850"/>
            <a:ext cx="967811" cy="1538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6" b="0" i="0">
                <a:solidFill>
                  <a:srgbClr val="4E88B9"/>
                </a:solidFill>
                <a:latin typeface="Liberation Serif"/>
              </a:rPr>
              <a:t>["Noise", "LR", "LR"]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140579" y="5531265"/>
            <a:ext cx="884489" cy="1858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11111"/>
                </a:solidFill>
                <a:latin typeface="Liberation Serif"/>
              </a:rPr>
              <a:t>Distortions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3396953" y="5710727"/>
            <a:ext cx="179461" cy="0"/>
          </a:xfrm>
          <a:prstGeom prst="line">
            <a:avLst/>
          </a:prstGeom>
          <a:ln w="1602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3576414" y="5544084"/>
            <a:ext cx="0" cy="166643"/>
          </a:xfrm>
          <a:prstGeom prst="line">
            <a:avLst/>
          </a:prstGeom>
          <a:ln w="16023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3999431" y="5435125"/>
            <a:ext cx="147415" cy="198689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272469" y="4778039"/>
            <a:ext cx="260220" cy="11998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4272469" y="4898022"/>
            <a:ext cx="260220" cy="219968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272469" y="4898022"/>
            <a:ext cx="278807" cy="70989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4291057" y="4778039"/>
            <a:ext cx="241632" cy="41994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532689" y="4778039"/>
            <a:ext cx="250926" cy="39994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532689" y="4778039"/>
            <a:ext cx="529732" cy="41994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4291057" y="4778039"/>
            <a:ext cx="483264" cy="41994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>
            <a:off x="4532689" y="4778039"/>
            <a:ext cx="241632" cy="339951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4774321" y="4778039"/>
            <a:ext cx="288100" cy="41994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4774321" y="4778039"/>
            <a:ext cx="46468" cy="77988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4532689" y="4918019"/>
            <a:ext cx="501852" cy="199971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4783615" y="4918019"/>
            <a:ext cx="250926" cy="25996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5034541" y="4918019"/>
            <a:ext cx="0" cy="53992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4291057" y="5117990"/>
            <a:ext cx="241632" cy="7998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4272469" y="5197979"/>
            <a:ext cx="18588" cy="27996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4291057" y="5197979"/>
            <a:ext cx="260219" cy="40994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4532689" y="5117990"/>
            <a:ext cx="250926" cy="5999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4272469" y="5117990"/>
            <a:ext cx="260220" cy="35994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4532689" y="5117990"/>
            <a:ext cx="288100" cy="439938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4783615" y="5177982"/>
            <a:ext cx="278806" cy="19997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4551276" y="5177982"/>
            <a:ext cx="232339" cy="42993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4783615" y="5177982"/>
            <a:ext cx="250926" cy="279960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4820789" y="5197979"/>
            <a:ext cx="241632" cy="359949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5034541" y="5197979"/>
            <a:ext cx="27880" cy="25996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4272469" y="5477939"/>
            <a:ext cx="278807" cy="129982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4551276" y="5557928"/>
            <a:ext cx="269513" cy="49993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4820789" y="5457942"/>
            <a:ext cx="213752" cy="99986"/>
          </a:xfrm>
          <a:prstGeom prst="line">
            <a:avLst/>
          </a:prstGeom>
          <a:ln w="13459">
            <a:solidFill>
              <a:srgbClr val="F1C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Oval 327"/>
          <p:cNvSpPr/>
          <p:nvPr/>
        </p:nvSpPr>
        <p:spPr>
          <a:xfrm>
            <a:off x="4234013" y="4859565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494233" y="473958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735865" y="473958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996085" y="487956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252600" y="515952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494233" y="5079534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745159" y="5139526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023965" y="515952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4234013" y="5439483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4512820" y="5569465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4782333" y="5519472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996085" y="5419486"/>
            <a:ext cx="76912" cy="76912"/>
          </a:xfrm>
          <a:prstGeom prst="ellipse">
            <a:avLst/>
          </a:prstGeom>
          <a:solidFill>
            <a:srgbClr val="FFFFFF"/>
          </a:solidFill>
          <a:ln w="12818">
            <a:solidFill>
              <a:srgbClr val="F1C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4421166" y="5028003"/>
            <a:ext cx="511145" cy="3799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4" b="1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223758" y="4441676"/>
            <a:ext cx="878080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11111"/>
                </a:solidFill>
                <a:latin typeface="Liberation Serif"/>
              </a:rPr>
              <a:t>Experience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4653185" y="4678822"/>
            <a:ext cx="0" cy="141006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3993022" y="4819828"/>
            <a:ext cx="205099" cy="147414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3993022" y="5230026"/>
            <a:ext cx="205099" cy="76912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653185" y="5697908"/>
            <a:ext cx="0" cy="589660"/>
          </a:xfrm>
          <a:prstGeom prst="line">
            <a:avLst/>
          </a:prstGeom>
          <a:ln w="320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2018943" y="6076059"/>
            <a:ext cx="2345820" cy="2884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3" b="1" i="1">
                <a:solidFill>
                  <a:srgbClr val="B52795"/>
                </a:solidFill>
                <a:latin typeface="Liberation Serif"/>
              </a:rPr>
              <a:t>Upscaling Setting for 4K</a:t>
            </a:r>
          </a:p>
        </p:txBody>
      </p:sp>
      <p:cxnSp>
        <p:nvCxnSpPr>
          <p:cNvPr id="347" name="Connector 346"/>
          <p:cNvCxnSpPr/>
          <p:nvPr/>
        </p:nvCxnSpPr>
        <p:spPr>
          <a:xfrm flipV="1">
            <a:off x="3179035" y="5883779"/>
            <a:ext cx="0" cy="179462"/>
          </a:xfrm>
          <a:prstGeom prst="line">
            <a:avLst/>
          </a:prstGeom>
          <a:ln w="19228">
            <a:solidFill>
              <a:srgbClr val="B5279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Expanded restoration plan"/>
          <p:cNvSpPr/>
          <p:nvPr/>
        </p:nvSpPr>
        <p:spPr>
          <a:xfrm>
            <a:off x="115368" y="6543942"/>
            <a:ext cx="5108248" cy="653753"/>
          </a:xfrm>
          <a:prstGeom prst="roundRect">
            <a:avLst/>
          </a:prstGeom>
          <a:solidFill>
            <a:srgbClr val="F6FBFD"/>
          </a:solidFill>
          <a:ln w="19228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1743342" y="6659310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1775388" y="6723403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775388" y="6774678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775388" y="6825953"/>
            <a:ext cx="89731" cy="0"/>
          </a:xfrm>
          <a:prstGeom prst="line">
            <a:avLst/>
          </a:prstGeom>
          <a:ln w="12818">
            <a:solidFill>
              <a:srgbClr val="EFC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762570" y="6633672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813844" y="6633672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Rounded Rectangle 354"/>
          <p:cNvSpPr/>
          <p:nvPr/>
        </p:nvSpPr>
        <p:spPr>
          <a:xfrm>
            <a:off x="1788207" y="6672128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1820254" y="6736222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820254" y="6787497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820254" y="6838771"/>
            <a:ext cx="89731" cy="0"/>
          </a:xfrm>
          <a:prstGeom prst="line">
            <a:avLst/>
          </a:prstGeom>
          <a:ln w="12818">
            <a:solidFill>
              <a:srgbClr val="F08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807435" y="6646491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858710" y="6646491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Rounded Rectangle 360"/>
          <p:cNvSpPr/>
          <p:nvPr/>
        </p:nvSpPr>
        <p:spPr>
          <a:xfrm>
            <a:off x="1833072" y="6684947"/>
            <a:ext cx="160233" cy="237145"/>
          </a:xfrm>
          <a:prstGeom prst="roundRect">
            <a:avLst/>
          </a:prstGeom>
          <a:solidFill>
            <a:srgbClr val="FFFFFF"/>
          </a:solidFill>
          <a:ln w="769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1865119" y="6749041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865119" y="6800315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865119" y="6851590"/>
            <a:ext cx="89731" cy="0"/>
          </a:xfrm>
          <a:prstGeom prst="line">
            <a:avLst/>
          </a:prstGeom>
          <a:ln w="12818">
            <a:solidFill>
              <a:srgbClr val="67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852300" y="6659310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903575" y="6659310"/>
            <a:ext cx="0" cy="38456"/>
          </a:xfrm>
          <a:prstGeom prst="line">
            <a:avLst/>
          </a:prstGeom>
          <a:ln w="769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2025353" y="6588807"/>
            <a:ext cx="1730523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Restoration Plan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17917" y="6864409"/>
            <a:ext cx="1352371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3F8C28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369" name="Right Arrow 368"/>
          <p:cNvSpPr/>
          <p:nvPr/>
        </p:nvSpPr>
        <p:spPr>
          <a:xfrm>
            <a:off x="1653611" y="6941321"/>
            <a:ext cx="499928" cy="147414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339411" y="6864409"/>
            <a:ext cx="910127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3F8C28"/>
                </a:solidFill>
                <a:latin typeface="Liberation Serif"/>
              </a:rPr>
              <a:t>Denoising</a:t>
            </a:r>
          </a:p>
        </p:txBody>
      </p:sp>
      <p:sp>
        <p:nvSpPr>
          <p:cNvPr id="371" name="Right Arrow 370"/>
          <p:cNvSpPr/>
          <p:nvPr/>
        </p:nvSpPr>
        <p:spPr>
          <a:xfrm>
            <a:off x="3179035" y="6941321"/>
            <a:ext cx="499928" cy="147414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3781514" y="6864409"/>
            <a:ext cx="1352371" cy="2820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3F8C28"/>
                </a:solidFill>
                <a:latin typeface="Liberation Serif"/>
              </a:rPr>
              <a:t>Super-Resolution</a:t>
            </a:r>
          </a:p>
        </p:txBody>
      </p:sp>
      <p:cxnSp>
        <p:nvCxnSpPr>
          <p:cNvPr id="373" name="Plan to task sequence"/>
          <p:cNvCxnSpPr/>
          <p:nvPr/>
        </p:nvCxnSpPr>
        <p:spPr>
          <a:xfrm>
            <a:off x="5217207" y="6877228"/>
            <a:ext cx="365333" cy="0"/>
          </a:xfrm>
          <a:prstGeom prst="line">
            <a:avLst/>
          </a:prstGeom>
          <a:ln w="1922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582540" y="3461046"/>
            <a:ext cx="0" cy="3416182"/>
          </a:xfrm>
          <a:prstGeom prst="line">
            <a:avLst/>
          </a:prstGeom>
          <a:ln w="1922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582540" y="3461046"/>
            <a:ext cx="358923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Restoration task sequence"/>
          <p:cNvSpPr/>
          <p:nvPr/>
        </p:nvSpPr>
        <p:spPr>
          <a:xfrm>
            <a:off x="5941463" y="3211082"/>
            <a:ext cx="6140153" cy="480700"/>
          </a:xfrm>
          <a:prstGeom prst="roundRect">
            <a:avLst/>
          </a:prstGeom>
          <a:solidFill>
            <a:srgbClr val="F3FAEE"/>
          </a:solidFill>
          <a:ln w="19228">
            <a:solidFill>
              <a:srgbClr val="A9A9A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ask clipboard"/>
          <p:cNvSpPr/>
          <p:nvPr/>
        </p:nvSpPr>
        <p:spPr>
          <a:xfrm>
            <a:off x="6140153" y="3320041"/>
            <a:ext cx="249964" cy="28201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ounded Rectangle 377"/>
          <p:cNvSpPr/>
          <p:nvPr/>
        </p:nvSpPr>
        <p:spPr>
          <a:xfrm>
            <a:off x="6223474" y="3275175"/>
            <a:ext cx="128186" cy="76912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6268340" y="3294403"/>
            <a:ext cx="32046" cy="32046"/>
          </a:xfrm>
          <a:prstGeom prst="ellipse">
            <a:avLst/>
          </a:prstGeom>
          <a:solidFill>
            <a:srgbClr val="F1C6B2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0" name="Connector 379"/>
          <p:cNvCxnSpPr/>
          <p:nvPr/>
        </p:nvCxnSpPr>
        <p:spPr>
          <a:xfrm>
            <a:off x="6217065" y="3422590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6178609" y="3422590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6197837" y="3403362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217065" y="3480274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6178609" y="3480274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6197837" y="3461046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217065" y="3537958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6178609" y="3537958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6197837" y="3518730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6460620" y="3236719"/>
            <a:ext cx="1679248" cy="3973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355F21"/>
                </a:solidFill>
                <a:latin typeface="Liberation Serif"/>
              </a:rPr>
              <a:t>Task 1</a:t>
            </a:r>
            <a:br/>
            <a:r>
              <a:rPr sz="1211" b="1" i="0">
                <a:solidFill>
                  <a:srgbClr val="355F21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390" name="Task clipboard"/>
          <p:cNvSpPr/>
          <p:nvPr/>
        </p:nvSpPr>
        <p:spPr>
          <a:xfrm>
            <a:off x="8479564" y="3320041"/>
            <a:ext cx="249964" cy="28201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8562885" y="3275175"/>
            <a:ext cx="128186" cy="76912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8607751" y="3294403"/>
            <a:ext cx="32046" cy="32046"/>
          </a:xfrm>
          <a:prstGeom prst="ellipse">
            <a:avLst/>
          </a:prstGeom>
          <a:solidFill>
            <a:srgbClr val="F1C6B2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>
            <a:off x="8556476" y="3422590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8518020" y="3422590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8537248" y="3403362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8556476" y="3480274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8518020" y="3480274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8537248" y="3461046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8556476" y="3537958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8518020" y="3537958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8537248" y="3518730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8800031" y="3236719"/>
            <a:ext cx="1679248" cy="3973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355F21"/>
                </a:solidFill>
                <a:latin typeface="Liberation Serif"/>
              </a:rPr>
              <a:t>Task 2</a:t>
            </a:r>
            <a:br/>
            <a:r>
              <a:rPr sz="1211" b="1" i="0">
                <a:solidFill>
                  <a:srgbClr val="355F21"/>
                </a:solidFill>
                <a:latin typeface="Liberation Serif"/>
              </a:rPr>
              <a:t>Denoising</a:t>
            </a:r>
          </a:p>
        </p:txBody>
      </p:sp>
      <p:sp>
        <p:nvSpPr>
          <p:cNvPr id="403" name="Task clipboard"/>
          <p:cNvSpPr/>
          <p:nvPr/>
        </p:nvSpPr>
        <p:spPr>
          <a:xfrm>
            <a:off x="10254953" y="3320041"/>
            <a:ext cx="249964" cy="282011"/>
          </a:xfrm>
          <a:prstGeom prst="roundRect">
            <a:avLst/>
          </a:prstGeom>
          <a:solidFill>
            <a:srgbClr val="FFFFFF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10338274" y="3275175"/>
            <a:ext cx="128186" cy="76912"/>
          </a:xfrm>
          <a:prstGeom prst="roundRect">
            <a:avLst/>
          </a:prstGeom>
          <a:solidFill>
            <a:srgbClr val="FFFFFF"/>
          </a:solidFill>
          <a:ln w="1281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0383140" y="3294403"/>
            <a:ext cx="32046" cy="32046"/>
          </a:xfrm>
          <a:prstGeom prst="ellipse">
            <a:avLst/>
          </a:prstGeom>
          <a:solidFill>
            <a:srgbClr val="F1C6B2"/>
          </a:solidFill>
          <a:ln w="640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10331865" y="3422590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0293409" y="3422590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10312637" y="3403362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0331865" y="3480274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0293409" y="3480274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10312637" y="3461046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0331865" y="3537958"/>
            <a:ext cx="134596" cy="0"/>
          </a:xfrm>
          <a:prstGeom prst="line">
            <a:avLst/>
          </a:prstGeom>
          <a:ln w="89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0293409" y="3537958"/>
            <a:ext cx="19228" cy="12819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10312637" y="3518730"/>
            <a:ext cx="19228" cy="32047"/>
          </a:xfrm>
          <a:prstGeom prst="line">
            <a:avLst/>
          </a:prstGeom>
          <a:ln w="833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10575420" y="3236719"/>
            <a:ext cx="1679248" cy="3973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355F21"/>
                </a:solidFill>
                <a:latin typeface="Liberation Serif"/>
              </a:rPr>
              <a:t>Task 3</a:t>
            </a:r>
            <a:br/>
            <a:r>
              <a:rPr sz="1211" b="1" i="0">
                <a:solidFill>
                  <a:srgbClr val="355F21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416" name="Right Arrow 415"/>
          <p:cNvSpPr/>
          <p:nvPr/>
        </p:nvSpPr>
        <p:spPr>
          <a:xfrm>
            <a:off x="7768127" y="3409771"/>
            <a:ext cx="493519" cy="134596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ight Arrow 416"/>
          <p:cNvSpPr/>
          <p:nvPr/>
        </p:nvSpPr>
        <p:spPr>
          <a:xfrm>
            <a:off x="9678112" y="3409771"/>
            <a:ext cx="487110" cy="134596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ask 1 detail panel"/>
          <p:cNvSpPr/>
          <p:nvPr/>
        </p:nvSpPr>
        <p:spPr>
          <a:xfrm>
            <a:off x="5762001" y="3743057"/>
            <a:ext cx="3364906" cy="3364906"/>
          </a:xfrm>
          <a:prstGeom prst="roundRect">
            <a:avLst/>
          </a:prstGeom>
          <a:solidFill>
            <a:srgbClr val="EE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xecution boundary"/>
          <p:cNvSpPr/>
          <p:nvPr/>
        </p:nvSpPr>
        <p:spPr>
          <a:xfrm>
            <a:off x="5845323" y="3973794"/>
            <a:ext cx="3230310" cy="1557471"/>
          </a:xfrm>
          <a:prstGeom prst="roundRect">
            <a:avLst/>
          </a:prstGeom>
          <a:solidFill>
            <a:srgbClr val="F1F8EC"/>
          </a:solidFill>
          <a:ln w="19228">
            <a:solidFill>
              <a:srgbClr val="B8B8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flection boundary"/>
          <p:cNvSpPr/>
          <p:nvPr/>
        </p:nvSpPr>
        <p:spPr>
          <a:xfrm>
            <a:off x="5845323" y="5749183"/>
            <a:ext cx="3230310" cy="1288278"/>
          </a:xfrm>
          <a:prstGeom prst="roundRect">
            <a:avLst/>
          </a:prstGeom>
          <a:solidFill>
            <a:srgbClr val="F1F8EC"/>
          </a:solidFill>
          <a:ln w="19228">
            <a:solidFill>
              <a:srgbClr val="B8B8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6069650" y="4025069"/>
            <a:ext cx="942173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3F8C28"/>
                </a:solidFill>
                <a:latin typeface="Liberation Sans"/>
              </a:rPr>
              <a:t>Execution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8293693" y="4025069"/>
            <a:ext cx="660162" cy="358923"/>
          </a:xfrm>
          <a:prstGeom prst="rect">
            <a:avLst/>
          </a:prstGeom>
          <a:solidFill>
            <a:srgbClr val="F2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300102" y="4025069"/>
            <a:ext cx="705028" cy="346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1" i="1">
                <a:solidFill>
                  <a:srgbClr val="B52795"/>
                </a:solidFill>
                <a:latin typeface="Liberation Serif"/>
              </a:rPr>
              <a:t>Q–MoE</a:t>
            </a:r>
          </a:p>
        </p:txBody>
      </p:sp>
      <p:pic>
        <p:nvPicPr>
          <p:cNvPr id="424" name="Q-MoE source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48" y="4037887"/>
            <a:ext cx="557613" cy="397379"/>
          </a:xfrm>
          <a:prstGeom prst="rect">
            <a:avLst/>
          </a:prstGeom>
        </p:spPr>
      </p:pic>
      <p:cxnSp>
        <p:nvCxnSpPr>
          <p:cNvPr id="425" name="Connector 424"/>
          <p:cNvCxnSpPr/>
          <p:nvPr/>
        </p:nvCxnSpPr>
        <p:spPr>
          <a:xfrm flipH="1">
            <a:off x="6819543" y="4441676"/>
            <a:ext cx="628116" cy="147415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>
            <a:off x="7441250" y="4441676"/>
            <a:ext cx="6409" cy="147415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7447659" y="4441676"/>
            <a:ext cx="692210" cy="147415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Tool 1"/>
          <p:cNvSpPr/>
          <p:nvPr/>
        </p:nvSpPr>
        <p:spPr>
          <a:xfrm>
            <a:off x="6172200" y="4589091"/>
            <a:ext cx="685800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6197837" y="4589091"/>
            <a:ext cx="634525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pic>
        <p:nvPicPr>
          <p:cNvPr id="430" name="Tool 1 output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749" y="4819828"/>
            <a:ext cx="487110" cy="442244"/>
          </a:xfrm>
          <a:prstGeom prst="rect">
            <a:avLst/>
          </a:prstGeom>
        </p:spPr>
      </p:pic>
      <p:sp>
        <p:nvSpPr>
          <p:cNvPr id="431" name="Tool 2"/>
          <p:cNvSpPr/>
          <p:nvPr/>
        </p:nvSpPr>
        <p:spPr>
          <a:xfrm>
            <a:off x="7101555" y="4589091"/>
            <a:ext cx="685800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7127192" y="4589091"/>
            <a:ext cx="634525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Tool 2</a:t>
            </a:r>
          </a:p>
        </p:txBody>
      </p:sp>
      <p:pic>
        <p:nvPicPr>
          <p:cNvPr id="433" name="Tool 2 output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104" y="4819828"/>
            <a:ext cx="487110" cy="442244"/>
          </a:xfrm>
          <a:prstGeom prst="rect">
            <a:avLst/>
          </a:prstGeom>
        </p:spPr>
      </p:pic>
      <p:sp>
        <p:nvSpPr>
          <p:cNvPr id="434" name="Tool N"/>
          <p:cNvSpPr/>
          <p:nvPr/>
        </p:nvSpPr>
        <p:spPr>
          <a:xfrm>
            <a:off x="8043728" y="4589091"/>
            <a:ext cx="685800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8069366" y="4589091"/>
            <a:ext cx="634525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Tool N</a:t>
            </a:r>
          </a:p>
        </p:txBody>
      </p:sp>
      <p:pic>
        <p:nvPicPr>
          <p:cNvPr id="436" name="Tool N output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278" y="4819828"/>
            <a:ext cx="487110" cy="442244"/>
          </a:xfrm>
          <a:prstGeom prst="rect">
            <a:avLst/>
          </a:prstGeom>
        </p:spPr>
      </p:pic>
      <p:sp>
        <p:nvSpPr>
          <p:cNvPr id="437" name="TextBox 436"/>
          <p:cNvSpPr txBox="1"/>
          <p:nvPr/>
        </p:nvSpPr>
        <p:spPr>
          <a:xfrm>
            <a:off x="7780945" y="4871102"/>
            <a:ext cx="243555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6511895" y="5351803"/>
            <a:ext cx="0" cy="108959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6511895" y="5460762"/>
            <a:ext cx="1852301" cy="0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8364196" y="5351803"/>
            <a:ext cx="0" cy="108959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7441250" y="5351803"/>
            <a:ext cx="0" cy="237146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Oval 441"/>
          <p:cNvSpPr/>
          <p:nvPr/>
        </p:nvSpPr>
        <p:spPr>
          <a:xfrm>
            <a:off x="7928360" y="5447943"/>
            <a:ext cx="141005" cy="141005"/>
          </a:xfrm>
          <a:prstGeom prst="ellipse">
            <a:avLst/>
          </a:prstGeom>
          <a:solidFill>
            <a:srgbClr val="FFFFFF"/>
          </a:solidFill>
          <a:ln w="11536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7947588" y="5454353"/>
            <a:ext cx="102549" cy="1153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8D8D8D"/>
                </a:solidFill>
                <a:latin typeface="Liberation Sans"/>
              </a:rPr>
              <a:t>A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8037319" y="5563312"/>
            <a:ext cx="64094" cy="70502"/>
          </a:xfrm>
          <a:prstGeom prst="line">
            <a:avLst/>
          </a:prstGeom>
          <a:ln w="14100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TextBox 444"/>
          <p:cNvSpPr txBox="1"/>
          <p:nvPr/>
        </p:nvSpPr>
        <p:spPr>
          <a:xfrm>
            <a:off x="8120641" y="5435125"/>
            <a:ext cx="890899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8620570" y="5659452"/>
            <a:ext cx="0" cy="166643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Rectangle 446"/>
          <p:cNvSpPr/>
          <p:nvPr/>
        </p:nvSpPr>
        <p:spPr>
          <a:xfrm>
            <a:off x="7204104" y="5736364"/>
            <a:ext cx="1775388" cy="249964"/>
          </a:xfrm>
          <a:prstGeom prst="rect">
            <a:avLst/>
          </a:prstGeom>
          <a:solidFill>
            <a:srgbClr val="F2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Score-base Select"/>
          <p:cNvSpPr/>
          <p:nvPr/>
        </p:nvSpPr>
        <p:spPr>
          <a:xfrm>
            <a:off x="7242560" y="5768411"/>
            <a:ext cx="1704885" cy="217917"/>
          </a:xfrm>
          <a:prstGeom prst="roundRect">
            <a:avLst/>
          </a:prstGeom>
          <a:solidFill>
            <a:srgbClr val="F5F2DD"/>
          </a:solidFill>
          <a:ln w="141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7287426" y="5755592"/>
            <a:ext cx="1615155" cy="2371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 i="1">
                <a:solidFill>
                  <a:srgbClr val="111111"/>
                </a:solidFill>
                <a:latin typeface="Liberation Serif"/>
              </a:rPr>
              <a:t>Score-base Select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8095003" y="5986328"/>
            <a:ext cx="0" cy="326877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1" name="Selected Tool 4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641" y="6319614"/>
            <a:ext cx="525566" cy="410198"/>
          </a:xfrm>
          <a:prstGeom prst="rect">
            <a:avLst/>
          </a:prstGeom>
        </p:spPr>
      </p:pic>
      <p:sp>
        <p:nvSpPr>
          <p:cNvPr id="452" name="TextBox 451"/>
          <p:cNvSpPr txBox="1"/>
          <p:nvPr/>
        </p:nvSpPr>
        <p:spPr>
          <a:xfrm>
            <a:off x="8095003" y="6710585"/>
            <a:ext cx="583250" cy="192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111111"/>
                </a:solidFill>
                <a:latin typeface="Liberation Serif"/>
              </a:rPr>
              <a:t>Tool 4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076059" y="5800457"/>
            <a:ext cx="948583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3F8C28"/>
                </a:solidFill>
                <a:latin typeface="Liberation Sans"/>
              </a:rPr>
              <a:t>Reflection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6056831" y="6127334"/>
            <a:ext cx="1102407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8" b="1" i="0">
                <a:solidFill>
                  <a:srgbClr val="3F8C28"/>
                </a:solidFill>
                <a:latin typeface="Liberation Serif"/>
              </a:rPr>
              <a:t>High quality ?</a:t>
            </a:r>
          </a:p>
        </p:txBody>
      </p:sp>
      <p:cxnSp>
        <p:nvCxnSpPr>
          <p:cNvPr id="455" name="Connector 454"/>
          <p:cNvCxnSpPr/>
          <p:nvPr/>
        </p:nvCxnSpPr>
        <p:spPr>
          <a:xfrm>
            <a:off x="6460620" y="6332433"/>
            <a:ext cx="0" cy="217918"/>
          </a:xfrm>
          <a:prstGeom prst="line">
            <a:avLst/>
          </a:prstGeom>
          <a:ln w="14100">
            <a:solidFill>
              <a:srgbClr val="A9A9A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extBox 455"/>
          <p:cNvSpPr txBox="1"/>
          <p:nvPr/>
        </p:nvSpPr>
        <p:spPr>
          <a:xfrm>
            <a:off x="6531123" y="6345252"/>
            <a:ext cx="294829" cy="173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6" b="1" i="0">
                <a:solidFill>
                  <a:srgbClr val="A9A9A9"/>
                </a:solidFill>
                <a:latin typeface="Liberation Serif"/>
              </a:rPr>
              <a:t>No</a:t>
            </a:r>
          </a:p>
        </p:txBody>
      </p:sp>
      <p:sp>
        <p:nvSpPr>
          <p:cNvPr id="457" name="Rectangle 456"/>
          <p:cNvSpPr/>
          <p:nvPr/>
        </p:nvSpPr>
        <p:spPr>
          <a:xfrm>
            <a:off x="5986328" y="6550351"/>
            <a:ext cx="967811" cy="275601"/>
          </a:xfrm>
          <a:prstGeom prst="rect">
            <a:avLst/>
          </a:prstGeom>
          <a:solidFill>
            <a:srgbClr val="FB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6076059" y="6556760"/>
            <a:ext cx="801168" cy="2563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A9A9A9"/>
                </a:solidFill>
                <a:latin typeface="Liberation Serif"/>
              </a:rPr>
              <a:t>Rollback</a:t>
            </a:r>
          </a:p>
        </p:txBody>
      </p:sp>
      <p:sp>
        <p:nvSpPr>
          <p:cNvPr id="459" name="Oval 458"/>
          <p:cNvSpPr/>
          <p:nvPr/>
        </p:nvSpPr>
        <p:spPr>
          <a:xfrm>
            <a:off x="7204104" y="6492667"/>
            <a:ext cx="198689" cy="198689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7255379" y="6550351"/>
            <a:ext cx="19228" cy="19228"/>
          </a:xfrm>
          <a:prstGeom prst="ellipse">
            <a:avLst/>
          </a:prstGeom>
          <a:solidFill>
            <a:srgbClr val="91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7325882" y="6550351"/>
            <a:ext cx="19228" cy="19228"/>
          </a:xfrm>
          <a:prstGeom prst="ellipse">
            <a:avLst/>
          </a:prstGeom>
          <a:solidFill>
            <a:srgbClr val="91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Connector 461"/>
          <p:cNvCxnSpPr/>
          <p:nvPr/>
        </p:nvCxnSpPr>
        <p:spPr>
          <a:xfrm>
            <a:off x="7248970" y="6601626"/>
            <a:ext cx="51274" cy="32046"/>
          </a:xfrm>
          <a:prstGeom prst="line">
            <a:avLst/>
          </a:prstGeom>
          <a:ln w="11536">
            <a:solidFill>
              <a:srgbClr val="916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7300244" y="6601626"/>
            <a:ext cx="51275" cy="32046"/>
          </a:xfrm>
          <a:prstGeom prst="line">
            <a:avLst/>
          </a:prstGeom>
          <a:ln w="11536">
            <a:solidFill>
              <a:srgbClr val="916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7389975" y="6473439"/>
            <a:ext cx="717846" cy="2756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(0.927,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8665435" y="6473439"/>
            <a:ext cx="153824" cy="2756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)</a:t>
            </a:r>
          </a:p>
        </p:txBody>
      </p:sp>
      <p:cxnSp>
        <p:nvCxnSpPr>
          <p:cNvPr id="466" name="Reflection feedback"/>
          <p:cNvCxnSpPr/>
          <p:nvPr/>
        </p:nvCxnSpPr>
        <p:spPr>
          <a:xfrm flipH="1">
            <a:off x="7191285" y="6678538"/>
            <a:ext cx="929356" cy="0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7191285" y="6332433"/>
            <a:ext cx="0" cy="346105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H="1">
            <a:off x="6954140" y="6332433"/>
            <a:ext cx="237145" cy="0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Face restoration panel"/>
          <p:cNvSpPr/>
          <p:nvPr/>
        </p:nvSpPr>
        <p:spPr>
          <a:xfrm>
            <a:off x="9210229" y="3743057"/>
            <a:ext cx="2897024" cy="3364906"/>
          </a:xfrm>
          <a:prstGeom prst="roundRect">
            <a:avLst/>
          </a:prstGeom>
          <a:solidFill>
            <a:srgbClr val="EE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ace restoration boundary"/>
          <p:cNvSpPr/>
          <p:nvPr/>
        </p:nvSpPr>
        <p:spPr>
          <a:xfrm>
            <a:off x="9293551" y="3973794"/>
            <a:ext cx="2730381" cy="3063667"/>
          </a:xfrm>
          <a:prstGeom prst="roundRect">
            <a:avLst/>
          </a:prstGeom>
          <a:solidFill>
            <a:srgbClr val="F1F8EC"/>
          </a:solidFill>
          <a:ln w="19228">
            <a:solidFill>
              <a:srgbClr val="B8B8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9690930" y="3909700"/>
            <a:ext cx="1012676" cy="23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Face Crop</a:t>
            </a:r>
          </a:p>
        </p:txBody>
      </p:sp>
      <p:pic>
        <p:nvPicPr>
          <p:cNvPr id="472" name="Face crop" descr="face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280" y="4005841"/>
            <a:ext cx="429426" cy="403788"/>
          </a:xfrm>
          <a:prstGeom prst="rect">
            <a:avLst/>
          </a:prstGeom>
        </p:spPr>
      </p:pic>
      <p:cxnSp>
        <p:nvCxnSpPr>
          <p:cNvPr id="473" name="Connector 472"/>
          <p:cNvCxnSpPr/>
          <p:nvPr/>
        </p:nvCxnSpPr>
        <p:spPr>
          <a:xfrm>
            <a:off x="9133317" y="4236577"/>
            <a:ext cx="1345963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/>
          <p:cNvSpPr txBox="1"/>
          <p:nvPr/>
        </p:nvSpPr>
        <p:spPr>
          <a:xfrm>
            <a:off x="10934343" y="4089162"/>
            <a:ext cx="1070360" cy="230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1">
                <a:solidFill>
                  <a:srgbClr val="B52795"/>
                </a:solidFill>
                <a:latin typeface="Liberation Serif"/>
              </a:rPr>
              <a:t>Face Restoration</a:t>
            </a:r>
          </a:p>
        </p:txBody>
      </p:sp>
      <p:cxnSp>
        <p:nvCxnSpPr>
          <p:cNvPr id="475" name="Connector 474"/>
          <p:cNvCxnSpPr/>
          <p:nvPr/>
        </p:nvCxnSpPr>
        <p:spPr>
          <a:xfrm flipH="1">
            <a:off x="10101128" y="4416039"/>
            <a:ext cx="589660" cy="173052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10684379" y="4416039"/>
            <a:ext cx="6409" cy="173052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0690788" y="4416039"/>
            <a:ext cx="743484" cy="173052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Face Tool 1"/>
          <p:cNvSpPr/>
          <p:nvPr/>
        </p:nvSpPr>
        <p:spPr>
          <a:xfrm>
            <a:off x="9505059" y="4589091"/>
            <a:ext cx="711437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9530697" y="4589091"/>
            <a:ext cx="660162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pic>
        <p:nvPicPr>
          <p:cNvPr id="480" name="Tool 1 face output" descr="face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837" y="4819828"/>
            <a:ext cx="461472" cy="435835"/>
          </a:xfrm>
          <a:prstGeom prst="rect">
            <a:avLst/>
          </a:prstGeom>
        </p:spPr>
      </p:pic>
      <p:cxnSp>
        <p:nvCxnSpPr>
          <p:cNvPr id="481" name="Connector 480"/>
          <p:cNvCxnSpPr/>
          <p:nvPr/>
        </p:nvCxnSpPr>
        <p:spPr>
          <a:xfrm>
            <a:off x="9863983" y="5351803"/>
            <a:ext cx="0" cy="166643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Face Tool 2"/>
          <p:cNvSpPr/>
          <p:nvPr/>
        </p:nvSpPr>
        <p:spPr>
          <a:xfrm>
            <a:off x="10370321" y="4589091"/>
            <a:ext cx="711437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10395958" y="4589091"/>
            <a:ext cx="660162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Tool 2</a:t>
            </a:r>
          </a:p>
        </p:txBody>
      </p:sp>
      <p:pic>
        <p:nvPicPr>
          <p:cNvPr id="484" name="Tool 2 face output" descr="face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099" y="4819828"/>
            <a:ext cx="461472" cy="435835"/>
          </a:xfrm>
          <a:prstGeom prst="rect">
            <a:avLst/>
          </a:prstGeom>
        </p:spPr>
      </p:pic>
      <p:cxnSp>
        <p:nvCxnSpPr>
          <p:cNvPr id="485" name="Connector 484"/>
          <p:cNvCxnSpPr/>
          <p:nvPr/>
        </p:nvCxnSpPr>
        <p:spPr>
          <a:xfrm>
            <a:off x="10729244" y="5351803"/>
            <a:ext cx="0" cy="166643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Face Tool N"/>
          <p:cNvSpPr/>
          <p:nvPr/>
        </p:nvSpPr>
        <p:spPr>
          <a:xfrm>
            <a:off x="11229173" y="4589091"/>
            <a:ext cx="711437" cy="762712"/>
          </a:xfrm>
          <a:prstGeom prst="roundRect">
            <a:avLst/>
          </a:prstGeom>
          <a:solidFill>
            <a:srgbClr val="FAFAFA"/>
          </a:solidFill>
          <a:ln w="6409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11254811" y="4589091"/>
            <a:ext cx="660162" cy="2179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Tool N</a:t>
            </a:r>
          </a:p>
        </p:txBody>
      </p:sp>
      <p:pic>
        <p:nvPicPr>
          <p:cNvPr id="488" name="Tool N face output" descr="face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0951" y="4819828"/>
            <a:ext cx="461472" cy="435835"/>
          </a:xfrm>
          <a:prstGeom prst="rect">
            <a:avLst/>
          </a:prstGeom>
        </p:spPr>
      </p:pic>
      <p:cxnSp>
        <p:nvCxnSpPr>
          <p:cNvPr id="489" name="Connector 488"/>
          <p:cNvCxnSpPr/>
          <p:nvPr/>
        </p:nvCxnSpPr>
        <p:spPr>
          <a:xfrm>
            <a:off x="11588097" y="5351803"/>
            <a:ext cx="0" cy="166643"/>
          </a:xfrm>
          <a:prstGeom prst="line">
            <a:avLst/>
          </a:prstGeom>
          <a:ln w="1730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10979209" y="4871102"/>
            <a:ext cx="224327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9440966" y="5454353"/>
            <a:ext cx="2518872" cy="358923"/>
          </a:xfrm>
          <a:prstGeom prst="rect">
            <a:avLst/>
          </a:prstGeom>
          <a:solidFill>
            <a:srgbClr val="F2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ace score selector"/>
          <p:cNvSpPr/>
          <p:nvPr/>
        </p:nvSpPr>
        <p:spPr>
          <a:xfrm>
            <a:off x="9505059" y="5512037"/>
            <a:ext cx="2365048" cy="237145"/>
          </a:xfrm>
          <a:prstGeom prst="roundRect">
            <a:avLst/>
          </a:prstGeom>
          <a:solidFill>
            <a:srgbClr val="F5F2DD"/>
          </a:solidFill>
          <a:ln w="1474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9562743" y="5499218"/>
            <a:ext cx="2243271" cy="2499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 i="1">
                <a:solidFill>
                  <a:srgbClr val="111111"/>
                </a:solidFill>
                <a:latin typeface="Liberation Serif"/>
              </a:rPr>
              <a:t>Score-based Select for face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9428147" y="5858142"/>
            <a:ext cx="1025495" cy="2243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1" b="1" i="1">
                <a:solidFill>
                  <a:srgbClr val="B52795"/>
                </a:solidFill>
                <a:latin typeface="Liberation Serif"/>
              </a:rPr>
              <a:t>Face Q–MoE</a:t>
            </a:r>
          </a:p>
        </p:txBody>
      </p:sp>
      <p:cxnSp>
        <p:nvCxnSpPr>
          <p:cNvPr id="495" name="Connector 494"/>
          <p:cNvCxnSpPr/>
          <p:nvPr/>
        </p:nvCxnSpPr>
        <p:spPr>
          <a:xfrm>
            <a:off x="10684379" y="5755592"/>
            <a:ext cx="0" cy="448654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6" name="Best face" descr="face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280" y="6204246"/>
            <a:ext cx="423016" cy="403788"/>
          </a:xfrm>
          <a:prstGeom prst="rect">
            <a:avLst/>
          </a:prstGeom>
        </p:spPr>
      </p:pic>
      <p:sp>
        <p:nvSpPr>
          <p:cNvPr id="497" name="TextBox 496"/>
          <p:cNvSpPr txBox="1"/>
          <p:nvPr/>
        </p:nvSpPr>
        <p:spPr>
          <a:xfrm>
            <a:off x="10927934" y="6197837"/>
            <a:ext cx="1095998" cy="3909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111111"/>
                </a:solidFill>
                <a:latin typeface="Liberation Serif"/>
              </a:rPr>
              <a:t>Best Face from</a:t>
            </a:r>
            <a:br/>
            <a:r>
              <a:rPr sz="1059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sp>
        <p:nvSpPr>
          <p:cNvPr id="498" name="Rectangle 497"/>
          <p:cNvSpPr/>
          <p:nvPr/>
        </p:nvSpPr>
        <p:spPr>
          <a:xfrm>
            <a:off x="9505059" y="6185018"/>
            <a:ext cx="660162" cy="307648"/>
          </a:xfrm>
          <a:prstGeom prst="rect">
            <a:avLst/>
          </a:prstGeom>
          <a:solidFill>
            <a:srgbClr val="FC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9556334" y="6185018"/>
            <a:ext cx="583250" cy="30123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Paste</a:t>
            </a:r>
          </a:p>
        </p:txBody>
      </p:sp>
      <p:cxnSp>
        <p:nvCxnSpPr>
          <p:cNvPr id="500" name="Connector 499"/>
          <p:cNvCxnSpPr/>
          <p:nvPr/>
        </p:nvCxnSpPr>
        <p:spPr>
          <a:xfrm flipH="1">
            <a:off x="10165222" y="6390117"/>
            <a:ext cx="314058" cy="0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8646207" y="6524714"/>
            <a:ext cx="564022" cy="0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9210229" y="6338842"/>
            <a:ext cx="0" cy="185872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9210229" y="6338842"/>
            <a:ext cx="294830" cy="0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Pipeline junction"/>
          <p:cNvSpPr/>
          <p:nvPr/>
        </p:nvSpPr>
        <p:spPr>
          <a:xfrm>
            <a:off x="9146136" y="6460620"/>
            <a:ext cx="128186" cy="12818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5" name="Composite output" descr="tool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186" y="6665719"/>
            <a:ext cx="531975" cy="403788"/>
          </a:xfrm>
          <a:prstGeom prst="rect">
            <a:avLst/>
          </a:prstGeom>
        </p:spPr>
      </p:pic>
      <p:cxnSp>
        <p:nvCxnSpPr>
          <p:cNvPr id="506" name="Connector 505"/>
          <p:cNvCxnSpPr/>
          <p:nvPr/>
        </p:nvCxnSpPr>
        <p:spPr>
          <a:xfrm>
            <a:off x="9831936" y="6492667"/>
            <a:ext cx="0" cy="397379"/>
          </a:xfrm>
          <a:prstGeom prst="line">
            <a:avLst/>
          </a:prstGeom>
          <a:ln w="1794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9831936" y="6890046"/>
            <a:ext cx="583250" cy="0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10998437" y="6608035"/>
            <a:ext cx="705028" cy="2691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Output</a:t>
            </a:r>
          </a:p>
        </p:txBody>
      </p:sp>
      <p:cxnSp>
        <p:nvCxnSpPr>
          <p:cNvPr id="509" name="Connector 508"/>
          <p:cNvCxnSpPr/>
          <p:nvPr/>
        </p:nvCxnSpPr>
        <p:spPr>
          <a:xfrm>
            <a:off x="10947162" y="6890046"/>
            <a:ext cx="1006267" cy="0"/>
          </a:xfrm>
          <a:prstGeom prst="line">
            <a:avLst/>
          </a:prstGeom>
          <a:ln w="1794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TextBox 509"/>
          <p:cNvSpPr txBox="1"/>
          <p:nvPr/>
        </p:nvSpPr>
        <p:spPr>
          <a:xfrm>
            <a:off x="7614302" y="3711011"/>
            <a:ext cx="2884205" cy="24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355F21"/>
                </a:solidFill>
                <a:latin typeface="Liberation Serif"/>
              </a:rPr>
              <a:t>Task 1  Super-Resolution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4KAgent Agentic Any Image to 4K Super-Resolu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399" cy="7313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