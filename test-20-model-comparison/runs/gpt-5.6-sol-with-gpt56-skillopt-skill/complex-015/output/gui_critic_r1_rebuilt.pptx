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5178444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178444" cy="731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135025"/>
            <a:ext cx="8323919" cy="7180174"/>
          </a:xfrm>
          <a:prstGeom prst="roundRect">
            <a:avLst>
              <a:gd name="adj" fmla="val 6084"/>
            </a:avLst>
          </a:prstGeom>
          <a:noFill/>
          <a:ln w="6354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35116" y="135025"/>
            <a:ext cx="6743327" cy="7180174"/>
          </a:xfrm>
          <a:prstGeom prst="roundRect">
            <a:avLst>
              <a:gd name="adj" fmla="val 6478"/>
            </a:avLst>
          </a:prstGeom>
          <a:noFill/>
          <a:ln w="6354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2968" y="603642"/>
            <a:ext cx="3494775" cy="6592416"/>
          </a:xfrm>
          <a:prstGeom prst="roundRect">
            <a:avLst>
              <a:gd name="adj" fmla="val 6818"/>
            </a:avLst>
          </a:prstGeom>
          <a:noFill/>
          <a:ln w="15885">
            <a:solidFill>
              <a:srgbClr val="F0B5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717170" y="603642"/>
            <a:ext cx="4503494" cy="6592416"/>
          </a:xfrm>
          <a:prstGeom prst="roundRect">
            <a:avLst>
              <a:gd name="adj" fmla="val 6878"/>
            </a:avLst>
          </a:prstGeom>
          <a:noFill/>
          <a:ln w="15885">
            <a:solidFill>
              <a:srgbClr val="63A84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86027" y="532158"/>
            <a:ext cx="6520932" cy="2168349"/>
          </a:xfrm>
          <a:prstGeom prst="roundRect">
            <a:avLst>
              <a:gd name="adj" fmla="val 9890"/>
            </a:avLst>
          </a:prstGeom>
          <a:noFill/>
          <a:ln w="15885">
            <a:solidFill>
              <a:srgbClr val="579BD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70142" y="2914960"/>
            <a:ext cx="6536818" cy="4281099"/>
          </a:xfrm>
          <a:prstGeom prst="roundRect">
            <a:avLst>
              <a:gd name="adj" fmla="val 7977"/>
            </a:avLst>
          </a:prstGeom>
          <a:noFill/>
          <a:ln w="15885">
            <a:solidFill>
              <a:srgbClr val="579BD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0337" y="2144521"/>
            <a:ext cx="3335921" cy="1405852"/>
          </a:xfrm>
          <a:prstGeom prst="roundRect">
            <a:avLst>
              <a:gd name="adj" fmla="val 10169"/>
            </a:avLst>
          </a:prstGeom>
          <a:solidFill>
            <a:srgbClr val="FF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0337" y="3812482"/>
            <a:ext cx="3335921" cy="1389967"/>
          </a:xfrm>
          <a:prstGeom prst="roundRect">
            <a:avLst>
              <a:gd name="adj" fmla="val 8571"/>
            </a:avLst>
          </a:prstGeom>
          <a:solidFill>
            <a:srgbClr val="FFF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0337" y="5655181"/>
            <a:ext cx="3335921" cy="1413795"/>
          </a:xfrm>
          <a:prstGeom prst="roundRect">
            <a:avLst>
              <a:gd name="adj" fmla="val 8426"/>
            </a:avLst>
          </a:prstGeom>
          <a:solidFill>
            <a:srgbClr val="FFFD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796596" y="961063"/>
            <a:ext cx="4296985" cy="2295431"/>
          </a:xfrm>
          <a:prstGeom prst="roundRect">
            <a:avLst>
              <a:gd name="adj" fmla="val 8304"/>
            </a:avLst>
          </a:prstGeom>
          <a:solidFill>
            <a:srgbClr val="F0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96596" y="3288265"/>
            <a:ext cx="4296985" cy="3788654"/>
          </a:xfrm>
          <a:prstGeom prst="roundRect">
            <a:avLst>
              <a:gd name="adj" fmla="val 5031"/>
            </a:avLst>
          </a:prstGeom>
          <a:solidFill>
            <a:srgbClr val="F0F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657511" y="1080203"/>
            <a:ext cx="3335921" cy="1564706"/>
          </a:xfrm>
          <a:prstGeom prst="roundRect">
            <a:avLst>
              <a:gd name="adj" fmla="val 8629"/>
            </a:avLst>
          </a:prstGeom>
          <a:solidFill>
            <a:srgbClr val="EE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121292" y="1088145"/>
            <a:ext cx="953120" cy="1524992"/>
          </a:xfrm>
          <a:prstGeom prst="roundRect">
            <a:avLst>
              <a:gd name="adj" fmla="val 49166"/>
            </a:avLst>
          </a:prstGeom>
          <a:solidFill>
            <a:srgbClr val="ED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088145" y="4646462"/>
            <a:ext cx="651299" cy="0"/>
          </a:xfrm>
          <a:prstGeom prst="line">
            <a:avLst/>
          </a:prstGeom>
          <a:ln w="1588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21469" y="4646462"/>
            <a:ext cx="222395" cy="0"/>
          </a:xfrm>
          <a:prstGeom prst="line">
            <a:avLst/>
          </a:prstGeom>
          <a:ln w="15885">
            <a:solidFill>
              <a:srgbClr val="0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35801" y="6227054"/>
            <a:ext cx="595701" cy="0"/>
          </a:xfrm>
          <a:prstGeom prst="line">
            <a:avLst/>
          </a:prstGeom>
          <a:ln w="1588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065871" y="5893461"/>
            <a:ext cx="277993" cy="142968"/>
          </a:xfrm>
          <a:prstGeom prst="line">
            <a:avLst/>
          </a:prstGeom>
          <a:ln w="15885">
            <a:solidFill>
              <a:srgbClr val="0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422514" y="6362079"/>
            <a:ext cx="0" cy="174739"/>
          </a:xfrm>
          <a:prstGeom prst="line">
            <a:avLst/>
          </a:prstGeom>
          <a:ln w="15885">
            <a:solidFill>
              <a:srgbClr val="F0B5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70410" y="2962616"/>
            <a:ext cx="0" cy="492445"/>
          </a:xfrm>
          <a:prstGeom prst="line">
            <a:avLst/>
          </a:prstGeom>
          <a:ln w="1588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501764" y="1199343"/>
            <a:ext cx="0" cy="428904"/>
          </a:xfrm>
          <a:prstGeom prst="line">
            <a:avLst/>
          </a:prstGeom>
          <a:ln w="71484">
            <a:solidFill>
              <a:srgbClr val="91BDE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2033146" y="2017438"/>
            <a:ext cx="206510" cy="0"/>
          </a:xfrm>
          <a:prstGeom prst="line">
            <a:avLst/>
          </a:prstGeom>
          <a:ln w="63541">
            <a:solidFill>
              <a:srgbClr val="91BDE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2732101" y="2017438"/>
            <a:ext cx="301822" cy="0"/>
          </a:xfrm>
          <a:prstGeom prst="line">
            <a:avLst/>
          </a:prstGeom>
          <a:ln w="63541">
            <a:solidFill>
              <a:srgbClr val="91BDE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4122069" y="2017438"/>
            <a:ext cx="262108" cy="0"/>
          </a:xfrm>
          <a:prstGeom prst="line">
            <a:avLst/>
          </a:prstGeom>
          <a:ln w="63541">
            <a:solidFill>
              <a:srgbClr val="91BDE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817917" y="3804539"/>
            <a:ext cx="0" cy="246223"/>
          </a:xfrm>
          <a:prstGeom prst="line">
            <a:avLst/>
          </a:prstGeom>
          <a:ln w="23828">
            <a:solidFill>
              <a:srgbClr val="4D91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840192" y="4304927"/>
            <a:ext cx="1755331" cy="0"/>
          </a:xfrm>
          <a:prstGeom prst="line">
            <a:avLst/>
          </a:prstGeom>
          <a:ln w="19856">
            <a:solidFill>
              <a:srgbClr val="3F7FC5"/>
            </a:solidFill>
            <a:prstDash val="sysDot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840192" y="4304927"/>
            <a:ext cx="0" cy="1842700"/>
          </a:xfrm>
          <a:prstGeom prst="line">
            <a:avLst/>
          </a:prstGeom>
          <a:ln w="19856">
            <a:solidFill>
              <a:srgbClr val="3F7F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840192" y="6147627"/>
            <a:ext cx="826038" cy="0"/>
          </a:xfrm>
          <a:prstGeom prst="line">
            <a:avLst/>
          </a:prstGeom>
          <a:ln w="19856">
            <a:solidFill>
              <a:srgbClr val="3F7FC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031593" y="5202449"/>
            <a:ext cx="0" cy="238280"/>
          </a:xfrm>
          <a:prstGeom prst="line">
            <a:avLst/>
          </a:prstGeom>
          <a:ln w="23828">
            <a:solidFill>
              <a:srgbClr val="4D91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031593" y="5798149"/>
            <a:ext cx="0" cy="230338"/>
          </a:xfrm>
          <a:prstGeom prst="line">
            <a:avLst/>
          </a:prstGeom>
          <a:ln w="23828">
            <a:solidFill>
              <a:srgbClr val="4D91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031593" y="6362079"/>
            <a:ext cx="0" cy="87369"/>
          </a:xfrm>
          <a:prstGeom prst="line">
            <a:avLst/>
          </a:prstGeom>
          <a:ln w="23828">
            <a:solidFill>
              <a:srgbClr val="4D91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809975" y="5202449"/>
            <a:ext cx="0" cy="238280"/>
          </a:xfrm>
          <a:prstGeom prst="line">
            <a:avLst/>
          </a:prstGeom>
          <a:ln w="23828">
            <a:solidFill>
              <a:srgbClr val="4D91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809975" y="5798149"/>
            <a:ext cx="0" cy="230338"/>
          </a:xfrm>
          <a:prstGeom prst="line">
            <a:avLst/>
          </a:prstGeom>
          <a:ln w="23828">
            <a:solidFill>
              <a:srgbClr val="4D91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809975" y="6362079"/>
            <a:ext cx="0" cy="87369"/>
          </a:xfrm>
          <a:prstGeom prst="line">
            <a:avLst/>
          </a:prstGeom>
          <a:ln w="23828">
            <a:solidFill>
              <a:srgbClr val="4D91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588357" y="5202449"/>
            <a:ext cx="0" cy="238280"/>
          </a:xfrm>
          <a:prstGeom prst="line">
            <a:avLst/>
          </a:prstGeom>
          <a:ln w="23828">
            <a:solidFill>
              <a:srgbClr val="4D91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588357" y="5798149"/>
            <a:ext cx="0" cy="230338"/>
          </a:xfrm>
          <a:prstGeom prst="line">
            <a:avLst/>
          </a:prstGeom>
          <a:ln w="23828">
            <a:solidFill>
              <a:srgbClr val="4D91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588357" y="6362079"/>
            <a:ext cx="0" cy="87369"/>
          </a:xfrm>
          <a:prstGeom prst="line">
            <a:avLst/>
          </a:prstGeom>
          <a:ln w="23828">
            <a:solidFill>
              <a:srgbClr val="4D91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11969605" y="3391520"/>
            <a:ext cx="277993" cy="953121"/>
          </a:xfrm>
          <a:prstGeom prst="line">
            <a:avLst/>
          </a:prstGeom>
          <a:ln w="10325">
            <a:solidFill>
              <a:srgbClr val="9B9B9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1969605" y="5909347"/>
            <a:ext cx="277993" cy="810152"/>
          </a:xfrm>
          <a:prstGeom prst="line">
            <a:avLst/>
          </a:prstGeom>
          <a:ln w="10325">
            <a:solidFill>
              <a:srgbClr val="9B9B9B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10152" y="206509"/>
            <a:ext cx="6751270" cy="333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sz="2126" b="1" i="0" u="none">
                <a:solidFill>
                  <a:srgbClr val="000000"/>
                </a:solidFill>
                <a:latin typeface="Liberation Serif"/>
              </a:rPr>
              <a:t>Data Collection Pipeline with Reasoning Bootstrapping</a:t>
            </a:r>
          </a:p>
        </p:txBody>
      </p:sp>
      <p:pic>
        <p:nvPicPr>
          <p:cNvPr id="42" name="Picture 41" descr="phone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36" y="1032547"/>
            <a:ext cx="3312093" cy="106431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84502" y="675127"/>
            <a:ext cx="2819648" cy="3177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57"/>
              </a:lnSpc>
              <a:spcBef>
                <a:spcPts val="0"/>
              </a:spcBef>
              <a:spcAft>
                <a:spcPts val="0"/>
              </a:spcAft>
            </a:pPr>
            <a:r>
              <a:rPr sz="1876" b="1" i="0" u="none">
                <a:solidFill>
                  <a:srgbClr val="000000"/>
                </a:solidFill>
                <a:latin typeface="Liberation Serif"/>
              </a:rPr>
              <a:t>GUI Operations Collection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7993" y="2216005"/>
            <a:ext cx="3216781" cy="54010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3"/>
              </a:lnSpc>
              <a:spcBef>
                <a:spcPts val="0"/>
              </a:spcBef>
              <a:spcAft>
                <a:spcPts val="0"/>
              </a:spcAft>
            </a:pPr>
            <a:r>
              <a:rPr sz="1313" b="1" i="0" u="none">
                <a:solidFill>
                  <a:srgbClr val="000000"/>
                </a:solidFill>
                <a:latin typeface="Lato"/>
              </a:rPr>
              <a:t>Task Instruction: </a:t>
            </a:r>
            <a:r>
              <a:rPr sz="1125" b="0" i="0" u="sng">
                <a:solidFill>
                  <a:srgbClr val="000000"/>
                </a:solidFill>
                <a:latin typeface="Lato"/>
              </a:rPr>
              <a:t>Search for someone`s post</a:t>
            </a:r>
          </a:p>
          <a:p>
            <a:pPr algn="l">
              <a:lnSpc>
                <a:spcPts val="1563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sng">
                <a:solidFill>
                  <a:srgbClr val="000000"/>
                </a:solidFill>
                <a:latin typeface="Lato"/>
              </a:rPr>
              <a:t>on Twitter and send it to tom33@gmail.com</a:t>
            </a:r>
          </a:p>
          <a:p>
            <a:pPr algn="l">
              <a:lnSpc>
                <a:spcPts val="1563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sng">
                <a:solidFill>
                  <a:srgbClr val="000000"/>
                </a:solidFill>
                <a:latin typeface="Lato"/>
              </a:rPr>
              <a:t>via Google Mail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7993" y="2795820"/>
            <a:ext cx="3256495" cy="5480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38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>
                <a:solidFill>
                  <a:srgbClr val="000000"/>
                </a:solidFill>
                <a:latin typeface="Lato"/>
              </a:rPr>
              <a:t>Operation History:  </a:t>
            </a:r>
            <a:r>
              <a:rPr sz="1063" b="0" i="0" u="none">
                <a:solidFill>
                  <a:srgbClr val="000000"/>
                </a:solidFill>
                <a:latin typeface="Lato"/>
              </a:rPr>
              <a:t>1. Open Twitter  2. Click the</a:t>
            </a:r>
          </a:p>
          <a:p>
            <a:pPr algn="l">
              <a:lnSpc>
                <a:spcPts val="1438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 u="none">
                <a:solidFill>
                  <a:srgbClr val="000000"/>
                </a:solidFill>
                <a:latin typeface="Lato"/>
              </a:rPr>
              <a:t>search icon  3. Click on the search box  4. Click on</a:t>
            </a:r>
          </a:p>
          <a:p>
            <a:pPr algn="l">
              <a:lnSpc>
                <a:spcPts val="1438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 u="none">
                <a:solidFill>
                  <a:srgbClr val="000000"/>
                </a:solidFill>
                <a:latin typeface="Lato"/>
              </a:rPr>
              <a:t>Musk in Recent for a quick access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7993" y="3327979"/>
            <a:ext cx="3256495" cy="2144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u="none">
                <a:solidFill>
                  <a:srgbClr val="000000"/>
                </a:solidFill>
                <a:latin typeface="Lato"/>
              </a:rPr>
              <a:t>Correct Action:  </a:t>
            </a:r>
            <a:r>
              <a:rPr sz="1063" b="0" i="0" u="none">
                <a:solidFill>
                  <a:srgbClr val="000000"/>
                </a:solidFill>
                <a:latin typeface="Lato"/>
              </a:rPr>
              <a:t>Click share button of first post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5649" y="3582144"/>
            <a:ext cx="3137355" cy="2462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41"/>
              </a:lnSpc>
              <a:spcBef>
                <a:spcPts val="0"/>
              </a:spcBef>
              <a:spcAft>
                <a:spcPts val="0"/>
              </a:spcAft>
            </a:pPr>
            <a:r>
              <a:rPr sz="1688" b="1" i="0" u="none">
                <a:solidFill>
                  <a:srgbClr val="000000"/>
                </a:solidFill>
                <a:latin typeface="Liberation Serif"/>
              </a:rPr>
              <a:t>Negative Operations Sampling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2445" y="4138131"/>
            <a:ext cx="818095" cy="905464"/>
          </a:xfrm>
          <a:prstGeom prst="rect">
            <a:avLst/>
          </a:prstGeom>
          <a:noFill/>
          <a:ln w="11914">
            <a:solidFill>
              <a:srgbClr val="92929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3018" y="4217558"/>
            <a:ext cx="818095" cy="905464"/>
          </a:xfrm>
          <a:prstGeom prst="rect">
            <a:avLst/>
          </a:prstGeom>
          <a:noFill/>
          <a:ln w="11914">
            <a:solidFill>
              <a:srgbClr val="92929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33592" y="4296985"/>
            <a:ext cx="818095" cy="905464"/>
          </a:xfrm>
          <a:prstGeom prst="rect">
            <a:avLst/>
          </a:prstGeom>
          <a:solidFill>
            <a:srgbClr val="FFFFFF"/>
          </a:solidFill>
          <a:ln w="11914">
            <a:solidFill>
              <a:srgbClr val="777777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3305" y="4336698"/>
            <a:ext cx="738668" cy="3018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875" b="1" i="0" u="none">
                <a:solidFill>
                  <a:srgbClr val="000000"/>
                </a:solidFill>
                <a:latin typeface="Lato"/>
              </a:rPr>
              <a:t>Instruction</a:t>
            </a:r>
          </a:p>
          <a:p>
            <a:pPr algn="ctr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875" b="1" i="0" u="none">
                <a:solidFill>
                  <a:srgbClr val="000000"/>
                </a:solidFill>
                <a:latin typeface="Lato"/>
              </a:rPr>
              <a:t>History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9814" y="4678233"/>
            <a:ext cx="325649" cy="301821"/>
          </a:xfrm>
          <a:prstGeom prst="rect">
            <a:avLst/>
          </a:prstGeom>
          <a:solidFill>
            <a:srgbClr val="EEF4F7"/>
          </a:solidFill>
          <a:ln w="6354">
            <a:solidFill>
              <a:srgbClr val="C1C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1585" y="4710003"/>
            <a:ext cx="262108" cy="71484"/>
          </a:xfrm>
          <a:prstGeom prst="rect">
            <a:avLst/>
          </a:prstGeom>
          <a:solidFill>
            <a:srgbClr val="8B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1585" y="4805315"/>
            <a:ext cx="262108" cy="135025"/>
          </a:xfrm>
          <a:prstGeom prst="rect">
            <a:avLst/>
          </a:prstGeom>
          <a:solidFill>
            <a:srgbClr val="F2C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371858" y="4257271"/>
            <a:ext cx="150898" cy="119130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12" y="0"/>
                </a:moveTo>
                <a:lnTo>
                  <a:pt x="19" y="8"/>
                </a:lnTo>
                <a:lnTo>
                  <a:pt x="15" y="15"/>
                </a:lnTo>
                <a:lnTo>
                  <a:pt x="4" y="15"/>
                </a:lnTo>
                <a:lnTo>
                  <a:pt x="0" y="8"/>
                </a:lnTo>
                <a:lnTo>
                  <a:pt x="4" y="2"/>
                </a:lnTo>
                <a:close/>
              </a:path>
            </a:pathLst>
          </a:custGeom>
          <a:solidFill>
            <a:srgbClr val="6B4DF5"/>
          </a:solidFill>
          <a:ln w="7942">
            <a:solidFill>
              <a:srgbClr val="6B4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378688" y="4373393"/>
            <a:ext cx="150898" cy="119130"/>
          </a:xfrm>
          <a:custGeom>
            <a:avLst/>
            <a:gdLst/>
            <a:ahLst/>
            <a:cxnLst/>
            <a:rect l="l" t="t" r="r" b="b"/>
            <a:pathLst>
              <a:path w="19" h="15">
                <a:moveTo>
                  <a:pt x="3" y="0"/>
                </a:moveTo>
                <a:lnTo>
                  <a:pt x="15" y="0"/>
                </a:lnTo>
                <a:lnTo>
                  <a:pt x="19" y="8"/>
                </a:lnTo>
                <a:lnTo>
                  <a:pt x="13" y="15"/>
                </a:lnTo>
                <a:lnTo>
                  <a:pt x="4" y="11"/>
                </a:lnTo>
                <a:lnTo>
                  <a:pt x="0" y="6"/>
                </a:lnTo>
                <a:close/>
              </a:path>
            </a:pathLst>
          </a:custGeom>
          <a:solidFill>
            <a:srgbClr val="6B4DF5"/>
          </a:solidFill>
          <a:ln w="7942">
            <a:solidFill>
              <a:srgbClr val="6B4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494810" y="4325578"/>
            <a:ext cx="119130" cy="119130"/>
          </a:xfrm>
          <a:custGeom>
            <a:avLst/>
            <a:gdLst/>
            <a:ahLst/>
            <a:cxnLst/>
            <a:rect l="l" t="t" r="r" b="b"/>
            <a:pathLst>
              <a:path w="15" h="15">
                <a:moveTo>
                  <a:pt x="0" y="6"/>
                </a:moveTo>
                <a:lnTo>
                  <a:pt x="9" y="0"/>
                </a:lnTo>
                <a:lnTo>
                  <a:pt x="15" y="6"/>
                </a:lnTo>
                <a:lnTo>
                  <a:pt x="10" y="15"/>
                </a:lnTo>
                <a:lnTo>
                  <a:pt x="4" y="14"/>
                </a:lnTo>
                <a:close/>
              </a:path>
            </a:pathLst>
          </a:custGeom>
          <a:solidFill>
            <a:srgbClr val="6B4DF5"/>
          </a:solidFill>
          <a:ln w="7942">
            <a:solidFill>
              <a:srgbClr val="6B4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440165" y="4325578"/>
            <a:ext cx="95629" cy="9562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460657" y="4346070"/>
            <a:ext cx="54645" cy="54645"/>
          </a:xfrm>
          <a:prstGeom prst="ellipse">
            <a:avLst/>
          </a:prstGeom>
          <a:solidFill>
            <a:srgbClr val="6B4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969782" y="3963392"/>
            <a:ext cx="1278770" cy="1032547"/>
          </a:xfrm>
          <a:prstGeom prst="rect">
            <a:avLst/>
          </a:prstGeom>
          <a:noFill/>
          <a:ln w="11119">
            <a:solidFill>
              <a:srgbClr val="858585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890355" y="4042819"/>
            <a:ext cx="1278770" cy="1032547"/>
          </a:xfrm>
          <a:prstGeom prst="rect">
            <a:avLst/>
          </a:prstGeom>
          <a:noFill/>
          <a:ln w="11119">
            <a:solidFill>
              <a:srgbClr val="858585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818871" y="4114303"/>
            <a:ext cx="1294655" cy="1032547"/>
          </a:xfrm>
          <a:prstGeom prst="rect">
            <a:avLst/>
          </a:prstGeom>
          <a:solidFill>
            <a:srgbClr val="FFE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882413" y="4177844"/>
            <a:ext cx="1167572" cy="905464"/>
          </a:xfrm>
          <a:prstGeom prst="rect">
            <a:avLst/>
          </a:prstGeom>
          <a:solidFill>
            <a:srgbClr val="FFFFFF"/>
          </a:solidFill>
          <a:ln w="11119">
            <a:solidFill>
              <a:srgbClr val="89898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930069" y="4225500"/>
            <a:ext cx="1088145" cy="3971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000000"/>
                </a:solidFill>
                <a:latin typeface="Lato"/>
              </a:rPr>
              <a:t>Action: Click the</a:t>
            </a:r>
          </a:p>
          <a:p>
            <a:pPr algn="l">
              <a:lnSpc>
                <a:spcPts val="1375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000000"/>
                </a:solidFill>
                <a:latin typeface="Lato"/>
              </a:rPr>
              <a:t>“Letter” button.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35145" y="4598806"/>
            <a:ext cx="317706" cy="2541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73"/>
              </a:lnSpc>
              <a:spcBef>
                <a:spcPts val="0"/>
              </a:spcBef>
              <a:spcAft>
                <a:spcPts val="0"/>
              </a:spcAft>
            </a:pPr>
            <a:r>
              <a:rPr sz="2063" b="1" i="0" u="none">
                <a:solidFill>
                  <a:srgbClr val="D90000"/>
                </a:solidFill>
                <a:latin typeface="Lato"/>
              </a:rPr>
              <a:t>≠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38011" y="4813258"/>
            <a:ext cx="1088145" cy="2938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4B8D2E"/>
                </a:solidFill>
                <a:latin typeface="Lato"/>
              </a:rPr>
              <a:t>Click the stop</a:t>
            </a:r>
          </a:p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4B8D2E"/>
                </a:solidFill>
                <a:latin typeface="Lato"/>
              </a:rPr>
              <a:t>recording button.</a:t>
            </a:r>
          </a:p>
        </p:txBody>
      </p:sp>
      <p:sp>
        <p:nvSpPr>
          <p:cNvPr id="67" name="Oval 66"/>
          <p:cNvSpPr/>
          <p:nvPr/>
        </p:nvSpPr>
        <p:spPr>
          <a:xfrm>
            <a:off x="3211221" y="4879182"/>
            <a:ext cx="42890" cy="4289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282705" y="4879182"/>
            <a:ext cx="42890" cy="4289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54189" y="4879182"/>
            <a:ext cx="42890" cy="4289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5649" y="5408958"/>
            <a:ext cx="3097641" cy="2462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41"/>
              </a:lnSpc>
              <a:spcBef>
                <a:spcPts val="0"/>
              </a:spcBef>
              <a:spcAft>
                <a:spcPts val="0"/>
              </a:spcAft>
            </a:pPr>
            <a:r>
              <a:rPr sz="1688" b="1" i="0" u="none">
                <a:solidFill>
                  <a:srgbClr val="000000"/>
                </a:solidFill>
                <a:latin typeface="Liberation Serif"/>
              </a:rPr>
              <a:t>Data Filtering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2445" y="5845805"/>
            <a:ext cx="818095" cy="1000776"/>
          </a:xfrm>
          <a:prstGeom prst="rect">
            <a:avLst/>
          </a:prstGeom>
          <a:noFill/>
          <a:ln w="11914">
            <a:solidFill>
              <a:srgbClr val="92929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13018" y="5925232"/>
            <a:ext cx="818095" cy="1000776"/>
          </a:xfrm>
          <a:prstGeom prst="rect">
            <a:avLst/>
          </a:prstGeom>
          <a:noFill/>
          <a:ln w="11914">
            <a:solidFill>
              <a:srgbClr val="929292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33592" y="6004659"/>
            <a:ext cx="818095" cy="1000776"/>
          </a:xfrm>
          <a:prstGeom prst="rect">
            <a:avLst/>
          </a:prstGeom>
          <a:solidFill>
            <a:srgbClr val="FFFFFF"/>
          </a:solidFill>
          <a:ln w="11914">
            <a:solidFill>
              <a:srgbClr val="777777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73305" y="6044372"/>
            <a:ext cx="738668" cy="30182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875" b="1" i="0" u="none">
                <a:solidFill>
                  <a:srgbClr val="000000"/>
                </a:solidFill>
                <a:latin typeface="Lato"/>
              </a:rPr>
              <a:t>Instruction</a:t>
            </a:r>
          </a:p>
          <a:p>
            <a:pPr algn="ctr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875" b="1" i="0" u="none">
                <a:solidFill>
                  <a:srgbClr val="000000"/>
                </a:solidFill>
                <a:latin typeface="Lato"/>
              </a:rPr>
              <a:t>History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79814" y="6385907"/>
            <a:ext cx="325649" cy="301821"/>
          </a:xfrm>
          <a:prstGeom prst="rect">
            <a:avLst/>
          </a:prstGeom>
          <a:solidFill>
            <a:srgbClr val="EEF4F7"/>
          </a:solidFill>
          <a:ln w="6354">
            <a:solidFill>
              <a:srgbClr val="C1C1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1585" y="6417678"/>
            <a:ext cx="262108" cy="71484"/>
          </a:xfrm>
          <a:prstGeom prst="rect">
            <a:avLst/>
          </a:prstGeom>
          <a:solidFill>
            <a:srgbClr val="8BB0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1585" y="6512990"/>
            <a:ext cx="262108" cy="135025"/>
          </a:xfrm>
          <a:prstGeom prst="rect">
            <a:avLst/>
          </a:prstGeom>
          <a:solidFill>
            <a:srgbClr val="F2C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044" y="6695671"/>
            <a:ext cx="563929" cy="28593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81"/>
              </a:lnSpc>
              <a:spcBef>
                <a:spcPts val="0"/>
              </a:spcBef>
              <a:spcAft>
                <a:spcPts val="0"/>
              </a:spcAft>
            </a:pPr>
            <a:r>
              <a:rPr sz="687" b="1" i="0" u="none">
                <a:solidFill>
                  <a:srgbClr val="D90000"/>
                </a:solidFill>
                <a:latin typeface="Lato"/>
              </a:rPr>
              <a:t>Click the</a:t>
            </a:r>
          </a:p>
          <a:p>
            <a:pPr algn="ctr">
              <a:lnSpc>
                <a:spcPts val="781"/>
              </a:lnSpc>
              <a:spcBef>
                <a:spcPts val="0"/>
              </a:spcBef>
              <a:spcAft>
                <a:spcPts val="0"/>
              </a:spcAft>
            </a:pPr>
            <a:r>
              <a:rPr sz="687" b="1" i="0" u="none">
                <a:solidFill>
                  <a:srgbClr val="D90000"/>
                </a:solidFill>
                <a:latin typeface="Lato"/>
              </a:rPr>
              <a:t>“Letter”</a:t>
            </a:r>
          </a:p>
          <a:p>
            <a:pPr algn="ctr">
              <a:lnSpc>
                <a:spcPts val="781"/>
              </a:lnSpc>
              <a:spcBef>
                <a:spcPts val="0"/>
              </a:spcBef>
              <a:spcAft>
                <a:spcPts val="0"/>
              </a:spcAft>
            </a:pPr>
            <a:r>
              <a:rPr sz="687" b="1" i="0" u="none">
                <a:solidFill>
                  <a:srgbClr val="D90000"/>
                </a:solidFill>
                <a:latin typeface="Lato"/>
              </a:rPr>
              <a:t>button.</a:t>
            </a:r>
          </a:p>
          <a:p>
            <a:pPr algn="ctr">
              <a:lnSpc>
                <a:spcPts val="781"/>
              </a:lnSpc>
              <a:spcBef>
                <a:spcPts val="0"/>
              </a:spcBef>
              <a:spcAft>
                <a:spcPts val="0"/>
              </a:spcAft>
            </a:pPr>
            <a:r>
              <a:rPr sz="687" b="1" i="0" u="none">
                <a:solidFill>
                  <a:srgbClr val="D90000"/>
                </a:solidFill>
                <a:latin typeface="Lato"/>
              </a:rPr>
              <a:t>False</a:t>
            </a:r>
          </a:p>
        </p:txBody>
      </p:sp>
      <p:sp>
        <p:nvSpPr>
          <p:cNvPr id="79" name="Oval 78"/>
          <p:cNvSpPr/>
          <p:nvPr/>
        </p:nvSpPr>
        <p:spPr>
          <a:xfrm>
            <a:off x="1367727" y="5656770"/>
            <a:ext cx="171561" cy="171561"/>
          </a:xfrm>
          <a:prstGeom prst="ellipse">
            <a:avLst/>
          </a:prstGeom>
          <a:noFill/>
          <a:ln w="21445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474954" y="5706809"/>
            <a:ext cx="100077" cy="71484"/>
          </a:xfrm>
          <a:prstGeom prst="ellipse">
            <a:avLst/>
          </a:prstGeom>
          <a:noFill/>
          <a:ln w="14296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 rot="3600000">
            <a:off x="1439211" y="5768716"/>
            <a:ext cx="100077" cy="71484"/>
          </a:xfrm>
          <a:prstGeom prst="ellipse">
            <a:avLst/>
          </a:prstGeom>
          <a:noFill/>
          <a:ln w="14296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 rot="7200000">
            <a:off x="1367727" y="5768716"/>
            <a:ext cx="100077" cy="71484"/>
          </a:xfrm>
          <a:prstGeom prst="ellipse">
            <a:avLst/>
          </a:prstGeom>
          <a:noFill/>
          <a:ln w="14296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 rot="10800000">
            <a:off x="1331985" y="5706809"/>
            <a:ext cx="100077" cy="71484"/>
          </a:xfrm>
          <a:prstGeom prst="ellipse">
            <a:avLst/>
          </a:prstGeom>
          <a:noFill/>
          <a:ln w="14296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 rot="14400000">
            <a:off x="1367727" y="5644902"/>
            <a:ext cx="100077" cy="71484"/>
          </a:xfrm>
          <a:prstGeom prst="ellipse">
            <a:avLst/>
          </a:prstGeom>
          <a:noFill/>
          <a:ln w="14296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 rot="18000000">
            <a:off x="1439211" y="5644902"/>
            <a:ext cx="100077" cy="71484"/>
          </a:xfrm>
          <a:prstGeom prst="ellipse">
            <a:avLst/>
          </a:prstGeom>
          <a:noFill/>
          <a:ln w="14296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906241" y="5504271"/>
            <a:ext cx="1334368" cy="722783"/>
          </a:xfrm>
          <a:prstGeom prst="rect">
            <a:avLst/>
          </a:prstGeom>
          <a:noFill/>
          <a:ln w="11119">
            <a:solidFill>
              <a:srgbClr val="858585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826814" y="5583697"/>
            <a:ext cx="1334368" cy="722783"/>
          </a:xfrm>
          <a:prstGeom prst="rect">
            <a:avLst/>
          </a:prstGeom>
          <a:noFill/>
          <a:ln w="11119">
            <a:solidFill>
              <a:srgbClr val="858585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763272" y="5655181"/>
            <a:ext cx="1342311" cy="722783"/>
          </a:xfrm>
          <a:prstGeom prst="rect">
            <a:avLst/>
          </a:prstGeom>
          <a:solidFill>
            <a:srgbClr val="FFE9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826814" y="5718723"/>
            <a:ext cx="1215228" cy="595700"/>
          </a:xfrm>
          <a:prstGeom prst="rect">
            <a:avLst/>
          </a:prstGeom>
          <a:solidFill>
            <a:srgbClr val="FFFFFF"/>
          </a:solidFill>
          <a:ln w="11119">
            <a:solidFill>
              <a:srgbClr val="89898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866527" y="5798149"/>
            <a:ext cx="1151687" cy="4765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63"/>
              </a:lnSpc>
              <a:spcBef>
                <a:spcPts val="0"/>
              </a:spcBef>
              <a:spcAft>
                <a:spcPts val="0"/>
              </a:spcAft>
            </a:pPr>
            <a:r>
              <a:rPr sz="875" b="0" i="0" u="none">
                <a:solidFill>
                  <a:srgbClr val="D90000"/>
                </a:solidFill>
                <a:latin typeface="Lato"/>
              </a:rPr>
              <a:t>Click the “Letter”</a:t>
            </a:r>
          </a:p>
          <a:p>
            <a:pPr algn="l">
              <a:lnSpc>
                <a:spcPts val="1563"/>
              </a:lnSpc>
              <a:spcBef>
                <a:spcPts val="0"/>
              </a:spcBef>
              <a:spcAft>
                <a:spcPts val="0"/>
              </a:spcAft>
            </a:pPr>
            <a:r>
              <a:rPr sz="875" b="0" i="0" u="none">
                <a:solidFill>
                  <a:srgbClr val="D90000"/>
                </a:solidFill>
                <a:latin typeface="Lato"/>
              </a:rPr>
              <a:t>button is </a:t>
            </a:r>
            <a:r>
              <a:rPr sz="1000" b="1" i="0" u="none">
                <a:solidFill>
                  <a:srgbClr val="000000"/>
                </a:solidFill>
                <a:latin typeface="Lato"/>
              </a:rPr>
              <a:t>False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445566" y="6417678"/>
            <a:ext cx="2017438" cy="587757"/>
          </a:xfrm>
          <a:prstGeom prst="roundRect">
            <a:avLst>
              <a:gd name="adj" fmla="val 10810"/>
            </a:avLst>
          </a:prstGeom>
          <a:solidFill>
            <a:srgbClr val="FFF8D3"/>
          </a:solidFill>
          <a:ln w="9531">
            <a:solidFill>
              <a:srgbClr val="2A4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532935" y="6655958"/>
            <a:ext cx="1604419" cy="317706"/>
          </a:xfrm>
          <a:prstGeom prst="rect">
            <a:avLst/>
          </a:prstGeom>
          <a:solidFill>
            <a:srgbClr val="FFFFFF"/>
          </a:solidFill>
          <a:ln w="9531">
            <a:solidFill>
              <a:srgbClr val="F0B5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572648" y="6687728"/>
            <a:ext cx="1548820" cy="26210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75" b="0" i="0" u="none">
                <a:solidFill>
                  <a:srgbClr val="000000"/>
                </a:solidFill>
                <a:latin typeface="Lato"/>
              </a:rPr>
              <a:t>&lt;score&gt;...&lt;/score&gt;</a:t>
            </a:r>
          </a:p>
          <a:p>
            <a:pPr algn="l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875" b="0" i="0" u="none">
                <a:solidFill>
                  <a:srgbClr val="000000"/>
                </a:solidFill>
                <a:latin typeface="Lato"/>
              </a:rPr>
              <a:t>&lt;suggestion&gt;...&lt;/suggestion&gt;</a:t>
            </a:r>
          </a:p>
        </p:txBody>
      </p:sp>
      <p:sp>
        <p:nvSpPr>
          <p:cNvPr id="94" name="Oval 93"/>
          <p:cNvSpPr/>
          <p:nvPr/>
        </p:nvSpPr>
        <p:spPr>
          <a:xfrm>
            <a:off x="3188982" y="6779069"/>
            <a:ext cx="39713" cy="3971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3252523" y="6779069"/>
            <a:ext cx="39713" cy="3971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316065" y="6779069"/>
            <a:ext cx="39713" cy="3971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2787877" y="6370022"/>
            <a:ext cx="897521" cy="230337"/>
          </a:xfrm>
          <a:prstGeom prst="roundRect">
            <a:avLst>
              <a:gd name="adj" fmla="val 44827"/>
            </a:avLst>
          </a:prstGeom>
          <a:solidFill>
            <a:srgbClr val="FFF2AD"/>
          </a:solidFill>
          <a:ln w="11119">
            <a:solidFill>
              <a:srgbClr val="F0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2851418" y="6401792"/>
            <a:ext cx="166796" cy="166796"/>
          </a:xfrm>
          <a:prstGeom prst="ellipse">
            <a:avLst/>
          </a:prstGeom>
          <a:solidFill>
            <a:srgbClr val="FFE477"/>
          </a:solidFill>
          <a:ln w="11914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899074" y="6449448"/>
            <a:ext cx="20650" cy="206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2954673" y="6449448"/>
            <a:ext cx="20650" cy="206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2899074" y="6505047"/>
            <a:ext cx="31771" cy="23828"/>
          </a:xfrm>
          <a:prstGeom prst="line">
            <a:avLst/>
          </a:prstGeom>
          <a:ln w="103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2930845" y="6505047"/>
            <a:ext cx="39713" cy="23828"/>
          </a:xfrm>
          <a:prstGeom prst="line">
            <a:avLst/>
          </a:prstGeom>
          <a:ln w="103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3034100" y="6385907"/>
            <a:ext cx="619528" cy="20650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 u="none">
                <a:solidFill>
                  <a:srgbClr val="000000"/>
                </a:solidFill>
                <a:latin typeface="Liberation Serif"/>
              </a:rPr>
              <a:t>Select!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614691" y="675127"/>
            <a:ext cx="2756106" cy="3177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57"/>
              </a:lnSpc>
              <a:spcBef>
                <a:spcPts val="0"/>
              </a:spcBef>
              <a:spcAft>
                <a:spcPts val="0"/>
              </a:spcAft>
            </a:pPr>
            <a:r>
              <a:rPr sz="1876" b="1" i="0" u="none">
                <a:solidFill>
                  <a:srgbClr val="000000"/>
                </a:solidFill>
                <a:latin typeface="Liberation Serif"/>
              </a:rPr>
              <a:t>GUI Critiques Generation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907794" y="1016661"/>
            <a:ext cx="3733055" cy="270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69"/>
              </a:lnSpc>
              <a:spcBef>
                <a:spcPts val="0"/>
              </a:spcBef>
              <a:spcAft>
                <a:spcPts val="0"/>
              </a:spcAft>
            </a:pPr>
            <a:r>
              <a:rPr sz="1626" b="1" i="0" u="none">
                <a:solidFill>
                  <a:srgbClr val="000000"/>
                </a:solidFill>
                <a:latin typeface="Liberation Serif"/>
              </a:rPr>
              <a:t>Progressive CoT Paradigm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3891908" y="1318483"/>
            <a:ext cx="4074590" cy="1644132"/>
          </a:xfrm>
          <a:prstGeom prst="roundRect">
            <a:avLst>
              <a:gd name="adj" fmla="val 8695"/>
            </a:avLst>
          </a:prstGeom>
          <a:solidFill>
            <a:srgbClr val="FFFFFF"/>
          </a:solidFill>
          <a:ln w="16679">
            <a:solidFill>
              <a:srgbClr val="17385D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963392" y="1382024"/>
            <a:ext cx="3939564" cy="1517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13" b="0" i="0" u="none">
                <a:solidFill>
                  <a:srgbClr val="000000"/>
                </a:solidFill>
                <a:latin typeface="Lato"/>
              </a:rPr>
              <a:t>There is a multimodal agent that can perform a series of actions on a smart</a:t>
            </a:r>
          </a:p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13" b="0" i="0" u="none">
                <a:solidFill>
                  <a:srgbClr val="000000"/>
                </a:solidFill>
                <a:latin typeface="Lato"/>
              </a:rPr>
              <a:t>device (phone or PC) ... In some steps, the action decided by the mobile agent may</a:t>
            </a:r>
          </a:p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13" b="0" i="0" u="none">
                <a:solidFill>
                  <a:srgbClr val="000000"/>
                </a:solidFill>
                <a:latin typeface="Lato"/>
              </a:rPr>
              <a:t>be wrong.Now, you are a critic model used to evaluate the agent's decision. I will</a:t>
            </a:r>
          </a:p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13" b="0" i="0" u="none">
                <a:solidFill>
                  <a:srgbClr val="000000"/>
                </a:solidFill>
                <a:latin typeface="Lato"/>
              </a:rPr>
              <a:t>provide you with the following information: 1. User instruction. 2. History: The</a:t>
            </a:r>
          </a:p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13" b="0" i="0" u="none">
                <a:solidFill>
                  <a:srgbClr val="000000"/>
                </a:solidFill>
                <a:latin typeface="Lato"/>
              </a:rPr>
              <a:t>action history of the agent in the previous steps.  3. Decision: The decision of the</a:t>
            </a:r>
          </a:p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13" b="0" i="0" u="none">
                <a:solidFill>
                  <a:srgbClr val="000000"/>
                </a:solidFill>
                <a:latin typeface="Lato"/>
              </a:rPr>
              <a:t>agent for this step. 4. Image: The screenshot before executing this action.</a:t>
            </a:r>
          </a:p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13" b="0" i="0" u="none">
                <a:solidFill>
                  <a:srgbClr val="D90000"/>
                </a:solidFill>
                <a:latin typeface="Lato"/>
              </a:rPr>
              <a:t>&lt;thinking&gt; **Observation**: Describe the screenshot.</a:t>
            </a:r>
          </a:p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13" b="0" i="0" u="none">
                <a:solidFill>
                  <a:srgbClr val="D90000"/>
                </a:solidFill>
                <a:latin typeface="Lato"/>
              </a:rPr>
              <a:t>**Possible Result**: Analysis from the possible result perspective.</a:t>
            </a:r>
          </a:p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13" b="0" i="0" u="none">
                <a:solidFill>
                  <a:srgbClr val="D90000"/>
                </a:solidFill>
                <a:latin typeface="Lato"/>
              </a:rPr>
              <a:t>**Critique**: Criticize why the decision is correct or incorrect. &lt;/thinking&gt;</a:t>
            </a:r>
          </a:p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13" b="0" i="0" u="none">
                <a:solidFill>
                  <a:srgbClr val="D90000"/>
                </a:solidFill>
                <a:latin typeface="Lato"/>
              </a:rPr>
              <a:t>&lt;score&gt; Correct or Incorrect &lt;/score&gt;</a:t>
            </a:r>
          </a:p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13" b="0" i="0" u="none">
                <a:solidFill>
                  <a:srgbClr val="D90000"/>
                </a:solidFill>
                <a:latin typeface="Lato"/>
              </a:rPr>
              <a:t>&lt;suggestion&gt; If correct, provide a brief summary; if incorrect, suggest a better</a:t>
            </a:r>
          </a:p>
          <a:p>
            <a:pPr algn="l">
              <a:lnSpc>
                <a:spcPts val="969"/>
              </a:lnSpc>
              <a:spcBef>
                <a:spcPts val="0"/>
              </a:spcBef>
              <a:spcAft>
                <a:spcPts val="0"/>
              </a:spcAft>
            </a:pPr>
            <a:r>
              <a:rPr sz="813" b="0" i="0" u="none">
                <a:solidFill>
                  <a:srgbClr val="D90000"/>
                </a:solidFill>
                <a:latin typeface="Lato"/>
              </a:rPr>
              <a:t>decision briefly. &lt;/suggestion&gt;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187340" y="3026157"/>
            <a:ext cx="611585" cy="2462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8"/>
              </a:lnSpc>
              <a:spcBef>
                <a:spcPts val="0"/>
              </a:spcBef>
              <a:spcAft>
                <a:spcPts val="0"/>
              </a:spcAft>
            </a:pPr>
            <a:r>
              <a:rPr sz="1563" b="0" i="0" u="none">
                <a:solidFill>
                  <a:srgbClr val="000000"/>
                </a:solidFill>
                <a:latin typeface="Liberation Serif"/>
              </a:rPr>
              <a:t>Prompt</a:t>
            </a:r>
          </a:p>
        </p:txBody>
      </p:sp>
      <p:sp>
        <p:nvSpPr>
          <p:cNvPr id="109" name="Freeform 108"/>
          <p:cNvSpPr/>
          <p:nvPr/>
        </p:nvSpPr>
        <p:spPr>
          <a:xfrm>
            <a:off x="7004323" y="3026157"/>
            <a:ext cx="158840" cy="127072"/>
          </a:xfrm>
          <a:custGeom>
            <a:avLst/>
            <a:gdLst/>
            <a:ahLst/>
            <a:cxnLst/>
            <a:rect l="l" t="t" r="r" b="b"/>
            <a:pathLst>
              <a:path w="20" h="16">
                <a:moveTo>
                  <a:pt x="13" y="0"/>
                </a:moveTo>
                <a:lnTo>
                  <a:pt x="20" y="8"/>
                </a:lnTo>
                <a:lnTo>
                  <a:pt x="17" y="16"/>
                </a:lnTo>
                <a:lnTo>
                  <a:pt x="5" y="16"/>
                </a:lnTo>
                <a:lnTo>
                  <a:pt x="0" y="8"/>
                </a:lnTo>
                <a:lnTo>
                  <a:pt x="5" y="2"/>
                </a:lnTo>
                <a:close/>
              </a:path>
            </a:pathLst>
          </a:custGeom>
          <a:solidFill>
            <a:srgbClr val="6B4DF5"/>
          </a:solidFill>
          <a:ln w="7942">
            <a:solidFill>
              <a:srgbClr val="6B4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7011710" y="3151731"/>
            <a:ext cx="158840" cy="127072"/>
          </a:xfrm>
          <a:custGeom>
            <a:avLst/>
            <a:gdLst/>
            <a:ahLst/>
            <a:cxnLst/>
            <a:rect l="l" t="t" r="r" b="b"/>
            <a:pathLst>
              <a:path w="20" h="16">
                <a:moveTo>
                  <a:pt x="4" y="0"/>
                </a:moveTo>
                <a:lnTo>
                  <a:pt x="16" y="0"/>
                </a:lnTo>
                <a:lnTo>
                  <a:pt x="20" y="8"/>
                </a:lnTo>
                <a:lnTo>
                  <a:pt x="14" y="16"/>
                </a:lnTo>
                <a:lnTo>
                  <a:pt x="5" y="12"/>
                </a:lnTo>
                <a:lnTo>
                  <a:pt x="0" y="7"/>
                </a:lnTo>
                <a:close/>
              </a:path>
            </a:pathLst>
          </a:custGeom>
          <a:solidFill>
            <a:srgbClr val="6B4DF5"/>
          </a:solidFill>
          <a:ln w="7942">
            <a:solidFill>
              <a:srgbClr val="6B4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7137284" y="3100024"/>
            <a:ext cx="127072" cy="127072"/>
          </a:xfrm>
          <a:custGeom>
            <a:avLst/>
            <a:gdLst/>
            <a:ahLst/>
            <a:cxnLst/>
            <a:rect l="l" t="t" r="r" b="b"/>
            <a:pathLst>
              <a:path w="16" h="16">
                <a:moveTo>
                  <a:pt x="0" y="7"/>
                </a:moveTo>
                <a:lnTo>
                  <a:pt x="10" y="0"/>
                </a:lnTo>
                <a:lnTo>
                  <a:pt x="16" y="7"/>
                </a:lnTo>
                <a:lnTo>
                  <a:pt x="11" y="16"/>
                </a:lnTo>
                <a:lnTo>
                  <a:pt x="5" y="15"/>
                </a:lnTo>
                <a:close/>
              </a:path>
            </a:pathLst>
          </a:custGeom>
          <a:solidFill>
            <a:srgbClr val="6B4DF5"/>
          </a:solidFill>
          <a:ln w="7942">
            <a:solidFill>
              <a:srgbClr val="6B4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078190" y="3100024"/>
            <a:ext cx="103413" cy="10341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100350" y="3122184"/>
            <a:ext cx="59093" cy="59093"/>
          </a:xfrm>
          <a:prstGeom prst="ellipse">
            <a:avLst/>
          </a:prstGeom>
          <a:solidFill>
            <a:srgbClr val="6B4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387001" y="3082074"/>
            <a:ext cx="167749" cy="167749"/>
          </a:xfrm>
          <a:prstGeom prst="ellipse">
            <a:avLst/>
          </a:prstGeom>
          <a:noFill/>
          <a:ln w="20968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491845" y="3131000"/>
            <a:ext cx="97853" cy="69895"/>
          </a:xfrm>
          <a:prstGeom prst="ellipse">
            <a:avLst/>
          </a:prstGeom>
          <a:noFill/>
          <a:ln w="13979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 rot="3600000">
            <a:off x="7456897" y="3191532"/>
            <a:ext cx="97853" cy="69895"/>
          </a:xfrm>
          <a:prstGeom prst="ellipse">
            <a:avLst/>
          </a:prstGeom>
          <a:noFill/>
          <a:ln w="13979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 rot="7200000">
            <a:off x="7387001" y="3191532"/>
            <a:ext cx="97853" cy="69895"/>
          </a:xfrm>
          <a:prstGeom prst="ellipse">
            <a:avLst/>
          </a:prstGeom>
          <a:noFill/>
          <a:ln w="13979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 rot="10800000">
            <a:off x="7352053" y="3131000"/>
            <a:ext cx="97853" cy="69895"/>
          </a:xfrm>
          <a:prstGeom prst="ellipse">
            <a:avLst/>
          </a:prstGeom>
          <a:noFill/>
          <a:ln w="13979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 rot="14400000">
            <a:off x="7387001" y="3070469"/>
            <a:ext cx="97853" cy="69895"/>
          </a:xfrm>
          <a:prstGeom prst="ellipse">
            <a:avLst/>
          </a:prstGeom>
          <a:noFill/>
          <a:ln w="13979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 rot="18000000">
            <a:off x="7456897" y="3070469"/>
            <a:ext cx="97853" cy="69895"/>
          </a:xfrm>
          <a:prstGeom prst="ellipse">
            <a:avLst/>
          </a:prstGeom>
          <a:noFill/>
          <a:ln w="13979">
            <a:solidFill>
              <a:srgbClr val="10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899851" y="3327979"/>
            <a:ext cx="3351807" cy="270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69"/>
              </a:lnSpc>
              <a:spcBef>
                <a:spcPts val="0"/>
              </a:spcBef>
              <a:spcAft>
                <a:spcPts val="0"/>
              </a:spcAft>
            </a:pPr>
            <a:r>
              <a:rPr sz="1626" b="1" i="0" u="none">
                <a:solidFill>
                  <a:srgbClr val="000000"/>
                </a:solidFill>
                <a:latin typeface="Liberation Serif"/>
              </a:rPr>
              <a:t>Reasoning Bootstrapping.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598806" y="3637743"/>
            <a:ext cx="3264437" cy="1985667"/>
          </a:xfrm>
          <a:prstGeom prst="rect">
            <a:avLst/>
          </a:prstGeom>
          <a:solidFill>
            <a:srgbClr val="FFFFFF"/>
          </a:solidFill>
          <a:ln w="23828">
            <a:solidFill>
              <a:srgbClr val="D8D8D8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447895" y="3772768"/>
            <a:ext cx="3264437" cy="1945954"/>
          </a:xfrm>
          <a:prstGeom prst="rect">
            <a:avLst/>
          </a:prstGeom>
          <a:solidFill>
            <a:srgbClr val="FFFFFF"/>
          </a:solidFill>
          <a:ln w="23828">
            <a:solidFill>
              <a:srgbClr val="D8D8D8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281099" y="3883966"/>
            <a:ext cx="3264437" cy="1850642"/>
          </a:xfrm>
          <a:prstGeom prst="rect">
            <a:avLst/>
          </a:prstGeom>
          <a:solidFill>
            <a:srgbClr val="FFFFFF"/>
          </a:solidFill>
          <a:ln w="23828">
            <a:solidFill>
              <a:srgbClr val="D8D8D8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8080" y="4018991"/>
            <a:ext cx="3526545" cy="1810928"/>
          </a:xfrm>
          <a:prstGeom prst="rect">
            <a:avLst/>
          </a:prstGeom>
          <a:solidFill>
            <a:srgbClr val="FFFFFF"/>
          </a:solidFill>
          <a:ln w="7942">
            <a:solidFill>
              <a:srgbClr val="EC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963392" y="4074590"/>
            <a:ext cx="3327979" cy="166796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875" b="1" i="0" u="none">
                <a:solidFill>
                  <a:srgbClr val="000000"/>
                </a:solidFill>
                <a:latin typeface="Lato"/>
              </a:rPr>
              <a:t>&lt;thinking&gt;  </a:t>
            </a:r>
            <a:r>
              <a:rPr sz="875" b="1" i="0" u="none">
                <a:solidFill>
                  <a:srgbClr val="C65F19"/>
                </a:solidFill>
                <a:latin typeface="Lato"/>
              </a:rPr>
              <a:t>**Observation**:</a:t>
            </a:r>
            <a:r>
              <a:rPr sz="875" b="0" i="0" u="none">
                <a:solidFill>
                  <a:srgbClr val="000000"/>
                </a:solidFill>
                <a:latin typeface="Lato"/>
              </a:rPr>
              <a:t> The screenshot shows</a:t>
            </a:r>
          </a:p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875" b="0" i="0" u="none">
                <a:solidFill>
                  <a:srgbClr val="000000"/>
                </a:solidFill>
                <a:latin typeface="Lato"/>
              </a:rPr>
              <a:t>the Twitter feed with a list of posts, including ...</a:t>
            </a:r>
          </a:p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875" b="1" i="0" u="none">
                <a:solidFill>
                  <a:srgbClr val="C65F19"/>
                </a:solidFill>
                <a:latin typeface="Lato"/>
              </a:rPr>
              <a:t>**Possible Result**:</a:t>
            </a:r>
            <a:r>
              <a:rPr sz="875" b="0" i="0" u="none">
                <a:solidFill>
                  <a:srgbClr val="000000"/>
                </a:solidFill>
                <a:latin typeface="Lato"/>
              </a:rPr>
              <a:t> If the agent clicks the “Letter”</a:t>
            </a:r>
          </a:p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875" b="0" i="0" u="none">
                <a:solidFill>
                  <a:srgbClr val="000000"/>
                </a:solidFill>
                <a:latin typeface="Lato"/>
              </a:rPr>
              <a:t>button, it will likely not achieve any meaningful</a:t>
            </a:r>
          </a:p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875" b="0" i="0" u="none">
                <a:solidFill>
                  <a:srgbClr val="000000"/>
                </a:solidFill>
                <a:latin typeface="Lato"/>
              </a:rPr>
              <a:t>action...  </a:t>
            </a:r>
            <a:r>
              <a:rPr sz="875" b="1" i="0" u="none">
                <a:solidFill>
                  <a:srgbClr val="C65F19"/>
                </a:solidFill>
                <a:latin typeface="Lato"/>
              </a:rPr>
              <a:t>**Critique**:</a:t>
            </a:r>
            <a:r>
              <a:rPr sz="875" b="0" i="0" u="none">
                <a:solidFill>
                  <a:srgbClr val="000000"/>
                </a:solidFill>
                <a:latin typeface="Lato"/>
              </a:rPr>
              <a:t> The decision to click the</a:t>
            </a:r>
          </a:p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875" b="0" i="0" u="none">
                <a:solidFill>
                  <a:srgbClr val="000000"/>
                </a:solidFill>
                <a:latin typeface="Lato"/>
              </a:rPr>
              <a:t>“Letter” button is incorrect because it does not</a:t>
            </a:r>
          </a:p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875" b="0" i="0" u="none">
                <a:solidFill>
                  <a:srgbClr val="000000"/>
                </a:solidFill>
                <a:latin typeface="Lato"/>
              </a:rPr>
              <a:t>align with the current state of the application...</a:t>
            </a:r>
          </a:p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875" b="1" i="0" u="none">
                <a:solidFill>
                  <a:srgbClr val="000000"/>
                </a:solidFill>
                <a:latin typeface="Lato"/>
              </a:rPr>
              <a:t>&lt;/thinking&gt;</a:t>
            </a:r>
          </a:p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875" b="1" i="0" u="none">
                <a:solidFill>
                  <a:srgbClr val="000000"/>
                </a:solidFill>
                <a:latin typeface="Lato"/>
              </a:rPr>
              <a:t>&lt;score&gt; </a:t>
            </a:r>
            <a:r>
              <a:rPr sz="875" b="0" i="0" u="none">
                <a:solidFill>
                  <a:srgbClr val="D90000"/>
                </a:solidFill>
                <a:latin typeface="Lato"/>
              </a:rPr>
              <a:t>Incorrect</a:t>
            </a:r>
            <a:r>
              <a:rPr sz="875" b="1" i="0" u="none">
                <a:solidFill>
                  <a:srgbClr val="000000"/>
                </a:solidFill>
                <a:latin typeface="Lato"/>
              </a:rPr>
              <a:t> &lt;/score&gt;</a:t>
            </a:r>
          </a:p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875" b="1" i="0" u="none">
                <a:solidFill>
                  <a:srgbClr val="000000"/>
                </a:solidFill>
                <a:latin typeface="Lato"/>
              </a:rPr>
              <a:t>&lt;suggestion&gt; </a:t>
            </a:r>
            <a:r>
              <a:rPr sz="875" b="0" i="0" u="none">
                <a:solidFill>
                  <a:srgbClr val="D90000"/>
                </a:solidFill>
                <a:latin typeface="Lato"/>
              </a:rPr>
              <a:t>The agent should instead select a</a:t>
            </a:r>
          </a:p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875" b="0" i="0" u="none">
                <a:solidFill>
                  <a:srgbClr val="D90000"/>
                </a:solidFill>
                <a:latin typeface="Lato"/>
              </a:rPr>
              <a:t>desired tweet and clicking the share button of it.</a:t>
            </a:r>
          </a:p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875" b="1" i="0" u="none">
                <a:solidFill>
                  <a:srgbClr val="000000"/>
                </a:solidFill>
                <a:latin typeface="Lato"/>
              </a:rPr>
              <a:t>&lt;/suggestion&gt;</a:t>
            </a:r>
          </a:p>
        </p:txBody>
      </p:sp>
      <p:sp>
        <p:nvSpPr>
          <p:cNvPr id="127" name="Oval 126"/>
          <p:cNvSpPr/>
          <p:nvPr/>
        </p:nvSpPr>
        <p:spPr>
          <a:xfrm>
            <a:off x="5774321" y="5186564"/>
            <a:ext cx="206509" cy="206509"/>
          </a:xfrm>
          <a:prstGeom prst="ellipse">
            <a:avLst/>
          </a:prstGeom>
          <a:solidFill>
            <a:srgbClr val="FFFFFF"/>
          </a:solidFill>
          <a:ln w="15885">
            <a:solidFill>
              <a:srgbClr val="10B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>
            <a:off x="5831111" y="5289818"/>
            <a:ext cx="36140" cy="34074"/>
          </a:xfrm>
          <a:prstGeom prst="line">
            <a:avLst/>
          </a:prstGeom>
          <a:ln w="15885">
            <a:solidFill>
              <a:srgbClr val="10B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5867251" y="5246451"/>
            <a:ext cx="64018" cy="77441"/>
          </a:xfrm>
          <a:prstGeom prst="line">
            <a:avLst/>
          </a:prstGeom>
          <a:ln w="15885">
            <a:solidFill>
              <a:srgbClr val="10B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6798926" y="5432786"/>
            <a:ext cx="206509" cy="206509"/>
          </a:xfrm>
          <a:prstGeom prst="ellipse">
            <a:avLst/>
          </a:prstGeom>
          <a:solidFill>
            <a:srgbClr val="FFFFFF"/>
          </a:solidFill>
          <a:ln w="15885">
            <a:solidFill>
              <a:srgbClr val="10B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6855716" y="5536041"/>
            <a:ext cx="36139" cy="34074"/>
          </a:xfrm>
          <a:prstGeom prst="line">
            <a:avLst/>
          </a:prstGeom>
          <a:ln w="15885">
            <a:solidFill>
              <a:srgbClr val="10B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6891855" y="5492674"/>
            <a:ext cx="64018" cy="77441"/>
          </a:xfrm>
          <a:prstGeom prst="line">
            <a:avLst/>
          </a:prstGeom>
          <a:ln w="15885">
            <a:solidFill>
              <a:srgbClr val="10B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 rot="20220000">
            <a:off x="7346970" y="5250105"/>
            <a:ext cx="373305" cy="3812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8"/>
              </a:lnSpc>
              <a:spcBef>
                <a:spcPts val="0"/>
              </a:spcBef>
              <a:spcAft>
                <a:spcPts val="0"/>
              </a:spcAft>
            </a:pPr>
            <a:r>
              <a:rPr sz="1563" b="1" i="0" u="none">
                <a:solidFill>
                  <a:srgbClr val="000000"/>
                </a:solidFill>
                <a:latin typeface="Lato"/>
              </a:rPr>
              <a:t>•••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868080" y="5869633"/>
            <a:ext cx="1818871" cy="508330"/>
          </a:xfrm>
          <a:prstGeom prst="rect">
            <a:avLst/>
          </a:prstGeom>
          <a:solidFill>
            <a:srgbClr val="FFFFFF"/>
          </a:solidFill>
          <a:ln w="7942">
            <a:solidFill>
              <a:srgbClr val="EEEEE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923679" y="5917289"/>
            <a:ext cx="1715616" cy="3971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687" b="0" i="0" u="none">
                <a:solidFill>
                  <a:srgbClr val="000000"/>
                </a:solidFill>
                <a:latin typeface="Lato"/>
              </a:rPr>
              <a:t>&lt;thinking&gt;...&lt;/thinking&gt;</a:t>
            </a:r>
          </a:p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687" b="0" i="0" u="none">
                <a:solidFill>
                  <a:srgbClr val="000000"/>
                </a:solidFill>
                <a:latin typeface="Lato"/>
              </a:rPr>
              <a:t>&lt;score&gt;...&lt;/score&gt;</a:t>
            </a:r>
          </a:p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687" b="0" i="0" u="none">
                <a:solidFill>
                  <a:srgbClr val="000000"/>
                </a:solidFill>
                <a:latin typeface="Lato"/>
              </a:rPr>
              <a:t>&lt;suggestion&gt;...&lt;/suggestion&gt;</a:t>
            </a:r>
          </a:p>
        </p:txBody>
      </p:sp>
      <p:sp>
        <p:nvSpPr>
          <p:cNvPr id="136" name="Oval 135"/>
          <p:cNvSpPr/>
          <p:nvPr/>
        </p:nvSpPr>
        <p:spPr>
          <a:xfrm>
            <a:off x="5361302" y="6068200"/>
            <a:ext cx="95312" cy="95312"/>
          </a:xfrm>
          <a:prstGeom prst="ellipse">
            <a:avLst/>
          </a:prstGeom>
          <a:solidFill>
            <a:srgbClr val="FFFFFF"/>
          </a:solidFill>
          <a:ln w="15885">
            <a:solidFill>
              <a:srgbClr val="E6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onnector 136"/>
          <p:cNvCxnSpPr/>
          <p:nvPr/>
        </p:nvCxnSpPr>
        <p:spPr>
          <a:xfrm>
            <a:off x="5390849" y="6097747"/>
            <a:ext cx="36219" cy="36218"/>
          </a:xfrm>
          <a:prstGeom prst="line">
            <a:avLst/>
          </a:prstGeom>
          <a:ln w="15885">
            <a:solidFill>
              <a:srgbClr val="E6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H="1">
            <a:off x="5390849" y="6097747"/>
            <a:ext cx="36219" cy="36218"/>
          </a:xfrm>
          <a:prstGeom prst="line">
            <a:avLst/>
          </a:prstGeom>
          <a:ln w="15885">
            <a:solidFill>
              <a:srgbClr val="E6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139" name="Oval 138"/>
          <p:cNvSpPr/>
          <p:nvPr/>
        </p:nvSpPr>
        <p:spPr>
          <a:xfrm>
            <a:off x="5361302" y="6219111"/>
            <a:ext cx="95312" cy="95312"/>
          </a:xfrm>
          <a:prstGeom prst="ellipse">
            <a:avLst/>
          </a:prstGeom>
          <a:solidFill>
            <a:srgbClr val="FFFFFF"/>
          </a:solidFill>
          <a:ln w="15885">
            <a:solidFill>
              <a:srgbClr val="10B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>
            <a:off x="5387513" y="6266767"/>
            <a:ext cx="16680" cy="15726"/>
          </a:xfrm>
          <a:prstGeom prst="line">
            <a:avLst/>
          </a:prstGeom>
          <a:ln w="15885">
            <a:solidFill>
              <a:srgbClr val="10B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5404193" y="6246751"/>
            <a:ext cx="29547" cy="35742"/>
          </a:xfrm>
          <a:prstGeom prst="line">
            <a:avLst/>
          </a:prstGeom>
          <a:ln w="15885">
            <a:solidFill>
              <a:srgbClr val="10B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5647239" y="6052315"/>
            <a:ext cx="254165" cy="2382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366"/>
              </a:lnSpc>
              <a:spcBef>
                <a:spcPts val="0"/>
              </a:spcBef>
              <a:spcAft>
                <a:spcPts val="0"/>
              </a:spcAft>
            </a:pPr>
            <a:r>
              <a:rPr sz="1188" b="1" i="0" u="none">
                <a:solidFill>
                  <a:srgbClr val="000000"/>
                </a:solidFill>
                <a:latin typeface="Lato"/>
              </a:rPr>
              <a:t>•••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837863" y="5869633"/>
            <a:ext cx="1755330" cy="508330"/>
          </a:xfrm>
          <a:prstGeom prst="rect">
            <a:avLst/>
          </a:prstGeom>
          <a:solidFill>
            <a:srgbClr val="FFFFFF"/>
          </a:solidFill>
          <a:ln w="7942">
            <a:solidFill>
              <a:srgbClr val="EEEEEE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901404" y="5917289"/>
            <a:ext cx="1644132" cy="39713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687" b="0" i="0" u="none">
                <a:solidFill>
                  <a:srgbClr val="000000"/>
                </a:solidFill>
                <a:latin typeface="Lato"/>
              </a:rPr>
              <a:t>&lt;thinking&gt;...&lt;/thinking&gt;</a:t>
            </a:r>
          </a:p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687" b="0" i="0" u="none">
                <a:solidFill>
                  <a:srgbClr val="000000"/>
                </a:solidFill>
                <a:latin typeface="Lato"/>
              </a:rPr>
              <a:t>&lt;score&gt;...&lt;/score&gt;</a:t>
            </a:r>
          </a:p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687" b="0" i="0" u="none">
                <a:solidFill>
                  <a:srgbClr val="000000"/>
                </a:solidFill>
                <a:latin typeface="Lato"/>
              </a:rPr>
              <a:t>&lt;suggestion&gt;...&lt;/suggestion&gt;</a:t>
            </a:r>
          </a:p>
        </p:txBody>
      </p:sp>
      <p:sp>
        <p:nvSpPr>
          <p:cNvPr id="145" name="Oval 144"/>
          <p:cNvSpPr/>
          <p:nvPr/>
        </p:nvSpPr>
        <p:spPr>
          <a:xfrm>
            <a:off x="7331085" y="6068200"/>
            <a:ext cx="95312" cy="95312"/>
          </a:xfrm>
          <a:prstGeom prst="ellipse">
            <a:avLst/>
          </a:prstGeom>
          <a:solidFill>
            <a:srgbClr val="FFFFFF"/>
          </a:solidFill>
          <a:ln w="15885">
            <a:solidFill>
              <a:srgbClr val="E6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6" name="Connector 145"/>
          <p:cNvCxnSpPr/>
          <p:nvPr/>
        </p:nvCxnSpPr>
        <p:spPr>
          <a:xfrm>
            <a:off x="7360632" y="6097747"/>
            <a:ext cx="36218" cy="36218"/>
          </a:xfrm>
          <a:prstGeom prst="line">
            <a:avLst/>
          </a:prstGeom>
          <a:ln w="15885">
            <a:solidFill>
              <a:srgbClr val="E6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H="1">
            <a:off x="7360632" y="6097747"/>
            <a:ext cx="36218" cy="36218"/>
          </a:xfrm>
          <a:prstGeom prst="line">
            <a:avLst/>
          </a:prstGeom>
          <a:ln w="15885">
            <a:solidFill>
              <a:srgbClr val="E6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148" name="Oval 147"/>
          <p:cNvSpPr/>
          <p:nvPr/>
        </p:nvSpPr>
        <p:spPr>
          <a:xfrm>
            <a:off x="7331085" y="6219111"/>
            <a:ext cx="95312" cy="95312"/>
          </a:xfrm>
          <a:prstGeom prst="ellipse">
            <a:avLst/>
          </a:prstGeom>
          <a:solidFill>
            <a:srgbClr val="FFFFFF"/>
          </a:solidFill>
          <a:ln w="15885">
            <a:solidFill>
              <a:srgbClr val="E6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9" name="Connector 148"/>
          <p:cNvCxnSpPr/>
          <p:nvPr/>
        </p:nvCxnSpPr>
        <p:spPr>
          <a:xfrm>
            <a:off x="7360632" y="6248658"/>
            <a:ext cx="36218" cy="36218"/>
          </a:xfrm>
          <a:prstGeom prst="line">
            <a:avLst/>
          </a:prstGeom>
          <a:ln w="15885">
            <a:solidFill>
              <a:srgbClr val="E6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H="1">
            <a:off x="7360632" y="6248658"/>
            <a:ext cx="36218" cy="36218"/>
          </a:xfrm>
          <a:prstGeom prst="line">
            <a:avLst/>
          </a:prstGeom>
          <a:ln w="15885">
            <a:solidFill>
              <a:srgbClr val="E6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151" name="Rounded Rectangle 150"/>
          <p:cNvSpPr/>
          <p:nvPr/>
        </p:nvSpPr>
        <p:spPr>
          <a:xfrm>
            <a:off x="4042819" y="6441506"/>
            <a:ext cx="3796596" cy="611585"/>
          </a:xfrm>
          <a:prstGeom prst="roundRect">
            <a:avLst>
              <a:gd name="adj" fmla="val 6493"/>
            </a:avLst>
          </a:prstGeom>
          <a:solidFill>
            <a:srgbClr val="E9F5E5"/>
          </a:solidFill>
          <a:ln w="9531">
            <a:solidFill>
              <a:srgbClr val="326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130188" y="6520932"/>
            <a:ext cx="1699731" cy="460674"/>
          </a:xfrm>
          <a:prstGeom prst="rect">
            <a:avLst/>
          </a:prstGeom>
          <a:solidFill>
            <a:srgbClr val="FFFFFF"/>
          </a:solidFill>
          <a:ln w="9531">
            <a:solidFill>
              <a:srgbClr val="63A845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185787" y="6560646"/>
            <a:ext cx="1596476" cy="3812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63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u="none">
                <a:solidFill>
                  <a:srgbClr val="000000"/>
                </a:solidFill>
                <a:latin typeface="Lato"/>
              </a:rPr>
              <a:t>&lt;thinking&gt;...&lt;/thinking&gt;</a:t>
            </a:r>
          </a:p>
          <a:p>
            <a:pPr algn="l">
              <a:lnSpc>
                <a:spcPts val="1063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u="none">
                <a:solidFill>
                  <a:srgbClr val="000000"/>
                </a:solidFill>
                <a:latin typeface="Lato"/>
              </a:rPr>
              <a:t>&lt;score&gt;...&lt;/score&gt;</a:t>
            </a:r>
          </a:p>
          <a:p>
            <a:pPr algn="l">
              <a:lnSpc>
                <a:spcPts val="1063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u="none">
                <a:solidFill>
                  <a:srgbClr val="000000"/>
                </a:solidFill>
                <a:latin typeface="Lato"/>
              </a:rPr>
              <a:t>&lt;suggestion&gt;...&lt;/suggestion&gt;</a:t>
            </a:r>
          </a:p>
        </p:txBody>
      </p:sp>
      <p:sp>
        <p:nvSpPr>
          <p:cNvPr id="154" name="Oval 153"/>
          <p:cNvSpPr/>
          <p:nvPr/>
        </p:nvSpPr>
        <p:spPr>
          <a:xfrm>
            <a:off x="5361302" y="6703614"/>
            <a:ext cx="95312" cy="95312"/>
          </a:xfrm>
          <a:prstGeom prst="ellipse">
            <a:avLst/>
          </a:prstGeom>
          <a:solidFill>
            <a:srgbClr val="FFFFFF"/>
          </a:solidFill>
          <a:ln w="15885">
            <a:solidFill>
              <a:srgbClr val="10B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5" name="Connector 154"/>
          <p:cNvCxnSpPr/>
          <p:nvPr/>
        </p:nvCxnSpPr>
        <p:spPr>
          <a:xfrm>
            <a:off x="5387513" y="6751270"/>
            <a:ext cx="16680" cy="15726"/>
          </a:xfrm>
          <a:prstGeom prst="line">
            <a:avLst/>
          </a:prstGeom>
          <a:ln w="15885">
            <a:solidFill>
              <a:srgbClr val="10B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5404193" y="6731254"/>
            <a:ext cx="29547" cy="35742"/>
          </a:xfrm>
          <a:prstGeom prst="line">
            <a:avLst/>
          </a:prstGeom>
          <a:ln w="15885">
            <a:solidFill>
              <a:srgbClr val="10B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157" name="Oval 156"/>
          <p:cNvSpPr/>
          <p:nvPr/>
        </p:nvSpPr>
        <p:spPr>
          <a:xfrm>
            <a:off x="5361302" y="6870410"/>
            <a:ext cx="95312" cy="95312"/>
          </a:xfrm>
          <a:prstGeom prst="ellipse">
            <a:avLst/>
          </a:prstGeom>
          <a:solidFill>
            <a:srgbClr val="FFFFFF"/>
          </a:solidFill>
          <a:ln w="15885">
            <a:solidFill>
              <a:srgbClr val="10B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8" name="Connector 157"/>
          <p:cNvCxnSpPr/>
          <p:nvPr/>
        </p:nvCxnSpPr>
        <p:spPr>
          <a:xfrm>
            <a:off x="5387513" y="6918066"/>
            <a:ext cx="16680" cy="15726"/>
          </a:xfrm>
          <a:prstGeom prst="line">
            <a:avLst/>
          </a:prstGeom>
          <a:ln w="15885">
            <a:solidFill>
              <a:srgbClr val="10B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5404193" y="6898050"/>
            <a:ext cx="29547" cy="35742"/>
          </a:xfrm>
          <a:prstGeom prst="line">
            <a:avLst/>
          </a:prstGeom>
          <a:ln w="15885">
            <a:solidFill>
              <a:srgbClr val="10B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5798149" y="6687728"/>
            <a:ext cx="238280" cy="2382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94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 u="none">
                <a:solidFill>
                  <a:srgbClr val="000000"/>
                </a:solidFill>
                <a:latin typeface="Lato"/>
              </a:rPr>
              <a:t>•••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6084085" y="6520932"/>
            <a:ext cx="1660018" cy="460674"/>
          </a:xfrm>
          <a:prstGeom prst="rect">
            <a:avLst/>
          </a:prstGeom>
          <a:solidFill>
            <a:srgbClr val="FFFFFF"/>
          </a:solidFill>
          <a:ln w="9531">
            <a:solidFill>
              <a:srgbClr val="63A845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139684" y="6560646"/>
            <a:ext cx="1556763" cy="38124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63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u="none">
                <a:solidFill>
                  <a:srgbClr val="000000"/>
                </a:solidFill>
                <a:latin typeface="Lato"/>
              </a:rPr>
              <a:t>&lt;thinking&gt;...&lt;/thinking&gt;</a:t>
            </a:r>
          </a:p>
          <a:p>
            <a:pPr algn="l">
              <a:lnSpc>
                <a:spcPts val="1063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u="none">
                <a:solidFill>
                  <a:srgbClr val="000000"/>
                </a:solidFill>
                <a:latin typeface="Lato"/>
              </a:rPr>
              <a:t>&lt;score&gt;...&lt;/score&gt;</a:t>
            </a:r>
          </a:p>
          <a:p>
            <a:pPr algn="l">
              <a:lnSpc>
                <a:spcPts val="1063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u="none">
                <a:solidFill>
                  <a:srgbClr val="000000"/>
                </a:solidFill>
                <a:latin typeface="Lato"/>
              </a:rPr>
              <a:t>&lt;suggestion&gt;...&lt;/suggestion&gt;</a:t>
            </a:r>
          </a:p>
        </p:txBody>
      </p:sp>
      <p:sp>
        <p:nvSpPr>
          <p:cNvPr id="163" name="Oval 162"/>
          <p:cNvSpPr/>
          <p:nvPr/>
        </p:nvSpPr>
        <p:spPr>
          <a:xfrm>
            <a:off x="7315200" y="6703614"/>
            <a:ext cx="95312" cy="95312"/>
          </a:xfrm>
          <a:prstGeom prst="ellipse">
            <a:avLst/>
          </a:prstGeom>
          <a:solidFill>
            <a:srgbClr val="FFFFFF"/>
          </a:solidFill>
          <a:ln w="15885">
            <a:solidFill>
              <a:srgbClr val="10B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4" name="Connector 163"/>
          <p:cNvCxnSpPr/>
          <p:nvPr/>
        </p:nvCxnSpPr>
        <p:spPr>
          <a:xfrm>
            <a:off x="7341410" y="6751270"/>
            <a:ext cx="16680" cy="15726"/>
          </a:xfrm>
          <a:prstGeom prst="line">
            <a:avLst/>
          </a:prstGeom>
          <a:ln w="15885">
            <a:solidFill>
              <a:srgbClr val="10B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7358090" y="6731254"/>
            <a:ext cx="29547" cy="35742"/>
          </a:xfrm>
          <a:prstGeom prst="line">
            <a:avLst/>
          </a:prstGeom>
          <a:ln w="15885">
            <a:solidFill>
              <a:srgbClr val="10B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166" name="Oval 165"/>
          <p:cNvSpPr/>
          <p:nvPr/>
        </p:nvSpPr>
        <p:spPr>
          <a:xfrm>
            <a:off x="7315200" y="6870410"/>
            <a:ext cx="95312" cy="95312"/>
          </a:xfrm>
          <a:prstGeom prst="ellipse">
            <a:avLst/>
          </a:prstGeom>
          <a:solidFill>
            <a:srgbClr val="FFFFFF"/>
          </a:solidFill>
          <a:ln w="15885">
            <a:solidFill>
              <a:srgbClr val="10B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7" name="Connector 166"/>
          <p:cNvCxnSpPr/>
          <p:nvPr/>
        </p:nvCxnSpPr>
        <p:spPr>
          <a:xfrm>
            <a:off x="7341410" y="6918066"/>
            <a:ext cx="16680" cy="15726"/>
          </a:xfrm>
          <a:prstGeom prst="line">
            <a:avLst/>
          </a:prstGeom>
          <a:ln w="15885">
            <a:solidFill>
              <a:srgbClr val="10B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7358090" y="6898050"/>
            <a:ext cx="29547" cy="35742"/>
          </a:xfrm>
          <a:prstGeom prst="line">
            <a:avLst/>
          </a:prstGeom>
          <a:ln w="15885">
            <a:solidFill>
              <a:srgbClr val="10B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169" name="Rounded Rectangle 168"/>
          <p:cNvSpPr/>
          <p:nvPr/>
        </p:nvSpPr>
        <p:spPr>
          <a:xfrm>
            <a:off x="7156346" y="6362079"/>
            <a:ext cx="881636" cy="222394"/>
          </a:xfrm>
          <a:prstGeom prst="roundRect">
            <a:avLst>
              <a:gd name="adj" fmla="val 46428"/>
            </a:avLst>
          </a:prstGeom>
          <a:solidFill>
            <a:srgbClr val="FFF2AD"/>
          </a:solidFill>
          <a:ln w="11119">
            <a:solidFill>
              <a:srgbClr val="F0B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219887" y="6393850"/>
            <a:ext cx="166796" cy="166796"/>
          </a:xfrm>
          <a:prstGeom prst="ellipse">
            <a:avLst/>
          </a:prstGeom>
          <a:solidFill>
            <a:srgbClr val="FFE477"/>
          </a:solidFill>
          <a:ln w="11914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267543" y="6441506"/>
            <a:ext cx="20650" cy="206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323142" y="6441506"/>
            <a:ext cx="20650" cy="2065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3" name="Connector 172"/>
          <p:cNvCxnSpPr/>
          <p:nvPr/>
        </p:nvCxnSpPr>
        <p:spPr>
          <a:xfrm>
            <a:off x="7267543" y="6497104"/>
            <a:ext cx="31771" cy="23828"/>
          </a:xfrm>
          <a:prstGeom prst="line">
            <a:avLst/>
          </a:prstGeom>
          <a:ln w="103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7299314" y="6497104"/>
            <a:ext cx="39714" cy="23828"/>
          </a:xfrm>
          <a:prstGeom prst="line">
            <a:avLst/>
          </a:prstGeom>
          <a:ln w="103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7402569" y="6377964"/>
            <a:ext cx="603642" cy="19856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 u="none">
                <a:solidFill>
                  <a:srgbClr val="000000"/>
                </a:solidFill>
                <a:latin typeface="Liberation Serif"/>
              </a:rPr>
              <a:t>Select!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952943" y="206509"/>
            <a:ext cx="1723559" cy="325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45"/>
              </a:lnSpc>
              <a:spcBef>
                <a:spcPts val="0"/>
              </a:spcBef>
              <a:spcAft>
                <a:spcPts val="0"/>
              </a:spcAft>
            </a:pPr>
            <a:r>
              <a:rPr sz="2126" b="1" i="0" u="none">
                <a:solidFill>
                  <a:srgbClr val="000000"/>
                </a:solidFill>
                <a:latin typeface="Liberation Serif"/>
              </a:rPr>
              <a:t>GUI-Critic-R1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705167" y="667184"/>
            <a:ext cx="1747387" cy="325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57"/>
              </a:lnSpc>
              <a:spcBef>
                <a:spcPts val="0"/>
              </a:spcBef>
              <a:spcAft>
                <a:spcPts val="0"/>
              </a:spcAft>
            </a:pPr>
            <a:r>
              <a:rPr sz="1876" b="1" i="0" u="none">
                <a:solidFill>
                  <a:srgbClr val="000000"/>
                </a:solidFill>
                <a:latin typeface="Liberation Serif"/>
              </a:rPr>
              <a:t>RFT Cold-Start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0404899" y="746611"/>
            <a:ext cx="3860138" cy="270050"/>
          </a:xfrm>
          <a:prstGeom prst="rect">
            <a:avLst/>
          </a:prstGeom>
          <a:solidFill>
            <a:srgbClr val="FFFFFF"/>
          </a:solidFill>
          <a:ln w="9531">
            <a:solidFill>
              <a:srgbClr val="969696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0460497" y="786324"/>
            <a:ext cx="3748940" cy="1906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22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 u="none">
                <a:solidFill>
                  <a:srgbClr val="000000"/>
                </a:solidFill>
                <a:latin typeface="Lato"/>
              </a:rPr>
              <a:t>Task Instruction; Operation History; Screenshot; Action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674173" y="1127859"/>
            <a:ext cx="1270827" cy="2223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sz="1375" b="0" i="0" u="none">
                <a:solidFill>
                  <a:srgbClr val="000000"/>
                </a:solidFill>
                <a:latin typeface="Liberation Serif"/>
              </a:rPr>
              <a:t>GUI-Critic Dataset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8768708" y="1453508"/>
            <a:ext cx="913407" cy="341534"/>
          </a:xfrm>
          <a:prstGeom prst="rect">
            <a:avLst/>
          </a:prstGeom>
          <a:solidFill>
            <a:srgbClr val="FFFCE5"/>
          </a:solidFill>
          <a:ln w="9531">
            <a:solidFill>
              <a:srgbClr val="F0B5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8816364" y="1493222"/>
            <a:ext cx="826037" cy="2462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87" b="0" i="0" u="none">
                <a:solidFill>
                  <a:srgbClr val="000000"/>
                </a:solidFill>
                <a:latin typeface="Lato"/>
              </a:rPr>
              <a:t>&lt;score&gt;...&lt;/score&gt;</a:t>
            </a:r>
          </a:p>
          <a:p>
            <a:pPr algn="l">
              <a:lnSpc>
                <a:spcPts val="1000"/>
              </a:lnSpc>
              <a:spcBef>
                <a:spcPts val="0"/>
              </a:spcBef>
              <a:spcAft>
                <a:spcPts val="0"/>
              </a:spcAft>
            </a:pPr>
            <a:r>
              <a:rPr sz="687" b="0" i="0" u="none">
                <a:solidFill>
                  <a:srgbClr val="000000"/>
                </a:solidFill>
                <a:latin typeface="Lato"/>
              </a:rPr>
              <a:t>&lt;suggestion&gt;...&lt;/suggestion&gt;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0404899" y="1413795"/>
            <a:ext cx="1453508" cy="428904"/>
          </a:xfrm>
          <a:prstGeom prst="rect">
            <a:avLst/>
          </a:prstGeom>
          <a:solidFill>
            <a:srgbClr val="EEF7E9"/>
          </a:solidFill>
          <a:ln w="14296">
            <a:solidFill>
              <a:srgbClr val="63A84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476383" y="1461451"/>
            <a:ext cx="1318483" cy="325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75"/>
              </a:lnSpc>
              <a:spcBef>
                <a:spcPts val="0"/>
              </a:spcBef>
              <a:spcAft>
                <a:spcPts val="0"/>
              </a:spcAft>
            </a:pPr>
            <a:r>
              <a:rPr sz="687" b="0" i="0" u="none">
                <a:solidFill>
                  <a:srgbClr val="000000"/>
                </a:solidFill>
                <a:latin typeface="Lato"/>
              </a:rPr>
              <a:t>&lt;thinking&gt;...&lt;/thinking&gt;</a:t>
            </a:r>
          </a:p>
          <a:p>
            <a:pPr algn="l">
              <a:lnSpc>
                <a:spcPts val="875"/>
              </a:lnSpc>
              <a:spcBef>
                <a:spcPts val="0"/>
              </a:spcBef>
              <a:spcAft>
                <a:spcPts val="0"/>
              </a:spcAft>
            </a:pPr>
            <a:r>
              <a:rPr sz="687" b="0" i="0" u="none">
                <a:solidFill>
                  <a:srgbClr val="000000"/>
                </a:solidFill>
                <a:latin typeface="Lato"/>
              </a:rPr>
              <a:t>&lt;score&gt;...&lt;/score&gt;</a:t>
            </a:r>
          </a:p>
          <a:p>
            <a:pPr algn="l">
              <a:lnSpc>
                <a:spcPts val="875"/>
              </a:lnSpc>
              <a:spcBef>
                <a:spcPts val="0"/>
              </a:spcBef>
              <a:spcAft>
                <a:spcPts val="0"/>
              </a:spcAft>
            </a:pPr>
            <a:r>
              <a:rPr sz="687" b="0" i="0" u="none">
                <a:solidFill>
                  <a:srgbClr val="000000"/>
                </a:solidFill>
                <a:latin typeface="Lato"/>
              </a:rPr>
              <a:t>&lt;suggestion&gt;...&lt;/suggestion&gt;</a:t>
            </a:r>
          </a:p>
        </p:txBody>
      </p:sp>
      <p:sp>
        <p:nvSpPr>
          <p:cNvPr id="185" name="Oval 184"/>
          <p:cNvSpPr/>
          <p:nvPr/>
        </p:nvSpPr>
        <p:spPr>
          <a:xfrm>
            <a:off x="9431921" y="1846671"/>
            <a:ext cx="39713" cy="3971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9431921" y="1910212"/>
            <a:ext cx="39713" cy="3971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9431921" y="1973753"/>
            <a:ext cx="39713" cy="3971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11012513" y="1854613"/>
            <a:ext cx="39713" cy="3971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11012513" y="1918155"/>
            <a:ext cx="39713" cy="3971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1012513" y="1981696"/>
            <a:ext cx="39713" cy="3971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768708" y="2168349"/>
            <a:ext cx="913407" cy="333592"/>
          </a:xfrm>
          <a:prstGeom prst="rect">
            <a:avLst/>
          </a:prstGeom>
          <a:solidFill>
            <a:srgbClr val="FFFCE5"/>
          </a:solidFill>
          <a:ln w="9531">
            <a:solidFill>
              <a:srgbClr val="F0B5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8816364" y="2208062"/>
            <a:ext cx="826037" cy="2382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687" b="0" i="0" u="none">
                <a:solidFill>
                  <a:srgbClr val="000000"/>
                </a:solidFill>
                <a:latin typeface="Lato"/>
              </a:rPr>
              <a:t>&lt;score&gt;...&lt;/score&gt;</a:t>
            </a:r>
          </a:p>
          <a:p>
            <a:pPr algn="l">
              <a:lnSpc>
                <a:spcPts val="938"/>
              </a:lnSpc>
              <a:spcBef>
                <a:spcPts val="0"/>
              </a:spcBef>
              <a:spcAft>
                <a:spcPts val="0"/>
              </a:spcAft>
            </a:pPr>
            <a:r>
              <a:rPr sz="687" b="0" i="0" u="none">
                <a:solidFill>
                  <a:srgbClr val="000000"/>
                </a:solidFill>
                <a:latin typeface="Lato"/>
              </a:rPr>
              <a:t>&lt;suggestion&gt;...&lt;/suggestion&gt;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0404899" y="2144521"/>
            <a:ext cx="1461451" cy="428904"/>
          </a:xfrm>
          <a:prstGeom prst="rect">
            <a:avLst/>
          </a:prstGeom>
          <a:solidFill>
            <a:srgbClr val="EEF7E9"/>
          </a:solidFill>
          <a:ln w="14296">
            <a:solidFill>
              <a:srgbClr val="63A84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0476383" y="2192177"/>
            <a:ext cx="1326426" cy="3256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75"/>
              </a:lnSpc>
              <a:spcBef>
                <a:spcPts val="0"/>
              </a:spcBef>
              <a:spcAft>
                <a:spcPts val="0"/>
              </a:spcAft>
            </a:pPr>
            <a:r>
              <a:rPr sz="687" b="0" i="0" u="none">
                <a:solidFill>
                  <a:srgbClr val="000000"/>
                </a:solidFill>
                <a:latin typeface="Lato"/>
              </a:rPr>
              <a:t>&lt;thinking&gt;...&lt;/thinking&gt;</a:t>
            </a:r>
          </a:p>
          <a:p>
            <a:pPr algn="l">
              <a:lnSpc>
                <a:spcPts val="875"/>
              </a:lnSpc>
              <a:spcBef>
                <a:spcPts val="0"/>
              </a:spcBef>
              <a:spcAft>
                <a:spcPts val="0"/>
              </a:spcAft>
            </a:pPr>
            <a:r>
              <a:rPr sz="687" b="0" i="0" u="none">
                <a:solidFill>
                  <a:srgbClr val="000000"/>
                </a:solidFill>
                <a:latin typeface="Lato"/>
              </a:rPr>
              <a:t>&lt;score&gt;...&lt;/score&gt;</a:t>
            </a:r>
          </a:p>
          <a:p>
            <a:pPr algn="l">
              <a:lnSpc>
                <a:spcPts val="875"/>
              </a:lnSpc>
              <a:spcBef>
                <a:spcPts val="0"/>
              </a:spcBef>
              <a:spcAft>
                <a:spcPts val="0"/>
              </a:spcAft>
            </a:pPr>
            <a:r>
              <a:rPr sz="687" b="0" i="0" u="none">
                <a:solidFill>
                  <a:srgbClr val="000000"/>
                </a:solidFill>
                <a:latin typeface="Lato"/>
              </a:rPr>
              <a:t>&lt;suggestion&gt;...&lt;/suggestion&gt;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12505735" y="1858902"/>
            <a:ext cx="0" cy="72914"/>
          </a:xfrm>
          <a:prstGeom prst="line">
            <a:avLst/>
          </a:prstGeom>
          <a:ln w="16203">
            <a:solidFill>
              <a:srgbClr val="425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12473329" y="1818395"/>
            <a:ext cx="64812" cy="64812"/>
          </a:xfrm>
          <a:prstGeom prst="ellipse">
            <a:avLst/>
          </a:prstGeom>
          <a:solidFill>
            <a:srgbClr val="88BCE6"/>
          </a:solidFill>
          <a:ln w="16203">
            <a:solidFill>
              <a:srgbClr val="42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2368009" y="1915613"/>
            <a:ext cx="275451" cy="202538"/>
          </a:xfrm>
          <a:prstGeom prst="ellipse">
            <a:avLst/>
          </a:prstGeom>
          <a:solidFill>
            <a:srgbClr val="EAF3FB"/>
          </a:solidFill>
          <a:ln w="24304">
            <a:solidFill>
              <a:srgbClr val="42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12408517" y="1972324"/>
            <a:ext cx="194436" cy="810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6203">
            <a:solidFill>
              <a:srgbClr val="42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2449024" y="1996628"/>
            <a:ext cx="32406" cy="32406"/>
          </a:xfrm>
          <a:prstGeom prst="ellipse">
            <a:avLst/>
          </a:prstGeom>
          <a:solidFill>
            <a:srgbClr val="88BCE6"/>
          </a:solidFill>
          <a:ln w="8101">
            <a:solidFill>
              <a:srgbClr val="42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2530040" y="1996628"/>
            <a:ext cx="32406" cy="32406"/>
          </a:xfrm>
          <a:prstGeom prst="ellipse">
            <a:avLst/>
          </a:prstGeom>
          <a:solidFill>
            <a:srgbClr val="88BCE6"/>
          </a:solidFill>
          <a:ln w="8101">
            <a:solidFill>
              <a:srgbClr val="42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12327501" y="1964222"/>
            <a:ext cx="40507" cy="113421"/>
          </a:xfrm>
          <a:prstGeom prst="roundRect">
            <a:avLst>
              <a:gd name="adj" fmla="val 40000"/>
            </a:avLst>
          </a:prstGeom>
          <a:solidFill>
            <a:srgbClr val="42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12643461" y="1964222"/>
            <a:ext cx="40507" cy="113421"/>
          </a:xfrm>
          <a:prstGeom prst="roundRect">
            <a:avLst>
              <a:gd name="adj" fmla="val 40000"/>
            </a:avLst>
          </a:prstGeom>
          <a:solidFill>
            <a:srgbClr val="42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12144343" y="2208062"/>
            <a:ext cx="698955" cy="35742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 u="none">
                <a:solidFill>
                  <a:srgbClr val="000000"/>
                </a:solidFill>
                <a:latin typeface="Lato"/>
              </a:rPr>
              <a:t>Baseline</a:t>
            </a:r>
          </a:p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 u="none">
                <a:solidFill>
                  <a:srgbClr val="000000"/>
                </a:solidFill>
                <a:latin typeface="Lato"/>
              </a:rPr>
              <a:t>Model</a:t>
            </a:r>
          </a:p>
        </p:txBody>
      </p:sp>
      <p:sp>
        <p:nvSpPr>
          <p:cNvPr id="204" name="Oval 203"/>
          <p:cNvSpPr/>
          <p:nvPr/>
        </p:nvSpPr>
        <p:spPr>
          <a:xfrm>
            <a:off x="13399285" y="1167572"/>
            <a:ext cx="373305" cy="373305"/>
          </a:xfrm>
          <a:prstGeom prst="ellipse">
            <a:avLst/>
          </a:prstGeom>
          <a:solidFill>
            <a:srgbClr val="F6DD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13502540" y="1254942"/>
            <a:ext cx="166796" cy="190624"/>
          </a:xfrm>
          <a:prstGeom prst="ellipse">
            <a:avLst/>
          </a:prstGeom>
          <a:solidFill>
            <a:srgbClr val="F4B8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6" name="Connector 205"/>
          <p:cNvCxnSpPr/>
          <p:nvPr/>
        </p:nvCxnSpPr>
        <p:spPr>
          <a:xfrm>
            <a:off x="13581967" y="1302598"/>
            <a:ext cx="0" cy="119140"/>
          </a:xfrm>
          <a:prstGeom prst="line">
            <a:avLst/>
          </a:prstGeom>
          <a:ln w="953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3550196" y="1397910"/>
            <a:ext cx="63542" cy="0"/>
          </a:xfrm>
          <a:prstGeom prst="line">
            <a:avLst/>
          </a:prstGeom>
          <a:ln w="9531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208" name="TextBox 207"/>
          <p:cNvSpPr txBox="1"/>
          <p:nvPr/>
        </p:nvSpPr>
        <p:spPr>
          <a:xfrm>
            <a:off x="13184833" y="1469394"/>
            <a:ext cx="818095" cy="54010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38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 u="none">
                <a:solidFill>
                  <a:srgbClr val="000000"/>
                </a:solidFill>
                <a:latin typeface="Lato"/>
              </a:rPr>
              <a:t>Reinforced</a:t>
            </a:r>
          </a:p>
          <a:p>
            <a:pPr algn="ctr">
              <a:lnSpc>
                <a:spcPts val="1438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 u="none">
                <a:solidFill>
                  <a:srgbClr val="000000"/>
                </a:solidFill>
                <a:latin typeface="Lato"/>
              </a:rPr>
              <a:t>Fine-Tuning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13375457" y="1969782"/>
            <a:ext cx="328508" cy="440500"/>
          </a:xfrm>
          <a:prstGeom prst="roundRect">
            <a:avLst>
              <a:gd name="adj" fmla="val 13636"/>
            </a:avLst>
          </a:prstGeom>
          <a:solidFill>
            <a:srgbClr val="1673D1"/>
          </a:solidFill>
          <a:ln w="11119">
            <a:solidFill>
              <a:srgbClr val="0757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ounded Rectangle 209"/>
          <p:cNvSpPr/>
          <p:nvPr/>
        </p:nvSpPr>
        <p:spPr>
          <a:xfrm>
            <a:off x="13412788" y="1992180"/>
            <a:ext cx="253847" cy="365839"/>
          </a:xfrm>
          <a:prstGeom prst="roundRect">
            <a:avLst>
              <a:gd name="adj" fmla="val 8823"/>
            </a:avLst>
          </a:prstGeom>
          <a:solidFill>
            <a:srgbClr val="DF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13517314" y="2372952"/>
            <a:ext cx="44796" cy="22398"/>
          </a:xfrm>
          <a:prstGeom prst="ellipse">
            <a:avLst/>
          </a:prstGeom>
          <a:solidFill>
            <a:srgbClr val="E9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ounded Rectangle 211"/>
          <p:cNvSpPr/>
          <p:nvPr/>
        </p:nvSpPr>
        <p:spPr>
          <a:xfrm>
            <a:off x="13435186" y="2074307"/>
            <a:ext cx="44796" cy="164254"/>
          </a:xfrm>
          <a:prstGeom prst="roundRect">
            <a:avLst>
              <a:gd name="adj" fmla="val 33333"/>
            </a:avLst>
          </a:prstGeom>
          <a:solidFill>
            <a:srgbClr val="FF9C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3" name="Connector 212"/>
          <p:cNvCxnSpPr/>
          <p:nvPr/>
        </p:nvCxnSpPr>
        <p:spPr>
          <a:xfrm>
            <a:off x="13539712" y="2104172"/>
            <a:ext cx="89593" cy="0"/>
          </a:xfrm>
          <a:prstGeom prst="line">
            <a:avLst/>
          </a:prstGeom>
          <a:ln w="9531">
            <a:solidFill>
              <a:srgbClr val="7EAE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4578772" y="1858902"/>
            <a:ext cx="0" cy="72914"/>
          </a:xfrm>
          <a:prstGeom prst="line">
            <a:avLst/>
          </a:prstGeom>
          <a:ln w="16203">
            <a:solidFill>
              <a:srgbClr val="425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215" name="Oval 214"/>
          <p:cNvSpPr/>
          <p:nvPr/>
        </p:nvSpPr>
        <p:spPr>
          <a:xfrm>
            <a:off x="14546366" y="1818395"/>
            <a:ext cx="64812" cy="64812"/>
          </a:xfrm>
          <a:prstGeom prst="ellipse">
            <a:avLst/>
          </a:prstGeom>
          <a:solidFill>
            <a:srgbClr val="88BCE6"/>
          </a:solidFill>
          <a:ln w="16203">
            <a:solidFill>
              <a:srgbClr val="42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4441046" y="1915613"/>
            <a:ext cx="275451" cy="202538"/>
          </a:xfrm>
          <a:prstGeom prst="ellipse">
            <a:avLst/>
          </a:prstGeom>
          <a:solidFill>
            <a:srgbClr val="EAF3FB"/>
          </a:solidFill>
          <a:ln w="24304">
            <a:solidFill>
              <a:srgbClr val="42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ounded Rectangle 216"/>
          <p:cNvSpPr/>
          <p:nvPr/>
        </p:nvSpPr>
        <p:spPr>
          <a:xfrm>
            <a:off x="14481554" y="1972324"/>
            <a:ext cx="194436" cy="8101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6203">
            <a:solidFill>
              <a:srgbClr val="42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4522061" y="1996628"/>
            <a:ext cx="32406" cy="32406"/>
          </a:xfrm>
          <a:prstGeom prst="ellipse">
            <a:avLst/>
          </a:prstGeom>
          <a:solidFill>
            <a:srgbClr val="88BCE6"/>
          </a:solidFill>
          <a:ln w="8101">
            <a:solidFill>
              <a:srgbClr val="42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4603077" y="1996628"/>
            <a:ext cx="32406" cy="32406"/>
          </a:xfrm>
          <a:prstGeom prst="ellipse">
            <a:avLst/>
          </a:prstGeom>
          <a:solidFill>
            <a:srgbClr val="88BCE6"/>
          </a:solidFill>
          <a:ln w="8101">
            <a:solidFill>
              <a:srgbClr val="42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ounded Rectangle 219"/>
          <p:cNvSpPr/>
          <p:nvPr/>
        </p:nvSpPr>
        <p:spPr>
          <a:xfrm>
            <a:off x="14400539" y="1964222"/>
            <a:ext cx="40507" cy="113421"/>
          </a:xfrm>
          <a:prstGeom prst="roundRect">
            <a:avLst>
              <a:gd name="adj" fmla="val 40000"/>
            </a:avLst>
          </a:prstGeom>
          <a:solidFill>
            <a:srgbClr val="42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ounded Rectangle 220"/>
          <p:cNvSpPr/>
          <p:nvPr/>
        </p:nvSpPr>
        <p:spPr>
          <a:xfrm>
            <a:off x="14716498" y="1964222"/>
            <a:ext cx="40507" cy="113421"/>
          </a:xfrm>
          <a:prstGeom prst="roundRect">
            <a:avLst>
              <a:gd name="adj" fmla="val 40000"/>
            </a:avLst>
          </a:prstGeom>
          <a:solidFill>
            <a:srgbClr val="42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4201495" y="2208062"/>
            <a:ext cx="1000776" cy="3653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 u="none">
                <a:solidFill>
                  <a:srgbClr val="000000"/>
                </a:solidFill>
                <a:latin typeface="Lato"/>
              </a:rPr>
              <a:t>RFT Initialized</a:t>
            </a:r>
          </a:p>
          <a:p>
            <a:pPr algn="ctr">
              <a:lnSpc>
                <a:spcPts val="1250"/>
              </a:lnSpc>
              <a:spcBef>
                <a:spcPts val="0"/>
              </a:spcBef>
              <a:spcAft>
                <a:spcPts val="0"/>
              </a:spcAft>
            </a:pPr>
            <a:r>
              <a:rPr sz="1063" b="0" i="0" u="none">
                <a:solidFill>
                  <a:srgbClr val="000000"/>
                </a:solidFill>
                <a:latin typeface="Lato"/>
              </a:rPr>
              <a:t>Model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8673396" y="3026157"/>
            <a:ext cx="6314423" cy="30976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13"/>
              </a:lnSpc>
              <a:spcBef>
                <a:spcPts val="0"/>
              </a:spcBef>
              <a:spcAft>
                <a:spcPts val="0"/>
              </a:spcAft>
            </a:pPr>
            <a:r>
              <a:rPr sz="1751" b="1" i="0" u="none">
                <a:solidFill>
                  <a:srgbClr val="000000"/>
                </a:solidFill>
                <a:latin typeface="Liberation Serif"/>
              </a:rPr>
              <a:t>Suggestion-Aware Group Relative Policy Optimization (S-GRPO)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967275" y="3478889"/>
            <a:ext cx="627471" cy="27799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98"/>
              </a:lnSpc>
              <a:spcBef>
                <a:spcPts val="0"/>
              </a:spcBef>
              <a:spcAft>
                <a:spcPts val="0"/>
              </a:spcAft>
            </a:pPr>
            <a:r>
              <a:rPr sz="1563" b="0" i="0" u="none">
                <a:solidFill>
                  <a:srgbClr val="000000"/>
                </a:solidFill>
                <a:latin typeface="Lato"/>
              </a:rPr>
              <a:t>Query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9594746" y="3383577"/>
            <a:ext cx="2652852" cy="420961"/>
          </a:xfrm>
          <a:prstGeom prst="rect">
            <a:avLst/>
          </a:prstGeom>
          <a:solidFill>
            <a:srgbClr val="FFFFFF"/>
          </a:solidFill>
          <a:ln w="8736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9698001" y="3470947"/>
            <a:ext cx="2454285" cy="270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000000"/>
                </a:solidFill>
                <a:latin typeface="Lato"/>
              </a:rPr>
              <a:t>Task Instruction; Operation History;</a:t>
            </a:r>
          </a:p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u="none">
                <a:solidFill>
                  <a:srgbClr val="000000"/>
                </a:solidFill>
                <a:latin typeface="Lato"/>
              </a:rPr>
              <a:t>Screenshot; Action</a:t>
            </a:r>
          </a:p>
        </p:txBody>
      </p:sp>
      <p:sp>
        <p:nvSpPr>
          <p:cNvPr id="227" name="Freeform 226"/>
          <p:cNvSpPr/>
          <p:nvPr/>
        </p:nvSpPr>
        <p:spPr>
          <a:xfrm>
            <a:off x="9507377" y="4082532"/>
            <a:ext cx="357390" cy="127072"/>
          </a:xfrm>
          <a:custGeom>
            <a:avLst/>
            <a:gdLst/>
            <a:ahLst/>
            <a:cxnLst/>
            <a:rect l="l" t="t" r="r" b="b"/>
            <a:pathLst>
              <a:path w="45" h="16">
                <a:moveTo>
                  <a:pt x="0" y="8"/>
                </a:moveTo>
                <a:lnTo>
                  <a:pt x="22" y="0"/>
                </a:lnTo>
                <a:lnTo>
                  <a:pt x="45" y="8"/>
                </a:lnTo>
                <a:lnTo>
                  <a:pt x="22" y="16"/>
                </a:lnTo>
                <a:close/>
              </a:path>
            </a:pathLst>
          </a:custGeom>
          <a:solidFill>
            <a:srgbClr val="333333"/>
          </a:solidFill>
          <a:ln w="7942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624611" y="4186740"/>
            <a:ext cx="162824" cy="2605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9" name="Connector 228"/>
          <p:cNvCxnSpPr/>
          <p:nvPr/>
        </p:nvCxnSpPr>
        <p:spPr>
          <a:xfrm>
            <a:off x="9820000" y="4147662"/>
            <a:ext cx="0" cy="97695"/>
          </a:xfrm>
          <a:prstGeom prst="line">
            <a:avLst/>
          </a:prstGeom>
          <a:ln w="103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230" name="Oval 229"/>
          <p:cNvSpPr/>
          <p:nvPr/>
        </p:nvSpPr>
        <p:spPr>
          <a:xfrm>
            <a:off x="9806974" y="4232331"/>
            <a:ext cx="26051" cy="26051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9189670" y="4352583"/>
            <a:ext cx="984891" cy="20650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</a:pPr>
            <a:r>
              <a:rPr sz="1313" b="0" i="0" u="none">
                <a:solidFill>
                  <a:srgbClr val="4D79D5"/>
                </a:solidFill>
                <a:latin typeface="Liberation Serif"/>
              </a:rPr>
              <a:t>Optimization</a:t>
            </a:r>
          </a:p>
        </p:txBody>
      </p:sp>
      <p:cxnSp>
        <p:nvCxnSpPr>
          <p:cNvPr id="232" name="Connector 231"/>
          <p:cNvCxnSpPr/>
          <p:nvPr/>
        </p:nvCxnSpPr>
        <p:spPr>
          <a:xfrm>
            <a:off x="10833803" y="4099689"/>
            <a:ext cx="0" cy="77202"/>
          </a:xfrm>
          <a:prstGeom prst="line">
            <a:avLst/>
          </a:prstGeom>
          <a:ln w="17156">
            <a:solidFill>
              <a:srgbClr val="425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233" name="Oval 232"/>
          <p:cNvSpPr/>
          <p:nvPr/>
        </p:nvSpPr>
        <p:spPr>
          <a:xfrm>
            <a:off x="10799490" y="4056798"/>
            <a:ext cx="68624" cy="68624"/>
          </a:xfrm>
          <a:prstGeom prst="ellipse">
            <a:avLst/>
          </a:prstGeom>
          <a:solidFill>
            <a:srgbClr val="88BCE6"/>
          </a:solidFill>
          <a:ln w="17156">
            <a:solidFill>
              <a:srgbClr val="42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687975" y="4159735"/>
            <a:ext cx="291654" cy="214452"/>
          </a:xfrm>
          <a:prstGeom prst="ellipse">
            <a:avLst/>
          </a:prstGeom>
          <a:solidFill>
            <a:srgbClr val="EAF3FB"/>
          </a:solidFill>
          <a:ln w="25734">
            <a:solidFill>
              <a:srgbClr val="42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ounded Rectangle 234"/>
          <p:cNvSpPr/>
          <p:nvPr/>
        </p:nvSpPr>
        <p:spPr>
          <a:xfrm>
            <a:off x="10730866" y="4219782"/>
            <a:ext cx="205874" cy="857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156">
            <a:solidFill>
              <a:srgbClr val="42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773756" y="4245516"/>
            <a:ext cx="34312" cy="34312"/>
          </a:xfrm>
          <a:prstGeom prst="ellipse">
            <a:avLst/>
          </a:prstGeom>
          <a:solidFill>
            <a:srgbClr val="88BCE6"/>
          </a:solidFill>
          <a:ln w="8578">
            <a:solidFill>
              <a:srgbClr val="42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59537" y="4245516"/>
            <a:ext cx="34312" cy="34312"/>
          </a:xfrm>
          <a:prstGeom prst="ellipse">
            <a:avLst/>
          </a:prstGeom>
          <a:solidFill>
            <a:srgbClr val="88BCE6"/>
          </a:solidFill>
          <a:ln w="8578">
            <a:solidFill>
              <a:srgbClr val="425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ounded Rectangle 237"/>
          <p:cNvSpPr/>
          <p:nvPr/>
        </p:nvSpPr>
        <p:spPr>
          <a:xfrm>
            <a:off x="10645085" y="4211204"/>
            <a:ext cx="42890" cy="120093"/>
          </a:xfrm>
          <a:prstGeom prst="roundRect">
            <a:avLst>
              <a:gd name="adj" fmla="val 40000"/>
            </a:avLst>
          </a:prstGeom>
          <a:solidFill>
            <a:srgbClr val="42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ounded Rectangle 238"/>
          <p:cNvSpPr/>
          <p:nvPr/>
        </p:nvSpPr>
        <p:spPr>
          <a:xfrm>
            <a:off x="10979630" y="4211204"/>
            <a:ext cx="42890" cy="120093"/>
          </a:xfrm>
          <a:prstGeom prst="roundRect">
            <a:avLst>
              <a:gd name="adj" fmla="val 40000"/>
            </a:avLst>
          </a:prstGeom>
          <a:solidFill>
            <a:srgbClr val="42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8959332" y="4940341"/>
            <a:ext cx="635413" cy="2462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26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000000"/>
                </a:solidFill>
                <a:latin typeface="Lato"/>
              </a:rPr>
              <a:t>Output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8959332" y="5536041"/>
            <a:ext cx="635413" cy="24622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726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000000"/>
                </a:solidFill>
                <a:latin typeface="Lato"/>
              </a:rPr>
              <a:t>Reward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9698001" y="4908570"/>
            <a:ext cx="691012" cy="293878"/>
          </a:xfrm>
          <a:prstGeom prst="roundRect">
            <a:avLst>
              <a:gd name="adj" fmla="val 8108"/>
            </a:avLst>
          </a:prstGeom>
          <a:solidFill>
            <a:srgbClr val="B9D4EA"/>
          </a:solidFill>
          <a:ln w="9531">
            <a:solidFill>
              <a:srgbClr val="35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9698001" y="4924456"/>
            <a:ext cx="691012" cy="2382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38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 u="none">
                <a:solidFill>
                  <a:srgbClr val="FFFFFF"/>
                </a:solidFill>
                <a:latin typeface="Liberation Serif"/>
              </a:rPr>
              <a:t>o₁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9698001" y="5504271"/>
            <a:ext cx="691012" cy="293878"/>
          </a:xfrm>
          <a:prstGeom prst="roundRect">
            <a:avLst>
              <a:gd name="adj" fmla="val 8108"/>
            </a:avLst>
          </a:prstGeom>
          <a:solidFill>
            <a:srgbClr val="A9BCE1"/>
          </a:solidFill>
          <a:ln w="9531">
            <a:solidFill>
              <a:srgbClr val="35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9698001" y="5520156"/>
            <a:ext cx="691012" cy="2382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38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 u="none">
                <a:solidFill>
                  <a:srgbClr val="FFFFFF"/>
                </a:solidFill>
                <a:latin typeface="Liberation Serif"/>
              </a:rPr>
              <a:t>r₁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9729771" y="6473276"/>
            <a:ext cx="691012" cy="293878"/>
          </a:xfrm>
          <a:prstGeom prst="roundRect">
            <a:avLst>
              <a:gd name="adj" fmla="val 8108"/>
            </a:avLst>
          </a:prstGeom>
          <a:solidFill>
            <a:srgbClr val="82B3DD"/>
          </a:solidFill>
          <a:ln w="9531">
            <a:solidFill>
              <a:srgbClr val="35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9729771" y="6489162"/>
            <a:ext cx="691012" cy="2382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38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 u="none">
                <a:solidFill>
                  <a:srgbClr val="FFFFFF"/>
                </a:solidFill>
                <a:latin typeface="Liberation Serif"/>
              </a:rPr>
              <a:t>A₁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10484325" y="4908570"/>
            <a:ext cx="691012" cy="293878"/>
          </a:xfrm>
          <a:prstGeom prst="roundRect">
            <a:avLst>
              <a:gd name="adj" fmla="val 8108"/>
            </a:avLst>
          </a:prstGeom>
          <a:solidFill>
            <a:srgbClr val="B9D4EA"/>
          </a:solidFill>
          <a:ln w="9531">
            <a:solidFill>
              <a:srgbClr val="35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10484325" y="4924456"/>
            <a:ext cx="691012" cy="2382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38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 u="none">
                <a:solidFill>
                  <a:srgbClr val="FFFFFF"/>
                </a:solidFill>
                <a:latin typeface="Liberation Serif"/>
              </a:rPr>
              <a:t>o₂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10484325" y="5504271"/>
            <a:ext cx="691012" cy="293878"/>
          </a:xfrm>
          <a:prstGeom prst="roundRect">
            <a:avLst>
              <a:gd name="adj" fmla="val 8108"/>
            </a:avLst>
          </a:prstGeom>
          <a:solidFill>
            <a:srgbClr val="A9BCE1"/>
          </a:solidFill>
          <a:ln w="9531">
            <a:solidFill>
              <a:srgbClr val="35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10484325" y="5520156"/>
            <a:ext cx="691012" cy="2382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38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 u="none">
                <a:solidFill>
                  <a:srgbClr val="FFFFFF"/>
                </a:solidFill>
                <a:latin typeface="Liberation Serif"/>
              </a:rPr>
              <a:t>r₂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10516096" y="6473276"/>
            <a:ext cx="691012" cy="293878"/>
          </a:xfrm>
          <a:prstGeom prst="roundRect">
            <a:avLst>
              <a:gd name="adj" fmla="val 8108"/>
            </a:avLst>
          </a:prstGeom>
          <a:solidFill>
            <a:srgbClr val="82B3DD"/>
          </a:solidFill>
          <a:ln w="9531">
            <a:solidFill>
              <a:srgbClr val="35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10516096" y="6489162"/>
            <a:ext cx="691012" cy="2382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38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 u="none">
                <a:solidFill>
                  <a:srgbClr val="FFFFFF"/>
                </a:solidFill>
                <a:latin typeface="Liberation Serif"/>
              </a:rPr>
              <a:t>A₂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11262707" y="4908570"/>
            <a:ext cx="691012" cy="293878"/>
          </a:xfrm>
          <a:prstGeom prst="roundRect">
            <a:avLst>
              <a:gd name="adj" fmla="val 8108"/>
            </a:avLst>
          </a:prstGeom>
          <a:solidFill>
            <a:srgbClr val="B9D4EA"/>
          </a:solidFill>
          <a:ln w="9531">
            <a:solidFill>
              <a:srgbClr val="35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11262707" y="4924456"/>
            <a:ext cx="691012" cy="2382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38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 u="none">
                <a:solidFill>
                  <a:srgbClr val="FFFFFF"/>
                </a:solidFill>
                <a:latin typeface="Liberation Serif"/>
              </a:rPr>
              <a:t>o₃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11262707" y="5504271"/>
            <a:ext cx="691012" cy="293878"/>
          </a:xfrm>
          <a:prstGeom prst="roundRect">
            <a:avLst>
              <a:gd name="adj" fmla="val 8108"/>
            </a:avLst>
          </a:prstGeom>
          <a:solidFill>
            <a:srgbClr val="A9BCE1"/>
          </a:solidFill>
          <a:ln w="9531">
            <a:solidFill>
              <a:srgbClr val="35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11262707" y="5520156"/>
            <a:ext cx="691012" cy="2382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38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 u="none">
                <a:solidFill>
                  <a:srgbClr val="FFFFFF"/>
                </a:solidFill>
                <a:latin typeface="Liberation Serif"/>
              </a:rPr>
              <a:t>r₃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11294478" y="6473276"/>
            <a:ext cx="691012" cy="293878"/>
          </a:xfrm>
          <a:prstGeom prst="roundRect">
            <a:avLst>
              <a:gd name="adj" fmla="val 8108"/>
            </a:avLst>
          </a:prstGeom>
          <a:solidFill>
            <a:srgbClr val="82B3DD"/>
          </a:solidFill>
          <a:ln w="9531">
            <a:solidFill>
              <a:srgbClr val="35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11294478" y="6489162"/>
            <a:ext cx="691012" cy="2382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38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 u="none">
                <a:solidFill>
                  <a:srgbClr val="FFFFFF"/>
                </a:solidFill>
                <a:latin typeface="Liberation Serif"/>
              </a:rPr>
              <a:t>A₃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9729771" y="6076143"/>
            <a:ext cx="2231890" cy="293878"/>
          </a:xfrm>
          <a:prstGeom prst="roundRect">
            <a:avLst>
              <a:gd name="adj" fmla="val 8108"/>
            </a:avLst>
          </a:prstGeom>
          <a:solidFill>
            <a:srgbClr val="CFD8E6"/>
          </a:solidFill>
          <a:ln w="9531">
            <a:solidFill>
              <a:srgbClr val="3550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9729771" y="6076143"/>
            <a:ext cx="2231890" cy="27799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ts val="1438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u="none">
                <a:solidFill>
                  <a:srgbClr val="FFFFFF"/>
                </a:solidFill>
                <a:latin typeface="Liberation Serif"/>
              </a:rPr>
              <a:t>Group Computation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10118962" y="6751270"/>
            <a:ext cx="1461451" cy="22239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sz="1375" b="0" i="0" u="none">
                <a:solidFill>
                  <a:srgbClr val="000000"/>
                </a:solidFill>
                <a:latin typeface="Lato"/>
              </a:rPr>
              <a:t>Advantage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12279369" y="3677456"/>
            <a:ext cx="2621081" cy="3280323"/>
          </a:xfrm>
          <a:prstGeom prst="roundRect">
            <a:avLst>
              <a:gd name="adj" fmla="val 9090"/>
            </a:avLst>
          </a:prstGeom>
          <a:solidFill>
            <a:srgbClr val="EDF0F7"/>
          </a:solidFill>
          <a:ln w="9531">
            <a:solidFill>
              <a:srgbClr val="999999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4" name="Connector 263"/>
          <p:cNvCxnSpPr/>
          <p:nvPr/>
        </p:nvCxnSpPr>
        <p:spPr>
          <a:xfrm>
            <a:off x="13613738" y="4694118"/>
            <a:ext cx="0" cy="230338"/>
          </a:xfrm>
          <a:prstGeom prst="line">
            <a:avLst/>
          </a:prstGeom>
          <a:ln w="63541">
            <a:solidFill>
              <a:srgbClr val="8FC2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3828190" y="5194506"/>
            <a:ext cx="246223" cy="0"/>
          </a:xfrm>
          <a:prstGeom prst="line">
            <a:avLst/>
          </a:prstGeom>
          <a:ln w="63541">
            <a:solidFill>
              <a:srgbClr val="8FC2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2279369" y="5536041"/>
            <a:ext cx="2621081" cy="0"/>
          </a:xfrm>
          <a:prstGeom prst="line">
            <a:avLst/>
          </a:prstGeom>
          <a:ln w="7942">
            <a:solidFill>
              <a:srgbClr val="99999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2279369" y="6163512"/>
            <a:ext cx="2621081" cy="0"/>
          </a:xfrm>
          <a:prstGeom prst="line">
            <a:avLst/>
          </a:prstGeom>
          <a:ln w="7942">
            <a:solidFill>
              <a:srgbClr val="999999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268" name="TextBox 267"/>
          <p:cNvSpPr txBox="1"/>
          <p:nvPr/>
        </p:nvSpPr>
        <p:spPr>
          <a:xfrm>
            <a:off x="12374681" y="3828367"/>
            <a:ext cx="174738" cy="2303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8"/>
              </a:lnSpc>
              <a:spcBef>
                <a:spcPts val="0"/>
              </a:spcBef>
              <a:spcAft>
                <a:spcPts val="0"/>
              </a:spcAft>
            </a:pPr>
            <a:r>
              <a:rPr sz="1563" b="0" i="0" u="none">
                <a:solidFill>
                  <a:srgbClr val="000000"/>
                </a:solidFill>
                <a:latin typeface="Lato"/>
              </a:rPr>
              <a:t>•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12605018" y="3852195"/>
            <a:ext cx="2057151" cy="2303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654"/>
              </a:lnSpc>
              <a:spcBef>
                <a:spcPts val="0"/>
              </a:spcBef>
              <a:spcAft>
                <a:spcPts val="0"/>
              </a:spcAft>
            </a:pPr>
            <a:r>
              <a:rPr sz="1438" b="0" i="0" u="none">
                <a:solidFill>
                  <a:srgbClr val="000000"/>
                </a:solidFill>
                <a:latin typeface="Lato"/>
              </a:rPr>
              <a:t>Suggestion Reward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2358796" y="4114303"/>
            <a:ext cx="2406629" cy="5718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813" b="1" i="0" u="none">
                <a:solidFill>
                  <a:srgbClr val="D90000"/>
                </a:solidFill>
                <a:latin typeface="Lato"/>
              </a:rPr>
              <a:t>&lt;suggestion&gt; </a:t>
            </a:r>
            <a:r>
              <a:rPr sz="813" b="0" i="0" u="none">
                <a:solidFill>
                  <a:srgbClr val="000000"/>
                </a:solidFill>
                <a:latin typeface="Lato"/>
              </a:rPr>
              <a:t>The agent should instead</a:t>
            </a:r>
          </a:p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813" b="0" i="0" u="none">
                <a:solidFill>
                  <a:srgbClr val="000000"/>
                </a:solidFill>
                <a:latin typeface="Lato"/>
              </a:rPr>
              <a:t>select a desired tweet and clicking the</a:t>
            </a:r>
          </a:p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813" b="0" i="0" u="none">
                <a:solidFill>
                  <a:srgbClr val="000000"/>
                </a:solidFill>
                <a:latin typeface="Lato"/>
              </a:rPr>
              <a:t>share button of it. </a:t>
            </a:r>
            <a:r>
              <a:rPr sz="813" b="1" i="0" u="none">
                <a:solidFill>
                  <a:srgbClr val="D90000"/>
                </a:solidFill>
                <a:latin typeface="Lato"/>
              </a:rPr>
              <a:t>&lt;/suggestion&gt;</a:t>
            </a:r>
          </a:p>
          <a:p>
            <a:pPr algn="l">
              <a:lnSpc>
                <a:spcPts val="1188"/>
              </a:lnSpc>
              <a:spcBef>
                <a:spcPts val="0"/>
              </a:spcBef>
              <a:spcAft>
                <a:spcPts val="0"/>
              </a:spcAft>
            </a:pPr>
            <a:r>
              <a:rPr sz="813" b="1" i="0" u="sng">
                <a:solidFill>
                  <a:srgbClr val="4D8C35"/>
                </a:solidFill>
                <a:latin typeface="Lato"/>
              </a:rPr>
              <a:t>Annotation: </a:t>
            </a:r>
            <a:r>
              <a:rPr sz="813" b="0" i="0" u="sng">
                <a:solidFill>
                  <a:srgbClr val="000000"/>
                </a:solidFill>
                <a:latin typeface="Lato"/>
              </a:rPr>
              <a:t>Click share button of first post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2620904" y="5011825"/>
            <a:ext cx="833980" cy="38919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8" b="1" i="0" u="none">
                <a:solidFill>
                  <a:srgbClr val="376AD0"/>
                </a:solidFill>
                <a:latin typeface="Lato"/>
              </a:rPr>
              <a:t>Consistency</a:t>
            </a:r>
          </a:p>
          <a:p>
            <a:pPr algn="ctr">
              <a:lnSpc>
                <a:spcPts val="1125"/>
              </a:lnSpc>
              <a:spcBef>
                <a:spcPts val="0"/>
              </a:spcBef>
              <a:spcAft>
                <a:spcPts val="0"/>
              </a:spcAft>
            </a:pPr>
            <a:r>
              <a:rPr sz="938" b="1" i="0" u="none">
                <a:solidFill>
                  <a:srgbClr val="376AD0"/>
                </a:solidFill>
                <a:latin typeface="Lato"/>
              </a:rPr>
              <a:t>Measurement</a:t>
            </a:r>
          </a:p>
        </p:txBody>
      </p:sp>
      <p:sp>
        <p:nvSpPr>
          <p:cNvPr id="272" name="Freeform 271"/>
          <p:cNvSpPr/>
          <p:nvPr/>
        </p:nvSpPr>
        <p:spPr>
          <a:xfrm>
            <a:off x="13483160" y="4987997"/>
            <a:ext cx="135014" cy="103246"/>
          </a:xfrm>
          <a:custGeom>
            <a:avLst/>
            <a:gdLst/>
            <a:ahLst/>
            <a:cxnLst/>
            <a:rect l="l" t="t" r="r" b="b"/>
            <a:pathLst>
              <a:path w="17" h="13">
                <a:moveTo>
                  <a:pt x="11" y="0"/>
                </a:moveTo>
                <a:lnTo>
                  <a:pt x="17" y="7"/>
                </a:lnTo>
                <a:lnTo>
                  <a:pt x="14" y="13"/>
                </a:lnTo>
                <a:lnTo>
                  <a:pt x="4" y="13"/>
                </a:lnTo>
                <a:lnTo>
                  <a:pt x="0" y="7"/>
                </a:lnTo>
                <a:lnTo>
                  <a:pt x="4" y="2"/>
                </a:lnTo>
                <a:close/>
              </a:path>
            </a:pathLst>
          </a:custGeom>
          <a:solidFill>
            <a:srgbClr val="6B4DF5"/>
          </a:solidFill>
          <a:ln w="7942">
            <a:solidFill>
              <a:srgbClr val="6B4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Freeform 272"/>
          <p:cNvSpPr/>
          <p:nvPr/>
        </p:nvSpPr>
        <p:spPr>
          <a:xfrm>
            <a:off x="13489355" y="5093317"/>
            <a:ext cx="135014" cy="103246"/>
          </a:xfrm>
          <a:custGeom>
            <a:avLst/>
            <a:gdLst/>
            <a:ahLst/>
            <a:cxnLst/>
            <a:rect l="l" t="t" r="r" b="b"/>
            <a:pathLst>
              <a:path w="17" h="13">
                <a:moveTo>
                  <a:pt x="3" y="0"/>
                </a:moveTo>
                <a:lnTo>
                  <a:pt x="13" y="0"/>
                </a:lnTo>
                <a:lnTo>
                  <a:pt x="17" y="7"/>
                </a:lnTo>
                <a:lnTo>
                  <a:pt x="12" y="13"/>
                </a:lnTo>
                <a:lnTo>
                  <a:pt x="4" y="10"/>
                </a:lnTo>
                <a:lnTo>
                  <a:pt x="0" y="5"/>
                </a:lnTo>
                <a:close/>
              </a:path>
            </a:pathLst>
          </a:custGeom>
          <a:solidFill>
            <a:srgbClr val="6B4DF5"/>
          </a:solidFill>
          <a:ln w="7942">
            <a:solidFill>
              <a:srgbClr val="6B4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Freeform 273"/>
          <p:cNvSpPr/>
          <p:nvPr/>
        </p:nvSpPr>
        <p:spPr>
          <a:xfrm>
            <a:off x="13594675" y="5049950"/>
            <a:ext cx="103246" cy="103246"/>
          </a:xfrm>
          <a:custGeom>
            <a:avLst/>
            <a:gdLst/>
            <a:ahLst/>
            <a:cxnLst/>
            <a:rect l="l" t="t" r="r" b="b"/>
            <a:pathLst>
              <a:path w="13" h="13">
                <a:moveTo>
                  <a:pt x="0" y="5"/>
                </a:moveTo>
                <a:lnTo>
                  <a:pt x="9" y="0"/>
                </a:lnTo>
                <a:lnTo>
                  <a:pt x="13" y="5"/>
                </a:lnTo>
                <a:lnTo>
                  <a:pt x="9" y="13"/>
                </a:lnTo>
                <a:lnTo>
                  <a:pt x="4" y="12"/>
                </a:lnTo>
                <a:close/>
              </a:path>
            </a:pathLst>
          </a:custGeom>
          <a:solidFill>
            <a:srgbClr val="6B4DF5"/>
          </a:solidFill>
          <a:ln w="7942">
            <a:solidFill>
              <a:srgbClr val="6B4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13545113" y="5049950"/>
            <a:ext cx="86733" cy="8673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13563699" y="5068536"/>
            <a:ext cx="49562" cy="49562"/>
          </a:xfrm>
          <a:prstGeom prst="ellipse">
            <a:avLst/>
          </a:prstGeom>
          <a:solidFill>
            <a:srgbClr val="6B4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14225323" y="5107137"/>
            <a:ext cx="174738" cy="174738"/>
          </a:xfrm>
          <a:prstGeom prst="ellipse">
            <a:avLst/>
          </a:prstGeom>
          <a:solidFill>
            <a:srgbClr val="FFFFFF"/>
          </a:solidFill>
          <a:ln w="15885">
            <a:solidFill>
              <a:srgbClr val="10B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8" name="Connector 277"/>
          <p:cNvCxnSpPr/>
          <p:nvPr/>
        </p:nvCxnSpPr>
        <p:spPr>
          <a:xfrm>
            <a:off x="14273376" y="5194506"/>
            <a:ext cx="30580" cy="28832"/>
          </a:xfrm>
          <a:prstGeom prst="line">
            <a:avLst/>
          </a:prstGeom>
          <a:ln w="15885">
            <a:solidFill>
              <a:srgbClr val="10B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14303956" y="5157811"/>
            <a:ext cx="54169" cy="65527"/>
          </a:xfrm>
          <a:prstGeom prst="line">
            <a:avLst/>
          </a:prstGeom>
          <a:ln w="15885">
            <a:solidFill>
              <a:srgbClr val="10B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280" name="TextBox 279"/>
          <p:cNvSpPr txBox="1"/>
          <p:nvPr/>
        </p:nvSpPr>
        <p:spPr>
          <a:xfrm>
            <a:off x="12374681" y="5623411"/>
            <a:ext cx="174738" cy="2303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8"/>
              </a:lnSpc>
              <a:spcBef>
                <a:spcPts val="0"/>
              </a:spcBef>
              <a:spcAft>
                <a:spcPts val="0"/>
              </a:spcAft>
            </a:pPr>
            <a:r>
              <a:rPr sz="1563" b="0" i="0" u="none">
                <a:solidFill>
                  <a:srgbClr val="000000"/>
                </a:solidFill>
                <a:latin typeface="Lato"/>
              </a:rPr>
              <a:t>•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2605018" y="5647239"/>
            <a:ext cx="1810928" cy="2303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sz="1375" b="0" i="0" u="none">
                <a:solidFill>
                  <a:srgbClr val="000000"/>
                </a:solidFill>
                <a:latin typeface="Lato"/>
              </a:rPr>
              <a:t>Accuracy Reward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12692388" y="5909347"/>
            <a:ext cx="1747387" cy="1906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34"/>
              </a:lnSpc>
              <a:spcBef>
                <a:spcPts val="0"/>
              </a:spcBef>
              <a:spcAft>
                <a:spcPts val="0"/>
              </a:spcAft>
            </a:pPr>
            <a:r>
              <a:rPr sz="813" b="1" i="0" u="none">
                <a:solidFill>
                  <a:srgbClr val="D90000"/>
                </a:solidFill>
                <a:latin typeface="Lato"/>
              </a:rPr>
              <a:t>&lt;score&gt; </a:t>
            </a:r>
            <a:r>
              <a:rPr sz="813" b="0" i="0" u="none">
                <a:solidFill>
                  <a:srgbClr val="000000"/>
                </a:solidFill>
                <a:latin typeface="Lato"/>
              </a:rPr>
              <a:t>Incorrect </a:t>
            </a:r>
            <a:r>
              <a:rPr sz="813" b="1" i="0" u="none">
                <a:solidFill>
                  <a:srgbClr val="D90000"/>
                </a:solidFill>
                <a:latin typeface="Lato"/>
              </a:rPr>
              <a:t>&lt;/score&gt;</a:t>
            </a:r>
          </a:p>
        </p:txBody>
      </p:sp>
      <p:sp>
        <p:nvSpPr>
          <p:cNvPr id="283" name="Oval 282"/>
          <p:cNvSpPr/>
          <p:nvPr/>
        </p:nvSpPr>
        <p:spPr>
          <a:xfrm>
            <a:off x="14511259" y="5845805"/>
            <a:ext cx="174738" cy="174738"/>
          </a:xfrm>
          <a:prstGeom prst="ellipse">
            <a:avLst/>
          </a:prstGeom>
          <a:solidFill>
            <a:srgbClr val="FFFFFF"/>
          </a:solidFill>
          <a:ln w="15885">
            <a:solidFill>
              <a:srgbClr val="10B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4" name="Connector 283"/>
          <p:cNvCxnSpPr/>
          <p:nvPr/>
        </p:nvCxnSpPr>
        <p:spPr>
          <a:xfrm>
            <a:off x="14559313" y="5933175"/>
            <a:ext cx="30579" cy="28832"/>
          </a:xfrm>
          <a:prstGeom prst="line">
            <a:avLst/>
          </a:prstGeom>
          <a:ln w="15885">
            <a:solidFill>
              <a:srgbClr val="10B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14589892" y="5896480"/>
            <a:ext cx="54169" cy="65527"/>
          </a:xfrm>
          <a:prstGeom prst="line">
            <a:avLst/>
          </a:prstGeom>
          <a:ln w="15885">
            <a:solidFill>
              <a:srgbClr val="10B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sp>
        <p:nvSpPr>
          <p:cNvPr id="286" name="TextBox 285"/>
          <p:cNvSpPr txBox="1"/>
          <p:nvPr/>
        </p:nvSpPr>
        <p:spPr>
          <a:xfrm>
            <a:off x="12374681" y="6234996"/>
            <a:ext cx="174738" cy="2303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8"/>
              </a:lnSpc>
              <a:spcBef>
                <a:spcPts val="0"/>
              </a:spcBef>
              <a:spcAft>
                <a:spcPts val="0"/>
              </a:spcAft>
            </a:pPr>
            <a:r>
              <a:rPr sz="1563" b="0" i="0" u="none">
                <a:solidFill>
                  <a:srgbClr val="000000"/>
                </a:solidFill>
                <a:latin typeface="Lato"/>
              </a:rPr>
              <a:t>•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12605018" y="6266767"/>
            <a:ext cx="1810928" cy="2303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582"/>
              </a:lnSpc>
              <a:spcBef>
                <a:spcPts val="0"/>
              </a:spcBef>
              <a:spcAft>
                <a:spcPts val="0"/>
              </a:spcAft>
            </a:pPr>
            <a:r>
              <a:rPr sz="1375" b="0" i="0" u="none">
                <a:solidFill>
                  <a:srgbClr val="000000"/>
                </a:solidFill>
                <a:latin typeface="Lato"/>
              </a:rPr>
              <a:t>Format Reward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12708273" y="6505047"/>
            <a:ext cx="1644132" cy="43684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063"/>
              </a:lnSpc>
              <a:spcBef>
                <a:spcPts val="0"/>
              </a:spcBef>
              <a:spcAft>
                <a:spcPts val="0"/>
              </a:spcAft>
            </a:pPr>
            <a:r>
              <a:rPr sz="813" b="1" i="0" u="none">
                <a:solidFill>
                  <a:srgbClr val="D90000"/>
                </a:solidFill>
                <a:latin typeface="Lato"/>
              </a:rPr>
              <a:t>&lt;thinking&gt; ... &lt;/thinking&gt;</a:t>
            </a:r>
          </a:p>
          <a:p>
            <a:pPr algn="l">
              <a:lnSpc>
                <a:spcPts val="1063"/>
              </a:lnSpc>
              <a:spcBef>
                <a:spcPts val="0"/>
              </a:spcBef>
              <a:spcAft>
                <a:spcPts val="0"/>
              </a:spcAft>
            </a:pPr>
            <a:r>
              <a:rPr sz="813" b="1" i="0" u="none">
                <a:solidFill>
                  <a:srgbClr val="D90000"/>
                </a:solidFill>
                <a:latin typeface="Lato"/>
              </a:rPr>
              <a:t>&lt;score&gt; ... &lt;/score&gt;</a:t>
            </a:r>
          </a:p>
          <a:p>
            <a:pPr algn="l">
              <a:lnSpc>
                <a:spcPts val="1063"/>
              </a:lnSpc>
              <a:spcBef>
                <a:spcPts val="0"/>
              </a:spcBef>
              <a:spcAft>
                <a:spcPts val="0"/>
              </a:spcAft>
            </a:pPr>
            <a:r>
              <a:rPr sz="813" b="1" i="0" u="none">
                <a:solidFill>
                  <a:srgbClr val="D90000"/>
                </a:solidFill>
                <a:latin typeface="Lato"/>
              </a:rPr>
              <a:t>&lt;suggestion&gt; ... &lt;/suggestion&gt;</a:t>
            </a:r>
          </a:p>
        </p:txBody>
      </p:sp>
      <p:sp>
        <p:nvSpPr>
          <p:cNvPr id="289" name="Oval 288"/>
          <p:cNvSpPr/>
          <p:nvPr/>
        </p:nvSpPr>
        <p:spPr>
          <a:xfrm>
            <a:off x="14312693" y="6528875"/>
            <a:ext cx="174738" cy="174738"/>
          </a:xfrm>
          <a:prstGeom prst="ellipse">
            <a:avLst/>
          </a:prstGeom>
          <a:solidFill>
            <a:srgbClr val="FFFFFF"/>
          </a:solidFill>
          <a:ln w="15885">
            <a:solidFill>
              <a:srgbClr val="10BF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0" name="Connector 289"/>
          <p:cNvCxnSpPr/>
          <p:nvPr/>
        </p:nvCxnSpPr>
        <p:spPr>
          <a:xfrm>
            <a:off x="14360746" y="6616244"/>
            <a:ext cx="30579" cy="28832"/>
          </a:xfrm>
          <a:prstGeom prst="line">
            <a:avLst/>
          </a:prstGeom>
          <a:ln w="15885">
            <a:solidFill>
              <a:srgbClr val="10B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 flipV="1">
            <a:off x="14391325" y="6579549"/>
            <a:ext cx="54169" cy="65527"/>
          </a:xfrm>
          <a:prstGeom prst="line">
            <a:avLst/>
          </a:prstGeom>
          <a:ln w="15885">
            <a:solidFill>
              <a:srgbClr val="10BF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Look Before You Leap A GUI-Critic-R1 Model for Pre-Operative Error Diagnosis in GUI Automa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178444" cy="7315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