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314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31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98" y="90598"/>
            <a:ext cx="4879388" cy="4296968"/>
          </a:xfrm>
          <a:prstGeom prst="rect">
            <a:avLst/>
          </a:prstGeom>
          <a:noFill/>
          <a:ln w="25885">
            <a:solidFill>
              <a:srgbClr val="A7A7A7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598" y="4601120"/>
            <a:ext cx="4879388" cy="1320152"/>
          </a:xfrm>
          <a:prstGeom prst="rect">
            <a:avLst/>
          </a:prstGeom>
          <a:noFill/>
          <a:ln w="25885">
            <a:solidFill>
              <a:srgbClr val="A7A7A7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598" y="6141299"/>
            <a:ext cx="4879388" cy="711847"/>
          </a:xfrm>
          <a:prstGeom prst="rect">
            <a:avLst/>
          </a:prstGeom>
          <a:noFill/>
          <a:ln w="25885">
            <a:solidFill>
              <a:srgbClr val="A7A7A7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02955" y="90598"/>
            <a:ext cx="6898445" cy="6762547"/>
          </a:xfrm>
          <a:prstGeom prst="rect">
            <a:avLst/>
          </a:prstGeom>
          <a:noFill/>
          <a:ln w="25885">
            <a:solidFill>
              <a:srgbClr val="A7A7A7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202955" y="517706"/>
            <a:ext cx="6898445" cy="0"/>
          </a:xfrm>
          <a:prstGeom prst="line">
            <a:avLst/>
          </a:prstGeom>
          <a:ln w="19414">
            <a:solidFill>
              <a:srgbClr val="A7A7A7"/>
            </a:solidFill>
            <a:prstDash val="dash"/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5202955" y="1689019"/>
            <a:ext cx="6898445" cy="0"/>
          </a:xfrm>
          <a:prstGeom prst="line">
            <a:avLst/>
          </a:prstGeom>
          <a:ln w="19414">
            <a:solidFill>
              <a:srgbClr val="A7A7A7"/>
            </a:solidFill>
            <a:prstDash val="dash"/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202955" y="4898802"/>
            <a:ext cx="6898445" cy="0"/>
          </a:xfrm>
          <a:prstGeom prst="line">
            <a:avLst/>
          </a:prstGeom>
          <a:ln w="19414">
            <a:solidFill>
              <a:srgbClr val="A7A7A7"/>
            </a:solidFill>
            <a:prstDash val="dash"/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9305783" y="4898802"/>
            <a:ext cx="0" cy="1954344"/>
          </a:xfrm>
          <a:prstGeom prst="line">
            <a:avLst/>
          </a:prstGeom>
          <a:ln w="19414">
            <a:solidFill>
              <a:srgbClr val="A7A7A7"/>
            </a:solidFill>
            <a:prstDash val="dash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161783" y="142369"/>
            <a:ext cx="4756433" cy="3753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101010"/>
                </a:solidFill>
                <a:latin typeface="Purisa"/>
              </a:rPr>
              <a:t>Stage 1: SFT with Reasoning Annotations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496" y="750675"/>
            <a:ext cx="970700" cy="5047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8" b="1" i="0">
                <a:solidFill>
                  <a:srgbClr val="101010"/>
                </a:solidFill>
                <a:latin typeface="Purisa"/>
              </a:rPr>
              <a:t>Untrimmed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8" b="1" i="0">
                <a:solidFill>
                  <a:srgbClr val="101010"/>
                </a:solidFill>
                <a:latin typeface="Purisa"/>
              </a:rPr>
              <a:t>Video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00738" y="660076"/>
            <a:ext cx="2970343" cy="608305"/>
          </a:xfrm>
          <a:prstGeom prst="rect">
            <a:avLst/>
          </a:prstGeom>
          <a:solidFill>
            <a:srgbClr val="101010"/>
          </a:solidFill>
          <a:ln w="12942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369693" y="692433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69693" y="1184254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75776" y="692433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475776" y="1184254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581860" y="692433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581860" y="1184254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687944" y="692433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687944" y="1184254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794028" y="692433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794028" y="1184254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900111" y="692433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00111" y="1184254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006195" y="692433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006195" y="1184254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12279" y="692433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112279" y="1184254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218362" y="692433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218362" y="1184254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324446" y="692433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324446" y="1184254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430530" y="692433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430530" y="1184254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536614" y="692433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536614" y="1184254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642697" y="692433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642697" y="1184254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748781" y="692433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748781" y="1184254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854865" y="692433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854865" y="1184254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960948" y="692433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960948" y="1184254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067032" y="692433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067032" y="1184254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173116" y="692433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173116" y="1184254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279200" y="692433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279200" y="1184254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385283" y="692433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3385283" y="1184254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491367" y="692433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491367" y="1184254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597451" y="692433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597451" y="1184254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703534" y="692433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703534" y="1184254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3809618" y="692433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809618" y="1184254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915702" y="692433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915702" y="1184254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021785" y="692433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021785" y="1184254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127869" y="692433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127869" y="1184254"/>
            <a:ext cx="6152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8" name="Picture 67" descr="video_fram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038" y="776560"/>
            <a:ext cx="565594" cy="375337"/>
          </a:xfrm>
          <a:prstGeom prst="rect">
            <a:avLst/>
          </a:prstGeom>
        </p:spPr>
      </p:pic>
      <p:pic>
        <p:nvPicPr>
          <p:cNvPr id="69" name="Picture 68" descr="video_fram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575" y="776560"/>
            <a:ext cx="565594" cy="375337"/>
          </a:xfrm>
          <a:prstGeom prst="rect">
            <a:avLst/>
          </a:prstGeom>
        </p:spPr>
      </p:pic>
      <p:cxnSp>
        <p:nvCxnSpPr>
          <p:cNvPr id="70" name="Connector 69"/>
          <p:cNvCxnSpPr/>
          <p:nvPr/>
        </p:nvCxnSpPr>
        <p:spPr>
          <a:xfrm>
            <a:off x="1918104" y="776560"/>
            <a:ext cx="0" cy="375338"/>
          </a:xfrm>
          <a:prstGeom prst="line">
            <a:avLst/>
          </a:prstGeom>
          <a:ln w="12942">
            <a:solidFill>
              <a:srgbClr val="101010"/>
            </a:solidFill>
          </a:ln>
          <a:effectLst/>
        </p:spPr>
      </p:cxnSp>
      <p:pic>
        <p:nvPicPr>
          <p:cNvPr id="71" name="Picture 70" descr="video_fram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3113" y="776560"/>
            <a:ext cx="565594" cy="375337"/>
          </a:xfrm>
          <a:prstGeom prst="rect">
            <a:avLst/>
          </a:prstGeom>
        </p:spPr>
      </p:pic>
      <p:cxnSp>
        <p:nvCxnSpPr>
          <p:cNvPr id="72" name="Connector 71"/>
          <p:cNvCxnSpPr/>
          <p:nvPr/>
        </p:nvCxnSpPr>
        <p:spPr>
          <a:xfrm>
            <a:off x="2496641" y="776560"/>
            <a:ext cx="0" cy="375338"/>
          </a:xfrm>
          <a:prstGeom prst="line">
            <a:avLst/>
          </a:prstGeom>
          <a:ln w="12942">
            <a:solidFill>
              <a:srgbClr val="101010"/>
            </a:solidFill>
          </a:ln>
          <a:effectLst/>
        </p:spPr>
      </p:cxnSp>
      <p:pic>
        <p:nvPicPr>
          <p:cNvPr id="73" name="Picture 72" descr="video_fram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1650" y="776560"/>
            <a:ext cx="565594" cy="375337"/>
          </a:xfrm>
          <a:prstGeom prst="rect">
            <a:avLst/>
          </a:prstGeom>
        </p:spPr>
      </p:pic>
      <p:cxnSp>
        <p:nvCxnSpPr>
          <p:cNvPr id="74" name="Connector 73"/>
          <p:cNvCxnSpPr/>
          <p:nvPr/>
        </p:nvCxnSpPr>
        <p:spPr>
          <a:xfrm>
            <a:off x="3075179" y="776560"/>
            <a:ext cx="0" cy="375338"/>
          </a:xfrm>
          <a:prstGeom prst="line">
            <a:avLst/>
          </a:prstGeom>
          <a:ln w="12942">
            <a:solidFill>
              <a:srgbClr val="101010"/>
            </a:solidFill>
          </a:ln>
          <a:effectLst/>
        </p:spPr>
      </p:cxnSp>
      <p:pic>
        <p:nvPicPr>
          <p:cNvPr id="75" name="Picture 74" descr="video_frame_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0188" y="776560"/>
            <a:ext cx="565594" cy="375337"/>
          </a:xfrm>
          <a:prstGeom prst="rect">
            <a:avLst/>
          </a:prstGeom>
        </p:spPr>
      </p:pic>
      <p:cxnSp>
        <p:nvCxnSpPr>
          <p:cNvPr id="76" name="Connector 75"/>
          <p:cNvCxnSpPr/>
          <p:nvPr/>
        </p:nvCxnSpPr>
        <p:spPr>
          <a:xfrm>
            <a:off x="3653717" y="776560"/>
            <a:ext cx="0" cy="375338"/>
          </a:xfrm>
          <a:prstGeom prst="line">
            <a:avLst/>
          </a:prstGeom>
          <a:ln w="12942">
            <a:solidFill>
              <a:srgbClr val="101010"/>
            </a:solidFill>
          </a:ln>
          <a:effectLst/>
        </p:spPr>
      </p:cxnSp>
      <p:sp>
        <p:nvSpPr>
          <p:cNvPr id="77" name="Rectangle 76"/>
          <p:cNvSpPr/>
          <p:nvPr/>
        </p:nvSpPr>
        <p:spPr>
          <a:xfrm>
            <a:off x="1339566" y="776560"/>
            <a:ext cx="2892687" cy="375337"/>
          </a:xfrm>
          <a:prstGeom prst="rect">
            <a:avLst/>
          </a:prstGeom>
          <a:noFill/>
          <a:ln w="12942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2685605" y="1281324"/>
            <a:ext cx="0" cy="207083"/>
          </a:xfrm>
          <a:prstGeom prst="line">
            <a:avLst/>
          </a:prstGeom>
          <a:ln w="25885">
            <a:solidFill>
              <a:srgbClr val="101010"/>
            </a:solidFill>
            <a:tailEnd type="triangle" w="sm" len="sm"/>
          </a:ln>
          <a:effectLst/>
        </p:spPr>
      </p:cxnSp>
      <p:sp>
        <p:nvSpPr>
          <p:cNvPr id="79" name="TextBox 78"/>
          <p:cNvSpPr txBox="1"/>
          <p:nvPr/>
        </p:nvSpPr>
        <p:spPr>
          <a:xfrm>
            <a:off x="375337" y="1643719"/>
            <a:ext cx="711847" cy="2912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2" b="1" i="0">
                <a:solidFill>
                  <a:srgbClr val="101010"/>
                </a:solidFill>
                <a:latin typeface="Purisa"/>
              </a:rPr>
              <a:t>Prompt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322353" y="1589619"/>
            <a:ext cx="228179" cy="164501"/>
          </a:xfrm>
          <a:prstGeom prst="roundRect">
            <a:avLst/>
          </a:prstGeom>
          <a:solidFill>
            <a:srgbClr val="CFE2F3"/>
          </a:solidFill>
          <a:ln w="10612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1359498" y="1632071"/>
            <a:ext cx="143275" cy="0"/>
          </a:xfrm>
          <a:prstGeom prst="line">
            <a:avLst/>
          </a:prstGeom>
          <a:ln w="10612">
            <a:solidFill>
              <a:srgbClr val="3A83C4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>
            <a:off x="1359498" y="1669216"/>
            <a:ext cx="111436" cy="0"/>
          </a:xfrm>
          <a:prstGeom prst="line">
            <a:avLst/>
          </a:prstGeom>
          <a:ln w="10612">
            <a:solidFill>
              <a:srgbClr val="3A83C4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 flipH="1">
            <a:off x="1433789" y="1743507"/>
            <a:ext cx="15920" cy="153889"/>
          </a:xfrm>
          <a:prstGeom prst="line">
            <a:avLst/>
          </a:prstGeom>
          <a:ln w="10612">
            <a:solidFill>
              <a:srgbClr val="101010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 flipV="1">
            <a:off x="1274594" y="1690442"/>
            <a:ext cx="201647" cy="95517"/>
          </a:xfrm>
          <a:prstGeom prst="line">
            <a:avLst/>
          </a:prstGeom>
          <a:ln w="10612">
            <a:solidFill>
              <a:srgbClr val="101010"/>
            </a:solidFill>
          </a:ln>
          <a:effectLst/>
        </p:spPr>
      </p:cxnSp>
      <p:sp>
        <p:nvSpPr>
          <p:cNvPr id="85" name="Oval 84"/>
          <p:cNvSpPr/>
          <p:nvPr/>
        </p:nvSpPr>
        <p:spPr>
          <a:xfrm>
            <a:off x="1194997" y="1669216"/>
            <a:ext cx="164501" cy="180420"/>
          </a:xfrm>
          <a:prstGeom prst="ellipse">
            <a:avLst/>
          </a:prstGeom>
          <a:solidFill>
            <a:srgbClr val="3B2B2A"/>
          </a:solidFill>
          <a:ln w="10612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221529" y="1685136"/>
            <a:ext cx="127355" cy="148581"/>
          </a:xfrm>
          <a:prstGeom prst="ellipse">
            <a:avLst/>
          </a:prstGeom>
          <a:solidFill>
            <a:srgbClr val="FFD7C2"/>
          </a:solidFill>
          <a:ln w="902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1151838" y="1831293"/>
            <a:ext cx="239427" cy="110007"/>
          </a:xfrm>
          <a:custGeom>
            <a:avLst/>
            <a:gdLst/>
            <a:ahLst/>
            <a:cxnLst/>
            <a:rect l="l" t="t" r="r" b="b"/>
            <a:pathLst>
              <a:path w="37" h="17">
                <a:moveTo>
                  <a:pt x="0" y="17"/>
                </a:moveTo>
                <a:lnTo>
                  <a:pt x="7" y="0"/>
                </a:lnTo>
                <a:lnTo>
                  <a:pt x="28" y="0"/>
                </a:lnTo>
                <a:lnTo>
                  <a:pt x="37" y="17"/>
                </a:lnTo>
                <a:close/>
              </a:path>
            </a:pathLst>
          </a:custGeom>
          <a:solidFill>
            <a:srgbClr val="AEE676"/>
          </a:solidFill>
          <a:ln w="10612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1223019" y="1831293"/>
            <a:ext cx="97065" cy="58239"/>
          </a:xfrm>
          <a:custGeom>
            <a:avLst/>
            <a:gdLst/>
            <a:ahLst/>
            <a:cxnLst/>
            <a:rect l="l" t="t" r="r" b="b"/>
            <a:pathLst>
              <a:path w="15" h="9">
                <a:moveTo>
                  <a:pt x="0" y="0"/>
                </a:moveTo>
                <a:lnTo>
                  <a:pt x="7" y="9"/>
                </a:lnTo>
                <a:lnTo>
                  <a:pt x="15" y="0"/>
                </a:lnTo>
                <a:close/>
              </a:path>
            </a:pathLst>
          </a:custGeom>
          <a:solidFill>
            <a:srgbClr val="FFFFFF"/>
          </a:solidFill>
          <a:ln w="7429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1269288" y="1886783"/>
            <a:ext cx="0" cy="53065"/>
          </a:xfrm>
          <a:prstGeom prst="line">
            <a:avLst/>
          </a:prstGeom>
          <a:ln w="7429">
            <a:solidFill>
              <a:srgbClr val="101010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>
            <a:off x="1630777" y="1786089"/>
            <a:ext cx="601834" cy="0"/>
          </a:xfrm>
          <a:prstGeom prst="line">
            <a:avLst/>
          </a:prstGeom>
          <a:ln w="25885">
            <a:solidFill>
              <a:srgbClr val="101010"/>
            </a:solidFill>
            <a:tailEnd type="triangle" w="sm" len="sm"/>
          </a:ln>
          <a:effectLst/>
        </p:spPr>
      </p:cxnSp>
      <p:cxnSp>
        <p:nvCxnSpPr>
          <p:cNvPr id="91" name="Connector 90"/>
          <p:cNvCxnSpPr/>
          <p:nvPr/>
        </p:nvCxnSpPr>
        <p:spPr>
          <a:xfrm flipH="1" flipV="1">
            <a:off x="2553201" y="1540437"/>
            <a:ext cx="13201" cy="46205"/>
          </a:xfrm>
          <a:prstGeom prst="line">
            <a:avLst/>
          </a:prstGeom>
          <a:ln w="13201">
            <a:solidFill>
              <a:srgbClr val="101010"/>
            </a:solidFill>
          </a:ln>
          <a:effectLst/>
        </p:spPr>
      </p:cxnSp>
      <p:sp>
        <p:nvSpPr>
          <p:cNvPr id="92" name="Oval 91"/>
          <p:cNvSpPr/>
          <p:nvPr/>
        </p:nvSpPr>
        <p:spPr>
          <a:xfrm>
            <a:off x="2533399" y="1520634"/>
            <a:ext cx="46205" cy="46205"/>
          </a:xfrm>
          <a:prstGeom prst="ellipse">
            <a:avLst/>
          </a:prstGeom>
          <a:solidFill>
            <a:srgbClr val="F01F18"/>
          </a:solidFill>
          <a:ln w="990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2625809" y="1514034"/>
            <a:ext cx="46205" cy="46205"/>
          </a:xfrm>
          <a:prstGeom prst="ellipse">
            <a:avLst/>
          </a:prstGeom>
          <a:solidFill>
            <a:srgbClr val="F01F18"/>
          </a:solidFill>
          <a:ln w="990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2718220" y="1527235"/>
            <a:ext cx="46205" cy="46205"/>
          </a:xfrm>
          <a:prstGeom prst="ellipse">
            <a:avLst/>
          </a:prstGeom>
          <a:solidFill>
            <a:srgbClr val="F01F18"/>
          </a:solidFill>
          <a:ln w="990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2355178" y="1659250"/>
            <a:ext cx="79209" cy="191422"/>
          </a:xfrm>
          <a:prstGeom prst="roundRect">
            <a:avLst/>
          </a:prstGeom>
          <a:solidFill>
            <a:srgbClr val="8ED0E5"/>
          </a:solidFill>
          <a:ln w="1320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2823832" y="1659250"/>
            <a:ext cx="79209" cy="191422"/>
          </a:xfrm>
          <a:prstGeom prst="roundRect">
            <a:avLst/>
          </a:prstGeom>
          <a:solidFill>
            <a:srgbClr val="8ED0E5"/>
          </a:solidFill>
          <a:ln w="1320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2401383" y="1580041"/>
            <a:ext cx="462053" cy="369642"/>
          </a:xfrm>
          <a:prstGeom prst="roundRect">
            <a:avLst/>
          </a:prstGeom>
          <a:solidFill>
            <a:srgbClr val="8ED0E5"/>
          </a:solidFill>
          <a:ln w="1650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2447589" y="1626247"/>
            <a:ext cx="369642" cy="257429"/>
          </a:xfrm>
          <a:prstGeom prst="roundRect">
            <a:avLst/>
          </a:prstGeom>
          <a:solidFill>
            <a:srgbClr val="D5EEF7"/>
          </a:solidFill>
          <a:ln w="1188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2520197" y="1692254"/>
            <a:ext cx="39604" cy="46205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2698418" y="1692254"/>
            <a:ext cx="39604" cy="46205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2599406" y="1712057"/>
            <a:ext cx="33004" cy="26403"/>
          </a:xfrm>
          <a:prstGeom prst="line">
            <a:avLst/>
          </a:prstGeom>
          <a:ln w="11881">
            <a:solidFill>
              <a:srgbClr val="101010"/>
            </a:solidFill>
          </a:ln>
          <a:effectLst/>
        </p:spPr>
      </p:cxnSp>
      <p:cxnSp>
        <p:nvCxnSpPr>
          <p:cNvPr id="102" name="Connector 101"/>
          <p:cNvCxnSpPr/>
          <p:nvPr/>
        </p:nvCxnSpPr>
        <p:spPr>
          <a:xfrm flipV="1">
            <a:off x="2632410" y="1712057"/>
            <a:ext cx="33004" cy="26403"/>
          </a:xfrm>
          <a:prstGeom prst="line">
            <a:avLst/>
          </a:prstGeom>
          <a:ln w="11881">
            <a:solidFill>
              <a:srgbClr val="101010"/>
            </a:solidFill>
          </a:ln>
          <a:effectLst/>
        </p:spPr>
      </p:cxnSp>
      <p:cxnSp>
        <p:nvCxnSpPr>
          <p:cNvPr id="103" name="Connector 102"/>
          <p:cNvCxnSpPr/>
          <p:nvPr/>
        </p:nvCxnSpPr>
        <p:spPr>
          <a:xfrm>
            <a:off x="2579604" y="1804467"/>
            <a:ext cx="105612" cy="0"/>
          </a:xfrm>
          <a:prstGeom prst="line">
            <a:avLst/>
          </a:prstGeom>
          <a:ln w="11881">
            <a:solidFill>
              <a:srgbClr val="101010"/>
            </a:solidFill>
          </a:ln>
          <a:effectLst/>
        </p:spPr>
      </p:cxnSp>
      <p:sp>
        <p:nvSpPr>
          <p:cNvPr id="104" name="Freeform 103"/>
          <p:cNvSpPr/>
          <p:nvPr/>
        </p:nvSpPr>
        <p:spPr>
          <a:xfrm>
            <a:off x="2478393" y="1947771"/>
            <a:ext cx="304137" cy="97065"/>
          </a:xfrm>
          <a:custGeom>
            <a:avLst/>
            <a:gdLst/>
            <a:ahLst/>
            <a:cxnLst/>
            <a:rect l="l" t="t" r="r" b="b"/>
            <a:pathLst>
              <a:path w="47" h="15">
                <a:moveTo>
                  <a:pt x="0" y="0"/>
                </a:moveTo>
                <a:lnTo>
                  <a:pt x="47" y="0"/>
                </a:lnTo>
                <a:lnTo>
                  <a:pt x="41" y="15"/>
                </a:lnTo>
                <a:lnTo>
                  <a:pt x="6" y="15"/>
                </a:lnTo>
                <a:close/>
              </a:path>
            </a:pathLst>
          </a:custGeom>
          <a:solidFill>
            <a:srgbClr val="8ED0E5"/>
          </a:solidFill>
          <a:ln w="1320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2553201" y="2042095"/>
            <a:ext cx="158418" cy="33003"/>
          </a:xfrm>
          <a:prstGeom prst="roundRect">
            <a:avLst/>
          </a:prstGeom>
          <a:solidFill>
            <a:srgbClr val="8ED0E5"/>
          </a:solidFill>
          <a:ln w="990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526798" y="1929882"/>
            <a:ext cx="211224" cy="1056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19" b="1" i="0">
                <a:solidFill>
                  <a:srgbClr val="101010"/>
                </a:solidFill>
                <a:latin typeface="DejaVu Sans"/>
              </a:rPr>
              <a:t>AI</a:t>
            </a:r>
          </a:p>
        </p:txBody>
      </p:sp>
      <p:sp>
        <p:nvSpPr>
          <p:cNvPr id="107" name="Freeform 106"/>
          <p:cNvSpPr/>
          <p:nvPr/>
        </p:nvSpPr>
        <p:spPr>
          <a:xfrm>
            <a:off x="2776059" y="1481859"/>
            <a:ext cx="142362" cy="200601"/>
          </a:xfrm>
          <a:custGeom>
            <a:avLst/>
            <a:gdLst/>
            <a:ahLst/>
            <a:cxnLst/>
            <a:rect l="l" t="t" r="r" b="b"/>
            <a:pathLst>
              <a:path w="22" h="31">
                <a:moveTo>
                  <a:pt x="0" y="24"/>
                </a:moveTo>
                <a:lnTo>
                  <a:pt x="5" y="10"/>
                </a:lnTo>
                <a:lnTo>
                  <a:pt x="9" y="17"/>
                </a:lnTo>
                <a:lnTo>
                  <a:pt x="16" y="0"/>
                </a:lnTo>
                <a:lnTo>
                  <a:pt x="22" y="12"/>
                </a:lnTo>
                <a:lnTo>
                  <a:pt x="22" y="21"/>
                </a:lnTo>
                <a:lnTo>
                  <a:pt x="17" y="30"/>
                </a:lnTo>
                <a:lnTo>
                  <a:pt x="6" y="31"/>
                </a:lnTo>
                <a:close/>
              </a:path>
            </a:pathLst>
          </a:custGeom>
          <a:solidFill>
            <a:srgbClr val="F01F18"/>
          </a:solidFill>
          <a:ln w="1188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2827827" y="1572453"/>
            <a:ext cx="77652" cy="90594"/>
          </a:xfrm>
          <a:custGeom>
            <a:avLst/>
            <a:gdLst/>
            <a:ahLst/>
            <a:cxnLst/>
            <a:rect l="l" t="t" r="r" b="b"/>
            <a:pathLst>
              <a:path w="12" h="14">
                <a:moveTo>
                  <a:pt x="0" y="10"/>
                </a:moveTo>
                <a:lnTo>
                  <a:pt x="4" y="1"/>
                </a:lnTo>
                <a:lnTo>
                  <a:pt x="8" y="7"/>
                </a:lnTo>
                <a:lnTo>
                  <a:pt x="11" y="0"/>
                </a:lnTo>
                <a:lnTo>
                  <a:pt x="12" y="9"/>
                </a:lnTo>
                <a:lnTo>
                  <a:pt x="8" y="14"/>
                </a:lnTo>
                <a:close/>
              </a:path>
            </a:pathLst>
          </a:custGeom>
          <a:solidFill>
            <a:srgbClr val="FFD86A"/>
          </a:solidFill>
          <a:ln w="7920">
            <a:solidFill>
              <a:srgbClr val="F01F1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158012" y="1481936"/>
            <a:ext cx="698904" cy="2912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9" b="1" i="1">
                <a:solidFill>
                  <a:srgbClr val="101010"/>
                </a:solidFill>
                <a:latin typeface="Purisa"/>
              </a:rPr>
              <a:t>MLLM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2685605" y="2135541"/>
            <a:ext cx="0" cy="271796"/>
          </a:xfrm>
          <a:prstGeom prst="line">
            <a:avLst/>
          </a:prstGeom>
          <a:ln w="25885">
            <a:solidFill>
              <a:srgbClr val="101010"/>
            </a:solidFill>
            <a:tailEnd type="triangle" w="sm" len="sm"/>
          </a:ln>
          <a:effectLst/>
        </p:spPr>
      </p:cxnSp>
      <p:sp>
        <p:nvSpPr>
          <p:cNvPr id="111" name="TextBox 110"/>
          <p:cNvSpPr txBox="1"/>
          <p:nvPr/>
        </p:nvSpPr>
        <p:spPr>
          <a:xfrm>
            <a:off x="504764" y="2180840"/>
            <a:ext cx="2135541" cy="2329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1">
                <a:solidFill>
                  <a:srgbClr val="101010"/>
                </a:solidFill>
                <a:latin typeface="Purisa"/>
              </a:rPr>
              <a:t>Perform Anomaly Reasoning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20025" y="2614420"/>
            <a:ext cx="970700" cy="2912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6" b="1" i="0">
                <a:solidFill>
                  <a:srgbClr val="101010"/>
                </a:solidFill>
                <a:latin typeface="Purisa"/>
              </a:rPr>
              <a:t>Completion</a:t>
            </a:r>
          </a:p>
        </p:txBody>
      </p:sp>
      <p:sp>
        <p:nvSpPr>
          <p:cNvPr id="113" name="Freeform 112"/>
          <p:cNvSpPr/>
          <p:nvPr/>
        </p:nvSpPr>
        <p:spPr>
          <a:xfrm>
            <a:off x="1216548" y="2439567"/>
            <a:ext cx="3565521" cy="808875"/>
          </a:xfrm>
          <a:custGeom>
            <a:avLst/>
            <a:gdLst/>
            <a:ahLst/>
            <a:cxnLst/>
            <a:rect l="l" t="t" r="r" b="b"/>
            <a:pathLst>
              <a:path w="551" h="125">
                <a:moveTo>
                  <a:pt x="8" y="0"/>
                </a:moveTo>
                <a:lnTo>
                  <a:pt x="551" y="0"/>
                </a:lnTo>
                <a:lnTo>
                  <a:pt x="551" y="107"/>
                </a:lnTo>
                <a:lnTo>
                  <a:pt x="403" y="107"/>
                </a:lnTo>
                <a:lnTo>
                  <a:pt x="425" y="125"/>
                </a:lnTo>
                <a:lnTo>
                  <a:pt x="383" y="107"/>
                </a:lnTo>
                <a:lnTo>
                  <a:pt x="8" y="107"/>
                </a:lnTo>
                <a:lnTo>
                  <a:pt x="0" y="100"/>
                </a:lnTo>
                <a:lnTo>
                  <a:pt x="0" y="10"/>
                </a:lnTo>
                <a:close/>
              </a:path>
            </a:pathLst>
          </a:custGeom>
          <a:solidFill>
            <a:srgbClr val="FFFFFF"/>
          </a:solidFill>
          <a:ln w="14884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326624" y="2491464"/>
            <a:ext cx="3365095" cy="5694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1" b="0" i="0">
                <a:solidFill>
                  <a:srgbClr val="101010"/>
                </a:solidFill>
                <a:latin typeface="DejaVu Sans Mono"/>
              </a:rPr>
              <a:t>&lt;think&gt;The video shows ... &lt;/think&gt;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1" b="0" i="0">
                <a:solidFill>
                  <a:srgbClr val="101010"/>
                </a:solidFill>
                <a:latin typeface="DejaVu Sans Mono"/>
              </a:rPr>
              <a:t>&lt;answer&gt;The anomaly </a:t>
            </a:r>
            <a:r>
              <a:rPr sz="891" b="0" i="0">
                <a:solidFill>
                  <a:srgbClr val="F01F18"/>
                </a:solidFill>
                <a:latin typeface="DejaVu Sans Mono"/>
              </a:rPr>
              <a:t>occurred</a:t>
            </a:r>
            <a:r>
              <a:rPr sz="891" b="0" i="0">
                <a:solidFill>
                  <a:srgbClr val="101010"/>
                </a:solidFill>
                <a:latin typeface="DejaVu Sans Mono"/>
              </a:rPr>
              <a:t> in the video 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1" b="0" i="0">
                <a:solidFill>
                  <a:srgbClr val="101010"/>
                </a:solidFill>
                <a:latin typeface="DejaVu Sans Mono"/>
              </a:rPr>
              <a:t>Fighting ... </a:t>
            </a:r>
            <a:r>
              <a:rPr sz="891" b="0" i="0">
                <a:solidFill>
                  <a:srgbClr val="F01F18"/>
                </a:solidFill>
                <a:latin typeface="DejaVu Sans Mono"/>
              </a:rPr>
              <a:t>a physical altercation</a:t>
            </a:r>
            <a:r>
              <a:rPr sz="891" b="0" i="0">
                <a:solidFill>
                  <a:srgbClr val="101010"/>
                </a:solidFill>
                <a:latin typeface="DejaVu Sans Mono"/>
              </a:rPr>
              <a:t> ... &lt;/answer&gt;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2666191" y="3183898"/>
            <a:ext cx="0" cy="310624"/>
          </a:xfrm>
          <a:prstGeom prst="line">
            <a:avLst/>
          </a:prstGeom>
          <a:ln w="25885">
            <a:solidFill>
              <a:srgbClr val="101010"/>
            </a:solidFill>
            <a:headEnd type="triangle" w="sm" len="sm"/>
            <a:tailEnd type="triangle" w="sm" len="sm"/>
          </a:ln>
          <a:effectLst/>
        </p:spPr>
      </p:cxnSp>
      <p:sp>
        <p:nvSpPr>
          <p:cNvPr id="116" name="TextBox 115"/>
          <p:cNvSpPr txBox="1"/>
          <p:nvPr/>
        </p:nvSpPr>
        <p:spPr>
          <a:xfrm>
            <a:off x="2918573" y="3235668"/>
            <a:ext cx="1811974" cy="2264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3" b="0" i="1">
                <a:solidFill>
                  <a:srgbClr val="101010"/>
                </a:solidFill>
                <a:latin typeface="Purisa"/>
              </a:rPr>
              <a:t>Token Prediction Loss</a:t>
            </a:r>
          </a:p>
        </p:txBody>
      </p:sp>
      <p:cxnSp>
        <p:nvCxnSpPr>
          <p:cNvPr id="117" name="Connector 116"/>
          <p:cNvCxnSpPr/>
          <p:nvPr/>
        </p:nvCxnSpPr>
        <p:spPr>
          <a:xfrm flipV="1">
            <a:off x="4853503" y="1773146"/>
            <a:ext cx="0" cy="1546650"/>
          </a:xfrm>
          <a:prstGeom prst="line">
            <a:avLst/>
          </a:prstGeom>
          <a:ln w="25885">
            <a:solidFill>
              <a:srgbClr val="3A83C4"/>
            </a:solidFill>
            <a:prstDash val="sysDot"/>
          </a:ln>
          <a:effectLst/>
        </p:spPr>
      </p:cxnSp>
      <p:cxnSp>
        <p:nvCxnSpPr>
          <p:cNvPr id="118" name="Connector 117"/>
          <p:cNvCxnSpPr/>
          <p:nvPr/>
        </p:nvCxnSpPr>
        <p:spPr>
          <a:xfrm flipH="1">
            <a:off x="3145069" y="1773146"/>
            <a:ext cx="1708434" cy="0"/>
          </a:xfrm>
          <a:prstGeom prst="line">
            <a:avLst/>
          </a:prstGeom>
          <a:ln w="25885">
            <a:solidFill>
              <a:srgbClr val="3A83C4"/>
            </a:solidFill>
            <a:prstDash val="sysDot"/>
            <a:tailEnd type="triangle" w="sm" len="sm"/>
          </a:ln>
          <a:effectLst/>
        </p:spPr>
      </p:cxnSp>
      <p:sp>
        <p:nvSpPr>
          <p:cNvPr id="119" name="TextBox 118"/>
          <p:cNvSpPr txBox="1"/>
          <p:nvPr/>
        </p:nvSpPr>
        <p:spPr>
          <a:xfrm>
            <a:off x="3520407" y="1799031"/>
            <a:ext cx="673019" cy="2459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9" b="1" i="1">
                <a:solidFill>
                  <a:srgbClr val="3A83C4"/>
                </a:solidFill>
                <a:latin typeface="Purisa"/>
              </a:rPr>
              <a:t>Update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20025" y="3708076"/>
            <a:ext cx="938343" cy="4788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3" b="1" i="0">
                <a:solidFill>
                  <a:srgbClr val="101010"/>
                </a:solidFill>
                <a:latin typeface="Purisa"/>
              </a:rPr>
              <a:t>Reasoning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3" b="1" i="0">
                <a:solidFill>
                  <a:srgbClr val="101010"/>
                </a:solidFill>
                <a:latin typeface="Purisa"/>
              </a:rPr>
              <a:t>Annotation</a:t>
            </a:r>
          </a:p>
        </p:txBody>
      </p:sp>
      <p:sp>
        <p:nvSpPr>
          <p:cNvPr id="121" name="Freeform 120"/>
          <p:cNvSpPr/>
          <p:nvPr/>
        </p:nvSpPr>
        <p:spPr>
          <a:xfrm>
            <a:off x="1223019" y="3533166"/>
            <a:ext cx="3597876" cy="737694"/>
          </a:xfrm>
          <a:custGeom>
            <a:avLst/>
            <a:gdLst/>
            <a:ahLst/>
            <a:cxnLst/>
            <a:rect l="l" t="t" r="r" b="b"/>
            <a:pathLst>
              <a:path w="556" h="114">
                <a:moveTo>
                  <a:pt x="0" y="0"/>
                </a:moveTo>
                <a:lnTo>
                  <a:pt x="511" y="0"/>
                </a:lnTo>
                <a:lnTo>
                  <a:pt x="556" y="32"/>
                </a:lnTo>
                <a:lnTo>
                  <a:pt x="556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FFFFFF"/>
          </a:solidFill>
          <a:ln w="1553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 flipH="1">
            <a:off x="4510522" y="3546292"/>
            <a:ext cx="19414" cy="190905"/>
          </a:xfrm>
          <a:prstGeom prst="line">
            <a:avLst/>
          </a:prstGeom>
          <a:ln w="14236">
            <a:solidFill>
              <a:srgbClr val="101010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>
            <a:off x="4510522" y="3737197"/>
            <a:ext cx="297681" cy="5824"/>
          </a:xfrm>
          <a:prstGeom prst="line">
            <a:avLst/>
          </a:prstGeom>
          <a:ln w="14236">
            <a:solidFill>
              <a:srgbClr val="101010"/>
            </a:solidFill>
          </a:ln>
          <a:effectLst/>
        </p:spPr>
      </p:cxnSp>
      <p:sp>
        <p:nvSpPr>
          <p:cNvPr id="124" name="TextBox 123"/>
          <p:cNvSpPr txBox="1"/>
          <p:nvPr/>
        </p:nvSpPr>
        <p:spPr>
          <a:xfrm>
            <a:off x="1294267" y="3585120"/>
            <a:ext cx="3365095" cy="5953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2" b="0" i="0">
                <a:solidFill>
                  <a:srgbClr val="101010"/>
                </a:solidFill>
                <a:latin typeface="DejaVu Sans Mono"/>
              </a:rPr>
              <a:t>&lt;think&gt;The video shows ... &lt;/think&gt;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2" b="0" i="0">
                <a:solidFill>
                  <a:srgbClr val="101010"/>
                </a:solidFill>
                <a:latin typeface="DejaVu Sans Mono"/>
              </a:rPr>
              <a:t>&lt;answer&gt;The anomaly </a:t>
            </a:r>
            <a:r>
              <a:rPr sz="992" b="0" i="0">
                <a:solidFill>
                  <a:srgbClr val="157B17"/>
                </a:solidFill>
                <a:latin typeface="DejaVu Sans Mono"/>
              </a:rPr>
              <a:t>category of</a:t>
            </a:r>
            <a:r>
              <a:rPr sz="992" b="0" i="0">
                <a:solidFill>
                  <a:srgbClr val="101010"/>
                </a:solidFill>
                <a:latin typeface="DejaVu Sans Mono"/>
              </a:rPr>
              <a:t> the video 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2" b="0" i="0">
                <a:solidFill>
                  <a:srgbClr val="101010"/>
                </a:solidFill>
                <a:latin typeface="DejaVu Sans Mono"/>
              </a:rPr>
              <a:t>Fighting ... </a:t>
            </a:r>
            <a:r>
              <a:rPr sz="992" b="0" i="0">
                <a:solidFill>
                  <a:srgbClr val="157B17"/>
                </a:solidFill>
                <a:latin typeface="DejaVu Sans Mono"/>
              </a:rPr>
              <a:t>two individuals</a:t>
            </a:r>
            <a:r>
              <a:rPr sz="992" b="0" i="0">
                <a:solidFill>
                  <a:srgbClr val="101010"/>
                </a:solidFill>
                <a:latin typeface="DejaVu Sans Mono"/>
              </a:rPr>
              <a:t> ... &lt;/answer&gt;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39439" y="4749961"/>
            <a:ext cx="776560" cy="3365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3" b="1" i="0">
                <a:solidFill>
                  <a:srgbClr val="101010"/>
                </a:solidFill>
                <a:latin typeface="Purisa"/>
              </a:rPr>
              <a:t>Prompt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69218" y="5016321"/>
            <a:ext cx="300528" cy="216660"/>
          </a:xfrm>
          <a:prstGeom prst="roundRect">
            <a:avLst/>
          </a:prstGeom>
          <a:solidFill>
            <a:srgbClr val="CFE2F3"/>
          </a:solidFill>
          <a:ln w="13978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618142" y="5072234"/>
            <a:ext cx="188704" cy="0"/>
          </a:xfrm>
          <a:prstGeom prst="line">
            <a:avLst/>
          </a:prstGeom>
          <a:ln w="13978">
            <a:solidFill>
              <a:srgbClr val="3A83C4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>
            <a:off x="618142" y="5121157"/>
            <a:ext cx="146770" cy="0"/>
          </a:xfrm>
          <a:prstGeom prst="line">
            <a:avLst/>
          </a:prstGeom>
          <a:ln w="13978">
            <a:solidFill>
              <a:srgbClr val="3A83C4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 flipH="1">
            <a:off x="715988" y="5219004"/>
            <a:ext cx="20967" cy="202682"/>
          </a:xfrm>
          <a:prstGeom prst="line">
            <a:avLst/>
          </a:prstGeom>
          <a:ln w="13978">
            <a:solidFill>
              <a:srgbClr val="101010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 flipV="1">
            <a:off x="506317" y="5149113"/>
            <a:ext cx="265584" cy="125803"/>
          </a:xfrm>
          <a:prstGeom prst="line">
            <a:avLst/>
          </a:prstGeom>
          <a:ln w="13978">
            <a:solidFill>
              <a:srgbClr val="101010"/>
            </a:solidFill>
          </a:ln>
          <a:effectLst/>
        </p:spPr>
      </p:cxnSp>
      <p:sp>
        <p:nvSpPr>
          <p:cNvPr id="131" name="Oval 130"/>
          <p:cNvSpPr/>
          <p:nvPr/>
        </p:nvSpPr>
        <p:spPr>
          <a:xfrm>
            <a:off x="401481" y="5121157"/>
            <a:ext cx="216660" cy="237627"/>
          </a:xfrm>
          <a:prstGeom prst="ellipse">
            <a:avLst/>
          </a:prstGeom>
          <a:solidFill>
            <a:srgbClr val="3B2B2A"/>
          </a:solidFill>
          <a:ln w="13978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36426" y="5142124"/>
            <a:ext cx="167737" cy="195693"/>
          </a:xfrm>
          <a:prstGeom prst="ellipse">
            <a:avLst/>
          </a:prstGeom>
          <a:solidFill>
            <a:srgbClr val="FFD7C2"/>
          </a:solidFill>
          <a:ln w="1188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342963" y="5332104"/>
            <a:ext cx="317079" cy="142362"/>
          </a:xfrm>
          <a:custGeom>
            <a:avLst/>
            <a:gdLst/>
            <a:ahLst/>
            <a:cxnLst/>
            <a:rect l="l" t="t" r="r" b="b"/>
            <a:pathLst>
              <a:path w="49" h="22">
                <a:moveTo>
                  <a:pt x="0" y="22"/>
                </a:moveTo>
                <a:lnTo>
                  <a:pt x="10" y="0"/>
                </a:lnTo>
                <a:lnTo>
                  <a:pt x="37" y="0"/>
                </a:lnTo>
                <a:lnTo>
                  <a:pt x="49" y="22"/>
                </a:lnTo>
                <a:close/>
              </a:path>
            </a:pathLst>
          </a:custGeom>
          <a:solidFill>
            <a:srgbClr val="AEE676"/>
          </a:solidFill>
          <a:ln w="13978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433557" y="5332104"/>
            <a:ext cx="129420" cy="77652"/>
          </a:xfrm>
          <a:custGeom>
            <a:avLst/>
            <a:gdLst/>
            <a:ahLst/>
            <a:cxnLst/>
            <a:rect l="l" t="t" r="r" b="b"/>
            <a:pathLst>
              <a:path w="20" h="12">
                <a:moveTo>
                  <a:pt x="0" y="0"/>
                </a:moveTo>
                <a:lnTo>
                  <a:pt x="10" y="12"/>
                </a:lnTo>
                <a:lnTo>
                  <a:pt x="20" y="0"/>
                </a:lnTo>
                <a:close/>
              </a:path>
            </a:pathLst>
          </a:custGeom>
          <a:solidFill>
            <a:srgbClr val="FFFFFF"/>
          </a:solidFill>
          <a:ln w="9784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5" name="Connector 134"/>
          <p:cNvCxnSpPr/>
          <p:nvPr/>
        </p:nvCxnSpPr>
        <p:spPr>
          <a:xfrm>
            <a:off x="499328" y="5407708"/>
            <a:ext cx="0" cy="69890"/>
          </a:xfrm>
          <a:prstGeom prst="line">
            <a:avLst/>
          </a:prstGeom>
          <a:ln w="9784">
            <a:solidFill>
              <a:srgbClr val="101010"/>
            </a:solidFill>
          </a:ln>
          <a:effectLst/>
        </p:spPr>
      </p:cxnSp>
      <p:sp>
        <p:nvSpPr>
          <p:cNvPr id="136" name="Freeform 135"/>
          <p:cNvSpPr/>
          <p:nvPr/>
        </p:nvSpPr>
        <p:spPr>
          <a:xfrm>
            <a:off x="1216548" y="4730301"/>
            <a:ext cx="3597876" cy="1035360"/>
          </a:xfrm>
          <a:custGeom>
            <a:avLst/>
            <a:gdLst/>
            <a:ahLst/>
            <a:cxnLst/>
            <a:rect l="l" t="t" r="r" b="b"/>
            <a:pathLst>
              <a:path w="556" h="160">
                <a:moveTo>
                  <a:pt x="0" y="0"/>
                </a:moveTo>
                <a:lnTo>
                  <a:pt x="511" y="0"/>
                </a:lnTo>
                <a:lnTo>
                  <a:pt x="556" y="32"/>
                </a:lnTo>
                <a:lnTo>
                  <a:pt x="556" y="160"/>
                </a:lnTo>
                <a:lnTo>
                  <a:pt x="0" y="160"/>
                </a:lnTo>
                <a:close/>
              </a:path>
            </a:pathLst>
          </a:custGeom>
          <a:solidFill>
            <a:srgbClr val="FFFFFF"/>
          </a:solidFill>
          <a:ln w="1553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7" name="Connector 136"/>
          <p:cNvCxnSpPr/>
          <p:nvPr/>
        </p:nvCxnSpPr>
        <p:spPr>
          <a:xfrm flipH="1">
            <a:off x="4504050" y="4743490"/>
            <a:ext cx="19414" cy="190904"/>
          </a:xfrm>
          <a:prstGeom prst="line">
            <a:avLst/>
          </a:prstGeom>
          <a:ln w="14236">
            <a:solidFill>
              <a:srgbClr val="101010"/>
            </a:solidFill>
          </a:ln>
          <a:effectLst/>
        </p:spPr>
      </p:cxnSp>
      <p:cxnSp>
        <p:nvCxnSpPr>
          <p:cNvPr id="138" name="Connector 137"/>
          <p:cNvCxnSpPr/>
          <p:nvPr/>
        </p:nvCxnSpPr>
        <p:spPr>
          <a:xfrm>
            <a:off x="4504050" y="4934394"/>
            <a:ext cx="297682" cy="5824"/>
          </a:xfrm>
          <a:prstGeom prst="line">
            <a:avLst/>
          </a:prstGeom>
          <a:ln w="14236">
            <a:solidFill>
              <a:srgbClr val="101010"/>
            </a:solidFill>
          </a:ln>
          <a:effectLst/>
        </p:spPr>
      </p:cxnSp>
      <p:sp>
        <p:nvSpPr>
          <p:cNvPr id="139" name="TextBox 138"/>
          <p:cNvSpPr txBox="1"/>
          <p:nvPr/>
        </p:nvSpPr>
        <p:spPr>
          <a:xfrm>
            <a:off x="1274853" y="4834089"/>
            <a:ext cx="3410394" cy="8542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101010"/>
                </a:solidFill>
                <a:latin typeface="Purisa"/>
              </a:rPr>
              <a:t>Analyze whether the video is abnormal 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101010"/>
                </a:solidFill>
                <a:latin typeface="Purisa"/>
              </a:rPr>
              <a:t>normal, </a:t>
            </a:r>
            <a:r>
              <a:rPr sz="997" b="0" i="0">
                <a:solidFill>
                  <a:srgbClr val="15A7DD"/>
                </a:solidFill>
                <a:latin typeface="Purisa"/>
              </a:rPr>
              <a:t>think before answering</a:t>
            </a:r>
            <a:r>
              <a:rPr sz="997" b="0" i="0">
                <a:solidFill>
                  <a:srgbClr val="101010"/>
                </a:solidFill>
                <a:latin typeface="Purisa"/>
              </a:rPr>
              <a:t>, generate your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101010"/>
                </a:solidFill>
                <a:latin typeface="Purisa"/>
              </a:rPr>
              <a:t>reasoning process and answer enclosed 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101010"/>
                </a:solidFill>
                <a:latin typeface="Purisa"/>
              </a:rPr>
              <a:t>&lt;think&gt;...&lt;/think&gt; and &lt;answer&gt;...&lt;/answer&gt; tags ...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20636" y="6231897"/>
            <a:ext cx="841273" cy="2523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2" b="0" i="0">
                <a:solidFill>
                  <a:srgbClr val="101010"/>
                </a:solidFill>
                <a:latin typeface="Purisa"/>
              </a:rPr>
              <a:t>Trainable</a:t>
            </a:r>
          </a:p>
        </p:txBody>
      </p:sp>
      <p:sp>
        <p:nvSpPr>
          <p:cNvPr id="141" name="Freeform 140"/>
          <p:cNvSpPr/>
          <p:nvPr/>
        </p:nvSpPr>
        <p:spPr>
          <a:xfrm>
            <a:off x="194130" y="6212160"/>
            <a:ext cx="142362" cy="232956"/>
          </a:xfrm>
          <a:custGeom>
            <a:avLst/>
            <a:gdLst/>
            <a:ahLst/>
            <a:cxnLst/>
            <a:rect l="l" t="t" r="r" b="b"/>
            <a:pathLst>
              <a:path w="22" h="36">
                <a:moveTo>
                  <a:pt x="4" y="28"/>
                </a:moveTo>
                <a:lnTo>
                  <a:pt x="0" y="16"/>
                </a:lnTo>
                <a:lnTo>
                  <a:pt x="6" y="6"/>
                </a:lnTo>
                <a:lnTo>
                  <a:pt x="9" y="17"/>
                </a:lnTo>
                <a:lnTo>
                  <a:pt x="16" y="0"/>
                </a:lnTo>
                <a:lnTo>
                  <a:pt x="22" y="13"/>
                </a:lnTo>
                <a:lnTo>
                  <a:pt x="21" y="27"/>
                </a:lnTo>
                <a:lnTo>
                  <a:pt x="14" y="36"/>
                </a:lnTo>
                <a:close/>
              </a:path>
            </a:pathLst>
          </a:custGeom>
          <a:solidFill>
            <a:srgbClr val="F01F18"/>
          </a:solidFill>
          <a:ln w="9059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252369" y="6309225"/>
            <a:ext cx="51768" cy="110007"/>
          </a:xfrm>
          <a:custGeom>
            <a:avLst/>
            <a:gdLst/>
            <a:ahLst/>
            <a:cxnLst/>
            <a:rect l="l" t="t" r="r" b="b"/>
            <a:pathLst>
              <a:path w="8" h="17">
                <a:moveTo>
                  <a:pt x="0" y="15"/>
                </a:moveTo>
                <a:lnTo>
                  <a:pt x="0" y="6"/>
                </a:lnTo>
                <a:lnTo>
                  <a:pt x="5" y="0"/>
                </a:lnTo>
                <a:lnTo>
                  <a:pt x="8" y="10"/>
                </a:lnTo>
                <a:lnTo>
                  <a:pt x="5" y="17"/>
                </a:lnTo>
                <a:close/>
              </a:path>
            </a:pathLst>
          </a:custGeom>
          <a:solidFill>
            <a:srgbClr val="FFD86A"/>
          </a:solidFill>
          <a:ln w="6471">
            <a:solidFill>
              <a:srgbClr val="F01F1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gradFill rotWithShape="1">
            <a:gsLst>
              <a:gs pos="0">
                <a:srgbClr val="B9E16E"/>
              </a:gs>
              <a:gs pos="100000">
                <a:srgbClr val="1A9B16"/>
              </a:gs>
            </a:gsLst>
            <a:lin ang="2700000" scaled="1"/>
          </a:gradFill>
          <a:xfrm>
            <a:off x="1287796" y="6225426"/>
            <a:ext cx="220025" cy="207082"/>
          </a:xfrm>
          <a:prstGeom prst="roundRect">
            <a:avLst/>
          </a:prstGeom>
          <a:ln w="12942">
            <a:solidFill>
              <a:srgbClr val="2D578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287796" y="6218955"/>
            <a:ext cx="220025" cy="220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1" i="0">
                <a:solidFill>
                  <a:srgbClr val="101010"/>
                </a:solidFill>
                <a:latin typeface="Purisa"/>
              </a:rPr>
              <a:t>R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559592" y="6218955"/>
            <a:ext cx="744203" cy="2523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2" b="0" i="0">
                <a:solidFill>
                  <a:srgbClr val="101010"/>
                </a:solidFill>
                <a:latin typeface="Purisa"/>
              </a:rPr>
              <a:t>Rewards</a:t>
            </a:r>
          </a:p>
        </p:txBody>
      </p:sp>
      <p:sp>
        <p:nvSpPr>
          <p:cNvPr id="146" name="Rounded Rectangle 145"/>
          <p:cNvSpPr/>
          <p:nvPr/>
        </p:nvSpPr>
        <p:spPr>
          <a:gradFill rotWithShape="1">
            <a:gsLst>
              <a:gs pos="0">
                <a:srgbClr val="D6E8F6"/>
              </a:gs>
              <a:gs pos="100000">
                <a:srgbClr val="7FA9D1"/>
              </a:gs>
            </a:gsLst>
            <a:lin ang="2700000" scaled="1"/>
          </a:gradFill>
          <a:xfrm>
            <a:off x="2297324" y="6225426"/>
            <a:ext cx="220025" cy="207082"/>
          </a:xfrm>
          <a:prstGeom prst="roundRect">
            <a:avLst/>
          </a:prstGeom>
          <a:ln w="12942">
            <a:solidFill>
              <a:srgbClr val="2D578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297324" y="6218955"/>
            <a:ext cx="220025" cy="220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1" i="0">
                <a:solidFill>
                  <a:srgbClr val="101010"/>
                </a:solidFill>
                <a:latin typeface="Purisa"/>
              </a:rPr>
              <a:t>D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569120" y="6218955"/>
            <a:ext cx="1203668" cy="2523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1" b="0" i="0">
                <a:solidFill>
                  <a:srgbClr val="101010"/>
                </a:solidFill>
                <a:latin typeface="Purisa"/>
              </a:rPr>
              <a:t>KL Divergence</a:t>
            </a:r>
          </a:p>
        </p:txBody>
      </p:sp>
      <p:sp>
        <p:nvSpPr>
          <p:cNvPr id="149" name="Rounded Rectangle 148"/>
          <p:cNvSpPr/>
          <p:nvPr/>
        </p:nvSpPr>
        <p:spPr>
          <a:gradFill rotWithShape="1">
            <a:gsLst>
              <a:gs pos="0">
                <a:srgbClr val="FFF3A7"/>
              </a:gs>
              <a:gs pos="100000">
                <a:srgbClr val="FFD76A"/>
              </a:gs>
            </a:gsLst>
            <a:lin ang="2700000" scaled="1"/>
          </a:gradFill>
          <a:xfrm>
            <a:off x="3785732" y="6225426"/>
            <a:ext cx="220025" cy="207082"/>
          </a:xfrm>
          <a:prstGeom prst="roundRect">
            <a:avLst/>
          </a:prstGeom>
          <a:ln w="12942">
            <a:solidFill>
              <a:srgbClr val="2D578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785732" y="6218955"/>
            <a:ext cx="220025" cy="220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1" i="0">
                <a:solidFill>
                  <a:srgbClr val="101010"/>
                </a:solidFill>
                <a:latin typeface="Purisa"/>
              </a:rPr>
              <a:t>A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057528" y="6218955"/>
            <a:ext cx="815388" cy="2523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7" b="0" i="0">
                <a:solidFill>
                  <a:srgbClr val="101010"/>
                </a:solidFill>
                <a:latin typeface="Purisa"/>
              </a:rPr>
              <a:t>Advantage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68254" y="6471337"/>
            <a:ext cx="226496" cy="25885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2" b="0" i="0">
                <a:solidFill>
                  <a:srgbClr val="3A83C4"/>
                </a:solidFill>
                <a:latin typeface="DejaVu Sans"/>
              </a:rPr>
              <a:t>❄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20636" y="6484280"/>
            <a:ext cx="582420" cy="2523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2" b="0" i="0">
                <a:solidFill>
                  <a:srgbClr val="101010"/>
                </a:solidFill>
                <a:latin typeface="Purisa"/>
              </a:rPr>
              <a:t>Frozen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048356" y="6464866"/>
            <a:ext cx="530649" cy="245910"/>
          </a:xfrm>
          <a:prstGeom prst="roundRect">
            <a:avLst/>
          </a:prstGeom>
          <a:solidFill>
            <a:srgbClr val="EEF2F6"/>
          </a:solidFill>
          <a:ln w="12942">
            <a:solidFill>
              <a:srgbClr val="2D578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074242" y="6471337"/>
            <a:ext cx="478878" cy="23296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01010"/>
                </a:solidFill>
                <a:latin typeface="Purisa"/>
              </a:rPr>
              <a:t>Mean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617834" y="6464866"/>
            <a:ext cx="375337" cy="245910"/>
          </a:xfrm>
          <a:prstGeom prst="roundRect">
            <a:avLst/>
          </a:prstGeom>
          <a:solidFill>
            <a:srgbClr val="EEF2F6"/>
          </a:solidFill>
          <a:ln w="12942">
            <a:solidFill>
              <a:srgbClr val="2D578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643719" y="6471337"/>
            <a:ext cx="323566" cy="23296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01010"/>
                </a:solidFill>
                <a:latin typeface="Purisa"/>
              </a:rPr>
              <a:t>Std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038471" y="6477808"/>
            <a:ext cx="2782675" cy="2717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101010"/>
                </a:solidFill>
                <a:latin typeface="Purisa"/>
              </a:rPr>
              <a:t>Mean &amp; Standard Deviation of Rewards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746547" y="142369"/>
            <a:ext cx="5306496" cy="3753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4" b="1" i="0">
                <a:solidFill>
                  <a:srgbClr val="101010"/>
                </a:solidFill>
                <a:latin typeface="Purisa"/>
              </a:rPr>
              <a:t>Stage 2: AVA-GRPO with Video-level Weak Labels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306496" y="588891"/>
            <a:ext cx="3203312" cy="2717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1010"/>
                </a:solidFill>
                <a:latin typeface="Purisa"/>
              </a:rPr>
              <a:t>Step 1: Generating Completions</a:t>
            </a:r>
          </a:p>
        </p:txBody>
      </p:sp>
      <p:cxnSp>
        <p:nvCxnSpPr>
          <p:cNvPr id="161" name="Connector 160"/>
          <p:cNvCxnSpPr/>
          <p:nvPr/>
        </p:nvCxnSpPr>
        <p:spPr>
          <a:xfrm>
            <a:off x="5306496" y="841273"/>
            <a:ext cx="3203312" cy="0"/>
          </a:xfrm>
          <a:prstGeom prst="line">
            <a:avLst/>
          </a:prstGeom>
          <a:ln w="12942">
            <a:solidFill>
              <a:srgbClr val="101010"/>
            </a:solidFill>
          </a:ln>
          <a:effectLst/>
        </p:spPr>
      </p:cxnSp>
      <p:sp>
        <p:nvSpPr>
          <p:cNvPr id="162" name="Rectangle 161"/>
          <p:cNvSpPr/>
          <p:nvPr/>
        </p:nvSpPr>
        <p:spPr>
          <a:xfrm>
            <a:off x="5300025" y="931872"/>
            <a:ext cx="2698547" cy="543592"/>
          </a:xfrm>
          <a:prstGeom prst="rect">
            <a:avLst/>
          </a:prstGeom>
          <a:solidFill>
            <a:srgbClr val="101010"/>
          </a:solidFill>
          <a:ln w="12942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5370187" y="964229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5370187" y="1391337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5478129" y="964229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Rounded Rectangle 165"/>
          <p:cNvSpPr/>
          <p:nvPr/>
        </p:nvSpPr>
        <p:spPr>
          <a:xfrm>
            <a:off x="5478129" y="1391337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5586071" y="964229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Rounded Rectangle 167"/>
          <p:cNvSpPr/>
          <p:nvPr/>
        </p:nvSpPr>
        <p:spPr>
          <a:xfrm>
            <a:off x="5586071" y="1391337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5694013" y="964229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5694013" y="1391337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Rounded Rectangle 170"/>
          <p:cNvSpPr/>
          <p:nvPr/>
        </p:nvSpPr>
        <p:spPr>
          <a:xfrm>
            <a:off x="5801955" y="964229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Rounded Rectangle 171"/>
          <p:cNvSpPr/>
          <p:nvPr/>
        </p:nvSpPr>
        <p:spPr>
          <a:xfrm>
            <a:off x="5801955" y="1391337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5909897" y="964229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5909897" y="1391337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Rounded Rectangle 174"/>
          <p:cNvSpPr/>
          <p:nvPr/>
        </p:nvSpPr>
        <p:spPr>
          <a:xfrm>
            <a:off x="6017839" y="964229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6017839" y="1391337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6125780" y="964229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Rounded Rectangle 177"/>
          <p:cNvSpPr/>
          <p:nvPr/>
        </p:nvSpPr>
        <p:spPr>
          <a:xfrm>
            <a:off x="6125780" y="1391337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6233722" y="964229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6233722" y="1391337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6341664" y="964229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Rounded Rectangle 181"/>
          <p:cNvSpPr/>
          <p:nvPr/>
        </p:nvSpPr>
        <p:spPr>
          <a:xfrm>
            <a:off x="6341664" y="1391337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Rounded Rectangle 182"/>
          <p:cNvSpPr/>
          <p:nvPr/>
        </p:nvSpPr>
        <p:spPr>
          <a:xfrm>
            <a:off x="6449606" y="964229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Rounded Rectangle 183"/>
          <p:cNvSpPr/>
          <p:nvPr/>
        </p:nvSpPr>
        <p:spPr>
          <a:xfrm>
            <a:off x="6449606" y="1391337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Rounded Rectangle 184"/>
          <p:cNvSpPr/>
          <p:nvPr/>
        </p:nvSpPr>
        <p:spPr>
          <a:xfrm>
            <a:off x="6557548" y="964229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Rounded Rectangle 185"/>
          <p:cNvSpPr/>
          <p:nvPr/>
        </p:nvSpPr>
        <p:spPr>
          <a:xfrm>
            <a:off x="6557548" y="1391337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Rounded Rectangle 186"/>
          <p:cNvSpPr/>
          <p:nvPr/>
        </p:nvSpPr>
        <p:spPr>
          <a:xfrm>
            <a:off x="6665490" y="964229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Rounded Rectangle 187"/>
          <p:cNvSpPr/>
          <p:nvPr/>
        </p:nvSpPr>
        <p:spPr>
          <a:xfrm>
            <a:off x="6665490" y="1391337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Rounded Rectangle 188"/>
          <p:cNvSpPr/>
          <p:nvPr/>
        </p:nvSpPr>
        <p:spPr>
          <a:xfrm>
            <a:off x="6773432" y="964229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Rounded Rectangle 189"/>
          <p:cNvSpPr/>
          <p:nvPr/>
        </p:nvSpPr>
        <p:spPr>
          <a:xfrm>
            <a:off x="6773432" y="1391337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Rounded Rectangle 190"/>
          <p:cNvSpPr/>
          <p:nvPr/>
        </p:nvSpPr>
        <p:spPr>
          <a:xfrm>
            <a:off x="6881374" y="964229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Rounded Rectangle 191"/>
          <p:cNvSpPr/>
          <p:nvPr/>
        </p:nvSpPr>
        <p:spPr>
          <a:xfrm>
            <a:off x="6881374" y="1391337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Rounded Rectangle 192"/>
          <p:cNvSpPr/>
          <p:nvPr/>
        </p:nvSpPr>
        <p:spPr>
          <a:xfrm>
            <a:off x="6989316" y="964229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Rounded Rectangle 193"/>
          <p:cNvSpPr/>
          <p:nvPr/>
        </p:nvSpPr>
        <p:spPr>
          <a:xfrm>
            <a:off x="6989316" y="1391337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Rounded Rectangle 194"/>
          <p:cNvSpPr/>
          <p:nvPr/>
        </p:nvSpPr>
        <p:spPr>
          <a:xfrm>
            <a:off x="7097258" y="964229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Rounded Rectangle 195"/>
          <p:cNvSpPr/>
          <p:nvPr/>
        </p:nvSpPr>
        <p:spPr>
          <a:xfrm>
            <a:off x="7097258" y="1391337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Rounded Rectangle 196"/>
          <p:cNvSpPr/>
          <p:nvPr/>
        </p:nvSpPr>
        <p:spPr>
          <a:xfrm>
            <a:off x="7205200" y="964229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Rounded Rectangle 197"/>
          <p:cNvSpPr/>
          <p:nvPr/>
        </p:nvSpPr>
        <p:spPr>
          <a:xfrm>
            <a:off x="7205200" y="1391337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Rounded Rectangle 198"/>
          <p:cNvSpPr/>
          <p:nvPr/>
        </p:nvSpPr>
        <p:spPr>
          <a:xfrm>
            <a:off x="7313141" y="964229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Rounded Rectangle 199"/>
          <p:cNvSpPr/>
          <p:nvPr/>
        </p:nvSpPr>
        <p:spPr>
          <a:xfrm>
            <a:off x="7313141" y="1391337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Rounded Rectangle 200"/>
          <p:cNvSpPr/>
          <p:nvPr/>
        </p:nvSpPr>
        <p:spPr>
          <a:xfrm>
            <a:off x="7421083" y="964229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ounded Rectangle 201"/>
          <p:cNvSpPr/>
          <p:nvPr/>
        </p:nvSpPr>
        <p:spPr>
          <a:xfrm>
            <a:off x="7421083" y="1391337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Rounded Rectangle 202"/>
          <p:cNvSpPr/>
          <p:nvPr/>
        </p:nvSpPr>
        <p:spPr>
          <a:xfrm>
            <a:off x="7529025" y="964229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Rounded Rectangle 203"/>
          <p:cNvSpPr/>
          <p:nvPr/>
        </p:nvSpPr>
        <p:spPr>
          <a:xfrm>
            <a:off x="7529025" y="1391337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ounded Rectangle 204"/>
          <p:cNvSpPr/>
          <p:nvPr/>
        </p:nvSpPr>
        <p:spPr>
          <a:xfrm>
            <a:off x="7636967" y="964229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Rounded Rectangle 205"/>
          <p:cNvSpPr/>
          <p:nvPr/>
        </p:nvSpPr>
        <p:spPr>
          <a:xfrm>
            <a:off x="7636967" y="1391337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Rounded Rectangle 206"/>
          <p:cNvSpPr/>
          <p:nvPr/>
        </p:nvSpPr>
        <p:spPr>
          <a:xfrm>
            <a:off x="7744909" y="964229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Rounded Rectangle 207"/>
          <p:cNvSpPr/>
          <p:nvPr/>
        </p:nvSpPr>
        <p:spPr>
          <a:xfrm>
            <a:off x="7744909" y="1391337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Rounded Rectangle 208"/>
          <p:cNvSpPr/>
          <p:nvPr/>
        </p:nvSpPr>
        <p:spPr>
          <a:xfrm>
            <a:off x="7852851" y="964229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Rounded Rectangle 209"/>
          <p:cNvSpPr/>
          <p:nvPr/>
        </p:nvSpPr>
        <p:spPr>
          <a:xfrm>
            <a:off x="7852851" y="1391337"/>
            <a:ext cx="62606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1" name="Picture 210" descr="video_fram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5324" y="1048356"/>
            <a:ext cx="511235" cy="310624"/>
          </a:xfrm>
          <a:prstGeom prst="rect">
            <a:avLst/>
          </a:prstGeom>
        </p:spPr>
      </p:pic>
      <p:pic>
        <p:nvPicPr>
          <p:cNvPr id="212" name="Picture 211" descr="video_fram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503" y="1048356"/>
            <a:ext cx="511235" cy="310624"/>
          </a:xfrm>
          <a:prstGeom prst="rect">
            <a:avLst/>
          </a:prstGeom>
        </p:spPr>
      </p:pic>
      <p:cxnSp>
        <p:nvCxnSpPr>
          <p:cNvPr id="213" name="Connector 212"/>
          <p:cNvCxnSpPr/>
          <p:nvPr/>
        </p:nvCxnSpPr>
        <p:spPr>
          <a:xfrm>
            <a:off x="5863031" y="1048356"/>
            <a:ext cx="0" cy="310624"/>
          </a:xfrm>
          <a:prstGeom prst="line">
            <a:avLst/>
          </a:prstGeom>
          <a:ln w="12942">
            <a:solidFill>
              <a:srgbClr val="101010"/>
            </a:solidFill>
          </a:ln>
          <a:effectLst/>
        </p:spPr>
      </p:cxnSp>
      <p:pic>
        <p:nvPicPr>
          <p:cNvPr id="214" name="Picture 213" descr="video_fram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681" y="1048356"/>
            <a:ext cx="511235" cy="310624"/>
          </a:xfrm>
          <a:prstGeom prst="rect">
            <a:avLst/>
          </a:prstGeom>
        </p:spPr>
      </p:pic>
      <p:cxnSp>
        <p:nvCxnSpPr>
          <p:cNvPr id="215" name="Connector 214"/>
          <p:cNvCxnSpPr/>
          <p:nvPr/>
        </p:nvCxnSpPr>
        <p:spPr>
          <a:xfrm>
            <a:off x="6387210" y="1048356"/>
            <a:ext cx="0" cy="310624"/>
          </a:xfrm>
          <a:prstGeom prst="line">
            <a:avLst/>
          </a:prstGeom>
          <a:ln w="12942">
            <a:solidFill>
              <a:srgbClr val="101010"/>
            </a:solidFill>
          </a:ln>
          <a:effectLst/>
        </p:spPr>
      </p:cxnSp>
      <p:pic>
        <p:nvPicPr>
          <p:cNvPr id="216" name="Picture 215" descr="video_fram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7859" y="1048356"/>
            <a:ext cx="511235" cy="310624"/>
          </a:xfrm>
          <a:prstGeom prst="rect">
            <a:avLst/>
          </a:prstGeom>
        </p:spPr>
      </p:pic>
      <p:cxnSp>
        <p:nvCxnSpPr>
          <p:cNvPr id="217" name="Connector 216"/>
          <p:cNvCxnSpPr/>
          <p:nvPr/>
        </p:nvCxnSpPr>
        <p:spPr>
          <a:xfrm>
            <a:off x="6911388" y="1048356"/>
            <a:ext cx="0" cy="310624"/>
          </a:xfrm>
          <a:prstGeom prst="line">
            <a:avLst/>
          </a:prstGeom>
          <a:ln w="12942">
            <a:solidFill>
              <a:srgbClr val="101010"/>
            </a:solidFill>
          </a:ln>
          <a:effectLst/>
        </p:spPr>
      </p:cxnSp>
      <p:pic>
        <p:nvPicPr>
          <p:cNvPr id="218" name="Picture 217" descr="video_frame_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2038" y="1048356"/>
            <a:ext cx="511235" cy="310624"/>
          </a:xfrm>
          <a:prstGeom prst="rect">
            <a:avLst/>
          </a:prstGeom>
        </p:spPr>
      </p:pic>
      <p:cxnSp>
        <p:nvCxnSpPr>
          <p:cNvPr id="219" name="Connector 218"/>
          <p:cNvCxnSpPr/>
          <p:nvPr/>
        </p:nvCxnSpPr>
        <p:spPr>
          <a:xfrm>
            <a:off x="7435566" y="1048356"/>
            <a:ext cx="0" cy="310624"/>
          </a:xfrm>
          <a:prstGeom prst="line">
            <a:avLst/>
          </a:prstGeom>
          <a:ln w="12942">
            <a:solidFill>
              <a:srgbClr val="101010"/>
            </a:solidFill>
          </a:ln>
          <a:effectLst/>
        </p:spPr>
      </p:cxnSp>
      <p:sp>
        <p:nvSpPr>
          <p:cNvPr id="220" name="Rectangle 219"/>
          <p:cNvSpPr/>
          <p:nvPr/>
        </p:nvSpPr>
        <p:spPr>
          <a:xfrm>
            <a:off x="5338853" y="1048356"/>
            <a:ext cx="2620891" cy="310624"/>
          </a:xfrm>
          <a:prstGeom prst="rect">
            <a:avLst/>
          </a:prstGeom>
          <a:noFill/>
          <a:ln w="12942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5953630" y="1462522"/>
            <a:ext cx="1650191" cy="2717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3" b="1" i="0">
                <a:solidFill>
                  <a:srgbClr val="101010"/>
                </a:solidFill>
                <a:latin typeface="Purisa"/>
              </a:rPr>
              <a:t>Untrimmed Video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8056815" y="1126012"/>
            <a:ext cx="239439" cy="2588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4" b="1" i="0">
                <a:solidFill>
                  <a:srgbClr val="101010"/>
                </a:solidFill>
                <a:latin typeface="Purisa"/>
              </a:rPr>
              <a:t>+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8557308" y="974842"/>
            <a:ext cx="228179" cy="164501"/>
          </a:xfrm>
          <a:prstGeom prst="roundRect">
            <a:avLst/>
          </a:prstGeom>
          <a:solidFill>
            <a:srgbClr val="CFE2F3"/>
          </a:solidFill>
          <a:ln w="10612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4" name="Connector 223"/>
          <p:cNvCxnSpPr/>
          <p:nvPr/>
        </p:nvCxnSpPr>
        <p:spPr>
          <a:xfrm>
            <a:off x="8594453" y="1017294"/>
            <a:ext cx="143276" cy="0"/>
          </a:xfrm>
          <a:prstGeom prst="line">
            <a:avLst/>
          </a:prstGeom>
          <a:ln w="10612">
            <a:solidFill>
              <a:srgbClr val="3A83C4"/>
            </a:solidFill>
          </a:ln>
          <a:effectLst/>
        </p:spPr>
      </p:cxnSp>
      <p:cxnSp>
        <p:nvCxnSpPr>
          <p:cNvPr id="225" name="Connector 224"/>
          <p:cNvCxnSpPr/>
          <p:nvPr/>
        </p:nvCxnSpPr>
        <p:spPr>
          <a:xfrm>
            <a:off x="8594453" y="1054439"/>
            <a:ext cx="111437" cy="0"/>
          </a:xfrm>
          <a:prstGeom prst="line">
            <a:avLst/>
          </a:prstGeom>
          <a:ln w="10612">
            <a:solidFill>
              <a:srgbClr val="3A83C4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 flipH="1">
            <a:off x="8668744" y="1128730"/>
            <a:ext cx="15920" cy="153889"/>
          </a:xfrm>
          <a:prstGeom prst="line">
            <a:avLst/>
          </a:prstGeom>
          <a:ln w="10612">
            <a:solidFill>
              <a:srgbClr val="101010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 flipV="1">
            <a:off x="8509549" y="1075665"/>
            <a:ext cx="201647" cy="95517"/>
          </a:xfrm>
          <a:prstGeom prst="line">
            <a:avLst/>
          </a:prstGeom>
          <a:ln w="10612">
            <a:solidFill>
              <a:srgbClr val="101010"/>
            </a:solidFill>
          </a:ln>
          <a:effectLst/>
        </p:spPr>
      </p:cxnSp>
      <p:sp>
        <p:nvSpPr>
          <p:cNvPr id="228" name="Oval 227"/>
          <p:cNvSpPr/>
          <p:nvPr/>
        </p:nvSpPr>
        <p:spPr>
          <a:xfrm>
            <a:off x="8429952" y="1054439"/>
            <a:ext cx="164501" cy="180420"/>
          </a:xfrm>
          <a:prstGeom prst="ellipse">
            <a:avLst/>
          </a:prstGeom>
          <a:solidFill>
            <a:srgbClr val="3B2B2A"/>
          </a:solidFill>
          <a:ln w="10612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8456484" y="1070359"/>
            <a:ext cx="127355" cy="148581"/>
          </a:xfrm>
          <a:prstGeom prst="ellipse">
            <a:avLst/>
          </a:prstGeom>
          <a:solidFill>
            <a:srgbClr val="FFD7C2"/>
          </a:solidFill>
          <a:ln w="902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8386416" y="1216548"/>
            <a:ext cx="239427" cy="110007"/>
          </a:xfrm>
          <a:custGeom>
            <a:avLst/>
            <a:gdLst/>
            <a:ahLst/>
            <a:cxnLst/>
            <a:rect l="l" t="t" r="r" b="b"/>
            <a:pathLst>
              <a:path w="37" h="17">
                <a:moveTo>
                  <a:pt x="0" y="17"/>
                </a:moveTo>
                <a:lnTo>
                  <a:pt x="7" y="0"/>
                </a:lnTo>
                <a:lnTo>
                  <a:pt x="28" y="0"/>
                </a:lnTo>
                <a:lnTo>
                  <a:pt x="37" y="17"/>
                </a:lnTo>
                <a:close/>
              </a:path>
            </a:pathLst>
          </a:custGeom>
          <a:solidFill>
            <a:srgbClr val="AEE676"/>
          </a:solidFill>
          <a:ln w="10612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8457597" y="1216548"/>
            <a:ext cx="97065" cy="58239"/>
          </a:xfrm>
          <a:custGeom>
            <a:avLst/>
            <a:gdLst/>
            <a:ahLst/>
            <a:cxnLst/>
            <a:rect l="l" t="t" r="r" b="b"/>
            <a:pathLst>
              <a:path w="15" h="9">
                <a:moveTo>
                  <a:pt x="0" y="0"/>
                </a:moveTo>
                <a:lnTo>
                  <a:pt x="7" y="9"/>
                </a:lnTo>
                <a:lnTo>
                  <a:pt x="15" y="0"/>
                </a:lnTo>
                <a:close/>
              </a:path>
            </a:pathLst>
          </a:custGeom>
          <a:solidFill>
            <a:srgbClr val="FFFFFF"/>
          </a:solidFill>
          <a:ln w="7429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2" name="Connector 231"/>
          <p:cNvCxnSpPr/>
          <p:nvPr/>
        </p:nvCxnSpPr>
        <p:spPr>
          <a:xfrm>
            <a:off x="8504243" y="1272006"/>
            <a:ext cx="0" cy="53065"/>
          </a:xfrm>
          <a:prstGeom prst="line">
            <a:avLst/>
          </a:prstGeom>
          <a:ln w="7429">
            <a:solidFill>
              <a:srgbClr val="101010"/>
            </a:solidFill>
          </a:ln>
          <a:effectLst/>
        </p:spPr>
      </p:cxnSp>
      <p:sp>
        <p:nvSpPr>
          <p:cNvPr id="233" name="TextBox 232"/>
          <p:cNvSpPr txBox="1"/>
          <p:nvPr/>
        </p:nvSpPr>
        <p:spPr>
          <a:xfrm>
            <a:off x="8270369" y="1436636"/>
            <a:ext cx="828331" cy="2717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6" b="1" i="0">
                <a:solidFill>
                  <a:srgbClr val="101010"/>
                </a:solidFill>
                <a:latin typeface="Purisa"/>
              </a:rPr>
              <a:t>Prompt</a:t>
            </a:r>
          </a:p>
        </p:txBody>
      </p:sp>
      <p:cxnSp>
        <p:nvCxnSpPr>
          <p:cNvPr id="234" name="Connector 233"/>
          <p:cNvCxnSpPr/>
          <p:nvPr/>
        </p:nvCxnSpPr>
        <p:spPr>
          <a:xfrm>
            <a:off x="8865732" y="1190726"/>
            <a:ext cx="323567" cy="0"/>
          </a:xfrm>
          <a:prstGeom prst="line">
            <a:avLst/>
          </a:prstGeom>
          <a:ln w="25885">
            <a:solidFill>
              <a:srgbClr val="101010"/>
            </a:solidFill>
            <a:tailEnd type="triangle" w="sm" len="sm"/>
          </a:ln>
          <a:effectLst/>
        </p:spPr>
      </p:cxnSp>
      <p:cxnSp>
        <p:nvCxnSpPr>
          <p:cNvPr id="235" name="Connector 234"/>
          <p:cNvCxnSpPr/>
          <p:nvPr/>
        </p:nvCxnSpPr>
        <p:spPr>
          <a:xfrm flipH="1" flipV="1">
            <a:off x="9454300" y="742262"/>
            <a:ext cx="11001" cy="38504"/>
          </a:xfrm>
          <a:prstGeom prst="line">
            <a:avLst/>
          </a:prstGeom>
          <a:ln w="11001">
            <a:solidFill>
              <a:srgbClr val="101010"/>
            </a:solidFill>
          </a:ln>
          <a:effectLst/>
        </p:spPr>
      </p:cxnSp>
      <p:sp>
        <p:nvSpPr>
          <p:cNvPr id="236" name="Oval 235"/>
          <p:cNvSpPr/>
          <p:nvPr/>
        </p:nvSpPr>
        <p:spPr>
          <a:xfrm>
            <a:off x="9437798" y="725760"/>
            <a:ext cx="38504" cy="38504"/>
          </a:xfrm>
          <a:prstGeom prst="ellipse">
            <a:avLst/>
          </a:prstGeom>
          <a:solidFill>
            <a:srgbClr val="F01F18"/>
          </a:solidFill>
          <a:ln w="82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9514807" y="720259"/>
            <a:ext cx="38504" cy="38504"/>
          </a:xfrm>
          <a:prstGeom prst="ellipse">
            <a:avLst/>
          </a:prstGeom>
          <a:solidFill>
            <a:srgbClr val="F01F18"/>
          </a:solidFill>
          <a:ln w="82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9591816" y="731261"/>
            <a:ext cx="38504" cy="38504"/>
          </a:xfrm>
          <a:prstGeom prst="ellipse">
            <a:avLst/>
          </a:prstGeom>
          <a:solidFill>
            <a:srgbClr val="F01F18"/>
          </a:solidFill>
          <a:ln w="82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Rounded Rectangle 238"/>
          <p:cNvSpPr/>
          <p:nvPr/>
        </p:nvSpPr>
        <p:spPr>
          <a:xfrm>
            <a:off x="9289281" y="841273"/>
            <a:ext cx="66007" cy="159518"/>
          </a:xfrm>
          <a:prstGeom prst="roundRect">
            <a:avLst/>
          </a:prstGeom>
          <a:solidFill>
            <a:srgbClr val="8ED0E5"/>
          </a:solidFill>
          <a:ln w="1100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Rounded Rectangle 239"/>
          <p:cNvSpPr/>
          <p:nvPr/>
        </p:nvSpPr>
        <p:spPr>
          <a:xfrm>
            <a:off x="9679826" y="841273"/>
            <a:ext cx="66007" cy="159518"/>
          </a:xfrm>
          <a:prstGeom prst="roundRect">
            <a:avLst/>
          </a:prstGeom>
          <a:solidFill>
            <a:srgbClr val="8ED0E5"/>
          </a:solidFill>
          <a:ln w="1100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Rounded Rectangle 240"/>
          <p:cNvSpPr/>
          <p:nvPr/>
        </p:nvSpPr>
        <p:spPr>
          <a:xfrm>
            <a:off x="9327785" y="775266"/>
            <a:ext cx="385044" cy="308035"/>
          </a:xfrm>
          <a:prstGeom prst="roundRect">
            <a:avLst/>
          </a:prstGeom>
          <a:solidFill>
            <a:srgbClr val="8ED0E5"/>
          </a:solidFill>
          <a:ln w="1375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ounded Rectangle 241"/>
          <p:cNvSpPr/>
          <p:nvPr/>
        </p:nvSpPr>
        <p:spPr>
          <a:xfrm>
            <a:off x="9366290" y="813770"/>
            <a:ext cx="308035" cy="214524"/>
          </a:xfrm>
          <a:prstGeom prst="roundRect">
            <a:avLst/>
          </a:prstGeom>
          <a:solidFill>
            <a:srgbClr val="D5EEF7"/>
          </a:solidFill>
          <a:ln w="990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9426797" y="868777"/>
            <a:ext cx="33003" cy="38504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9575314" y="868777"/>
            <a:ext cx="33003" cy="38504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5" name="Connector 244"/>
          <p:cNvCxnSpPr/>
          <p:nvPr/>
        </p:nvCxnSpPr>
        <p:spPr>
          <a:xfrm>
            <a:off x="9492804" y="885278"/>
            <a:ext cx="27504" cy="22003"/>
          </a:xfrm>
          <a:prstGeom prst="line">
            <a:avLst/>
          </a:prstGeom>
          <a:ln w="9901">
            <a:solidFill>
              <a:srgbClr val="101010"/>
            </a:solidFill>
          </a:ln>
          <a:effectLst/>
        </p:spPr>
      </p:cxnSp>
      <p:cxnSp>
        <p:nvCxnSpPr>
          <p:cNvPr id="246" name="Connector 245"/>
          <p:cNvCxnSpPr/>
          <p:nvPr/>
        </p:nvCxnSpPr>
        <p:spPr>
          <a:xfrm flipV="1">
            <a:off x="9520308" y="885278"/>
            <a:ext cx="27503" cy="22003"/>
          </a:xfrm>
          <a:prstGeom prst="line">
            <a:avLst/>
          </a:prstGeom>
          <a:ln w="9901">
            <a:solidFill>
              <a:srgbClr val="101010"/>
            </a:solidFill>
          </a:ln>
          <a:effectLst/>
        </p:spPr>
      </p:cxnSp>
      <p:cxnSp>
        <p:nvCxnSpPr>
          <p:cNvPr id="247" name="Connector 246"/>
          <p:cNvCxnSpPr/>
          <p:nvPr/>
        </p:nvCxnSpPr>
        <p:spPr>
          <a:xfrm>
            <a:off x="9476302" y="962287"/>
            <a:ext cx="88011" cy="0"/>
          </a:xfrm>
          <a:prstGeom prst="line">
            <a:avLst/>
          </a:prstGeom>
          <a:ln w="9901">
            <a:solidFill>
              <a:srgbClr val="101010"/>
            </a:solidFill>
          </a:ln>
          <a:effectLst/>
        </p:spPr>
      </p:cxnSp>
      <p:sp>
        <p:nvSpPr>
          <p:cNvPr id="248" name="Freeform 247"/>
          <p:cNvSpPr/>
          <p:nvPr/>
        </p:nvSpPr>
        <p:spPr>
          <a:xfrm>
            <a:off x="9395892" y="1080657"/>
            <a:ext cx="252369" cy="77652"/>
          </a:xfrm>
          <a:custGeom>
            <a:avLst/>
            <a:gdLst/>
            <a:ahLst/>
            <a:cxnLst/>
            <a:rect l="l" t="t" r="r" b="b"/>
            <a:pathLst>
              <a:path w="39" h="12">
                <a:moveTo>
                  <a:pt x="0" y="0"/>
                </a:moveTo>
                <a:lnTo>
                  <a:pt x="39" y="0"/>
                </a:lnTo>
                <a:lnTo>
                  <a:pt x="34" y="12"/>
                </a:lnTo>
                <a:lnTo>
                  <a:pt x="5" y="12"/>
                </a:lnTo>
                <a:close/>
              </a:path>
            </a:pathLst>
          </a:custGeom>
          <a:solidFill>
            <a:srgbClr val="8ED0E5"/>
          </a:solidFill>
          <a:ln w="1100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Rounded Rectangle 248"/>
          <p:cNvSpPr/>
          <p:nvPr/>
        </p:nvSpPr>
        <p:spPr>
          <a:xfrm>
            <a:off x="9454300" y="1160310"/>
            <a:ext cx="132015" cy="27503"/>
          </a:xfrm>
          <a:prstGeom prst="roundRect">
            <a:avLst/>
          </a:prstGeom>
          <a:solidFill>
            <a:srgbClr val="8ED0E5"/>
          </a:solidFill>
          <a:ln w="825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9432297" y="1066799"/>
            <a:ext cx="176020" cy="8801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33" b="1" i="0">
                <a:solidFill>
                  <a:srgbClr val="101010"/>
                </a:solidFill>
                <a:latin typeface="DejaVu Sans"/>
              </a:rPr>
              <a:t>AI</a:t>
            </a:r>
          </a:p>
        </p:txBody>
      </p:sp>
      <p:sp>
        <p:nvSpPr>
          <p:cNvPr id="251" name="Freeform 250"/>
          <p:cNvSpPr/>
          <p:nvPr/>
        </p:nvSpPr>
        <p:spPr>
          <a:xfrm>
            <a:off x="9641790" y="692397"/>
            <a:ext cx="116478" cy="168246"/>
          </a:xfrm>
          <a:custGeom>
            <a:avLst/>
            <a:gdLst/>
            <a:ahLst/>
            <a:cxnLst/>
            <a:rect l="l" t="t" r="r" b="b"/>
            <a:pathLst>
              <a:path w="18" h="26">
                <a:moveTo>
                  <a:pt x="0" y="20"/>
                </a:moveTo>
                <a:lnTo>
                  <a:pt x="4" y="9"/>
                </a:lnTo>
                <a:lnTo>
                  <a:pt x="8" y="15"/>
                </a:lnTo>
                <a:lnTo>
                  <a:pt x="13" y="0"/>
                </a:lnTo>
                <a:lnTo>
                  <a:pt x="18" y="10"/>
                </a:lnTo>
                <a:lnTo>
                  <a:pt x="18" y="18"/>
                </a:lnTo>
                <a:lnTo>
                  <a:pt x="13" y="26"/>
                </a:lnTo>
                <a:lnTo>
                  <a:pt x="5" y="26"/>
                </a:lnTo>
                <a:close/>
              </a:path>
            </a:pathLst>
          </a:custGeom>
          <a:solidFill>
            <a:srgbClr val="F01F18"/>
          </a:solidFill>
          <a:ln w="990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9687087" y="770049"/>
            <a:ext cx="58239" cy="77652"/>
          </a:xfrm>
          <a:custGeom>
            <a:avLst/>
            <a:gdLst/>
            <a:ahLst/>
            <a:cxnLst/>
            <a:rect l="l" t="t" r="r" b="b"/>
            <a:pathLst>
              <a:path w="9" h="12">
                <a:moveTo>
                  <a:pt x="0" y="8"/>
                </a:moveTo>
                <a:lnTo>
                  <a:pt x="3" y="1"/>
                </a:lnTo>
                <a:lnTo>
                  <a:pt x="6" y="6"/>
                </a:lnTo>
                <a:lnTo>
                  <a:pt x="8" y="0"/>
                </a:lnTo>
                <a:lnTo>
                  <a:pt x="9" y="8"/>
                </a:lnTo>
                <a:lnTo>
                  <a:pt x="6" y="12"/>
                </a:lnTo>
                <a:close/>
              </a:path>
            </a:pathLst>
          </a:custGeom>
          <a:solidFill>
            <a:srgbClr val="FFD86A"/>
          </a:solidFill>
          <a:ln w="6600">
            <a:solidFill>
              <a:srgbClr val="F01F1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9228127" y="1236025"/>
            <a:ext cx="724789" cy="401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6" b="1" i="0">
                <a:solidFill>
                  <a:srgbClr val="101010"/>
                </a:solidFill>
                <a:latin typeface="Purisa"/>
              </a:rPr>
              <a:t>Policy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6" b="1" i="0">
                <a:solidFill>
                  <a:srgbClr val="101010"/>
                </a:solidFill>
                <a:latin typeface="Purisa"/>
              </a:rPr>
              <a:t>Model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9901146" y="912458"/>
            <a:ext cx="873630" cy="2588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2" b="0" i="1">
                <a:solidFill>
                  <a:srgbClr val="101010"/>
                </a:solidFill>
                <a:latin typeface="Purisa"/>
              </a:rPr>
              <a:t>Generate</a:t>
            </a:r>
          </a:p>
        </p:txBody>
      </p:sp>
      <p:cxnSp>
        <p:nvCxnSpPr>
          <p:cNvPr id="255" name="Connector 254"/>
          <p:cNvCxnSpPr/>
          <p:nvPr/>
        </p:nvCxnSpPr>
        <p:spPr>
          <a:xfrm>
            <a:off x="9907617" y="1190726"/>
            <a:ext cx="737733" cy="0"/>
          </a:xfrm>
          <a:prstGeom prst="line">
            <a:avLst/>
          </a:prstGeom>
          <a:ln w="25885">
            <a:solidFill>
              <a:srgbClr val="101010"/>
            </a:solidFill>
            <a:tailEnd type="triangle" w="sm" len="sm"/>
          </a:ln>
          <a:effectLst/>
        </p:spPr>
      </p:cxnSp>
      <p:sp>
        <p:nvSpPr>
          <p:cNvPr id="256" name="Rounded Rectangle 255"/>
          <p:cNvSpPr/>
          <p:nvPr/>
        </p:nvSpPr>
        <p:spPr>
          <a:xfrm>
            <a:off x="10748891" y="588891"/>
            <a:ext cx="1087184" cy="252382"/>
          </a:xfrm>
          <a:prstGeom prst="roundRect">
            <a:avLst/>
          </a:prstGeom>
          <a:solidFill>
            <a:srgbClr val="F5AE7E"/>
          </a:solidFill>
          <a:ln w="12942">
            <a:solidFill>
              <a:srgbClr val="2D578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10774776" y="595363"/>
            <a:ext cx="1035413" cy="23943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101010"/>
                </a:solidFill>
                <a:latin typeface="Purisa"/>
              </a:rPr>
              <a:t>Completion 1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10748891" y="899515"/>
            <a:ext cx="1087184" cy="252382"/>
          </a:xfrm>
          <a:prstGeom prst="roundRect">
            <a:avLst/>
          </a:prstGeom>
          <a:solidFill>
            <a:srgbClr val="F5AE7E"/>
          </a:solidFill>
          <a:ln w="12942">
            <a:solidFill>
              <a:srgbClr val="2D578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10774776" y="905987"/>
            <a:ext cx="1035413" cy="23943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101010"/>
                </a:solidFill>
                <a:latin typeface="Purisa"/>
              </a:rPr>
              <a:t>Completion 2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0619464" y="1248968"/>
            <a:ext cx="1352509" cy="4076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8" b="1" i="1">
                <a:solidFill>
                  <a:srgbClr val="101010"/>
                </a:solidFill>
                <a:latin typeface="Purisa"/>
              </a:rPr>
              <a:t>A Group of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8" b="1" i="1">
                <a:solidFill>
                  <a:srgbClr val="101010"/>
                </a:solidFill>
                <a:latin typeface="Purisa"/>
              </a:rPr>
              <a:t>Completions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5312968" y="1747261"/>
            <a:ext cx="2232611" cy="2717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3" b="1" i="0">
                <a:solidFill>
                  <a:srgbClr val="101010"/>
                </a:solidFill>
                <a:latin typeface="Purisa"/>
              </a:rPr>
              <a:t>Step 2: Computing Rewards</a:t>
            </a:r>
          </a:p>
        </p:txBody>
      </p:sp>
      <p:cxnSp>
        <p:nvCxnSpPr>
          <p:cNvPr id="262" name="Connector 261"/>
          <p:cNvCxnSpPr/>
          <p:nvPr/>
        </p:nvCxnSpPr>
        <p:spPr>
          <a:xfrm>
            <a:off x="5312968" y="1999643"/>
            <a:ext cx="2232611" cy="0"/>
          </a:xfrm>
          <a:prstGeom prst="line">
            <a:avLst/>
          </a:prstGeom>
          <a:ln w="12942">
            <a:solidFill>
              <a:srgbClr val="101010"/>
            </a:solidFill>
          </a:ln>
          <a:effectLst/>
        </p:spPr>
      </p:cxnSp>
      <p:sp>
        <p:nvSpPr>
          <p:cNvPr id="263" name="Rounded Rectangle 262"/>
          <p:cNvSpPr/>
          <p:nvPr/>
        </p:nvSpPr>
        <p:spPr>
          <a:xfrm>
            <a:off x="5377681" y="2116127"/>
            <a:ext cx="1087184" cy="252382"/>
          </a:xfrm>
          <a:prstGeom prst="roundRect">
            <a:avLst/>
          </a:prstGeom>
          <a:solidFill>
            <a:srgbClr val="F5AE7E"/>
          </a:solidFill>
          <a:ln w="12942">
            <a:solidFill>
              <a:srgbClr val="2D578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5403566" y="2122598"/>
            <a:ext cx="1035413" cy="23943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101010"/>
                </a:solidFill>
                <a:latin typeface="Purisa"/>
              </a:rPr>
              <a:t>Completion 1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5526522" y="2400866"/>
            <a:ext cx="860687" cy="4271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101010"/>
                </a:solidFill>
                <a:latin typeface="Purisa"/>
              </a:rPr>
              <a:t>Extract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101010"/>
                </a:solidFill>
                <a:latin typeface="Purisa"/>
              </a:rPr>
              <a:t>Prediction</a:t>
            </a:r>
          </a:p>
        </p:txBody>
      </p:sp>
      <p:cxnSp>
        <p:nvCxnSpPr>
          <p:cNvPr id="266" name="Connector 265"/>
          <p:cNvCxnSpPr/>
          <p:nvPr/>
        </p:nvCxnSpPr>
        <p:spPr>
          <a:xfrm>
            <a:off x="6503694" y="2154955"/>
            <a:ext cx="2019057" cy="0"/>
          </a:xfrm>
          <a:prstGeom prst="line">
            <a:avLst/>
          </a:prstGeom>
          <a:ln w="25885">
            <a:solidFill>
              <a:srgbClr val="101010"/>
            </a:solidFill>
            <a:tailEnd type="triangle" w="sm" len="sm"/>
          </a:ln>
          <a:effectLst/>
        </p:spPr>
      </p:cxnSp>
      <p:sp>
        <p:nvSpPr>
          <p:cNvPr id="267" name="TextBox 266"/>
          <p:cNvSpPr txBox="1"/>
          <p:nvPr/>
        </p:nvSpPr>
        <p:spPr>
          <a:xfrm>
            <a:off x="6665477" y="2226140"/>
            <a:ext cx="1650191" cy="2459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101010"/>
                </a:solidFill>
                <a:latin typeface="Purisa"/>
              </a:rPr>
              <a:t>(1) Format Reward</a:t>
            </a:r>
          </a:p>
        </p:txBody>
      </p:sp>
      <p:sp>
        <p:nvSpPr>
          <p:cNvPr id="268" name="Rounded Rectangle 267"/>
          <p:cNvSpPr/>
          <p:nvPr/>
        </p:nvSpPr>
        <p:spPr>
          <a:xfrm>
            <a:off x="8606878" y="1786089"/>
            <a:ext cx="3365095" cy="588891"/>
          </a:xfrm>
          <a:prstGeom prst="roundRect">
            <a:avLst/>
          </a:prstGeom>
          <a:solidFill>
            <a:srgbClr val="FFFEFD"/>
          </a:solidFill>
          <a:ln w="12942">
            <a:solidFill>
              <a:srgbClr val="D0D0D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8755719" y="1870216"/>
            <a:ext cx="1456050" cy="388280"/>
          </a:xfrm>
          <a:prstGeom prst="rect">
            <a:avLst/>
          </a:prstGeom>
          <a:solidFill>
            <a:srgbClr val="FFEB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8852789" y="1850802"/>
            <a:ext cx="1294267" cy="42063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9" b="0" i="0">
                <a:solidFill>
                  <a:srgbClr val="101010"/>
                </a:solidFill>
                <a:latin typeface="DejaVu Sans Mono"/>
              </a:rPr>
              <a:t>&lt;think&gt;...&lt;/think&gt;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9" b="0" i="0">
                <a:solidFill>
                  <a:srgbClr val="101010"/>
                </a:solidFill>
                <a:latin typeface="DejaVu Sans Mono"/>
              </a:rPr>
              <a:t>&lt;answer&gt;...&lt;/answer&gt;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10289426" y="1831388"/>
            <a:ext cx="957757" cy="4724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101010"/>
                </a:solidFill>
                <a:latin typeface="Purisa"/>
              </a:rPr>
              <a:t>If satisfied: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101010"/>
                </a:solidFill>
                <a:latin typeface="Purisa"/>
              </a:rPr>
              <a:t>Else:</a:t>
            </a:r>
          </a:p>
        </p:txBody>
      </p:sp>
      <p:sp>
        <p:nvSpPr>
          <p:cNvPr id="272" name="Rounded Rectangle 271"/>
          <p:cNvSpPr/>
          <p:nvPr/>
        </p:nvSpPr>
        <p:spPr>
          <a:gradFill rotWithShape="1">
            <a:gsLst>
              <a:gs pos="0">
                <a:srgbClr val="B9E16E"/>
              </a:gs>
              <a:gs pos="100000">
                <a:srgbClr val="1A9B16"/>
              </a:gs>
            </a:gsLst>
            <a:lin ang="2700000" scaled="1"/>
          </a:gradFill>
          <a:xfrm>
            <a:off x="11286012" y="1837859"/>
            <a:ext cx="220025" cy="207082"/>
          </a:xfrm>
          <a:prstGeom prst="roundRect">
            <a:avLst/>
          </a:prstGeom>
          <a:ln w="12942">
            <a:solidFill>
              <a:srgbClr val="2D578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11286012" y="1831388"/>
            <a:ext cx="220025" cy="220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1" i="0">
                <a:solidFill>
                  <a:srgbClr val="101010"/>
                </a:solidFill>
                <a:latin typeface="Purisa"/>
              </a:rPr>
              <a:t>R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1538394" y="1831388"/>
            <a:ext cx="381808" cy="2200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2" b="0" i="0">
                <a:solidFill>
                  <a:srgbClr val="101010"/>
                </a:solidFill>
                <a:latin typeface="Purisa"/>
              </a:rPr>
              <a:t>= 1</a:t>
            </a:r>
          </a:p>
        </p:txBody>
      </p:sp>
      <p:sp>
        <p:nvSpPr>
          <p:cNvPr id="275" name="Rounded Rectangle 274"/>
          <p:cNvSpPr/>
          <p:nvPr/>
        </p:nvSpPr>
        <p:spPr>
          <a:gradFill rotWithShape="1">
            <a:gsLst>
              <a:gs pos="0">
                <a:srgbClr val="B9E16E"/>
              </a:gs>
              <a:gs pos="100000">
                <a:srgbClr val="1A9B16"/>
              </a:gs>
            </a:gsLst>
            <a:lin ang="2700000" scaled="1"/>
          </a:gradFill>
          <a:xfrm>
            <a:off x="11286012" y="2096713"/>
            <a:ext cx="220025" cy="207082"/>
          </a:xfrm>
          <a:prstGeom prst="roundRect">
            <a:avLst/>
          </a:prstGeom>
          <a:ln w="12942">
            <a:solidFill>
              <a:srgbClr val="2D578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11286012" y="2090241"/>
            <a:ext cx="220025" cy="220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1" i="0">
                <a:solidFill>
                  <a:srgbClr val="101010"/>
                </a:solidFill>
                <a:latin typeface="Purisa"/>
              </a:rPr>
              <a:t>R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1538394" y="2090241"/>
            <a:ext cx="381808" cy="2200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2" b="0" i="0">
                <a:solidFill>
                  <a:srgbClr val="101010"/>
                </a:solidFill>
                <a:latin typeface="Purisa"/>
              </a:rPr>
              <a:t>= 0</a:t>
            </a:r>
          </a:p>
        </p:txBody>
      </p:sp>
      <p:cxnSp>
        <p:nvCxnSpPr>
          <p:cNvPr id="278" name="Connector 277"/>
          <p:cNvCxnSpPr/>
          <p:nvPr/>
        </p:nvCxnSpPr>
        <p:spPr>
          <a:xfrm>
            <a:off x="5481222" y="2381452"/>
            <a:ext cx="0" cy="414165"/>
          </a:xfrm>
          <a:prstGeom prst="line">
            <a:avLst/>
          </a:prstGeom>
          <a:ln w="25885">
            <a:solidFill>
              <a:srgbClr val="101010"/>
            </a:solidFill>
          </a:ln>
          <a:effectLst/>
        </p:spPr>
      </p:cxnSp>
      <p:cxnSp>
        <p:nvCxnSpPr>
          <p:cNvPr id="279" name="Connector 278"/>
          <p:cNvCxnSpPr/>
          <p:nvPr/>
        </p:nvCxnSpPr>
        <p:spPr>
          <a:xfrm>
            <a:off x="5481222" y="2795617"/>
            <a:ext cx="3041529" cy="0"/>
          </a:xfrm>
          <a:prstGeom prst="line">
            <a:avLst/>
          </a:prstGeom>
          <a:ln w="25885">
            <a:solidFill>
              <a:srgbClr val="101010"/>
            </a:solidFill>
            <a:tailEnd type="triangle" w="sm" len="sm"/>
          </a:ln>
          <a:effectLst/>
        </p:spPr>
      </p:cxnSp>
      <p:sp>
        <p:nvSpPr>
          <p:cNvPr id="280" name="TextBox 279"/>
          <p:cNvSpPr txBox="1"/>
          <p:nvPr/>
        </p:nvSpPr>
        <p:spPr>
          <a:xfrm>
            <a:off x="6665477" y="2523821"/>
            <a:ext cx="1734318" cy="2459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3" b="0" i="0">
                <a:solidFill>
                  <a:srgbClr val="101010"/>
                </a:solidFill>
                <a:latin typeface="Purisa"/>
              </a:rPr>
              <a:t>(2) Accuracy Reward</a:t>
            </a:r>
          </a:p>
        </p:txBody>
      </p:sp>
      <p:sp>
        <p:nvSpPr>
          <p:cNvPr id="281" name="Rounded Rectangle 280"/>
          <p:cNvSpPr/>
          <p:nvPr/>
        </p:nvSpPr>
        <p:spPr>
          <a:xfrm>
            <a:off x="8606878" y="2452636"/>
            <a:ext cx="3365095" cy="543592"/>
          </a:xfrm>
          <a:prstGeom prst="roundRect">
            <a:avLst/>
          </a:prstGeom>
          <a:solidFill>
            <a:srgbClr val="FFFEFD"/>
          </a:solidFill>
          <a:ln w="12942">
            <a:solidFill>
              <a:srgbClr val="D0D0D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Rounded Rectangle 281"/>
          <p:cNvSpPr/>
          <p:nvPr/>
        </p:nvSpPr>
        <p:spPr>
          <a:xfrm>
            <a:off x="8684534" y="2588534"/>
            <a:ext cx="841273" cy="252382"/>
          </a:xfrm>
          <a:prstGeom prst="roundRect">
            <a:avLst/>
          </a:prstGeom>
          <a:solidFill>
            <a:srgbClr val="FFF0B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8710420" y="2595006"/>
            <a:ext cx="789503" cy="23943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101010"/>
                </a:solidFill>
                <a:latin typeface="Purisa"/>
              </a:rPr>
              <a:t>Prediction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9525808" y="2588534"/>
            <a:ext cx="459464" cy="2523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1" i="0">
                <a:solidFill>
                  <a:srgbClr val="101010"/>
                </a:solidFill>
                <a:latin typeface="Purisa"/>
              </a:rPr>
              <a:t>v.s.</a:t>
            </a:r>
          </a:p>
        </p:txBody>
      </p:sp>
      <p:sp>
        <p:nvSpPr>
          <p:cNvPr id="285" name="Rounded Rectangle 284"/>
          <p:cNvSpPr/>
          <p:nvPr/>
        </p:nvSpPr>
        <p:spPr>
          <a:xfrm>
            <a:off x="9868789" y="2588534"/>
            <a:ext cx="569477" cy="252382"/>
          </a:xfrm>
          <a:prstGeom prst="roundRect">
            <a:avLst/>
          </a:prstGeom>
          <a:solidFill>
            <a:srgbClr val="CFE2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9894674" y="2595006"/>
            <a:ext cx="517706" cy="23943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101010"/>
                </a:solidFill>
                <a:latin typeface="Purisa"/>
              </a:rPr>
              <a:t>Label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0470623" y="2478522"/>
            <a:ext cx="776560" cy="4788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1" b="0" i="0">
                <a:solidFill>
                  <a:srgbClr val="101010"/>
                </a:solidFill>
                <a:latin typeface="Purisa"/>
              </a:rPr>
              <a:t>If same: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1" b="0" i="0">
                <a:solidFill>
                  <a:srgbClr val="101010"/>
                </a:solidFill>
                <a:latin typeface="Purisa"/>
              </a:rPr>
              <a:t>Else:</a:t>
            </a:r>
          </a:p>
        </p:txBody>
      </p:sp>
      <p:sp>
        <p:nvSpPr>
          <p:cNvPr id="288" name="Rounded Rectangle 287"/>
          <p:cNvSpPr/>
          <p:nvPr/>
        </p:nvSpPr>
        <p:spPr>
          <a:gradFill rotWithShape="1">
            <a:gsLst>
              <a:gs pos="0">
                <a:srgbClr val="B9E16E"/>
              </a:gs>
              <a:gs pos="100000">
                <a:srgbClr val="1A9B16"/>
              </a:gs>
            </a:gsLst>
            <a:lin ang="2700000" scaled="1"/>
          </a:gradFill>
          <a:xfrm>
            <a:off x="11286012" y="2497936"/>
            <a:ext cx="220025" cy="207082"/>
          </a:xfrm>
          <a:prstGeom prst="roundRect">
            <a:avLst/>
          </a:prstGeom>
          <a:ln w="12942">
            <a:solidFill>
              <a:srgbClr val="2D578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11286012" y="2491464"/>
            <a:ext cx="220025" cy="220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1" i="0">
                <a:solidFill>
                  <a:srgbClr val="101010"/>
                </a:solidFill>
                <a:latin typeface="Purisa"/>
              </a:rPr>
              <a:t>R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11538394" y="2491464"/>
            <a:ext cx="381808" cy="2200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2" b="0" i="0">
                <a:solidFill>
                  <a:srgbClr val="101010"/>
                </a:solidFill>
                <a:latin typeface="Purisa"/>
              </a:rPr>
              <a:t>= 1</a:t>
            </a:r>
          </a:p>
        </p:txBody>
      </p:sp>
      <p:sp>
        <p:nvSpPr>
          <p:cNvPr id="291" name="Rounded Rectangle 290"/>
          <p:cNvSpPr/>
          <p:nvPr/>
        </p:nvSpPr>
        <p:spPr>
          <a:gradFill rotWithShape="1">
            <a:gsLst>
              <a:gs pos="0">
                <a:srgbClr val="B9E16E"/>
              </a:gs>
              <a:gs pos="100000">
                <a:srgbClr val="1A9B16"/>
              </a:gs>
            </a:gsLst>
            <a:lin ang="2700000" scaled="1"/>
          </a:gradFill>
          <a:xfrm>
            <a:off x="11286012" y="2756789"/>
            <a:ext cx="220025" cy="207082"/>
          </a:xfrm>
          <a:prstGeom prst="roundRect">
            <a:avLst/>
          </a:prstGeom>
          <a:ln w="12942">
            <a:solidFill>
              <a:srgbClr val="2D578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11286012" y="2750318"/>
            <a:ext cx="220025" cy="220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1" i="0">
                <a:solidFill>
                  <a:srgbClr val="101010"/>
                </a:solidFill>
                <a:latin typeface="Purisa"/>
              </a:rPr>
              <a:t>R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11538394" y="2750318"/>
            <a:ext cx="381808" cy="2200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2" b="0" i="0">
                <a:solidFill>
                  <a:srgbClr val="101010"/>
                </a:solidFill>
                <a:latin typeface="Purisa"/>
              </a:rPr>
              <a:t>= 0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5494165" y="2853859"/>
            <a:ext cx="2627362" cy="2912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9" b="0" i="1">
                <a:solidFill>
                  <a:srgbClr val="F01F18"/>
                </a:solidFill>
                <a:latin typeface="Purisa"/>
              </a:rPr>
              <a:t>(3) Anomaly Verification Reward</a:t>
            </a:r>
          </a:p>
        </p:txBody>
      </p:sp>
      <p:cxnSp>
        <p:nvCxnSpPr>
          <p:cNvPr id="295" name="Connector 294"/>
          <p:cNvCxnSpPr/>
          <p:nvPr/>
        </p:nvCxnSpPr>
        <p:spPr>
          <a:xfrm flipH="1">
            <a:off x="5351796" y="2795617"/>
            <a:ext cx="129426" cy="0"/>
          </a:xfrm>
          <a:prstGeom prst="line">
            <a:avLst/>
          </a:prstGeom>
          <a:ln w="25885">
            <a:solidFill>
              <a:srgbClr val="101010"/>
            </a:solidFill>
          </a:ln>
          <a:effectLst/>
        </p:spPr>
      </p:cxnSp>
      <p:cxnSp>
        <p:nvCxnSpPr>
          <p:cNvPr id="296" name="Connector 295"/>
          <p:cNvCxnSpPr/>
          <p:nvPr/>
        </p:nvCxnSpPr>
        <p:spPr>
          <a:xfrm>
            <a:off x="5351796" y="2795617"/>
            <a:ext cx="0" cy="491822"/>
          </a:xfrm>
          <a:prstGeom prst="line">
            <a:avLst/>
          </a:prstGeom>
          <a:ln w="25885">
            <a:solidFill>
              <a:srgbClr val="101010"/>
            </a:solidFill>
            <a:tailEnd type="triangle" w="sm" len="sm"/>
          </a:ln>
          <a:effectLst/>
        </p:spPr>
      </p:cxnSp>
      <p:sp>
        <p:nvSpPr>
          <p:cNvPr id="297" name="Rounded Rectangle 296"/>
          <p:cNvSpPr/>
          <p:nvPr/>
        </p:nvSpPr>
        <p:spPr>
          <a:xfrm>
            <a:off x="5267668" y="3190369"/>
            <a:ext cx="828331" cy="271796"/>
          </a:xfrm>
          <a:prstGeom prst="roundRect">
            <a:avLst/>
          </a:prstGeom>
          <a:solidFill>
            <a:srgbClr val="FFF0B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5293554" y="3196840"/>
            <a:ext cx="776560" cy="25885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101010"/>
                </a:solidFill>
                <a:latin typeface="Purisa"/>
              </a:rPr>
              <a:t>Prediction</a:t>
            </a:r>
          </a:p>
        </p:txBody>
      </p:sp>
      <p:cxnSp>
        <p:nvCxnSpPr>
          <p:cNvPr id="299" name="Connector 298"/>
          <p:cNvCxnSpPr/>
          <p:nvPr/>
        </p:nvCxnSpPr>
        <p:spPr>
          <a:xfrm>
            <a:off x="5351796" y="3468636"/>
            <a:ext cx="0" cy="1022472"/>
          </a:xfrm>
          <a:prstGeom prst="line">
            <a:avLst/>
          </a:prstGeom>
          <a:ln w="25885">
            <a:solidFill>
              <a:srgbClr val="101010"/>
            </a:solidFill>
          </a:ln>
          <a:effectLst/>
        </p:spPr>
      </p:cxnSp>
      <p:sp>
        <p:nvSpPr>
          <p:cNvPr id="300" name="Rounded Rectangle 299"/>
          <p:cNvSpPr/>
          <p:nvPr/>
        </p:nvSpPr>
        <p:spPr>
          <a:xfrm>
            <a:off x="5377681" y="3623948"/>
            <a:ext cx="854216" cy="265324"/>
          </a:xfrm>
          <a:prstGeom prst="roundRect">
            <a:avLst/>
          </a:prstGeom>
          <a:solidFill>
            <a:srgbClr val="FFB5AF"/>
          </a:solidFill>
          <a:ln w="12942">
            <a:solidFill>
              <a:srgbClr val="F01F1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5403566" y="3630420"/>
            <a:ext cx="802445" cy="2523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1" b="0" i="0">
                <a:solidFill>
                  <a:srgbClr val="F01F18"/>
                </a:solidFill>
                <a:latin typeface="Purisa"/>
              </a:rPr>
              <a:t>Abnormal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5623592" y="3973401"/>
            <a:ext cx="355923" cy="2459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2" b="1" i="0">
                <a:solidFill>
                  <a:srgbClr val="101010"/>
                </a:solidFill>
                <a:latin typeface="Purisa"/>
              </a:rPr>
              <a:t>or</a:t>
            </a:r>
          </a:p>
        </p:txBody>
      </p:sp>
      <p:sp>
        <p:nvSpPr>
          <p:cNvPr id="303" name="Rounded Rectangle 302"/>
          <p:cNvSpPr/>
          <p:nvPr/>
        </p:nvSpPr>
        <p:spPr>
          <a:xfrm>
            <a:off x="5364738" y="4406980"/>
            <a:ext cx="854216" cy="265324"/>
          </a:xfrm>
          <a:prstGeom prst="roundRect">
            <a:avLst/>
          </a:prstGeom>
          <a:solidFill>
            <a:srgbClr val="E9F4DE"/>
          </a:solidFill>
          <a:ln w="12942">
            <a:solidFill>
              <a:srgbClr val="157B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5390624" y="4413452"/>
            <a:ext cx="802445" cy="2523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1" b="0" i="0">
                <a:solidFill>
                  <a:srgbClr val="157B17"/>
                </a:solidFill>
                <a:latin typeface="Purisa"/>
              </a:rPr>
              <a:t>Normal</a:t>
            </a:r>
          </a:p>
        </p:txBody>
      </p:sp>
      <p:cxnSp>
        <p:nvCxnSpPr>
          <p:cNvPr id="305" name="Connector 304"/>
          <p:cNvCxnSpPr/>
          <p:nvPr/>
        </p:nvCxnSpPr>
        <p:spPr>
          <a:xfrm>
            <a:off x="6231897" y="3753375"/>
            <a:ext cx="148841" cy="0"/>
          </a:xfrm>
          <a:prstGeom prst="line">
            <a:avLst/>
          </a:prstGeom>
          <a:ln w="25885">
            <a:solidFill>
              <a:srgbClr val="101010"/>
            </a:solidFill>
            <a:tailEnd type="triangle" w="sm" len="sm"/>
          </a:ln>
          <a:effectLst/>
        </p:spPr>
      </p:cxnSp>
      <p:cxnSp>
        <p:nvCxnSpPr>
          <p:cNvPr id="306" name="Connector 305"/>
          <p:cNvCxnSpPr/>
          <p:nvPr/>
        </p:nvCxnSpPr>
        <p:spPr>
          <a:xfrm>
            <a:off x="6218955" y="4542878"/>
            <a:ext cx="77656" cy="0"/>
          </a:xfrm>
          <a:prstGeom prst="line">
            <a:avLst/>
          </a:prstGeom>
          <a:ln w="25885">
            <a:solidFill>
              <a:srgbClr val="101010"/>
            </a:solidFill>
            <a:tailEnd type="triangle" w="sm" len="sm"/>
          </a:ln>
          <a:effectLst/>
        </p:spPr>
      </p:cxnSp>
      <p:sp>
        <p:nvSpPr>
          <p:cNvPr id="307" name="Rounded Rectangle 306"/>
          <p:cNvSpPr/>
          <p:nvPr/>
        </p:nvSpPr>
        <p:spPr>
          <a:xfrm>
            <a:off x="6445452" y="3164483"/>
            <a:ext cx="2129070" cy="880101"/>
          </a:xfrm>
          <a:prstGeom prst="roundRect">
            <a:avLst/>
          </a:prstGeom>
          <a:solidFill>
            <a:srgbClr val="FFFFFF"/>
          </a:solidFill>
          <a:ln w="12942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6536050" y="3216254"/>
            <a:ext cx="1973757" cy="504764"/>
          </a:xfrm>
          <a:prstGeom prst="rect">
            <a:avLst/>
          </a:prstGeom>
          <a:solidFill>
            <a:srgbClr val="101010"/>
          </a:solidFill>
          <a:ln w="12942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6607325" y="324861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Rounded Rectangle 309"/>
          <p:cNvSpPr/>
          <p:nvPr/>
        </p:nvSpPr>
        <p:spPr>
          <a:xfrm>
            <a:off x="6607325" y="363689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Rounded Rectangle 310"/>
          <p:cNvSpPr/>
          <p:nvPr/>
        </p:nvSpPr>
        <p:spPr>
          <a:xfrm>
            <a:off x="6716978" y="324861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6716978" y="363689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Rounded Rectangle 312"/>
          <p:cNvSpPr/>
          <p:nvPr/>
        </p:nvSpPr>
        <p:spPr>
          <a:xfrm>
            <a:off x="6826631" y="324861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Rounded Rectangle 313"/>
          <p:cNvSpPr/>
          <p:nvPr/>
        </p:nvSpPr>
        <p:spPr>
          <a:xfrm>
            <a:off x="6826631" y="363689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6936285" y="324861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Rounded Rectangle 315"/>
          <p:cNvSpPr/>
          <p:nvPr/>
        </p:nvSpPr>
        <p:spPr>
          <a:xfrm>
            <a:off x="6936285" y="363689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Rounded Rectangle 316"/>
          <p:cNvSpPr/>
          <p:nvPr/>
        </p:nvSpPr>
        <p:spPr>
          <a:xfrm>
            <a:off x="7045938" y="324861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Rounded Rectangle 317"/>
          <p:cNvSpPr/>
          <p:nvPr/>
        </p:nvSpPr>
        <p:spPr>
          <a:xfrm>
            <a:off x="7045938" y="363689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Rounded Rectangle 318"/>
          <p:cNvSpPr/>
          <p:nvPr/>
        </p:nvSpPr>
        <p:spPr>
          <a:xfrm>
            <a:off x="7155591" y="324861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Rounded Rectangle 319"/>
          <p:cNvSpPr/>
          <p:nvPr/>
        </p:nvSpPr>
        <p:spPr>
          <a:xfrm>
            <a:off x="7155591" y="363689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1" name="Rounded Rectangle 320"/>
          <p:cNvSpPr/>
          <p:nvPr/>
        </p:nvSpPr>
        <p:spPr>
          <a:xfrm>
            <a:off x="7265244" y="324861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2" name="Rounded Rectangle 321"/>
          <p:cNvSpPr/>
          <p:nvPr/>
        </p:nvSpPr>
        <p:spPr>
          <a:xfrm>
            <a:off x="7265244" y="363689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Rounded Rectangle 322"/>
          <p:cNvSpPr/>
          <p:nvPr/>
        </p:nvSpPr>
        <p:spPr>
          <a:xfrm>
            <a:off x="7374897" y="324861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Rounded Rectangle 323"/>
          <p:cNvSpPr/>
          <p:nvPr/>
        </p:nvSpPr>
        <p:spPr>
          <a:xfrm>
            <a:off x="7374897" y="363689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Rounded Rectangle 324"/>
          <p:cNvSpPr/>
          <p:nvPr/>
        </p:nvSpPr>
        <p:spPr>
          <a:xfrm>
            <a:off x="7484551" y="324861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Rounded Rectangle 325"/>
          <p:cNvSpPr/>
          <p:nvPr/>
        </p:nvSpPr>
        <p:spPr>
          <a:xfrm>
            <a:off x="7484551" y="363689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Rounded Rectangle 326"/>
          <p:cNvSpPr/>
          <p:nvPr/>
        </p:nvSpPr>
        <p:spPr>
          <a:xfrm>
            <a:off x="7594204" y="324861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Rounded Rectangle 327"/>
          <p:cNvSpPr/>
          <p:nvPr/>
        </p:nvSpPr>
        <p:spPr>
          <a:xfrm>
            <a:off x="7594204" y="363689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Rounded Rectangle 328"/>
          <p:cNvSpPr/>
          <p:nvPr/>
        </p:nvSpPr>
        <p:spPr>
          <a:xfrm>
            <a:off x="7703857" y="324861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Rounded Rectangle 329"/>
          <p:cNvSpPr/>
          <p:nvPr/>
        </p:nvSpPr>
        <p:spPr>
          <a:xfrm>
            <a:off x="7703857" y="363689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Rounded Rectangle 330"/>
          <p:cNvSpPr/>
          <p:nvPr/>
        </p:nvSpPr>
        <p:spPr>
          <a:xfrm>
            <a:off x="7813510" y="324861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Rounded Rectangle 331"/>
          <p:cNvSpPr/>
          <p:nvPr/>
        </p:nvSpPr>
        <p:spPr>
          <a:xfrm>
            <a:off x="7813510" y="363689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Rounded Rectangle 332"/>
          <p:cNvSpPr/>
          <p:nvPr/>
        </p:nvSpPr>
        <p:spPr>
          <a:xfrm>
            <a:off x="7923163" y="324861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Rounded Rectangle 333"/>
          <p:cNvSpPr/>
          <p:nvPr/>
        </p:nvSpPr>
        <p:spPr>
          <a:xfrm>
            <a:off x="7923163" y="363689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Rounded Rectangle 334"/>
          <p:cNvSpPr/>
          <p:nvPr/>
        </p:nvSpPr>
        <p:spPr>
          <a:xfrm>
            <a:off x="8032817" y="324861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Rounded Rectangle 335"/>
          <p:cNvSpPr/>
          <p:nvPr/>
        </p:nvSpPr>
        <p:spPr>
          <a:xfrm>
            <a:off x="8032817" y="363689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Rounded Rectangle 336"/>
          <p:cNvSpPr/>
          <p:nvPr/>
        </p:nvSpPr>
        <p:spPr>
          <a:xfrm>
            <a:off x="8142470" y="324861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Rounded Rectangle 337"/>
          <p:cNvSpPr/>
          <p:nvPr/>
        </p:nvSpPr>
        <p:spPr>
          <a:xfrm>
            <a:off x="8142470" y="363689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Rounded Rectangle 338"/>
          <p:cNvSpPr/>
          <p:nvPr/>
        </p:nvSpPr>
        <p:spPr>
          <a:xfrm>
            <a:off x="8252123" y="324861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Rounded Rectangle 339"/>
          <p:cNvSpPr/>
          <p:nvPr/>
        </p:nvSpPr>
        <p:spPr>
          <a:xfrm>
            <a:off x="8252123" y="363689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Rounded Rectangle 340"/>
          <p:cNvSpPr/>
          <p:nvPr/>
        </p:nvSpPr>
        <p:spPr>
          <a:xfrm>
            <a:off x="8361776" y="324861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Rounded Rectangle 341"/>
          <p:cNvSpPr/>
          <p:nvPr/>
        </p:nvSpPr>
        <p:spPr>
          <a:xfrm>
            <a:off x="8361776" y="3636891"/>
            <a:ext cx="63598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43" name="Picture 342" descr="video_fram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350" y="3332738"/>
            <a:ext cx="366277" cy="271796"/>
          </a:xfrm>
          <a:prstGeom prst="rect">
            <a:avLst/>
          </a:prstGeom>
        </p:spPr>
      </p:pic>
      <p:pic>
        <p:nvPicPr>
          <p:cNvPr id="344" name="Picture 343" descr="video_fram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570" y="3332738"/>
            <a:ext cx="366277" cy="271796"/>
          </a:xfrm>
          <a:prstGeom prst="rect">
            <a:avLst/>
          </a:prstGeom>
        </p:spPr>
      </p:pic>
      <p:cxnSp>
        <p:nvCxnSpPr>
          <p:cNvPr id="345" name="Connector 344"/>
          <p:cNvCxnSpPr/>
          <p:nvPr/>
        </p:nvCxnSpPr>
        <p:spPr>
          <a:xfrm>
            <a:off x="6954099" y="3332738"/>
            <a:ext cx="0" cy="271796"/>
          </a:xfrm>
          <a:prstGeom prst="line">
            <a:avLst/>
          </a:prstGeom>
          <a:ln w="12942">
            <a:solidFill>
              <a:srgbClr val="101010"/>
            </a:solidFill>
          </a:ln>
          <a:effectLst/>
        </p:spPr>
      </p:cxnSp>
      <p:sp>
        <p:nvSpPr>
          <p:cNvPr id="346" name="Rectangle 345"/>
          <p:cNvSpPr/>
          <p:nvPr/>
        </p:nvSpPr>
        <p:spPr>
          <a:xfrm>
            <a:off x="7339790" y="3332738"/>
            <a:ext cx="366277" cy="271796"/>
          </a:xfrm>
          <a:prstGeom prst="rect">
            <a:avLst/>
          </a:prstGeom>
          <a:solidFill>
            <a:srgbClr val="FFFFFF"/>
          </a:solidFill>
          <a:ln w="25885">
            <a:solidFill>
              <a:srgbClr val="F01F1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7" name="Connector 346"/>
          <p:cNvCxnSpPr/>
          <p:nvPr/>
        </p:nvCxnSpPr>
        <p:spPr>
          <a:xfrm>
            <a:off x="7333319" y="3332738"/>
            <a:ext cx="0" cy="271796"/>
          </a:xfrm>
          <a:prstGeom prst="line">
            <a:avLst/>
          </a:prstGeom>
          <a:ln w="12942">
            <a:solidFill>
              <a:srgbClr val="101010"/>
            </a:solidFill>
          </a:ln>
          <a:effectLst/>
        </p:spPr>
      </p:cxnSp>
      <p:sp>
        <p:nvSpPr>
          <p:cNvPr id="348" name="Rectangle 347"/>
          <p:cNvSpPr/>
          <p:nvPr/>
        </p:nvSpPr>
        <p:spPr>
          <a:xfrm>
            <a:off x="7719011" y="3332738"/>
            <a:ext cx="366277" cy="271796"/>
          </a:xfrm>
          <a:prstGeom prst="rect">
            <a:avLst/>
          </a:prstGeom>
          <a:solidFill>
            <a:srgbClr val="FFFFFF"/>
          </a:solidFill>
          <a:ln w="25885">
            <a:solidFill>
              <a:srgbClr val="F01F1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9" name="Connector 348"/>
          <p:cNvCxnSpPr/>
          <p:nvPr/>
        </p:nvCxnSpPr>
        <p:spPr>
          <a:xfrm>
            <a:off x="7712539" y="3332738"/>
            <a:ext cx="0" cy="271796"/>
          </a:xfrm>
          <a:prstGeom prst="line">
            <a:avLst/>
          </a:prstGeom>
          <a:ln w="12942">
            <a:solidFill>
              <a:srgbClr val="101010"/>
            </a:solidFill>
          </a:ln>
          <a:effectLst/>
        </p:spPr>
      </p:cxnSp>
      <p:pic>
        <p:nvPicPr>
          <p:cNvPr id="350" name="Picture 349" descr="video_frame_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8231" y="3332738"/>
            <a:ext cx="366277" cy="271796"/>
          </a:xfrm>
          <a:prstGeom prst="rect">
            <a:avLst/>
          </a:prstGeom>
        </p:spPr>
      </p:pic>
      <p:cxnSp>
        <p:nvCxnSpPr>
          <p:cNvPr id="351" name="Connector 350"/>
          <p:cNvCxnSpPr/>
          <p:nvPr/>
        </p:nvCxnSpPr>
        <p:spPr>
          <a:xfrm>
            <a:off x="8091760" y="3332738"/>
            <a:ext cx="0" cy="271796"/>
          </a:xfrm>
          <a:prstGeom prst="line">
            <a:avLst/>
          </a:prstGeom>
          <a:ln w="12942">
            <a:solidFill>
              <a:srgbClr val="101010"/>
            </a:solidFill>
          </a:ln>
          <a:effectLst/>
        </p:spPr>
      </p:cxnSp>
      <p:sp>
        <p:nvSpPr>
          <p:cNvPr id="352" name="Rectangle 351"/>
          <p:cNvSpPr/>
          <p:nvPr/>
        </p:nvSpPr>
        <p:spPr>
          <a:xfrm>
            <a:off x="6574878" y="3332738"/>
            <a:ext cx="1896101" cy="271796"/>
          </a:xfrm>
          <a:prstGeom prst="rect">
            <a:avLst/>
          </a:prstGeom>
          <a:noFill/>
          <a:ln w="12942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6581350" y="3688662"/>
            <a:ext cx="1863745" cy="3429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101010"/>
                </a:solidFill>
                <a:latin typeface="Purisa"/>
              </a:rPr>
              <a:t>Video with Abnormal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101010"/>
                </a:solidFill>
                <a:latin typeface="Purisa"/>
              </a:rPr>
              <a:t>Segment Discarded</a:t>
            </a:r>
          </a:p>
        </p:txBody>
      </p:sp>
      <p:sp>
        <p:nvSpPr>
          <p:cNvPr id="354" name="Rounded Rectangle 353"/>
          <p:cNvSpPr/>
          <p:nvPr/>
        </p:nvSpPr>
        <p:spPr>
          <a:xfrm>
            <a:off x="6270725" y="4128713"/>
            <a:ext cx="2413808" cy="698904"/>
          </a:xfrm>
          <a:prstGeom prst="roundRect">
            <a:avLst/>
          </a:prstGeom>
          <a:solidFill>
            <a:srgbClr val="FFFFFF"/>
          </a:solidFill>
          <a:ln w="12942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6335439" y="4180483"/>
            <a:ext cx="1035413" cy="252382"/>
          </a:xfrm>
          <a:prstGeom prst="rect">
            <a:avLst/>
          </a:prstGeom>
          <a:solidFill>
            <a:srgbClr val="101010"/>
          </a:solidFill>
          <a:ln w="12942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Rounded Rectangle 355"/>
          <p:cNvSpPr/>
          <p:nvPr/>
        </p:nvSpPr>
        <p:spPr>
          <a:xfrm>
            <a:off x="6402741" y="4212840"/>
            <a:ext cx="60054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Rounded Rectangle 356"/>
          <p:cNvSpPr/>
          <p:nvPr/>
        </p:nvSpPr>
        <p:spPr>
          <a:xfrm>
            <a:off x="6402741" y="4348738"/>
            <a:ext cx="60054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Rounded Rectangle 357"/>
          <p:cNvSpPr/>
          <p:nvPr/>
        </p:nvSpPr>
        <p:spPr>
          <a:xfrm>
            <a:off x="6506282" y="4212840"/>
            <a:ext cx="60054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Rounded Rectangle 358"/>
          <p:cNvSpPr/>
          <p:nvPr/>
        </p:nvSpPr>
        <p:spPr>
          <a:xfrm>
            <a:off x="6506282" y="4348738"/>
            <a:ext cx="60054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Rounded Rectangle 359"/>
          <p:cNvSpPr/>
          <p:nvPr/>
        </p:nvSpPr>
        <p:spPr>
          <a:xfrm>
            <a:off x="6609824" y="4212840"/>
            <a:ext cx="60054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Rounded Rectangle 360"/>
          <p:cNvSpPr/>
          <p:nvPr/>
        </p:nvSpPr>
        <p:spPr>
          <a:xfrm>
            <a:off x="6609824" y="4348738"/>
            <a:ext cx="60054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2" name="Rounded Rectangle 361"/>
          <p:cNvSpPr/>
          <p:nvPr/>
        </p:nvSpPr>
        <p:spPr>
          <a:xfrm>
            <a:off x="6713365" y="4212840"/>
            <a:ext cx="60054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Rounded Rectangle 362"/>
          <p:cNvSpPr/>
          <p:nvPr/>
        </p:nvSpPr>
        <p:spPr>
          <a:xfrm>
            <a:off x="6713365" y="4348738"/>
            <a:ext cx="60054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Rounded Rectangle 363"/>
          <p:cNvSpPr/>
          <p:nvPr/>
        </p:nvSpPr>
        <p:spPr>
          <a:xfrm>
            <a:off x="6816906" y="4212840"/>
            <a:ext cx="60054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Rounded Rectangle 364"/>
          <p:cNvSpPr/>
          <p:nvPr/>
        </p:nvSpPr>
        <p:spPr>
          <a:xfrm>
            <a:off x="6816906" y="4348738"/>
            <a:ext cx="60054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6" name="Rounded Rectangle 365"/>
          <p:cNvSpPr/>
          <p:nvPr/>
        </p:nvSpPr>
        <p:spPr>
          <a:xfrm>
            <a:off x="6920448" y="4212840"/>
            <a:ext cx="60054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Rounded Rectangle 366"/>
          <p:cNvSpPr/>
          <p:nvPr/>
        </p:nvSpPr>
        <p:spPr>
          <a:xfrm>
            <a:off x="6920448" y="4348738"/>
            <a:ext cx="60054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8" name="Rounded Rectangle 367"/>
          <p:cNvSpPr/>
          <p:nvPr/>
        </p:nvSpPr>
        <p:spPr>
          <a:xfrm>
            <a:off x="7023989" y="4212840"/>
            <a:ext cx="60054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9" name="Rounded Rectangle 368"/>
          <p:cNvSpPr/>
          <p:nvPr/>
        </p:nvSpPr>
        <p:spPr>
          <a:xfrm>
            <a:off x="7023989" y="4348738"/>
            <a:ext cx="60054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0" name="Rounded Rectangle 369"/>
          <p:cNvSpPr/>
          <p:nvPr/>
        </p:nvSpPr>
        <p:spPr>
          <a:xfrm>
            <a:off x="7127531" y="4212840"/>
            <a:ext cx="60054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1" name="Rounded Rectangle 370"/>
          <p:cNvSpPr/>
          <p:nvPr/>
        </p:nvSpPr>
        <p:spPr>
          <a:xfrm>
            <a:off x="7127531" y="4348738"/>
            <a:ext cx="60054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Rounded Rectangle 371"/>
          <p:cNvSpPr/>
          <p:nvPr/>
        </p:nvSpPr>
        <p:spPr>
          <a:xfrm>
            <a:off x="7231072" y="4212840"/>
            <a:ext cx="60054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Rounded Rectangle 372"/>
          <p:cNvSpPr/>
          <p:nvPr/>
        </p:nvSpPr>
        <p:spPr>
          <a:xfrm>
            <a:off x="7231072" y="4348738"/>
            <a:ext cx="60054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6380738" y="4296968"/>
            <a:ext cx="226496" cy="19414"/>
          </a:xfrm>
          <a:prstGeom prst="rect">
            <a:avLst/>
          </a:prstGeom>
          <a:solidFill>
            <a:srgbClr val="FFFFFF"/>
          </a:solidFill>
          <a:ln w="647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75" name="Picture 374" descr="video_fram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178" y="4296968"/>
            <a:ext cx="226496" cy="19414"/>
          </a:xfrm>
          <a:prstGeom prst="rect">
            <a:avLst/>
          </a:prstGeom>
        </p:spPr>
      </p:pic>
      <p:cxnSp>
        <p:nvCxnSpPr>
          <p:cNvPr id="376" name="Connector 375"/>
          <p:cNvCxnSpPr/>
          <p:nvPr/>
        </p:nvCxnSpPr>
        <p:spPr>
          <a:xfrm>
            <a:off x="6613706" y="4296968"/>
            <a:ext cx="0" cy="19414"/>
          </a:xfrm>
          <a:prstGeom prst="line">
            <a:avLst/>
          </a:prstGeom>
          <a:ln w="12942">
            <a:solidFill>
              <a:srgbClr val="101010"/>
            </a:solidFill>
          </a:ln>
          <a:effectLst/>
        </p:spPr>
      </p:cxnSp>
      <p:pic>
        <p:nvPicPr>
          <p:cNvPr id="377" name="Picture 376" descr="video_fram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9617" y="4296968"/>
            <a:ext cx="226496" cy="19414"/>
          </a:xfrm>
          <a:prstGeom prst="rect">
            <a:avLst/>
          </a:prstGeom>
        </p:spPr>
      </p:pic>
      <p:cxnSp>
        <p:nvCxnSpPr>
          <p:cNvPr id="378" name="Connector 377"/>
          <p:cNvCxnSpPr/>
          <p:nvPr/>
        </p:nvCxnSpPr>
        <p:spPr>
          <a:xfrm>
            <a:off x="6853146" y="4296968"/>
            <a:ext cx="0" cy="19414"/>
          </a:xfrm>
          <a:prstGeom prst="line">
            <a:avLst/>
          </a:prstGeom>
          <a:ln w="12942">
            <a:solidFill>
              <a:srgbClr val="101010"/>
            </a:solidFill>
          </a:ln>
          <a:effectLst/>
        </p:spPr>
      </p:cxnSp>
      <p:pic>
        <p:nvPicPr>
          <p:cNvPr id="379" name="Picture 378" descr="video_fram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9057" y="4296968"/>
            <a:ext cx="226496" cy="19414"/>
          </a:xfrm>
          <a:prstGeom prst="rect">
            <a:avLst/>
          </a:prstGeom>
        </p:spPr>
      </p:pic>
      <p:cxnSp>
        <p:nvCxnSpPr>
          <p:cNvPr id="380" name="Connector 379"/>
          <p:cNvCxnSpPr/>
          <p:nvPr/>
        </p:nvCxnSpPr>
        <p:spPr>
          <a:xfrm>
            <a:off x="7092585" y="4296968"/>
            <a:ext cx="0" cy="19414"/>
          </a:xfrm>
          <a:prstGeom prst="line">
            <a:avLst/>
          </a:prstGeom>
          <a:ln w="12942">
            <a:solidFill>
              <a:srgbClr val="101010"/>
            </a:solidFill>
          </a:ln>
          <a:effectLst/>
        </p:spPr>
      </p:cxnSp>
      <p:sp>
        <p:nvSpPr>
          <p:cNvPr id="381" name="Rectangle 380"/>
          <p:cNvSpPr/>
          <p:nvPr/>
        </p:nvSpPr>
        <p:spPr>
          <a:xfrm>
            <a:off x="6374267" y="4296968"/>
            <a:ext cx="957757" cy="19414"/>
          </a:xfrm>
          <a:prstGeom prst="rect">
            <a:avLst/>
          </a:prstGeom>
          <a:noFill/>
          <a:ln w="12942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2" name="TextBox 381"/>
          <p:cNvSpPr txBox="1"/>
          <p:nvPr/>
        </p:nvSpPr>
        <p:spPr>
          <a:xfrm>
            <a:off x="7403210" y="4219311"/>
            <a:ext cx="226496" cy="2459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101010"/>
                </a:solidFill>
                <a:latin typeface="Purisa"/>
              </a:rPr>
              <a:t>or</a:t>
            </a:r>
          </a:p>
        </p:txBody>
      </p:sp>
      <p:sp>
        <p:nvSpPr>
          <p:cNvPr id="383" name="Rectangle 382"/>
          <p:cNvSpPr/>
          <p:nvPr/>
        </p:nvSpPr>
        <p:spPr>
          <a:xfrm>
            <a:off x="7636178" y="4180483"/>
            <a:ext cx="977171" cy="252382"/>
          </a:xfrm>
          <a:prstGeom prst="rect">
            <a:avLst/>
          </a:prstGeom>
          <a:solidFill>
            <a:srgbClr val="101010"/>
          </a:solidFill>
          <a:ln w="12942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4" name="Rounded Rectangle 383"/>
          <p:cNvSpPr/>
          <p:nvPr/>
        </p:nvSpPr>
        <p:spPr>
          <a:xfrm>
            <a:off x="7706751" y="4212840"/>
            <a:ext cx="62973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5" name="Rounded Rectangle 384"/>
          <p:cNvSpPr/>
          <p:nvPr/>
        </p:nvSpPr>
        <p:spPr>
          <a:xfrm>
            <a:off x="7706751" y="4348738"/>
            <a:ext cx="62973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6" name="Rounded Rectangle 385"/>
          <p:cNvSpPr/>
          <p:nvPr/>
        </p:nvSpPr>
        <p:spPr>
          <a:xfrm>
            <a:off x="7815326" y="4212840"/>
            <a:ext cx="62973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7" name="Rounded Rectangle 386"/>
          <p:cNvSpPr/>
          <p:nvPr/>
        </p:nvSpPr>
        <p:spPr>
          <a:xfrm>
            <a:off x="7815326" y="4348738"/>
            <a:ext cx="62973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8" name="Rounded Rectangle 387"/>
          <p:cNvSpPr/>
          <p:nvPr/>
        </p:nvSpPr>
        <p:spPr>
          <a:xfrm>
            <a:off x="7923901" y="4212840"/>
            <a:ext cx="62973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9" name="Rounded Rectangle 388"/>
          <p:cNvSpPr/>
          <p:nvPr/>
        </p:nvSpPr>
        <p:spPr>
          <a:xfrm>
            <a:off x="7923901" y="4348738"/>
            <a:ext cx="62973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0" name="Rounded Rectangle 389"/>
          <p:cNvSpPr/>
          <p:nvPr/>
        </p:nvSpPr>
        <p:spPr>
          <a:xfrm>
            <a:off x="8032475" y="4212840"/>
            <a:ext cx="62973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1" name="Rounded Rectangle 390"/>
          <p:cNvSpPr/>
          <p:nvPr/>
        </p:nvSpPr>
        <p:spPr>
          <a:xfrm>
            <a:off x="8032475" y="4348738"/>
            <a:ext cx="62973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2" name="Rounded Rectangle 391"/>
          <p:cNvSpPr/>
          <p:nvPr/>
        </p:nvSpPr>
        <p:spPr>
          <a:xfrm>
            <a:off x="8141050" y="4212840"/>
            <a:ext cx="62973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3" name="Rounded Rectangle 392"/>
          <p:cNvSpPr/>
          <p:nvPr/>
        </p:nvSpPr>
        <p:spPr>
          <a:xfrm>
            <a:off x="8141050" y="4348738"/>
            <a:ext cx="62973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4" name="Rounded Rectangle 393"/>
          <p:cNvSpPr/>
          <p:nvPr/>
        </p:nvSpPr>
        <p:spPr>
          <a:xfrm>
            <a:off x="8249624" y="4212840"/>
            <a:ext cx="62973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5" name="Rounded Rectangle 394"/>
          <p:cNvSpPr/>
          <p:nvPr/>
        </p:nvSpPr>
        <p:spPr>
          <a:xfrm>
            <a:off x="8249624" y="4348738"/>
            <a:ext cx="62973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6" name="Rounded Rectangle 395"/>
          <p:cNvSpPr/>
          <p:nvPr/>
        </p:nvSpPr>
        <p:spPr>
          <a:xfrm>
            <a:off x="8358199" y="4212840"/>
            <a:ext cx="62973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7" name="Rounded Rectangle 396"/>
          <p:cNvSpPr/>
          <p:nvPr/>
        </p:nvSpPr>
        <p:spPr>
          <a:xfrm>
            <a:off x="8358199" y="4348738"/>
            <a:ext cx="62973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8" name="Rounded Rectangle 397"/>
          <p:cNvSpPr/>
          <p:nvPr/>
        </p:nvSpPr>
        <p:spPr>
          <a:xfrm>
            <a:off x="8466774" y="4212840"/>
            <a:ext cx="62973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9" name="Rounded Rectangle 398"/>
          <p:cNvSpPr/>
          <p:nvPr/>
        </p:nvSpPr>
        <p:spPr>
          <a:xfrm>
            <a:off x="8466774" y="4348738"/>
            <a:ext cx="62973" cy="5177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00" name="Picture 399" descr="video_fram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477" y="4296968"/>
            <a:ext cx="211936" cy="19414"/>
          </a:xfrm>
          <a:prstGeom prst="rect">
            <a:avLst/>
          </a:prstGeom>
        </p:spPr>
      </p:pic>
      <p:pic>
        <p:nvPicPr>
          <p:cNvPr id="401" name="Picture 400" descr="video_fram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6356" y="4296968"/>
            <a:ext cx="211936" cy="19414"/>
          </a:xfrm>
          <a:prstGeom prst="rect">
            <a:avLst/>
          </a:prstGeom>
        </p:spPr>
      </p:pic>
      <p:cxnSp>
        <p:nvCxnSpPr>
          <p:cNvPr id="402" name="Connector 401"/>
          <p:cNvCxnSpPr/>
          <p:nvPr/>
        </p:nvCxnSpPr>
        <p:spPr>
          <a:xfrm>
            <a:off x="7899885" y="4296968"/>
            <a:ext cx="0" cy="19414"/>
          </a:xfrm>
          <a:prstGeom prst="line">
            <a:avLst/>
          </a:prstGeom>
          <a:ln w="12942">
            <a:solidFill>
              <a:srgbClr val="101010"/>
            </a:solidFill>
          </a:ln>
          <a:effectLst/>
        </p:spPr>
      </p:cxnSp>
      <p:pic>
        <p:nvPicPr>
          <p:cNvPr id="403" name="Picture 402" descr="video_fram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1235" y="4296968"/>
            <a:ext cx="211936" cy="19414"/>
          </a:xfrm>
          <a:prstGeom prst="rect">
            <a:avLst/>
          </a:prstGeom>
        </p:spPr>
      </p:pic>
      <p:cxnSp>
        <p:nvCxnSpPr>
          <p:cNvPr id="404" name="Connector 403"/>
          <p:cNvCxnSpPr/>
          <p:nvPr/>
        </p:nvCxnSpPr>
        <p:spPr>
          <a:xfrm>
            <a:off x="8124764" y="4296968"/>
            <a:ext cx="0" cy="19414"/>
          </a:xfrm>
          <a:prstGeom prst="line">
            <a:avLst/>
          </a:prstGeom>
          <a:ln w="12942">
            <a:solidFill>
              <a:srgbClr val="101010"/>
            </a:solidFill>
          </a:ln>
          <a:effectLst/>
        </p:spPr>
      </p:cxnSp>
      <p:sp>
        <p:nvSpPr>
          <p:cNvPr id="405" name="Rectangle 404"/>
          <p:cNvSpPr/>
          <p:nvPr/>
        </p:nvSpPr>
        <p:spPr>
          <a:xfrm>
            <a:off x="8356114" y="4296968"/>
            <a:ext cx="211936" cy="19414"/>
          </a:xfrm>
          <a:prstGeom prst="rect">
            <a:avLst/>
          </a:prstGeom>
          <a:solidFill>
            <a:srgbClr val="FFFFFF"/>
          </a:solidFill>
          <a:ln w="647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6" name="Connector 405"/>
          <p:cNvCxnSpPr/>
          <p:nvPr/>
        </p:nvCxnSpPr>
        <p:spPr>
          <a:xfrm>
            <a:off x="8349643" y="4296968"/>
            <a:ext cx="0" cy="19414"/>
          </a:xfrm>
          <a:prstGeom prst="line">
            <a:avLst/>
          </a:prstGeom>
          <a:ln w="12942">
            <a:solidFill>
              <a:srgbClr val="101010"/>
            </a:solidFill>
          </a:ln>
          <a:effectLst/>
        </p:spPr>
      </p:cxnSp>
      <p:sp>
        <p:nvSpPr>
          <p:cNvPr id="407" name="Rectangle 406"/>
          <p:cNvSpPr/>
          <p:nvPr/>
        </p:nvSpPr>
        <p:spPr>
          <a:xfrm>
            <a:off x="7675006" y="4296968"/>
            <a:ext cx="899515" cy="19414"/>
          </a:xfrm>
          <a:prstGeom prst="rect">
            <a:avLst/>
          </a:prstGeom>
          <a:noFill/>
          <a:ln w="12942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6367796" y="4439337"/>
            <a:ext cx="2226140" cy="3365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5" b="0" i="0">
                <a:solidFill>
                  <a:srgbClr val="101010"/>
                </a:solidFill>
                <a:latin typeface="Purisa"/>
              </a:rPr>
              <a:t>Video with Beginning or Ending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5" b="0" i="0">
                <a:solidFill>
                  <a:srgbClr val="101010"/>
                </a:solidFill>
                <a:latin typeface="Purisa"/>
              </a:rPr>
              <a:t>Segment Discarded</a:t>
            </a:r>
          </a:p>
        </p:txBody>
      </p:sp>
      <p:cxnSp>
        <p:nvCxnSpPr>
          <p:cNvPr id="409" name="Connector 408"/>
          <p:cNvCxnSpPr/>
          <p:nvPr/>
        </p:nvCxnSpPr>
        <p:spPr>
          <a:xfrm>
            <a:off x="8568050" y="3753375"/>
            <a:ext cx="271796" cy="271796"/>
          </a:xfrm>
          <a:prstGeom prst="line">
            <a:avLst/>
          </a:prstGeom>
          <a:ln w="25885">
            <a:solidFill>
              <a:srgbClr val="101010"/>
            </a:solidFill>
            <a:tailEnd type="triangle" w="sm" len="sm"/>
          </a:ln>
          <a:effectLst/>
        </p:spPr>
      </p:cxnSp>
      <p:cxnSp>
        <p:nvCxnSpPr>
          <p:cNvPr id="410" name="Connector 409"/>
          <p:cNvCxnSpPr/>
          <p:nvPr/>
        </p:nvCxnSpPr>
        <p:spPr>
          <a:xfrm flipV="1">
            <a:off x="8671592" y="4199897"/>
            <a:ext cx="226496" cy="342981"/>
          </a:xfrm>
          <a:prstGeom prst="line">
            <a:avLst/>
          </a:prstGeom>
          <a:ln w="25885">
            <a:solidFill>
              <a:srgbClr val="101010"/>
            </a:solidFill>
            <a:tailEnd type="triangle" w="sm" len="sm"/>
          </a:ln>
          <a:effectLst/>
        </p:spPr>
      </p:cxnSp>
      <p:sp>
        <p:nvSpPr>
          <p:cNvPr id="411" name="TextBox 410"/>
          <p:cNvSpPr txBox="1"/>
          <p:nvPr/>
        </p:nvSpPr>
        <p:spPr>
          <a:xfrm>
            <a:off x="8729834" y="3882802"/>
            <a:ext cx="258853" cy="2588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2" b="1" i="0">
                <a:solidFill>
                  <a:srgbClr val="101010"/>
                </a:solidFill>
                <a:latin typeface="Purisa"/>
              </a:rPr>
              <a:t>or</a:t>
            </a:r>
          </a:p>
        </p:txBody>
      </p:sp>
      <p:sp>
        <p:nvSpPr>
          <p:cNvPr id="412" name="Rounded Rectangle 411"/>
          <p:cNvSpPr/>
          <p:nvPr/>
        </p:nvSpPr>
        <p:spPr>
          <a:xfrm>
            <a:off x="9094235" y="3127338"/>
            <a:ext cx="175308" cy="126385"/>
          </a:xfrm>
          <a:prstGeom prst="roundRect">
            <a:avLst/>
          </a:prstGeom>
          <a:solidFill>
            <a:srgbClr val="CFE2F3"/>
          </a:solidFill>
          <a:ln w="8153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13" name="Connector 412"/>
          <p:cNvCxnSpPr/>
          <p:nvPr/>
        </p:nvCxnSpPr>
        <p:spPr>
          <a:xfrm>
            <a:off x="9122773" y="3159954"/>
            <a:ext cx="110078" cy="0"/>
          </a:xfrm>
          <a:prstGeom prst="line">
            <a:avLst/>
          </a:prstGeom>
          <a:ln w="8153">
            <a:solidFill>
              <a:srgbClr val="3A83C4"/>
            </a:solidFill>
          </a:ln>
          <a:effectLst/>
        </p:spPr>
      </p:cxnSp>
      <p:cxnSp>
        <p:nvCxnSpPr>
          <p:cNvPr id="414" name="Connector 413"/>
          <p:cNvCxnSpPr/>
          <p:nvPr/>
        </p:nvCxnSpPr>
        <p:spPr>
          <a:xfrm>
            <a:off x="9122773" y="3188492"/>
            <a:ext cx="85616" cy="0"/>
          </a:xfrm>
          <a:prstGeom prst="line">
            <a:avLst/>
          </a:prstGeom>
          <a:ln w="8153">
            <a:solidFill>
              <a:srgbClr val="3A83C4"/>
            </a:solidFill>
          </a:ln>
          <a:effectLst/>
        </p:spPr>
      </p:cxnSp>
      <p:cxnSp>
        <p:nvCxnSpPr>
          <p:cNvPr id="415" name="Connector 414"/>
          <p:cNvCxnSpPr/>
          <p:nvPr/>
        </p:nvCxnSpPr>
        <p:spPr>
          <a:xfrm flipH="1">
            <a:off x="9179850" y="3245569"/>
            <a:ext cx="12231" cy="118232"/>
          </a:xfrm>
          <a:prstGeom prst="line">
            <a:avLst/>
          </a:prstGeom>
          <a:ln w="8153">
            <a:solidFill>
              <a:srgbClr val="101010"/>
            </a:solidFill>
          </a:ln>
          <a:effectLst/>
        </p:spPr>
      </p:cxnSp>
      <p:cxnSp>
        <p:nvCxnSpPr>
          <p:cNvPr id="416" name="Connector 415"/>
          <p:cNvCxnSpPr/>
          <p:nvPr/>
        </p:nvCxnSpPr>
        <p:spPr>
          <a:xfrm flipV="1">
            <a:off x="9057542" y="3204800"/>
            <a:ext cx="154924" cy="73385"/>
          </a:xfrm>
          <a:prstGeom prst="line">
            <a:avLst/>
          </a:prstGeom>
          <a:ln w="8153">
            <a:solidFill>
              <a:srgbClr val="101010"/>
            </a:solidFill>
          </a:ln>
          <a:effectLst/>
        </p:spPr>
      </p:cxnSp>
      <p:sp>
        <p:nvSpPr>
          <p:cNvPr id="417" name="Oval 416"/>
          <p:cNvSpPr/>
          <p:nvPr/>
        </p:nvSpPr>
        <p:spPr>
          <a:xfrm>
            <a:off x="8996388" y="3188492"/>
            <a:ext cx="126385" cy="138616"/>
          </a:xfrm>
          <a:prstGeom prst="ellipse">
            <a:avLst/>
          </a:prstGeom>
          <a:solidFill>
            <a:srgbClr val="3B2B2A"/>
          </a:solidFill>
          <a:ln w="8153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9016773" y="3200723"/>
            <a:ext cx="97846" cy="114154"/>
          </a:xfrm>
          <a:prstGeom prst="ellipse">
            <a:avLst/>
          </a:prstGeom>
          <a:solidFill>
            <a:srgbClr val="FFD7C2"/>
          </a:solidFill>
          <a:ln w="693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9" name="Freeform 418"/>
          <p:cNvSpPr/>
          <p:nvPr/>
        </p:nvSpPr>
        <p:spPr>
          <a:xfrm>
            <a:off x="8962335" y="3313152"/>
            <a:ext cx="187659" cy="84123"/>
          </a:xfrm>
          <a:custGeom>
            <a:avLst/>
            <a:gdLst/>
            <a:ahLst/>
            <a:cxnLst/>
            <a:rect l="l" t="t" r="r" b="b"/>
            <a:pathLst>
              <a:path w="29" h="13">
                <a:moveTo>
                  <a:pt x="0" y="13"/>
                </a:moveTo>
                <a:lnTo>
                  <a:pt x="6" y="0"/>
                </a:lnTo>
                <a:lnTo>
                  <a:pt x="22" y="0"/>
                </a:lnTo>
                <a:lnTo>
                  <a:pt x="29" y="13"/>
                </a:lnTo>
                <a:close/>
              </a:path>
            </a:pathLst>
          </a:custGeom>
          <a:solidFill>
            <a:srgbClr val="AEE676"/>
          </a:solidFill>
          <a:ln w="8153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0" name="Freeform 419"/>
          <p:cNvSpPr/>
          <p:nvPr/>
        </p:nvSpPr>
        <p:spPr>
          <a:xfrm>
            <a:off x="9014103" y="3313152"/>
            <a:ext cx="77652" cy="45297"/>
          </a:xfrm>
          <a:custGeom>
            <a:avLst/>
            <a:gdLst/>
            <a:ahLst/>
            <a:cxnLst/>
            <a:rect l="l" t="t" r="r" b="b"/>
            <a:pathLst>
              <a:path w="12" h="7">
                <a:moveTo>
                  <a:pt x="0" y="0"/>
                </a:moveTo>
                <a:lnTo>
                  <a:pt x="6" y="7"/>
                </a:lnTo>
                <a:lnTo>
                  <a:pt x="12" y="0"/>
                </a:lnTo>
                <a:close/>
              </a:path>
            </a:pathLst>
          </a:custGeom>
          <a:solidFill>
            <a:srgbClr val="FFFFFF"/>
          </a:solidFill>
          <a:ln w="5707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1" name="Connector 420"/>
          <p:cNvCxnSpPr/>
          <p:nvPr/>
        </p:nvCxnSpPr>
        <p:spPr>
          <a:xfrm>
            <a:off x="9053465" y="3355647"/>
            <a:ext cx="0" cy="40769"/>
          </a:xfrm>
          <a:prstGeom prst="line">
            <a:avLst/>
          </a:prstGeom>
          <a:ln w="5707">
            <a:solidFill>
              <a:srgbClr val="101010"/>
            </a:solidFill>
          </a:ln>
          <a:effectLst/>
        </p:spPr>
      </p:cxnSp>
      <p:sp>
        <p:nvSpPr>
          <p:cNvPr id="422" name="TextBox 421"/>
          <p:cNvSpPr txBox="1"/>
          <p:nvPr/>
        </p:nvSpPr>
        <p:spPr>
          <a:xfrm>
            <a:off x="8833375" y="3403923"/>
            <a:ext cx="763617" cy="2459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1" i="0">
                <a:solidFill>
                  <a:srgbClr val="101010"/>
                </a:solidFill>
                <a:latin typeface="Purisa"/>
              </a:rPr>
              <a:t>Prompt</a:t>
            </a:r>
          </a:p>
        </p:txBody>
      </p:sp>
      <p:cxnSp>
        <p:nvCxnSpPr>
          <p:cNvPr id="423" name="Connector 422"/>
          <p:cNvCxnSpPr/>
          <p:nvPr/>
        </p:nvCxnSpPr>
        <p:spPr>
          <a:xfrm>
            <a:off x="9156942" y="3572178"/>
            <a:ext cx="0" cy="174726"/>
          </a:xfrm>
          <a:prstGeom prst="line">
            <a:avLst/>
          </a:prstGeom>
          <a:ln w="25885">
            <a:solidFill>
              <a:srgbClr val="101010"/>
            </a:solidFill>
            <a:tailEnd type="triangle" w="sm" len="sm"/>
          </a:ln>
          <a:effectLst/>
        </p:spPr>
      </p:cxnSp>
      <p:cxnSp>
        <p:nvCxnSpPr>
          <p:cNvPr id="424" name="Connector 423"/>
          <p:cNvCxnSpPr/>
          <p:nvPr/>
        </p:nvCxnSpPr>
        <p:spPr>
          <a:xfrm flipH="1" flipV="1">
            <a:off x="9099088" y="3769942"/>
            <a:ext cx="10095" cy="35333"/>
          </a:xfrm>
          <a:prstGeom prst="line">
            <a:avLst/>
          </a:prstGeom>
          <a:ln w="10095">
            <a:solidFill>
              <a:srgbClr val="101010"/>
            </a:solidFill>
          </a:ln>
          <a:effectLst/>
        </p:spPr>
      </p:cxnSp>
      <p:sp>
        <p:nvSpPr>
          <p:cNvPr id="425" name="Oval 424"/>
          <p:cNvSpPr/>
          <p:nvPr/>
        </p:nvSpPr>
        <p:spPr>
          <a:xfrm>
            <a:off x="9083945" y="3754799"/>
            <a:ext cx="35333" cy="35333"/>
          </a:xfrm>
          <a:prstGeom prst="ellipse">
            <a:avLst/>
          </a:prstGeom>
          <a:solidFill>
            <a:srgbClr val="F01F18"/>
          </a:solidFill>
          <a:ln w="757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9154612" y="3749751"/>
            <a:ext cx="35333" cy="35333"/>
          </a:xfrm>
          <a:prstGeom prst="ellipse">
            <a:avLst/>
          </a:prstGeom>
          <a:solidFill>
            <a:srgbClr val="F01F18"/>
          </a:solidFill>
          <a:ln w="757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9225279" y="3759847"/>
            <a:ext cx="35333" cy="35333"/>
          </a:xfrm>
          <a:prstGeom prst="ellipse">
            <a:avLst/>
          </a:prstGeom>
          <a:solidFill>
            <a:srgbClr val="F01F18"/>
          </a:solidFill>
          <a:ln w="757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8" name="Rounded Rectangle 427"/>
          <p:cNvSpPr/>
          <p:nvPr/>
        </p:nvSpPr>
        <p:spPr>
          <a:xfrm>
            <a:off x="8947659" y="3860799"/>
            <a:ext cx="60571" cy="146381"/>
          </a:xfrm>
          <a:prstGeom prst="roundRect">
            <a:avLst/>
          </a:prstGeom>
          <a:solidFill>
            <a:srgbClr val="8ED0E5"/>
          </a:solidFill>
          <a:ln w="100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9" name="Rounded Rectangle 428"/>
          <p:cNvSpPr/>
          <p:nvPr/>
        </p:nvSpPr>
        <p:spPr>
          <a:xfrm>
            <a:off x="9306042" y="3860799"/>
            <a:ext cx="60571" cy="146381"/>
          </a:xfrm>
          <a:prstGeom prst="roundRect">
            <a:avLst/>
          </a:prstGeom>
          <a:solidFill>
            <a:srgbClr val="8ED0E5"/>
          </a:solidFill>
          <a:ln w="100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0" name="Rounded Rectangle 429"/>
          <p:cNvSpPr/>
          <p:nvPr/>
        </p:nvSpPr>
        <p:spPr>
          <a:xfrm>
            <a:off x="8982992" y="3800228"/>
            <a:ext cx="353335" cy="282668"/>
          </a:xfrm>
          <a:prstGeom prst="roundRect">
            <a:avLst/>
          </a:prstGeom>
          <a:solidFill>
            <a:srgbClr val="8ED0E5"/>
          </a:solidFill>
          <a:ln w="12619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1" name="Rounded Rectangle 430"/>
          <p:cNvSpPr/>
          <p:nvPr/>
        </p:nvSpPr>
        <p:spPr>
          <a:xfrm>
            <a:off x="9018326" y="3835561"/>
            <a:ext cx="282668" cy="196858"/>
          </a:xfrm>
          <a:prstGeom prst="roundRect">
            <a:avLst/>
          </a:prstGeom>
          <a:solidFill>
            <a:srgbClr val="D5EEF7"/>
          </a:solidFill>
          <a:ln w="908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9073850" y="3886038"/>
            <a:ext cx="30285" cy="35333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9210136" y="3886038"/>
            <a:ext cx="30285" cy="35333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34" name="Connector 433"/>
          <p:cNvCxnSpPr/>
          <p:nvPr/>
        </p:nvCxnSpPr>
        <p:spPr>
          <a:xfrm>
            <a:off x="9134422" y="3901181"/>
            <a:ext cx="25238" cy="20190"/>
          </a:xfrm>
          <a:prstGeom prst="line">
            <a:avLst/>
          </a:prstGeom>
          <a:ln w="9085">
            <a:solidFill>
              <a:srgbClr val="101010"/>
            </a:solidFill>
          </a:ln>
          <a:effectLst/>
        </p:spPr>
      </p:cxnSp>
      <p:cxnSp>
        <p:nvCxnSpPr>
          <p:cNvPr id="435" name="Connector 434"/>
          <p:cNvCxnSpPr/>
          <p:nvPr/>
        </p:nvCxnSpPr>
        <p:spPr>
          <a:xfrm flipV="1">
            <a:off x="9159660" y="3901181"/>
            <a:ext cx="25238" cy="20190"/>
          </a:xfrm>
          <a:prstGeom prst="line">
            <a:avLst/>
          </a:prstGeom>
          <a:ln w="9085">
            <a:solidFill>
              <a:srgbClr val="101010"/>
            </a:solidFill>
          </a:ln>
          <a:effectLst/>
        </p:spPr>
      </p:cxnSp>
      <p:cxnSp>
        <p:nvCxnSpPr>
          <p:cNvPr id="436" name="Connector 435"/>
          <p:cNvCxnSpPr/>
          <p:nvPr/>
        </p:nvCxnSpPr>
        <p:spPr>
          <a:xfrm>
            <a:off x="9119279" y="3971848"/>
            <a:ext cx="80762" cy="0"/>
          </a:xfrm>
          <a:prstGeom prst="line">
            <a:avLst/>
          </a:prstGeom>
          <a:ln w="9085">
            <a:solidFill>
              <a:srgbClr val="101010"/>
            </a:solidFill>
          </a:ln>
          <a:effectLst/>
        </p:spPr>
      </p:cxnSp>
      <p:sp>
        <p:nvSpPr>
          <p:cNvPr id="437" name="Freeform 436"/>
          <p:cNvSpPr/>
          <p:nvPr/>
        </p:nvSpPr>
        <p:spPr>
          <a:xfrm>
            <a:off x="9039987" y="4083201"/>
            <a:ext cx="232956" cy="71181"/>
          </a:xfrm>
          <a:custGeom>
            <a:avLst/>
            <a:gdLst/>
            <a:ahLst/>
            <a:cxnLst/>
            <a:rect l="l" t="t" r="r" b="b"/>
            <a:pathLst>
              <a:path w="36" h="11">
                <a:moveTo>
                  <a:pt x="0" y="0"/>
                </a:moveTo>
                <a:lnTo>
                  <a:pt x="36" y="0"/>
                </a:lnTo>
                <a:lnTo>
                  <a:pt x="32" y="11"/>
                </a:lnTo>
                <a:lnTo>
                  <a:pt x="5" y="11"/>
                </a:lnTo>
                <a:close/>
              </a:path>
            </a:pathLst>
          </a:custGeom>
          <a:solidFill>
            <a:srgbClr val="8ED0E5"/>
          </a:solidFill>
          <a:ln w="1009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8" name="Rounded Rectangle 437"/>
          <p:cNvSpPr/>
          <p:nvPr/>
        </p:nvSpPr>
        <p:spPr>
          <a:xfrm>
            <a:off x="9099088" y="4153563"/>
            <a:ext cx="121143" cy="25238"/>
          </a:xfrm>
          <a:prstGeom prst="roundRect">
            <a:avLst/>
          </a:prstGeom>
          <a:solidFill>
            <a:srgbClr val="8ED0E5"/>
          </a:solidFill>
          <a:ln w="757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9078898" y="4067753"/>
            <a:ext cx="161524" cy="8076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7" b="1" i="0">
                <a:solidFill>
                  <a:srgbClr val="101010"/>
                </a:solidFill>
                <a:latin typeface="DejaVu Sans"/>
              </a:rPr>
              <a:t>AI</a:t>
            </a:r>
          </a:p>
        </p:txBody>
      </p:sp>
      <p:sp>
        <p:nvSpPr>
          <p:cNvPr id="440" name="Freeform 439"/>
          <p:cNvSpPr/>
          <p:nvPr/>
        </p:nvSpPr>
        <p:spPr>
          <a:xfrm>
            <a:off x="9272943" y="3727296"/>
            <a:ext cx="103536" cy="155304"/>
          </a:xfrm>
          <a:custGeom>
            <a:avLst/>
            <a:gdLst/>
            <a:ahLst/>
            <a:cxnLst/>
            <a:rect l="l" t="t" r="r" b="b"/>
            <a:pathLst>
              <a:path w="16" h="24">
                <a:moveTo>
                  <a:pt x="0" y="18"/>
                </a:moveTo>
                <a:lnTo>
                  <a:pt x="3" y="7"/>
                </a:lnTo>
                <a:lnTo>
                  <a:pt x="7" y="13"/>
                </a:lnTo>
                <a:lnTo>
                  <a:pt x="11" y="0"/>
                </a:lnTo>
                <a:lnTo>
                  <a:pt x="16" y="9"/>
                </a:lnTo>
                <a:lnTo>
                  <a:pt x="16" y="16"/>
                </a:lnTo>
                <a:lnTo>
                  <a:pt x="12" y="23"/>
                </a:lnTo>
                <a:lnTo>
                  <a:pt x="4" y="24"/>
                </a:lnTo>
                <a:close/>
              </a:path>
            </a:pathLst>
          </a:custGeom>
          <a:solidFill>
            <a:srgbClr val="F01F18"/>
          </a:solidFill>
          <a:ln w="908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1" name="Freeform 440"/>
          <p:cNvSpPr/>
          <p:nvPr/>
        </p:nvSpPr>
        <p:spPr>
          <a:xfrm>
            <a:off x="9311769" y="3792006"/>
            <a:ext cx="51768" cy="71181"/>
          </a:xfrm>
          <a:custGeom>
            <a:avLst/>
            <a:gdLst/>
            <a:ahLst/>
            <a:cxnLst/>
            <a:rect l="l" t="t" r="r" b="b"/>
            <a:pathLst>
              <a:path w="8" h="11">
                <a:moveTo>
                  <a:pt x="0" y="8"/>
                </a:moveTo>
                <a:lnTo>
                  <a:pt x="3" y="1"/>
                </a:lnTo>
                <a:lnTo>
                  <a:pt x="5" y="6"/>
                </a:lnTo>
                <a:lnTo>
                  <a:pt x="8" y="0"/>
                </a:lnTo>
                <a:lnTo>
                  <a:pt x="8" y="7"/>
                </a:lnTo>
                <a:lnTo>
                  <a:pt x="5" y="11"/>
                </a:lnTo>
                <a:close/>
              </a:path>
            </a:pathLst>
          </a:custGeom>
          <a:solidFill>
            <a:srgbClr val="FFD86A"/>
          </a:solidFill>
          <a:ln w="6057">
            <a:solidFill>
              <a:srgbClr val="F01F1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2" name="TextBox 441"/>
          <p:cNvSpPr txBox="1"/>
          <p:nvPr/>
        </p:nvSpPr>
        <p:spPr>
          <a:xfrm>
            <a:off x="8833375" y="4232254"/>
            <a:ext cx="776560" cy="4918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1" i="0">
                <a:solidFill>
                  <a:srgbClr val="101010"/>
                </a:solidFill>
                <a:latin typeface="Purisa"/>
              </a:rPr>
              <a:t>Policy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1" i="0">
                <a:solidFill>
                  <a:srgbClr val="101010"/>
                </a:solidFill>
                <a:latin typeface="Purisa"/>
              </a:rPr>
              <a:t>Model</a:t>
            </a:r>
          </a:p>
        </p:txBody>
      </p:sp>
      <p:cxnSp>
        <p:nvCxnSpPr>
          <p:cNvPr id="443" name="Connector 442"/>
          <p:cNvCxnSpPr/>
          <p:nvPr/>
        </p:nvCxnSpPr>
        <p:spPr>
          <a:xfrm>
            <a:off x="9448152" y="3986343"/>
            <a:ext cx="220026" cy="0"/>
          </a:xfrm>
          <a:prstGeom prst="line">
            <a:avLst/>
          </a:prstGeom>
          <a:ln w="25885">
            <a:solidFill>
              <a:srgbClr val="101010"/>
            </a:solidFill>
            <a:tailEnd type="triangle" w="sm" len="sm"/>
          </a:ln>
          <a:effectLst/>
        </p:spPr>
      </p:cxnSp>
      <p:cxnSp>
        <p:nvCxnSpPr>
          <p:cNvPr id="444" name="Connector 443"/>
          <p:cNvCxnSpPr/>
          <p:nvPr/>
        </p:nvCxnSpPr>
        <p:spPr>
          <a:xfrm flipV="1">
            <a:off x="9668178" y="3455694"/>
            <a:ext cx="0" cy="530649"/>
          </a:xfrm>
          <a:prstGeom prst="line">
            <a:avLst/>
          </a:prstGeom>
          <a:ln w="25885">
            <a:solidFill>
              <a:srgbClr val="101010"/>
            </a:solidFill>
          </a:ln>
          <a:effectLst/>
        </p:spPr>
      </p:cxnSp>
      <p:cxnSp>
        <p:nvCxnSpPr>
          <p:cNvPr id="445" name="Connector 444"/>
          <p:cNvCxnSpPr/>
          <p:nvPr/>
        </p:nvCxnSpPr>
        <p:spPr>
          <a:xfrm>
            <a:off x="9668178" y="3455694"/>
            <a:ext cx="129426" cy="0"/>
          </a:xfrm>
          <a:prstGeom prst="line">
            <a:avLst/>
          </a:prstGeom>
          <a:ln w="25885">
            <a:solidFill>
              <a:srgbClr val="101010"/>
            </a:solidFill>
            <a:tailEnd type="triangle" w="sm" len="sm"/>
          </a:ln>
          <a:effectLst/>
        </p:spPr>
      </p:cxnSp>
      <p:cxnSp>
        <p:nvCxnSpPr>
          <p:cNvPr id="446" name="Connector 445"/>
          <p:cNvCxnSpPr/>
          <p:nvPr/>
        </p:nvCxnSpPr>
        <p:spPr>
          <a:xfrm>
            <a:off x="9668178" y="3986343"/>
            <a:ext cx="0" cy="388281"/>
          </a:xfrm>
          <a:prstGeom prst="line">
            <a:avLst/>
          </a:prstGeom>
          <a:ln w="25885">
            <a:solidFill>
              <a:srgbClr val="101010"/>
            </a:solidFill>
          </a:ln>
          <a:effectLst/>
        </p:spPr>
      </p:cxnSp>
      <p:cxnSp>
        <p:nvCxnSpPr>
          <p:cNvPr id="447" name="Connector 446"/>
          <p:cNvCxnSpPr/>
          <p:nvPr/>
        </p:nvCxnSpPr>
        <p:spPr>
          <a:xfrm>
            <a:off x="9668178" y="4374624"/>
            <a:ext cx="129426" cy="0"/>
          </a:xfrm>
          <a:prstGeom prst="line">
            <a:avLst/>
          </a:prstGeom>
          <a:ln w="25885">
            <a:solidFill>
              <a:srgbClr val="101010"/>
            </a:solidFill>
            <a:tailEnd type="triangle" w="sm" len="sm"/>
          </a:ln>
          <a:effectLst/>
        </p:spPr>
      </p:cxnSp>
      <p:sp>
        <p:nvSpPr>
          <p:cNvPr id="448" name="Rounded Rectangle 447"/>
          <p:cNvSpPr/>
          <p:nvPr/>
        </p:nvSpPr>
        <p:spPr>
          <a:xfrm>
            <a:off x="9719948" y="3047999"/>
            <a:ext cx="2264968" cy="873630"/>
          </a:xfrm>
          <a:prstGeom prst="roundRect">
            <a:avLst/>
          </a:prstGeom>
          <a:solidFill>
            <a:srgbClr val="FFFEFD"/>
          </a:solidFill>
          <a:ln w="12942">
            <a:solidFill>
              <a:srgbClr val="D0D0D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9" name="TextBox 448"/>
          <p:cNvSpPr txBox="1"/>
          <p:nvPr/>
        </p:nvSpPr>
        <p:spPr>
          <a:xfrm>
            <a:off x="10134114" y="3035057"/>
            <a:ext cx="860687" cy="2394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5" b="1" i="1">
                <a:solidFill>
                  <a:srgbClr val="101010"/>
                </a:solidFill>
                <a:latin typeface="Purisa"/>
              </a:rPr>
              <a:t>Original</a:t>
            </a:r>
          </a:p>
        </p:txBody>
      </p:sp>
      <p:sp>
        <p:nvSpPr>
          <p:cNvPr id="450" name="TextBox 449"/>
          <p:cNvSpPr txBox="1"/>
          <p:nvPr/>
        </p:nvSpPr>
        <p:spPr>
          <a:xfrm>
            <a:off x="11227770" y="3035057"/>
            <a:ext cx="666547" cy="2394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5" b="1" i="1">
                <a:solidFill>
                  <a:srgbClr val="101010"/>
                </a:solidFill>
                <a:latin typeface="Purisa"/>
              </a:rPr>
              <a:t>New</a:t>
            </a:r>
          </a:p>
        </p:txBody>
      </p:sp>
      <p:sp>
        <p:nvSpPr>
          <p:cNvPr id="451" name="TextBox 450"/>
          <p:cNvSpPr txBox="1"/>
          <p:nvPr/>
        </p:nvSpPr>
        <p:spPr>
          <a:xfrm>
            <a:off x="9771719" y="3300382"/>
            <a:ext cx="220025" cy="2717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8" b="0" i="0">
                <a:solidFill>
                  <a:srgbClr val="101010"/>
                </a:solidFill>
                <a:latin typeface="Purisa"/>
              </a:rPr>
              <a:t>If:</a:t>
            </a:r>
          </a:p>
        </p:txBody>
      </p:sp>
      <p:sp>
        <p:nvSpPr>
          <p:cNvPr id="452" name="Rounded Rectangle 451"/>
          <p:cNvSpPr/>
          <p:nvPr/>
        </p:nvSpPr>
        <p:spPr>
          <a:xfrm>
            <a:off x="10024101" y="3287439"/>
            <a:ext cx="860687" cy="271796"/>
          </a:xfrm>
          <a:prstGeom prst="roundRect">
            <a:avLst/>
          </a:prstGeom>
          <a:solidFill>
            <a:srgbClr val="FFB5AF"/>
          </a:solidFill>
          <a:ln w="12942">
            <a:solidFill>
              <a:srgbClr val="F01F1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3" name="TextBox 452"/>
          <p:cNvSpPr txBox="1"/>
          <p:nvPr/>
        </p:nvSpPr>
        <p:spPr>
          <a:xfrm>
            <a:off x="10049987" y="3293910"/>
            <a:ext cx="808917" cy="25885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F01F18"/>
                </a:solidFill>
                <a:latin typeface="Purisa"/>
              </a:rPr>
              <a:t>Abnormal</a:t>
            </a:r>
          </a:p>
        </p:txBody>
      </p:sp>
      <p:cxnSp>
        <p:nvCxnSpPr>
          <p:cNvPr id="454" name="Connector 453"/>
          <p:cNvCxnSpPr/>
          <p:nvPr/>
        </p:nvCxnSpPr>
        <p:spPr>
          <a:xfrm>
            <a:off x="10910674" y="3423337"/>
            <a:ext cx="271797" cy="0"/>
          </a:xfrm>
          <a:prstGeom prst="line">
            <a:avLst/>
          </a:prstGeom>
          <a:ln w="22649">
            <a:solidFill>
              <a:srgbClr val="101010"/>
            </a:solidFill>
            <a:tailEnd type="triangle" w="sm" len="sm"/>
          </a:ln>
          <a:effectLst/>
        </p:spPr>
      </p:cxnSp>
      <p:sp>
        <p:nvSpPr>
          <p:cNvPr id="455" name="Rounded Rectangle 454"/>
          <p:cNvSpPr/>
          <p:nvPr/>
        </p:nvSpPr>
        <p:spPr>
          <a:xfrm>
            <a:off x="11150114" y="3287439"/>
            <a:ext cx="750675" cy="271796"/>
          </a:xfrm>
          <a:prstGeom prst="roundRect">
            <a:avLst/>
          </a:prstGeom>
          <a:solidFill>
            <a:srgbClr val="E9F4DE"/>
          </a:solidFill>
          <a:ln w="12942">
            <a:solidFill>
              <a:srgbClr val="157B17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11175999" y="3293910"/>
            <a:ext cx="698904" cy="25885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157B17"/>
                </a:solidFill>
                <a:latin typeface="Purisa"/>
              </a:rPr>
              <a:t>Normal</a:t>
            </a:r>
          </a:p>
        </p:txBody>
      </p:sp>
      <p:sp>
        <p:nvSpPr>
          <p:cNvPr id="457" name="Oval 456"/>
          <p:cNvSpPr/>
          <p:nvPr/>
        </p:nvSpPr>
        <p:spPr>
          <a:xfrm>
            <a:off x="9849375" y="3611006"/>
            <a:ext cx="181197" cy="181197"/>
          </a:xfrm>
          <a:prstGeom prst="ellipse">
            <a:avLst/>
          </a:prstGeom>
          <a:solidFill>
            <a:srgbClr val="61B832"/>
          </a:solidFill>
          <a:ln w="12942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8" name="TextBox 457"/>
          <p:cNvSpPr txBox="1"/>
          <p:nvPr/>
        </p:nvSpPr>
        <p:spPr>
          <a:xfrm>
            <a:off x="9836432" y="3572178"/>
            <a:ext cx="207082" cy="220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2" b="1" i="0">
                <a:solidFill>
                  <a:srgbClr val="101010"/>
                </a:solidFill>
                <a:latin typeface="DejaVu Sans"/>
              </a:rPr>
              <a:t>✓</a:t>
            </a:r>
          </a:p>
        </p:txBody>
      </p:sp>
      <p:sp>
        <p:nvSpPr>
          <p:cNvPr id="459" name="TextBox 458"/>
          <p:cNvSpPr txBox="1"/>
          <p:nvPr/>
        </p:nvSpPr>
        <p:spPr>
          <a:xfrm>
            <a:off x="10108229" y="3565706"/>
            <a:ext cx="1747261" cy="3235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01010"/>
                </a:solidFill>
                <a:latin typeface="Purisa"/>
              </a:rPr>
              <a:t>The model gave right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01010"/>
                </a:solidFill>
                <a:latin typeface="Purisa"/>
              </a:rPr>
              <a:t>prediction!</a:t>
            </a:r>
          </a:p>
        </p:txBody>
      </p:sp>
      <p:sp>
        <p:nvSpPr>
          <p:cNvPr id="460" name="Rounded Rectangle 459"/>
          <p:cNvSpPr/>
          <p:nvPr/>
        </p:nvSpPr>
        <p:spPr>
          <a:gradFill rotWithShape="1">
            <a:gsLst>
              <a:gs pos="0">
                <a:srgbClr val="B9E16E"/>
              </a:gs>
              <a:gs pos="100000">
                <a:srgbClr val="1A9B16"/>
              </a:gs>
            </a:gsLst>
            <a:lin ang="2700000" scaled="1"/>
          </a:gradFill>
          <a:xfrm>
            <a:off x="11053044" y="3675719"/>
            <a:ext cx="220025" cy="207082"/>
          </a:xfrm>
          <a:prstGeom prst="roundRect">
            <a:avLst/>
          </a:prstGeom>
          <a:ln w="12942">
            <a:solidFill>
              <a:srgbClr val="2D578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1" name="TextBox 460"/>
          <p:cNvSpPr txBox="1"/>
          <p:nvPr/>
        </p:nvSpPr>
        <p:spPr>
          <a:xfrm>
            <a:off x="11053044" y="3669248"/>
            <a:ext cx="220025" cy="220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1" i="0">
                <a:solidFill>
                  <a:srgbClr val="101010"/>
                </a:solidFill>
                <a:latin typeface="Purisa"/>
              </a:rPr>
              <a:t>R</a:t>
            </a:r>
          </a:p>
        </p:txBody>
      </p:sp>
      <p:sp>
        <p:nvSpPr>
          <p:cNvPr id="462" name="TextBox 461"/>
          <p:cNvSpPr txBox="1"/>
          <p:nvPr/>
        </p:nvSpPr>
        <p:spPr>
          <a:xfrm>
            <a:off x="11311897" y="3669248"/>
            <a:ext cx="601834" cy="213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1" b="0" i="0">
                <a:solidFill>
                  <a:srgbClr val="101010"/>
                </a:solidFill>
                <a:latin typeface="Purisa"/>
              </a:rPr>
              <a:t>= 0.5</a:t>
            </a:r>
          </a:p>
        </p:txBody>
      </p:sp>
      <p:sp>
        <p:nvSpPr>
          <p:cNvPr id="463" name="Rounded Rectangle 462"/>
          <p:cNvSpPr/>
          <p:nvPr/>
        </p:nvSpPr>
        <p:spPr>
          <a:xfrm>
            <a:off x="9719948" y="3953987"/>
            <a:ext cx="2264968" cy="873630"/>
          </a:xfrm>
          <a:prstGeom prst="roundRect">
            <a:avLst/>
          </a:prstGeom>
          <a:solidFill>
            <a:srgbClr val="FFFEFD"/>
          </a:solidFill>
          <a:ln w="12942">
            <a:solidFill>
              <a:srgbClr val="D0D0D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4" name="TextBox 463"/>
          <p:cNvSpPr txBox="1"/>
          <p:nvPr/>
        </p:nvSpPr>
        <p:spPr>
          <a:xfrm>
            <a:off x="9771719" y="4089885"/>
            <a:ext cx="220025" cy="2717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8" b="0" i="0">
                <a:solidFill>
                  <a:srgbClr val="101010"/>
                </a:solidFill>
                <a:latin typeface="Purisa"/>
              </a:rPr>
              <a:t>If:</a:t>
            </a:r>
          </a:p>
        </p:txBody>
      </p:sp>
      <p:sp>
        <p:nvSpPr>
          <p:cNvPr id="465" name="Rounded Rectangle 464"/>
          <p:cNvSpPr/>
          <p:nvPr/>
        </p:nvSpPr>
        <p:spPr>
          <a:xfrm>
            <a:off x="10024101" y="4076942"/>
            <a:ext cx="750675" cy="271796"/>
          </a:xfrm>
          <a:prstGeom prst="roundRect">
            <a:avLst/>
          </a:prstGeom>
          <a:solidFill>
            <a:srgbClr val="E9F4DE"/>
          </a:solidFill>
          <a:ln w="12942">
            <a:solidFill>
              <a:srgbClr val="157B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6" name="TextBox 465"/>
          <p:cNvSpPr txBox="1"/>
          <p:nvPr/>
        </p:nvSpPr>
        <p:spPr>
          <a:xfrm>
            <a:off x="10049987" y="4083413"/>
            <a:ext cx="698904" cy="25885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157B17"/>
                </a:solidFill>
                <a:latin typeface="Purisa"/>
              </a:rPr>
              <a:t>Normal</a:t>
            </a:r>
          </a:p>
        </p:txBody>
      </p:sp>
      <p:cxnSp>
        <p:nvCxnSpPr>
          <p:cNvPr id="467" name="Connector 466"/>
          <p:cNvCxnSpPr/>
          <p:nvPr/>
        </p:nvCxnSpPr>
        <p:spPr>
          <a:xfrm>
            <a:off x="10800662" y="4212840"/>
            <a:ext cx="271796" cy="0"/>
          </a:xfrm>
          <a:prstGeom prst="line">
            <a:avLst/>
          </a:prstGeom>
          <a:ln w="22649">
            <a:solidFill>
              <a:srgbClr val="101010"/>
            </a:solidFill>
            <a:tailEnd type="triangle" w="sm" len="sm"/>
          </a:ln>
          <a:effectLst/>
        </p:spPr>
      </p:cxnSp>
      <p:sp>
        <p:nvSpPr>
          <p:cNvPr id="468" name="Rounded Rectangle 467"/>
          <p:cNvSpPr/>
          <p:nvPr/>
        </p:nvSpPr>
        <p:spPr>
          <a:xfrm>
            <a:off x="11065986" y="4076942"/>
            <a:ext cx="834802" cy="271796"/>
          </a:xfrm>
          <a:prstGeom prst="roundRect">
            <a:avLst/>
          </a:prstGeom>
          <a:solidFill>
            <a:srgbClr val="FFB5AF"/>
          </a:solidFill>
          <a:ln w="12942">
            <a:solidFill>
              <a:srgbClr val="F01F1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9" name="TextBox 468"/>
          <p:cNvSpPr txBox="1"/>
          <p:nvPr/>
        </p:nvSpPr>
        <p:spPr>
          <a:xfrm>
            <a:off x="11091872" y="4083413"/>
            <a:ext cx="783031" cy="25885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F01F18"/>
                </a:solidFill>
                <a:latin typeface="Purisa"/>
              </a:rPr>
              <a:t>Abnormal</a:t>
            </a:r>
          </a:p>
        </p:txBody>
      </p:sp>
      <p:sp>
        <p:nvSpPr>
          <p:cNvPr id="470" name="Oval 469"/>
          <p:cNvSpPr/>
          <p:nvPr/>
        </p:nvSpPr>
        <p:spPr>
          <a:xfrm>
            <a:off x="9849375" y="4406980"/>
            <a:ext cx="181197" cy="181197"/>
          </a:xfrm>
          <a:prstGeom prst="ellipse">
            <a:avLst/>
          </a:prstGeom>
          <a:solidFill>
            <a:srgbClr val="F34B35"/>
          </a:solidFill>
          <a:ln w="12942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1" name="TextBox 470"/>
          <p:cNvSpPr txBox="1"/>
          <p:nvPr/>
        </p:nvSpPr>
        <p:spPr>
          <a:xfrm>
            <a:off x="9836432" y="4374624"/>
            <a:ext cx="207082" cy="220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2" b="1" i="0">
                <a:solidFill>
                  <a:srgbClr val="101010"/>
                </a:solidFill>
                <a:latin typeface="DejaVu Sans"/>
              </a:rPr>
              <a:t>×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10108229" y="4368152"/>
            <a:ext cx="1747261" cy="3235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101010"/>
                </a:solidFill>
                <a:latin typeface="Purisa"/>
              </a:rPr>
              <a:t>The model just saw a few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101010"/>
                </a:solidFill>
                <a:latin typeface="Purisa"/>
              </a:rPr>
              <a:t>frames!</a:t>
            </a:r>
          </a:p>
        </p:txBody>
      </p:sp>
      <p:sp>
        <p:nvSpPr>
          <p:cNvPr id="473" name="Rounded Rectangle 472"/>
          <p:cNvSpPr/>
          <p:nvPr/>
        </p:nvSpPr>
        <p:spPr>
          <a:gradFill rotWithShape="1">
            <a:gsLst>
              <a:gs pos="0">
                <a:srgbClr val="B9E16E"/>
              </a:gs>
              <a:gs pos="100000">
                <a:srgbClr val="1A9B16"/>
              </a:gs>
            </a:gsLst>
            <a:lin ang="2700000" scaled="1"/>
          </a:gradFill>
          <a:xfrm>
            <a:off x="11053044" y="4568764"/>
            <a:ext cx="220025" cy="207082"/>
          </a:xfrm>
          <a:prstGeom prst="roundRect">
            <a:avLst/>
          </a:prstGeom>
          <a:ln w="12942">
            <a:solidFill>
              <a:srgbClr val="2D578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4" name="TextBox 473"/>
          <p:cNvSpPr txBox="1"/>
          <p:nvPr/>
        </p:nvSpPr>
        <p:spPr>
          <a:xfrm>
            <a:off x="11053044" y="4562292"/>
            <a:ext cx="220025" cy="220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1" i="0">
                <a:solidFill>
                  <a:srgbClr val="101010"/>
                </a:solidFill>
                <a:latin typeface="Purisa"/>
              </a:rPr>
              <a:t>R</a:t>
            </a:r>
          </a:p>
        </p:txBody>
      </p:sp>
      <p:sp>
        <p:nvSpPr>
          <p:cNvPr id="475" name="TextBox 474"/>
          <p:cNvSpPr txBox="1"/>
          <p:nvPr/>
        </p:nvSpPr>
        <p:spPr>
          <a:xfrm>
            <a:off x="11311897" y="4562292"/>
            <a:ext cx="601834" cy="213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1" b="0" i="0">
                <a:solidFill>
                  <a:srgbClr val="101010"/>
                </a:solidFill>
                <a:latin typeface="Purisa"/>
              </a:rPr>
              <a:t>= -0.2</a:t>
            </a:r>
          </a:p>
        </p:txBody>
      </p:sp>
      <p:sp>
        <p:nvSpPr>
          <p:cNvPr id="476" name="TextBox 475"/>
          <p:cNvSpPr txBox="1"/>
          <p:nvPr/>
        </p:nvSpPr>
        <p:spPr>
          <a:xfrm>
            <a:off x="5300025" y="4950573"/>
            <a:ext cx="3125655" cy="2717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1" i="0">
                <a:solidFill>
                  <a:srgbClr val="101010"/>
                </a:solidFill>
                <a:latin typeface="Purisa"/>
              </a:rPr>
              <a:t>Step 3: Computing KL Divergence</a:t>
            </a:r>
          </a:p>
        </p:txBody>
      </p:sp>
      <p:cxnSp>
        <p:nvCxnSpPr>
          <p:cNvPr id="477" name="Connector 476"/>
          <p:cNvCxnSpPr/>
          <p:nvPr/>
        </p:nvCxnSpPr>
        <p:spPr>
          <a:xfrm>
            <a:off x="5300025" y="5202955"/>
            <a:ext cx="3125656" cy="0"/>
          </a:xfrm>
          <a:prstGeom prst="line">
            <a:avLst/>
          </a:prstGeom>
          <a:ln w="12942">
            <a:solidFill>
              <a:srgbClr val="101010"/>
            </a:solidFill>
          </a:ln>
          <a:effectLst/>
        </p:spPr>
      </p:cxnSp>
      <p:sp>
        <p:nvSpPr>
          <p:cNvPr id="478" name="Rounded Rectangle 477"/>
          <p:cNvSpPr/>
          <p:nvPr/>
        </p:nvSpPr>
        <p:spPr>
          <a:xfrm>
            <a:off x="5267668" y="5461808"/>
            <a:ext cx="1255439" cy="258853"/>
          </a:xfrm>
          <a:prstGeom prst="roundRect">
            <a:avLst/>
          </a:prstGeom>
          <a:solidFill>
            <a:srgbClr val="F5AE7E"/>
          </a:solidFill>
          <a:ln w="12942">
            <a:solidFill>
              <a:srgbClr val="2D578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9" name="TextBox 478"/>
          <p:cNvSpPr txBox="1"/>
          <p:nvPr/>
        </p:nvSpPr>
        <p:spPr>
          <a:xfrm>
            <a:off x="5293554" y="5468280"/>
            <a:ext cx="1203668" cy="24591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101010"/>
                </a:solidFill>
                <a:latin typeface="Purisa"/>
              </a:rPr>
              <a:t>Completion 1</a:t>
            </a:r>
          </a:p>
        </p:txBody>
      </p:sp>
      <p:sp>
        <p:nvSpPr>
          <p:cNvPr id="480" name="Rounded Rectangle 479"/>
          <p:cNvSpPr/>
          <p:nvPr/>
        </p:nvSpPr>
        <p:spPr>
          <a:xfrm>
            <a:off x="5267668" y="5753018"/>
            <a:ext cx="1255439" cy="258853"/>
          </a:xfrm>
          <a:prstGeom prst="roundRect">
            <a:avLst/>
          </a:prstGeom>
          <a:solidFill>
            <a:srgbClr val="F5AE7E"/>
          </a:solidFill>
          <a:ln w="12942">
            <a:solidFill>
              <a:srgbClr val="2D578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1" name="TextBox 480"/>
          <p:cNvSpPr txBox="1"/>
          <p:nvPr/>
        </p:nvSpPr>
        <p:spPr>
          <a:xfrm>
            <a:off x="5293554" y="5759490"/>
            <a:ext cx="1203668" cy="24591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101010"/>
                </a:solidFill>
                <a:latin typeface="Purisa"/>
              </a:rPr>
              <a:t>Completion 2</a:t>
            </a:r>
          </a:p>
        </p:txBody>
      </p:sp>
      <p:sp>
        <p:nvSpPr>
          <p:cNvPr id="482" name="TextBox 481"/>
          <p:cNvSpPr txBox="1"/>
          <p:nvPr/>
        </p:nvSpPr>
        <p:spPr>
          <a:xfrm>
            <a:off x="5630063" y="6005401"/>
            <a:ext cx="550063" cy="2200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6" b="1" i="0">
                <a:solidFill>
                  <a:srgbClr val="101010"/>
                </a:solidFill>
                <a:latin typeface="Purisa"/>
              </a:rPr>
              <a:t>...</a:t>
            </a:r>
          </a:p>
        </p:txBody>
      </p:sp>
      <p:sp>
        <p:nvSpPr>
          <p:cNvPr id="483" name="TextBox 482"/>
          <p:cNvSpPr txBox="1"/>
          <p:nvPr/>
        </p:nvSpPr>
        <p:spPr>
          <a:xfrm>
            <a:off x="5267668" y="6251311"/>
            <a:ext cx="1294267" cy="5500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5" b="1" i="1">
                <a:solidFill>
                  <a:srgbClr val="101010"/>
                </a:solidFill>
                <a:latin typeface="Purisa"/>
              </a:rPr>
              <a:t>A Group of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5" b="1" i="1">
                <a:solidFill>
                  <a:srgbClr val="101010"/>
                </a:solidFill>
                <a:latin typeface="Purisa"/>
              </a:rPr>
              <a:t>Completions</a:t>
            </a:r>
          </a:p>
        </p:txBody>
      </p:sp>
      <p:cxnSp>
        <p:nvCxnSpPr>
          <p:cNvPr id="484" name="Connector 483"/>
          <p:cNvCxnSpPr/>
          <p:nvPr/>
        </p:nvCxnSpPr>
        <p:spPr>
          <a:xfrm>
            <a:off x="6523108" y="5591235"/>
            <a:ext cx="77656" cy="0"/>
          </a:xfrm>
          <a:prstGeom prst="line">
            <a:avLst/>
          </a:prstGeom>
          <a:ln w="25885">
            <a:solidFill>
              <a:srgbClr val="101010"/>
            </a:solidFill>
          </a:ln>
          <a:effectLst/>
        </p:spPr>
      </p:cxnSp>
      <p:cxnSp>
        <p:nvCxnSpPr>
          <p:cNvPr id="485" name="Connector 484"/>
          <p:cNvCxnSpPr/>
          <p:nvPr/>
        </p:nvCxnSpPr>
        <p:spPr>
          <a:xfrm flipV="1">
            <a:off x="6600764" y="5384152"/>
            <a:ext cx="0" cy="207083"/>
          </a:xfrm>
          <a:prstGeom prst="line">
            <a:avLst/>
          </a:prstGeom>
          <a:ln w="25885">
            <a:solidFill>
              <a:srgbClr val="101010"/>
            </a:solidFill>
          </a:ln>
          <a:effectLst/>
        </p:spPr>
      </p:cxnSp>
      <p:cxnSp>
        <p:nvCxnSpPr>
          <p:cNvPr id="486" name="Connector 485"/>
          <p:cNvCxnSpPr/>
          <p:nvPr/>
        </p:nvCxnSpPr>
        <p:spPr>
          <a:xfrm>
            <a:off x="6600764" y="5384152"/>
            <a:ext cx="194140" cy="0"/>
          </a:xfrm>
          <a:prstGeom prst="line">
            <a:avLst/>
          </a:prstGeom>
          <a:ln w="25885">
            <a:solidFill>
              <a:srgbClr val="101010"/>
            </a:solidFill>
            <a:tailEnd type="triangle" w="sm" len="sm"/>
          </a:ln>
          <a:effectLst/>
        </p:spPr>
      </p:cxnSp>
      <p:cxnSp>
        <p:nvCxnSpPr>
          <p:cNvPr id="487" name="Connector 486"/>
          <p:cNvCxnSpPr/>
          <p:nvPr/>
        </p:nvCxnSpPr>
        <p:spPr>
          <a:xfrm>
            <a:off x="6523108" y="5882445"/>
            <a:ext cx="77656" cy="0"/>
          </a:xfrm>
          <a:prstGeom prst="line">
            <a:avLst/>
          </a:prstGeom>
          <a:ln w="25885">
            <a:solidFill>
              <a:srgbClr val="101010"/>
            </a:solidFill>
          </a:ln>
          <a:effectLst/>
        </p:spPr>
      </p:cxnSp>
      <p:cxnSp>
        <p:nvCxnSpPr>
          <p:cNvPr id="488" name="Connector 487"/>
          <p:cNvCxnSpPr/>
          <p:nvPr/>
        </p:nvCxnSpPr>
        <p:spPr>
          <a:xfrm>
            <a:off x="6600764" y="5882445"/>
            <a:ext cx="0" cy="588892"/>
          </a:xfrm>
          <a:prstGeom prst="line">
            <a:avLst/>
          </a:prstGeom>
          <a:ln w="25885">
            <a:solidFill>
              <a:srgbClr val="101010"/>
            </a:solidFill>
          </a:ln>
          <a:effectLst/>
        </p:spPr>
      </p:cxnSp>
      <p:cxnSp>
        <p:nvCxnSpPr>
          <p:cNvPr id="489" name="Connector 488"/>
          <p:cNvCxnSpPr/>
          <p:nvPr/>
        </p:nvCxnSpPr>
        <p:spPr>
          <a:xfrm>
            <a:off x="6600764" y="6471337"/>
            <a:ext cx="194140" cy="0"/>
          </a:xfrm>
          <a:prstGeom prst="line">
            <a:avLst/>
          </a:prstGeom>
          <a:ln w="25885">
            <a:solidFill>
              <a:srgbClr val="101010"/>
            </a:solidFill>
            <a:tailEnd type="triangle" w="sm" len="sm"/>
          </a:ln>
          <a:effectLst/>
        </p:spPr>
      </p:cxnSp>
      <p:sp>
        <p:nvSpPr>
          <p:cNvPr id="490" name="TextBox 489"/>
          <p:cNvSpPr txBox="1"/>
          <p:nvPr/>
        </p:nvSpPr>
        <p:spPr>
          <a:xfrm>
            <a:off x="6924331" y="5215897"/>
            <a:ext cx="789503" cy="4206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1" b="1" i="0">
                <a:solidFill>
                  <a:srgbClr val="101010"/>
                </a:solidFill>
                <a:latin typeface="Purisa"/>
              </a:rPr>
              <a:t>Policy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1" b="1" i="0">
                <a:solidFill>
                  <a:srgbClr val="101010"/>
                </a:solidFill>
                <a:latin typeface="Purisa"/>
              </a:rPr>
              <a:t>Model</a:t>
            </a:r>
          </a:p>
        </p:txBody>
      </p:sp>
      <p:cxnSp>
        <p:nvCxnSpPr>
          <p:cNvPr id="491" name="Connector 490"/>
          <p:cNvCxnSpPr/>
          <p:nvPr/>
        </p:nvCxnSpPr>
        <p:spPr>
          <a:xfrm flipH="1" flipV="1">
            <a:off x="7756415" y="5268186"/>
            <a:ext cx="6989" cy="24462"/>
          </a:xfrm>
          <a:prstGeom prst="line">
            <a:avLst/>
          </a:prstGeom>
          <a:ln w="6989">
            <a:solidFill>
              <a:srgbClr val="101010"/>
            </a:solidFill>
          </a:ln>
          <a:effectLst/>
        </p:spPr>
      </p:cxnSp>
      <p:sp>
        <p:nvSpPr>
          <p:cNvPr id="492" name="Oval 491"/>
          <p:cNvSpPr/>
          <p:nvPr/>
        </p:nvSpPr>
        <p:spPr>
          <a:xfrm>
            <a:off x="7745932" y="5257702"/>
            <a:ext cx="24461" cy="24461"/>
          </a:xfrm>
          <a:prstGeom prst="ellipse">
            <a:avLst/>
          </a:prstGeom>
          <a:solidFill>
            <a:srgbClr val="F01F18"/>
          </a:solidFill>
          <a:ln w="524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7794855" y="5254208"/>
            <a:ext cx="24461" cy="24461"/>
          </a:xfrm>
          <a:prstGeom prst="ellipse">
            <a:avLst/>
          </a:prstGeom>
          <a:solidFill>
            <a:srgbClr val="F01F18"/>
          </a:solidFill>
          <a:ln w="524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7843778" y="5261197"/>
            <a:ext cx="24461" cy="24461"/>
          </a:xfrm>
          <a:prstGeom prst="ellipse">
            <a:avLst/>
          </a:prstGeom>
          <a:solidFill>
            <a:srgbClr val="F01F18"/>
          </a:solidFill>
          <a:ln w="524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5" name="Rounded Rectangle 494"/>
          <p:cNvSpPr/>
          <p:nvPr/>
        </p:nvSpPr>
        <p:spPr>
          <a:xfrm>
            <a:off x="7651579" y="5331087"/>
            <a:ext cx="41934" cy="101341"/>
          </a:xfrm>
          <a:prstGeom prst="roundRect">
            <a:avLst/>
          </a:prstGeom>
          <a:solidFill>
            <a:srgbClr val="8ED0E5"/>
          </a:solidFill>
          <a:ln w="6989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6" name="Rounded Rectangle 495"/>
          <p:cNvSpPr/>
          <p:nvPr/>
        </p:nvSpPr>
        <p:spPr>
          <a:xfrm>
            <a:off x="7899691" y="5331087"/>
            <a:ext cx="41934" cy="101341"/>
          </a:xfrm>
          <a:prstGeom prst="roundRect">
            <a:avLst/>
          </a:prstGeom>
          <a:solidFill>
            <a:srgbClr val="8ED0E5"/>
          </a:solidFill>
          <a:ln w="6989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7" name="Rounded Rectangle 496"/>
          <p:cNvSpPr/>
          <p:nvPr/>
        </p:nvSpPr>
        <p:spPr>
          <a:xfrm>
            <a:off x="7676041" y="5289153"/>
            <a:ext cx="244616" cy="195693"/>
          </a:xfrm>
          <a:prstGeom prst="roundRect">
            <a:avLst/>
          </a:prstGeom>
          <a:solidFill>
            <a:srgbClr val="8ED0E5"/>
          </a:solidFill>
          <a:ln w="8736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8" name="Rounded Rectangle 497"/>
          <p:cNvSpPr/>
          <p:nvPr/>
        </p:nvSpPr>
        <p:spPr>
          <a:xfrm>
            <a:off x="7700503" y="5313615"/>
            <a:ext cx="195693" cy="136286"/>
          </a:xfrm>
          <a:prstGeom prst="roundRect">
            <a:avLst/>
          </a:prstGeom>
          <a:solidFill>
            <a:srgbClr val="D5EEF7"/>
          </a:solidFill>
          <a:ln w="629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xfrm>
            <a:off x="7738942" y="5348560"/>
            <a:ext cx="20967" cy="24461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7833295" y="5348560"/>
            <a:ext cx="20967" cy="24461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01" name="Connector 500"/>
          <p:cNvCxnSpPr/>
          <p:nvPr/>
        </p:nvCxnSpPr>
        <p:spPr>
          <a:xfrm>
            <a:off x="7780877" y="5359043"/>
            <a:ext cx="17472" cy="13979"/>
          </a:xfrm>
          <a:prstGeom prst="line">
            <a:avLst/>
          </a:prstGeom>
          <a:ln w="6290">
            <a:solidFill>
              <a:srgbClr val="101010"/>
            </a:solidFill>
          </a:ln>
          <a:effectLst/>
        </p:spPr>
      </p:cxnSp>
      <p:cxnSp>
        <p:nvCxnSpPr>
          <p:cNvPr id="502" name="Connector 501"/>
          <p:cNvCxnSpPr/>
          <p:nvPr/>
        </p:nvCxnSpPr>
        <p:spPr>
          <a:xfrm flipV="1">
            <a:off x="7798349" y="5359043"/>
            <a:ext cx="17473" cy="13979"/>
          </a:xfrm>
          <a:prstGeom prst="line">
            <a:avLst/>
          </a:prstGeom>
          <a:ln w="6290">
            <a:solidFill>
              <a:srgbClr val="101010"/>
            </a:solidFill>
          </a:ln>
          <a:effectLst/>
        </p:spPr>
      </p:cxnSp>
      <p:cxnSp>
        <p:nvCxnSpPr>
          <p:cNvPr id="503" name="Connector 502"/>
          <p:cNvCxnSpPr/>
          <p:nvPr/>
        </p:nvCxnSpPr>
        <p:spPr>
          <a:xfrm>
            <a:off x="7770393" y="5407967"/>
            <a:ext cx="55913" cy="0"/>
          </a:xfrm>
          <a:prstGeom prst="line">
            <a:avLst/>
          </a:prstGeom>
          <a:ln w="6290">
            <a:solidFill>
              <a:srgbClr val="101010"/>
            </a:solidFill>
          </a:ln>
          <a:effectLst/>
        </p:spPr>
      </p:cxnSp>
      <p:sp>
        <p:nvSpPr>
          <p:cNvPr id="504" name="Freeform 503"/>
          <p:cNvSpPr/>
          <p:nvPr/>
        </p:nvSpPr>
        <p:spPr>
          <a:xfrm>
            <a:off x="7719903" y="5487408"/>
            <a:ext cx="155304" cy="45297"/>
          </a:xfrm>
          <a:custGeom>
            <a:avLst/>
            <a:gdLst/>
            <a:ahLst/>
            <a:cxnLst/>
            <a:rect l="l" t="t" r="r" b="b"/>
            <a:pathLst>
              <a:path w="24" h="7">
                <a:moveTo>
                  <a:pt x="0" y="0"/>
                </a:moveTo>
                <a:lnTo>
                  <a:pt x="24" y="0"/>
                </a:lnTo>
                <a:lnTo>
                  <a:pt x="21" y="7"/>
                </a:lnTo>
                <a:lnTo>
                  <a:pt x="3" y="7"/>
                </a:lnTo>
                <a:close/>
              </a:path>
            </a:pathLst>
          </a:custGeom>
          <a:solidFill>
            <a:srgbClr val="8ED0E5"/>
          </a:solidFill>
          <a:ln w="6989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5" name="Rounded Rectangle 504"/>
          <p:cNvSpPr/>
          <p:nvPr/>
        </p:nvSpPr>
        <p:spPr>
          <a:xfrm>
            <a:off x="7756415" y="5533770"/>
            <a:ext cx="83868" cy="17472"/>
          </a:xfrm>
          <a:prstGeom prst="roundRect">
            <a:avLst/>
          </a:prstGeom>
          <a:solidFill>
            <a:srgbClr val="8ED0E5"/>
          </a:solidFill>
          <a:ln w="524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6" name="TextBox 505"/>
          <p:cNvSpPr txBox="1"/>
          <p:nvPr/>
        </p:nvSpPr>
        <p:spPr>
          <a:xfrm>
            <a:off x="7742437" y="5474363"/>
            <a:ext cx="111824" cy="559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5" b="1" i="0">
                <a:solidFill>
                  <a:srgbClr val="101010"/>
                </a:solidFill>
                <a:latin typeface="DejaVu Sans"/>
              </a:rPr>
              <a:t>AI</a:t>
            </a:r>
          </a:p>
        </p:txBody>
      </p:sp>
      <p:sp>
        <p:nvSpPr>
          <p:cNvPr id="507" name="Freeform 506"/>
          <p:cNvSpPr/>
          <p:nvPr/>
        </p:nvSpPr>
        <p:spPr>
          <a:xfrm>
            <a:off x="7875207" y="5235039"/>
            <a:ext cx="71181" cy="110007"/>
          </a:xfrm>
          <a:custGeom>
            <a:avLst/>
            <a:gdLst/>
            <a:ahLst/>
            <a:cxnLst/>
            <a:rect l="l" t="t" r="r" b="b"/>
            <a:pathLst>
              <a:path w="11" h="17">
                <a:moveTo>
                  <a:pt x="0" y="13"/>
                </a:moveTo>
                <a:lnTo>
                  <a:pt x="3" y="6"/>
                </a:lnTo>
                <a:lnTo>
                  <a:pt x="5" y="9"/>
                </a:lnTo>
                <a:lnTo>
                  <a:pt x="8" y="0"/>
                </a:lnTo>
                <a:lnTo>
                  <a:pt x="11" y="7"/>
                </a:lnTo>
                <a:lnTo>
                  <a:pt x="11" y="12"/>
                </a:lnTo>
                <a:lnTo>
                  <a:pt x="9" y="16"/>
                </a:lnTo>
                <a:lnTo>
                  <a:pt x="3" y="17"/>
                </a:lnTo>
                <a:close/>
              </a:path>
            </a:pathLst>
          </a:custGeom>
          <a:solidFill>
            <a:srgbClr val="F01F18"/>
          </a:solidFill>
          <a:ln w="629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8" name="Freeform 507"/>
          <p:cNvSpPr/>
          <p:nvPr/>
        </p:nvSpPr>
        <p:spPr>
          <a:xfrm>
            <a:off x="7901091" y="5286807"/>
            <a:ext cx="38826" cy="45297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0" y="5"/>
                </a:moveTo>
                <a:lnTo>
                  <a:pt x="2" y="0"/>
                </a:lnTo>
                <a:lnTo>
                  <a:pt x="4" y="4"/>
                </a:lnTo>
                <a:lnTo>
                  <a:pt x="6" y="0"/>
                </a:lnTo>
                <a:lnTo>
                  <a:pt x="6" y="5"/>
                </a:lnTo>
                <a:lnTo>
                  <a:pt x="4" y="7"/>
                </a:lnTo>
                <a:close/>
              </a:path>
            </a:pathLst>
          </a:custGeom>
          <a:solidFill>
            <a:srgbClr val="FFD86A"/>
          </a:solidFill>
          <a:ln w="4193">
            <a:solidFill>
              <a:srgbClr val="F01F1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09" name="Connector 508"/>
          <p:cNvCxnSpPr/>
          <p:nvPr/>
        </p:nvCxnSpPr>
        <p:spPr>
          <a:xfrm>
            <a:off x="8050343" y="5448866"/>
            <a:ext cx="323567" cy="0"/>
          </a:xfrm>
          <a:prstGeom prst="line">
            <a:avLst/>
          </a:prstGeom>
          <a:ln w="25885">
            <a:solidFill>
              <a:srgbClr val="101010"/>
            </a:solidFill>
          </a:ln>
          <a:effectLst/>
        </p:spPr>
      </p:cxnSp>
      <p:cxnSp>
        <p:nvCxnSpPr>
          <p:cNvPr id="510" name="Connector 509"/>
          <p:cNvCxnSpPr/>
          <p:nvPr/>
        </p:nvCxnSpPr>
        <p:spPr>
          <a:xfrm>
            <a:off x="8373910" y="5448866"/>
            <a:ext cx="0" cy="265324"/>
          </a:xfrm>
          <a:prstGeom prst="line">
            <a:avLst/>
          </a:prstGeom>
          <a:ln w="25885">
            <a:solidFill>
              <a:srgbClr val="101010"/>
            </a:solidFill>
            <a:tailEnd type="triangle" w="sm" len="sm"/>
          </a:ln>
          <a:effectLst/>
        </p:spPr>
      </p:cxnSp>
      <p:sp>
        <p:nvSpPr>
          <p:cNvPr id="511" name="TextBox 510"/>
          <p:cNvSpPr txBox="1"/>
          <p:nvPr/>
        </p:nvSpPr>
        <p:spPr>
          <a:xfrm>
            <a:off x="8153885" y="5228840"/>
            <a:ext cx="1003057" cy="4465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101010"/>
                </a:solidFill>
                <a:latin typeface="Purisa"/>
              </a:rPr>
              <a:t>Token Wise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101010"/>
                </a:solidFill>
                <a:latin typeface="Purisa"/>
              </a:rPr>
              <a:t>Logits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6885503" y="6193069"/>
            <a:ext cx="905987" cy="4659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7" b="1" i="0">
                <a:solidFill>
                  <a:srgbClr val="101010"/>
                </a:solidFill>
                <a:latin typeface="Purisa"/>
              </a:rPr>
              <a:t>Reference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7" b="1" i="0">
                <a:solidFill>
                  <a:srgbClr val="101010"/>
                </a:solidFill>
                <a:latin typeface="Purisa"/>
              </a:rPr>
              <a:t>Model</a:t>
            </a:r>
          </a:p>
        </p:txBody>
      </p:sp>
      <p:cxnSp>
        <p:nvCxnSpPr>
          <p:cNvPr id="513" name="Connector 512"/>
          <p:cNvCxnSpPr/>
          <p:nvPr/>
        </p:nvCxnSpPr>
        <p:spPr>
          <a:xfrm flipH="1" flipV="1">
            <a:off x="7743472" y="6303600"/>
            <a:ext cx="6989" cy="24462"/>
          </a:xfrm>
          <a:prstGeom prst="line">
            <a:avLst/>
          </a:prstGeom>
          <a:ln w="6989">
            <a:solidFill>
              <a:srgbClr val="101010"/>
            </a:solidFill>
          </a:ln>
          <a:effectLst/>
        </p:spPr>
      </p:cxnSp>
      <p:sp>
        <p:nvSpPr>
          <p:cNvPr id="514" name="Oval 513"/>
          <p:cNvSpPr/>
          <p:nvPr/>
        </p:nvSpPr>
        <p:spPr>
          <a:xfrm>
            <a:off x="7732989" y="6293116"/>
            <a:ext cx="24461" cy="24461"/>
          </a:xfrm>
          <a:prstGeom prst="ellipse">
            <a:avLst/>
          </a:prstGeom>
          <a:solidFill>
            <a:srgbClr val="3A83C4"/>
          </a:solidFill>
          <a:ln w="524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5" name="Oval 514"/>
          <p:cNvSpPr/>
          <p:nvPr/>
        </p:nvSpPr>
        <p:spPr>
          <a:xfrm>
            <a:off x="7781912" y="6289622"/>
            <a:ext cx="24461" cy="24461"/>
          </a:xfrm>
          <a:prstGeom prst="ellipse">
            <a:avLst/>
          </a:prstGeom>
          <a:solidFill>
            <a:srgbClr val="3A83C4"/>
          </a:solidFill>
          <a:ln w="524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6" name="Oval 515"/>
          <p:cNvSpPr/>
          <p:nvPr/>
        </p:nvSpPr>
        <p:spPr>
          <a:xfrm>
            <a:off x="7830835" y="6296611"/>
            <a:ext cx="24461" cy="24461"/>
          </a:xfrm>
          <a:prstGeom prst="ellipse">
            <a:avLst/>
          </a:prstGeom>
          <a:solidFill>
            <a:srgbClr val="3A83C4"/>
          </a:solidFill>
          <a:ln w="524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7" name="Rounded Rectangle 516"/>
          <p:cNvSpPr/>
          <p:nvPr/>
        </p:nvSpPr>
        <p:spPr>
          <a:xfrm>
            <a:off x="7638637" y="6366501"/>
            <a:ext cx="41934" cy="101341"/>
          </a:xfrm>
          <a:prstGeom prst="roundRect">
            <a:avLst/>
          </a:prstGeom>
          <a:solidFill>
            <a:srgbClr val="8ED0E5"/>
          </a:solidFill>
          <a:ln w="6989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8" name="Rounded Rectangle 517"/>
          <p:cNvSpPr/>
          <p:nvPr/>
        </p:nvSpPr>
        <p:spPr>
          <a:xfrm>
            <a:off x="7886748" y="6366501"/>
            <a:ext cx="41934" cy="101341"/>
          </a:xfrm>
          <a:prstGeom prst="roundRect">
            <a:avLst/>
          </a:prstGeom>
          <a:solidFill>
            <a:srgbClr val="8ED0E5"/>
          </a:solidFill>
          <a:ln w="6989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9" name="Rounded Rectangle 518"/>
          <p:cNvSpPr/>
          <p:nvPr/>
        </p:nvSpPr>
        <p:spPr>
          <a:xfrm>
            <a:off x="7663098" y="6324567"/>
            <a:ext cx="244616" cy="195693"/>
          </a:xfrm>
          <a:prstGeom prst="roundRect">
            <a:avLst/>
          </a:prstGeom>
          <a:solidFill>
            <a:srgbClr val="8ED0E5"/>
          </a:solidFill>
          <a:ln w="8736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0" name="Rounded Rectangle 519"/>
          <p:cNvSpPr/>
          <p:nvPr/>
        </p:nvSpPr>
        <p:spPr>
          <a:xfrm>
            <a:off x="7687560" y="6349029"/>
            <a:ext cx="195693" cy="136286"/>
          </a:xfrm>
          <a:prstGeom prst="roundRect">
            <a:avLst/>
          </a:prstGeom>
          <a:solidFill>
            <a:srgbClr val="D5EEF7"/>
          </a:solidFill>
          <a:ln w="6290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1" name="Oval 520"/>
          <p:cNvSpPr/>
          <p:nvPr/>
        </p:nvSpPr>
        <p:spPr>
          <a:xfrm>
            <a:off x="7726000" y="6383974"/>
            <a:ext cx="20967" cy="24461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2" name="Oval 521"/>
          <p:cNvSpPr/>
          <p:nvPr/>
        </p:nvSpPr>
        <p:spPr>
          <a:xfrm>
            <a:off x="7820352" y="6383974"/>
            <a:ext cx="20967" cy="24461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23" name="Connector 522"/>
          <p:cNvCxnSpPr/>
          <p:nvPr/>
        </p:nvCxnSpPr>
        <p:spPr>
          <a:xfrm>
            <a:off x="7767934" y="6394457"/>
            <a:ext cx="17473" cy="13979"/>
          </a:xfrm>
          <a:prstGeom prst="line">
            <a:avLst/>
          </a:prstGeom>
          <a:ln w="6290">
            <a:solidFill>
              <a:srgbClr val="101010"/>
            </a:solidFill>
          </a:ln>
          <a:effectLst/>
        </p:spPr>
      </p:cxnSp>
      <p:cxnSp>
        <p:nvCxnSpPr>
          <p:cNvPr id="524" name="Connector 523"/>
          <p:cNvCxnSpPr/>
          <p:nvPr/>
        </p:nvCxnSpPr>
        <p:spPr>
          <a:xfrm flipV="1">
            <a:off x="7785407" y="6394457"/>
            <a:ext cx="17472" cy="13979"/>
          </a:xfrm>
          <a:prstGeom prst="line">
            <a:avLst/>
          </a:prstGeom>
          <a:ln w="6290">
            <a:solidFill>
              <a:srgbClr val="101010"/>
            </a:solidFill>
          </a:ln>
          <a:effectLst/>
        </p:spPr>
      </p:cxnSp>
      <p:cxnSp>
        <p:nvCxnSpPr>
          <p:cNvPr id="525" name="Connector 524"/>
          <p:cNvCxnSpPr/>
          <p:nvPr/>
        </p:nvCxnSpPr>
        <p:spPr>
          <a:xfrm>
            <a:off x="7757451" y="6443381"/>
            <a:ext cx="55912" cy="0"/>
          </a:xfrm>
          <a:prstGeom prst="line">
            <a:avLst/>
          </a:prstGeom>
          <a:ln w="6290">
            <a:solidFill>
              <a:srgbClr val="101010"/>
            </a:solidFill>
          </a:ln>
          <a:effectLst/>
        </p:spPr>
      </p:cxnSp>
      <p:sp>
        <p:nvSpPr>
          <p:cNvPr id="526" name="Freeform 525"/>
          <p:cNvSpPr/>
          <p:nvPr/>
        </p:nvSpPr>
        <p:spPr>
          <a:xfrm>
            <a:off x="7706961" y="6522768"/>
            <a:ext cx="155304" cy="45297"/>
          </a:xfrm>
          <a:custGeom>
            <a:avLst/>
            <a:gdLst/>
            <a:ahLst/>
            <a:cxnLst/>
            <a:rect l="l" t="t" r="r" b="b"/>
            <a:pathLst>
              <a:path w="24" h="7">
                <a:moveTo>
                  <a:pt x="0" y="0"/>
                </a:moveTo>
                <a:lnTo>
                  <a:pt x="24" y="0"/>
                </a:lnTo>
                <a:lnTo>
                  <a:pt x="21" y="7"/>
                </a:lnTo>
                <a:lnTo>
                  <a:pt x="3" y="7"/>
                </a:lnTo>
                <a:close/>
              </a:path>
            </a:pathLst>
          </a:custGeom>
          <a:solidFill>
            <a:srgbClr val="8ED0E5"/>
          </a:solidFill>
          <a:ln w="6989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7" name="Rounded Rectangle 526"/>
          <p:cNvSpPr/>
          <p:nvPr/>
        </p:nvSpPr>
        <p:spPr>
          <a:xfrm>
            <a:off x="7743472" y="6569184"/>
            <a:ext cx="83868" cy="17472"/>
          </a:xfrm>
          <a:prstGeom prst="roundRect">
            <a:avLst/>
          </a:prstGeom>
          <a:solidFill>
            <a:srgbClr val="8ED0E5"/>
          </a:solidFill>
          <a:ln w="5241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8" name="TextBox 527"/>
          <p:cNvSpPr txBox="1"/>
          <p:nvPr/>
        </p:nvSpPr>
        <p:spPr>
          <a:xfrm>
            <a:off x="7729494" y="6509777"/>
            <a:ext cx="111824" cy="559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5" b="1" i="0">
                <a:solidFill>
                  <a:srgbClr val="101010"/>
                </a:solidFill>
                <a:latin typeface="DejaVu Sans"/>
              </a:rPr>
              <a:t>AI</a:t>
            </a:r>
          </a:p>
        </p:txBody>
      </p:sp>
      <p:cxnSp>
        <p:nvCxnSpPr>
          <p:cNvPr id="529" name="Connector 528"/>
          <p:cNvCxnSpPr/>
          <p:nvPr/>
        </p:nvCxnSpPr>
        <p:spPr>
          <a:xfrm>
            <a:off x="7858792" y="6307094"/>
            <a:ext cx="90857" cy="0"/>
          </a:xfrm>
          <a:prstGeom prst="line">
            <a:avLst/>
          </a:prstGeom>
          <a:ln w="5591">
            <a:solidFill>
              <a:srgbClr val="3A83C4"/>
            </a:solidFill>
          </a:ln>
          <a:effectLst/>
        </p:spPr>
      </p:cxnSp>
      <p:cxnSp>
        <p:nvCxnSpPr>
          <p:cNvPr id="530" name="Connector 529"/>
          <p:cNvCxnSpPr/>
          <p:nvPr/>
        </p:nvCxnSpPr>
        <p:spPr>
          <a:xfrm>
            <a:off x="7881506" y="6267752"/>
            <a:ext cx="45429" cy="78685"/>
          </a:xfrm>
          <a:prstGeom prst="line">
            <a:avLst/>
          </a:prstGeom>
          <a:ln w="5591">
            <a:solidFill>
              <a:srgbClr val="3A83C4"/>
            </a:solidFill>
          </a:ln>
          <a:effectLst/>
        </p:spPr>
      </p:cxnSp>
      <p:cxnSp>
        <p:nvCxnSpPr>
          <p:cNvPr id="531" name="Connector 530"/>
          <p:cNvCxnSpPr/>
          <p:nvPr/>
        </p:nvCxnSpPr>
        <p:spPr>
          <a:xfrm flipH="1">
            <a:off x="7881506" y="6267752"/>
            <a:ext cx="45429" cy="78685"/>
          </a:xfrm>
          <a:prstGeom prst="line">
            <a:avLst/>
          </a:prstGeom>
          <a:ln w="5591">
            <a:solidFill>
              <a:srgbClr val="3A83C4"/>
            </a:solidFill>
          </a:ln>
          <a:effectLst/>
        </p:spPr>
      </p:cxnSp>
      <p:sp>
        <p:nvSpPr>
          <p:cNvPr id="532" name="TextBox 531"/>
          <p:cNvSpPr txBox="1"/>
          <p:nvPr/>
        </p:nvSpPr>
        <p:spPr>
          <a:xfrm>
            <a:off x="7869275" y="6265160"/>
            <a:ext cx="83868" cy="8386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1" b="0" i="0">
                <a:solidFill>
                  <a:srgbClr val="3A83C4"/>
                </a:solidFill>
                <a:latin typeface="DejaVu Sans"/>
              </a:rPr>
              <a:t>❄</a:t>
            </a:r>
          </a:p>
        </p:txBody>
      </p:sp>
      <p:cxnSp>
        <p:nvCxnSpPr>
          <p:cNvPr id="533" name="Connector 532"/>
          <p:cNvCxnSpPr/>
          <p:nvPr/>
        </p:nvCxnSpPr>
        <p:spPr>
          <a:xfrm>
            <a:off x="8050343" y="6529579"/>
            <a:ext cx="815389" cy="0"/>
          </a:xfrm>
          <a:prstGeom prst="line">
            <a:avLst/>
          </a:prstGeom>
          <a:ln w="25885">
            <a:solidFill>
              <a:srgbClr val="101010"/>
            </a:solidFill>
          </a:ln>
          <a:effectLst/>
        </p:spPr>
      </p:cxnSp>
      <p:cxnSp>
        <p:nvCxnSpPr>
          <p:cNvPr id="534" name="Connector 533"/>
          <p:cNvCxnSpPr/>
          <p:nvPr/>
        </p:nvCxnSpPr>
        <p:spPr>
          <a:xfrm flipV="1">
            <a:off x="8865732" y="6206012"/>
            <a:ext cx="0" cy="323567"/>
          </a:xfrm>
          <a:prstGeom prst="line">
            <a:avLst/>
          </a:prstGeom>
          <a:ln w="25885">
            <a:solidFill>
              <a:srgbClr val="101010"/>
            </a:solidFill>
            <a:tailEnd type="triangle" w="sm" len="sm"/>
          </a:ln>
          <a:effectLst/>
        </p:spPr>
      </p:cxnSp>
      <p:sp>
        <p:nvSpPr>
          <p:cNvPr id="535" name="Rounded Rectangle 534"/>
          <p:cNvSpPr/>
          <p:nvPr/>
        </p:nvSpPr>
        <p:spPr>
          <a:gradFill rotWithShape="1">
            <a:gsLst>
              <a:gs pos="0">
                <a:srgbClr val="D6E8F6"/>
              </a:gs>
              <a:gs pos="100000">
                <a:srgbClr val="7FA9D1"/>
              </a:gs>
            </a:gsLst>
            <a:lin ang="2700000" scaled="1"/>
          </a:gradFill>
          <a:xfrm>
            <a:off x="7286725" y="5837146"/>
            <a:ext cx="220025" cy="207082"/>
          </a:xfrm>
          <a:prstGeom prst="roundRect">
            <a:avLst/>
          </a:prstGeom>
          <a:ln w="12942">
            <a:solidFill>
              <a:srgbClr val="2D578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6" name="TextBox 535"/>
          <p:cNvSpPr txBox="1"/>
          <p:nvPr/>
        </p:nvSpPr>
        <p:spPr>
          <a:xfrm>
            <a:off x="7286725" y="5830675"/>
            <a:ext cx="220025" cy="220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1" i="0">
                <a:solidFill>
                  <a:srgbClr val="101010"/>
                </a:solidFill>
                <a:latin typeface="Purisa"/>
              </a:rPr>
              <a:t>D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7532636" y="5824203"/>
            <a:ext cx="452993" cy="342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3" b="1" i="0">
                <a:solidFill>
                  <a:srgbClr val="101010"/>
                </a:solidFill>
                <a:latin typeface="DejaVu Sans"/>
              </a:rPr>
              <a:t>= D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7875617" y="5979515"/>
            <a:ext cx="207082" cy="181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3" b="1" i="0">
                <a:solidFill>
                  <a:srgbClr val="101010"/>
                </a:solidFill>
                <a:latin typeface="DejaVu Sans"/>
              </a:rPr>
              <a:t>KL</a:t>
            </a:r>
          </a:p>
        </p:txBody>
      </p:sp>
      <p:sp>
        <p:nvSpPr>
          <p:cNvPr id="539" name="Rounded Rectangle 538"/>
          <p:cNvSpPr/>
          <p:nvPr/>
        </p:nvSpPr>
        <p:spPr>
          <a:xfrm>
            <a:off x="8153885" y="5791846"/>
            <a:ext cx="110012" cy="110012"/>
          </a:xfrm>
          <a:prstGeom prst="roundRect">
            <a:avLst/>
          </a:prstGeom>
          <a:solidFill>
            <a:srgbClr val="F6A0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0" name="Rounded Rectangle 539"/>
          <p:cNvSpPr/>
          <p:nvPr/>
        </p:nvSpPr>
        <p:spPr>
          <a:xfrm>
            <a:off x="8289783" y="5791846"/>
            <a:ext cx="110012" cy="110012"/>
          </a:xfrm>
          <a:prstGeom prst="roundRect">
            <a:avLst/>
          </a:prstGeom>
          <a:solidFill>
            <a:srgbClr val="F3C0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1" name="Rounded Rectangle 540"/>
          <p:cNvSpPr/>
          <p:nvPr/>
        </p:nvSpPr>
        <p:spPr>
          <a:xfrm>
            <a:off x="8425681" y="5791846"/>
            <a:ext cx="110012" cy="110012"/>
          </a:xfrm>
          <a:prstGeom prst="roundRect">
            <a:avLst/>
          </a:prstGeom>
          <a:solidFill>
            <a:srgbClr val="F6A0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2" name="Rounded Rectangle 541"/>
          <p:cNvSpPr/>
          <p:nvPr/>
        </p:nvSpPr>
        <p:spPr>
          <a:xfrm>
            <a:off x="8153885" y="5927745"/>
            <a:ext cx="110012" cy="110012"/>
          </a:xfrm>
          <a:prstGeom prst="roundRect">
            <a:avLst/>
          </a:prstGeom>
          <a:solidFill>
            <a:srgbClr val="D07A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3" name="Rounded Rectangle 542"/>
          <p:cNvSpPr/>
          <p:nvPr/>
        </p:nvSpPr>
        <p:spPr>
          <a:xfrm>
            <a:off x="8289783" y="5927745"/>
            <a:ext cx="110012" cy="110012"/>
          </a:xfrm>
          <a:prstGeom prst="roundRect">
            <a:avLst/>
          </a:prstGeom>
          <a:solidFill>
            <a:srgbClr val="F5B5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4" name="Rounded Rectangle 543"/>
          <p:cNvSpPr/>
          <p:nvPr/>
        </p:nvSpPr>
        <p:spPr>
          <a:xfrm>
            <a:off x="8425681" y="5927745"/>
            <a:ext cx="110012" cy="110012"/>
          </a:xfrm>
          <a:prstGeom prst="roundRect">
            <a:avLst/>
          </a:prstGeom>
          <a:solidFill>
            <a:srgbClr val="F6E0D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5" name="Rounded Rectangle 544"/>
          <p:cNvSpPr/>
          <p:nvPr/>
        </p:nvSpPr>
        <p:spPr>
          <a:xfrm>
            <a:off x="8153885" y="6063643"/>
            <a:ext cx="110012" cy="110012"/>
          </a:xfrm>
          <a:prstGeom prst="roundRect">
            <a:avLst/>
          </a:prstGeom>
          <a:solidFill>
            <a:srgbClr val="E283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6" name="Rounded Rectangle 545"/>
          <p:cNvSpPr/>
          <p:nvPr/>
        </p:nvSpPr>
        <p:spPr>
          <a:xfrm>
            <a:off x="8289783" y="6063643"/>
            <a:ext cx="110012" cy="110012"/>
          </a:xfrm>
          <a:prstGeom prst="roundRect">
            <a:avLst/>
          </a:prstGeom>
          <a:solidFill>
            <a:srgbClr val="F3A6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7" name="Rounded Rectangle 546"/>
          <p:cNvSpPr/>
          <p:nvPr/>
        </p:nvSpPr>
        <p:spPr>
          <a:xfrm>
            <a:off x="8425681" y="6063643"/>
            <a:ext cx="110012" cy="110012"/>
          </a:xfrm>
          <a:prstGeom prst="roundRect">
            <a:avLst/>
          </a:prstGeom>
          <a:solidFill>
            <a:srgbClr val="F7C9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8" name="Rounded Rectangle 547"/>
          <p:cNvSpPr/>
          <p:nvPr/>
        </p:nvSpPr>
        <p:spPr>
          <a:xfrm>
            <a:off x="8153885" y="6199541"/>
            <a:ext cx="110012" cy="110012"/>
          </a:xfrm>
          <a:prstGeom prst="roundRect">
            <a:avLst/>
          </a:prstGeom>
          <a:solidFill>
            <a:srgbClr val="F295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9" name="Rounded Rectangle 548"/>
          <p:cNvSpPr/>
          <p:nvPr/>
        </p:nvSpPr>
        <p:spPr>
          <a:xfrm>
            <a:off x="8289783" y="6199541"/>
            <a:ext cx="110012" cy="110012"/>
          </a:xfrm>
          <a:prstGeom prst="roundRect">
            <a:avLst/>
          </a:prstGeom>
          <a:solidFill>
            <a:srgbClr val="F5B4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0" name="Rounded Rectangle 549"/>
          <p:cNvSpPr/>
          <p:nvPr/>
        </p:nvSpPr>
        <p:spPr>
          <a:xfrm>
            <a:off x="8425681" y="6199541"/>
            <a:ext cx="110012" cy="110012"/>
          </a:xfrm>
          <a:prstGeom prst="roundRect">
            <a:avLst/>
          </a:prstGeom>
          <a:solidFill>
            <a:srgbClr val="F2D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51" name="Connector 550"/>
          <p:cNvCxnSpPr/>
          <p:nvPr/>
        </p:nvCxnSpPr>
        <p:spPr>
          <a:xfrm flipH="1">
            <a:off x="7992101" y="5746547"/>
            <a:ext cx="97070" cy="258854"/>
          </a:xfrm>
          <a:prstGeom prst="line">
            <a:avLst/>
          </a:prstGeom>
          <a:ln w="32356">
            <a:solidFill>
              <a:srgbClr val="101010"/>
            </a:solidFill>
          </a:ln>
          <a:effectLst/>
        </p:spPr>
      </p:cxnSp>
      <p:cxnSp>
        <p:nvCxnSpPr>
          <p:cNvPr id="552" name="Connector 551"/>
          <p:cNvCxnSpPr/>
          <p:nvPr/>
        </p:nvCxnSpPr>
        <p:spPr>
          <a:xfrm>
            <a:off x="7992101" y="6005401"/>
            <a:ext cx="97070" cy="265324"/>
          </a:xfrm>
          <a:prstGeom prst="line">
            <a:avLst/>
          </a:prstGeom>
          <a:ln w="32356">
            <a:solidFill>
              <a:srgbClr val="101010"/>
            </a:solidFill>
          </a:ln>
          <a:effectLst/>
        </p:spPr>
      </p:cxnSp>
      <p:cxnSp>
        <p:nvCxnSpPr>
          <p:cNvPr id="553" name="Connector 552"/>
          <p:cNvCxnSpPr/>
          <p:nvPr/>
        </p:nvCxnSpPr>
        <p:spPr>
          <a:xfrm>
            <a:off x="8632764" y="5746547"/>
            <a:ext cx="51770" cy="258854"/>
          </a:xfrm>
          <a:prstGeom prst="line">
            <a:avLst/>
          </a:prstGeom>
          <a:ln w="32356">
            <a:solidFill>
              <a:srgbClr val="101010"/>
            </a:solidFill>
          </a:ln>
          <a:effectLst/>
        </p:spPr>
      </p:cxnSp>
      <p:cxnSp>
        <p:nvCxnSpPr>
          <p:cNvPr id="554" name="Connector 553"/>
          <p:cNvCxnSpPr/>
          <p:nvPr/>
        </p:nvCxnSpPr>
        <p:spPr>
          <a:xfrm flipH="1">
            <a:off x="8632764" y="6005401"/>
            <a:ext cx="51770" cy="265324"/>
          </a:xfrm>
          <a:prstGeom prst="line">
            <a:avLst/>
          </a:prstGeom>
          <a:ln w="32356">
            <a:solidFill>
              <a:srgbClr val="101010"/>
            </a:solidFill>
          </a:ln>
          <a:effectLst/>
        </p:spPr>
      </p:cxnSp>
      <p:cxnSp>
        <p:nvCxnSpPr>
          <p:cNvPr id="555" name="Connector 554"/>
          <p:cNvCxnSpPr/>
          <p:nvPr/>
        </p:nvCxnSpPr>
        <p:spPr>
          <a:xfrm>
            <a:off x="8580993" y="5733604"/>
            <a:ext cx="0" cy="550064"/>
          </a:xfrm>
          <a:prstGeom prst="line">
            <a:avLst/>
          </a:prstGeom>
          <a:ln w="32356">
            <a:solidFill>
              <a:srgbClr val="101010"/>
            </a:solidFill>
          </a:ln>
          <a:effectLst/>
        </p:spPr>
      </p:cxnSp>
      <p:sp>
        <p:nvSpPr>
          <p:cNvPr id="556" name="Rounded Rectangle 555"/>
          <p:cNvSpPr/>
          <p:nvPr/>
        </p:nvSpPr>
        <p:spPr>
          <a:xfrm>
            <a:off x="8729834" y="5791846"/>
            <a:ext cx="110012" cy="110012"/>
          </a:xfrm>
          <a:prstGeom prst="roundRect">
            <a:avLst/>
          </a:prstGeom>
          <a:solidFill>
            <a:srgbClr val="F6A0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7" name="Rounded Rectangle 556"/>
          <p:cNvSpPr/>
          <p:nvPr/>
        </p:nvSpPr>
        <p:spPr>
          <a:xfrm>
            <a:off x="8865732" y="5791846"/>
            <a:ext cx="110012" cy="110012"/>
          </a:xfrm>
          <a:prstGeom prst="roundRect">
            <a:avLst/>
          </a:prstGeom>
          <a:solidFill>
            <a:srgbClr val="F6E0D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8" name="Rounded Rectangle 557"/>
          <p:cNvSpPr/>
          <p:nvPr/>
        </p:nvSpPr>
        <p:spPr>
          <a:xfrm>
            <a:off x="9001630" y="5791846"/>
            <a:ext cx="110012" cy="110012"/>
          </a:xfrm>
          <a:prstGeom prst="roundRect">
            <a:avLst/>
          </a:prstGeom>
          <a:solidFill>
            <a:srgbClr val="F5B4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9" name="Rounded Rectangle 558"/>
          <p:cNvSpPr/>
          <p:nvPr/>
        </p:nvSpPr>
        <p:spPr>
          <a:xfrm>
            <a:off x="8729834" y="5927745"/>
            <a:ext cx="110012" cy="110012"/>
          </a:xfrm>
          <a:prstGeom prst="roundRect">
            <a:avLst/>
          </a:prstGeom>
          <a:solidFill>
            <a:srgbClr val="D07A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0" name="Rounded Rectangle 559"/>
          <p:cNvSpPr/>
          <p:nvPr/>
        </p:nvSpPr>
        <p:spPr>
          <a:xfrm>
            <a:off x="8865732" y="5927745"/>
            <a:ext cx="110012" cy="110012"/>
          </a:xfrm>
          <a:prstGeom prst="roundRect">
            <a:avLst/>
          </a:prstGeom>
          <a:solidFill>
            <a:srgbClr val="F7C9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1" name="Rounded Rectangle 560"/>
          <p:cNvSpPr/>
          <p:nvPr/>
        </p:nvSpPr>
        <p:spPr>
          <a:xfrm>
            <a:off x="9001630" y="5927745"/>
            <a:ext cx="110012" cy="110012"/>
          </a:xfrm>
          <a:prstGeom prst="roundRect">
            <a:avLst/>
          </a:prstGeom>
          <a:solidFill>
            <a:srgbClr val="F3C0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2" name="Rounded Rectangle 561"/>
          <p:cNvSpPr/>
          <p:nvPr/>
        </p:nvSpPr>
        <p:spPr>
          <a:xfrm>
            <a:off x="8729834" y="6063643"/>
            <a:ext cx="110012" cy="110012"/>
          </a:xfrm>
          <a:prstGeom prst="roundRect">
            <a:avLst/>
          </a:prstGeom>
          <a:solidFill>
            <a:srgbClr val="E283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3" name="Rounded Rectangle 562"/>
          <p:cNvSpPr/>
          <p:nvPr/>
        </p:nvSpPr>
        <p:spPr>
          <a:xfrm>
            <a:off x="8865732" y="6063643"/>
            <a:ext cx="110012" cy="110012"/>
          </a:xfrm>
          <a:prstGeom prst="roundRect">
            <a:avLst/>
          </a:prstGeom>
          <a:solidFill>
            <a:srgbClr val="F2D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4" name="Rounded Rectangle 563"/>
          <p:cNvSpPr/>
          <p:nvPr/>
        </p:nvSpPr>
        <p:spPr>
          <a:xfrm>
            <a:off x="9001630" y="6063643"/>
            <a:ext cx="110012" cy="110012"/>
          </a:xfrm>
          <a:prstGeom prst="roundRect">
            <a:avLst/>
          </a:prstGeom>
          <a:solidFill>
            <a:srgbClr val="F5B5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5" name="Rounded Rectangle 564"/>
          <p:cNvSpPr/>
          <p:nvPr/>
        </p:nvSpPr>
        <p:spPr>
          <a:xfrm>
            <a:off x="8729834" y="6199541"/>
            <a:ext cx="110012" cy="110012"/>
          </a:xfrm>
          <a:prstGeom prst="roundRect">
            <a:avLst/>
          </a:prstGeom>
          <a:solidFill>
            <a:srgbClr val="F295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6" name="Rounded Rectangle 565"/>
          <p:cNvSpPr/>
          <p:nvPr/>
        </p:nvSpPr>
        <p:spPr>
          <a:xfrm>
            <a:off x="8865732" y="6199541"/>
            <a:ext cx="110012" cy="110012"/>
          </a:xfrm>
          <a:prstGeom prst="roundRect">
            <a:avLst/>
          </a:prstGeom>
          <a:solidFill>
            <a:srgbClr val="F6A0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7" name="Rounded Rectangle 566"/>
          <p:cNvSpPr/>
          <p:nvPr/>
        </p:nvSpPr>
        <p:spPr>
          <a:xfrm>
            <a:off x="9001630" y="6199541"/>
            <a:ext cx="110012" cy="110012"/>
          </a:xfrm>
          <a:prstGeom prst="roundRect">
            <a:avLst/>
          </a:prstGeom>
          <a:solidFill>
            <a:srgbClr val="F3A6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9208713" y="5746547"/>
            <a:ext cx="64713" cy="258854"/>
          </a:xfrm>
          <a:prstGeom prst="line">
            <a:avLst/>
          </a:prstGeom>
          <a:ln w="32356">
            <a:solidFill>
              <a:srgbClr val="101010"/>
            </a:solidFill>
          </a:ln>
          <a:effectLst/>
        </p:spPr>
      </p:cxnSp>
      <p:cxnSp>
        <p:nvCxnSpPr>
          <p:cNvPr id="569" name="Connector 568"/>
          <p:cNvCxnSpPr/>
          <p:nvPr/>
        </p:nvCxnSpPr>
        <p:spPr>
          <a:xfrm flipH="1">
            <a:off x="9208713" y="6005401"/>
            <a:ext cx="64713" cy="265324"/>
          </a:xfrm>
          <a:prstGeom prst="line">
            <a:avLst/>
          </a:prstGeom>
          <a:ln w="32356">
            <a:solidFill>
              <a:srgbClr val="101010"/>
            </a:solidFill>
          </a:ln>
          <a:effectLst/>
        </p:spPr>
      </p:cxnSp>
      <p:sp>
        <p:nvSpPr>
          <p:cNvPr id="570" name="TextBox 569"/>
          <p:cNvSpPr txBox="1"/>
          <p:nvPr/>
        </p:nvSpPr>
        <p:spPr>
          <a:xfrm>
            <a:off x="9396381" y="4950573"/>
            <a:ext cx="2349095" cy="2717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7" b="1" i="0">
                <a:solidFill>
                  <a:srgbClr val="101010"/>
                </a:solidFill>
                <a:latin typeface="Purisa"/>
              </a:rPr>
              <a:t>Step 4: Computing Loss</a:t>
            </a:r>
          </a:p>
        </p:txBody>
      </p:sp>
      <p:cxnSp>
        <p:nvCxnSpPr>
          <p:cNvPr id="571" name="Connector 570"/>
          <p:cNvCxnSpPr/>
          <p:nvPr/>
        </p:nvCxnSpPr>
        <p:spPr>
          <a:xfrm>
            <a:off x="9396381" y="5202955"/>
            <a:ext cx="2349096" cy="0"/>
          </a:xfrm>
          <a:prstGeom prst="line">
            <a:avLst/>
          </a:prstGeom>
          <a:ln w="12942">
            <a:solidFill>
              <a:srgbClr val="101010"/>
            </a:solidFill>
          </a:ln>
          <a:effectLst/>
        </p:spPr>
      </p:cxnSp>
      <p:sp>
        <p:nvSpPr>
          <p:cNvPr id="572" name="TextBox 571"/>
          <p:cNvSpPr txBox="1"/>
          <p:nvPr/>
        </p:nvSpPr>
        <p:spPr>
          <a:xfrm>
            <a:off x="9629350" y="5287082"/>
            <a:ext cx="711847" cy="2717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6" b="1" i="0">
                <a:solidFill>
                  <a:srgbClr val="101010"/>
                </a:solidFill>
                <a:latin typeface="Purisa"/>
              </a:rPr>
              <a:t>Sum:</a:t>
            </a:r>
          </a:p>
        </p:txBody>
      </p:sp>
      <p:sp>
        <p:nvSpPr>
          <p:cNvPr id="573" name="Rounded Rectangle 572"/>
          <p:cNvSpPr/>
          <p:nvPr/>
        </p:nvSpPr>
        <p:spPr>
          <a:gradFill rotWithShape="1">
            <a:gsLst>
              <a:gs pos="0">
                <a:srgbClr val="B9E16E"/>
              </a:gs>
              <a:gs pos="100000">
                <a:srgbClr val="1A9B16"/>
              </a:gs>
            </a:gsLst>
            <a:lin ang="2700000" scaled="1"/>
          </a:gradFill>
          <a:xfrm>
            <a:off x="10360611" y="5261197"/>
            <a:ext cx="220025" cy="207082"/>
          </a:xfrm>
          <a:prstGeom prst="roundRect">
            <a:avLst/>
          </a:prstGeom>
          <a:ln w="12942">
            <a:solidFill>
              <a:srgbClr val="2D578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4" name="TextBox 573"/>
          <p:cNvSpPr txBox="1"/>
          <p:nvPr/>
        </p:nvSpPr>
        <p:spPr>
          <a:xfrm>
            <a:off x="10360611" y="5254725"/>
            <a:ext cx="220025" cy="220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1" i="0">
                <a:solidFill>
                  <a:srgbClr val="101010"/>
                </a:solidFill>
                <a:latin typeface="Purisa"/>
              </a:rPr>
              <a:t>R</a:t>
            </a:r>
          </a:p>
        </p:txBody>
      </p:sp>
      <p:sp>
        <p:nvSpPr>
          <p:cNvPr id="575" name="TextBox 574"/>
          <p:cNvSpPr txBox="1"/>
          <p:nvPr/>
        </p:nvSpPr>
        <p:spPr>
          <a:xfrm>
            <a:off x="10612993" y="5261197"/>
            <a:ext cx="161783" cy="2264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5" b="0" i="0">
                <a:solidFill>
                  <a:srgbClr val="101010"/>
                </a:solidFill>
                <a:latin typeface="Purisa"/>
              </a:rPr>
              <a:t>=</a:t>
            </a:r>
          </a:p>
        </p:txBody>
      </p:sp>
      <p:sp>
        <p:nvSpPr>
          <p:cNvPr id="576" name="Rounded Rectangle 575"/>
          <p:cNvSpPr/>
          <p:nvPr/>
        </p:nvSpPr>
        <p:spPr>
          <a:gradFill rotWithShape="1">
            <a:gsLst>
              <a:gs pos="0">
                <a:srgbClr val="B9E16E"/>
              </a:gs>
              <a:gs pos="100000">
                <a:srgbClr val="1A9B16"/>
              </a:gs>
            </a:gsLst>
            <a:lin ang="2700000" scaled="1"/>
          </a:gradFill>
          <a:xfrm>
            <a:off x="10833018" y="5261197"/>
            <a:ext cx="220025" cy="207082"/>
          </a:xfrm>
          <a:prstGeom prst="roundRect">
            <a:avLst/>
          </a:prstGeom>
          <a:ln w="12942">
            <a:solidFill>
              <a:srgbClr val="2D578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7" name="TextBox 576"/>
          <p:cNvSpPr txBox="1"/>
          <p:nvPr/>
        </p:nvSpPr>
        <p:spPr>
          <a:xfrm>
            <a:off x="10833018" y="5254725"/>
            <a:ext cx="220025" cy="220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1" i="0">
                <a:solidFill>
                  <a:srgbClr val="101010"/>
                </a:solidFill>
                <a:latin typeface="Purisa"/>
              </a:rPr>
              <a:t>R</a:t>
            </a:r>
          </a:p>
        </p:txBody>
      </p:sp>
      <p:sp>
        <p:nvSpPr>
          <p:cNvPr id="578" name="TextBox 577"/>
          <p:cNvSpPr txBox="1"/>
          <p:nvPr/>
        </p:nvSpPr>
        <p:spPr>
          <a:xfrm>
            <a:off x="11078929" y="5261197"/>
            <a:ext cx="155312" cy="2264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5" b="0" i="0">
                <a:solidFill>
                  <a:srgbClr val="101010"/>
                </a:solidFill>
                <a:latin typeface="Purisa"/>
              </a:rPr>
              <a:t>+</a:t>
            </a:r>
          </a:p>
        </p:txBody>
      </p:sp>
      <p:sp>
        <p:nvSpPr>
          <p:cNvPr id="579" name="Rounded Rectangle 578"/>
          <p:cNvSpPr/>
          <p:nvPr/>
        </p:nvSpPr>
        <p:spPr>
          <a:gradFill rotWithShape="1">
            <a:gsLst>
              <a:gs pos="0">
                <a:srgbClr val="B9E16E"/>
              </a:gs>
              <a:gs pos="100000">
                <a:srgbClr val="1A9B16"/>
              </a:gs>
            </a:gsLst>
            <a:lin ang="2700000" scaled="1"/>
          </a:gradFill>
          <a:xfrm>
            <a:off x="11292483" y="5261197"/>
            <a:ext cx="220025" cy="207082"/>
          </a:xfrm>
          <a:prstGeom prst="roundRect">
            <a:avLst/>
          </a:prstGeom>
          <a:ln w="12942">
            <a:solidFill>
              <a:srgbClr val="2D578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11292483" y="5254725"/>
            <a:ext cx="220025" cy="220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1" i="0">
                <a:solidFill>
                  <a:srgbClr val="101010"/>
                </a:solidFill>
                <a:latin typeface="Purisa"/>
              </a:rPr>
              <a:t>R</a:t>
            </a:r>
          </a:p>
        </p:txBody>
      </p:sp>
      <p:sp>
        <p:nvSpPr>
          <p:cNvPr id="581" name="TextBox 580"/>
          <p:cNvSpPr txBox="1"/>
          <p:nvPr/>
        </p:nvSpPr>
        <p:spPr>
          <a:xfrm>
            <a:off x="11531923" y="5261197"/>
            <a:ext cx="155312" cy="2264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5" b="0" i="0">
                <a:solidFill>
                  <a:srgbClr val="101010"/>
                </a:solidFill>
                <a:latin typeface="Purisa"/>
              </a:rPr>
              <a:t>+</a:t>
            </a:r>
          </a:p>
        </p:txBody>
      </p:sp>
      <p:sp>
        <p:nvSpPr>
          <p:cNvPr id="582" name="Rounded Rectangle 581"/>
          <p:cNvSpPr/>
          <p:nvPr/>
        </p:nvSpPr>
        <p:spPr>
          <a:gradFill rotWithShape="1">
            <a:gsLst>
              <a:gs pos="0">
                <a:srgbClr val="B9E16E"/>
              </a:gs>
              <a:gs pos="100000">
                <a:srgbClr val="1A9B16"/>
              </a:gs>
            </a:gsLst>
            <a:lin ang="2700000" scaled="1"/>
          </a:gradFill>
          <a:xfrm>
            <a:off x="11739006" y="5261197"/>
            <a:ext cx="220025" cy="207082"/>
          </a:xfrm>
          <a:prstGeom prst="roundRect">
            <a:avLst/>
          </a:prstGeom>
          <a:ln w="12942">
            <a:solidFill>
              <a:srgbClr val="2D578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3" name="TextBox 582"/>
          <p:cNvSpPr txBox="1"/>
          <p:nvPr/>
        </p:nvSpPr>
        <p:spPr>
          <a:xfrm>
            <a:off x="11739006" y="5254725"/>
            <a:ext cx="220025" cy="220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1" i="0">
                <a:solidFill>
                  <a:srgbClr val="101010"/>
                </a:solidFill>
                <a:latin typeface="Purisa"/>
              </a:rPr>
              <a:t>R</a:t>
            </a:r>
          </a:p>
        </p:txBody>
      </p:sp>
      <p:sp>
        <p:nvSpPr>
          <p:cNvPr id="584" name="TextBox 583"/>
          <p:cNvSpPr txBox="1"/>
          <p:nvPr/>
        </p:nvSpPr>
        <p:spPr>
          <a:xfrm>
            <a:off x="9629350" y="5675362"/>
            <a:ext cx="970700" cy="2717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01010"/>
                </a:solidFill>
                <a:latin typeface="Purisa"/>
              </a:rPr>
              <a:t>Normalize:</a:t>
            </a:r>
          </a:p>
        </p:txBody>
      </p:sp>
      <p:sp>
        <p:nvSpPr>
          <p:cNvPr id="585" name="Rounded Rectangle 584"/>
          <p:cNvSpPr/>
          <p:nvPr/>
        </p:nvSpPr>
        <p:spPr>
          <a:gradFill rotWithShape="1">
            <a:gsLst>
              <a:gs pos="0">
                <a:srgbClr val="FFF3A7"/>
              </a:gs>
              <a:gs pos="100000">
                <a:srgbClr val="FFD76A"/>
              </a:gs>
            </a:gsLst>
            <a:lin ang="2700000" scaled="1"/>
          </a:gradFill>
          <a:xfrm>
            <a:off x="10625936" y="5662420"/>
            <a:ext cx="220025" cy="207082"/>
          </a:xfrm>
          <a:prstGeom prst="roundRect">
            <a:avLst/>
          </a:prstGeom>
          <a:ln w="12942">
            <a:solidFill>
              <a:srgbClr val="2D578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10625936" y="5655948"/>
            <a:ext cx="220025" cy="220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1" i="0">
                <a:solidFill>
                  <a:srgbClr val="101010"/>
                </a:solidFill>
                <a:latin typeface="Purisa"/>
              </a:rPr>
              <a:t>A</a:t>
            </a:r>
          </a:p>
        </p:txBody>
      </p:sp>
      <p:sp>
        <p:nvSpPr>
          <p:cNvPr id="587" name="TextBox 586"/>
          <p:cNvSpPr txBox="1"/>
          <p:nvPr/>
        </p:nvSpPr>
        <p:spPr>
          <a:xfrm>
            <a:off x="10858904" y="5655948"/>
            <a:ext cx="168254" cy="2329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5" b="0" i="0">
                <a:solidFill>
                  <a:srgbClr val="101010"/>
                </a:solidFill>
                <a:latin typeface="Purisa"/>
              </a:rPr>
              <a:t>=</a:t>
            </a:r>
          </a:p>
        </p:txBody>
      </p:sp>
      <p:sp>
        <p:nvSpPr>
          <p:cNvPr id="588" name="Rounded Rectangle 587"/>
          <p:cNvSpPr/>
          <p:nvPr/>
        </p:nvSpPr>
        <p:spPr>
          <a:gradFill rotWithShape="1">
            <a:gsLst>
              <a:gs pos="0">
                <a:srgbClr val="B9E16E"/>
              </a:gs>
              <a:gs pos="100000">
                <a:srgbClr val="1A9B16"/>
              </a:gs>
            </a:gsLst>
            <a:lin ang="2700000" scaled="1"/>
          </a:gradFill>
          <a:xfrm>
            <a:off x="11040101" y="5532993"/>
            <a:ext cx="220025" cy="207082"/>
          </a:xfrm>
          <a:prstGeom prst="roundRect">
            <a:avLst/>
          </a:prstGeom>
          <a:ln w="12942">
            <a:solidFill>
              <a:srgbClr val="2D578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9" name="TextBox 588"/>
          <p:cNvSpPr txBox="1"/>
          <p:nvPr/>
        </p:nvSpPr>
        <p:spPr>
          <a:xfrm>
            <a:off x="11040101" y="5526522"/>
            <a:ext cx="220025" cy="220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1" i="0">
                <a:solidFill>
                  <a:srgbClr val="101010"/>
                </a:solidFill>
                <a:latin typeface="Purisa"/>
              </a:rPr>
              <a:t>R</a:t>
            </a:r>
          </a:p>
        </p:txBody>
      </p:sp>
      <p:sp>
        <p:nvSpPr>
          <p:cNvPr id="590" name="TextBox 589"/>
          <p:cNvSpPr txBox="1"/>
          <p:nvPr/>
        </p:nvSpPr>
        <p:spPr>
          <a:xfrm>
            <a:off x="11279541" y="5520050"/>
            <a:ext cx="828331" cy="2264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2" b="0" i="0">
                <a:solidFill>
                  <a:srgbClr val="101010"/>
                </a:solidFill>
                <a:latin typeface="Purisa"/>
              </a:rPr>
              <a:t>− Mean</a:t>
            </a:r>
          </a:p>
        </p:txBody>
      </p:sp>
      <p:cxnSp>
        <p:nvCxnSpPr>
          <p:cNvPr id="591" name="Connector 590"/>
          <p:cNvCxnSpPr/>
          <p:nvPr/>
        </p:nvCxnSpPr>
        <p:spPr>
          <a:xfrm>
            <a:off x="11027158" y="5791846"/>
            <a:ext cx="1061300" cy="0"/>
          </a:xfrm>
          <a:prstGeom prst="line">
            <a:avLst/>
          </a:prstGeom>
          <a:ln w="16178">
            <a:solidFill>
              <a:srgbClr val="101010"/>
            </a:solidFill>
          </a:ln>
          <a:effectLst/>
        </p:spPr>
      </p:cxnSp>
      <p:sp>
        <p:nvSpPr>
          <p:cNvPr id="592" name="Rounded Rectangle 591"/>
          <p:cNvSpPr/>
          <p:nvPr/>
        </p:nvSpPr>
        <p:spPr>
          <a:xfrm>
            <a:off x="11628993" y="5824203"/>
            <a:ext cx="440050" cy="232968"/>
          </a:xfrm>
          <a:prstGeom prst="roundRect">
            <a:avLst/>
          </a:prstGeom>
          <a:solidFill>
            <a:srgbClr val="EEF2F6"/>
          </a:solidFill>
          <a:ln w="12942">
            <a:solidFill>
              <a:srgbClr val="2D578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3" name="TextBox 592"/>
          <p:cNvSpPr txBox="1"/>
          <p:nvPr/>
        </p:nvSpPr>
        <p:spPr>
          <a:xfrm>
            <a:off x="11654878" y="5830675"/>
            <a:ext cx="388280" cy="220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01010"/>
                </a:solidFill>
                <a:latin typeface="Purisa"/>
              </a:rPr>
              <a:t>Std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9409324" y="5953630"/>
            <a:ext cx="744203" cy="4659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101010"/>
                </a:solidFill>
                <a:latin typeface="Purisa"/>
              </a:rPr>
              <a:t>Policy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101010"/>
                </a:solidFill>
                <a:latin typeface="Purisa"/>
              </a:rPr>
              <a:t>Model</a:t>
            </a:r>
          </a:p>
        </p:txBody>
      </p:sp>
      <p:cxnSp>
        <p:nvCxnSpPr>
          <p:cNvPr id="595" name="Connector 594"/>
          <p:cNvCxnSpPr/>
          <p:nvPr/>
        </p:nvCxnSpPr>
        <p:spPr>
          <a:xfrm flipH="1" flipV="1">
            <a:off x="10394262" y="5993752"/>
            <a:ext cx="7765" cy="27180"/>
          </a:xfrm>
          <a:prstGeom prst="line">
            <a:avLst/>
          </a:prstGeom>
          <a:ln w="7765">
            <a:solidFill>
              <a:srgbClr val="101010"/>
            </a:solidFill>
          </a:ln>
          <a:effectLst/>
        </p:spPr>
      </p:cxnSp>
      <p:sp>
        <p:nvSpPr>
          <p:cNvPr id="596" name="Oval 595"/>
          <p:cNvSpPr/>
          <p:nvPr/>
        </p:nvSpPr>
        <p:spPr>
          <a:xfrm>
            <a:off x="10382613" y="5982104"/>
            <a:ext cx="27179" cy="27179"/>
          </a:xfrm>
          <a:prstGeom prst="ellipse">
            <a:avLst/>
          </a:prstGeom>
          <a:solidFill>
            <a:srgbClr val="F01F18"/>
          </a:solidFill>
          <a:ln w="5824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10436972" y="5978221"/>
            <a:ext cx="27179" cy="27179"/>
          </a:xfrm>
          <a:prstGeom prst="ellipse">
            <a:avLst/>
          </a:prstGeom>
          <a:solidFill>
            <a:srgbClr val="F01F18"/>
          </a:solidFill>
          <a:ln w="5824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10491332" y="5985987"/>
            <a:ext cx="27179" cy="27179"/>
          </a:xfrm>
          <a:prstGeom prst="ellipse">
            <a:avLst/>
          </a:prstGeom>
          <a:solidFill>
            <a:srgbClr val="F01F18"/>
          </a:solidFill>
          <a:ln w="5824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9" name="Rounded Rectangle 598"/>
          <p:cNvSpPr/>
          <p:nvPr/>
        </p:nvSpPr>
        <p:spPr>
          <a:xfrm>
            <a:off x="10277778" y="6063643"/>
            <a:ext cx="46593" cy="112601"/>
          </a:xfrm>
          <a:prstGeom prst="roundRect">
            <a:avLst/>
          </a:prstGeom>
          <a:solidFill>
            <a:srgbClr val="8ED0E5"/>
          </a:solidFill>
          <a:ln w="776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0" name="Rounded Rectangle 599"/>
          <p:cNvSpPr/>
          <p:nvPr/>
        </p:nvSpPr>
        <p:spPr>
          <a:xfrm>
            <a:off x="10553457" y="6063643"/>
            <a:ext cx="46593" cy="112601"/>
          </a:xfrm>
          <a:prstGeom prst="roundRect">
            <a:avLst/>
          </a:prstGeom>
          <a:solidFill>
            <a:srgbClr val="8ED0E5"/>
          </a:solidFill>
          <a:ln w="776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1" name="Rounded Rectangle 600"/>
          <p:cNvSpPr/>
          <p:nvPr/>
        </p:nvSpPr>
        <p:spPr>
          <a:xfrm>
            <a:off x="10304957" y="6017049"/>
            <a:ext cx="271796" cy="217436"/>
          </a:xfrm>
          <a:prstGeom prst="roundRect">
            <a:avLst/>
          </a:prstGeom>
          <a:solidFill>
            <a:srgbClr val="8ED0E5"/>
          </a:solidFill>
          <a:ln w="9707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2" name="Rounded Rectangle 601"/>
          <p:cNvSpPr/>
          <p:nvPr/>
        </p:nvSpPr>
        <p:spPr>
          <a:xfrm>
            <a:off x="10332137" y="6044229"/>
            <a:ext cx="217436" cy="151429"/>
          </a:xfrm>
          <a:prstGeom prst="roundRect">
            <a:avLst/>
          </a:prstGeom>
          <a:solidFill>
            <a:srgbClr val="D5EEF7"/>
          </a:solidFill>
          <a:ln w="6989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10374848" y="6083057"/>
            <a:ext cx="23296" cy="27179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10479683" y="6083057"/>
            <a:ext cx="23296" cy="27179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05" name="Connector 604"/>
          <p:cNvCxnSpPr/>
          <p:nvPr/>
        </p:nvCxnSpPr>
        <p:spPr>
          <a:xfrm>
            <a:off x="10421441" y="6094705"/>
            <a:ext cx="19414" cy="15531"/>
          </a:xfrm>
          <a:prstGeom prst="line">
            <a:avLst/>
          </a:prstGeom>
          <a:ln w="6989">
            <a:solidFill>
              <a:srgbClr val="101010"/>
            </a:solidFill>
          </a:ln>
          <a:effectLst/>
        </p:spPr>
      </p:cxnSp>
      <p:cxnSp>
        <p:nvCxnSpPr>
          <p:cNvPr id="606" name="Connector 605"/>
          <p:cNvCxnSpPr/>
          <p:nvPr/>
        </p:nvCxnSpPr>
        <p:spPr>
          <a:xfrm flipV="1">
            <a:off x="10440855" y="6094705"/>
            <a:ext cx="19414" cy="15531"/>
          </a:xfrm>
          <a:prstGeom prst="line">
            <a:avLst/>
          </a:prstGeom>
          <a:ln w="6989">
            <a:solidFill>
              <a:srgbClr val="101010"/>
            </a:solidFill>
          </a:ln>
          <a:effectLst/>
        </p:spPr>
      </p:cxnSp>
      <p:cxnSp>
        <p:nvCxnSpPr>
          <p:cNvPr id="607" name="Connector 606"/>
          <p:cNvCxnSpPr/>
          <p:nvPr/>
        </p:nvCxnSpPr>
        <p:spPr>
          <a:xfrm>
            <a:off x="10409793" y="6149064"/>
            <a:ext cx="62125" cy="0"/>
          </a:xfrm>
          <a:prstGeom prst="line">
            <a:avLst/>
          </a:prstGeom>
          <a:ln w="6989">
            <a:solidFill>
              <a:srgbClr val="101010"/>
            </a:solidFill>
          </a:ln>
          <a:effectLst/>
        </p:spPr>
      </p:cxnSp>
      <p:sp>
        <p:nvSpPr>
          <p:cNvPr id="608" name="Freeform 607"/>
          <p:cNvSpPr/>
          <p:nvPr/>
        </p:nvSpPr>
        <p:spPr>
          <a:xfrm>
            <a:off x="10353600" y="6231573"/>
            <a:ext cx="174717" cy="58239"/>
          </a:xfrm>
          <a:custGeom>
            <a:avLst/>
            <a:gdLst/>
            <a:ahLst/>
            <a:cxnLst/>
            <a:rect l="l" t="t" r="r" b="b"/>
            <a:pathLst>
              <a:path w="27" h="9">
                <a:moveTo>
                  <a:pt x="0" y="0"/>
                </a:moveTo>
                <a:lnTo>
                  <a:pt x="27" y="0"/>
                </a:lnTo>
                <a:lnTo>
                  <a:pt x="24" y="9"/>
                </a:lnTo>
                <a:lnTo>
                  <a:pt x="3" y="9"/>
                </a:lnTo>
                <a:close/>
              </a:path>
            </a:pathLst>
          </a:custGeom>
          <a:solidFill>
            <a:srgbClr val="8ED0E5"/>
          </a:solidFill>
          <a:ln w="7765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9" name="Rounded Rectangle 608"/>
          <p:cNvSpPr/>
          <p:nvPr/>
        </p:nvSpPr>
        <p:spPr>
          <a:xfrm>
            <a:off x="10394262" y="6288845"/>
            <a:ext cx="93187" cy="19414"/>
          </a:xfrm>
          <a:prstGeom prst="roundRect">
            <a:avLst/>
          </a:prstGeom>
          <a:solidFill>
            <a:srgbClr val="8ED0E5"/>
          </a:solidFill>
          <a:ln w="5824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0" name="TextBox 609"/>
          <p:cNvSpPr txBox="1"/>
          <p:nvPr/>
        </p:nvSpPr>
        <p:spPr>
          <a:xfrm>
            <a:off x="10378730" y="6222838"/>
            <a:ext cx="124249" cy="621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5" b="1" i="0">
                <a:solidFill>
                  <a:srgbClr val="101010"/>
                </a:solidFill>
                <a:latin typeface="DejaVu Sans"/>
              </a:rPr>
              <a:t>AI</a:t>
            </a:r>
          </a:p>
        </p:txBody>
      </p:sp>
      <p:sp>
        <p:nvSpPr>
          <p:cNvPr id="611" name="Freeform 610"/>
          <p:cNvSpPr/>
          <p:nvPr/>
        </p:nvSpPr>
        <p:spPr>
          <a:xfrm>
            <a:off x="10528317" y="5959791"/>
            <a:ext cx="77652" cy="116478"/>
          </a:xfrm>
          <a:custGeom>
            <a:avLst/>
            <a:gdLst/>
            <a:ahLst/>
            <a:cxnLst/>
            <a:rect l="l" t="t" r="r" b="b"/>
            <a:pathLst>
              <a:path w="12" h="18">
                <a:moveTo>
                  <a:pt x="0" y="14"/>
                </a:moveTo>
                <a:lnTo>
                  <a:pt x="3" y="6"/>
                </a:lnTo>
                <a:lnTo>
                  <a:pt x="5" y="10"/>
                </a:lnTo>
                <a:lnTo>
                  <a:pt x="9" y="0"/>
                </a:lnTo>
                <a:lnTo>
                  <a:pt x="12" y="7"/>
                </a:lnTo>
                <a:lnTo>
                  <a:pt x="12" y="12"/>
                </a:lnTo>
                <a:lnTo>
                  <a:pt x="9" y="18"/>
                </a:lnTo>
                <a:lnTo>
                  <a:pt x="3" y="18"/>
                </a:lnTo>
                <a:close/>
              </a:path>
            </a:pathLst>
          </a:custGeom>
          <a:solidFill>
            <a:srgbClr val="F01F18"/>
          </a:solidFill>
          <a:ln w="6989">
            <a:solidFill>
              <a:srgbClr val="10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2" name="Freeform 611"/>
          <p:cNvSpPr/>
          <p:nvPr/>
        </p:nvSpPr>
        <p:spPr>
          <a:xfrm>
            <a:off x="10554201" y="6011559"/>
            <a:ext cx="45297" cy="58239"/>
          </a:xfrm>
          <a:custGeom>
            <a:avLst/>
            <a:gdLst/>
            <a:ahLst/>
            <a:cxnLst/>
            <a:rect l="l" t="t" r="r" b="b"/>
            <a:pathLst>
              <a:path w="7" h="9">
                <a:moveTo>
                  <a:pt x="0" y="6"/>
                </a:moveTo>
                <a:lnTo>
                  <a:pt x="3" y="1"/>
                </a:lnTo>
                <a:lnTo>
                  <a:pt x="5" y="4"/>
                </a:lnTo>
                <a:lnTo>
                  <a:pt x="6" y="0"/>
                </a:lnTo>
                <a:lnTo>
                  <a:pt x="7" y="6"/>
                </a:lnTo>
                <a:lnTo>
                  <a:pt x="5" y="9"/>
                </a:lnTo>
                <a:close/>
              </a:path>
            </a:pathLst>
          </a:custGeom>
          <a:solidFill>
            <a:srgbClr val="FFD86A"/>
          </a:solidFill>
          <a:ln w="4659">
            <a:solidFill>
              <a:srgbClr val="F01F1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13" name="Connector 612"/>
          <p:cNvCxnSpPr/>
          <p:nvPr/>
        </p:nvCxnSpPr>
        <p:spPr>
          <a:xfrm>
            <a:off x="10710063" y="6134827"/>
            <a:ext cx="161783" cy="0"/>
          </a:xfrm>
          <a:prstGeom prst="line">
            <a:avLst/>
          </a:prstGeom>
          <a:ln w="25885">
            <a:solidFill>
              <a:srgbClr val="3A83C4"/>
            </a:solidFill>
            <a:prstDash val="sysDot"/>
          </a:ln>
          <a:effectLst/>
        </p:spPr>
      </p:cxnSp>
      <p:cxnSp>
        <p:nvCxnSpPr>
          <p:cNvPr id="614" name="Connector 613"/>
          <p:cNvCxnSpPr/>
          <p:nvPr/>
        </p:nvCxnSpPr>
        <p:spPr>
          <a:xfrm>
            <a:off x="10871846" y="6134827"/>
            <a:ext cx="0" cy="433580"/>
          </a:xfrm>
          <a:prstGeom prst="line">
            <a:avLst/>
          </a:prstGeom>
          <a:ln w="25885">
            <a:solidFill>
              <a:srgbClr val="3A83C4"/>
            </a:solidFill>
            <a:prstDash val="sysDot"/>
          </a:ln>
          <a:effectLst/>
        </p:spPr>
      </p:cxnSp>
      <p:cxnSp>
        <p:nvCxnSpPr>
          <p:cNvPr id="615" name="Connector 614"/>
          <p:cNvCxnSpPr/>
          <p:nvPr/>
        </p:nvCxnSpPr>
        <p:spPr>
          <a:xfrm flipH="1">
            <a:off x="10405910" y="6568407"/>
            <a:ext cx="465936" cy="0"/>
          </a:xfrm>
          <a:prstGeom prst="line">
            <a:avLst/>
          </a:prstGeom>
          <a:ln w="25885">
            <a:solidFill>
              <a:srgbClr val="3A83C4"/>
            </a:solidFill>
            <a:prstDash val="sysDot"/>
          </a:ln>
          <a:effectLst/>
        </p:spPr>
      </p:cxnSp>
      <p:cxnSp>
        <p:nvCxnSpPr>
          <p:cNvPr id="616" name="Connector 615"/>
          <p:cNvCxnSpPr/>
          <p:nvPr/>
        </p:nvCxnSpPr>
        <p:spPr>
          <a:xfrm flipV="1">
            <a:off x="10405910" y="6380738"/>
            <a:ext cx="0" cy="187669"/>
          </a:xfrm>
          <a:prstGeom prst="line">
            <a:avLst/>
          </a:prstGeom>
          <a:ln w="25885">
            <a:solidFill>
              <a:srgbClr val="3A83C4"/>
            </a:solidFill>
            <a:prstDash val="sysDot"/>
            <a:tailEnd type="triangle" w="sm" len="sm"/>
          </a:ln>
          <a:effectLst/>
        </p:spPr>
      </p:cxnSp>
      <p:sp>
        <p:nvSpPr>
          <p:cNvPr id="617" name="TextBox 616"/>
          <p:cNvSpPr txBox="1"/>
          <p:nvPr/>
        </p:nvSpPr>
        <p:spPr>
          <a:xfrm>
            <a:off x="10962445" y="5998929"/>
            <a:ext cx="854216" cy="2717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6" b="1" i="0">
                <a:solidFill>
                  <a:srgbClr val="3A83C4"/>
                </a:solidFill>
                <a:latin typeface="Purisa"/>
              </a:rPr>
              <a:t>Update</a:t>
            </a:r>
          </a:p>
        </p:txBody>
      </p:sp>
      <p:sp>
        <p:nvSpPr>
          <p:cNvPr id="618" name="TextBox 617"/>
          <p:cNvSpPr txBox="1"/>
          <p:nvPr/>
        </p:nvSpPr>
        <p:spPr>
          <a:xfrm>
            <a:off x="10897732" y="6451923"/>
            <a:ext cx="614777" cy="2717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3" b="1" i="0">
                <a:solidFill>
                  <a:srgbClr val="101010"/>
                </a:solidFill>
                <a:latin typeface="DejaVu Sans"/>
              </a:rPr>
              <a:t>Loss = Σ(</a:t>
            </a:r>
          </a:p>
        </p:txBody>
      </p:sp>
      <p:sp>
        <p:nvSpPr>
          <p:cNvPr id="619" name="Rounded Rectangle 618"/>
          <p:cNvSpPr/>
          <p:nvPr/>
        </p:nvSpPr>
        <p:spPr>
          <a:gradFill rotWithShape="1">
            <a:gsLst>
              <a:gs pos="0">
                <a:srgbClr val="FFF3A7"/>
              </a:gs>
              <a:gs pos="100000">
                <a:srgbClr val="FFD76A"/>
              </a:gs>
            </a:gsLst>
            <a:lin ang="2700000" scaled="1"/>
          </a:gradFill>
          <a:xfrm>
            <a:off x="11512509" y="6471337"/>
            <a:ext cx="171619" cy="161524"/>
          </a:xfrm>
          <a:prstGeom prst="roundRect">
            <a:avLst/>
          </a:prstGeom>
          <a:ln w="10095">
            <a:solidFill>
              <a:srgbClr val="2D578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11512509" y="6466289"/>
            <a:ext cx="171619" cy="17161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4" b="1" i="0">
                <a:solidFill>
                  <a:srgbClr val="101010"/>
                </a:solidFill>
                <a:latin typeface="Purisa"/>
              </a:rPr>
              <a:t>A</a:t>
            </a:r>
          </a:p>
        </p:txBody>
      </p:sp>
      <p:sp>
        <p:nvSpPr>
          <p:cNvPr id="621" name="TextBox 620"/>
          <p:cNvSpPr txBox="1"/>
          <p:nvPr/>
        </p:nvSpPr>
        <p:spPr>
          <a:xfrm>
            <a:off x="11687235" y="6471337"/>
            <a:ext cx="90598" cy="181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8" b="1" i="0">
                <a:solidFill>
                  <a:srgbClr val="101010"/>
                </a:solidFill>
                <a:latin typeface="DejaVu Sans"/>
              </a:rPr>
              <a:t>−</a:t>
            </a:r>
          </a:p>
        </p:txBody>
      </p:sp>
      <p:sp>
        <p:nvSpPr>
          <p:cNvPr id="622" name="Rounded Rectangle 621"/>
          <p:cNvSpPr/>
          <p:nvPr/>
        </p:nvSpPr>
        <p:spPr>
          <a:gradFill rotWithShape="1">
            <a:gsLst>
              <a:gs pos="0">
                <a:srgbClr val="D6E8F6"/>
              </a:gs>
              <a:gs pos="100000">
                <a:srgbClr val="7FA9D1"/>
              </a:gs>
            </a:gsLst>
            <a:lin ang="2700000" scaled="1"/>
          </a:gradFill>
          <a:xfrm>
            <a:off x="11777834" y="6471337"/>
            <a:ext cx="171619" cy="161524"/>
          </a:xfrm>
          <a:prstGeom prst="roundRect">
            <a:avLst/>
          </a:prstGeom>
          <a:ln w="10095">
            <a:solidFill>
              <a:srgbClr val="2D578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3" name="TextBox 622"/>
          <p:cNvSpPr txBox="1"/>
          <p:nvPr/>
        </p:nvSpPr>
        <p:spPr>
          <a:xfrm>
            <a:off x="11777834" y="6466289"/>
            <a:ext cx="171619" cy="17161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4" b="1" i="0">
                <a:solidFill>
                  <a:srgbClr val="101010"/>
                </a:solidFill>
                <a:latin typeface="Purisa"/>
              </a:rPr>
              <a:t>D</a:t>
            </a:r>
          </a:p>
        </p:txBody>
      </p:sp>
      <p:sp>
        <p:nvSpPr>
          <p:cNvPr id="624" name="TextBox 623"/>
          <p:cNvSpPr txBox="1"/>
          <p:nvPr/>
        </p:nvSpPr>
        <p:spPr>
          <a:xfrm>
            <a:off x="11952560" y="6458394"/>
            <a:ext cx="77656" cy="2264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1" i="0">
                <a:solidFill>
                  <a:srgbClr val="101010"/>
                </a:solidFill>
                <a:latin typeface="DejaVu Sans"/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Vad-R1 Towards Video Anomaly Reasoning via Perception-to-Cognition Chain-of-Thought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31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Vad-R1 perception-to-cognition diagram reconstruction</dc:title>
  <dc:subject>Editable native-shape reconstruction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