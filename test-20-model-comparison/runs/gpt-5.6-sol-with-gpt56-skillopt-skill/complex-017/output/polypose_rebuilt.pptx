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913456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hite canvas"/>
          <p:cNvSpPr/>
          <p:nvPr/>
        </p:nvSpPr>
        <p:spPr>
          <a:xfrm>
            <a:off x="0" y="0"/>
            <a:ext cx="14630399" cy="91345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tage 1 panel boundary"/>
          <p:cNvSpPr/>
          <p:nvPr/>
        </p:nvSpPr>
        <p:spPr>
          <a:xfrm>
            <a:off x="60393" y="120787"/>
            <a:ext cx="14517161" cy="3872752"/>
          </a:xfrm>
          <a:prstGeom prst="roundRect">
            <a:avLst>
              <a:gd name="adj" fmla="val 3313"/>
            </a:avLst>
          </a:prstGeom>
          <a:noFill/>
          <a:ln w="25667">
            <a:solidFill>
              <a:srgbClr val="8B8D8D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ge 2 panel boundary"/>
          <p:cNvSpPr/>
          <p:nvPr/>
        </p:nvSpPr>
        <p:spPr>
          <a:xfrm>
            <a:off x="60393" y="4197369"/>
            <a:ext cx="14517161" cy="4937193"/>
          </a:xfrm>
          <a:prstGeom prst="roundRect">
            <a:avLst>
              <a:gd name="adj" fmla="val 2599"/>
            </a:avLst>
          </a:prstGeom>
          <a:noFill/>
          <a:ln w="25667">
            <a:solidFill>
              <a:srgbClr val="8B8D8D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ge 1 title"/>
          <p:cNvSpPr txBox="1"/>
          <p:nvPr/>
        </p:nvSpPr>
        <p:spPr>
          <a:xfrm>
            <a:off x="113238" y="236441"/>
            <a:ext cx="5737411" cy="317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23" b="1" i="0">
                <a:solidFill>
                  <a:srgbClr val="111111"/>
                </a:solidFill>
                <a:latin typeface="Liberation Sans"/>
              </a:rPr>
              <a:t>(A) Stage 1: </a:t>
            </a:r>
            <a:r>
              <a:rPr sz="1723" b="0" i="0">
                <a:solidFill>
                  <a:srgbClr val="111111"/>
                </a:solidFill>
                <a:latin typeface="Liberation Sans"/>
              </a:rPr>
              <a:t>Estimate the pose (</a:t>
            </a:r>
            <a:r>
              <a:rPr sz="1723" b="0" i="0">
                <a:solidFill>
                  <a:srgbClr val="111111"/>
                </a:solidFill>
                <a:latin typeface="Noto Sans Math"/>
              </a:rPr>
              <a:t>Π̂</a:t>
            </a:r>
            <a:r>
              <a:rPr sz="1723" b="0" i="0">
                <a:solidFill>
                  <a:srgbClr val="111111"/>
                </a:solidFill>
                <a:latin typeface="Liberation Sans"/>
              </a:rPr>
              <a:t>) of each X-ray image</a:t>
            </a:r>
          </a:p>
        </p:txBody>
      </p:sp>
      <p:sp>
        <p:nvSpPr>
          <p:cNvPr id="6" name="Stage 2 title part 1"/>
          <p:cNvSpPr txBox="1"/>
          <p:nvPr/>
        </p:nvSpPr>
        <p:spPr>
          <a:xfrm>
            <a:off x="113238" y="4313023"/>
            <a:ext cx="4718266" cy="317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23" b="1" i="0">
                <a:solidFill>
                  <a:srgbClr val="111111"/>
                </a:solidFill>
                <a:latin typeface="Liberation Sans"/>
              </a:rPr>
              <a:t>(B) Stage 2: </a:t>
            </a:r>
            <a:r>
              <a:rPr sz="1723" b="0" i="0">
                <a:solidFill>
                  <a:srgbClr val="111111"/>
                </a:solidFill>
                <a:latin typeface="Liberation Sans"/>
              </a:rPr>
              <a:t>Optimize structure-specific poses</a:t>
            </a:r>
          </a:p>
        </p:txBody>
      </p:sp>
      <p:sp>
        <p:nvSpPr>
          <p:cNvPr id="7" name="Stage 2 title part 2"/>
          <p:cNvSpPr txBox="1"/>
          <p:nvPr/>
        </p:nvSpPr>
        <p:spPr>
          <a:xfrm>
            <a:off x="5284458" y="4313023"/>
            <a:ext cx="4793758" cy="317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23" b="0" i="0">
                <a:solidFill>
                  <a:srgbClr val="111111"/>
                </a:solidFill>
                <a:latin typeface="Liberation Sans"/>
              </a:rPr>
              <a:t>to estimate the polyrigid deformation field (</a:t>
            </a:r>
            <a:r>
              <a:rPr sz="1723" b="1" i="0">
                <a:solidFill>
                  <a:srgbClr val="111111"/>
                </a:solidFill>
                <a:latin typeface="Noto Sans Math"/>
              </a:rPr>
              <a:t>Φ</a:t>
            </a:r>
            <a:r>
              <a:rPr sz="1723" b="0" i="0">
                <a:solidFill>
                  <a:srgbClr val="111111"/>
                </a:solidFill>
                <a:latin typeface="Liberation Sans"/>
              </a:rPr>
              <a:t>)</a:t>
            </a:r>
          </a:p>
        </p:txBody>
      </p:sp>
      <p:cxnSp>
        <p:nvCxnSpPr>
          <p:cNvPr id="8" name="title pose z axis"/>
          <p:cNvCxnSpPr/>
          <p:nvPr/>
        </p:nvCxnSpPr>
        <p:spPr>
          <a:xfrm flipV="1">
            <a:off x="4922095" y="4333255"/>
            <a:ext cx="0" cy="181182"/>
          </a:xfrm>
          <a:prstGeom prst="line">
            <a:avLst/>
          </a:prstGeom>
          <a:ln w="18873">
            <a:solidFill>
              <a:srgbClr val="0B9FE5"/>
            </a:solidFill>
            <a:tailEnd type="triangle" w="med" len="med"/>
          </a:ln>
        </p:spPr>
      </p:cxnSp>
      <p:cxnSp>
        <p:nvCxnSpPr>
          <p:cNvPr id="9" name="title pose x axis"/>
          <p:cNvCxnSpPr/>
          <p:nvPr/>
        </p:nvCxnSpPr>
        <p:spPr>
          <a:xfrm>
            <a:off x="4922095" y="4514437"/>
            <a:ext cx="166083" cy="52844"/>
          </a:xfrm>
          <a:prstGeom prst="line">
            <a:avLst/>
          </a:prstGeom>
          <a:ln w="18873">
            <a:solidFill>
              <a:srgbClr val="F56A00"/>
            </a:solidFill>
            <a:tailEnd type="triangle" w="med" len="med"/>
          </a:ln>
        </p:spPr>
      </p:cxnSp>
      <p:cxnSp>
        <p:nvCxnSpPr>
          <p:cNvPr id="10" name="title pose y axis"/>
          <p:cNvCxnSpPr/>
          <p:nvPr/>
        </p:nvCxnSpPr>
        <p:spPr>
          <a:xfrm flipH="1">
            <a:off x="4831504" y="4514437"/>
            <a:ext cx="90591" cy="113238"/>
          </a:xfrm>
          <a:prstGeom prst="line">
            <a:avLst/>
          </a:prstGeom>
          <a:ln w="18873">
            <a:solidFill>
              <a:srgbClr val="14E100"/>
            </a:solidFill>
            <a:tailEnd type="triangle" w="med" len="med"/>
          </a:ln>
        </p:spPr>
      </p:cxnSp>
      <p:sp>
        <p:nvSpPr>
          <p:cNvPr id="11" name="TextBox 10"/>
          <p:cNvSpPr txBox="1"/>
          <p:nvPr/>
        </p:nvSpPr>
        <p:spPr>
          <a:xfrm>
            <a:off x="4756012" y="4313023"/>
            <a:ext cx="135886" cy="3019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23" b="0" i="0">
                <a:solidFill>
                  <a:srgbClr val="111111"/>
                </a:solidFill>
                <a:latin typeface="Liberation Sans"/>
              </a:rPr>
              <a:t>(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5727" y="4313023"/>
            <a:ext cx="135886" cy="3019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23" b="0" i="0">
                <a:solidFill>
                  <a:srgbClr val="111111"/>
                </a:solidFill>
                <a:latin typeface="Liberation Sans"/>
              </a:rPr>
              <a:t>)</a:t>
            </a:r>
          </a:p>
        </p:txBody>
      </p:sp>
      <p:sp>
        <p:nvSpPr>
          <p:cNvPr id="13" name="flow legend"/>
          <p:cNvSpPr/>
          <p:nvPr/>
        </p:nvSpPr>
        <p:spPr>
          <a:xfrm>
            <a:off x="5888396" y="181181"/>
            <a:ext cx="3691571" cy="339715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18873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operation flow legend arrow"/>
          <p:cNvCxnSpPr/>
          <p:nvPr/>
        </p:nvCxnSpPr>
        <p:spPr>
          <a:xfrm>
            <a:off x="5978986" y="347264"/>
            <a:ext cx="271773" cy="0"/>
          </a:xfrm>
          <a:prstGeom prst="line">
            <a:avLst/>
          </a:prstGeom>
          <a:ln w="30196">
            <a:solidFill>
              <a:srgbClr val="0B9FE5"/>
            </a:solidFill>
            <a:tailEnd type="triangle" w="med" len="med"/>
          </a:ln>
        </p:spPr>
      </p:cxnSp>
      <p:cxnSp>
        <p:nvCxnSpPr>
          <p:cNvPr id="15" name="gradient flow legend arrow"/>
          <p:cNvCxnSpPr/>
          <p:nvPr/>
        </p:nvCxnSpPr>
        <p:spPr>
          <a:xfrm>
            <a:off x="7888941" y="347264"/>
            <a:ext cx="279321" cy="0"/>
          </a:xfrm>
          <a:prstGeom prst="line">
            <a:avLst/>
          </a:prstGeom>
          <a:ln w="30196">
            <a:solidFill>
              <a:srgbClr val="F56A00"/>
            </a:solidFill>
            <a:tailEnd type="triangle" w="med" len="med"/>
          </a:ln>
        </p:spPr>
      </p:cxnSp>
      <p:sp>
        <p:nvSpPr>
          <p:cNvPr id="16" name="operation flow legend label"/>
          <p:cNvSpPr txBox="1"/>
          <p:nvPr/>
        </p:nvSpPr>
        <p:spPr>
          <a:xfrm>
            <a:off x="6333800" y="235233"/>
            <a:ext cx="1479648" cy="2868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4" b="0" i="0">
                <a:solidFill>
                  <a:srgbClr val="111111"/>
                </a:solidFill>
                <a:latin typeface="Liberation Sans"/>
              </a:rPr>
              <a:t>Operation flow</a:t>
            </a:r>
          </a:p>
        </p:txBody>
      </p:sp>
      <p:sp>
        <p:nvSpPr>
          <p:cNvPr id="17" name="gradient flow legend label"/>
          <p:cNvSpPr txBox="1"/>
          <p:nvPr/>
        </p:nvSpPr>
        <p:spPr>
          <a:xfrm>
            <a:off x="8236205" y="235233"/>
            <a:ext cx="1253171" cy="2868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4" b="0" i="0">
                <a:solidFill>
                  <a:srgbClr val="111111"/>
                </a:solidFill>
                <a:latin typeface="Liberation Sans"/>
              </a:rPr>
              <a:t>Gradient flow</a:t>
            </a:r>
          </a:p>
        </p:txBody>
      </p:sp>
      <p:sp>
        <p:nvSpPr>
          <p:cNvPr id="18" name="symbol legend"/>
          <p:cNvSpPr/>
          <p:nvPr/>
        </p:nvSpPr>
        <p:spPr>
          <a:xfrm>
            <a:off x="10115962" y="4287960"/>
            <a:ext cx="4386100" cy="67943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8873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legend 𝒫"/>
          <p:cNvSpPr txBox="1"/>
          <p:nvPr/>
        </p:nvSpPr>
        <p:spPr>
          <a:xfrm>
            <a:off x="10221652" y="4338691"/>
            <a:ext cx="339715" cy="317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21" b="0" i="1">
                <a:solidFill>
                  <a:srgbClr val="111111"/>
                </a:solidFill>
                <a:latin typeface="Noto Sans Math"/>
              </a:rPr>
              <a:t>𝒫</a:t>
            </a:r>
          </a:p>
        </p:txBody>
      </p:sp>
      <p:sp>
        <p:nvSpPr>
          <p:cNvPr id="20" name="legend Projection operator"/>
          <p:cNvSpPr txBox="1"/>
          <p:nvPr/>
        </p:nvSpPr>
        <p:spPr>
          <a:xfrm>
            <a:off x="10516071" y="4401198"/>
            <a:ext cx="1925052" cy="317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86" b="0" i="0">
                <a:solidFill>
                  <a:srgbClr val="111111"/>
                </a:solidFill>
                <a:latin typeface="Liberation Sans"/>
              </a:rPr>
              <a:t>Projection operator</a:t>
            </a:r>
          </a:p>
        </p:txBody>
      </p:sp>
      <p:sp>
        <p:nvSpPr>
          <p:cNvPr id="21" name="legend ξ̂"/>
          <p:cNvSpPr txBox="1"/>
          <p:nvPr/>
        </p:nvSpPr>
        <p:spPr>
          <a:xfrm>
            <a:off x="12365632" y="4338691"/>
            <a:ext cx="339715" cy="317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21" b="0" i="1">
                <a:solidFill>
                  <a:srgbClr val="111111"/>
                </a:solidFill>
                <a:latin typeface="Noto Sans Math"/>
              </a:rPr>
              <a:t>ξ̂</a:t>
            </a:r>
          </a:p>
        </p:txBody>
      </p:sp>
      <p:sp>
        <p:nvSpPr>
          <p:cNvPr id="22" name="legend Articulated poses"/>
          <p:cNvSpPr txBox="1"/>
          <p:nvPr/>
        </p:nvSpPr>
        <p:spPr>
          <a:xfrm>
            <a:off x="12735544" y="4401198"/>
            <a:ext cx="1925052" cy="317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86" b="0" i="0">
                <a:solidFill>
                  <a:srgbClr val="111111"/>
                </a:solidFill>
                <a:latin typeface="Liberation Sans"/>
              </a:rPr>
              <a:t>Articulated poses</a:t>
            </a:r>
          </a:p>
        </p:txBody>
      </p:sp>
      <p:sp>
        <p:nvSpPr>
          <p:cNvPr id="23" name="legend ℒ"/>
          <p:cNvSpPr txBox="1"/>
          <p:nvPr/>
        </p:nvSpPr>
        <p:spPr>
          <a:xfrm>
            <a:off x="10221652" y="4618012"/>
            <a:ext cx="339715" cy="317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21" b="0" i="1">
                <a:solidFill>
                  <a:srgbClr val="111111"/>
                </a:solidFill>
                <a:latin typeface="Noto Sans Math"/>
              </a:rPr>
              <a:t>ℒ</a:t>
            </a:r>
          </a:p>
        </p:txBody>
      </p:sp>
      <p:sp>
        <p:nvSpPr>
          <p:cNvPr id="24" name="legend Image loss function"/>
          <p:cNvSpPr txBox="1"/>
          <p:nvPr/>
        </p:nvSpPr>
        <p:spPr>
          <a:xfrm>
            <a:off x="10516071" y="4680520"/>
            <a:ext cx="1925052" cy="317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86" b="0" i="0">
                <a:solidFill>
                  <a:srgbClr val="111111"/>
                </a:solidFill>
                <a:latin typeface="Liberation Sans"/>
              </a:rPr>
              <a:t>Image loss function</a:t>
            </a:r>
          </a:p>
        </p:txBody>
      </p:sp>
      <p:sp>
        <p:nvSpPr>
          <p:cNvPr id="25" name="legend Π"/>
          <p:cNvSpPr txBox="1"/>
          <p:nvPr/>
        </p:nvSpPr>
        <p:spPr>
          <a:xfrm>
            <a:off x="12365632" y="4618012"/>
            <a:ext cx="339715" cy="317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21" b="0" i="1">
                <a:solidFill>
                  <a:srgbClr val="111111"/>
                </a:solidFill>
                <a:latin typeface="Noto Sans Math"/>
              </a:rPr>
              <a:t>Π</a:t>
            </a:r>
          </a:p>
        </p:txBody>
      </p:sp>
      <p:sp>
        <p:nvSpPr>
          <p:cNvPr id="26" name="legend Camera matrix"/>
          <p:cNvSpPr txBox="1"/>
          <p:nvPr/>
        </p:nvSpPr>
        <p:spPr>
          <a:xfrm>
            <a:off x="12735544" y="4680520"/>
            <a:ext cx="1925052" cy="317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86" b="0" i="0">
                <a:solidFill>
                  <a:srgbClr val="111111"/>
                </a:solidFill>
                <a:latin typeface="Liberation Sans"/>
              </a:rPr>
              <a:t>Camera matrix</a:t>
            </a:r>
          </a:p>
        </p:txBody>
      </p:sp>
      <p:cxnSp>
        <p:nvCxnSpPr>
          <p:cNvPr id="27" name="CT to extraction operation flow"/>
          <p:cNvCxnSpPr/>
          <p:nvPr/>
        </p:nvCxnSpPr>
        <p:spPr>
          <a:xfrm>
            <a:off x="3178224" y="2159078"/>
            <a:ext cx="203829" cy="437855"/>
          </a:xfrm>
          <a:prstGeom prst="line">
            <a:avLst/>
          </a:prstGeom>
          <a:ln w="30196">
            <a:solidFill>
              <a:srgbClr val="0B9FE5"/>
            </a:solidFill>
          </a:ln>
        </p:spPr>
      </p:cxnSp>
      <p:cxnSp>
        <p:nvCxnSpPr>
          <p:cNvPr id="28" name="CT to extraction operation flow segment 2"/>
          <p:cNvCxnSpPr/>
          <p:nvPr/>
        </p:nvCxnSpPr>
        <p:spPr>
          <a:xfrm>
            <a:off x="3382053" y="2596933"/>
            <a:ext cx="286870" cy="339715"/>
          </a:xfrm>
          <a:prstGeom prst="line">
            <a:avLst/>
          </a:prstGeom>
          <a:ln w="30196">
            <a:solidFill>
              <a:srgbClr val="0B9FE5"/>
            </a:solidFill>
          </a:ln>
        </p:spPr>
      </p:cxnSp>
      <p:cxnSp>
        <p:nvCxnSpPr>
          <p:cNvPr id="29" name="CT to extraction operation flow segment 3"/>
          <p:cNvCxnSpPr/>
          <p:nvPr/>
        </p:nvCxnSpPr>
        <p:spPr>
          <a:xfrm>
            <a:off x="3668923" y="2936648"/>
            <a:ext cx="468052" cy="196280"/>
          </a:xfrm>
          <a:prstGeom prst="line">
            <a:avLst/>
          </a:prstGeom>
          <a:ln w="30196">
            <a:solidFill>
              <a:srgbClr val="0B9FE5"/>
            </a:solidFill>
          </a:ln>
        </p:spPr>
      </p:cxnSp>
      <p:cxnSp>
        <p:nvCxnSpPr>
          <p:cNvPr id="30" name="CT to extraction operation flow segment 4"/>
          <p:cNvCxnSpPr/>
          <p:nvPr/>
        </p:nvCxnSpPr>
        <p:spPr>
          <a:xfrm>
            <a:off x="4136975" y="3132928"/>
            <a:ext cx="853063" cy="150985"/>
          </a:xfrm>
          <a:prstGeom prst="line">
            <a:avLst/>
          </a:prstGeom>
          <a:ln w="30196">
            <a:solidFill>
              <a:srgbClr val="0B9FE5"/>
            </a:solidFill>
            <a:tailEnd type="triangle" w="med" len="med"/>
          </a:ln>
        </p:spPr>
      </p:cxnSp>
      <p:cxnSp>
        <p:nvCxnSpPr>
          <p:cNvPr id="31" name="structure ray to camera 1"/>
          <p:cNvCxnSpPr/>
          <p:nvPr/>
        </p:nvCxnSpPr>
        <p:spPr>
          <a:xfrm>
            <a:off x="4642773" y="2091135"/>
            <a:ext cx="2981945" cy="1449451"/>
          </a:xfrm>
          <a:prstGeom prst="line">
            <a:avLst/>
          </a:prstGeom>
          <a:ln w="18873">
            <a:solidFill>
              <a:srgbClr val="F05AA7"/>
            </a:solidFill>
          </a:ln>
        </p:spPr>
      </p:cxnSp>
      <p:cxnSp>
        <p:nvCxnSpPr>
          <p:cNvPr id="32" name="structure ray to camera 2"/>
          <p:cNvCxnSpPr/>
          <p:nvPr/>
        </p:nvCxnSpPr>
        <p:spPr>
          <a:xfrm>
            <a:off x="5767608" y="2483695"/>
            <a:ext cx="3480193" cy="1049342"/>
          </a:xfrm>
          <a:prstGeom prst="line">
            <a:avLst/>
          </a:prstGeom>
          <a:ln w="18873">
            <a:solidFill>
              <a:srgbClr val="F05AA7"/>
            </a:solidFill>
          </a:ln>
        </p:spPr>
      </p:cxnSp>
      <p:cxnSp>
        <p:nvCxnSpPr>
          <p:cNvPr id="33" name="structure ray secondary"/>
          <p:cNvCxnSpPr/>
          <p:nvPr/>
        </p:nvCxnSpPr>
        <p:spPr>
          <a:xfrm>
            <a:off x="6447039" y="2415752"/>
            <a:ext cx="1170130" cy="1117285"/>
          </a:xfrm>
          <a:prstGeom prst="line">
            <a:avLst/>
          </a:prstGeom>
          <a:ln w="18873">
            <a:solidFill>
              <a:srgbClr val="F05AA7"/>
            </a:solidFill>
          </a:ln>
        </p:spPr>
      </p:cxnSp>
      <p:cxnSp>
        <p:nvCxnSpPr>
          <p:cNvPr id="34" name="exponential map to deformation field operation"/>
          <p:cNvCxnSpPr/>
          <p:nvPr/>
        </p:nvCxnSpPr>
        <p:spPr>
          <a:xfrm>
            <a:off x="4869250" y="7043427"/>
            <a:ext cx="430306" cy="0"/>
          </a:xfrm>
          <a:prstGeom prst="line">
            <a:avLst/>
          </a:prstGeom>
          <a:ln w="30196">
            <a:solidFill>
              <a:srgbClr val="0B9FE5"/>
            </a:solidFill>
            <a:tailEnd type="triangle" w="med" len="med"/>
          </a:ln>
        </p:spPr>
      </p:cxnSp>
      <p:cxnSp>
        <p:nvCxnSpPr>
          <p:cNvPr id="35" name="deformation field to exponential map gradient"/>
          <p:cNvCxnSpPr/>
          <p:nvPr/>
        </p:nvCxnSpPr>
        <p:spPr>
          <a:xfrm flipH="1">
            <a:off x="4869250" y="7171764"/>
            <a:ext cx="430306" cy="0"/>
          </a:xfrm>
          <a:prstGeom prst="line">
            <a:avLst/>
          </a:prstGeom>
          <a:ln w="30196">
            <a:solidFill>
              <a:srgbClr val="F56A00"/>
            </a:solidFill>
            <a:tailEnd type="triangle" w="med" len="med"/>
          </a:ln>
        </p:spPr>
      </p:cxnSp>
      <p:cxnSp>
        <p:nvCxnSpPr>
          <p:cNvPr id="36" name="weight vector to exponential map"/>
          <p:cNvCxnSpPr/>
          <p:nvPr/>
        </p:nvCxnSpPr>
        <p:spPr>
          <a:xfrm flipV="1">
            <a:off x="4446494" y="7330298"/>
            <a:ext cx="0" cy="309518"/>
          </a:xfrm>
          <a:prstGeom prst="line">
            <a:avLst/>
          </a:prstGeom>
          <a:ln w="30196">
            <a:solidFill>
              <a:srgbClr val="0B9FE5"/>
            </a:solidFill>
            <a:tailEnd type="triangle" w="med" len="med"/>
          </a:ln>
        </p:spPr>
      </p:cxnSp>
      <p:cxnSp>
        <p:nvCxnSpPr>
          <p:cNvPr id="37" name="exponential map to articulated pose"/>
          <p:cNvCxnSpPr/>
          <p:nvPr/>
        </p:nvCxnSpPr>
        <p:spPr>
          <a:xfrm flipV="1">
            <a:off x="4544634" y="6598023"/>
            <a:ext cx="0" cy="301969"/>
          </a:xfrm>
          <a:prstGeom prst="line">
            <a:avLst/>
          </a:prstGeom>
          <a:ln w="30196">
            <a:solidFill>
              <a:srgbClr val="0B9FE5"/>
            </a:solidFill>
            <a:tailEnd type="triangle" w="med" len="med"/>
          </a:ln>
        </p:spPr>
      </p:cxnSp>
      <p:cxnSp>
        <p:nvCxnSpPr>
          <p:cNvPr id="38" name="articulated pose to exponential map"/>
          <p:cNvCxnSpPr/>
          <p:nvPr/>
        </p:nvCxnSpPr>
        <p:spPr>
          <a:xfrm>
            <a:off x="4363452" y="6605572"/>
            <a:ext cx="0" cy="309519"/>
          </a:xfrm>
          <a:prstGeom prst="line">
            <a:avLst/>
          </a:prstGeom>
          <a:ln w="30196">
            <a:solidFill>
              <a:srgbClr val="F56A00"/>
            </a:solidFill>
            <a:tailEnd type="triangle" w="med" len="med"/>
          </a:ln>
        </p:spPr>
      </p:cxnSp>
      <p:pic>
        <p:nvPicPr>
          <p:cNvPr id="39" name="preoperative CT volume" descr="preop_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8" y="709627"/>
            <a:ext cx="3095182" cy="2997042"/>
          </a:xfrm>
          <a:prstGeom prst="rect">
            <a:avLst/>
          </a:prstGeom>
        </p:spPr>
      </p:pic>
      <p:pic>
        <p:nvPicPr>
          <p:cNvPr id="40" name="structure extraction composite" descr="structure_ex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105" y="785119"/>
            <a:ext cx="3208421" cy="2347809"/>
          </a:xfrm>
          <a:prstGeom prst="rect">
            <a:avLst/>
          </a:prstGeom>
        </p:spPr>
      </p:pic>
      <p:pic>
        <p:nvPicPr>
          <p:cNvPr id="41" name="stage 1 rendered X-ray 1" descr="top_render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900" y="611487"/>
            <a:ext cx="1585337" cy="1585337"/>
          </a:xfrm>
          <a:prstGeom prst="rect">
            <a:avLst/>
          </a:prstGeom>
        </p:spPr>
      </p:pic>
      <p:pic>
        <p:nvPicPr>
          <p:cNvPr id="42" name="stage 1 rendered X-ray 2" descr="top_render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900" y="2204373"/>
            <a:ext cx="1585337" cy="1585337"/>
          </a:xfrm>
          <a:prstGeom prst="rect">
            <a:avLst/>
          </a:prstGeom>
        </p:spPr>
      </p:pic>
      <p:pic>
        <p:nvPicPr>
          <p:cNvPr id="43" name="stage 1 real X-ray 1" descr="top_real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62021" y="611487"/>
            <a:ext cx="1585337" cy="1577788"/>
          </a:xfrm>
          <a:prstGeom prst="rect">
            <a:avLst/>
          </a:prstGeom>
        </p:spPr>
      </p:pic>
      <p:pic>
        <p:nvPicPr>
          <p:cNvPr id="44" name="stage 1 real X-ray 2" descr="top_real_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62021" y="2204373"/>
            <a:ext cx="1585337" cy="1585337"/>
          </a:xfrm>
          <a:prstGeom prst="rect">
            <a:avLst/>
          </a:prstGeom>
        </p:spPr>
      </p:pic>
      <p:pic>
        <p:nvPicPr>
          <p:cNvPr id="45" name="precomputed weight field" descr="weight_f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89" y="5057981"/>
            <a:ext cx="3804809" cy="3517939"/>
          </a:xfrm>
          <a:prstGeom prst="rect">
            <a:avLst/>
          </a:prstGeom>
        </p:spPr>
      </p:pic>
      <p:pic>
        <p:nvPicPr>
          <p:cNvPr id="46" name="deformed volume field" descr="deformed_volum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4458" y="5020235"/>
            <a:ext cx="3623628" cy="3563234"/>
          </a:xfrm>
          <a:prstGeom prst="rect">
            <a:avLst/>
          </a:prstGeom>
        </p:spPr>
      </p:pic>
      <p:pic>
        <p:nvPicPr>
          <p:cNvPr id="47" name="stage 2 rendered X-ray 1" descr="bottom_render_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89704" y="5405245"/>
            <a:ext cx="1585337" cy="1577788"/>
          </a:xfrm>
          <a:prstGeom prst="rect">
            <a:avLst/>
          </a:prstGeom>
        </p:spPr>
      </p:pic>
      <p:pic>
        <p:nvPicPr>
          <p:cNvPr id="48" name="stage 2 rendered X-ray 2" descr="bottom_render_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89704" y="6990583"/>
            <a:ext cx="1585337" cy="1592886"/>
          </a:xfrm>
          <a:prstGeom prst="rect">
            <a:avLst/>
          </a:prstGeom>
        </p:spPr>
      </p:pic>
      <p:pic>
        <p:nvPicPr>
          <p:cNvPr id="49" name="stage 2 real X-ray 1" descr="bottom_real_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54471" y="5405245"/>
            <a:ext cx="1585337" cy="1577788"/>
          </a:xfrm>
          <a:prstGeom prst="rect">
            <a:avLst/>
          </a:prstGeom>
        </p:spPr>
      </p:pic>
      <p:pic>
        <p:nvPicPr>
          <p:cNvPr id="50" name="stage 2 real X-ray 2" descr="bottom_real_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54471" y="6990583"/>
            <a:ext cx="1585337" cy="1592886"/>
          </a:xfrm>
          <a:prstGeom prst="rect">
            <a:avLst/>
          </a:prstGeom>
        </p:spPr>
      </p:pic>
      <p:sp>
        <p:nvSpPr>
          <p:cNvPr id="51" name="preoperative CT label"/>
          <p:cNvSpPr txBox="1"/>
          <p:nvPr/>
        </p:nvSpPr>
        <p:spPr>
          <a:xfrm>
            <a:off x="490699" y="3692779"/>
            <a:ext cx="2400653" cy="2868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4" b="0" i="0">
                <a:solidFill>
                  <a:srgbClr val="111111"/>
                </a:solidFill>
                <a:latin typeface="Liberation Sans"/>
              </a:rPr>
              <a:t>Preoperative CT (V)</a:t>
            </a:r>
          </a:p>
        </p:txBody>
      </p:sp>
      <p:sp>
        <p:nvSpPr>
          <p:cNvPr id="52" name="extract structure label"/>
          <p:cNvSpPr txBox="1"/>
          <p:nvPr/>
        </p:nvSpPr>
        <p:spPr>
          <a:xfrm>
            <a:off x="5027784" y="3179432"/>
            <a:ext cx="1887306" cy="2868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4" b="0" i="0">
                <a:solidFill>
                  <a:srgbClr val="111111"/>
                </a:solidFill>
                <a:latin typeface="Liberation Sans"/>
              </a:rPr>
              <a:t>Extract structure</a:t>
            </a:r>
          </a:p>
        </p:txBody>
      </p:sp>
      <p:sp>
        <p:nvSpPr>
          <p:cNvPr id="53" name="anchor structure expression"/>
          <p:cNvSpPr txBox="1"/>
          <p:nvPr/>
        </p:nvSpPr>
        <p:spPr>
          <a:xfrm>
            <a:off x="5314655" y="3393226"/>
            <a:ext cx="1132383" cy="3321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42" b="0" i="0">
                <a:solidFill>
                  <a:srgbClr val="111111"/>
                </a:solidFill>
                <a:latin typeface="Liberation Serif"/>
              </a:rPr>
              <a:t>S</a:t>
            </a:r>
            <a:r>
              <a:rPr sz="951" b="0" i="0" baseline="-25000">
                <a:solidFill>
                  <a:srgbClr val="111111"/>
                </a:solidFill>
                <a:latin typeface="Liberation Serif"/>
              </a:rPr>
              <a:t>anchor</a:t>
            </a:r>
            <a:r>
              <a:rPr sz="1842" b="0" i="0">
                <a:solidFill>
                  <a:srgbClr val="111111"/>
                </a:solidFill>
                <a:latin typeface="Noto Sans Math"/>
              </a:rPr>
              <a:t> ⊙ V</a:t>
            </a:r>
          </a:p>
        </p:txBody>
      </p:sp>
      <p:sp>
        <p:nvSpPr>
          <p:cNvPr id="54" name="camera 1 view frustum"/>
          <p:cNvSpPr/>
          <p:nvPr/>
        </p:nvSpPr>
        <p:spPr>
          <a:xfrm>
            <a:off x="7594521" y="3427348"/>
            <a:ext cx="369912" cy="256674"/>
          </a:xfrm>
          <a:custGeom>
            <a:avLst/>
            <a:gdLst/>
            <a:ahLst/>
            <a:cxnLst/>
            <a:rect l="l" t="t" r="r" b="b"/>
            <a:pathLst>
              <a:path w="369912" h="256674">
                <a:moveTo>
                  <a:pt x="0" y="0"/>
                </a:moveTo>
                <a:lnTo>
                  <a:pt x="369912" y="196280"/>
                </a:lnTo>
                <a:lnTo>
                  <a:pt x="67943" y="256674"/>
                </a:lnTo>
                <a:close/>
              </a:path>
            </a:pathLst>
          </a:custGeom>
          <a:solidFill>
            <a:srgbClr val="829496"/>
          </a:solidFill>
          <a:ln w="7549">
            <a:solidFill>
              <a:srgbClr val="586C6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camera 1 body"/>
          <p:cNvSpPr/>
          <p:nvPr/>
        </p:nvSpPr>
        <p:spPr>
          <a:xfrm>
            <a:off x="7337847" y="3427348"/>
            <a:ext cx="324617" cy="256674"/>
          </a:xfrm>
          <a:custGeom>
            <a:avLst/>
            <a:gdLst/>
            <a:ahLst/>
            <a:cxnLst/>
            <a:rect l="l" t="t" r="r" b="b"/>
            <a:pathLst>
              <a:path w="324617" h="256674">
                <a:moveTo>
                  <a:pt x="0" y="22648"/>
                </a:moveTo>
                <a:lnTo>
                  <a:pt x="256674" y="0"/>
                </a:lnTo>
                <a:lnTo>
                  <a:pt x="324617" y="256674"/>
                </a:lnTo>
                <a:lnTo>
                  <a:pt x="15099" y="218928"/>
                </a:lnTo>
                <a:close/>
              </a:path>
            </a:pathLst>
          </a:custGeom>
          <a:solidFill>
            <a:srgbClr val="596C6D"/>
          </a:solidFill>
          <a:ln w="7549">
            <a:solidFill>
              <a:srgbClr val="3D4D4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camera 1 pose pivot"/>
          <p:cNvSpPr/>
          <p:nvPr/>
        </p:nvSpPr>
        <p:spPr>
          <a:xfrm>
            <a:off x="7586972" y="3616079"/>
            <a:ext cx="105689" cy="105689"/>
          </a:xfrm>
          <a:prstGeom prst="ellipse">
            <a:avLst/>
          </a:prstGeom>
          <a:solidFill>
            <a:srgbClr val="14E1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7" name="camera 1 pose trace left"/>
          <p:cNvCxnSpPr/>
          <p:nvPr/>
        </p:nvCxnSpPr>
        <p:spPr>
          <a:xfrm flipH="1">
            <a:off x="7556775" y="3668923"/>
            <a:ext cx="75492" cy="75493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58" name="camera 1 pose trace left segment 2"/>
          <p:cNvCxnSpPr/>
          <p:nvPr/>
        </p:nvCxnSpPr>
        <p:spPr>
          <a:xfrm flipH="1">
            <a:off x="7526578" y="3744416"/>
            <a:ext cx="30197" cy="105689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59" name="camera 1 pose trace left segment 3"/>
          <p:cNvCxnSpPr/>
          <p:nvPr/>
        </p:nvCxnSpPr>
        <p:spPr>
          <a:xfrm flipH="1">
            <a:off x="7451086" y="3850105"/>
            <a:ext cx="75492" cy="22647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60" name="camera 1 pose trace left segment 4"/>
          <p:cNvCxnSpPr/>
          <p:nvPr/>
        </p:nvCxnSpPr>
        <p:spPr>
          <a:xfrm flipH="1">
            <a:off x="7352946" y="3872752"/>
            <a:ext cx="98140" cy="7550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61" name="camera 1 pose trace left segment 5"/>
          <p:cNvCxnSpPr/>
          <p:nvPr/>
        </p:nvCxnSpPr>
        <p:spPr>
          <a:xfrm flipH="1" flipV="1">
            <a:off x="7277453" y="3804809"/>
            <a:ext cx="75493" cy="75493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62" name="camera 1 pose trace left segment 6"/>
          <p:cNvCxnSpPr/>
          <p:nvPr/>
        </p:nvCxnSpPr>
        <p:spPr>
          <a:xfrm flipH="1" flipV="1">
            <a:off x="7239707" y="3797260"/>
            <a:ext cx="37746" cy="7549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63" name="camera 1 pose trace left segment 7"/>
          <p:cNvCxnSpPr/>
          <p:nvPr/>
        </p:nvCxnSpPr>
        <p:spPr>
          <a:xfrm flipH="1">
            <a:off x="7179313" y="3797260"/>
            <a:ext cx="60394" cy="67943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64" name="camera 1 pose trace left segment 8"/>
          <p:cNvCxnSpPr/>
          <p:nvPr/>
        </p:nvCxnSpPr>
        <p:spPr>
          <a:xfrm flipH="1">
            <a:off x="7171764" y="3865203"/>
            <a:ext cx="7549" cy="75492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65" name="camera 1 pose trace left segment 9"/>
          <p:cNvCxnSpPr/>
          <p:nvPr/>
        </p:nvCxnSpPr>
        <p:spPr>
          <a:xfrm flipH="1">
            <a:off x="7073624" y="3940695"/>
            <a:ext cx="98140" cy="0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66" name="camera 1 pose trace right"/>
          <p:cNvCxnSpPr/>
          <p:nvPr/>
        </p:nvCxnSpPr>
        <p:spPr>
          <a:xfrm>
            <a:off x="7602070" y="3684022"/>
            <a:ext cx="75492" cy="75492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67" name="camera 1 pose trace right segment 2"/>
          <p:cNvCxnSpPr/>
          <p:nvPr/>
        </p:nvCxnSpPr>
        <p:spPr>
          <a:xfrm>
            <a:off x="7677562" y="3759514"/>
            <a:ext cx="0" cy="105689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68" name="camera 1 pose trace right segment 3"/>
          <p:cNvCxnSpPr/>
          <p:nvPr/>
        </p:nvCxnSpPr>
        <p:spPr>
          <a:xfrm>
            <a:off x="7677562" y="3865203"/>
            <a:ext cx="90591" cy="30197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69" name="camera 1 pose trace right segment 4"/>
          <p:cNvCxnSpPr/>
          <p:nvPr/>
        </p:nvCxnSpPr>
        <p:spPr>
          <a:xfrm>
            <a:off x="7768153" y="3895400"/>
            <a:ext cx="83042" cy="0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70" name="camera 1 pose trace right segment 5"/>
          <p:cNvCxnSpPr/>
          <p:nvPr/>
        </p:nvCxnSpPr>
        <p:spPr>
          <a:xfrm flipV="1">
            <a:off x="7851195" y="3835006"/>
            <a:ext cx="15098" cy="60394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71" name="camera 1 pose trace right segment 6"/>
          <p:cNvCxnSpPr/>
          <p:nvPr/>
        </p:nvCxnSpPr>
        <p:spPr>
          <a:xfrm>
            <a:off x="7866293" y="3835006"/>
            <a:ext cx="52845" cy="15099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sp>
        <p:nvSpPr>
          <p:cNvPr id="72" name="camera 1 pose endpoint"/>
          <p:cNvSpPr/>
          <p:nvPr/>
        </p:nvSpPr>
        <p:spPr>
          <a:xfrm>
            <a:off x="7028329" y="3895400"/>
            <a:ext cx="90590" cy="90590"/>
          </a:xfrm>
          <a:prstGeom prst="ellipse">
            <a:avLst/>
          </a:prstGeom>
          <a:solidFill>
            <a:srgbClr val="14E1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camera 1 pose endpoint 2"/>
          <p:cNvSpPr/>
          <p:nvPr/>
        </p:nvSpPr>
        <p:spPr>
          <a:xfrm>
            <a:off x="7881391" y="3812359"/>
            <a:ext cx="75492" cy="75492"/>
          </a:xfrm>
          <a:prstGeom prst="ellipse">
            <a:avLst/>
          </a:prstGeom>
          <a:solidFill>
            <a:srgbClr val="14E1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camera matrix 1"/>
          <p:cNvSpPr txBox="1"/>
          <p:nvPr/>
        </p:nvSpPr>
        <p:spPr>
          <a:xfrm>
            <a:off x="7375593" y="3652315"/>
            <a:ext cx="717176" cy="3623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80" b="0" i="0">
                <a:solidFill>
                  <a:srgbClr val="111111"/>
                </a:solidFill>
                <a:latin typeface="Noto Sans Math"/>
              </a:rPr>
              <a:t>Π̂₁</a:t>
            </a:r>
          </a:p>
        </p:txBody>
      </p:sp>
      <p:sp>
        <p:nvSpPr>
          <p:cNvPr id="75" name="camera 2 view frustum"/>
          <p:cNvSpPr/>
          <p:nvPr/>
        </p:nvSpPr>
        <p:spPr>
          <a:xfrm>
            <a:off x="8847692" y="3238617"/>
            <a:ext cx="369912" cy="256674"/>
          </a:xfrm>
          <a:custGeom>
            <a:avLst/>
            <a:gdLst/>
            <a:ahLst/>
            <a:cxnLst/>
            <a:rect l="l" t="t" r="r" b="b"/>
            <a:pathLst>
              <a:path w="369912" h="256674">
                <a:moveTo>
                  <a:pt x="0" y="0"/>
                </a:moveTo>
                <a:lnTo>
                  <a:pt x="369912" y="196280"/>
                </a:lnTo>
                <a:lnTo>
                  <a:pt x="67943" y="256674"/>
                </a:lnTo>
                <a:close/>
              </a:path>
            </a:pathLst>
          </a:custGeom>
          <a:solidFill>
            <a:srgbClr val="829496"/>
          </a:solidFill>
          <a:ln w="7549">
            <a:solidFill>
              <a:srgbClr val="586C6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camera 2 body"/>
          <p:cNvSpPr/>
          <p:nvPr/>
        </p:nvSpPr>
        <p:spPr>
          <a:xfrm>
            <a:off x="8591019" y="3238617"/>
            <a:ext cx="324616" cy="256674"/>
          </a:xfrm>
          <a:custGeom>
            <a:avLst/>
            <a:gdLst/>
            <a:ahLst/>
            <a:cxnLst/>
            <a:rect l="l" t="t" r="r" b="b"/>
            <a:pathLst>
              <a:path w="324616" h="256674">
                <a:moveTo>
                  <a:pt x="0" y="22648"/>
                </a:moveTo>
                <a:lnTo>
                  <a:pt x="256673" y="0"/>
                </a:lnTo>
                <a:lnTo>
                  <a:pt x="324616" y="256674"/>
                </a:lnTo>
                <a:lnTo>
                  <a:pt x="15098" y="218928"/>
                </a:lnTo>
                <a:close/>
              </a:path>
            </a:pathLst>
          </a:custGeom>
          <a:solidFill>
            <a:srgbClr val="596C6D"/>
          </a:solidFill>
          <a:ln w="7549">
            <a:solidFill>
              <a:srgbClr val="3D4D4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camera 2 pose pivot"/>
          <p:cNvSpPr/>
          <p:nvPr/>
        </p:nvSpPr>
        <p:spPr>
          <a:xfrm>
            <a:off x="8840143" y="3427348"/>
            <a:ext cx="105689" cy="105689"/>
          </a:xfrm>
          <a:prstGeom prst="ellipse">
            <a:avLst/>
          </a:prstGeom>
          <a:solidFill>
            <a:srgbClr val="14E1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8" name="camera 2 pose trace left"/>
          <p:cNvCxnSpPr/>
          <p:nvPr/>
        </p:nvCxnSpPr>
        <p:spPr>
          <a:xfrm flipH="1">
            <a:off x="8809946" y="3480193"/>
            <a:ext cx="75493" cy="75492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79" name="camera 2 pose trace left segment 2"/>
          <p:cNvCxnSpPr/>
          <p:nvPr/>
        </p:nvCxnSpPr>
        <p:spPr>
          <a:xfrm flipH="1">
            <a:off x="8779749" y="3555685"/>
            <a:ext cx="30197" cy="105689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80" name="camera 2 pose trace left segment 3"/>
          <p:cNvCxnSpPr/>
          <p:nvPr/>
        </p:nvCxnSpPr>
        <p:spPr>
          <a:xfrm flipH="1">
            <a:off x="8704257" y="3661374"/>
            <a:ext cx="75492" cy="22648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81" name="camera 2 pose trace left segment 4"/>
          <p:cNvCxnSpPr/>
          <p:nvPr/>
        </p:nvCxnSpPr>
        <p:spPr>
          <a:xfrm flipH="1">
            <a:off x="8606117" y="3684022"/>
            <a:ext cx="98140" cy="7549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82" name="camera 2 pose trace left segment 5"/>
          <p:cNvCxnSpPr/>
          <p:nvPr/>
        </p:nvCxnSpPr>
        <p:spPr>
          <a:xfrm flipH="1" flipV="1">
            <a:off x="8530625" y="3616079"/>
            <a:ext cx="75492" cy="75492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83" name="camera 2 pose trace left segment 6"/>
          <p:cNvCxnSpPr/>
          <p:nvPr/>
        </p:nvCxnSpPr>
        <p:spPr>
          <a:xfrm flipH="1" flipV="1">
            <a:off x="8492879" y="3608530"/>
            <a:ext cx="37746" cy="7549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84" name="camera 2 pose trace left segment 7"/>
          <p:cNvCxnSpPr/>
          <p:nvPr/>
        </p:nvCxnSpPr>
        <p:spPr>
          <a:xfrm flipH="1">
            <a:off x="8432485" y="3608530"/>
            <a:ext cx="60394" cy="67943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85" name="camera 2 pose trace left segment 8"/>
          <p:cNvCxnSpPr/>
          <p:nvPr/>
        </p:nvCxnSpPr>
        <p:spPr>
          <a:xfrm flipH="1">
            <a:off x="8424936" y="3676473"/>
            <a:ext cx="7549" cy="75492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86" name="camera 2 pose trace left segment 9"/>
          <p:cNvCxnSpPr/>
          <p:nvPr/>
        </p:nvCxnSpPr>
        <p:spPr>
          <a:xfrm flipH="1">
            <a:off x="8326796" y="3751965"/>
            <a:ext cx="98140" cy="0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87" name="camera 2 pose trace right"/>
          <p:cNvCxnSpPr/>
          <p:nvPr/>
        </p:nvCxnSpPr>
        <p:spPr>
          <a:xfrm>
            <a:off x="8855242" y="3495291"/>
            <a:ext cx="75492" cy="75492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88" name="camera 2 pose trace right segment 2"/>
          <p:cNvCxnSpPr/>
          <p:nvPr/>
        </p:nvCxnSpPr>
        <p:spPr>
          <a:xfrm>
            <a:off x="8930734" y="3570783"/>
            <a:ext cx="0" cy="105690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89" name="camera 2 pose trace right segment 3"/>
          <p:cNvCxnSpPr/>
          <p:nvPr/>
        </p:nvCxnSpPr>
        <p:spPr>
          <a:xfrm>
            <a:off x="8930734" y="3676473"/>
            <a:ext cx="90591" cy="30196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90" name="camera 2 pose trace right segment 4"/>
          <p:cNvCxnSpPr/>
          <p:nvPr/>
        </p:nvCxnSpPr>
        <p:spPr>
          <a:xfrm>
            <a:off x="9021325" y="3706669"/>
            <a:ext cx="83041" cy="0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91" name="camera 2 pose trace right segment 5"/>
          <p:cNvCxnSpPr/>
          <p:nvPr/>
        </p:nvCxnSpPr>
        <p:spPr>
          <a:xfrm flipV="1">
            <a:off x="9104366" y="3646276"/>
            <a:ext cx="15099" cy="60393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cxnSp>
        <p:nvCxnSpPr>
          <p:cNvPr id="92" name="camera 2 pose trace right segment 6"/>
          <p:cNvCxnSpPr/>
          <p:nvPr/>
        </p:nvCxnSpPr>
        <p:spPr>
          <a:xfrm>
            <a:off x="9119465" y="3646276"/>
            <a:ext cx="52844" cy="15098"/>
          </a:xfrm>
          <a:prstGeom prst="line">
            <a:avLst/>
          </a:prstGeom>
          <a:ln w="30196">
            <a:solidFill>
              <a:srgbClr val="14E100"/>
            </a:solidFill>
          </a:ln>
        </p:spPr>
      </p:cxnSp>
      <p:sp>
        <p:nvSpPr>
          <p:cNvPr id="93" name="camera 2 pose endpoint"/>
          <p:cNvSpPr/>
          <p:nvPr/>
        </p:nvSpPr>
        <p:spPr>
          <a:xfrm>
            <a:off x="8281500" y="3706669"/>
            <a:ext cx="90590" cy="90590"/>
          </a:xfrm>
          <a:prstGeom prst="ellipse">
            <a:avLst/>
          </a:prstGeom>
          <a:solidFill>
            <a:srgbClr val="14E1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camera 2 pose endpoint 2"/>
          <p:cNvSpPr/>
          <p:nvPr/>
        </p:nvSpPr>
        <p:spPr>
          <a:xfrm>
            <a:off x="9134563" y="3623628"/>
            <a:ext cx="75492" cy="75492"/>
          </a:xfrm>
          <a:prstGeom prst="ellipse">
            <a:avLst/>
          </a:prstGeom>
          <a:solidFill>
            <a:srgbClr val="14E1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camera matrix 2"/>
          <p:cNvSpPr txBox="1"/>
          <p:nvPr/>
        </p:nvSpPr>
        <p:spPr>
          <a:xfrm>
            <a:off x="8628765" y="3463584"/>
            <a:ext cx="717176" cy="3623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80" b="0" i="0">
                <a:solidFill>
                  <a:srgbClr val="111111"/>
                </a:solidFill>
                <a:latin typeface="Noto Sans Math"/>
              </a:rPr>
              <a:t>Π̂₂</a:t>
            </a:r>
          </a:p>
        </p:txBody>
      </p:sp>
      <p:sp>
        <p:nvSpPr>
          <p:cNvPr id="96" name="differentiable X-ray renderer 1"/>
          <p:cNvSpPr/>
          <p:nvPr/>
        </p:nvSpPr>
        <p:spPr>
          <a:xfrm>
            <a:off x="9285547" y="1215425"/>
            <a:ext cx="837964" cy="415207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6608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differentiable X-ray renderer 1 text 1"/>
          <p:cNvSpPr txBox="1"/>
          <p:nvPr/>
        </p:nvSpPr>
        <p:spPr>
          <a:xfrm>
            <a:off x="9285547" y="1263438"/>
            <a:ext cx="837964" cy="1796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10" b="0" i="1">
                <a:solidFill>
                  <a:srgbClr val="111111"/>
                </a:solidFill>
                <a:latin typeface="Liberation Sans"/>
              </a:rPr>
              <a:t>Diff. X-ray</a:t>
            </a:r>
          </a:p>
        </p:txBody>
      </p:sp>
      <p:sp>
        <p:nvSpPr>
          <p:cNvPr id="98" name="differentiable X-ray renderer 1 text 2"/>
          <p:cNvSpPr txBox="1"/>
          <p:nvPr/>
        </p:nvSpPr>
        <p:spPr>
          <a:xfrm>
            <a:off x="9285547" y="1429521"/>
            <a:ext cx="837964" cy="1796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10" b="0" i="1">
                <a:solidFill>
                  <a:srgbClr val="111111"/>
                </a:solidFill>
                <a:latin typeface="Liberation Sans"/>
              </a:rPr>
              <a:t>renderer</a:t>
            </a:r>
          </a:p>
        </p:txBody>
      </p:sp>
      <p:sp>
        <p:nvSpPr>
          <p:cNvPr id="99" name="projection formula 1"/>
          <p:cNvSpPr txBox="1"/>
          <p:nvPr/>
        </p:nvSpPr>
        <p:spPr>
          <a:xfrm>
            <a:off x="9285547" y="909530"/>
            <a:ext cx="837964" cy="317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42" b="0" i="1">
                <a:solidFill>
                  <a:srgbClr val="111111"/>
                </a:solidFill>
                <a:latin typeface="Noto Sans Math"/>
              </a:rPr>
              <a:t>𝒫(Π̂₁)</a:t>
            </a:r>
          </a:p>
        </p:txBody>
      </p:sp>
      <p:sp>
        <p:nvSpPr>
          <p:cNvPr id="100" name="equation 3 label 1"/>
          <p:cNvSpPr txBox="1"/>
          <p:nvPr/>
        </p:nvSpPr>
        <p:spPr>
          <a:xfrm>
            <a:off x="9285547" y="1632444"/>
            <a:ext cx="837964" cy="2868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64" b="0" i="0">
                <a:solidFill>
                  <a:srgbClr val="111111"/>
                </a:solidFill>
                <a:latin typeface="Liberation Sans"/>
              </a:rPr>
              <a:t>Eq. (3)</a:t>
            </a:r>
          </a:p>
        </p:txBody>
      </p:sp>
      <p:sp>
        <p:nvSpPr>
          <p:cNvPr id="101" name="differentiable X-ray renderer 2"/>
          <p:cNvSpPr/>
          <p:nvPr/>
        </p:nvSpPr>
        <p:spPr>
          <a:xfrm>
            <a:off x="9285547" y="2785664"/>
            <a:ext cx="837964" cy="415207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6608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differentiable X-ray renderer 2 text 1"/>
          <p:cNvSpPr txBox="1"/>
          <p:nvPr/>
        </p:nvSpPr>
        <p:spPr>
          <a:xfrm>
            <a:off x="9285547" y="2833677"/>
            <a:ext cx="837964" cy="1796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10" b="0" i="1">
                <a:solidFill>
                  <a:srgbClr val="111111"/>
                </a:solidFill>
                <a:latin typeface="Liberation Sans"/>
              </a:rPr>
              <a:t>Diff. X-ray</a:t>
            </a:r>
          </a:p>
        </p:txBody>
      </p:sp>
      <p:sp>
        <p:nvSpPr>
          <p:cNvPr id="103" name="differentiable X-ray renderer 2 text 2"/>
          <p:cNvSpPr txBox="1"/>
          <p:nvPr/>
        </p:nvSpPr>
        <p:spPr>
          <a:xfrm>
            <a:off x="9285547" y="2999760"/>
            <a:ext cx="837964" cy="1796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10" b="0" i="1">
                <a:solidFill>
                  <a:srgbClr val="111111"/>
                </a:solidFill>
                <a:latin typeface="Liberation Sans"/>
              </a:rPr>
              <a:t>renderer</a:t>
            </a:r>
          </a:p>
        </p:txBody>
      </p:sp>
      <p:sp>
        <p:nvSpPr>
          <p:cNvPr id="104" name="projection formula 2"/>
          <p:cNvSpPr txBox="1"/>
          <p:nvPr/>
        </p:nvSpPr>
        <p:spPr>
          <a:xfrm>
            <a:off x="9285547" y="2479769"/>
            <a:ext cx="837964" cy="317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42" b="0" i="1">
                <a:solidFill>
                  <a:srgbClr val="111111"/>
                </a:solidFill>
                <a:latin typeface="Noto Sans Math"/>
              </a:rPr>
              <a:t>𝒫(Π̂₂)</a:t>
            </a:r>
          </a:p>
        </p:txBody>
      </p:sp>
      <p:sp>
        <p:nvSpPr>
          <p:cNvPr id="105" name="equation 3 label 2"/>
          <p:cNvSpPr txBox="1"/>
          <p:nvPr/>
        </p:nvSpPr>
        <p:spPr>
          <a:xfrm>
            <a:off x="9285547" y="3202683"/>
            <a:ext cx="837964" cy="2868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64" b="0" i="0">
                <a:solidFill>
                  <a:srgbClr val="111111"/>
                </a:solidFill>
                <a:latin typeface="Liberation Sans"/>
              </a:rPr>
              <a:t>Eq. (3)</a:t>
            </a:r>
          </a:p>
        </p:txBody>
      </p:sp>
      <p:cxnSp>
        <p:nvCxnSpPr>
          <p:cNvPr id="106" name="camera 1 to renderer 1 operation"/>
          <p:cNvCxnSpPr/>
          <p:nvPr/>
        </p:nvCxnSpPr>
        <p:spPr>
          <a:xfrm flipH="1">
            <a:off x="7398241" y="3555685"/>
            <a:ext cx="241575" cy="0"/>
          </a:xfrm>
          <a:prstGeom prst="line">
            <a:avLst/>
          </a:prstGeom>
          <a:ln w="30196">
            <a:solidFill>
              <a:srgbClr val="0B9FE5"/>
            </a:solidFill>
          </a:ln>
        </p:spPr>
      </p:cxnSp>
      <p:cxnSp>
        <p:nvCxnSpPr>
          <p:cNvPr id="107" name="camera 1 to renderer 1 operation segment 2"/>
          <p:cNvCxnSpPr/>
          <p:nvPr/>
        </p:nvCxnSpPr>
        <p:spPr>
          <a:xfrm flipV="1">
            <a:off x="7398241" y="1358860"/>
            <a:ext cx="0" cy="2196825"/>
          </a:xfrm>
          <a:prstGeom prst="line">
            <a:avLst/>
          </a:prstGeom>
          <a:ln w="30196">
            <a:solidFill>
              <a:srgbClr val="0B9FE5"/>
            </a:solidFill>
          </a:ln>
        </p:spPr>
      </p:cxnSp>
      <p:cxnSp>
        <p:nvCxnSpPr>
          <p:cNvPr id="108" name="camera 1 to renderer 1 operation segment 3"/>
          <p:cNvCxnSpPr/>
          <p:nvPr/>
        </p:nvCxnSpPr>
        <p:spPr>
          <a:xfrm>
            <a:off x="7398241" y="1358860"/>
            <a:ext cx="1872208" cy="0"/>
          </a:xfrm>
          <a:prstGeom prst="line">
            <a:avLst/>
          </a:prstGeom>
          <a:ln w="30196">
            <a:solidFill>
              <a:srgbClr val="0B9FE5"/>
            </a:solidFill>
            <a:tailEnd type="triangle" w="med" len="med"/>
          </a:ln>
        </p:spPr>
      </p:cxnSp>
      <p:cxnSp>
        <p:nvCxnSpPr>
          <p:cNvPr id="109" name="renderer 1 to camera 1 gradient"/>
          <p:cNvCxnSpPr/>
          <p:nvPr/>
        </p:nvCxnSpPr>
        <p:spPr>
          <a:xfrm flipH="1">
            <a:off x="7519029" y="1479648"/>
            <a:ext cx="1751420" cy="0"/>
          </a:xfrm>
          <a:prstGeom prst="line">
            <a:avLst/>
          </a:prstGeom>
          <a:ln w="30196">
            <a:solidFill>
              <a:srgbClr val="F56A00"/>
            </a:solidFill>
          </a:ln>
        </p:spPr>
      </p:cxnSp>
      <p:cxnSp>
        <p:nvCxnSpPr>
          <p:cNvPr id="110" name="renderer 1 to camera 1 gradient segment 2"/>
          <p:cNvCxnSpPr/>
          <p:nvPr/>
        </p:nvCxnSpPr>
        <p:spPr>
          <a:xfrm>
            <a:off x="7519029" y="1479648"/>
            <a:ext cx="0" cy="1947700"/>
          </a:xfrm>
          <a:prstGeom prst="line">
            <a:avLst/>
          </a:prstGeom>
          <a:ln w="30196">
            <a:solidFill>
              <a:srgbClr val="F56A00"/>
            </a:solidFill>
            <a:tailEnd type="triangle" w="med" len="med"/>
          </a:ln>
        </p:spPr>
      </p:cxnSp>
      <p:cxnSp>
        <p:nvCxnSpPr>
          <p:cNvPr id="111" name="camera 2 to renderer 2 operation"/>
          <p:cNvCxnSpPr/>
          <p:nvPr/>
        </p:nvCxnSpPr>
        <p:spPr>
          <a:xfrm flipH="1">
            <a:off x="8643863" y="3533037"/>
            <a:ext cx="551094" cy="0"/>
          </a:xfrm>
          <a:prstGeom prst="line">
            <a:avLst/>
          </a:prstGeom>
          <a:ln w="30196">
            <a:solidFill>
              <a:srgbClr val="0B9FE5"/>
            </a:solidFill>
          </a:ln>
        </p:spPr>
      </p:cxnSp>
      <p:cxnSp>
        <p:nvCxnSpPr>
          <p:cNvPr id="112" name="camera 2 to renderer 2 operation segment 2"/>
          <p:cNvCxnSpPr/>
          <p:nvPr/>
        </p:nvCxnSpPr>
        <p:spPr>
          <a:xfrm flipV="1">
            <a:off x="8643863" y="2936648"/>
            <a:ext cx="0" cy="596389"/>
          </a:xfrm>
          <a:prstGeom prst="line">
            <a:avLst/>
          </a:prstGeom>
          <a:ln w="30196">
            <a:solidFill>
              <a:srgbClr val="0B9FE5"/>
            </a:solidFill>
          </a:ln>
        </p:spPr>
      </p:cxnSp>
      <p:cxnSp>
        <p:nvCxnSpPr>
          <p:cNvPr id="113" name="camera 2 to renderer 2 operation segment 3"/>
          <p:cNvCxnSpPr/>
          <p:nvPr/>
        </p:nvCxnSpPr>
        <p:spPr>
          <a:xfrm>
            <a:off x="8643863" y="2936648"/>
            <a:ext cx="626586" cy="0"/>
          </a:xfrm>
          <a:prstGeom prst="line">
            <a:avLst/>
          </a:prstGeom>
          <a:ln w="30196">
            <a:solidFill>
              <a:srgbClr val="0B9FE5"/>
            </a:solidFill>
            <a:tailEnd type="triangle" w="med" len="med"/>
          </a:ln>
        </p:spPr>
      </p:cxnSp>
      <p:cxnSp>
        <p:nvCxnSpPr>
          <p:cNvPr id="114" name="renderer 2 to camera 2 gradient"/>
          <p:cNvCxnSpPr/>
          <p:nvPr/>
        </p:nvCxnSpPr>
        <p:spPr>
          <a:xfrm flipH="1">
            <a:off x="8764651" y="3057436"/>
            <a:ext cx="505798" cy="0"/>
          </a:xfrm>
          <a:prstGeom prst="line">
            <a:avLst/>
          </a:prstGeom>
          <a:ln w="30196">
            <a:solidFill>
              <a:srgbClr val="F56A00"/>
            </a:solidFill>
          </a:ln>
        </p:spPr>
      </p:cxnSp>
      <p:cxnSp>
        <p:nvCxnSpPr>
          <p:cNvPr id="115" name="renderer 2 to camera 2 gradient segment 2"/>
          <p:cNvCxnSpPr/>
          <p:nvPr/>
        </p:nvCxnSpPr>
        <p:spPr>
          <a:xfrm>
            <a:off x="8764651" y="3057436"/>
            <a:ext cx="0" cy="369912"/>
          </a:xfrm>
          <a:prstGeom prst="line">
            <a:avLst/>
          </a:prstGeom>
          <a:ln w="30196">
            <a:solidFill>
              <a:srgbClr val="F56A00"/>
            </a:solidFill>
            <a:tailEnd type="triangle" w="med" len="med"/>
          </a:ln>
        </p:spPr>
      </p:cxnSp>
      <p:cxnSp>
        <p:nvCxnSpPr>
          <p:cNvPr id="116" name="renderer 1 to rendered X-ray operation"/>
          <p:cNvCxnSpPr/>
          <p:nvPr/>
        </p:nvCxnSpPr>
        <p:spPr>
          <a:xfrm>
            <a:off x="10131061" y="1358860"/>
            <a:ext cx="573741" cy="0"/>
          </a:xfrm>
          <a:prstGeom prst="line">
            <a:avLst/>
          </a:prstGeom>
          <a:ln w="30196">
            <a:solidFill>
              <a:srgbClr val="0B9FE5"/>
            </a:solidFill>
            <a:tailEnd type="triangle" w="med" len="med"/>
          </a:ln>
        </p:spPr>
      </p:cxnSp>
      <p:cxnSp>
        <p:nvCxnSpPr>
          <p:cNvPr id="117" name="renderer 1 to rendered X-ray gradient"/>
          <p:cNvCxnSpPr/>
          <p:nvPr/>
        </p:nvCxnSpPr>
        <p:spPr>
          <a:xfrm flipH="1">
            <a:off x="10131061" y="1479648"/>
            <a:ext cx="573741" cy="0"/>
          </a:xfrm>
          <a:prstGeom prst="line">
            <a:avLst/>
          </a:prstGeom>
          <a:ln w="30196">
            <a:solidFill>
              <a:srgbClr val="F56A00"/>
            </a:solidFill>
            <a:tailEnd type="triangle" w="med" len="med"/>
          </a:ln>
        </p:spPr>
      </p:cxnSp>
      <p:cxnSp>
        <p:nvCxnSpPr>
          <p:cNvPr id="118" name="renderer 2 to rendered X-ray operation"/>
          <p:cNvCxnSpPr/>
          <p:nvPr/>
        </p:nvCxnSpPr>
        <p:spPr>
          <a:xfrm>
            <a:off x="10131061" y="2936648"/>
            <a:ext cx="573741" cy="0"/>
          </a:xfrm>
          <a:prstGeom prst="line">
            <a:avLst/>
          </a:prstGeom>
          <a:ln w="30196">
            <a:solidFill>
              <a:srgbClr val="0B9FE5"/>
            </a:solidFill>
            <a:tailEnd type="triangle" w="med" len="med"/>
          </a:ln>
        </p:spPr>
      </p:cxnSp>
      <p:cxnSp>
        <p:nvCxnSpPr>
          <p:cNvPr id="119" name="renderer 2 to rendered X-ray gradient"/>
          <p:cNvCxnSpPr/>
          <p:nvPr/>
        </p:nvCxnSpPr>
        <p:spPr>
          <a:xfrm flipH="1">
            <a:off x="10131061" y="3057436"/>
            <a:ext cx="573741" cy="0"/>
          </a:xfrm>
          <a:prstGeom prst="line">
            <a:avLst/>
          </a:prstGeom>
          <a:ln w="30196">
            <a:solidFill>
              <a:srgbClr val="F56A00"/>
            </a:solidFill>
            <a:tailEnd type="triangle" w="med" len="med"/>
          </a:ln>
        </p:spPr>
      </p:cxnSp>
      <p:cxnSp>
        <p:nvCxnSpPr>
          <p:cNvPr id="120" name="stage 1 loss 1 operation"/>
          <p:cNvCxnSpPr/>
          <p:nvPr/>
        </p:nvCxnSpPr>
        <p:spPr>
          <a:xfrm>
            <a:off x="12320336" y="1358860"/>
            <a:ext cx="626586" cy="0"/>
          </a:xfrm>
          <a:prstGeom prst="line">
            <a:avLst/>
          </a:prstGeom>
          <a:ln w="30196">
            <a:solidFill>
              <a:srgbClr val="0B9FE5"/>
            </a:solidFill>
            <a:tailEnd type="triangle" w="med" len="med"/>
          </a:ln>
        </p:spPr>
      </p:cxnSp>
      <p:cxnSp>
        <p:nvCxnSpPr>
          <p:cNvPr id="121" name="stage 1 loss 1 gradient"/>
          <p:cNvCxnSpPr/>
          <p:nvPr/>
        </p:nvCxnSpPr>
        <p:spPr>
          <a:xfrm flipH="1">
            <a:off x="12320336" y="1472099"/>
            <a:ext cx="626586" cy="0"/>
          </a:xfrm>
          <a:prstGeom prst="line">
            <a:avLst/>
          </a:prstGeom>
          <a:ln w="30196">
            <a:solidFill>
              <a:srgbClr val="F56A00"/>
            </a:solidFill>
            <a:tailEnd type="triangle" w="med" len="med"/>
          </a:ln>
        </p:spPr>
      </p:cxnSp>
      <p:sp>
        <p:nvSpPr>
          <p:cNvPr id="122" name="stage 1 loss 1 symbol"/>
          <p:cNvSpPr txBox="1"/>
          <p:nvPr/>
        </p:nvSpPr>
        <p:spPr>
          <a:xfrm>
            <a:off x="12320336" y="995591"/>
            <a:ext cx="626585" cy="3774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139" b="0" i="1">
                <a:solidFill>
                  <a:srgbClr val="111111"/>
                </a:solidFill>
                <a:latin typeface="Noto Sans Math"/>
              </a:rPr>
              <a:t>ℒ</a:t>
            </a:r>
          </a:p>
        </p:txBody>
      </p:sp>
      <p:cxnSp>
        <p:nvCxnSpPr>
          <p:cNvPr id="123" name="stage 1 loss 2 operation"/>
          <p:cNvCxnSpPr/>
          <p:nvPr/>
        </p:nvCxnSpPr>
        <p:spPr>
          <a:xfrm>
            <a:off x="12320336" y="2936648"/>
            <a:ext cx="626586" cy="0"/>
          </a:xfrm>
          <a:prstGeom prst="line">
            <a:avLst/>
          </a:prstGeom>
          <a:ln w="30196">
            <a:solidFill>
              <a:srgbClr val="0B9FE5"/>
            </a:solidFill>
            <a:tailEnd type="triangle" w="med" len="med"/>
          </a:ln>
        </p:spPr>
      </p:cxnSp>
      <p:cxnSp>
        <p:nvCxnSpPr>
          <p:cNvPr id="124" name="stage 1 loss 2 gradient"/>
          <p:cNvCxnSpPr/>
          <p:nvPr/>
        </p:nvCxnSpPr>
        <p:spPr>
          <a:xfrm flipH="1">
            <a:off x="12320336" y="3049887"/>
            <a:ext cx="626586" cy="0"/>
          </a:xfrm>
          <a:prstGeom prst="line">
            <a:avLst/>
          </a:prstGeom>
          <a:ln w="30196">
            <a:solidFill>
              <a:srgbClr val="F56A00"/>
            </a:solidFill>
            <a:tailEnd type="triangle" w="med" len="med"/>
          </a:ln>
        </p:spPr>
      </p:cxnSp>
      <p:sp>
        <p:nvSpPr>
          <p:cNvPr id="125" name="stage 1 loss 2 symbol"/>
          <p:cNvSpPr txBox="1"/>
          <p:nvPr/>
        </p:nvSpPr>
        <p:spPr>
          <a:xfrm>
            <a:off x="12320336" y="2573380"/>
            <a:ext cx="626585" cy="3774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139" b="0" i="1">
                <a:solidFill>
                  <a:srgbClr val="111111"/>
                </a:solidFill>
                <a:latin typeface="Noto Sans Math"/>
              </a:rPr>
              <a:t>ℒ</a:t>
            </a:r>
          </a:p>
        </p:txBody>
      </p:sp>
      <p:sp>
        <p:nvSpPr>
          <p:cNvPr id="126" name="Rendered X-ray heading"/>
          <p:cNvSpPr txBox="1"/>
          <p:nvPr/>
        </p:nvSpPr>
        <p:spPr>
          <a:xfrm>
            <a:off x="10568916" y="385614"/>
            <a:ext cx="1887306" cy="271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45" b="0" i="0">
                <a:solidFill>
                  <a:srgbClr val="111111"/>
                </a:solidFill>
                <a:latin typeface="Liberation Sans"/>
              </a:rPr>
              <a:t>Rendered X-ray</a:t>
            </a:r>
          </a:p>
        </p:txBody>
      </p:sp>
      <p:sp>
        <p:nvSpPr>
          <p:cNvPr id="127" name="Real X-ray heading"/>
          <p:cNvSpPr txBox="1"/>
          <p:nvPr/>
        </p:nvSpPr>
        <p:spPr>
          <a:xfrm>
            <a:off x="12811036" y="385614"/>
            <a:ext cx="1887306" cy="271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45" b="0" i="0">
                <a:solidFill>
                  <a:srgbClr val="111111"/>
                </a:solidFill>
                <a:latin typeface="Liberation Sans"/>
              </a:rPr>
              <a:t>Real X-ray</a:t>
            </a:r>
          </a:p>
        </p:txBody>
      </p:sp>
      <p:sp>
        <p:nvSpPr>
          <p:cNvPr id="128" name="Rendered X-ray heading"/>
          <p:cNvSpPr txBox="1"/>
          <p:nvPr/>
        </p:nvSpPr>
        <p:spPr>
          <a:xfrm>
            <a:off x="10538719" y="5179372"/>
            <a:ext cx="1887306" cy="271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45" b="0" i="0">
                <a:solidFill>
                  <a:srgbClr val="111111"/>
                </a:solidFill>
                <a:latin typeface="Liberation Sans"/>
              </a:rPr>
              <a:t>Rendered X-ray</a:t>
            </a:r>
          </a:p>
        </p:txBody>
      </p:sp>
      <p:sp>
        <p:nvSpPr>
          <p:cNvPr id="129" name="Real X-ray heading"/>
          <p:cNvSpPr txBox="1"/>
          <p:nvPr/>
        </p:nvSpPr>
        <p:spPr>
          <a:xfrm>
            <a:off x="12803487" y="5179372"/>
            <a:ext cx="1887306" cy="271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45" b="0" i="0">
                <a:solidFill>
                  <a:srgbClr val="111111"/>
                </a:solidFill>
                <a:latin typeface="Liberation Sans"/>
              </a:rPr>
              <a:t>Real X-ray</a:t>
            </a:r>
          </a:p>
        </p:txBody>
      </p:sp>
      <p:sp>
        <p:nvSpPr>
          <p:cNvPr id="130" name="articulated poses symbol"/>
          <p:cNvSpPr txBox="1"/>
          <p:nvPr/>
        </p:nvSpPr>
        <p:spPr>
          <a:xfrm>
            <a:off x="4152074" y="5080931"/>
            <a:ext cx="543544" cy="3623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258" b="0" i="0">
                <a:solidFill>
                  <a:srgbClr val="111111"/>
                </a:solidFill>
                <a:latin typeface="Noto Sans Math"/>
              </a:rPr>
              <a:t>ξ̂</a:t>
            </a:r>
          </a:p>
        </p:txBody>
      </p:sp>
      <p:cxnSp>
        <p:nvCxnSpPr>
          <p:cNvPr id="131" name="articulated pose log vector left bracket"/>
          <p:cNvCxnSpPr/>
          <p:nvPr/>
        </p:nvCxnSpPr>
        <p:spPr>
          <a:xfrm flipH="1">
            <a:off x="3918048" y="5442991"/>
            <a:ext cx="90591" cy="0"/>
          </a:xfrm>
          <a:prstGeom prst="line">
            <a:avLst/>
          </a:prstGeom>
          <a:ln w="15098">
            <a:solidFill>
              <a:srgbClr val="111111"/>
            </a:solidFill>
          </a:ln>
        </p:spPr>
      </p:cxnSp>
      <p:cxnSp>
        <p:nvCxnSpPr>
          <p:cNvPr id="132" name="articulated pose log vector left bracket segment 2"/>
          <p:cNvCxnSpPr/>
          <p:nvPr/>
        </p:nvCxnSpPr>
        <p:spPr>
          <a:xfrm>
            <a:off x="3918048" y="5442991"/>
            <a:ext cx="0" cy="1094638"/>
          </a:xfrm>
          <a:prstGeom prst="line">
            <a:avLst/>
          </a:prstGeom>
          <a:ln w="15098">
            <a:solidFill>
              <a:srgbClr val="111111"/>
            </a:solidFill>
          </a:ln>
        </p:spPr>
      </p:cxnSp>
      <p:cxnSp>
        <p:nvCxnSpPr>
          <p:cNvPr id="133" name="articulated pose log vector left bracket segment 3"/>
          <p:cNvCxnSpPr/>
          <p:nvPr/>
        </p:nvCxnSpPr>
        <p:spPr>
          <a:xfrm>
            <a:off x="3918048" y="6537629"/>
            <a:ext cx="90591" cy="0"/>
          </a:xfrm>
          <a:prstGeom prst="line">
            <a:avLst/>
          </a:prstGeom>
          <a:ln w="15098">
            <a:solidFill>
              <a:srgbClr val="111111"/>
            </a:solidFill>
          </a:ln>
        </p:spPr>
      </p:cxnSp>
      <p:cxnSp>
        <p:nvCxnSpPr>
          <p:cNvPr id="134" name="articulated pose log vector right bracket"/>
          <p:cNvCxnSpPr/>
          <p:nvPr/>
        </p:nvCxnSpPr>
        <p:spPr>
          <a:xfrm>
            <a:off x="4861701" y="5442991"/>
            <a:ext cx="90591" cy="0"/>
          </a:xfrm>
          <a:prstGeom prst="line">
            <a:avLst/>
          </a:prstGeom>
          <a:ln w="15098">
            <a:solidFill>
              <a:srgbClr val="111111"/>
            </a:solidFill>
          </a:ln>
        </p:spPr>
      </p:cxnSp>
      <p:cxnSp>
        <p:nvCxnSpPr>
          <p:cNvPr id="135" name="articulated pose log vector right bracket segment 2"/>
          <p:cNvCxnSpPr/>
          <p:nvPr/>
        </p:nvCxnSpPr>
        <p:spPr>
          <a:xfrm>
            <a:off x="4952292" y="5442991"/>
            <a:ext cx="0" cy="1094638"/>
          </a:xfrm>
          <a:prstGeom prst="line">
            <a:avLst/>
          </a:prstGeom>
          <a:ln w="15098">
            <a:solidFill>
              <a:srgbClr val="111111"/>
            </a:solidFill>
          </a:ln>
        </p:spPr>
      </p:cxnSp>
      <p:cxnSp>
        <p:nvCxnSpPr>
          <p:cNvPr id="136" name="articulated pose log vector right bracket segment 3"/>
          <p:cNvCxnSpPr/>
          <p:nvPr/>
        </p:nvCxnSpPr>
        <p:spPr>
          <a:xfrm flipH="1">
            <a:off x="4861701" y="6537629"/>
            <a:ext cx="90591" cy="0"/>
          </a:xfrm>
          <a:prstGeom prst="line">
            <a:avLst/>
          </a:prstGeom>
          <a:ln w="15098">
            <a:solidFill>
              <a:srgbClr val="111111"/>
            </a:solidFill>
          </a:ln>
        </p:spPr>
      </p:cxnSp>
      <p:sp>
        <p:nvSpPr>
          <p:cNvPr id="137" name="articulated pose log 1"/>
          <p:cNvSpPr txBox="1"/>
          <p:nvPr/>
        </p:nvSpPr>
        <p:spPr>
          <a:xfrm>
            <a:off x="3970892" y="5468659"/>
            <a:ext cx="943653" cy="2944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83" b="0" i="0">
                <a:solidFill>
                  <a:srgbClr val="F22613"/>
                </a:solidFill>
                <a:latin typeface="Noto Sans Math"/>
              </a:rPr>
              <a:t>log(ξ̂₁)</a:t>
            </a:r>
          </a:p>
        </p:txBody>
      </p:sp>
      <p:sp>
        <p:nvSpPr>
          <p:cNvPr id="138" name="articulated pose log 2"/>
          <p:cNvSpPr txBox="1"/>
          <p:nvPr/>
        </p:nvSpPr>
        <p:spPr>
          <a:xfrm>
            <a:off x="3970892" y="5785726"/>
            <a:ext cx="943653" cy="2944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83" b="0" i="0">
                <a:solidFill>
                  <a:srgbClr val="14E100"/>
                </a:solidFill>
                <a:latin typeface="Noto Sans Math"/>
              </a:rPr>
              <a:t>log(ξ̂₂)</a:t>
            </a:r>
          </a:p>
        </p:txBody>
      </p:sp>
      <p:sp>
        <p:nvSpPr>
          <p:cNvPr id="139" name="articulated pose log 3"/>
          <p:cNvSpPr txBox="1"/>
          <p:nvPr/>
        </p:nvSpPr>
        <p:spPr>
          <a:xfrm>
            <a:off x="3970892" y="6102794"/>
            <a:ext cx="943653" cy="2944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783" b="0" i="0">
                <a:solidFill>
                  <a:srgbClr val="0868F2"/>
                </a:solidFill>
                <a:latin typeface="Noto Sans Math"/>
              </a:rPr>
              <a:t>log(ξ̂₃)</a:t>
            </a:r>
          </a:p>
        </p:txBody>
      </p:sp>
      <p:sp>
        <p:nvSpPr>
          <p:cNvPr id="140" name="exponential map operator"/>
          <p:cNvSpPr/>
          <p:nvPr/>
        </p:nvSpPr>
        <p:spPr>
          <a:xfrm>
            <a:off x="4016188" y="6930189"/>
            <a:ext cx="845513" cy="369912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6608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exponential map expression"/>
          <p:cNvSpPr txBox="1"/>
          <p:nvPr/>
        </p:nvSpPr>
        <p:spPr>
          <a:xfrm>
            <a:off x="4016188" y="7005681"/>
            <a:ext cx="845513" cy="2642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86" b="0" i="0">
                <a:solidFill>
                  <a:srgbClr val="111111"/>
                </a:solidFill>
                <a:latin typeface="Noto Sans Math"/>
              </a:rPr>
              <a:t>exp(Wξ̂)</a:t>
            </a:r>
          </a:p>
        </p:txBody>
      </p:sp>
      <p:cxnSp>
        <p:nvCxnSpPr>
          <p:cNvPr id="142" name="weight vector left bracket"/>
          <p:cNvCxnSpPr/>
          <p:nvPr/>
        </p:nvCxnSpPr>
        <p:spPr>
          <a:xfrm flipH="1">
            <a:off x="4076582" y="7632267"/>
            <a:ext cx="90590" cy="0"/>
          </a:xfrm>
          <a:prstGeom prst="line">
            <a:avLst/>
          </a:prstGeom>
          <a:ln w="15098">
            <a:solidFill>
              <a:srgbClr val="111111"/>
            </a:solidFill>
          </a:ln>
        </p:spPr>
      </p:cxnSp>
      <p:cxnSp>
        <p:nvCxnSpPr>
          <p:cNvPr id="143" name="weight vector left bracket segment 2"/>
          <p:cNvCxnSpPr/>
          <p:nvPr/>
        </p:nvCxnSpPr>
        <p:spPr>
          <a:xfrm>
            <a:off x="4076582" y="7632267"/>
            <a:ext cx="0" cy="1094638"/>
          </a:xfrm>
          <a:prstGeom prst="line">
            <a:avLst/>
          </a:prstGeom>
          <a:ln w="15098">
            <a:solidFill>
              <a:srgbClr val="111111"/>
            </a:solidFill>
          </a:ln>
        </p:spPr>
      </p:cxnSp>
      <p:cxnSp>
        <p:nvCxnSpPr>
          <p:cNvPr id="144" name="weight vector left bracket segment 3"/>
          <p:cNvCxnSpPr/>
          <p:nvPr/>
        </p:nvCxnSpPr>
        <p:spPr>
          <a:xfrm>
            <a:off x="4076582" y="8726905"/>
            <a:ext cx="90590" cy="0"/>
          </a:xfrm>
          <a:prstGeom prst="line">
            <a:avLst/>
          </a:prstGeom>
          <a:ln w="15098">
            <a:solidFill>
              <a:srgbClr val="111111"/>
            </a:solidFill>
          </a:ln>
        </p:spPr>
      </p:cxnSp>
      <p:cxnSp>
        <p:nvCxnSpPr>
          <p:cNvPr id="145" name="weight vector right bracket"/>
          <p:cNvCxnSpPr/>
          <p:nvPr/>
        </p:nvCxnSpPr>
        <p:spPr>
          <a:xfrm>
            <a:off x="4884349" y="7632267"/>
            <a:ext cx="90590" cy="0"/>
          </a:xfrm>
          <a:prstGeom prst="line">
            <a:avLst/>
          </a:prstGeom>
          <a:ln w="15098">
            <a:solidFill>
              <a:srgbClr val="111111"/>
            </a:solidFill>
          </a:ln>
        </p:spPr>
      </p:cxnSp>
      <p:cxnSp>
        <p:nvCxnSpPr>
          <p:cNvPr id="146" name="weight vector right bracket segment 2"/>
          <p:cNvCxnSpPr/>
          <p:nvPr/>
        </p:nvCxnSpPr>
        <p:spPr>
          <a:xfrm>
            <a:off x="4974939" y="7632267"/>
            <a:ext cx="0" cy="1094638"/>
          </a:xfrm>
          <a:prstGeom prst="line">
            <a:avLst/>
          </a:prstGeom>
          <a:ln w="15098">
            <a:solidFill>
              <a:srgbClr val="111111"/>
            </a:solidFill>
          </a:ln>
        </p:spPr>
      </p:cxnSp>
      <p:cxnSp>
        <p:nvCxnSpPr>
          <p:cNvPr id="147" name="weight vector right bracket segment 3"/>
          <p:cNvCxnSpPr/>
          <p:nvPr/>
        </p:nvCxnSpPr>
        <p:spPr>
          <a:xfrm flipH="1">
            <a:off x="4884349" y="8726905"/>
            <a:ext cx="90590" cy="0"/>
          </a:xfrm>
          <a:prstGeom prst="line">
            <a:avLst/>
          </a:prstGeom>
          <a:ln w="15098">
            <a:solidFill>
              <a:srgbClr val="111111"/>
            </a:solidFill>
          </a:ln>
        </p:spPr>
      </p:cxnSp>
      <p:sp>
        <p:nvSpPr>
          <p:cNvPr id="148" name="weight 1"/>
          <p:cNvSpPr txBox="1"/>
          <p:nvPr/>
        </p:nvSpPr>
        <p:spPr>
          <a:xfrm>
            <a:off x="4106778" y="7711987"/>
            <a:ext cx="845513" cy="317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2" b="0" i="0">
                <a:solidFill>
                  <a:srgbClr val="F22613"/>
                </a:solidFill>
                <a:latin typeface="Liberation Serif"/>
              </a:rPr>
              <a:t>0.24</a:t>
            </a:r>
          </a:p>
        </p:txBody>
      </p:sp>
      <p:sp>
        <p:nvSpPr>
          <p:cNvPr id="149" name="weight 2"/>
          <p:cNvSpPr txBox="1"/>
          <p:nvPr/>
        </p:nvSpPr>
        <p:spPr>
          <a:xfrm>
            <a:off x="4106778" y="8036604"/>
            <a:ext cx="845513" cy="317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2" b="0" i="0">
                <a:solidFill>
                  <a:srgbClr val="14E100"/>
                </a:solidFill>
                <a:latin typeface="Liberation Serif"/>
              </a:rPr>
              <a:t>0.75</a:t>
            </a:r>
          </a:p>
        </p:txBody>
      </p:sp>
      <p:sp>
        <p:nvSpPr>
          <p:cNvPr id="150" name="weight 3"/>
          <p:cNvSpPr txBox="1"/>
          <p:nvPr/>
        </p:nvSpPr>
        <p:spPr>
          <a:xfrm>
            <a:off x="4106778" y="8361220"/>
            <a:ext cx="845513" cy="317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2" b="0" i="0">
                <a:solidFill>
                  <a:srgbClr val="0868F2"/>
                </a:solidFill>
                <a:latin typeface="Liberation Serif"/>
              </a:rPr>
              <a:t>0.01</a:t>
            </a:r>
          </a:p>
        </p:txBody>
      </p:sp>
      <p:sp>
        <p:nvSpPr>
          <p:cNvPr id="151" name="weight vector label"/>
          <p:cNvSpPr txBox="1"/>
          <p:nvPr/>
        </p:nvSpPr>
        <p:spPr>
          <a:xfrm>
            <a:off x="4106778" y="8768275"/>
            <a:ext cx="845513" cy="3019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42" b="0" i="0">
                <a:solidFill>
                  <a:srgbClr val="111111"/>
                </a:solidFill>
                <a:latin typeface="Liberation Serif"/>
              </a:rPr>
              <a:t>W(x)</a:t>
            </a:r>
          </a:p>
        </p:txBody>
      </p:sp>
      <p:sp>
        <p:nvSpPr>
          <p:cNvPr id="152" name="weight field caption"/>
          <p:cNvSpPr txBox="1"/>
          <p:nvPr/>
        </p:nvSpPr>
        <p:spPr>
          <a:xfrm>
            <a:off x="452953" y="8607929"/>
            <a:ext cx="3291462" cy="2868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64" b="0" i="0">
                <a:solidFill>
                  <a:srgbClr val="111111"/>
                </a:solidFill>
                <a:latin typeface="Liberation Sans"/>
              </a:rPr>
              <a:t>Precompute weight field W</a:t>
            </a:r>
          </a:p>
        </p:txBody>
      </p:sp>
      <p:sp>
        <p:nvSpPr>
          <p:cNvPr id="153" name="equation 6 label"/>
          <p:cNvSpPr txBox="1"/>
          <p:nvPr/>
        </p:nvSpPr>
        <p:spPr>
          <a:xfrm>
            <a:off x="1434352" y="8863999"/>
            <a:ext cx="1328663" cy="271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4" b="0" i="0">
                <a:solidFill>
                  <a:srgbClr val="111111"/>
                </a:solidFill>
                <a:latin typeface="Liberation Sans"/>
              </a:rPr>
              <a:t>Eq. (6)</a:t>
            </a:r>
          </a:p>
        </p:txBody>
      </p:sp>
      <p:sp>
        <p:nvSpPr>
          <p:cNvPr id="154" name="deformation caption"/>
          <p:cNvSpPr txBox="1"/>
          <p:nvPr/>
        </p:nvSpPr>
        <p:spPr>
          <a:xfrm>
            <a:off x="5148572" y="8607929"/>
            <a:ext cx="3940695" cy="2868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64" b="0" i="0">
                <a:solidFill>
                  <a:srgbClr val="111111"/>
                </a:solidFill>
                <a:latin typeface="Liberation Sans"/>
              </a:rPr>
              <a:t>Sample deformation field Φ and warp V</a:t>
            </a:r>
          </a:p>
        </p:txBody>
      </p:sp>
      <p:sp>
        <p:nvSpPr>
          <p:cNvPr id="155" name="equation 4 label"/>
          <p:cNvSpPr txBox="1"/>
          <p:nvPr/>
        </p:nvSpPr>
        <p:spPr>
          <a:xfrm>
            <a:off x="6454588" y="8863999"/>
            <a:ext cx="1328663" cy="271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4" b="0" i="0">
                <a:solidFill>
                  <a:srgbClr val="111111"/>
                </a:solidFill>
                <a:latin typeface="Liberation Sans"/>
              </a:rPr>
              <a:t>Eq. (4)</a:t>
            </a:r>
          </a:p>
        </p:txBody>
      </p:sp>
      <p:sp>
        <p:nvSpPr>
          <p:cNvPr id="156" name="differentiable X-ray renderer 1"/>
          <p:cNvSpPr/>
          <p:nvPr/>
        </p:nvSpPr>
        <p:spPr>
          <a:xfrm>
            <a:off x="9376138" y="5986536"/>
            <a:ext cx="837964" cy="415207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6608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differentiable X-ray renderer 1 text 1"/>
          <p:cNvSpPr txBox="1"/>
          <p:nvPr/>
        </p:nvSpPr>
        <p:spPr>
          <a:xfrm>
            <a:off x="9376138" y="6034549"/>
            <a:ext cx="837964" cy="1796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10" b="0" i="1">
                <a:solidFill>
                  <a:srgbClr val="111111"/>
                </a:solidFill>
                <a:latin typeface="Liberation Sans"/>
              </a:rPr>
              <a:t>Diff. X-ray</a:t>
            </a:r>
          </a:p>
        </p:txBody>
      </p:sp>
      <p:sp>
        <p:nvSpPr>
          <p:cNvPr id="158" name="differentiable X-ray renderer 1 text 2"/>
          <p:cNvSpPr txBox="1"/>
          <p:nvPr/>
        </p:nvSpPr>
        <p:spPr>
          <a:xfrm>
            <a:off x="9376138" y="6200632"/>
            <a:ext cx="837964" cy="1796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10" b="0" i="1">
                <a:solidFill>
                  <a:srgbClr val="111111"/>
                </a:solidFill>
                <a:latin typeface="Liberation Sans"/>
              </a:rPr>
              <a:t>renderer</a:t>
            </a:r>
          </a:p>
        </p:txBody>
      </p:sp>
      <p:sp>
        <p:nvSpPr>
          <p:cNvPr id="159" name="projection formula 1"/>
          <p:cNvSpPr txBox="1"/>
          <p:nvPr/>
        </p:nvSpPr>
        <p:spPr>
          <a:xfrm>
            <a:off x="9376138" y="5680641"/>
            <a:ext cx="837964" cy="317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42" b="0" i="1">
                <a:solidFill>
                  <a:srgbClr val="111111"/>
                </a:solidFill>
                <a:latin typeface="Noto Sans Math"/>
              </a:rPr>
              <a:t>𝒫(Π̂₁)</a:t>
            </a:r>
          </a:p>
        </p:txBody>
      </p:sp>
      <p:sp>
        <p:nvSpPr>
          <p:cNvPr id="160" name="equation 3 label 1"/>
          <p:cNvSpPr txBox="1"/>
          <p:nvPr/>
        </p:nvSpPr>
        <p:spPr>
          <a:xfrm>
            <a:off x="9376138" y="6448850"/>
            <a:ext cx="837964" cy="2868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64" b="0" i="0">
                <a:solidFill>
                  <a:srgbClr val="111111"/>
                </a:solidFill>
                <a:latin typeface="Liberation Sans"/>
              </a:rPr>
              <a:t>Eq. (3)</a:t>
            </a:r>
          </a:p>
        </p:txBody>
      </p:sp>
      <p:sp>
        <p:nvSpPr>
          <p:cNvPr id="161" name="differentiable X-ray renderer 2"/>
          <p:cNvSpPr/>
          <p:nvPr/>
        </p:nvSpPr>
        <p:spPr>
          <a:xfrm>
            <a:off x="9376138" y="7579422"/>
            <a:ext cx="837964" cy="415207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6608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differentiable X-ray renderer 2 text 1"/>
          <p:cNvSpPr txBox="1"/>
          <p:nvPr/>
        </p:nvSpPr>
        <p:spPr>
          <a:xfrm>
            <a:off x="9376138" y="7627435"/>
            <a:ext cx="837964" cy="1796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10" b="0" i="1">
                <a:solidFill>
                  <a:srgbClr val="111111"/>
                </a:solidFill>
                <a:latin typeface="Liberation Sans"/>
              </a:rPr>
              <a:t>Diff. X-ray</a:t>
            </a:r>
          </a:p>
        </p:txBody>
      </p:sp>
      <p:sp>
        <p:nvSpPr>
          <p:cNvPr id="163" name="differentiable X-ray renderer 2 text 2"/>
          <p:cNvSpPr txBox="1"/>
          <p:nvPr/>
        </p:nvSpPr>
        <p:spPr>
          <a:xfrm>
            <a:off x="9376138" y="7793518"/>
            <a:ext cx="837964" cy="1796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10" b="0" i="1">
                <a:solidFill>
                  <a:srgbClr val="111111"/>
                </a:solidFill>
                <a:latin typeface="Liberation Sans"/>
              </a:rPr>
              <a:t>renderer</a:t>
            </a:r>
          </a:p>
        </p:txBody>
      </p:sp>
      <p:sp>
        <p:nvSpPr>
          <p:cNvPr id="164" name="projection formula 2"/>
          <p:cNvSpPr txBox="1"/>
          <p:nvPr/>
        </p:nvSpPr>
        <p:spPr>
          <a:xfrm>
            <a:off x="9376138" y="7273528"/>
            <a:ext cx="837964" cy="317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42" b="0" i="1">
                <a:solidFill>
                  <a:srgbClr val="111111"/>
                </a:solidFill>
                <a:latin typeface="Noto Sans Math"/>
              </a:rPr>
              <a:t>𝒫(Π̂₂)</a:t>
            </a:r>
          </a:p>
        </p:txBody>
      </p:sp>
      <p:sp>
        <p:nvSpPr>
          <p:cNvPr id="165" name="equation 3 label 2"/>
          <p:cNvSpPr txBox="1"/>
          <p:nvPr/>
        </p:nvSpPr>
        <p:spPr>
          <a:xfrm>
            <a:off x="9376138" y="8034188"/>
            <a:ext cx="837964" cy="2868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64" b="0" i="0">
                <a:solidFill>
                  <a:srgbClr val="111111"/>
                </a:solidFill>
                <a:latin typeface="Liberation Sans"/>
              </a:rPr>
              <a:t>Eq. (3)</a:t>
            </a:r>
          </a:p>
        </p:txBody>
      </p:sp>
      <p:cxnSp>
        <p:nvCxnSpPr>
          <p:cNvPr id="166" name="deformation to renderer 1 operation"/>
          <p:cNvCxnSpPr/>
          <p:nvPr/>
        </p:nvCxnSpPr>
        <p:spPr>
          <a:xfrm>
            <a:off x="8923185" y="6114873"/>
            <a:ext cx="437855" cy="0"/>
          </a:xfrm>
          <a:prstGeom prst="line">
            <a:avLst/>
          </a:prstGeom>
          <a:ln w="30196">
            <a:solidFill>
              <a:srgbClr val="0B9FE5"/>
            </a:solidFill>
            <a:tailEnd type="triangle" w="med" len="med"/>
          </a:ln>
        </p:spPr>
      </p:cxnSp>
      <p:cxnSp>
        <p:nvCxnSpPr>
          <p:cNvPr id="167" name="renderer 1 to deformation gradient"/>
          <p:cNvCxnSpPr/>
          <p:nvPr/>
        </p:nvCxnSpPr>
        <p:spPr>
          <a:xfrm flipH="1">
            <a:off x="8923185" y="6250759"/>
            <a:ext cx="437855" cy="0"/>
          </a:xfrm>
          <a:prstGeom prst="line">
            <a:avLst/>
          </a:prstGeom>
          <a:ln w="30196">
            <a:solidFill>
              <a:srgbClr val="F56A00"/>
            </a:solidFill>
            <a:tailEnd type="triangle" w="med" len="med"/>
          </a:ln>
        </p:spPr>
      </p:cxnSp>
      <p:cxnSp>
        <p:nvCxnSpPr>
          <p:cNvPr id="168" name="deformation to renderer 2 operation"/>
          <p:cNvCxnSpPr/>
          <p:nvPr/>
        </p:nvCxnSpPr>
        <p:spPr>
          <a:xfrm>
            <a:off x="8923185" y="7707759"/>
            <a:ext cx="437855" cy="0"/>
          </a:xfrm>
          <a:prstGeom prst="line">
            <a:avLst/>
          </a:prstGeom>
          <a:ln w="30196">
            <a:solidFill>
              <a:srgbClr val="0B9FE5"/>
            </a:solidFill>
            <a:tailEnd type="triangle" w="med" len="med"/>
          </a:ln>
        </p:spPr>
      </p:cxnSp>
      <p:cxnSp>
        <p:nvCxnSpPr>
          <p:cNvPr id="169" name="renderer 2 to deformation gradient"/>
          <p:cNvCxnSpPr/>
          <p:nvPr/>
        </p:nvCxnSpPr>
        <p:spPr>
          <a:xfrm flipH="1">
            <a:off x="8923185" y="7843645"/>
            <a:ext cx="437855" cy="0"/>
          </a:xfrm>
          <a:prstGeom prst="line">
            <a:avLst/>
          </a:prstGeom>
          <a:ln w="30196">
            <a:solidFill>
              <a:srgbClr val="F56A00"/>
            </a:solidFill>
            <a:tailEnd type="triangle" w="med" len="med"/>
          </a:ln>
        </p:spPr>
      </p:cxnSp>
      <p:cxnSp>
        <p:nvCxnSpPr>
          <p:cNvPr id="170" name="stage 2 renderer 1 to rendered X-ray operation"/>
          <p:cNvCxnSpPr/>
          <p:nvPr/>
        </p:nvCxnSpPr>
        <p:spPr>
          <a:xfrm>
            <a:off x="10221652" y="6114873"/>
            <a:ext cx="452953" cy="0"/>
          </a:xfrm>
          <a:prstGeom prst="line">
            <a:avLst/>
          </a:prstGeom>
          <a:ln w="30196">
            <a:solidFill>
              <a:srgbClr val="0B9FE5"/>
            </a:solidFill>
            <a:tailEnd type="triangle" w="med" len="med"/>
          </a:ln>
        </p:spPr>
      </p:cxnSp>
      <p:cxnSp>
        <p:nvCxnSpPr>
          <p:cNvPr id="171" name="stage 2 renderer 1 to rendered X-ray gradient"/>
          <p:cNvCxnSpPr/>
          <p:nvPr/>
        </p:nvCxnSpPr>
        <p:spPr>
          <a:xfrm flipH="1">
            <a:off x="10221652" y="6250759"/>
            <a:ext cx="452953" cy="0"/>
          </a:xfrm>
          <a:prstGeom prst="line">
            <a:avLst/>
          </a:prstGeom>
          <a:ln w="30196">
            <a:solidFill>
              <a:srgbClr val="F56A00"/>
            </a:solidFill>
            <a:tailEnd type="triangle" w="med" len="med"/>
          </a:ln>
        </p:spPr>
      </p:cxnSp>
      <p:cxnSp>
        <p:nvCxnSpPr>
          <p:cNvPr id="172" name="stage 2 renderer 2 to rendered X-ray operation"/>
          <p:cNvCxnSpPr/>
          <p:nvPr/>
        </p:nvCxnSpPr>
        <p:spPr>
          <a:xfrm>
            <a:off x="10221652" y="7707759"/>
            <a:ext cx="452953" cy="0"/>
          </a:xfrm>
          <a:prstGeom prst="line">
            <a:avLst/>
          </a:prstGeom>
          <a:ln w="30196">
            <a:solidFill>
              <a:srgbClr val="0B9FE5"/>
            </a:solidFill>
            <a:tailEnd type="triangle" w="med" len="med"/>
          </a:ln>
        </p:spPr>
      </p:cxnSp>
      <p:cxnSp>
        <p:nvCxnSpPr>
          <p:cNvPr id="173" name="stage 2 renderer 2 to rendered X-ray gradient"/>
          <p:cNvCxnSpPr/>
          <p:nvPr/>
        </p:nvCxnSpPr>
        <p:spPr>
          <a:xfrm flipH="1">
            <a:off x="10221652" y="7843645"/>
            <a:ext cx="452953" cy="0"/>
          </a:xfrm>
          <a:prstGeom prst="line">
            <a:avLst/>
          </a:prstGeom>
          <a:ln w="30196">
            <a:solidFill>
              <a:srgbClr val="F56A00"/>
            </a:solidFill>
            <a:tailEnd type="triangle" w="med" len="med"/>
          </a:ln>
        </p:spPr>
      </p:cxnSp>
      <p:cxnSp>
        <p:nvCxnSpPr>
          <p:cNvPr id="174" name="stage 2 loss 1 operation"/>
          <p:cNvCxnSpPr/>
          <p:nvPr/>
        </p:nvCxnSpPr>
        <p:spPr>
          <a:xfrm>
            <a:off x="12290139" y="6114873"/>
            <a:ext cx="649234" cy="0"/>
          </a:xfrm>
          <a:prstGeom prst="line">
            <a:avLst/>
          </a:prstGeom>
          <a:ln w="30196">
            <a:solidFill>
              <a:srgbClr val="0B9FE5"/>
            </a:solidFill>
            <a:tailEnd type="triangle" w="med" len="med"/>
          </a:ln>
        </p:spPr>
      </p:cxnSp>
      <p:cxnSp>
        <p:nvCxnSpPr>
          <p:cNvPr id="175" name="stage 2 loss 1 gradient"/>
          <p:cNvCxnSpPr/>
          <p:nvPr/>
        </p:nvCxnSpPr>
        <p:spPr>
          <a:xfrm flipH="1">
            <a:off x="12290139" y="6228111"/>
            <a:ext cx="649234" cy="0"/>
          </a:xfrm>
          <a:prstGeom prst="line">
            <a:avLst/>
          </a:prstGeom>
          <a:ln w="30196">
            <a:solidFill>
              <a:srgbClr val="F56A00"/>
            </a:solidFill>
            <a:tailEnd type="triangle" w="med" len="med"/>
          </a:ln>
        </p:spPr>
      </p:cxnSp>
      <p:sp>
        <p:nvSpPr>
          <p:cNvPr id="176" name="stage 2 loss 1 symbol"/>
          <p:cNvSpPr txBox="1"/>
          <p:nvPr/>
        </p:nvSpPr>
        <p:spPr>
          <a:xfrm>
            <a:off x="12290139" y="5751604"/>
            <a:ext cx="649233" cy="3774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139" b="0" i="1">
                <a:solidFill>
                  <a:srgbClr val="111111"/>
                </a:solidFill>
                <a:latin typeface="Noto Sans Math"/>
              </a:rPr>
              <a:t>ℒ</a:t>
            </a:r>
          </a:p>
        </p:txBody>
      </p:sp>
      <p:sp>
        <p:nvSpPr>
          <p:cNvPr id="177" name="stage 2 loss 1 equation"/>
          <p:cNvSpPr txBox="1"/>
          <p:nvPr/>
        </p:nvSpPr>
        <p:spPr>
          <a:xfrm>
            <a:off x="12290139" y="6350106"/>
            <a:ext cx="649233" cy="271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4" b="0" i="0">
                <a:solidFill>
                  <a:srgbClr val="111111"/>
                </a:solidFill>
                <a:latin typeface="Liberation Sans"/>
              </a:rPr>
              <a:t>Eq. (7)</a:t>
            </a:r>
          </a:p>
        </p:txBody>
      </p:sp>
      <p:cxnSp>
        <p:nvCxnSpPr>
          <p:cNvPr id="178" name="stage 2 loss 2 operation"/>
          <p:cNvCxnSpPr/>
          <p:nvPr/>
        </p:nvCxnSpPr>
        <p:spPr>
          <a:xfrm>
            <a:off x="12290139" y="7707759"/>
            <a:ext cx="649234" cy="0"/>
          </a:xfrm>
          <a:prstGeom prst="line">
            <a:avLst/>
          </a:prstGeom>
          <a:ln w="30196">
            <a:solidFill>
              <a:srgbClr val="0B9FE5"/>
            </a:solidFill>
            <a:tailEnd type="triangle" w="med" len="med"/>
          </a:ln>
        </p:spPr>
      </p:cxnSp>
      <p:cxnSp>
        <p:nvCxnSpPr>
          <p:cNvPr id="179" name="stage 2 loss 2 gradient"/>
          <p:cNvCxnSpPr/>
          <p:nvPr/>
        </p:nvCxnSpPr>
        <p:spPr>
          <a:xfrm flipH="1">
            <a:off x="12290139" y="7820998"/>
            <a:ext cx="649234" cy="0"/>
          </a:xfrm>
          <a:prstGeom prst="line">
            <a:avLst/>
          </a:prstGeom>
          <a:ln w="30196">
            <a:solidFill>
              <a:srgbClr val="F56A00"/>
            </a:solidFill>
            <a:tailEnd type="triangle" w="med" len="med"/>
          </a:ln>
        </p:spPr>
      </p:cxnSp>
      <p:sp>
        <p:nvSpPr>
          <p:cNvPr id="180" name="stage 2 loss 2 symbol"/>
          <p:cNvSpPr txBox="1"/>
          <p:nvPr/>
        </p:nvSpPr>
        <p:spPr>
          <a:xfrm>
            <a:off x="12290139" y="7344490"/>
            <a:ext cx="649233" cy="3774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139" b="0" i="1">
                <a:solidFill>
                  <a:srgbClr val="111111"/>
                </a:solidFill>
                <a:latin typeface="Noto Sans Math"/>
              </a:rPr>
              <a:t>ℒ</a:t>
            </a:r>
          </a:p>
        </p:txBody>
      </p:sp>
      <p:sp>
        <p:nvSpPr>
          <p:cNvPr id="181" name="stage 2 loss 2 equation"/>
          <p:cNvSpPr txBox="1"/>
          <p:nvPr/>
        </p:nvSpPr>
        <p:spPr>
          <a:xfrm>
            <a:off x="12290139" y="7942993"/>
            <a:ext cx="649233" cy="271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4" b="0" i="0">
                <a:solidFill>
                  <a:srgbClr val="111111"/>
                </a:solidFill>
                <a:latin typeface="Liberation Sans"/>
              </a:rPr>
              <a:t>Eq. (7)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PolyPose Deformable 2D3D Registration via Polyrigid Transformation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91345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