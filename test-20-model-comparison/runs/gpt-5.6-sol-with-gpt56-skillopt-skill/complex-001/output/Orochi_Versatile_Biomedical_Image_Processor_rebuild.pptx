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716000" cy="684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3716000" cy="68472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upper_background"/>
          <p:cNvSpPr/>
          <p:nvPr/>
        </p:nvSpPr>
        <p:spPr>
          <a:xfrm>
            <a:off x="0" y="0"/>
            <a:ext cx="13716000" cy="3218400"/>
          </a:xfrm>
          <a:prstGeom prst="rect">
            <a:avLst/>
          </a:prstGeom>
          <a:solidFill>
            <a:srgbClr val="F3F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lower_background"/>
          <p:cNvSpPr/>
          <p:nvPr/>
        </p:nvSpPr>
        <p:spPr>
          <a:xfrm>
            <a:off x="0" y="3333599"/>
            <a:ext cx="13716000" cy="3513600"/>
          </a:xfrm>
          <a:prstGeom prst="rect">
            <a:avLst/>
          </a:prstGeom>
          <a:solidFill>
            <a:srgbClr val="F4FA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dataset_panel"/>
          <p:cNvSpPr/>
          <p:nvPr/>
        </p:nvSpPr>
        <p:spPr>
          <a:xfrm>
            <a:off x="86400" y="158400"/>
            <a:ext cx="6897600" cy="2484000"/>
          </a:xfrm>
          <a:prstGeom prst="rect">
            <a:avLst/>
          </a:prstGeom>
          <a:solidFill>
            <a:srgbClr val="D6E6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storation_panel"/>
          <p:cNvSpPr/>
          <p:nvPr/>
        </p:nvSpPr>
        <p:spPr>
          <a:xfrm>
            <a:off x="86400" y="3621600"/>
            <a:ext cx="5486400" cy="1288800"/>
          </a:xfrm>
          <a:prstGeom prst="rect">
            <a:avLst/>
          </a:prstGeom>
          <a:solidFill>
            <a:srgbClr val="AAC9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uperres_panel"/>
          <p:cNvSpPr/>
          <p:nvPr/>
        </p:nvSpPr>
        <p:spPr>
          <a:xfrm>
            <a:off x="86400" y="5169600"/>
            <a:ext cx="5486400" cy="1288800"/>
          </a:xfrm>
          <a:prstGeom prst="rect">
            <a:avLst/>
          </a:prstGeom>
          <a:solidFill>
            <a:srgbClr val="AAC9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usion_panel"/>
          <p:cNvSpPr/>
          <p:nvPr/>
        </p:nvSpPr>
        <p:spPr>
          <a:xfrm>
            <a:off x="5673600" y="3621600"/>
            <a:ext cx="8020800" cy="1288800"/>
          </a:xfrm>
          <a:prstGeom prst="rect">
            <a:avLst/>
          </a:prstGeom>
          <a:solidFill>
            <a:srgbClr val="AAC9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gistration_panel"/>
          <p:cNvSpPr/>
          <p:nvPr/>
        </p:nvSpPr>
        <p:spPr>
          <a:xfrm>
            <a:off x="5673600" y="5169600"/>
            <a:ext cx="8020800" cy="1288800"/>
          </a:xfrm>
          <a:prstGeom prst="rect">
            <a:avLst/>
          </a:prstGeom>
          <a:solidFill>
            <a:srgbClr val="AAC9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Masked_band"/>
          <p:cNvSpPr/>
          <p:nvPr/>
        </p:nvSpPr>
        <p:spPr>
          <a:xfrm>
            <a:off x="9993600" y="158400"/>
            <a:ext cx="900000" cy="2944800"/>
          </a:xfrm>
          <a:prstGeom prst="rect">
            <a:avLst/>
          </a:prstGeom>
          <a:solidFill>
            <a:srgbClr val="E5EA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Masked_header"/>
          <p:cNvSpPr txBox="1"/>
          <p:nvPr/>
        </p:nvSpPr>
        <p:spPr>
          <a:xfrm>
            <a:off x="9993600" y="172800"/>
            <a:ext cx="900000" cy="259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77" b="1" i="0">
                <a:solidFill>
                  <a:srgbClr val="8B8F97"/>
                </a:solidFill>
                <a:latin typeface="Liberation Sans"/>
              </a:defRPr>
            </a:pPr>
            <a:r>
              <a:t>Masked</a:t>
            </a:r>
          </a:p>
        </p:txBody>
      </p:sp>
      <p:sp>
        <p:nvSpPr>
          <p:cNvPr id="12" name="Deformed_band"/>
          <p:cNvSpPr/>
          <p:nvPr/>
        </p:nvSpPr>
        <p:spPr>
          <a:xfrm>
            <a:off x="10929600" y="158400"/>
            <a:ext cx="892800" cy="2944800"/>
          </a:xfrm>
          <a:prstGeom prst="rect">
            <a:avLst/>
          </a:prstGeom>
          <a:solidFill>
            <a:srgbClr val="FAE9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Deformed_header"/>
          <p:cNvSpPr txBox="1"/>
          <p:nvPr/>
        </p:nvSpPr>
        <p:spPr>
          <a:xfrm>
            <a:off x="10929600" y="172800"/>
            <a:ext cx="892800" cy="259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77" b="1" i="0">
                <a:solidFill>
                  <a:srgbClr val="8B8F97"/>
                </a:solidFill>
                <a:latin typeface="Liberation Sans"/>
              </a:defRPr>
            </a:pPr>
            <a:r>
              <a:t>Deformed</a:t>
            </a:r>
          </a:p>
        </p:txBody>
      </p:sp>
      <p:sp>
        <p:nvSpPr>
          <p:cNvPr id="14" name="Noisy_band"/>
          <p:cNvSpPr/>
          <p:nvPr/>
        </p:nvSpPr>
        <p:spPr>
          <a:xfrm>
            <a:off x="11865600" y="158400"/>
            <a:ext cx="892800" cy="2944800"/>
          </a:xfrm>
          <a:prstGeom prst="rect">
            <a:avLst/>
          </a:prstGeom>
          <a:solidFill>
            <a:srgbClr val="E5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oisy_header"/>
          <p:cNvSpPr txBox="1"/>
          <p:nvPr/>
        </p:nvSpPr>
        <p:spPr>
          <a:xfrm>
            <a:off x="11865600" y="172800"/>
            <a:ext cx="892800" cy="259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77" b="1" i="0">
                <a:solidFill>
                  <a:srgbClr val="8B8F97"/>
                </a:solidFill>
                <a:latin typeface="Liberation Sans"/>
              </a:defRPr>
            </a:pPr>
            <a:r>
              <a:t>Noisy</a:t>
            </a:r>
          </a:p>
        </p:txBody>
      </p:sp>
      <p:sp>
        <p:nvSpPr>
          <p:cNvPr id="16" name="Low-Res_band"/>
          <p:cNvSpPr/>
          <p:nvPr/>
        </p:nvSpPr>
        <p:spPr>
          <a:xfrm>
            <a:off x="12801600" y="158400"/>
            <a:ext cx="885600" cy="2944800"/>
          </a:xfrm>
          <a:prstGeom prst="rect">
            <a:avLst/>
          </a:prstGeom>
          <a:solidFill>
            <a:srgbClr val="F4F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ow-Res_header"/>
          <p:cNvSpPr txBox="1"/>
          <p:nvPr/>
        </p:nvSpPr>
        <p:spPr>
          <a:xfrm>
            <a:off x="12801600" y="172800"/>
            <a:ext cx="885600" cy="259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77" b="1" i="0">
                <a:solidFill>
                  <a:srgbClr val="8B8F97"/>
                </a:solidFill>
                <a:latin typeface="Liberation Sans"/>
              </a:defRPr>
            </a:pPr>
            <a:r>
              <a:t>Low-Res</a:t>
            </a:r>
          </a:p>
        </p:txBody>
      </p:sp>
      <p:sp>
        <p:nvSpPr>
          <p:cNvPr id="18" name="row_separator_181"/>
          <p:cNvSpPr/>
          <p:nvPr/>
        </p:nvSpPr>
        <p:spPr>
          <a:xfrm>
            <a:off x="9043200" y="1303200"/>
            <a:ext cx="4651200" cy="86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w_separator_311"/>
          <p:cNvSpPr/>
          <p:nvPr/>
        </p:nvSpPr>
        <p:spPr>
          <a:xfrm>
            <a:off x="9043200" y="2239200"/>
            <a:ext cx="4651200" cy="64800"/>
          </a:xfrm>
          <a:prstGeom prst="rect">
            <a:avLst/>
          </a:prstGeom>
          <a:solidFill>
            <a:srgbClr val="F2F1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lobal_row_band"/>
          <p:cNvSpPr/>
          <p:nvPr/>
        </p:nvSpPr>
        <p:spPr>
          <a:xfrm>
            <a:off x="9043200" y="2224800"/>
            <a:ext cx="950399" cy="878400"/>
          </a:xfrm>
          <a:prstGeom prst="rect">
            <a:avLst/>
          </a:prstGeom>
          <a:solidFill>
            <a:srgbClr val="F1F0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dataset_to_sampler"/>
          <p:cNvCxnSpPr/>
          <p:nvPr/>
        </p:nvCxnSpPr>
        <p:spPr>
          <a:xfrm>
            <a:off x="6984000" y="885600"/>
            <a:ext cx="432000" cy="0"/>
          </a:xfrm>
          <a:prstGeom prst="line">
            <a:avLst/>
          </a:prstGeom>
          <a:ln w="10800">
            <a:solidFill>
              <a:srgbClr val="4B7FC7"/>
            </a:solidFill>
            <a:tailEnd type="triangle" w="sm" len="sm"/>
          </a:ln>
        </p:spPr>
      </p:cxnSp>
      <p:cxnSp>
        <p:nvCxnSpPr>
          <p:cNvPr id="22" name="raw_to_half"/>
          <p:cNvCxnSpPr/>
          <p:nvPr/>
        </p:nvCxnSpPr>
        <p:spPr>
          <a:xfrm>
            <a:off x="8143200" y="1368000"/>
            <a:ext cx="0" cy="100800"/>
          </a:xfrm>
          <a:prstGeom prst="line">
            <a:avLst/>
          </a:prstGeom>
          <a:ln w="10800">
            <a:solidFill>
              <a:srgbClr val="4B7FC7"/>
            </a:solidFill>
            <a:tailEnd type="triangle" w="sm" len="sm"/>
          </a:ln>
        </p:spPr>
      </p:cxnSp>
      <p:cxnSp>
        <p:nvCxnSpPr>
          <p:cNvPr id="23" name="half_to_quarter"/>
          <p:cNvCxnSpPr/>
          <p:nvPr/>
        </p:nvCxnSpPr>
        <p:spPr>
          <a:xfrm>
            <a:off x="8308800" y="2232000"/>
            <a:ext cx="0" cy="144000"/>
          </a:xfrm>
          <a:prstGeom prst="line">
            <a:avLst/>
          </a:prstGeom>
          <a:ln w="10800">
            <a:solidFill>
              <a:srgbClr val="4B7FC7"/>
            </a:solidFill>
            <a:tailEnd type="triangle" w="sm" len="sm"/>
          </a:ln>
        </p:spPr>
      </p:cxnSp>
      <p:cxnSp>
        <p:nvCxnSpPr>
          <p:cNvPr id="24" name="local_mapping"/>
          <p:cNvCxnSpPr/>
          <p:nvPr/>
        </p:nvCxnSpPr>
        <p:spPr>
          <a:xfrm>
            <a:off x="8676000" y="892800"/>
            <a:ext cx="446400" cy="0"/>
          </a:xfrm>
          <a:prstGeom prst="line">
            <a:avLst/>
          </a:prstGeom>
          <a:ln w="9720">
            <a:solidFill>
              <a:srgbClr val="E88A82"/>
            </a:solidFill>
            <a:tailEnd type="triangle" w="sm" len="sm"/>
          </a:ln>
        </p:spPr>
      </p:cxnSp>
      <p:cxnSp>
        <p:nvCxnSpPr>
          <p:cNvPr id="25" name="mid_mapping"/>
          <p:cNvCxnSpPr/>
          <p:nvPr/>
        </p:nvCxnSpPr>
        <p:spPr>
          <a:xfrm>
            <a:off x="8625600" y="1792800"/>
            <a:ext cx="496800" cy="0"/>
          </a:xfrm>
          <a:prstGeom prst="line">
            <a:avLst/>
          </a:prstGeom>
          <a:ln w="9720">
            <a:solidFill>
              <a:srgbClr val="E88A82"/>
            </a:solidFill>
            <a:tailEnd type="triangle" w="sm" len="sm"/>
          </a:ln>
        </p:spPr>
      </p:cxnSp>
      <p:cxnSp>
        <p:nvCxnSpPr>
          <p:cNvPr id="26" name="global_mapping"/>
          <p:cNvCxnSpPr/>
          <p:nvPr/>
        </p:nvCxnSpPr>
        <p:spPr>
          <a:xfrm>
            <a:off x="8784000" y="2685600"/>
            <a:ext cx="338400" cy="0"/>
          </a:xfrm>
          <a:prstGeom prst="line">
            <a:avLst/>
          </a:prstGeom>
          <a:ln w="9720">
            <a:solidFill>
              <a:srgbClr val="E88A82"/>
            </a:solidFill>
            <a:tailEnd type="triangle" w="sm" len="sm"/>
          </a:ln>
        </p:spPr>
      </p:cxnSp>
      <p:cxnSp>
        <p:nvCxnSpPr>
          <p:cNvPr id="27" name="restoration_input_path_1"/>
          <p:cNvCxnSpPr/>
          <p:nvPr/>
        </p:nvCxnSpPr>
        <p:spPr>
          <a:xfrm flipV="1">
            <a:off x="2440800" y="3492000"/>
            <a:ext cx="0" cy="20160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28" name="restoration_input_path_2"/>
          <p:cNvCxnSpPr/>
          <p:nvPr/>
        </p:nvCxnSpPr>
        <p:spPr>
          <a:xfrm>
            <a:off x="2440800" y="3492000"/>
            <a:ext cx="1231200" cy="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29" name="restoration_input_path_3"/>
          <p:cNvCxnSpPr/>
          <p:nvPr/>
        </p:nvCxnSpPr>
        <p:spPr>
          <a:xfrm>
            <a:off x="3672000" y="3492000"/>
            <a:ext cx="0" cy="201600"/>
          </a:xfrm>
          <a:prstGeom prst="line">
            <a:avLst/>
          </a:prstGeom>
          <a:ln w="10800">
            <a:solidFill>
              <a:srgbClr val="4F9E68"/>
            </a:solidFill>
            <a:tailEnd type="triangle" w="sm" len="sm"/>
          </a:ln>
        </p:spPr>
      </p:cxnSp>
      <p:cxnSp>
        <p:nvCxnSpPr>
          <p:cNvPr id="30" name="restoration_output_path_1"/>
          <p:cNvCxnSpPr/>
          <p:nvPr/>
        </p:nvCxnSpPr>
        <p:spPr>
          <a:xfrm>
            <a:off x="3672000" y="4845600"/>
            <a:ext cx="0" cy="18000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31" name="restoration_output_path_2"/>
          <p:cNvCxnSpPr/>
          <p:nvPr/>
        </p:nvCxnSpPr>
        <p:spPr>
          <a:xfrm>
            <a:off x="3672000" y="5025600"/>
            <a:ext cx="1238400" cy="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32" name="restoration_output_path_3"/>
          <p:cNvCxnSpPr/>
          <p:nvPr/>
        </p:nvCxnSpPr>
        <p:spPr>
          <a:xfrm flipV="1">
            <a:off x="4910400" y="4852800"/>
            <a:ext cx="0" cy="172800"/>
          </a:xfrm>
          <a:prstGeom prst="line">
            <a:avLst/>
          </a:prstGeom>
          <a:ln w="10800">
            <a:solidFill>
              <a:srgbClr val="4F9E68"/>
            </a:solidFill>
            <a:tailEnd type="triangle" w="sm" len="sm"/>
          </a:ln>
        </p:spPr>
      </p:cxnSp>
      <p:cxnSp>
        <p:nvCxnSpPr>
          <p:cNvPr id="33" name="superres_input_path_1"/>
          <p:cNvCxnSpPr/>
          <p:nvPr/>
        </p:nvCxnSpPr>
        <p:spPr>
          <a:xfrm flipV="1">
            <a:off x="2440800" y="5032800"/>
            <a:ext cx="0" cy="20160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34" name="superres_input_path_2"/>
          <p:cNvCxnSpPr/>
          <p:nvPr/>
        </p:nvCxnSpPr>
        <p:spPr>
          <a:xfrm>
            <a:off x="2440800" y="5032800"/>
            <a:ext cx="1231200" cy="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35" name="superres_input_path_3"/>
          <p:cNvCxnSpPr/>
          <p:nvPr/>
        </p:nvCxnSpPr>
        <p:spPr>
          <a:xfrm>
            <a:off x="3672000" y="5032800"/>
            <a:ext cx="0" cy="201600"/>
          </a:xfrm>
          <a:prstGeom prst="line">
            <a:avLst/>
          </a:prstGeom>
          <a:ln w="10800">
            <a:solidFill>
              <a:srgbClr val="4F9E68"/>
            </a:solidFill>
            <a:tailEnd type="triangle" w="sm" len="sm"/>
          </a:ln>
        </p:spPr>
      </p:cxnSp>
      <p:cxnSp>
        <p:nvCxnSpPr>
          <p:cNvPr id="36" name="superres_output_path_1"/>
          <p:cNvCxnSpPr/>
          <p:nvPr/>
        </p:nvCxnSpPr>
        <p:spPr>
          <a:xfrm>
            <a:off x="3672000" y="6386400"/>
            <a:ext cx="0" cy="18000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37" name="superres_output_path_2"/>
          <p:cNvCxnSpPr/>
          <p:nvPr/>
        </p:nvCxnSpPr>
        <p:spPr>
          <a:xfrm>
            <a:off x="3672000" y="6566400"/>
            <a:ext cx="1238400" cy="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38" name="superres_output_path_3"/>
          <p:cNvCxnSpPr/>
          <p:nvPr/>
        </p:nvCxnSpPr>
        <p:spPr>
          <a:xfrm flipV="1">
            <a:off x="4910400" y="6386400"/>
            <a:ext cx="0" cy="180000"/>
          </a:xfrm>
          <a:prstGeom prst="line">
            <a:avLst/>
          </a:prstGeom>
          <a:ln w="10800">
            <a:solidFill>
              <a:srgbClr val="4F9E68"/>
            </a:solidFill>
            <a:tailEnd type="triangle" w="sm" len="sm"/>
          </a:ln>
        </p:spPr>
      </p:cxnSp>
      <p:cxnSp>
        <p:nvCxnSpPr>
          <p:cNvPr id="39" name="fusion_bus_a_1"/>
          <p:cNvCxnSpPr/>
          <p:nvPr/>
        </p:nvCxnSpPr>
        <p:spPr>
          <a:xfrm flipV="1">
            <a:off x="8049600" y="3484800"/>
            <a:ext cx="0" cy="20880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40" name="fusion_bus_a_2"/>
          <p:cNvCxnSpPr/>
          <p:nvPr/>
        </p:nvCxnSpPr>
        <p:spPr>
          <a:xfrm>
            <a:off x="8049600" y="3484800"/>
            <a:ext cx="3686400" cy="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41" name="fusion_bus_a_3"/>
          <p:cNvCxnSpPr/>
          <p:nvPr/>
        </p:nvCxnSpPr>
        <p:spPr>
          <a:xfrm>
            <a:off x="11736000" y="3484800"/>
            <a:ext cx="0" cy="208800"/>
          </a:xfrm>
          <a:prstGeom prst="line">
            <a:avLst/>
          </a:prstGeom>
          <a:ln w="10800">
            <a:solidFill>
              <a:srgbClr val="4F9E68"/>
            </a:solidFill>
            <a:tailEnd type="triangle" w="sm" len="sm"/>
          </a:ln>
        </p:spPr>
      </p:cxnSp>
      <p:cxnSp>
        <p:nvCxnSpPr>
          <p:cNvPr id="42" name="fusion_bus_b"/>
          <p:cNvCxnSpPr/>
          <p:nvPr/>
        </p:nvCxnSpPr>
        <p:spPr>
          <a:xfrm flipV="1">
            <a:off x="9273600" y="3484800"/>
            <a:ext cx="0" cy="20880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43" name="fusion_output_path_1"/>
          <p:cNvCxnSpPr/>
          <p:nvPr/>
        </p:nvCxnSpPr>
        <p:spPr>
          <a:xfrm>
            <a:off x="11736000" y="4845600"/>
            <a:ext cx="0" cy="18000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44" name="fusion_output_path_2"/>
          <p:cNvCxnSpPr/>
          <p:nvPr/>
        </p:nvCxnSpPr>
        <p:spPr>
          <a:xfrm>
            <a:off x="11736000" y="5025600"/>
            <a:ext cx="1252800" cy="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45" name="fusion_output_path_3"/>
          <p:cNvCxnSpPr/>
          <p:nvPr/>
        </p:nvCxnSpPr>
        <p:spPr>
          <a:xfrm flipV="1">
            <a:off x="12988800" y="4845600"/>
            <a:ext cx="0" cy="180000"/>
          </a:xfrm>
          <a:prstGeom prst="line">
            <a:avLst/>
          </a:prstGeom>
          <a:ln w="10800">
            <a:solidFill>
              <a:srgbClr val="4F9E68"/>
            </a:solidFill>
            <a:tailEnd type="triangle" w="sm" len="sm"/>
          </a:ln>
        </p:spPr>
      </p:cxnSp>
      <p:cxnSp>
        <p:nvCxnSpPr>
          <p:cNvPr id="46" name="registration_input_path_1"/>
          <p:cNvCxnSpPr/>
          <p:nvPr/>
        </p:nvCxnSpPr>
        <p:spPr>
          <a:xfrm flipV="1">
            <a:off x="8049600" y="5032800"/>
            <a:ext cx="0" cy="20160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47" name="registration_input_path_2"/>
          <p:cNvCxnSpPr/>
          <p:nvPr/>
        </p:nvCxnSpPr>
        <p:spPr>
          <a:xfrm>
            <a:off x="8049600" y="5032800"/>
            <a:ext cx="2462400" cy="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48" name="registration_input_path_3"/>
          <p:cNvCxnSpPr/>
          <p:nvPr/>
        </p:nvCxnSpPr>
        <p:spPr>
          <a:xfrm>
            <a:off x="10512000" y="5032800"/>
            <a:ext cx="0" cy="201600"/>
          </a:xfrm>
          <a:prstGeom prst="line">
            <a:avLst/>
          </a:prstGeom>
          <a:ln w="10800">
            <a:solidFill>
              <a:srgbClr val="4F9E68"/>
            </a:solidFill>
            <a:tailEnd type="triangle" w="sm" len="sm"/>
          </a:ln>
        </p:spPr>
      </p:cxnSp>
      <p:cxnSp>
        <p:nvCxnSpPr>
          <p:cNvPr id="49" name="registration_output_path_1"/>
          <p:cNvCxnSpPr/>
          <p:nvPr/>
        </p:nvCxnSpPr>
        <p:spPr>
          <a:xfrm>
            <a:off x="10512000" y="6386400"/>
            <a:ext cx="0" cy="18000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50" name="registration_output_path_2"/>
          <p:cNvCxnSpPr/>
          <p:nvPr/>
        </p:nvCxnSpPr>
        <p:spPr>
          <a:xfrm>
            <a:off x="10512000" y="6566400"/>
            <a:ext cx="1238400" cy="0"/>
          </a:xfrm>
          <a:prstGeom prst="line">
            <a:avLst/>
          </a:prstGeom>
          <a:ln w="10800">
            <a:solidFill>
              <a:srgbClr val="4F9E68"/>
            </a:solidFill>
          </a:ln>
        </p:spPr>
      </p:cxnSp>
      <p:cxnSp>
        <p:nvCxnSpPr>
          <p:cNvPr id="51" name="registration_output_path_3"/>
          <p:cNvCxnSpPr/>
          <p:nvPr/>
        </p:nvCxnSpPr>
        <p:spPr>
          <a:xfrm flipV="1">
            <a:off x="11750400" y="6386400"/>
            <a:ext cx="0" cy="180000"/>
          </a:xfrm>
          <a:prstGeom prst="line">
            <a:avLst/>
          </a:prstGeom>
          <a:ln w="10800">
            <a:solidFill>
              <a:srgbClr val="4F9E68"/>
            </a:solidFill>
            <a:tailEnd type="triangle" w="sm" len="sm"/>
          </a:ln>
        </p:spPr>
      </p:cxnSp>
      <p:pic>
        <p:nvPicPr>
          <p:cNvPr id="52" name="IDR_card_background" descr="id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00" y="302399"/>
            <a:ext cx="1742400" cy="1728000"/>
          </a:xfrm>
          <a:prstGeom prst="rect">
            <a:avLst/>
          </a:prstGeom>
        </p:spPr>
      </p:pic>
      <p:pic>
        <p:nvPicPr>
          <p:cNvPr id="53" name="hiPSC_card_background" descr="hips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200" y="302399"/>
            <a:ext cx="1764000" cy="1728000"/>
          </a:xfrm>
          <a:prstGeom prst="rect">
            <a:avLst/>
          </a:prstGeom>
        </p:spPr>
      </p:pic>
      <p:pic>
        <p:nvPicPr>
          <p:cNvPr id="54" name="HiPCT_card_background" descr="hipc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400" y="302399"/>
            <a:ext cx="2937600" cy="1728000"/>
          </a:xfrm>
          <a:prstGeom prst="rect">
            <a:avLst/>
          </a:prstGeom>
        </p:spPr>
      </p:pic>
      <p:sp>
        <p:nvSpPr>
          <p:cNvPr id="55" name="idr_IDR"/>
          <p:cNvSpPr txBox="1"/>
          <p:nvPr/>
        </p:nvSpPr>
        <p:spPr>
          <a:xfrm>
            <a:off x="194400" y="698400"/>
            <a:ext cx="1742400" cy="194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3" b="1" i="0">
                <a:solidFill>
                  <a:srgbClr val="FFFFFF"/>
                </a:solidFill>
                <a:latin typeface="Liberation Sans"/>
              </a:defRPr>
            </a:pPr>
            <a:r>
              <a:t>IDR</a:t>
            </a:r>
          </a:p>
        </p:txBody>
      </p:sp>
      <p:sp>
        <p:nvSpPr>
          <p:cNvPr id="56" name="idr_Public Repository of"/>
          <p:cNvSpPr txBox="1"/>
          <p:nvPr/>
        </p:nvSpPr>
        <p:spPr>
          <a:xfrm>
            <a:off x="194400" y="936000"/>
            <a:ext cx="1742400" cy="2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47" b="1" i="0">
                <a:solidFill>
                  <a:srgbClr val="FFFFFF"/>
                </a:solidFill>
                <a:latin typeface="Liberation Sans"/>
              </a:defRPr>
            </a:pPr>
            <a:r>
              <a:t>Public Repository of</a:t>
            </a:r>
          </a:p>
        </p:txBody>
      </p:sp>
      <p:sp>
        <p:nvSpPr>
          <p:cNvPr id="57" name="idr_Image Datasets"/>
          <p:cNvSpPr txBox="1"/>
          <p:nvPr/>
        </p:nvSpPr>
        <p:spPr>
          <a:xfrm>
            <a:off x="194400" y="1180800"/>
            <a:ext cx="1742400" cy="2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47" b="1" i="0">
                <a:solidFill>
                  <a:srgbClr val="FFFFFF"/>
                </a:solidFill>
                <a:latin typeface="Liberation Sans"/>
              </a:defRPr>
            </a:pPr>
            <a:r>
              <a:t>Image Datasets</a:t>
            </a:r>
          </a:p>
        </p:txBody>
      </p:sp>
      <p:sp>
        <p:nvSpPr>
          <p:cNvPr id="58" name="idr_&gt;100 studies"/>
          <p:cNvSpPr txBox="1"/>
          <p:nvPr/>
        </p:nvSpPr>
        <p:spPr>
          <a:xfrm>
            <a:off x="194400" y="1389600"/>
            <a:ext cx="17424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0" i="1">
                <a:solidFill>
                  <a:srgbClr val="FFFFFF"/>
                </a:solidFill>
                <a:latin typeface="Liberation Sans"/>
              </a:defRPr>
            </a:pPr>
            <a:r>
              <a:t>&gt;100 studies</a:t>
            </a:r>
          </a:p>
        </p:txBody>
      </p:sp>
      <p:sp>
        <p:nvSpPr>
          <p:cNvPr id="59" name="idr_&gt;14,000,000 images"/>
          <p:cNvSpPr txBox="1"/>
          <p:nvPr/>
        </p:nvSpPr>
        <p:spPr>
          <a:xfrm>
            <a:off x="194400" y="1605600"/>
            <a:ext cx="17424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3" b="0" i="1">
                <a:solidFill>
                  <a:srgbClr val="FFFFFF"/>
                </a:solidFill>
                <a:latin typeface="Liberation Sans"/>
              </a:defRPr>
            </a:pPr>
            <a:r>
              <a:t>&gt;14,000,000 images</a:t>
            </a:r>
          </a:p>
        </p:txBody>
      </p:sp>
      <p:sp>
        <p:nvSpPr>
          <p:cNvPr id="60" name="hipsc_hiPSC"/>
          <p:cNvSpPr txBox="1"/>
          <p:nvPr/>
        </p:nvSpPr>
        <p:spPr>
          <a:xfrm>
            <a:off x="2059200" y="691200"/>
            <a:ext cx="1764000" cy="2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60" b="1" i="0">
                <a:solidFill>
                  <a:srgbClr val="FFFFFF"/>
                </a:solidFill>
                <a:latin typeface="Liberation Sans"/>
              </a:defRPr>
            </a:pPr>
            <a:r>
              <a:t>hiPSC</a:t>
            </a:r>
          </a:p>
        </p:txBody>
      </p:sp>
      <p:sp>
        <p:nvSpPr>
          <p:cNvPr id="61" name="hipsc_Single-cell Image"/>
          <p:cNvSpPr txBox="1"/>
          <p:nvPr/>
        </p:nvSpPr>
        <p:spPr>
          <a:xfrm>
            <a:off x="2059200" y="936000"/>
            <a:ext cx="1764000" cy="216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47" b="1" i="0">
                <a:solidFill>
                  <a:srgbClr val="FFFFFF"/>
                </a:solidFill>
                <a:latin typeface="Liberation Sans"/>
              </a:defRPr>
            </a:pPr>
            <a:r>
              <a:t>Single-cell Image</a:t>
            </a:r>
          </a:p>
        </p:txBody>
      </p:sp>
      <p:sp>
        <p:nvSpPr>
          <p:cNvPr id="62" name="hipsc_Dataset"/>
          <p:cNvSpPr txBox="1"/>
          <p:nvPr/>
        </p:nvSpPr>
        <p:spPr>
          <a:xfrm>
            <a:off x="2059200" y="1173600"/>
            <a:ext cx="1764000" cy="216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47" b="1" i="0">
                <a:solidFill>
                  <a:srgbClr val="FFFFFF"/>
                </a:solidFill>
                <a:latin typeface="Liberation Sans"/>
              </a:defRPr>
            </a:pPr>
            <a:r>
              <a:t>Dataset</a:t>
            </a:r>
          </a:p>
        </p:txBody>
      </p:sp>
      <p:sp>
        <p:nvSpPr>
          <p:cNvPr id="63" name="hipsc_&gt;200,000 cells"/>
          <p:cNvSpPr txBox="1"/>
          <p:nvPr/>
        </p:nvSpPr>
        <p:spPr>
          <a:xfrm>
            <a:off x="2059200" y="1389600"/>
            <a:ext cx="1764000" cy="2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0" i="1">
                <a:solidFill>
                  <a:srgbClr val="FFFFFF"/>
                </a:solidFill>
                <a:latin typeface="Liberation Sans"/>
              </a:defRPr>
            </a:pPr>
            <a:r>
              <a:t>&gt;200,000 cells</a:t>
            </a:r>
          </a:p>
        </p:txBody>
      </p:sp>
      <p:sp>
        <p:nvSpPr>
          <p:cNvPr id="64" name="hipsc_25 cellular structures"/>
          <p:cNvSpPr txBox="1"/>
          <p:nvPr/>
        </p:nvSpPr>
        <p:spPr>
          <a:xfrm>
            <a:off x="2059200" y="1605600"/>
            <a:ext cx="1764000" cy="2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3" b="0" i="1">
                <a:solidFill>
                  <a:srgbClr val="FFFFFF"/>
                </a:solidFill>
                <a:latin typeface="Liberation Sans"/>
              </a:defRPr>
            </a:pPr>
            <a:r>
              <a:t>25 cellular structures</a:t>
            </a:r>
          </a:p>
        </p:txBody>
      </p:sp>
      <p:sp>
        <p:nvSpPr>
          <p:cNvPr id="65" name="hipct_HiP-CT"/>
          <p:cNvSpPr txBox="1"/>
          <p:nvPr/>
        </p:nvSpPr>
        <p:spPr>
          <a:xfrm>
            <a:off x="3938400" y="691200"/>
            <a:ext cx="2937600" cy="2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60" b="1" i="0">
                <a:solidFill>
                  <a:srgbClr val="FFFFFF"/>
                </a:solidFill>
                <a:latin typeface="Liberation Sans"/>
              </a:defRPr>
            </a:pPr>
            <a:r>
              <a:t>HiP-CT</a:t>
            </a:r>
          </a:p>
        </p:txBody>
      </p:sp>
      <p:sp>
        <p:nvSpPr>
          <p:cNvPr id="66" name="hipct_Human Organ"/>
          <p:cNvSpPr txBox="1"/>
          <p:nvPr/>
        </p:nvSpPr>
        <p:spPr>
          <a:xfrm>
            <a:off x="3938400" y="928800"/>
            <a:ext cx="2937600" cy="2087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47" b="1" i="0">
                <a:solidFill>
                  <a:srgbClr val="FFFFFF"/>
                </a:solidFill>
                <a:latin typeface="Liberation Sans"/>
              </a:defRPr>
            </a:pPr>
            <a:r>
              <a:t>Human Organ</a:t>
            </a:r>
          </a:p>
        </p:txBody>
      </p:sp>
      <p:sp>
        <p:nvSpPr>
          <p:cNvPr id="67" name="hipct_Atlas"/>
          <p:cNvSpPr txBox="1"/>
          <p:nvPr/>
        </p:nvSpPr>
        <p:spPr>
          <a:xfrm>
            <a:off x="3938400" y="1166400"/>
            <a:ext cx="2937600" cy="2087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47" b="1" i="0">
                <a:solidFill>
                  <a:srgbClr val="FFFFFF"/>
                </a:solidFill>
                <a:latin typeface="Liberation Sans"/>
              </a:defRPr>
            </a:pPr>
            <a:r>
              <a:t>Atlas</a:t>
            </a:r>
          </a:p>
        </p:txBody>
      </p:sp>
      <p:sp>
        <p:nvSpPr>
          <p:cNvPr id="68" name="hipct_&gt;150 patients, &gt;10,000 samples"/>
          <p:cNvSpPr txBox="1"/>
          <p:nvPr/>
        </p:nvSpPr>
        <p:spPr>
          <a:xfrm>
            <a:off x="3938400" y="1389600"/>
            <a:ext cx="2937600" cy="194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0" i="1">
                <a:solidFill>
                  <a:srgbClr val="FFFFFF"/>
                </a:solidFill>
                <a:latin typeface="Liberation Sans"/>
              </a:defRPr>
            </a:pPr>
            <a:r>
              <a:t>&gt;150 patients, &gt;10,000 samples</a:t>
            </a:r>
          </a:p>
        </p:txBody>
      </p:sp>
      <p:sp>
        <p:nvSpPr>
          <p:cNvPr id="69" name="hipct_5 organ types, 6 Imaging Scale"/>
          <p:cNvSpPr txBox="1"/>
          <p:nvPr/>
        </p:nvSpPr>
        <p:spPr>
          <a:xfrm>
            <a:off x="3938400" y="1605600"/>
            <a:ext cx="2937600" cy="194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3" b="0" i="1">
                <a:solidFill>
                  <a:srgbClr val="FFFFFF"/>
                </a:solidFill>
                <a:latin typeface="Liberation Sans"/>
              </a:defRPr>
            </a:pPr>
            <a:r>
              <a:t>5 organ types, 6 Imaging Scale</a:t>
            </a:r>
          </a:p>
        </p:txBody>
      </p:sp>
      <p:sp>
        <p:nvSpPr>
          <p:cNvPr id="70" name="dataset_descriptor"/>
          <p:cNvSpPr txBox="1"/>
          <p:nvPr/>
        </p:nvSpPr>
        <p:spPr>
          <a:xfrm>
            <a:off x="201600" y="2210400"/>
            <a:ext cx="6192000" cy="3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3" b="1" i="0">
                <a:solidFill>
                  <a:srgbClr val="9298A2"/>
                </a:solidFill>
                <a:latin typeface="Liberation Sans"/>
              </a:defRPr>
            </a:pPr>
            <a:r>
              <a:t>Raw-level Dataset, 2-5D dimensionality, MB-TB level file size</a:t>
            </a:r>
          </a:p>
        </p:txBody>
      </p:sp>
      <p:sp>
        <p:nvSpPr>
          <p:cNvPr id="71" name="ellipsis"/>
          <p:cNvSpPr txBox="1"/>
          <p:nvPr/>
        </p:nvSpPr>
        <p:spPr>
          <a:xfrm>
            <a:off x="6415200" y="2044800"/>
            <a:ext cx="489599" cy="252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4B7FC7"/>
                </a:solidFill>
                <a:latin typeface="Liberation Sans"/>
              </a:defRPr>
            </a:pPr>
            <a:r>
              <a:t>•••  •••</a:t>
            </a:r>
          </a:p>
        </p:txBody>
      </p:sp>
      <p:sp>
        <p:nvSpPr>
          <p:cNvPr id="72" name="rms_title"/>
          <p:cNvSpPr txBox="1"/>
          <p:nvPr/>
        </p:nvSpPr>
        <p:spPr>
          <a:xfrm>
            <a:off x="86400" y="2822400"/>
            <a:ext cx="7164000" cy="338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60" b="1" i="0">
                <a:solidFill>
                  <a:srgbClr val="4B74BF"/>
                </a:solidFill>
                <a:latin typeface="Liberation Sans"/>
              </a:defRPr>
            </a:pPr>
            <a:r>
              <a:t>Multi-modal, Multi-dimensionality Dataset with Random Multi-scale Sampling (RMS)</a:t>
            </a:r>
          </a:p>
        </p:txBody>
      </p:sp>
      <p:sp>
        <p:nvSpPr>
          <p:cNvPr id="73" name="raw_sampled_title"/>
          <p:cNvSpPr txBox="1"/>
          <p:nvPr/>
        </p:nvSpPr>
        <p:spPr>
          <a:xfrm>
            <a:off x="7416000" y="194400"/>
            <a:ext cx="1584000" cy="1799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8D9197"/>
                </a:solidFill>
                <a:latin typeface="Liberation Sans"/>
              </a:defRPr>
            </a:pPr>
            <a:r>
              <a:t>1 Raw Data Sampled</a:t>
            </a:r>
          </a:p>
        </p:txBody>
      </p:sp>
      <p:cxnSp>
        <p:nvCxnSpPr>
          <p:cNvPr id="74" name="raw_to_combo_header_arrow"/>
          <p:cNvCxnSpPr/>
          <p:nvPr/>
        </p:nvCxnSpPr>
        <p:spPr>
          <a:xfrm>
            <a:off x="8762400" y="288000"/>
            <a:ext cx="259200" cy="0"/>
          </a:xfrm>
          <a:prstGeom prst="line">
            <a:avLst/>
          </a:prstGeom>
          <a:ln w="8639">
            <a:solidFill>
              <a:srgbClr val="A7AAB0"/>
            </a:solidFill>
            <a:tailEnd type="triangle" w="sm" len="sm"/>
          </a:ln>
        </p:spPr>
      </p:cxnSp>
      <p:sp>
        <p:nvSpPr>
          <p:cNvPr id="75" name="combo_title"/>
          <p:cNvSpPr txBox="1"/>
          <p:nvPr/>
        </p:nvSpPr>
        <p:spPr>
          <a:xfrm>
            <a:off x="9028800" y="194400"/>
            <a:ext cx="849600" cy="1799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8D9197"/>
                </a:solidFill>
                <a:latin typeface="Liberation Sans"/>
              </a:defRPr>
            </a:pPr>
            <a:r>
              <a:t>12 Combo</a:t>
            </a:r>
          </a:p>
        </p:txBody>
      </p:sp>
      <p:pic>
        <p:nvPicPr>
          <p:cNvPr id="76" name="raw_scale_full" descr="ra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000" y="396000"/>
            <a:ext cx="1447200" cy="971999"/>
          </a:xfrm>
          <a:prstGeom prst="rect">
            <a:avLst/>
          </a:prstGeom>
        </p:spPr>
      </p:pic>
      <p:pic>
        <p:nvPicPr>
          <p:cNvPr id="77" name="raw_scale_half" descr="ra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199" y="1468800"/>
            <a:ext cx="1116000" cy="763200"/>
          </a:xfrm>
          <a:prstGeom prst="rect">
            <a:avLst/>
          </a:prstGeom>
        </p:spPr>
      </p:pic>
      <p:pic>
        <p:nvPicPr>
          <p:cNvPr id="78" name="raw_scale_quarter" descr="ra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6800" y="2376000"/>
            <a:ext cx="806400" cy="561600"/>
          </a:xfrm>
          <a:prstGeom prst="rect">
            <a:avLst/>
          </a:prstGeom>
        </p:spPr>
      </p:pic>
      <p:sp>
        <p:nvSpPr>
          <p:cNvPr id="79" name="raw_scale_full_border"/>
          <p:cNvSpPr/>
          <p:nvPr/>
        </p:nvSpPr>
        <p:spPr>
          <a:xfrm>
            <a:off x="7416000" y="396000"/>
            <a:ext cx="1447200" cy="971999"/>
          </a:xfrm>
          <a:prstGeom prst="rect">
            <a:avLst/>
          </a:prstGeom>
          <a:noFill/>
          <a:ln w="10080">
            <a:solidFill>
              <a:srgbClr val="CF666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selection_caption"/>
          <p:cNvSpPr txBox="1"/>
          <p:nvPr/>
        </p:nvSpPr>
        <p:spPr>
          <a:xfrm>
            <a:off x="7639199" y="475199"/>
            <a:ext cx="1065600" cy="388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77" b="1" i="0">
                <a:solidFill>
                  <a:srgbClr val="FFFFFF"/>
                </a:solidFill>
                <a:latin typeface="Liberation Sans"/>
              </a:defRPr>
            </a:pPr>
            <a:r>
              <a:t>2/3D selection</a:t>
            </a:r>
            <a:br/>
            <a:r>
              <a:t>window</a:t>
            </a:r>
          </a:p>
        </p:txBody>
      </p:sp>
      <p:sp>
        <p:nvSpPr>
          <p:cNvPr id="81" name="raw_scale_label"/>
          <p:cNvSpPr txBox="1"/>
          <p:nvPr/>
        </p:nvSpPr>
        <p:spPr>
          <a:xfrm>
            <a:off x="7423200" y="1188000"/>
            <a:ext cx="504000" cy="1799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Raw</a:t>
            </a:r>
          </a:p>
        </p:txBody>
      </p:sp>
      <p:sp>
        <p:nvSpPr>
          <p:cNvPr id="82" name="half_scale_label"/>
          <p:cNvSpPr txBox="1"/>
          <p:nvPr/>
        </p:nvSpPr>
        <p:spPr>
          <a:xfrm>
            <a:off x="7754399" y="2023200"/>
            <a:ext cx="446400" cy="2087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1/2</a:t>
            </a:r>
          </a:p>
        </p:txBody>
      </p:sp>
      <p:sp>
        <p:nvSpPr>
          <p:cNvPr id="83" name="quarter_scale_label"/>
          <p:cNvSpPr txBox="1"/>
          <p:nvPr/>
        </p:nvSpPr>
        <p:spPr>
          <a:xfrm>
            <a:off x="8056800" y="2728800"/>
            <a:ext cx="410400" cy="2087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1/4</a:t>
            </a:r>
          </a:p>
        </p:txBody>
      </p:sp>
      <p:sp>
        <p:nvSpPr>
          <p:cNvPr id="84" name="selection_full"/>
          <p:cNvSpPr/>
          <p:nvPr/>
        </p:nvSpPr>
        <p:spPr>
          <a:xfrm>
            <a:off x="8316000" y="712800"/>
            <a:ext cx="359999" cy="374400"/>
          </a:xfrm>
          <a:prstGeom prst="rect">
            <a:avLst/>
          </a:prstGeom>
          <a:noFill/>
          <a:ln w="10800">
            <a:solidFill>
              <a:srgbClr val="E06C64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selection_half"/>
          <p:cNvSpPr/>
          <p:nvPr/>
        </p:nvSpPr>
        <p:spPr>
          <a:xfrm>
            <a:off x="8121600" y="1591200"/>
            <a:ext cx="381600" cy="381600"/>
          </a:xfrm>
          <a:prstGeom prst="rect">
            <a:avLst/>
          </a:prstGeom>
          <a:noFill/>
          <a:ln w="10800">
            <a:solidFill>
              <a:srgbClr val="E06C64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selection_quarter"/>
          <p:cNvSpPr/>
          <p:nvPr/>
        </p:nvSpPr>
        <p:spPr>
          <a:xfrm>
            <a:off x="8424000" y="2498400"/>
            <a:ext cx="374400" cy="381600"/>
          </a:xfrm>
          <a:prstGeom prst="rect">
            <a:avLst/>
          </a:prstGeom>
          <a:noFill/>
          <a:ln w="10800">
            <a:solidFill>
              <a:srgbClr val="E06C64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7" name="selection_pointer_1"/>
          <p:cNvCxnSpPr/>
          <p:nvPr/>
        </p:nvCxnSpPr>
        <p:spPr>
          <a:xfrm>
            <a:off x="7941600" y="770400"/>
            <a:ext cx="295200" cy="158400"/>
          </a:xfrm>
          <a:prstGeom prst="line">
            <a:avLst/>
          </a:prstGeom>
          <a:ln w="10080">
            <a:solidFill>
              <a:srgbClr val="FFFFFF"/>
            </a:solidFill>
          </a:ln>
        </p:spPr>
      </p:cxnSp>
      <p:cxnSp>
        <p:nvCxnSpPr>
          <p:cNvPr id="88" name="selection_pointer_2"/>
          <p:cNvCxnSpPr/>
          <p:nvPr/>
        </p:nvCxnSpPr>
        <p:spPr>
          <a:xfrm flipV="1">
            <a:off x="8236800" y="900000"/>
            <a:ext cx="79200" cy="28800"/>
          </a:xfrm>
          <a:prstGeom prst="line">
            <a:avLst/>
          </a:prstGeom>
          <a:ln w="10080">
            <a:solidFill>
              <a:srgbClr val="FFFFFF"/>
            </a:solidFill>
            <a:tailEnd type="triangle" w="sm" len="sm"/>
          </a:ln>
        </p:spPr>
      </p:cxnSp>
      <p:pic>
        <p:nvPicPr>
          <p:cNvPr id="89" name="local" descr="loca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2400" y="468000"/>
            <a:ext cx="756000" cy="756000"/>
          </a:xfrm>
          <a:prstGeom prst="rect">
            <a:avLst/>
          </a:prstGeom>
        </p:spPr>
      </p:pic>
      <p:sp>
        <p:nvSpPr>
          <p:cNvPr id="90" name="local_border"/>
          <p:cNvSpPr/>
          <p:nvPr/>
        </p:nvSpPr>
        <p:spPr>
          <a:xfrm>
            <a:off x="9122400" y="468000"/>
            <a:ext cx="756000" cy="756000"/>
          </a:xfrm>
          <a:prstGeom prst="rect">
            <a:avLst/>
          </a:prstGeom>
          <a:noFill/>
          <a:ln w="10800">
            <a:solidFill>
              <a:srgbClr val="DC6F6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local_label"/>
          <p:cNvSpPr txBox="1"/>
          <p:nvPr/>
        </p:nvSpPr>
        <p:spPr>
          <a:xfrm>
            <a:off x="9144000" y="1022400"/>
            <a:ext cx="7128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Local</a:t>
            </a:r>
          </a:p>
        </p:txBody>
      </p:sp>
      <p:sp>
        <p:nvSpPr>
          <p:cNvPr id="92" name="local_dotted_border"/>
          <p:cNvSpPr/>
          <p:nvPr/>
        </p:nvSpPr>
        <p:spPr>
          <a:xfrm>
            <a:off x="9136800" y="482399"/>
            <a:ext cx="727200" cy="727200"/>
          </a:xfrm>
          <a:prstGeom prst="rect">
            <a:avLst/>
          </a:prstGeom>
          <a:noFill/>
          <a:ln w="7920">
            <a:solidFill>
              <a:srgbClr val="DC6F65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3" name="mid" descr="mi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2400" y="1396800"/>
            <a:ext cx="756000" cy="784800"/>
          </a:xfrm>
          <a:prstGeom prst="rect">
            <a:avLst/>
          </a:prstGeom>
        </p:spPr>
      </p:pic>
      <p:sp>
        <p:nvSpPr>
          <p:cNvPr id="94" name="mid_border"/>
          <p:cNvSpPr/>
          <p:nvPr/>
        </p:nvSpPr>
        <p:spPr>
          <a:xfrm>
            <a:off x="9122400" y="1396800"/>
            <a:ext cx="756000" cy="784800"/>
          </a:xfrm>
          <a:prstGeom prst="rect">
            <a:avLst/>
          </a:prstGeom>
          <a:noFill/>
          <a:ln w="10800">
            <a:solidFill>
              <a:srgbClr val="DC6F6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mid_label"/>
          <p:cNvSpPr txBox="1"/>
          <p:nvPr/>
        </p:nvSpPr>
        <p:spPr>
          <a:xfrm>
            <a:off x="9144000" y="1980000"/>
            <a:ext cx="7128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Mid-range</a:t>
            </a:r>
          </a:p>
        </p:txBody>
      </p:sp>
      <p:sp>
        <p:nvSpPr>
          <p:cNvPr id="96" name="mid_dotted_border"/>
          <p:cNvSpPr/>
          <p:nvPr/>
        </p:nvSpPr>
        <p:spPr>
          <a:xfrm>
            <a:off x="9136800" y="1411200"/>
            <a:ext cx="727200" cy="756000"/>
          </a:xfrm>
          <a:prstGeom prst="rect">
            <a:avLst/>
          </a:prstGeom>
          <a:noFill/>
          <a:ln w="7920">
            <a:solidFill>
              <a:srgbClr val="DC6F65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7" name="global" descr="global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2400" y="2304000"/>
            <a:ext cx="756000" cy="763200"/>
          </a:xfrm>
          <a:prstGeom prst="rect">
            <a:avLst/>
          </a:prstGeom>
        </p:spPr>
      </p:pic>
      <p:sp>
        <p:nvSpPr>
          <p:cNvPr id="98" name="global_border"/>
          <p:cNvSpPr/>
          <p:nvPr/>
        </p:nvSpPr>
        <p:spPr>
          <a:xfrm>
            <a:off x="9122400" y="2304000"/>
            <a:ext cx="756000" cy="763200"/>
          </a:xfrm>
          <a:prstGeom prst="rect">
            <a:avLst/>
          </a:prstGeom>
          <a:noFill/>
          <a:ln w="10800">
            <a:solidFill>
              <a:srgbClr val="DC6F6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global_label"/>
          <p:cNvSpPr txBox="1"/>
          <p:nvPr/>
        </p:nvSpPr>
        <p:spPr>
          <a:xfrm>
            <a:off x="9144000" y="2865600"/>
            <a:ext cx="7128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Global</a:t>
            </a:r>
          </a:p>
        </p:txBody>
      </p:sp>
      <p:sp>
        <p:nvSpPr>
          <p:cNvPr id="100" name="global_dotted_border"/>
          <p:cNvSpPr/>
          <p:nvPr/>
        </p:nvSpPr>
        <p:spPr>
          <a:xfrm>
            <a:off x="9136800" y="2318400"/>
            <a:ext cx="727200" cy="734400"/>
          </a:xfrm>
          <a:prstGeom prst="rect">
            <a:avLst/>
          </a:prstGeom>
          <a:noFill/>
          <a:ln w="7920">
            <a:solidFill>
              <a:srgbClr val="DC6F65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1" name="mask_1_image" descr="mask_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0" y="468000"/>
            <a:ext cx="756000" cy="748800"/>
          </a:xfrm>
          <a:prstGeom prst="rect">
            <a:avLst/>
          </a:prstGeom>
        </p:spPr>
      </p:pic>
      <p:pic>
        <p:nvPicPr>
          <p:cNvPr id="102" name="mask_2_image" descr="mask_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0" y="1404000"/>
            <a:ext cx="756000" cy="777600"/>
          </a:xfrm>
          <a:prstGeom prst="rect">
            <a:avLst/>
          </a:prstGeom>
        </p:spPr>
      </p:pic>
      <p:pic>
        <p:nvPicPr>
          <p:cNvPr id="103" name="mask_3_image" descr="mask_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8400" y="2311200"/>
            <a:ext cx="756000" cy="748800"/>
          </a:xfrm>
          <a:prstGeom prst="rect">
            <a:avLst/>
          </a:prstGeom>
        </p:spPr>
      </p:pic>
      <p:pic>
        <p:nvPicPr>
          <p:cNvPr id="104" name="deform_1_image" descr="deform_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94400" y="468000"/>
            <a:ext cx="756000" cy="748800"/>
          </a:xfrm>
          <a:prstGeom prst="rect">
            <a:avLst/>
          </a:prstGeom>
        </p:spPr>
      </p:pic>
      <p:pic>
        <p:nvPicPr>
          <p:cNvPr id="105" name="deform_2_image" descr="deform_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94400" y="1404000"/>
            <a:ext cx="756000" cy="777600"/>
          </a:xfrm>
          <a:prstGeom prst="rect">
            <a:avLst/>
          </a:prstGeom>
        </p:spPr>
      </p:pic>
      <p:pic>
        <p:nvPicPr>
          <p:cNvPr id="106" name="deform_3_image" descr="deform_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94400" y="2311200"/>
            <a:ext cx="756000" cy="748800"/>
          </a:xfrm>
          <a:prstGeom prst="rect">
            <a:avLst/>
          </a:prstGeom>
        </p:spPr>
      </p:pic>
      <p:pic>
        <p:nvPicPr>
          <p:cNvPr id="107" name="noisy_1_image" descr="noisy_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930400" y="468000"/>
            <a:ext cx="756000" cy="748800"/>
          </a:xfrm>
          <a:prstGeom prst="rect">
            <a:avLst/>
          </a:prstGeom>
        </p:spPr>
      </p:pic>
      <p:pic>
        <p:nvPicPr>
          <p:cNvPr id="108" name="noisy_2_image" descr="noisy_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30400" y="1404000"/>
            <a:ext cx="756000" cy="777600"/>
          </a:xfrm>
          <a:prstGeom prst="rect">
            <a:avLst/>
          </a:prstGeom>
        </p:spPr>
      </p:pic>
      <p:pic>
        <p:nvPicPr>
          <p:cNvPr id="109" name="noisy_3_image" descr="noisy_3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930400" y="2311200"/>
            <a:ext cx="756000" cy="748800"/>
          </a:xfrm>
          <a:prstGeom prst="rect">
            <a:avLst/>
          </a:prstGeom>
        </p:spPr>
      </p:pic>
      <p:pic>
        <p:nvPicPr>
          <p:cNvPr id="110" name="lowres_1_image" descr="lowres_1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873600" y="468000"/>
            <a:ext cx="756000" cy="748800"/>
          </a:xfrm>
          <a:prstGeom prst="rect">
            <a:avLst/>
          </a:prstGeom>
        </p:spPr>
      </p:pic>
      <p:pic>
        <p:nvPicPr>
          <p:cNvPr id="111" name="lowres_2_image" descr="lowres_2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873600" y="1404000"/>
            <a:ext cx="756000" cy="777600"/>
          </a:xfrm>
          <a:prstGeom prst="rect">
            <a:avLst/>
          </a:prstGeom>
        </p:spPr>
      </p:pic>
      <p:pic>
        <p:nvPicPr>
          <p:cNvPr id="112" name="lowres_3_image" descr="lowres_3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73600" y="2311200"/>
            <a:ext cx="756000" cy="748800"/>
          </a:xfrm>
          <a:prstGeom prst="rect">
            <a:avLst/>
          </a:prstGeom>
        </p:spPr>
      </p:pic>
      <p:sp>
        <p:nvSpPr>
          <p:cNvPr id="113" name="Task:_Image_Restoration"/>
          <p:cNvSpPr txBox="1"/>
          <p:nvPr/>
        </p:nvSpPr>
        <p:spPr>
          <a:xfrm>
            <a:off x="108000" y="3355200"/>
            <a:ext cx="2664000" cy="2447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3F965C"/>
                </a:solidFill>
                <a:latin typeface="Liberation Sans"/>
              </a:defRPr>
            </a:pPr>
            <a:r>
              <a:t>Task: Image Restoration</a:t>
            </a:r>
          </a:p>
        </p:txBody>
      </p:sp>
      <p:sp>
        <p:nvSpPr>
          <p:cNvPr id="114" name="Task:_Image_Super-resolution"/>
          <p:cNvSpPr txBox="1"/>
          <p:nvPr/>
        </p:nvSpPr>
        <p:spPr>
          <a:xfrm>
            <a:off x="108000" y="4953600"/>
            <a:ext cx="3168000" cy="2447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3F965C"/>
                </a:solidFill>
                <a:latin typeface="Liberation Sans"/>
              </a:defRPr>
            </a:pPr>
            <a:r>
              <a:t>Task: Image Super-resolution</a:t>
            </a:r>
          </a:p>
        </p:txBody>
      </p:sp>
      <p:sp>
        <p:nvSpPr>
          <p:cNvPr id="115" name="Task:_Image_Fusion"/>
          <p:cNvSpPr txBox="1"/>
          <p:nvPr/>
        </p:nvSpPr>
        <p:spPr>
          <a:xfrm>
            <a:off x="5709600" y="3355200"/>
            <a:ext cx="2376000" cy="2447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3F965C"/>
                </a:solidFill>
                <a:latin typeface="Liberation Sans"/>
              </a:defRPr>
            </a:pPr>
            <a:r>
              <a:t>Task: Image Fusion</a:t>
            </a:r>
          </a:p>
        </p:txBody>
      </p:sp>
      <p:sp>
        <p:nvSpPr>
          <p:cNvPr id="116" name="Task:_Image_Registration"/>
          <p:cNvSpPr txBox="1"/>
          <p:nvPr/>
        </p:nvSpPr>
        <p:spPr>
          <a:xfrm>
            <a:off x="5709600" y="4953600"/>
            <a:ext cx="2808000" cy="2447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3F965C"/>
                </a:solidFill>
                <a:latin typeface="Liberation Sans"/>
              </a:defRPr>
            </a:pPr>
            <a:r>
              <a:t>Task: Image Registration</a:t>
            </a:r>
          </a:p>
        </p:txBody>
      </p:sp>
      <p:pic>
        <p:nvPicPr>
          <p:cNvPr id="117" name="rest_raw" descr="ra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00" y="3693600"/>
            <a:ext cx="1159200" cy="1159200"/>
          </a:xfrm>
          <a:prstGeom prst="rect">
            <a:avLst/>
          </a:prstGeom>
        </p:spPr>
      </p:pic>
      <p:sp>
        <p:nvSpPr>
          <p:cNvPr id="118" name="rest_raw_label"/>
          <p:cNvSpPr txBox="1"/>
          <p:nvPr/>
        </p:nvSpPr>
        <p:spPr>
          <a:xfrm>
            <a:off x="165600" y="4651200"/>
            <a:ext cx="11160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Raw</a:t>
            </a:r>
          </a:p>
        </p:txBody>
      </p:sp>
      <p:cxnSp>
        <p:nvCxnSpPr>
          <p:cNvPr id="119" name="noise_icon_root_1"/>
          <p:cNvCxnSpPr/>
          <p:nvPr/>
        </p:nvCxnSpPr>
        <p:spPr>
          <a:xfrm>
            <a:off x="1411200" y="4161600"/>
            <a:ext cx="50400" cy="24480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20" name="noise_icon_root_2"/>
          <p:cNvCxnSpPr/>
          <p:nvPr/>
        </p:nvCxnSpPr>
        <p:spPr>
          <a:xfrm>
            <a:off x="1461600" y="4406400"/>
            <a:ext cx="50400" cy="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21" name="noise_icon_root_3"/>
          <p:cNvCxnSpPr/>
          <p:nvPr/>
        </p:nvCxnSpPr>
        <p:spPr>
          <a:xfrm flipV="1">
            <a:off x="1512000" y="4147200"/>
            <a:ext cx="72000" cy="25920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22" name="noise_icon_root_4"/>
          <p:cNvCxnSpPr/>
          <p:nvPr/>
        </p:nvCxnSpPr>
        <p:spPr>
          <a:xfrm>
            <a:off x="1584000" y="4147200"/>
            <a:ext cx="100800" cy="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23" name="noise_icon_box_1"/>
          <p:cNvCxnSpPr/>
          <p:nvPr/>
        </p:nvCxnSpPr>
        <p:spPr>
          <a:xfrm>
            <a:off x="1641600" y="4147200"/>
            <a:ext cx="100800" cy="0"/>
          </a:xfrm>
          <a:prstGeom prst="line">
            <a:avLst/>
          </a:prstGeom>
          <a:ln w="50400">
            <a:solidFill>
              <a:srgbClr val="CCAAA0"/>
            </a:solidFill>
          </a:ln>
        </p:spPr>
      </p:cxnSp>
      <p:cxnSp>
        <p:nvCxnSpPr>
          <p:cNvPr id="124" name="noise_icon_box_2"/>
          <p:cNvCxnSpPr/>
          <p:nvPr/>
        </p:nvCxnSpPr>
        <p:spPr>
          <a:xfrm>
            <a:off x="1742400" y="4147200"/>
            <a:ext cx="0" cy="252000"/>
          </a:xfrm>
          <a:prstGeom prst="line">
            <a:avLst/>
          </a:prstGeom>
          <a:ln w="50400">
            <a:solidFill>
              <a:srgbClr val="CCAAA0"/>
            </a:solidFill>
          </a:ln>
        </p:spPr>
      </p:cxnSp>
      <p:cxnSp>
        <p:nvCxnSpPr>
          <p:cNvPr id="125" name="noise_icon_box_3"/>
          <p:cNvCxnSpPr/>
          <p:nvPr/>
        </p:nvCxnSpPr>
        <p:spPr>
          <a:xfrm flipH="1">
            <a:off x="1641600" y="4399200"/>
            <a:ext cx="100800" cy="0"/>
          </a:xfrm>
          <a:prstGeom prst="line">
            <a:avLst/>
          </a:prstGeom>
          <a:ln w="50400">
            <a:solidFill>
              <a:srgbClr val="CCAAA0"/>
            </a:solidFill>
          </a:ln>
        </p:spPr>
      </p:cxnSp>
      <p:sp>
        <p:nvSpPr>
          <p:cNvPr id="126" name="noise_icon_label"/>
          <p:cNvSpPr txBox="1"/>
          <p:nvPr/>
        </p:nvSpPr>
        <p:spPr>
          <a:xfrm>
            <a:off x="1375200" y="4154400"/>
            <a:ext cx="432000" cy="259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17312A"/>
                </a:solidFill>
                <a:latin typeface="Liberation Sans"/>
              </a:defRPr>
            </a:pPr>
            <a:r>
              <a:t>Random</a:t>
            </a:r>
            <a:br/>
            <a:r>
              <a:t>Noise</a:t>
            </a:r>
          </a:p>
        </p:txBody>
      </p:sp>
      <p:pic>
        <p:nvPicPr>
          <p:cNvPr id="127" name="noisy" descr="noisy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64800" y="3693600"/>
            <a:ext cx="1166400" cy="1159200"/>
          </a:xfrm>
          <a:prstGeom prst="rect">
            <a:avLst/>
          </a:prstGeom>
        </p:spPr>
      </p:pic>
      <p:sp>
        <p:nvSpPr>
          <p:cNvPr id="128" name="noisy_label"/>
          <p:cNvSpPr txBox="1"/>
          <p:nvPr/>
        </p:nvSpPr>
        <p:spPr>
          <a:xfrm>
            <a:off x="1886400" y="4651200"/>
            <a:ext cx="11232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Noisy</a:t>
            </a:r>
          </a:p>
        </p:txBody>
      </p:sp>
      <p:sp>
        <p:nvSpPr>
          <p:cNvPr id="129" name="restoration_model_encoder"/>
          <p:cNvSpPr/>
          <p:nvPr/>
        </p:nvSpPr>
        <p:spPr>
          <a:xfrm>
            <a:off x="3110400" y="3693600"/>
            <a:ext cx="1137600" cy="799200"/>
          </a:xfrm>
          <a:custGeom>
            <a:avLst/>
            <a:gdLst/>
            <a:ahLst/>
            <a:cxnLst/>
            <a:rect l="l" t="t" r="r" b="b"/>
            <a:pathLst>
              <a:path w="158" h="111">
                <a:moveTo>
                  <a:pt x="0" y="0"/>
                </a:moveTo>
                <a:lnTo>
                  <a:pt x="158" y="0"/>
                </a:lnTo>
                <a:lnTo>
                  <a:pt x="132" y="111"/>
                </a:lnTo>
                <a:lnTo>
                  <a:pt x="25" y="111"/>
                </a:lnTo>
                <a:close/>
              </a:path>
            </a:pathLst>
          </a:custGeom>
          <a:solidFill>
            <a:srgbClr val="4F9E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estoration_model_decoder"/>
          <p:cNvSpPr/>
          <p:nvPr/>
        </p:nvSpPr>
        <p:spPr>
          <a:xfrm>
            <a:off x="3110400" y="4536000"/>
            <a:ext cx="1137600" cy="309600"/>
          </a:xfrm>
          <a:custGeom>
            <a:avLst/>
            <a:gdLst/>
            <a:ahLst/>
            <a:cxnLst/>
            <a:rect l="l" t="t" r="r" b="b"/>
            <a:pathLst>
              <a:path w="158" h="43">
                <a:moveTo>
                  <a:pt x="0" y="0"/>
                </a:moveTo>
                <a:lnTo>
                  <a:pt x="132" y="0"/>
                </a:lnTo>
                <a:lnTo>
                  <a:pt x="158" y="43"/>
                </a:lnTo>
                <a:lnTo>
                  <a:pt x="0" y="43"/>
                </a:lnTo>
                <a:close/>
              </a:path>
            </a:pathLst>
          </a:custGeom>
          <a:solidFill>
            <a:srgbClr val="7FB6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restoration_model_encoder_label"/>
          <p:cNvSpPr txBox="1"/>
          <p:nvPr/>
        </p:nvSpPr>
        <p:spPr>
          <a:xfrm>
            <a:off x="3218400" y="3895199"/>
            <a:ext cx="921600" cy="432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33" b="1" i="0">
                <a:solidFill>
                  <a:srgbClr val="FFFFFF"/>
                </a:solidFill>
                <a:latin typeface="Liberation Sans"/>
              </a:defRPr>
            </a:pPr>
            <a:r>
              <a:t>Mamba</a:t>
            </a:r>
            <a:br/>
            <a:r>
              <a:t>Encoder</a:t>
            </a:r>
          </a:p>
        </p:txBody>
      </p:sp>
      <p:sp>
        <p:nvSpPr>
          <p:cNvPr id="132" name="restoration_model_decoder_label"/>
          <p:cNvSpPr txBox="1"/>
          <p:nvPr/>
        </p:nvSpPr>
        <p:spPr>
          <a:xfrm>
            <a:off x="3290400" y="4543200"/>
            <a:ext cx="777600" cy="273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7" b="1" i="0">
                <a:solidFill>
                  <a:srgbClr val="FFFFFF"/>
                </a:solidFill>
                <a:latin typeface="Liberation Sans"/>
              </a:defRPr>
            </a:pPr>
            <a:r>
              <a:t>Conv</a:t>
            </a:r>
            <a:br/>
            <a:r>
              <a:t>Decoder</a:t>
            </a:r>
          </a:p>
        </p:txBody>
      </p:sp>
      <p:pic>
        <p:nvPicPr>
          <p:cNvPr id="133" name="restored" descr="restored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34400" y="3693600"/>
            <a:ext cx="1166400" cy="1159200"/>
          </a:xfrm>
          <a:prstGeom prst="rect">
            <a:avLst/>
          </a:prstGeom>
        </p:spPr>
      </p:pic>
      <p:sp>
        <p:nvSpPr>
          <p:cNvPr id="134" name="restored_label"/>
          <p:cNvSpPr txBox="1"/>
          <p:nvPr/>
        </p:nvSpPr>
        <p:spPr>
          <a:xfrm>
            <a:off x="4356000" y="4651200"/>
            <a:ext cx="11232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Restored</a:t>
            </a:r>
          </a:p>
        </p:txBody>
      </p:sp>
      <p:pic>
        <p:nvPicPr>
          <p:cNvPr id="135" name="sr_raw" descr="ra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00" y="5234400"/>
            <a:ext cx="1159200" cy="1152000"/>
          </a:xfrm>
          <a:prstGeom prst="rect">
            <a:avLst/>
          </a:prstGeom>
        </p:spPr>
      </p:pic>
      <p:sp>
        <p:nvSpPr>
          <p:cNvPr id="136" name="sr_raw_label"/>
          <p:cNvSpPr txBox="1"/>
          <p:nvPr/>
        </p:nvSpPr>
        <p:spPr>
          <a:xfrm>
            <a:off x="165600" y="6184800"/>
            <a:ext cx="11160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Raw</a:t>
            </a:r>
          </a:p>
        </p:txBody>
      </p:sp>
      <p:cxnSp>
        <p:nvCxnSpPr>
          <p:cNvPr id="137" name="lowres_icon_root_1"/>
          <p:cNvCxnSpPr/>
          <p:nvPr/>
        </p:nvCxnSpPr>
        <p:spPr>
          <a:xfrm>
            <a:off x="1411200" y="5709600"/>
            <a:ext cx="50400" cy="24480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38" name="lowres_icon_root_2"/>
          <p:cNvCxnSpPr/>
          <p:nvPr/>
        </p:nvCxnSpPr>
        <p:spPr>
          <a:xfrm>
            <a:off x="1461600" y="5954400"/>
            <a:ext cx="50400" cy="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39" name="lowres_icon_root_3"/>
          <p:cNvCxnSpPr/>
          <p:nvPr/>
        </p:nvCxnSpPr>
        <p:spPr>
          <a:xfrm flipV="1">
            <a:off x="1512000" y="5695200"/>
            <a:ext cx="72000" cy="25920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40" name="lowres_icon_root_4"/>
          <p:cNvCxnSpPr/>
          <p:nvPr/>
        </p:nvCxnSpPr>
        <p:spPr>
          <a:xfrm>
            <a:off x="1584000" y="5695200"/>
            <a:ext cx="100800" cy="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41" name="lowres_icon_box_1"/>
          <p:cNvCxnSpPr/>
          <p:nvPr/>
        </p:nvCxnSpPr>
        <p:spPr>
          <a:xfrm>
            <a:off x="1641600" y="5695200"/>
            <a:ext cx="100800" cy="0"/>
          </a:xfrm>
          <a:prstGeom prst="line">
            <a:avLst/>
          </a:prstGeom>
          <a:ln w="50400">
            <a:solidFill>
              <a:srgbClr val="CCAAA0"/>
            </a:solidFill>
          </a:ln>
        </p:spPr>
      </p:cxnSp>
      <p:cxnSp>
        <p:nvCxnSpPr>
          <p:cNvPr id="142" name="lowres_icon_box_2"/>
          <p:cNvCxnSpPr/>
          <p:nvPr/>
        </p:nvCxnSpPr>
        <p:spPr>
          <a:xfrm>
            <a:off x="1742400" y="5695200"/>
            <a:ext cx="0" cy="252000"/>
          </a:xfrm>
          <a:prstGeom prst="line">
            <a:avLst/>
          </a:prstGeom>
          <a:ln w="50400">
            <a:solidFill>
              <a:srgbClr val="CCAAA0"/>
            </a:solidFill>
          </a:ln>
        </p:spPr>
      </p:cxnSp>
      <p:cxnSp>
        <p:nvCxnSpPr>
          <p:cNvPr id="143" name="lowres_icon_box_3"/>
          <p:cNvCxnSpPr/>
          <p:nvPr/>
        </p:nvCxnSpPr>
        <p:spPr>
          <a:xfrm flipH="1">
            <a:off x="1641600" y="5947200"/>
            <a:ext cx="100800" cy="0"/>
          </a:xfrm>
          <a:prstGeom prst="line">
            <a:avLst/>
          </a:prstGeom>
          <a:ln w="50400">
            <a:solidFill>
              <a:srgbClr val="CCAAA0"/>
            </a:solidFill>
          </a:ln>
        </p:spPr>
      </p:cxnSp>
      <p:sp>
        <p:nvSpPr>
          <p:cNvPr id="144" name="lowres_icon_label"/>
          <p:cNvSpPr txBox="1"/>
          <p:nvPr/>
        </p:nvSpPr>
        <p:spPr>
          <a:xfrm>
            <a:off x="1375200" y="5702400"/>
            <a:ext cx="432000" cy="259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17312A"/>
                </a:solidFill>
                <a:latin typeface="Liberation Sans"/>
              </a:defRPr>
            </a:pPr>
            <a:r>
              <a:t>Random</a:t>
            </a:r>
            <a:br/>
            <a:r>
              <a:t>Low-Res</a:t>
            </a:r>
          </a:p>
        </p:txBody>
      </p:sp>
      <p:pic>
        <p:nvPicPr>
          <p:cNvPr id="145" name="downsampled" descr="downsampled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64800" y="5234400"/>
            <a:ext cx="1166400" cy="1152000"/>
          </a:xfrm>
          <a:prstGeom prst="rect">
            <a:avLst/>
          </a:prstGeom>
        </p:spPr>
      </p:pic>
      <p:sp>
        <p:nvSpPr>
          <p:cNvPr id="146" name="downsampled_label"/>
          <p:cNvSpPr txBox="1"/>
          <p:nvPr/>
        </p:nvSpPr>
        <p:spPr>
          <a:xfrm>
            <a:off x="1886400" y="6184800"/>
            <a:ext cx="11232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Downsampled</a:t>
            </a:r>
          </a:p>
        </p:txBody>
      </p:sp>
      <p:sp>
        <p:nvSpPr>
          <p:cNvPr id="147" name="superres_model_encoder"/>
          <p:cNvSpPr/>
          <p:nvPr/>
        </p:nvSpPr>
        <p:spPr>
          <a:xfrm>
            <a:off x="3110400" y="5234400"/>
            <a:ext cx="1137600" cy="799200"/>
          </a:xfrm>
          <a:custGeom>
            <a:avLst/>
            <a:gdLst/>
            <a:ahLst/>
            <a:cxnLst/>
            <a:rect l="l" t="t" r="r" b="b"/>
            <a:pathLst>
              <a:path w="158" h="111">
                <a:moveTo>
                  <a:pt x="0" y="0"/>
                </a:moveTo>
                <a:lnTo>
                  <a:pt x="158" y="0"/>
                </a:lnTo>
                <a:lnTo>
                  <a:pt x="132" y="111"/>
                </a:lnTo>
                <a:lnTo>
                  <a:pt x="25" y="111"/>
                </a:lnTo>
                <a:close/>
              </a:path>
            </a:pathLst>
          </a:custGeom>
          <a:solidFill>
            <a:srgbClr val="4F9E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superres_model_decoder"/>
          <p:cNvSpPr/>
          <p:nvPr/>
        </p:nvSpPr>
        <p:spPr>
          <a:xfrm>
            <a:off x="3110400" y="6076800"/>
            <a:ext cx="1137600" cy="309600"/>
          </a:xfrm>
          <a:custGeom>
            <a:avLst/>
            <a:gdLst/>
            <a:ahLst/>
            <a:cxnLst/>
            <a:rect l="l" t="t" r="r" b="b"/>
            <a:pathLst>
              <a:path w="158" h="43">
                <a:moveTo>
                  <a:pt x="0" y="0"/>
                </a:moveTo>
                <a:lnTo>
                  <a:pt x="132" y="0"/>
                </a:lnTo>
                <a:lnTo>
                  <a:pt x="158" y="43"/>
                </a:lnTo>
                <a:lnTo>
                  <a:pt x="0" y="43"/>
                </a:lnTo>
                <a:close/>
              </a:path>
            </a:pathLst>
          </a:custGeom>
          <a:solidFill>
            <a:srgbClr val="7FB6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superres_model_encoder_label"/>
          <p:cNvSpPr txBox="1"/>
          <p:nvPr/>
        </p:nvSpPr>
        <p:spPr>
          <a:xfrm>
            <a:off x="3218400" y="5436000"/>
            <a:ext cx="921600" cy="432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33" b="1" i="0">
                <a:solidFill>
                  <a:srgbClr val="FFFFFF"/>
                </a:solidFill>
                <a:latin typeface="Liberation Sans"/>
              </a:defRPr>
            </a:pPr>
            <a:r>
              <a:t>Mamba</a:t>
            </a:r>
            <a:br/>
            <a:r>
              <a:t>Encoder</a:t>
            </a:r>
          </a:p>
        </p:txBody>
      </p:sp>
      <p:sp>
        <p:nvSpPr>
          <p:cNvPr id="150" name="superres_model_decoder_label"/>
          <p:cNvSpPr txBox="1"/>
          <p:nvPr/>
        </p:nvSpPr>
        <p:spPr>
          <a:xfrm>
            <a:off x="3290400" y="6084000"/>
            <a:ext cx="777600" cy="273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7" b="1" i="0">
                <a:solidFill>
                  <a:srgbClr val="FFFFFF"/>
                </a:solidFill>
                <a:latin typeface="Liberation Sans"/>
              </a:defRPr>
            </a:pPr>
            <a:r>
              <a:t>Conv</a:t>
            </a:r>
            <a:br/>
            <a:r>
              <a:t>Decoder</a:t>
            </a:r>
          </a:p>
        </p:txBody>
      </p:sp>
      <p:pic>
        <p:nvPicPr>
          <p:cNvPr id="151" name="upsampled" descr="upsampled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34400" y="5234400"/>
            <a:ext cx="1144800" cy="1152000"/>
          </a:xfrm>
          <a:prstGeom prst="rect">
            <a:avLst/>
          </a:prstGeom>
        </p:spPr>
      </p:pic>
      <p:sp>
        <p:nvSpPr>
          <p:cNvPr id="152" name="upsampled_label"/>
          <p:cNvSpPr txBox="1"/>
          <p:nvPr/>
        </p:nvSpPr>
        <p:spPr>
          <a:xfrm>
            <a:off x="4356000" y="6184800"/>
            <a:ext cx="11016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Upsampled</a:t>
            </a:r>
          </a:p>
        </p:txBody>
      </p:sp>
      <p:pic>
        <p:nvPicPr>
          <p:cNvPr id="153" name="fusion_raw" descr="ra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8400" y="3693600"/>
            <a:ext cx="1152000" cy="1152000"/>
          </a:xfrm>
          <a:prstGeom prst="rect">
            <a:avLst/>
          </a:prstGeom>
        </p:spPr>
      </p:pic>
      <p:sp>
        <p:nvSpPr>
          <p:cNvPr id="154" name="fusion_raw_label"/>
          <p:cNvSpPr txBox="1"/>
          <p:nvPr/>
        </p:nvSpPr>
        <p:spPr>
          <a:xfrm>
            <a:off x="5759999" y="4644000"/>
            <a:ext cx="11088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Raw</a:t>
            </a:r>
          </a:p>
        </p:txBody>
      </p:sp>
      <p:cxnSp>
        <p:nvCxnSpPr>
          <p:cNvPr id="155" name="mask_icon_root_1"/>
          <p:cNvCxnSpPr/>
          <p:nvPr/>
        </p:nvCxnSpPr>
        <p:spPr>
          <a:xfrm>
            <a:off x="7005600" y="4161600"/>
            <a:ext cx="50400" cy="24480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56" name="mask_icon_root_2"/>
          <p:cNvCxnSpPr/>
          <p:nvPr/>
        </p:nvCxnSpPr>
        <p:spPr>
          <a:xfrm>
            <a:off x="7056000" y="4406400"/>
            <a:ext cx="50400" cy="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57" name="mask_icon_root_3"/>
          <p:cNvCxnSpPr/>
          <p:nvPr/>
        </p:nvCxnSpPr>
        <p:spPr>
          <a:xfrm flipV="1">
            <a:off x="7106400" y="4147200"/>
            <a:ext cx="72000" cy="25920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58" name="mask_icon_root_4"/>
          <p:cNvCxnSpPr/>
          <p:nvPr/>
        </p:nvCxnSpPr>
        <p:spPr>
          <a:xfrm>
            <a:off x="7178400" y="4147200"/>
            <a:ext cx="100800" cy="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59" name="mask_icon_box_1"/>
          <p:cNvCxnSpPr/>
          <p:nvPr/>
        </p:nvCxnSpPr>
        <p:spPr>
          <a:xfrm>
            <a:off x="7236000" y="4147200"/>
            <a:ext cx="100800" cy="0"/>
          </a:xfrm>
          <a:prstGeom prst="line">
            <a:avLst/>
          </a:prstGeom>
          <a:ln w="50400">
            <a:solidFill>
              <a:srgbClr val="CCAAA0"/>
            </a:solidFill>
          </a:ln>
        </p:spPr>
      </p:cxnSp>
      <p:cxnSp>
        <p:nvCxnSpPr>
          <p:cNvPr id="160" name="mask_icon_box_2"/>
          <p:cNvCxnSpPr/>
          <p:nvPr/>
        </p:nvCxnSpPr>
        <p:spPr>
          <a:xfrm>
            <a:off x="7336800" y="4147200"/>
            <a:ext cx="0" cy="252000"/>
          </a:xfrm>
          <a:prstGeom prst="line">
            <a:avLst/>
          </a:prstGeom>
          <a:ln w="50400">
            <a:solidFill>
              <a:srgbClr val="CCAAA0"/>
            </a:solidFill>
          </a:ln>
        </p:spPr>
      </p:cxnSp>
      <p:cxnSp>
        <p:nvCxnSpPr>
          <p:cNvPr id="161" name="mask_icon_box_3"/>
          <p:cNvCxnSpPr/>
          <p:nvPr/>
        </p:nvCxnSpPr>
        <p:spPr>
          <a:xfrm flipH="1">
            <a:off x="7236000" y="4399200"/>
            <a:ext cx="100800" cy="0"/>
          </a:xfrm>
          <a:prstGeom prst="line">
            <a:avLst/>
          </a:prstGeom>
          <a:ln w="50400">
            <a:solidFill>
              <a:srgbClr val="CCAAA0"/>
            </a:solidFill>
          </a:ln>
        </p:spPr>
      </p:cxnSp>
      <p:sp>
        <p:nvSpPr>
          <p:cNvPr id="162" name="mask_icon_label"/>
          <p:cNvSpPr txBox="1"/>
          <p:nvPr/>
        </p:nvSpPr>
        <p:spPr>
          <a:xfrm>
            <a:off x="6969600" y="4154400"/>
            <a:ext cx="439200" cy="259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17312A"/>
                </a:solidFill>
                <a:latin typeface="Liberation Sans"/>
              </a:defRPr>
            </a:pPr>
            <a:r>
              <a:t>Random</a:t>
            </a:r>
            <a:br/>
            <a:r>
              <a:t>Masking</a:t>
            </a:r>
          </a:p>
        </p:txBody>
      </p:sp>
      <p:pic>
        <p:nvPicPr>
          <p:cNvPr id="163" name="masked_a" descr="masked_a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73600" y="3693600"/>
            <a:ext cx="1152000" cy="1152000"/>
          </a:xfrm>
          <a:prstGeom prst="rect">
            <a:avLst/>
          </a:prstGeom>
        </p:spPr>
      </p:pic>
      <p:sp>
        <p:nvSpPr>
          <p:cNvPr id="164" name="masked_a_border"/>
          <p:cNvSpPr/>
          <p:nvPr/>
        </p:nvSpPr>
        <p:spPr>
          <a:xfrm>
            <a:off x="7473600" y="3693600"/>
            <a:ext cx="1152000" cy="1152000"/>
          </a:xfrm>
          <a:prstGeom prst="rect">
            <a:avLst/>
          </a:prstGeom>
          <a:noFill/>
          <a:ln w="10800">
            <a:solidFill>
              <a:srgbClr val="2A76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masked_a_label"/>
          <p:cNvSpPr txBox="1"/>
          <p:nvPr/>
        </p:nvSpPr>
        <p:spPr>
          <a:xfrm>
            <a:off x="7495200" y="4644000"/>
            <a:ext cx="11088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Masked A</a:t>
            </a:r>
          </a:p>
        </p:txBody>
      </p:sp>
      <p:pic>
        <p:nvPicPr>
          <p:cNvPr id="166" name="masked_b" descr="masked_b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97600" y="3693600"/>
            <a:ext cx="1152000" cy="1152000"/>
          </a:xfrm>
          <a:prstGeom prst="rect">
            <a:avLst/>
          </a:prstGeom>
        </p:spPr>
      </p:pic>
      <p:sp>
        <p:nvSpPr>
          <p:cNvPr id="167" name="masked_b_border"/>
          <p:cNvSpPr/>
          <p:nvPr/>
        </p:nvSpPr>
        <p:spPr>
          <a:xfrm>
            <a:off x="8697600" y="3693600"/>
            <a:ext cx="1152000" cy="1152000"/>
          </a:xfrm>
          <a:prstGeom prst="rect">
            <a:avLst/>
          </a:prstGeom>
          <a:noFill/>
          <a:ln w="10800">
            <a:solidFill>
              <a:srgbClr val="2A76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masked_b_label"/>
          <p:cNvSpPr txBox="1"/>
          <p:nvPr/>
        </p:nvSpPr>
        <p:spPr>
          <a:xfrm>
            <a:off x="8719200" y="4644000"/>
            <a:ext cx="11088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Masked B</a:t>
            </a:r>
          </a:p>
        </p:txBody>
      </p:sp>
      <p:pic>
        <p:nvPicPr>
          <p:cNvPr id="169" name="visible_ab" descr="visible_ab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28800" y="3693600"/>
            <a:ext cx="1152000" cy="1152000"/>
          </a:xfrm>
          <a:prstGeom prst="rect">
            <a:avLst/>
          </a:prstGeom>
        </p:spPr>
      </p:pic>
      <p:sp>
        <p:nvSpPr>
          <p:cNvPr id="170" name="visible_ab_label"/>
          <p:cNvSpPr txBox="1"/>
          <p:nvPr/>
        </p:nvSpPr>
        <p:spPr>
          <a:xfrm>
            <a:off x="9950400" y="4644000"/>
            <a:ext cx="11088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Visible A&amp;B</a:t>
            </a:r>
          </a:p>
        </p:txBody>
      </p:sp>
      <p:sp>
        <p:nvSpPr>
          <p:cNvPr id="171" name="fusion_model_encoder"/>
          <p:cNvSpPr/>
          <p:nvPr/>
        </p:nvSpPr>
        <p:spPr>
          <a:xfrm>
            <a:off x="11160000" y="3693600"/>
            <a:ext cx="1144800" cy="799200"/>
          </a:xfrm>
          <a:custGeom>
            <a:avLst/>
            <a:gdLst/>
            <a:ahLst/>
            <a:cxnLst/>
            <a:rect l="l" t="t" r="r" b="b"/>
            <a:pathLst>
              <a:path w="159" h="111">
                <a:moveTo>
                  <a:pt x="0" y="0"/>
                </a:moveTo>
                <a:lnTo>
                  <a:pt x="159" y="0"/>
                </a:lnTo>
                <a:lnTo>
                  <a:pt x="133" y="111"/>
                </a:lnTo>
                <a:lnTo>
                  <a:pt x="25" y="111"/>
                </a:lnTo>
                <a:close/>
              </a:path>
            </a:pathLst>
          </a:custGeom>
          <a:solidFill>
            <a:srgbClr val="4F9E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fusion_model_decoder"/>
          <p:cNvSpPr/>
          <p:nvPr/>
        </p:nvSpPr>
        <p:spPr>
          <a:xfrm>
            <a:off x="11160000" y="4536000"/>
            <a:ext cx="1144800" cy="309600"/>
          </a:xfrm>
          <a:custGeom>
            <a:avLst/>
            <a:gdLst/>
            <a:ahLst/>
            <a:cxnLst/>
            <a:rect l="l" t="t" r="r" b="b"/>
            <a:pathLst>
              <a:path w="159" h="43">
                <a:moveTo>
                  <a:pt x="0" y="0"/>
                </a:moveTo>
                <a:lnTo>
                  <a:pt x="133" y="0"/>
                </a:lnTo>
                <a:lnTo>
                  <a:pt x="159" y="43"/>
                </a:lnTo>
                <a:lnTo>
                  <a:pt x="0" y="43"/>
                </a:lnTo>
                <a:close/>
              </a:path>
            </a:pathLst>
          </a:custGeom>
          <a:solidFill>
            <a:srgbClr val="7FB6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fusion_model_encoder_label"/>
          <p:cNvSpPr txBox="1"/>
          <p:nvPr/>
        </p:nvSpPr>
        <p:spPr>
          <a:xfrm>
            <a:off x="11268000" y="3895199"/>
            <a:ext cx="928800" cy="432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33" b="1" i="0">
                <a:solidFill>
                  <a:srgbClr val="FFFFFF"/>
                </a:solidFill>
                <a:latin typeface="Liberation Sans"/>
              </a:defRPr>
            </a:pPr>
            <a:r>
              <a:t>Mamba</a:t>
            </a:r>
            <a:br/>
            <a:r>
              <a:t>Encoder</a:t>
            </a:r>
          </a:p>
        </p:txBody>
      </p:sp>
      <p:sp>
        <p:nvSpPr>
          <p:cNvPr id="174" name="fusion_model_decoder_label"/>
          <p:cNvSpPr txBox="1"/>
          <p:nvPr/>
        </p:nvSpPr>
        <p:spPr>
          <a:xfrm>
            <a:off x="11340000" y="4543200"/>
            <a:ext cx="784800" cy="273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7" b="1" i="0">
                <a:solidFill>
                  <a:srgbClr val="FFFFFF"/>
                </a:solidFill>
                <a:latin typeface="Liberation Sans"/>
              </a:defRPr>
            </a:pPr>
            <a:r>
              <a:t>Conv</a:t>
            </a:r>
            <a:br/>
            <a:r>
              <a:t>Decoder</a:t>
            </a:r>
          </a:p>
        </p:txBody>
      </p:sp>
      <p:pic>
        <p:nvPicPr>
          <p:cNvPr id="175" name="fused" descr="fused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405600" y="3693600"/>
            <a:ext cx="1159200" cy="1152000"/>
          </a:xfrm>
          <a:prstGeom prst="rect">
            <a:avLst/>
          </a:prstGeom>
        </p:spPr>
      </p:pic>
      <p:sp>
        <p:nvSpPr>
          <p:cNvPr id="176" name="fused_label"/>
          <p:cNvSpPr txBox="1"/>
          <p:nvPr/>
        </p:nvSpPr>
        <p:spPr>
          <a:xfrm>
            <a:off x="12427199" y="4644000"/>
            <a:ext cx="11160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Fuse+Recomed</a:t>
            </a:r>
          </a:p>
        </p:txBody>
      </p:sp>
      <p:pic>
        <p:nvPicPr>
          <p:cNvPr id="177" name="reg_raw" descr="ra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8400" y="5234400"/>
            <a:ext cx="1152000" cy="1152000"/>
          </a:xfrm>
          <a:prstGeom prst="rect">
            <a:avLst/>
          </a:prstGeom>
        </p:spPr>
      </p:pic>
      <p:sp>
        <p:nvSpPr>
          <p:cNvPr id="178" name="reg_raw_label"/>
          <p:cNvSpPr txBox="1"/>
          <p:nvPr/>
        </p:nvSpPr>
        <p:spPr>
          <a:xfrm>
            <a:off x="5759999" y="6184800"/>
            <a:ext cx="11088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Raw</a:t>
            </a:r>
          </a:p>
        </p:txBody>
      </p:sp>
      <p:cxnSp>
        <p:nvCxnSpPr>
          <p:cNvPr id="179" name="deform_icon_root_1"/>
          <p:cNvCxnSpPr/>
          <p:nvPr/>
        </p:nvCxnSpPr>
        <p:spPr>
          <a:xfrm>
            <a:off x="7005600" y="5709600"/>
            <a:ext cx="50400" cy="24480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80" name="deform_icon_root_2"/>
          <p:cNvCxnSpPr/>
          <p:nvPr/>
        </p:nvCxnSpPr>
        <p:spPr>
          <a:xfrm>
            <a:off x="7056000" y="5954400"/>
            <a:ext cx="50400" cy="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81" name="deform_icon_root_3"/>
          <p:cNvCxnSpPr/>
          <p:nvPr/>
        </p:nvCxnSpPr>
        <p:spPr>
          <a:xfrm flipV="1">
            <a:off x="7106400" y="5695200"/>
            <a:ext cx="72000" cy="25920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82" name="deform_icon_root_4"/>
          <p:cNvCxnSpPr/>
          <p:nvPr/>
        </p:nvCxnSpPr>
        <p:spPr>
          <a:xfrm>
            <a:off x="7178400" y="5695200"/>
            <a:ext cx="100800" cy="0"/>
          </a:xfrm>
          <a:prstGeom prst="line">
            <a:avLst/>
          </a:prstGeom>
          <a:ln w="50400">
            <a:solidFill>
              <a:srgbClr val="C7B99E"/>
            </a:solidFill>
          </a:ln>
        </p:spPr>
      </p:cxnSp>
      <p:cxnSp>
        <p:nvCxnSpPr>
          <p:cNvPr id="183" name="deform_icon_box_1"/>
          <p:cNvCxnSpPr/>
          <p:nvPr/>
        </p:nvCxnSpPr>
        <p:spPr>
          <a:xfrm>
            <a:off x="7236000" y="5695200"/>
            <a:ext cx="100800" cy="0"/>
          </a:xfrm>
          <a:prstGeom prst="line">
            <a:avLst/>
          </a:prstGeom>
          <a:ln w="50400">
            <a:solidFill>
              <a:srgbClr val="CCAAA0"/>
            </a:solidFill>
          </a:ln>
        </p:spPr>
      </p:cxnSp>
      <p:cxnSp>
        <p:nvCxnSpPr>
          <p:cNvPr id="184" name="deform_icon_box_2"/>
          <p:cNvCxnSpPr/>
          <p:nvPr/>
        </p:nvCxnSpPr>
        <p:spPr>
          <a:xfrm>
            <a:off x="7336800" y="5695200"/>
            <a:ext cx="0" cy="252000"/>
          </a:xfrm>
          <a:prstGeom prst="line">
            <a:avLst/>
          </a:prstGeom>
          <a:ln w="50400">
            <a:solidFill>
              <a:srgbClr val="CCAAA0"/>
            </a:solidFill>
          </a:ln>
        </p:spPr>
      </p:cxnSp>
      <p:cxnSp>
        <p:nvCxnSpPr>
          <p:cNvPr id="185" name="deform_icon_box_3"/>
          <p:cNvCxnSpPr/>
          <p:nvPr/>
        </p:nvCxnSpPr>
        <p:spPr>
          <a:xfrm flipH="1">
            <a:off x="7236000" y="5947200"/>
            <a:ext cx="100800" cy="0"/>
          </a:xfrm>
          <a:prstGeom prst="line">
            <a:avLst/>
          </a:prstGeom>
          <a:ln w="50400">
            <a:solidFill>
              <a:srgbClr val="CCAAA0"/>
            </a:solidFill>
          </a:ln>
        </p:spPr>
      </p:cxnSp>
      <p:sp>
        <p:nvSpPr>
          <p:cNvPr id="186" name="deform_icon_label"/>
          <p:cNvSpPr txBox="1"/>
          <p:nvPr/>
        </p:nvSpPr>
        <p:spPr>
          <a:xfrm>
            <a:off x="6969600" y="5702400"/>
            <a:ext cx="439200" cy="259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17312A"/>
                </a:solidFill>
                <a:latin typeface="Liberation Sans"/>
              </a:defRPr>
            </a:pPr>
            <a:r>
              <a:t>Random</a:t>
            </a:r>
            <a:br/>
            <a:r>
              <a:t>Deforming</a:t>
            </a:r>
          </a:p>
        </p:txBody>
      </p:sp>
      <p:pic>
        <p:nvPicPr>
          <p:cNvPr id="187" name="deformed" descr="deformed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73600" y="5234400"/>
            <a:ext cx="1152000" cy="1152000"/>
          </a:xfrm>
          <a:prstGeom prst="rect">
            <a:avLst/>
          </a:prstGeom>
        </p:spPr>
      </p:pic>
      <p:sp>
        <p:nvSpPr>
          <p:cNvPr id="188" name="deformed_border"/>
          <p:cNvSpPr/>
          <p:nvPr/>
        </p:nvSpPr>
        <p:spPr>
          <a:xfrm>
            <a:off x="7473600" y="5234400"/>
            <a:ext cx="1152000" cy="1152000"/>
          </a:xfrm>
          <a:prstGeom prst="rect">
            <a:avLst/>
          </a:prstGeom>
          <a:noFill/>
          <a:ln w="10800">
            <a:solidFill>
              <a:srgbClr val="2A76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deformed_label"/>
          <p:cNvSpPr txBox="1"/>
          <p:nvPr/>
        </p:nvSpPr>
        <p:spPr>
          <a:xfrm>
            <a:off x="7495200" y="6184800"/>
            <a:ext cx="11088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Deformed</a:t>
            </a:r>
          </a:p>
        </p:txBody>
      </p:sp>
      <p:pic>
        <p:nvPicPr>
          <p:cNvPr id="190" name="error_before" descr="error_1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697600" y="5234400"/>
            <a:ext cx="1152000" cy="1152000"/>
          </a:xfrm>
          <a:prstGeom prst="rect">
            <a:avLst/>
          </a:prstGeom>
        </p:spPr>
      </p:pic>
      <p:sp>
        <p:nvSpPr>
          <p:cNvPr id="191" name="error_before_border"/>
          <p:cNvSpPr/>
          <p:nvPr/>
        </p:nvSpPr>
        <p:spPr>
          <a:xfrm>
            <a:off x="8697600" y="5234400"/>
            <a:ext cx="1152000" cy="1152000"/>
          </a:xfrm>
          <a:prstGeom prst="rect">
            <a:avLst/>
          </a:prstGeom>
          <a:noFill/>
          <a:ln w="10800">
            <a:solidFill>
              <a:srgbClr val="2A76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error_before_label"/>
          <p:cNvSpPr txBox="1"/>
          <p:nvPr/>
        </p:nvSpPr>
        <p:spPr>
          <a:xfrm>
            <a:off x="8719200" y="6184800"/>
            <a:ext cx="11088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Error Map</a:t>
            </a:r>
          </a:p>
        </p:txBody>
      </p:sp>
      <p:sp>
        <p:nvSpPr>
          <p:cNvPr id="193" name="registration_model_encoder"/>
          <p:cNvSpPr/>
          <p:nvPr/>
        </p:nvSpPr>
        <p:spPr>
          <a:xfrm>
            <a:off x="9928800" y="5234400"/>
            <a:ext cx="1152000" cy="799200"/>
          </a:xfrm>
          <a:custGeom>
            <a:avLst/>
            <a:gdLst/>
            <a:ahLst/>
            <a:cxnLst/>
            <a:rect l="l" t="t" r="r" b="b"/>
            <a:pathLst>
              <a:path w="160" h="111">
                <a:moveTo>
                  <a:pt x="0" y="0"/>
                </a:moveTo>
                <a:lnTo>
                  <a:pt x="160" y="0"/>
                </a:lnTo>
                <a:lnTo>
                  <a:pt x="134" y="111"/>
                </a:lnTo>
                <a:lnTo>
                  <a:pt x="25" y="111"/>
                </a:lnTo>
                <a:close/>
              </a:path>
            </a:pathLst>
          </a:custGeom>
          <a:solidFill>
            <a:srgbClr val="4F9E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registration_model_decoder"/>
          <p:cNvSpPr/>
          <p:nvPr/>
        </p:nvSpPr>
        <p:spPr>
          <a:xfrm>
            <a:off x="9928800" y="6076800"/>
            <a:ext cx="1152000" cy="309600"/>
          </a:xfrm>
          <a:custGeom>
            <a:avLst/>
            <a:gdLst/>
            <a:ahLst/>
            <a:cxnLst/>
            <a:rect l="l" t="t" r="r" b="b"/>
            <a:pathLst>
              <a:path w="160" h="43">
                <a:moveTo>
                  <a:pt x="0" y="0"/>
                </a:moveTo>
                <a:lnTo>
                  <a:pt x="134" y="0"/>
                </a:lnTo>
                <a:lnTo>
                  <a:pt x="160" y="43"/>
                </a:lnTo>
                <a:lnTo>
                  <a:pt x="0" y="43"/>
                </a:lnTo>
                <a:close/>
              </a:path>
            </a:pathLst>
          </a:custGeom>
          <a:solidFill>
            <a:srgbClr val="7FB6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registration_model_encoder_label"/>
          <p:cNvSpPr txBox="1"/>
          <p:nvPr/>
        </p:nvSpPr>
        <p:spPr>
          <a:xfrm>
            <a:off x="10036800" y="5436000"/>
            <a:ext cx="936000" cy="432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33" b="1" i="0">
                <a:solidFill>
                  <a:srgbClr val="FFFFFF"/>
                </a:solidFill>
                <a:latin typeface="Liberation Sans"/>
              </a:defRPr>
            </a:pPr>
            <a:r>
              <a:t>Mamba</a:t>
            </a:r>
            <a:br/>
            <a:r>
              <a:t>Encoder</a:t>
            </a:r>
          </a:p>
        </p:txBody>
      </p:sp>
      <p:sp>
        <p:nvSpPr>
          <p:cNvPr id="196" name="registration_model_decoder_label"/>
          <p:cNvSpPr txBox="1"/>
          <p:nvPr/>
        </p:nvSpPr>
        <p:spPr>
          <a:xfrm>
            <a:off x="10108800" y="6084000"/>
            <a:ext cx="792000" cy="273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7" b="1" i="0">
                <a:solidFill>
                  <a:srgbClr val="FFFFFF"/>
                </a:solidFill>
                <a:latin typeface="Liberation Sans"/>
              </a:defRPr>
            </a:pPr>
            <a:r>
              <a:t>Conv</a:t>
            </a:r>
            <a:br/>
            <a:r>
              <a:t>Decoder</a:t>
            </a:r>
          </a:p>
        </p:txBody>
      </p:sp>
      <p:pic>
        <p:nvPicPr>
          <p:cNvPr id="197" name="registered" descr="registered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174400" y="5234400"/>
            <a:ext cx="1152000" cy="1152000"/>
          </a:xfrm>
          <a:prstGeom prst="rect">
            <a:avLst/>
          </a:prstGeom>
        </p:spPr>
      </p:pic>
      <p:sp>
        <p:nvSpPr>
          <p:cNvPr id="198" name="registered_label"/>
          <p:cNvSpPr txBox="1"/>
          <p:nvPr/>
        </p:nvSpPr>
        <p:spPr>
          <a:xfrm>
            <a:off x="11196000" y="6184800"/>
            <a:ext cx="11088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Registered</a:t>
            </a:r>
          </a:p>
        </p:txBody>
      </p:sp>
      <p:pic>
        <p:nvPicPr>
          <p:cNvPr id="199" name="error_after" descr="error_2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405600" y="5234400"/>
            <a:ext cx="1152000" cy="1152000"/>
          </a:xfrm>
          <a:prstGeom prst="rect">
            <a:avLst/>
          </a:prstGeom>
        </p:spPr>
      </p:pic>
      <p:sp>
        <p:nvSpPr>
          <p:cNvPr id="200" name="error_after_border"/>
          <p:cNvSpPr/>
          <p:nvPr/>
        </p:nvSpPr>
        <p:spPr>
          <a:xfrm>
            <a:off x="12405600" y="5234400"/>
            <a:ext cx="1152000" cy="1152000"/>
          </a:xfrm>
          <a:prstGeom prst="rect">
            <a:avLst/>
          </a:prstGeom>
          <a:noFill/>
          <a:ln w="10800">
            <a:solidFill>
              <a:srgbClr val="2A76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error_after_label"/>
          <p:cNvSpPr txBox="1"/>
          <p:nvPr/>
        </p:nvSpPr>
        <p:spPr>
          <a:xfrm>
            <a:off x="12427199" y="6184800"/>
            <a:ext cx="1108800" cy="18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FFFFFF"/>
                </a:solidFill>
                <a:latin typeface="Liberation Sans"/>
              </a:defRPr>
            </a:pPr>
            <a:r>
              <a:t>Error Map</a:t>
            </a:r>
          </a:p>
        </p:txBody>
      </p:sp>
      <p:cxnSp>
        <p:nvCxnSpPr>
          <p:cNvPr id="202" name="rest_raw_to_icon"/>
          <p:cNvCxnSpPr/>
          <p:nvPr/>
        </p:nvCxnSpPr>
        <p:spPr>
          <a:xfrm>
            <a:off x="1303200" y="4276800"/>
            <a:ext cx="86400" cy="0"/>
          </a:xfrm>
          <a:prstGeom prst="line">
            <a:avLst/>
          </a:prstGeom>
          <a:ln w="8639">
            <a:solidFill>
              <a:srgbClr val="111111"/>
            </a:solidFill>
            <a:tailEnd type="triangle" w="sm" len="sm"/>
          </a:ln>
        </p:spPr>
      </p:cxnSp>
      <p:cxnSp>
        <p:nvCxnSpPr>
          <p:cNvPr id="203" name="rest_icon_to_noisy"/>
          <p:cNvCxnSpPr/>
          <p:nvPr/>
        </p:nvCxnSpPr>
        <p:spPr>
          <a:xfrm>
            <a:off x="1792800" y="4276800"/>
            <a:ext cx="72000" cy="0"/>
          </a:xfrm>
          <a:prstGeom prst="line">
            <a:avLst/>
          </a:prstGeom>
          <a:ln w="8639">
            <a:solidFill>
              <a:srgbClr val="111111"/>
            </a:solidFill>
            <a:tailEnd type="triangle" w="sm" len="sm"/>
          </a:ln>
        </p:spPr>
      </p:cxnSp>
      <p:cxnSp>
        <p:nvCxnSpPr>
          <p:cNvPr id="204" name="sr_raw_to_icon"/>
          <p:cNvCxnSpPr/>
          <p:nvPr/>
        </p:nvCxnSpPr>
        <p:spPr>
          <a:xfrm>
            <a:off x="1303200" y="5817600"/>
            <a:ext cx="86400" cy="0"/>
          </a:xfrm>
          <a:prstGeom prst="line">
            <a:avLst/>
          </a:prstGeom>
          <a:ln w="8639">
            <a:solidFill>
              <a:srgbClr val="111111"/>
            </a:solidFill>
            <a:tailEnd type="triangle" w="sm" len="sm"/>
          </a:ln>
        </p:spPr>
      </p:cxnSp>
      <p:cxnSp>
        <p:nvCxnSpPr>
          <p:cNvPr id="205" name="sr_icon_to_lowres"/>
          <p:cNvCxnSpPr/>
          <p:nvPr/>
        </p:nvCxnSpPr>
        <p:spPr>
          <a:xfrm>
            <a:off x="1792800" y="5817600"/>
            <a:ext cx="72000" cy="0"/>
          </a:xfrm>
          <a:prstGeom prst="line">
            <a:avLst/>
          </a:prstGeom>
          <a:ln w="8639">
            <a:solidFill>
              <a:srgbClr val="111111"/>
            </a:solidFill>
            <a:tailEnd type="triangle" w="sm" len="sm"/>
          </a:ln>
        </p:spPr>
      </p:cxnSp>
      <p:cxnSp>
        <p:nvCxnSpPr>
          <p:cNvPr id="206" name="fusion_raw_to_icon"/>
          <p:cNvCxnSpPr/>
          <p:nvPr/>
        </p:nvCxnSpPr>
        <p:spPr>
          <a:xfrm>
            <a:off x="6890400" y="4276800"/>
            <a:ext cx="93600" cy="0"/>
          </a:xfrm>
          <a:prstGeom prst="line">
            <a:avLst/>
          </a:prstGeom>
          <a:ln w="8639">
            <a:solidFill>
              <a:srgbClr val="111111"/>
            </a:solidFill>
            <a:tailEnd type="triangle" w="sm" len="sm"/>
          </a:ln>
        </p:spPr>
      </p:cxnSp>
      <p:cxnSp>
        <p:nvCxnSpPr>
          <p:cNvPr id="207" name="fusion_icon_to_mask"/>
          <p:cNvCxnSpPr/>
          <p:nvPr/>
        </p:nvCxnSpPr>
        <p:spPr>
          <a:xfrm>
            <a:off x="7394400" y="4276800"/>
            <a:ext cx="79200" cy="0"/>
          </a:xfrm>
          <a:prstGeom prst="line">
            <a:avLst/>
          </a:prstGeom>
          <a:ln w="8639">
            <a:solidFill>
              <a:srgbClr val="111111"/>
            </a:solidFill>
            <a:tailEnd type="triangle" w="sm" len="sm"/>
          </a:ln>
        </p:spPr>
      </p:cxnSp>
      <p:cxnSp>
        <p:nvCxnSpPr>
          <p:cNvPr id="208" name="reg_raw_to_icon"/>
          <p:cNvCxnSpPr/>
          <p:nvPr/>
        </p:nvCxnSpPr>
        <p:spPr>
          <a:xfrm>
            <a:off x="6890400" y="5817600"/>
            <a:ext cx="93600" cy="0"/>
          </a:xfrm>
          <a:prstGeom prst="line">
            <a:avLst/>
          </a:prstGeom>
          <a:ln w="8639">
            <a:solidFill>
              <a:srgbClr val="111111"/>
            </a:solidFill>
            <a:tailEnd type="triangle" w="sm" len="sm"/>
          </a:ln>
        </p:spPr>
      </p:cxnSp>
      <p:cxnSp>
        <p:nvCxnSpPr>
          <p:cNvPr id="209" name="reg_icon_to_deformed"/>
          <p:cNvCxnSpPr/>
          <p:nvPr/>
        </p:nvCxnSpPr>
        <p:spPr>
          <a:xfrm>
            <a:off x="7394400" y="5817600"/>
            <a:ext cx="79200" cy="0"/>
          </a:xfrm>
          <a:prstGeom prst="line">
            <a:avLst/>
          </a:prstGeom>
          <a:ln w="8639">
            <a:solidFill>
              <a:srgbClr val="111111"/>
            </a:solidFill>
            <a:tailEnd type="triangle" w="sm" len="sm"/>
          </a:ln>
        </p:spPr>
      </p:cxnSp>
      <p:sp>
        <p:nvSpPr>
          <p:cNvPr id="210" name="misalign_label"/>
          <p:cNvSpPr txBox="1"/>
          <p:nvPr/>
        </p:nvSpPr>
        <p:spPr>
          <a:xfrm>
            <a:off x="11937600" y="6480000"/>
            <a:ext cx="619200" cy="2375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8B8E94"/>
                </a:solidFill>
                <a:latin typeface="Liberation Sans"/>
              </a:defRPr>
            </a:pPr>
            <a:r>
              <a:t>Misalign</a:t>
            </a:r>
          </a:p>
        </p:txBody>
      </p:sp>
      <p:sp>
        <p:nvSpPr>
          <p:cNvPr id="211" name="alignment_gradient_1"/>
          <p:cNvSpPr/>
          <p:nvPr/>
        </p:nvSpPr>
        <p:spPr>
          <a:xfrm>
            <a:off x="12564000" y="6559200"/>
            <a:ext cx="28080" cy="86400"/>
          </a:xfrm>
          <a:prstGeom prst="rect">
            <a:avLst/>
          </a:prstGeom>
          <a:solidFill>
            <a:srgbClr val="DCE9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alignment_gradient_2"/>
          <p:cNvSpPr/>
          <p:nvPr/>
        </p:nvSpPr>
        <p:spPr>
          <a:xfrm>
            <a:off x="12583440" y="6559200"/>
            <a:ext cx="28080" cy="86400"/>
          </a:xfrm>
          <a:prstGeom prst="rect">
            <a:avLst/>
          </a:prstGeom>
          <a:solidFill>
            <a:srgbClr val="DCE5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alignment_gradient_3"/>
          <p:cNvSpPr/>
          <p:nvPr/>
        </p:nvSpPr>
        <p:spPr>
          <a:xfrm>
            <a:off x="12602880" y="6559200"/>
            <a:ext cx="28080" cy="86400"/>
          </a:xfrm>
          <a:prstGeom prst="rect">
            <a:avLst/>
          </a:prstGeom>
          <a:solidFill>
            <a:srgbClr val="DCE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alignment_gradient_4"/>
          <p:cNvSpPr/>
          <p:nvPr/>
        </p:nvSpPr>
        <p:spPr>
          <a:xfrm>
            <a:off x="12622320" y="6559200"/>
            <a:ext cx="28080" cy="86400"/>
          </a:xfrm>
          <a:prstGeom prst="rect">
            <a:avLst/>
          </a:prstGeom>
          <a:solidFill>
            <a:srgbClr val="DCDC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alignment_gradient_5"/>
          <p:cNvSpPr/>
          <p:nvPr/>
        </p:nvSpPr>
        <p:spPr>
          <a:xfrm>
            <a:off x="12641760" y="6559200"/>
            <a:ext cx="28080" cy="86400"/>
          </a:xfrm>
          <a:prstGeom prst="rect">
            <a:avLst/>
          </a:prstGeom>
          <a:solidFill>
            <a:srgbClr val="DDD7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alignment_gradient_6"/>
          <p:cNvSpPr/>
          <p:nvPr/>
        </p:nvSpPr>
        <p:spPr>
          <a:xfrm>
            <a:off x="12661200" y="6559200"/>
            <a:ext cx="28080" cy="86400"/>
          </a:xfrm>
          <a:prstGeom prst="rect">
            <a:avLst/>
          </a:prstGeom>
          <a:solidFill>
            <a:srgbClr val="DDD3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alignment_gradient_7"/>
          <p:cNvSpPr/>
          <p:nvPr/>
        </p:nvSpPr>
        <p:spPr>
          <a:xfrm>
            <a:off x="12680640" y="6559200"/>
            <a:ext cx="28080" cy="86400"/>
          </a:xfrm>
          <a:prstGeom prst="rect">
            <a:avLst/>
          </a:prstGeom>
          <a:solidFill>
            <a:srgbClr val="DDCE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alignment_gradient_8"/>
          <p:cNvSpPr/>
          <p:nvPr/>
        </p:nvSpPr>
        <p:spPr>
          <a:xfrm>
            <a:off x="12700080" y="6559200"/>
            <a:ext cx="28080" cy="86400"/>
          </a:xfrm>
          <a:prstGeom prst="rect">
            <a:avLst/>
          </a:prstGeom>
          <a:solidFill>
            <a:srgbClr val="DDCA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alignment_gradient_9"/>
          <p:cNvSpPr/>
          <p:nvPr/>
        </p:nvSpPr>
        <p:spPr>
          <a:xfrm>
            <a:off x="12719519" y="6559200"/>
            <a:ext cx="28080" cy="86400"/>
          </a:xfrm>
          <a:prstGeom prst="rect">
            <a:avLst/>
          </a:prstGeom>
          <a:solidFill>
            <a:srgbClr val="DDC6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alignment_gradient_10"/>
          <p:cNvSpPr/>
          <p:nvPr/>
        </p:nvSpPr>
        <p:spPr>
          <a:xfrm>
            <a:off x="12738960" y="6559200"/>
            <a:ext cx="28080" cy="86400"/>
          </a:xfrm>
          <a:prstGeom prst="rect">
            <a:avLst/>
          </a:prstGeom>
          <a:solidFill>
            <a:srgbClr val="DDC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alignment_gradient_11"/>
          <p:cNvSpPr/>
          <p:nvPr/>
        </p:nvSpPr>
        <p:spPr>
          <a:xfrm>
            <a:off x="12758400" y="6559200"/>
            <a:ext cx="28080" cy="86400"/>
          </a:xfrm>
          <a:prstGeom prst="rect">
            <a:avLst/>
          </a:prstGeom>
          <a:solidFill>
            <a:srgbClr val="DDBD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alignment_gradient_12"/>
          <p:cNvSpPr/>
          <p:nvPr/>
        </p:nvSpPr>
        <p:spPr>
          <a:xfrm>
            <a:off x="12777840" y="6559200"/>
            <a:ext cx="28080" cy="86400"/>
          </a:xfrm>
          <a:prstGeom prst="rect">
            <a:avLst/>
          </a:prstGeom>
          <a:solidFill>
            <a:srgbClr val="DDB8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alignment_gradient_13"/>
          <p:cNvSpPr/>
          <p:nvPr/>
        </p:nvSpPr>
        <p:spPr>
          <a:xfrm>
            <a:off x="12797280" y="6559200"/>
            <a:ext cx="28080" cy="86400"/>
          </a:xfrm>
          <a:prstGeom prst="rect">
            <a:avLst/>
          </a:prstGeom>
          <a:solidFill>
            <a:srgbClr val="DEB4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alignment_gradient_14"/>
          <p:cNvSpPr/>
          <p:nvPr/>
        </p:nvSpPr>
        <p:spPr>
          <a:xfrm>
            <a:off x="12816720" y="6559200"/>
            <a:ext cx="28080" cy="86400"/>
          </a:xfrm>
          <a:prstGeom prst="rect">
            <a:avLst/>
          </a:prstGeom>
          <a:solidFill>
            <a:srgbClr val="DEA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alignment_gradient_15"/>
          <p:cNvSpPr/>
          <p:nvPr/>
        </p:nvSpPr>
        <p:spPr>
          <a:xfrm>
            <a:off x="12836160" y="6559200"/>
            <a:ext cx="28080" cy="86400"/>
          </a:xfrm>
          <a:prstGeom prst="rect">
            <a:avLst/>
          </a:prstGeom>
          <a:solidFill>
            <a:srgbClr val="DEA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alignment_gradient_16"/>
          <p:cNvSpPr/>
          <p:nvPr/>
        </p:nvSpPr>
        <p:spPr>
          <a:xfrm>
            <a:off x="12855600" y="6559200"/>
            <a:ext cx="28080" cy="86400"/>
          </a:xfrm>
          <a:prstGeom prst="rect">
            <a:avLst/>
          </a:prstGeom>
          <a:solidFill>
            <a:srgbClr val="DEA6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alignment_gradient_17"/>
          <p:cNvSpPr/>
          <p:nvPr/>
        </p:nvSpPr>
        <p:spPr>
          <a:xfrm>
            <a:off x="12875040" y="6559200"/>
            <a:ext cx="28080" cy="86400"/>
          </a:xfrm>
          <a:prstGeom prst="rect">
            <a:avLst/>
          </a:prstGeom>
          <a:solidFill>
            <a:srgbClr val="DEA2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alignment_gradient_18"/>
          <p:cNvSpPr/>
          <p:nvPr/>
        </p:nvSpPr>
        <p:spPr>
          <a:xfrm>
            <a:off x="12894480" y="6559200"/>
            <a:ext cx="28080" cy="86400"/>
          </a:xfrm>
          <a:prstGeom prst="rect">
            <a:avLst/>
          </a:prstGeom>
          <a:solidFill>
            <a:srgbClr val="DE9E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alignment_gradient_19"/>
          <p:cNvSpPr/>
          <p:nvPr/>
        </p:nvSpPr>
        <p:spPr>
          <a:xfrm>
            <a:off x="12913919" y="6559200"/>
            <a:ext cx="28080" cy="86400"/>
          </a:xfrm>
          <a:prstGeom prst="rect">
            <a:avLst/>
          </a:prstGeom>
          <a:solidFill>
            <a:srgbClr val="DE9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alignment_gradient_20"/>
          <p:cNvSpPr/>
          <p:nvPr/>
        </p:nvSpPr>
        <p:spPr>
          <a:xfrm>
            <a:off x="12933360" y="6559200"/>
            <a:ext cx="28080" cy="86400"/>
          </a:xfrm>
          <a:prstGeom prst="rect">
            <a:avLst/>
          </a:prstGeom>
          <a:solidFill>
            <a:srgbClr val="DE9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alignment_gradient_21"/>
          <p:cNvSpPr/>
          <p:nvPr/>
        </p:nvSpPr>
        <p:spPr>
          <a:xfrm>
            <a:off x="12952800" y="6559200"/>
            <a:ext cx="28080" cy="86400"/>
          </a:xfrm>
          <a:prstGeom prst="rect">
            <a:avLst/>
          </a:prstGeom>
          <a:solidFill>
            <a:srgbClr val="DF90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alignment_gradient_22"/>
          <p:cNvSpPr/>
          <p:nvPr/>
        </p:nvSpPr>
        <p:spPr>
          <a:xfrm>
            <a:off x="12972240" y="6559200"/>
            <a:ext cx="28080" cy="86400"/>
          </a:xfrm>
          <a:prstGeom prst="rect">
            <a:avLst/>
          </a:prstGeom>
          <a:solidFill>
            <a:srgbClr val="DF8C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alignment_gradient_23"/>
          <p:cNvSpPr/>
          <p:nvPr/>
        </p:nvSpPr>
        <p:spPr>
          <a:xfrm>
            <a:off x="12991680" y="6559200"/>
            <a:ext cx="28080" cy="86400"/>
          </a:xfrm>
          <a:prstGeom prst="rect">
            <a:avLst/>
          </a:prstGeom>
          <a:solidFill>
            <a:srgbClr val="DF8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alignment_gradient_24"/>
          <p:cNvSpPr/>
          <p:nvPr/>
        </p:nvSpPr>
        <p:spPr>
          <a:xfrm>
            <a:off x="13011120" y="6559200"/>
            <a:ext cx="28080" cy="86400"/>
          </a:xfrm>
          <a:prstGeom prst="rect">
            <a:avLst/>
          </a:prstGeom>
          <a:solidFill>
            <a:srgbClr val="DF8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alignment_gradient_25"/>
          <p:cNvSpPr/>
          <p:nvPr/>
        </p:nvSpPr>
        <p:spPr>
          <a:xfrm>
            <a:off x="13030559" y="6559200"/>
            <a:ext cx="28080" cy="86400"/>
          </a:xfrm>
          <a:prstGeom prst="rect">
            <a:avLst/>
          </a:prstGeom>
          <a:solidFill>
            <a:srgbClr val="DF7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alignment_gradient_26"/>
          <p:cNvSpPr/>
          <p:nvPr/>
        </p:nvSpPr>
        <p:spPr>
          <a:xfrm>
            <a:off x="13050000" y="6559200"/>
            <a:ext cx="28080" cy="86400"/>
          </a:xfrm>
          <a:prstGeom prst="rect">
            <a:avLst/>
          </a:prstGeom>
          <a:solidFill>
            <a:srgbClr val="DF7A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alignment_gradient_27"/>
          <p:cNvSpPr/>
          <p:nvPr/>
        </p:nvSpPr>
        <p:spPr>
          <a:xfrm>
            <a:off x="13069440" y="6559200"/>
            <a:ext cx="28080" cy="86400"/>
          </a:xfrm>
          <a:prstGeom prst="rect">
            <a:avLst/>
          </a:prstGeom>
          <a:solidFill>
            <a:srgbClr val="DF7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alignment_gradient_28"/>
          <p:cNvSpPr/>
          <p:nvPr/>
        </p:nvSpPr>
        <p:spPr>
          <a:xfrm>
            <a:off x="13088880" y="6559200"/>
            <a:ext cx="28080" cy="86400"/>
          </a:xfrm>
          <a:prstGeom prst="rect">
            <a:avLst/>
          </a:prstGeom>
          <a:solidFill>
            <a:srgbClr val="DF71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alignment_gradient_29"/>
          <p:cNvSpPr/>
          <p:nvPr/>
        </p:nvSpPr>
        <p:spPr>
          <a:xfrm>
            <a:off x="13108320" y="6559200"/>
            <a:ext cx="28080" cy="86400"/>
          </a:xfrm>
          <a:prstGeom prst="rect">
            <a:avLst/>
          </a:prstGeom>
          <a:solidFill>
            <a:srgbClr val="E06D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alignment_gradient_30"/>
          <p:cNvSpPr/>
          <p:nvPr/>
        </p:nvSpPr>
        <p:spPr>
          <a:xfrm>
            <a:off x="13127760" y="6559200"/>
            <a:ext cx="28080" cy="86400"/>
          </a:xfrm>
          <a:prstGeom prst="rect">
            <a:avLst/>
          </a:prstGeom>
          <a:solidFill>
            <a:srgbClr val="E06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alignment_gradient_31"/>
          <p:cNvSpPr/>
          <p:nvPr/>
        </p:nvSpPr>
        <p:spPr>
          <a:xfrm>
            <a:off x="13147200" y="6559200"/>
            <a:ext cx="28080" cy="86400"/>
          </a:xfrm>
          <a:prstGeom prst="rect">
            <a:avLst/>
          </a:prstGeom>
          <a:solidFill>
            <a:srgbClr val="E06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alignment_gradient_32"/>
          <p:cNvSpPr/>
          <p:nvPr/>
        </p:nvSpPr>
        <p:spPr>
          <a:xfrm>
            <a:off x="13166640" y="6559200"/>
            <a:ext cx="28080" cy="86400"/>
          </a:xfrm>
          <a:prstGeom prst="rect">
            <a:avLst/>
          </a:prstGeom>
          <a:solidFill>
            <a:srgbClr val="E05F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alignment_gradient_33"/>
          <p:cNvSpPr/>
          <p:nvPr/>
        </p:nvSpPr>
        <p:spPr>
          <a:xfrm>
            <a:off x="13186080" y="6559200"/>
            <a:ext cx="28080" cy="86400"/>
          </a:xfrm>
          <a:prstGeom prst="rect">
            <a:avLst/>
          </a:prstGeom>
          <a:solidFill>
            <a:srgbClr val="E05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alignment_gradient_34"/>
          <p:cNvSpPr/>
          <p:nvPr/>
        </p:nvSpPr>
        <p:spPr>
          <a:xfrm>
            <a:off x="13205519" y="6559200"/>
            <a:ext cx="28080" cy="86400"/>
          </a:xfrm>
          <a:prstGeom prst="rect">
            <a:avLst/>
          </a:prstGeom>
          <a:solidFill>
            <a:srgbClr val="E057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alignment_gradient_35"/>
          <p:cNvSpPr/>
          <p:nvPr/>
        </p:nvSpPr>
        <p:spPr>
          <a:xfrm>
            <a:off x="13224960" y="6559200"/>
            <a:ext cx="28080" cy="86400"/>
          </a:xfrm>
          <a:prstGeom prst="rect">
            <a:avLst/>
          </a:prstGeom>
          <a:solidFill>
            <a:srgbClr val="E052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alignment_gradient_36"/>
          <p:cNvSpPr/>
          <p:nvPr/>
        </p:nvSpPr>
        <p:spPr>
          <a:xfrm>
            <a:off x="13244400" y="6559200"/>
            <a:ext cx="28080" cy="86400"/>
          </a:xfrm>
          <a:prstGeom prst="rect">
            <a:avLst/>
          </a:prstGeom>
          <a:solidFill>
            <a:srgbClr val="E04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alignment_gradient_37"/>
          <p:cNvSpPr/>
          <p:nvPr/>
        </p:nvSpPr>
        <p:spPr>
          <a:xfrm>
            <a:off x="13263840" y="6559200"/>
            <a:ext cx="28080" cy="86400"/>
          </a:xfrm>
          <a:prstGeom prst="rect">
            <a:avLst/>
          </a:prstGeom>
          <a:solidFill>
            <a:srgbClr val="E149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alignment_gradient_38"/>
          <p:cNvSpPr/>
          <p:nvPr/>
        </p:nvSpPr>
        <p:spPr>
          <a:xfrm>
            <a:off x="13283280" y="6559200"/>
            <a:ext cx="28080" cy="86400"/>
          </a:xfrm>
          <a:prstGeom prst="rect">
            <a:avLst/>
          </a:prstGeom>
          <a:solidFill>
            <a:srgbClr val="E145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alignment_gradient_39"/>
          <p:cNvSpPr/>
          <p:nvPr/>
        </p:nvSpPr>
        <p:spPr>
          <a:xfrm>
            <a:off x="13302720" y="6559200"/>
            <a:ext cx="28080" cy="86400"/>
          </a:xfrm>
          <a:prstGeom prst="rect">
            <a:avLst/>
          </a:prstGeom>
          <a:solidFill>
            <a:srgbClr val="E14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alignment_gradient_40"/>
          <p:cNvSpPr/>
          <p:nvPr/>
        </p:nvSpPr>
        <p:spPr>
          <a:xfrm>
            <a:off x="13322160" y="6559200"/>
            <a:ext cx="28080" cy="86400"/>
          </a:xfrm>
          <a:prstGeom prst="rect">
            <a:avLst/>
          </a:prstGeom>
          <a:solidFill>
            <a:srgbClr val="E13C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align_label"/>
          <p:cNvSpPr txBox="1"/>
          <p:nvPr/>
        </p:nvSpPr>
        <p:spPr>
          <a:xfrm>
            <a:off x="13377600" y="6480000"/>
            <a:ext cx="338400" cy="2375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0" b="1" i="0">
                <a:solidFill>
                  <a:srgbClr val="8B8E94"/>
                </a:solidFill>
                <a:latin typeface="Liberation Sans"/>
              </a:defRPr>
            </a:pPr>
            <a:r>
              <a:t>Align</a:t>
            </a:r>
          </a:p>
        </p:txBody>
      </p:sp>
      <p:sp>
        <p:nvSpPr>
          <p:cNvPr id="252" name="joint_embedding_title"/>
          <p:cNvSpPr txBox="1"/>
          <p:nvPr/>
        </p:nvSpPr>
        <p:spPr>
          <a:xfrm>
            <a:off x="86400" y="6652800"/>
            <a:ext cx="9072000" cy="252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47" b="1" i="0">
                <a:solidFill>
                  <a:srgbClr val="3F965C"/>
                </a:solidFill>
                <a:latin typeface="Liberation Sans"/>
              </a:defRPr>
            </a:pPr>
            <a:r>
              <a:t>Task-related Joint-embedding Pre-training (TJP) on Multi-head Hierarchy Mamba2 (MHM)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Orochi Versatile Biomedical Image Processo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684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Orochi Versatile Biomedical Image Processor diagram</dc:title>
  <dc:subject>Editable reconstruction from supplied reference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