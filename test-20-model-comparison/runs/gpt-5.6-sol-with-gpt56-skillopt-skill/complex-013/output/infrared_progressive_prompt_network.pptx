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03825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FFFFFF"/>
          </a:solidFill>
          <a:xfrm>
            <a:off x="0" y="0"/>
            <a:ext cx="14630400" cy="803825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solidFill>
            <a:srgbClr val="FFFFFF"/>
          </a:solidFill>
          <a:xfrm>
            <a:off x="61537" y="338453"/>
            <a:ext cx="14507326" cy="3446067"/>
          </a:xfrm>
          <a:prstGeom prst="roundRect">
            <a:avLst>
              <a:gd name="adj" fmla="val 5357"/>
            </a:avLst>
          </a:prstGeom>
          <a:ln w="21537">
            <a:solidFill>
              <a:srgbClr val="142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gradFill rotWithShape="1">
            <a:gsLst>
              <a:gs pos="0">
                <a:srgbClr val="F5FBFF"/>
              </a:gs>
              <a:gs pos="28000">
                <a:srgbClr val="D9EAFF"/>
              </a:gs>
              <a:gs pos="100000">
                <a:srgbClr val="9EBCE7"/>
              </a:gs>
            </a:gsLst>
            <a:lin ang="5400000" scaled="1"/>
          </a:gradFill>
          <a:xfrm>
            <a:off x="3884517" y="123074"/>
            <a:ext cx="6622910" cy="338453"/>
          </a:xfrm>
          <a:prstGeom prst="roundRect">
            <a:avLst>
              <a:gd name="adj" fmla="val 31818"/>
            </a:avLst>
          </a:prstGeom>
          <a:ln w="20768">
            <a:solidFill>
              <a:srgbClr val="07182E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solidFill>
            <a:srgbClr val="FFFFFF">
              <a:alpha val="65000"/>
            </a:srgbClr>
          </a:solidFill>
          <a:xfrm>
            <a:off x="3946054" y="161534"/>
            <a:ext cx="6499836" cy="38461"/>
          </a:xfrm>
          <a:prstGeom prst="roundRect">
            <a:avLst>
              <a:gd name="adj" fmla="val 4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1438" y="130766"/>
            <a:ext cx="6469068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1" b="1" i="0">
                <a:solidFill>
                  <a:srgbClr val="000000"/>
                </a:solidFill>
                <a:latin typeface="Liberation Serif"/>
              </a:rPr>
              <a:t>(a) Infrared Degradation Processing</a:t>
            </a:r>
          </a:p>
        </p:txBody>
      </p:sp>
      <p:sp>
        <p:nvSpPr>
          <p:cNvPr id="7" name="Freeform 6"/>
          <p:cNvSpPr/>
          <p:nvPr/>
        </p:nvSpPr>
        <p:spPr>
          <a:solidFill>
            <a:srgbClr val="BCC9D2"/>
          </a:solidFill>
          <a:xfrm>
            <a:off x="207687" y="653830"/>
            <a:ext cx="1515346" cy="246148"/>
          </a:xfrm>
          <a:custGeom>
            <a:avLst/>
            <a:gdLst/>
            <a:ahLst/>
            <a:cxnLst/>
            <a:rect l="l" t="t" r="r" b="b"/>
            <a:pathLst>
              <a:path w="197" h="32">
                <a:moveTo>
                  <a:pt x="0" y="0"/>
                </a:moveTo>
                <a:lnTo>
                  <a:pt x="159" y="0"/>
                </a:lnTo>
                <a:lnTo>
                  <a:pt x="197" y="32"/>
                </a:lnTo>
                <a:lnTo>
                  <a:pt x="38" y="32"/>
                </a:lnTo>
                <a:close/>
              </a:path>
            </a:pathLst>
          </a:custGeom>
          <a:ln w="7692">
            <a:solidFill>
              <a:srgbClr val="24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solidFill>
            <a:srgbClr val="6F84EE">
              <a:alpha val="72000"/>
            </a:srgbClr>
          </a:solidFill>
          <a:xfrm>
            <a:off x="346145" y="807672"/>
            <a:ext cx="1492270" cy="230763"/>
          </a:xfrm>
          <a:custGeom>
            <a:avLst/>
            <a:gdLst/>
            <a:ahLst/>
            <a:cxnLst/>
            <a:rect l="l" t="t" r="r" b="b"/>
            <a:pathLst>
              <a:path w="194" h="30">
                <a:moveTo>
                  <a:pt x="0" y="0"/>
                </a:moveTo>
                <a:lnTo>
                  <a:pt x="159" y="0"/>
                </a:lnTo>
                <a:lnTo>
                  <a:pt x="194" y="30"/>
                </a:lnTo>
                <a:lnTo>
                  <a:pt x="36" y="30"/>
                </a:lnTo>
                <a:close/>
              </a:path>
            </a:pathLst>
          </a:custGeom>
          <a:ln w="7692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07687" y="653830"/>
            <a:ext cx="292300" cy="307684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9987" y="961514"/>
            <a:ext cx="0" cy="1053820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30733" y="653830"/>
            <a:ext cx="407682" cy="307684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38415" y="961514"/>
            <a:ext cx="0" cy="1053820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pic>
        <p:nvPicPr>
          <p:cNvPr id="13" name="Picture 12" descr="src_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87" y="961514"/>
            <a:ext cx="1338428" cy="10538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noFill/>
          <a:xfrm>
            <a:off x="499987" y="961514"/>
            <a:ext cx="1338428" cy="1053820"/>
          </a:xfrm>
          <a:prstGeom prst="rect">
            <a:avLst/>
          </a:prstGeom>
          <a:ln w="9230">
            <a:solidFill>
              <a:srgbClr val="31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solidFill>
            <a:srgbClr val="111111"/>
          </a:solidFill>
          <a:xfrm>
            <a:off x="192303" y="1730726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solidFill>
            <a:srgbClr val="111111"/>
          </a:solidFill>
          <a:xfrm>
            <a:off x="269224" y="1815339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solidFill>
            <a:srgbClr val="111111"/>
          </a:solidFill>
          <a:xfrm>
            <a:off x="346145" y="1899952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solidFill>
            <a:srgbClr val="AAB3BD">
              <a:alpha val="38000"/>
            </a:srgbClr>
          </a:solidFill>
          <a:xfrm>
            <a:off x="1969181" y="553832"/>
            <a:ext cx="1761494" cy="561524"/>
          </a:xfrm>
          <a:custGeom>
            <a:avLst/>
            <a:gdLst/>
            <a:ahLst/>
            <a:cxnLst/>
            <a:rect l="l" t="t" r="r" b="b"/>
            <a:pathLst>
              <a:path w="229" h="73">
                <a:moveTo>
                  <a:pt x="0" y="28"/>
                </a:moveTo>
                <a:lnTo>
                  <a:pt x="23" y="28"/>
                </a:lnTo>
                <a:lnTo>
                  <a:pt x="10" y="14"/>
                </a:lnTo>
                <a:lnTo>
                  <a:pt x="185" y="14"/>
                </a:lnTo>
                <a:lnTo>
                  <a:pt x="185" y="0"/>
                </a:lnTo>
                <a:lnTo>
                  <a:pt x="229" y="36"/>
                </a:lnTo>
                <a:lnTo>
                  <a:pt x="185" y="73"/>
                </a:lnTo>
                <a:lnTo>
                  <a:pt x="185" y="59"/>
                </a:lnTo>
                <a:lnTo>
                  <a:pt x="10" y="59"/>
                </a:lnTo>
                <a:lnTo>
                  <a:pt x="23" y="45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gradFill rotWithShape="1">
            <a:gsLst>
              <a:gs pos="0">
                <a:srgbClr val="FFFFFF"/>
              </a:gs>
              <a:gs pos="50000">
                <a:srgbClr val="A9D0EE"/>
              </a:gs>
              <a:gs pos="100000">
                <a:srgbClr val="FFFFFF"/>
              </a:gs>
            </a:gsLst>
            <a:lin ang="5400000" scaled="1"/>
          </a:gradFill>
          <a:xfrm>
            <a:off x="1938413" y="515372"/>
            <a:ext cx="1761494" cy="561524"/>
          </a:xfrm>
          <a:custGeom>
            <a:avLst/>
            <a:gdLst/>
            <a:ahLst/>
            <a:cxnLst/>
            <a:rect l="l" t="t" r="r" b="b"/>
            <a:pathLst>
              <a:path w="229" h="73">
                <a:moveTo>
                  <a:pt x="0" y="28"/>
                </a:moveTo>
                <a:lnTo>
                  <a:pt x="23" y="28"/>
                </a:lnTo>
                <a:lnTo>
                  <a:pt x="10" y="14"/>
                </a:lnTo>
                <a:lnTo>
                  <a:pt x="185" y="14"/>
                </a:lnTo>
                <a:lnTo>
                  <a:pt x="185" y="0"/>
                </a:lnTo>
                <a:lnTo>
                  <a:pt x="229" y="37"/>
                </a:lnTo>
                <a:lnTo>
                  <a:pt x="185" y="73"/>
                </a:lnTo>
                <a:lnTo>
                  <a:pt x="185" y="59"/>
                </a:lnTo>
                <a:lnTo>
                  <a:pt x="10" y="59"/>
                </a:lnTo>
                <a:lnTo>
                  <a:pt x="23" y="45"/>
                </a:lnTo>
                <a:close/>
              </a:path>
            </a:pathLst>
          </a:custGeom>
          <a:ln w="9230">
            <a:solidFill>
              <a:srgbClr val="C7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076871" y="728443"/>
            <a:ext cx="1253814" cy="0"/>
          </a:xfrm>
          <a:prstGeom prst="line">
            <a:avLst/>
          </a:prstGeom>
          <a:ln w="153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30715" y="599985"/>
            <a:ext cx="1207662" cy="3922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1" i="1">
                <a:solidFill>
                  <a:srgbClr val="000000"/>
                </a:solidFill>
                <a:latin typeface="Liberation Serif"/>
              </a:rPr>
              <a:t>Low Contrast</a:t>
            </a:r>
          </a:p>
        </p:txBody>
      </p:sp>
      <p:sp>
        <p:nvSpPr>
          <p:cNvPr id="22" name="Rounded Rectangle 21"/>
          <p:cNvSpPr/>
          <p:nvPr/>
        </p:nvSpPr>
        <p:spPr>
          <a:solidFill>
            <a:srgbClr val="EFF8FF"/>
          </a:solidFill>
          <a:xfrm>
            <a:off x="1884568" y="1084588"/>
            <a:ext cx="1753802" cy="799980"/>
          </a:xfrm>
          <a:prstGeom prst="roundRect">
            <a:avLst>
              <a:gd name="adj" fmla="val 6730"/>
            </a:avLst>
          </a:prstGeom>
          <a:ln w="8461">
            <a:solidFill>
              <a:srgbClr val="CAD2DA"/>
            </a:solidFill>
          </a:ln>
          <a:effectLst>
            <a:outerShdw blurRad="30768" dist="23076" dir="2700000" algn="ctr" rotWithShape="0">
              <a:srgbClr val="77777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023026" y="1349966"/>
            <a:ext cx="599985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23026" y="1461502"/>
            <a:ext cx="599985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23026" y="1573037"/>
            <a:ext cx="599985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43023" y="1238430"/>
            <a:ext cx="0" cy="446143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63020" y="1238430"/>
            <a:ext cx="0" cy="446143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83017" y="1238430"/>
            <a:ext cx="0" cy="446143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03014" y="1238430"/>
            <a:ext cx="0" cy="446143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23026" y="1238430"/>
            <a:ext cx="0" cy="446143"/>
          </a:xfrm>
          <a:prstGeom prst="line">
            <a:avLst/>
          </a:prstGeom>
          <a:ln w="9230">
            <a:solidFill>
              <a:srgbClr val="1723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23026" y="1684573"/>
            <a:ext cx="599985" cy="0"/>
          </a:xfrm>
          <a:prstGeom prst="line">
            <a:avLst/>
          </a:prstGeom>
          <a:ln w="9230">
            <a:solidFill>
              <a:srgbClr val="1723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solidFill>
            <a:srgbClr val="4D7898">
              <a:alpha val="90000"/>
            </a:srgbClr>
          </a:solidFill>
          <a:xfrm>
            <a:off x="2038410" y="1648881"/>
            <a:ext cx="42307" cy="3569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solidFill>
            <a:srgbClr val="4D7898">
              <a:alpha val="90000"/>
            </a:srgbClr>
          </a:solidFill>
          <a:xfrm>
            <a:off x="2088409" y="1613190"/>
            <a:ext cx="42307" cy="7138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solidFill>
            <a:srgbClr val="4D7898">
              <a:alpha val="90000"/>
            </a:srgbClr>
          </a:solidFill>
          <a:xfrm>
            <a:off x="2138408" y="1559653"/>
            <a:ext cx="42307" cy="1249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solidFill>
            <a:srgbClr val="4D7898">
              <a:alpha val="90000"/>
            </a:srgbClr>
          </a:solidFill>
          <a:xfrm>
            <a:off x="2188406" y="1291967"/>
            <a:ext cx="42307" cy="39260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solidFill>
            <a:srgbClr val="4D7898">
              <a:alpha val="90000"/>
            </a:srgbClr>
          </a:solidFill>
          <a:xfrm>
            <a:off x="2238405" y="1506116"/>
            <a:ext cx="42307" cy="17845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solidFill>
            <a:srgbClr val="4D7898">
              <a:alpha val="90000"/>
            </a:srgbClr>
          </a:solidFill>
          <a:xfrm>
            <a:off x="2288404" y="1604267"/>
            <a:ext cx="42307" cy="8030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solidFill>
            <a:srgbClr val="4D7898">
              <a:alpha val="90000"/>
            </a:srgbClr>
          </a:solidFill>
          <a:xfrm>
            <a:off x="2338403" y="1648881"/>
            <a:ext cx="42307" cy="3569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solidFill>
            <a:srgbClr val="4D7898">
              <a:alpha val="90000"/>
            </a:srgbClr>
          </a:solidFill>
          <a:xfrm>
            <a:off x="2388401" y="1666727"/>
            <a:ext cx="42307" cy="1784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solidFill>
            <a:srgbClr val="4D7898">
              <a:alpha val="90000"/>
            </a:srgbClr>
          </a:solidFill>
          <a:xfrm>
            <a:off x="2438400" y="1675650"/>
            <a:ext cx="42307" cy="892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669163" y="1461502"/>
            <a:ext cx="207687" cy="0"/>
          </a:xfrm>
          <a:prstGeom prst="line">
            <a:avLst/>
          </a:prstGeom>
          <a:ln w="38460">
            <a:solidFill>
              <a:srgbClr val="CC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907619" y="1349966"/>
            <a:ext cx="599985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07619" y="1461502"/>
            <a:ext cx="599985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07619" y="1573037"/>
            <a:ext cx="599985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027616" y="1238430"/>
            <a:ext cx="0" cy="446143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147613" y="1238430"/>
            <a:ext cx="0" cy="446143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67610" y="1238430"/>
            <a:ext cx="0" cy="446143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387607" y="1238430"/>
            <a:ext cx="0" cy="446143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907619" y="1238430"/>
            <a:ext cx="0" cy="446143"/>
          </a:xfrm>
          <a:prstGeom prst="line">
            <a:avLst/>
          </a:prstGeom>
          <a:ln w="9230">
            <a:solidFill>
              <a:srgbClr val="1723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07619" y="1684573"/>
            <a:ext cx="599985" cy="0"/>
          </a:xfrm>
          <a:prstGeom prst="line">
            <a:avLst/>
          </a:prstGeom>
          <a:ln w="9230">
            <a:solidFill>
              <a:srgbClr val="1723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solidFill>
            <a:srgbClr val="4D7898">
              <a:alpha val="90000"/>
            </a:srgbClr>
          </a:solidFill>
          <a:xfrm>
            <a:off x="2923003" y="1648881"/>
            <a:ext cx="42307" cy="3569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solidFill>
            <a:srgbClr val="4D7898">
              <a:alpha val="90000"/>
            </a:srgbClr>
          </a:solidFill>
          <a:xfrm>
            <a:off x="2973002" y="1613190"/>
            <a:ext cx="42307" cy="7138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solidFill>
            <a:srgbClr val="4D7898">
              <a:alpha val="90000"/>
            </a:srgbClr>
          </a:solidFill>
          <a:xfrm>
            <a:off x="3023001" y="1541807"/>
            <a:ext cx="42307" cy="14276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solidFill>
            <a:srgbClr val="4D7898">
              <a:alpha val="90000"/>
            </a:srgbClr>
          </a:solidFill>
          <a:xfrm>
            <a:off x="3072999" y="1390119"/>
            <a:ext cx="42307" cy="29445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solidFill>
            <a:srgbClr val="4D7898">
              <a:alpha val="90000"/>
            </a:srgbClr>
          </a:solidFill>
          <a:xfrm>
            <a:off x="3122998" y="1261507"/>
            <a:ext cx="42307" cy="42306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solidFill>
            <a:srgbClr val="4D7898">
              <a:alpha val="90000"/>
            </a:srgbClr>
          </a:solidFill>
          <a:xfrm>
            <a:off x="3172997" y="1452579"/>
            <a:ext cx="42307" cy="23199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solidFill>
            <a:srgbClr val="4D7898">
              <a:alpha val="90000"/>
            </a:srgbClr>
          </a:solidFill>
          <a:xfrm>
            <a:off x="3222996" y="1568576"/>
            <a:ext cx="42307" cy="11599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solidFill>
            <a:srgbClr val="4D7898">
              <a:alpha val="90000"/>
            </a:srgbClr>
          </a:solidFill>
          <a:xfrm>
            <a:off x="3272994" y="1613190"/>
            <a:ext cx="42307" cy="7138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solidFill>
            <a:srgbClr val="4D7898">
              <a:alpha val="90000"/>
            </a:srgbClr>
          </a:solidFill>
          <a:xfrm>
            <a:off x="3322993" y="1648881"/>
            <a:ext cx="42307" cy="3569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23028" y="1669189"/>
            <a:ext cx="1676881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1">
                <a:solidFill>
                  <a:srgbClr val="000000"/>
                </a:solidFill>
                <a:latin typeface="Liberation Serif"/>
              </a:rPr>
              <a:t>Contrast Degradation</a:t>
            </a:r>
          </a:p>
        </p:txBody>
      </p:sp>
      <p:sp>
        <p:nvSpPr>
          <p:cNvPr id="61" name="Rectangle 60"/>
          <p:cNvSpPr/>
          <p:nvPr/>
        </p:nvSpPr>
        <p:spPr>
          <a:solidFill>
            <a:srgbClr val="F5F4EE"/>
          </a:solidFill>
          <a:xfrm>
            <a:off x="3707599" y="553832"/>
            <a:ext cx="3369146" cy="1530731"/>
          </a:xfrm>
          <a:prstGeom prst="rect">
            <a:avLst/>
          </a:prstGeom>
          <a:ln w="23076">
            <a:solidFill>
              <a:srgbClr val="E9ECEF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lc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444" y="599985"/>
            <a:ext cx="1892260" cy="1423041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noFill/>
          <a:xfrm>
            <a:off x="3761444" y="599985"/>
            <a:ext cx="1892260" cy="1423041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lc_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164" y="599985"/>
            <a:ext cx="661522" cy="453835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noFill/>
          <a:xfrm>
            <a:off x="5692164" y="599985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c_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146" y="599985"/>
            <a:ext cx="661522" cy="453835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noFill/>
          <a:xfrm>
            <a:off x="6392146" y="599985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lc_t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2164" y="1076896"/>
            <a:ext cx="661522" cy="453835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noFill/>
          <a:xfrm>
            <a:off x="5692164" y="1076896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lc_t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2146" y="1076896"/>
            <a:ext cx="661522" cy="453835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noFill/>
          <a:xfrm>
            <a:off x="6392146" y="1076896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lc_t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2164" y="1553807"/>
            <a:ext cx="661522" cy="453835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noFill/>
          <a:xfrm>
            <a:off x="5692164" y="1553807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lc_t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2146" y="1553807"/>
            <a:ext cx="661522" cy="453835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noFill/>
          <a:xfrm>
            <a:off x="6392146" y="1553807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solidFill>
            <a:srgbClr val="BCC9D2"/>
          </a:solidFill>
          <a:xfrm>
            <a:off x="207687" y="2284558"/>
            <a:ext cx="1515346" cy="246148"/>
          </a:xfrm>
          <a:custGeom>
            <a:avLst/>
            <a:gdLst/>
            <a:ahLst/>
            <a:cxnLst/>
            <a:rect l="l" t="t" r="r" b="b"/>
            <a:pathLst>
              <a:path w="197" h="32">
                <a:moveTo>
                  <a:pt x="0" y="0"/>
                </a:moveTo>
                <a:lnTo>
                  <a:pt x="159" y="0"/>
                </a:lnTo>
                <a:lnTo>
                  <a:pt x="197" y="32"/>
                </a:lnTo>
                <a:lnTo>
                  <a:pt x="38" y="32"/>
                </a:lnTo>
                <a:close/>
              </a:path>
            </a:pathLst>
          </a:custGeom>
          <a:ln w="7692">
            <a:solidFill>
              <a:srgbClr val="24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solidFill>
            <a:srgbClr val="7F8FE7">
              <a:alpha val="72000"/>
            </a:srgbClr>
          </a:solidFill>
          <a:xfrm>
            <a:off x="346145" y="2438400"/>
            <a:ext cx="1492270" cy="230763"/>
          </a:xfrm>
          <a:custGeom>
            <a:avLst/>
            <a:gdLst/>
            <a:ahLst/>
            <a:cxnLst/>
            <a:rect l="l" t="t" r="r" b="b"/>
            <a:pathLst>
              <a:path w="194" h="30">
                <a:moveTo>
                  <a:pt x="0" y="0"/>
                </a:moveTo>
                <a:lnTo>
                  <a:pt x="159" y="0"/>
                </a:lnTo>
                <a:lnTo>
                  <a:pt x="194" y="30"/>
                </a:lnTo>
                <a:lnTo>
                  <a:pt x="36" y="30"/>
                </a:lnTo>
                <a:close/>
              </a:path>
            </a:pathLst>
          </a:custGeom>
          <a:ln w="7692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07687" y="2284558"/>
            <a:ext cx="292300" cy="307684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99987" y="2592242"/>
            <a:ext cx="0" cy="1053820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430733" y="2284558"/>
            <a:ext cx="407682" cy="307684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838415" y="2592242"/>
            <a:ext cx="0" cy="1053820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pic>
        <p:nvPicPr>
          <p:cNvPr id="82" name="Picture 81" descr="src_blu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987" y="2592242"/>
            <a:ext cx="1338428" cy="1053820"/>
          </a:xfrm>
          <a:prstGeom prst="rect">
            <a:avLst/>
          </a:prstGeom>
        </p:spPr>
      </p:pic>
      <p:sp>
        <p:nvSpPr>
          <p:cNvPr id="83" name="Rectangle 82"/>
          <p:cNvSpPr/>
          <p:nvPr/>
        </p:nvSpPr>
        <p:spPr>
          <a:noFill/>
          <a:xfrm>
            <a:off x="499987" y="2592242"/>
            <a:ext cx="1338428" cy="1053820"/>
          </a:xfrm>
          <a:prstGeom prst="rect">
            <a:avLst/>
          </a:prstGeom>
          <a:ln w="9230">
            <a:solidFill>
              <a:srgbClr val="31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solidFill>
            <a:srgbClr val="111111"/>
          </a:solidFill>
          <a:xfrm>
            <a:off x="192303" y="3361454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solidFill>
            <a:srgbClr val="111111"/>
          </a:solidFill>
          <a:xfrm>
            <a:off x="269224" y="3446067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solidFill>
            <a:srgbClr val="111111"/>
          </a:solidFill>
          <a:xfrm>
            <a:off x="346145" y="3530680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solidFill>
            <a:srgbClr val="AAB3BD">
              <a:alpha val="38000"/>
            </a:srgbClr>
          </a:solidFill>
          <a:xfrm>
            <a:off x="1892260" y="2161484"/>
            <a:ext cx="1761494" cy="561524"/>
          </a:xfrm>
          <a:custGeom>
            <a:avLst/>
            <a:gdLst/>
            <a:ahLst/>
            <a:cxnLst/>
            <a:rect l="l" t="t" r="r" b="b"/>
            <a:pathLst>
              <a:path w="229" h="73">
                <a:moveTo>
                  <a:pt x="0" y="28"/>
                </a:moveTo>
                <a:lnTo>
                  <a:pt x="23" y="28"/>
                </a:lnTo>
                <a:lnTo>
                  <a:pt x="10" y="14"/>
                </a:lnTo>
                <a:lnTo>
                  <a:pt x="185" y="14"/>
                </a:lnTo>
                <a:lnTo>
                  <a:pt x="185" y="0"/>
                </a:lnTo>
                <a:lnTo>
                  <a:pt x="229" y="37"/>
                </a:lnTo>
                <a:lnTo>
                  <a:pt x="185" y="73"/>
                </a:lnTo>
                <a:lnTo>
                  <a:pt x="185" y="59"/>
                </a:lnTo>
                <a:lnTo>
                  <a:pt x="10" y="59"/>
                </a:lnTo>
                <a:lnTo>
                  <a:pt x="23" y="45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gradFill rotWithShape="1">
            <a:gsLst>
              <a:gs pos="0">
                <a:srgbClr val="FFFFFF"/>
              </a:gs>
              <a:gs pos="50000">
                <a:srgbClr val="F5C3A8"/>
              </a:gs>
              <a:gs pos="100000">
                <a:srgbClr val="FFFFFF"/>
              </a:gs>
            </a:gsLst>
            <a:lin ang="5400000" scaled="1"/>
          </a:gradFill>
          <a:xfrm>
            <a:off x="1861491" y="2123023"/>
            <a:ext cx="1761494" cy="561524"/>
          </a:xfrm>
          <a:custGeom>
            <a:avLst/>
            <a:gdLst/>
            <a:ahLst/>
            <a:cxnLst/>
            <a:rect l="l" t="t" r="r" b="b"/>
            <a:pathLst>
              <a:path w="229" h="73">
                <a:moveTo>
                  <a:pt x="0" y="28"/>
                </a:moveTo>
                <a:lnTo>
                  <a:pt x="23" y="28"/>
                </a:lnTo>
                <a:lnTo>
                  <a:pt x="10" y="14"/>
                </a:lnTo>
                <a:lnTo>
                  <a:pt x="185" y="14"/>
                </a:lnTo>
                <a:lnTo>
                  <a:pt x="185" y="0"/>
                </a:lnTo>
                <a:lnTo>
                  <a:pt x="229" y="36"/>
                </a:lnTo>
                <a:lnTo>
                  <a:pt x="185" y="73"/>
                </a:lnTo>
                <a:lnTo>
                  <a:pt x="185" y="59"/>
                </a:lnTo>
                <a:lnTo>
                  <a:pt x="10" y="59"/>
                </a:lnTo>
                <a:lnTo>
                  <a:pt x="23" y="45"/>
                </a:lnTo>
                <a:close/>
              </a:path>
            </a:pathLst>
          </a:custGeom>
          <a:ln w="9230">
            <a:solidFill>
              <a:srgbClr val="C7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1999950" y="2336095"/>
            <a:ext cx="1253814" cy="0"/>
          </a:xfrm>
          <a:prstGeom prst="line">
            <a:avLst/>
          </a:prstGeom>
          <a:ln w="153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2053794" y="2207637"/>
            <a:ext cx="1207662" cy="3922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1" i="1">
                <a:solidFill>
                  <a:srgbClr val="000000"/>
                </a:solidFill>
                <a:latin typeface="Liberation Serif"/>
              </a:rPr>
              <a:t>Blur</a:t>
            </a:r>
          </a:p>
        </p:txBody>
      </p:sp>
      <p:sp>
        <p:nvSpPr>
          <p:cNvPr id="91" name="Rounded Rectangle 90"/>
          <p:cNvSpPr/>
          <p:nvPr/>
        </p:nvSpPr>
        <p:spPr>
          <a:solidFill>
            <a:srgbClr val="FFF5ED"/>
          </a:solidFill>
          <a:xfrm>
            <a:off x="1884568" y="2699932"/>
            <a:ext cx="1753802" cy="799980"/>
          </a:xfrm>
          <a:prstGeom prst="roundRect">
            <a:avLst>
              <a:gd name="adj" fmla="val 6730"/>
            </a:avLst>
          </a:prstGeom>
          <a:ln w="8461">
            <a:solidFill>
              <a:srgbClr val="CAD2DA"/>
            </a:solidFill>
          </a:ln>
          <a:effectLst>
            <a:outerShdw blurRad="30768" dist="23076" dir="2700000" algn="ctr" rotWithShape="0">
              <a:srgbClr val="77777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solidFill>
            <a:srgbClr val="E8F1F8"/>
          </a:solidFill>
          <a:xfrm>
            <a:off x="1953797" y="2884543"/>
            <a:ext cx="476911" cy="299992"/>
          </a:xfrm>
          <a:custGeom>
            <a:avLst/>
            <a:gdLst/>
            <a:ahLst/>
            <a:cxnLst/>
            <a:rect l="l" t="t" r="r" b="b"/>
            <a:pathLst>
              <a:path w="62" h="39">
                <a:moveTo>
                  <a:pt x="0" y="19"/>
                </a:moveTo>
                <a:lnTo>
                  <a:pt x="32" y="39"/>
                </a:lnTo>
                <a:lnTo>
                  <a:pt x="62" y="19"/>
                </a:lnTo>
                <a:lnTo>
                  <a:pt x="29" y="0"/>
                </a:lnTo>
                <a:close/>
              </a:path>
            </a:pathLst>
          </a:custGeom>
          <a:ln w="5384">
            <a:solidFill>
              <a:srgbClr val="80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V="1">
            <a:off x="2136408" y="2847620"/>
            <a:ext cx="45691" cy="47999"/>
          </a:xfrm>
          <a:prstGeom prst="line">
            <a:avLst/>
          </a:prstGeom>
          <a:ln w="15384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182099" y="2847620"/>
            <a:ext cx="45691" cy="47999"/>
          </a:xfrm>
          <a:prstGeom prst="line">
            <a:avLst/>
          </a:prstGeom>
          <a:ln w="15384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111024" y="2879620"/>
            <a:ext cx="71075" cy="69998"/>
          </a:xfrm>
          <a:prstGeom prst="line">
            <a:avLst/>
          </a:prstGeom>
          <a:ln w="15384">
            <a:solidFill>
              <a:srgbClr val="487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182099" y="2879620"/>
            <a:ext cx="71075" cy="69998"/>
          </a:xfrm>
          <a:prstGeom prst="line">
            <a:avLst/>
          </a:prstGeom>
          <a:ln w="15384">
            <a:solidFill>
              <a:srgbClr val="487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085640" y="2911619"/>
            <a:ext cx="96459" cy="91998"/>
          </a:xfrm>
          <a:prstGeom prst="line">
            <a:avLst/>
          </a:prstGeom>
          <a:ln w="15384">
            <a:solidFill>
              <a:srgbClr val="6D86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182099" y="2911619"/>
            <a:ext cx="96459" cy="91998"/>
          </a:xfrm>
          <a:prstGeom prst="line">
            <a:avLst/>
          </a:prstGeom>
          <a:ln w="15384">
            <a:solidFill>
              <a:srgbClr val="6D86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060256" y="2943618"/>
            <a:ext cx="121843" cy="113997"/>
          </a:xfrm>
          <a:prstGeom prst="line">
            <a:avLst/>
          </a:prstGeom>
          <a:ln w="15384">
            <a:solidFill>
              <a:srgbClr val="919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182099" y="2943618"/>
            <a:ext cx="121843" cy="113997"/>
          </a:xfrm>
          <a:prstGeom prst="line">
            <a:avLst/>
          </a:prstGeom>
          <a:ln w="15384">
            <a:solidFill>
              <a:srgbClr val="919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034872" y="2975617"/>
            <a:ext cx="147227" cy="135997"/>
          </a:xfrm>
          <a:prstGeom prst="line">
            <a:avLst/>
          </a:prstGeom>
          <a:ln w="15384">
            <a:solidFill>
              <a:srgbClr val="B6A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182099" y="2975617"/>
            <a:ext cx="147227" cy="135997"/>
          </a:xfrm>
          <a:prstGeom prst="line">
            <a:avLst/>
          </a:prstGeom>
          <a:ln w="15384">
            <a:solidFill>
              <a:srgbClr val="B6A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009488" y="3007616"/>
            <a:ext cx="172611" cy="157996"/>
          </a:xfrm>
          <a:prstGeom prst="line">
            <a:avLst/>
          </a:prstGeom>
          <a:ln w="15384">
            <a:solidFill>
              <a:srgbClr val="DAB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182099" y="3007616"/>
            <a:ext cx="172611" cy="157996"/>
          </a:xfrm>
          <a:prstGeom prst="line">
            <a:avLst/>
          </a:prstGeom>
          <a:ln w="15384">
            <a:solidFill>
              <a:srgbClr val="DAB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953797" y="2715316"/>
            <a:ext cx="476911" cy="138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6" b="1" i="1">
                <a:solidFill>
                  <a:srgbClr val="000000"/>
                </a:solidFill>
                <a:latin typeface="Liberation Serif"/>
              </a:rPr>
              <a:t>k = 3</a:t>
            </a:r>
          </a:p>
        </p:txBody>
      </p:sp>
      <p:sp>
        <p:nvSpPr>
          <p:cNvPr id="106" name="Freeform 105"/>
          <p:cNvSpPr/>
          <p:nvPr/>
        </p:nvSpPr>
        <p:spPr>
          <a:solidFill>
            <a:srgbClr val="E8F1F8"/>
          </a:solidFill>
          <a:xfrm>
            <a:off x="2515321" y="2884543"/>
            <a:ext cx="476911" cy="299992"/>
          </a:xfrm>
          <a:custGeom>
            <a:avLst/>
            <a:gdLst/>
            <a:ahLst/>
            <a:cxnLst/>
            <a:rect l="l" t="t" r="r" b="b"/>
            <a:pathLst>
              <a:path w="62" h="39">
                <a:moveTo>
                  <a:pt x="0" y="19"/>
                </a:moveTo>
                <a:lnTo>
                  <a:pt x="32" y="39"/>
                </a:lnTo>
                <a:lnTo>
                  <a:pt x="62" y="19"/>
                </a:lnTo>
                <a:lnTo>
                  <a:pt x="29" y="0"/>
                </a:lnTo>
                <a:close/>
              </a:path>
            </a:pathLst>
          </a:custGeom>
          <a:ln w="5384">
            <a:solidFill>
              <a:srgbClr val="80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 flipV="1">
            <a:off x="2697932" y="2847620"/>
            <a:ext cx="45691" cy="47999"/>
          </a:xfrm>
          <a:prstGeom prst="line">
            <a:avLst/>
          </a:prstGeom>
          <a:ln w="15384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743623" y="2847620"/>
            <a:ext cx="45691" cy="47999"/>
          </a:xfrm>
          <a:prstGeom prst="line">
            <a:avLst/>
          </a:prstGeom>
          <a:ln w="15384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672548" y="2879620"/>
            <a:ext cx="71075" cy="69998"/>
          </a:xfrm>
          <a:prstGeom prst="line">
            <a:avLst/>
          </a:prstGeom>
          <a:ln w="15384">
            <a:solidFill>
              <a:srgbClr val="487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743623" y="2879620"/>
            <a:ext cx="71075" cy="69998"/>
          </a:xfrm>
          <a:prstGeom prst="line">
            <a:avLst/>
          </a:prstGeom>
          <a:ln w="15384">
            <a:solidFill>
              <a:srgbClr val="487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647164" y="2911619"/>
            <a:ext cx="96459" cy="91998"/>
          </a:xfrm>
          <a:prstGeom prst="line">
            <a:avLst/>
          </a:prstGeom>
          <a:ln w="15384">
            <a:solidFill>
              <a:srgbClr val="6D86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743623" y="2911619"/>
            <a:ext cx="96459" cy="91998"/>
          </a:xfrm>
          <a:prstGeom prst="line">
            <a:avLst/>
          </a:prstGeom>
          <a:ln w="15384">
            <a:solidFill>
              <a:srgbClr val="6D86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621780" y="2943618"/>
            <a:ext cx="121843" cy="113997"/>
          </a:xfrm>
          <a:prstGeom prst="line">
            <a:avLst/>
          </a:prstGeom>
          <a:ln w="15384">
            <a:solidFill>
              <a:srgbClr val="919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743623" y="2943618"/>
            <a:ext cx="121843" cy="113997"/>
          </a:xfrm>
          <a:prstGeom prst="line">
            <a:avLst/>
          </a:prstGeom>
          <a:ln w="15384">
            <a:solidFill>
              <a:srgbClr val="919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596396" y="2975617"/>
            <a:ext cx="147227" cy="135997"/>
          </a:xfrm>
          <a:prstGeom prst="line">
            <a:avLst/>
          </a:prstGeom>
          <a:ln w="15384">
            <a:solidFill>
              <a:srgbClr val="B6A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743623" y="2975617"/>
            <a:ext cx="147227" cy="135997"/>
          </a:xfrm>
          <a:prstGeom prst="line">
            <a:avLst/>
          </a:prstGeom>
          <a:ln w="15384">
            <a:solidFill>
              <a:srgbClr val="B6A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571012" y="3007616"/>
            <a:ext cx="172611" cy="157996"/>
          </a:xfrm>
          <a:prstGeom prst="line">
            <a:avLst/>
          </a:prstGeom>
          <a:ln w="15384">
            <a:solidFill>
              <a:srgbClr val="DAB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743623" y="3007616"/>
            <a:ext cx="172611" cy="157996"/>
          </a:xfrm>
          <a:prstGeom prst="line">
            <a:avLst/>
          </a:prstGeom>
          <a:ln w="15384">
            <a:solidFill>
              <a:srgbClr val="DAB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515321" y="2715316"/>
            <a:ext cx="476911" cy="138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6" b="1" i="1">
                <a:solidFill>
                  <a:srgbClr val="000000"/>
                </a:solidFill>
                <a:latin typeface="Liberation Serif"/>
              </a:rPr>
              <a:t>k = 5</a:t>
            </a:r>
          </a:p>
        </p:txBody>
      </p:sp>
      <p:sp>
        <p:nvSpPr>
          <p:cNvPr id="120" name="Freeform 119"/>
          <p:cNvSpPr/>
          <p:nvPr/>
        </p:nvSpPr>
        <p:spPr>
          <a:solidFill>
            <a:srgbClr val="E8F1F8"/>
          </a:solidFill>
          <a:xfrm>
            <a:off x="3076845" y="2884543"/>
            <a:ext cx="476911" cy="299992"/>
          </a:xfrm>
          <a:custGeom>
            <a:avLst/>
            <a:gdLst/>
            <a:ahLst/>
            <a:cxnLst/>
            <a:rect l="l" t="t" r="r" b="b"/>
            <a:pathLst>
              <a:path w="62" h="39">
                <a:moveTo>
                  <a:pt x="0" y="19"/>
                </a:moveTo>
                <a:lnTo>
                  <a:pt x="32" y="39"/>
                </a:lnTo>
                <a:lnTo>
                  <a:pt x="62" y="19"/>
                </a:lnTo>
                <a:lnTo>
                  <a:pt x="29" y="0"/>
                </a:lnTo>
                <a:close/>
              </a:path>
            </a:pathLst>
          </a:custGeom>
          <a:ln w="5384">
            <a:solidFill>
              <a:srgbClr val="80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 flipV="1">
            <a:off x="3259456" y="2847620"/>
            <a:ext cx="45691" cy="47999"/>
          </a:xfrm>
          <a:prstGeom prst="line">
            <a:avLst/>
          </a:prstGeom>
          <a:ln w="15384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305147" y="2847620"/>
            <a:ext cx="45692" cy="47999"/>
          </a:xfrm>
          <a:prstGeom prst="line">
            <a:avLst/>
          </a:prstGeom>
          <a:ln w="15384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3234072" y="2879620"/>
            <a:ext cx="71075" cy="69998"/>
          </a:xfrm>
          <a:prstGeom prst="line">
            <a:avLst/>
          </a:prstGeom>
          <a:ln w="15384">
            <a:solidFill>
              <a:srgbClr val="487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305147" y="2879620"/>
            <a:ext cx="71075" cy="69998"/>
          </a:xfrm>
          <a:prstGeom prst="line">
            <a:avLst/>
          </a:prstGeom>
          <a:ln w="15384">
            <a:solidFill>
              <a:srgbClr val="487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208688" y="2911619"/>
            <a:ext cx="96459" cy="91998"/>
          </a:xfrm>
          <a:prstGeom prst="line">
            <a:avLst/>
          </a:prstGeom>
          <a:ln w="15384">
            <a:solidFill>
              <a:srgbClr val="6D86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305147" y="2911619"/>
            <a:ext cx="96459" cy="91998"/>
          </a:xfrm>
          <a:prstGeom prst="line">
            <a:avLst/>
          </a:prstGeom>
          <a:ln w="15384">
            <a:solidFill>
              <a:srgbClr val="6D86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183304" y="2943618"/>
            <a:ext cx="121843" cy="113997"/>
          </a:xfrm>
          <a:prstGeom prst="line">
            <a:avLst/>
          </a:prstGeom>
          <a:ln w="15384">
            <a:solidFill>
              <a:srgbClr val="919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305147" y="2943618"/>
            <a:ext cx="121843" cy="113997"/>
          </a:xfrm>
          <a:prstGeom prst="line">
            <a:avLst/>
          </a:prstGeom>
          <a:ln w="15384">
            <a:solidFill>
              <a:srgbClr val="919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157920" y="2975617"/>
            <a:ext cx="147227" cy="135997"/>
          </a:xfrm>
          <a:prstGeom prst="line">
            <a:avLst/>
          </a:prstGeom>
          <a:ln w="15384">
            <a:solidFill>
              <a:srgbClr val="B6A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305147" y="2975617"/>
            <a:ext cx="147227" cy="135997"/>
          </a:xfrm>
          <a:prstGeom prst="line">
            <a:avLst/>
          </a:prstGeom>
          <a:ln w="15384">
            <a:solidFill>
              <a:srgbClr val="B6A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132536" y="3007616"/>
            <a:ext cx="172611" cy="157996"/>
          </a:xfrm>
          <a:prstGeom prst="line">
            <a:avLst/>
          </a:prstGeom>
          <a:ln w="15384">
            <a:solidFill>
              <a:srgbClr val="DAB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305147" y="3007616"/>
            <a:ext cx="172611" cy="157996"/>
          </a:xfrm>
          <a:prstGeom prst="line">
            <a:avLst/>
          </a:prstGeom>
          <a:ln w="15384">
            <a:solidFill>
              <a:srgbClr val="DAB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3076845" y="2715316"/>
            <a:ext cx="476911" cy="138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6" b="1" i="1">
                <a:solidFill>
                  <a:srgbClr val="000000"/>
                </a:solidFill>
                <a:latin typeface="Liberation Serif"/>
              </a:rPr>
              <a:t>k = 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923028" y="3284532"/>
            <a:ext cx="1676881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1">
                <a:solidFill>
                  <a:srgbClr val="000000"/>
                </a:solidFill>
                <a:latin typeface="Liberation Serif"/>
              </a:rPr>
              <a:t>Gaussian Blur</a:t>
            </a:r>
          </a:p>
        </p:txBody>
      </p:sp>
      <p:sp>
        <p:nvSpPr>
          <p:cNvPr id="135" name="Rectangle 134"/>
          <p:cNvSpPr/>
          <p:nvPr/>
        </p:nvSpPr>
        <p:spPr>
          <a:solidFill>
            <a:srgbClr val="F5F4EE"/>
          </a:solidFill>
          <a:xfrm>
            <a:off x="3707599" y="2138408"/>
            <a:ext cx="3369146" cy="1530731"/>
          </a:xfrm>
          <a:prstGeom prst="rect">
            <a:avLst/>
          </a:prstGeom>
          <a:ln w="23076">
            <a:solidFill>
              <a:srgbClr val="E9ECEF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6" name="Picture 135" descr="blur_lar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61444" y="2184560"/>
            <a:ext cx="1892260" cy="1423041"/>
          </a:xfrm>
          <a:prstGeom prst="rect">
            <a:avLst/>
          </a:prstGeom>
        </p:spPr>
      </p:pic>
      <p:sp>
        <p:nvSpPr>
          <p:cNvPr id="137" name="Rectangle 136"/>
          <p:cNvSpPr/>
          <p:nvPr/>
        </p:nvSpPr>
        <p:spPr>
          <a:noFill/>
          <a:xfrm>
            <a:off x="3761444" y="2184560"/>
            <a:ext cx="1892260" cy="1423041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blur_t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2164" y="2184560"/>
            <a:ext cx="661522" cy="453835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noFill/>
          <a:xfrm>
            <a:off x="5692164" y="2184560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blur_t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2146" y="2184560"/>
            <a:ext cx="661522" cy="453835"/>
          </a:xfrm>
          <a:prstGeom prst="rect">
            <a:avLst/>
          </a:prstGeom>
        </p:spPr>
      </p:pic>
      <p:sp>
        <p:nvSpPr>
          <p:cNvPr id="141" name="Rectangle 140"/>
          <p:cNvSpPr/>
          <p:nvPr/>
        </p:nvSpPr>
        <p:spPr>
          <a:noFill/>
          <a:xfrm>
            <a:off x="6392146" y="2184560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blur_t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164" y="2661471"/>
            <a:ext cx="661522" cy="453835"/>
          </a:xfrm>
          <a:prstGeom prst="rect">
            <a:avLst/>
          </a:prstGeom>
        </p:spPr>
      </p:pic>
      <p:sp>
        <p:nvSpPr>
          <p:cNvPr id="143" name="Rectangle 142"/>
          <p:cNvSpPr/>
          <p:nvPr/>
        </p:nvSpPr>
        <p:spPr>
          <a:noFill/>
          <a:xfrm>
            <a:off x="5692164" y="2661471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blur_t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2146" y="2661471"/>
            <a:ext cx="661522" cy="453835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noFill/>
          <a:xfrm>
            <a:off x="6392146" y="2661471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Picture 145" descr="blur_t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92164" y="3138382"/>
            <a:ext cx="661522" cy="453835"/>
          </a:xfrm>
          <a:prstGeom prst="rect">
            <a:avLst/>
          </a:prstGeom>
        </p:spPr>
      </p:pic>
      <p:sp>
        <p:nvSpPr>
          <p:cNvPr id="147" name="Rectangle 146"/>
          <p:cNvSpPr/>
          <p:nvPr/>
        </p:nvSpPr>
        <p:spPr>
          <a:noFill/>
          <a:xfrm>
            <a:off x="5692164" y="3138382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blur_t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2146" y="3138382"/>
            <a:ext cx="661522" cy="453835"/>
          </a:xfrm>
          <a:prstGeom prst="rect">
            <a:avLst/>
          </a:prstGeom>
        </p:spPr>
      </p:pic>
      <p:sp>
        <p:nvSpPr>
          <p:cNvPr id="149" name="Rectangle 148"/>
          <p:cNvSpPr/>
          <p:nvPr/>
        </p:nvSpPr>
        <p:spPr>
          <a:noFill/>
          <a:xfrm>
            <a:off x="6392146" y="3138382"/>
            <a:ext cx="661522" cy="453835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solidFill>
            <a:srgbClr val="BCC9D2"/>
          </a:solidFill>
          <a:xfrm>
            <a:off x="7276739" y="692290"/>
            <a:ext cx="1515346" cy="246148"/>
          </a:xfrm>
          <a:custGeom>
            <a:avLst/>
            <a:gdLst/>
            <a:ahLst/>
            <a:cxnLst/>
            <a:rect l="l" t="t" r="r" b="b"/>
            <a:pathLst>
              <a:path w="197" h="32">
                <a:moveTo>
                  <a:pt x="0" y="0"/>
                </a:moveTo>
                <a:lnTo>
                  <a:pt x="159" y="0"/>
                </a:lnTo>
                <a:lnTo>
                  <a:pt x="197" y="32"/>
                </a:lnTo>
                <a:lnTo>
                  <a:pt x="38" y="32"/>
                </a:lnTo>
                <a:close/>
              </a:path>
            </a:pathLst>
          </a:custGeom>
          <a:ln w="7692">
            <a:solidFill>
              <a:srgbClr val="24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solidFill>
            <a:srgbClr val="6F84EE">
              <a:alpha val="72000"/>
            </a:srgbClr>
          </a:solidFill>
          <a:xfrm>
            <a:off x="7415197" y="846132"/>
            <a:ext cx="1492270" cy="230763"/>
          </a:xfrm>
          <a:custGeom>
            <a:avLst/>
            <a:gdLst/>
            <a:ahLst/>
            <a:cxnLst/>
            <a:rect l="l" t="t" r="r" b="b"/>
            <a:pathLst>
              <a:path w="194" h="30">
                <a:moveTo>
                  <a:pt x="0" y="0"/>
                </a:moveTo>
                <a:lnTo>
                  <a:pt x="159" y="0"/>
                </a:lnTo>
                <a:lnTo>
                  <a:pt x="194" y="30"/>
                </a:lnTo>
                <a:lnTo>
                  <a:pt x="36" y="30"/>
                </a:lnTo>
                <a:close/>
              </a:path>
            </a:pathLst>
          </a:custGeom>
          <a:ln w="7692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7276739" y="692290"/>
            <a:ext cx="292301" cy="307685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7569040" y="999975"/>
            <a:ext cx="0" cy="1053819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499785" y="692290"/>
            <a:ext cx="407683" cy="307685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907468" y="999975"/>
            <a:ext cx="0" cy="1053819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pic>
        <p:nvPicPr>
          <p:cNvPr id="156" name="Picture 155" descr="src_nois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9040" y="999975"/>
            <a:ext cx="1338428" cy="1053820"/>
          </a:xfrm>
          <a:prstGeom prst="rect">
            <a:avLst/>
          </a:prstGeom>
        </p:spPr>
      </p:pic>
      <p:sp>
        <p:nvSpPr>
          <p:cNvPr id="157" name="Rectangle 156"/>
          <p:cNvSpPr/>
          <p:nvPr/>
        </p:nvSpPr>
        <p:spPr>
          <a:noFill/>
          <a:xfrm>
            <a:off x="7569040" y="999975"/>
            <a:ext cx="1338428" cy="1053820"/>
          </a:xfrm>
          <a:prstGeom prst="rect">
            <a:avLst/>
          </a:prstGeom>
          <a:ln w="9230">
            <a:solidFill>
              <a:srgbClr val="31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solidFill>
            <a:srgbClr val="111111"/>
          </a:solidFill>
          <a:xfrm>
            <a:off x="7261355" y="1769186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solidFill>
            <a:srgbClr val="111111"/>
          </a:solidFill>
          <a:xfrm>
            <a:off x="7338276" y="1853799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solidFill>
            <a:srgbClr val="111111"/>
          </a:solidFill>
          <a:xfrm>
            <a:off x="7415197" y="1938413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solidFill>
            <a:srgbClr val="AAB3BD">
              <a:alpha val="38000"/>
            </a:srgbClr>
          </a:solidFill>
          <a:xfrm>
            <a:off x="9199768" y="561524"/>
            <a:ext cx="1761494" cy="561524"/>
          </a:xfrm>
          <a:custGeom>
            <a:avLst/>
            <a:gdLst/>
            <a:ahLst/>
            <a:cxnLst/>
            <a:rect l="l" t="t" r="r" b="b"/>
            <a:pathLst>
              <a:path w="229" h="73">
                <a:moveTo>
                  <a:pt x="0" y="28"/>
                </a:moveTo>
                <a:lnTo>
                  <a:pt x="23" y="28"/>
                </a:lnTo>
                <a:lnTo>
                  <a:pt x="10" y="14"/>
                </a:lnTo>
                <a:lnTo>
                  <a:pt x="185" y="14"/>
                </a:lnTo>
                <a:lnTo>
                  <a:pt x="185" y="0"/>
                </a:lnTo>
                <a:lnTo>
                  <a:pt x="229" y="37"/>
                </a:lnTo>
                <a:lnTo>
                  <a:pt x="185" y="73"/>
                </a:lnTo>
                <a:lnTo>
                  <a:pt x="185" y="59"/>
                </a:lnTo>
                <a:lnTo>
                  <a:pt x="10" y="59"/>
                </a:lnTo>
                <a:lnTo>
                  <a:pt x="23" y="45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gradFill rotWithShape="1">
            <a:gsLst>
              <a:gs pos="0">
                <a:srgbClr val="FFFFFF"/>
              </a:gs>
              <a:gs pos="50000">
                <a:srgbClr val="F7D675"/>
              </a:gs>
              <a:gs pos="100000">
                <a:srgbClr val="FFFFFF"/>
              </a:gs>
            </a:gsLst>
            <a:lin ang="5400000" scaled="1"/>
          </a:gradFill>
          <a:xfrm>
            <a:off x="9168999" y="523064"/>
            <a:ext cx="1761494" cy="561524"/>
          </a:xfrm>
          <a:custGeom>
            <a:avLst/>
            <a:gdLst/>
            <a:ahLst/>
            <a:cxnLst/>
            <a:rect l="l" t="t" r="r" b="b"/>
            <a:pathLst>
              <a:path w="229" h="73">
                <a:moveTo>
                  <a:pt x="0" y="28"/>
                </a:moveTo>
                <a:lnTo>
                  <a:pt x="23" y="28"/>
                </a:lnTo>
                <a:lnTo>
                  <a:pt x="10" y="14"/>
                </a:lnTo>
                <a:lnTo>
                  <a:pt x="185" y="14"/>
                </a:lnTo>
                <a:lnTo>
                  <a:pt x="185" y="0"/>
                </a:lnTo>
                <a:lnTo>
                  <a:pt x="229" y="36"/>
                </a:lnTo>
                <a:lnTo>
                  <a:pt x="185" y="73"/>
                </a:lnTo>
                <a:lnTo>
                  <a:pt x="185" y="59"/>
                </a:lnTo>
                <a:lnTo>
                  <a:pt x="10" y="59"/>
                </a:lnTo>
                <a:lnTo>
                  <a:pt x="23" y="45"/>
                </a:lnTo>
                <a:close/>
              </a:path>
            </a:pathLst>
          </a:custGeom>
          <a:ln w="9230">
            <a:solidFill>
              <a:srgbClr val="C7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9307457" y="736135"/>
            <a:ext cx="1253815" cy="0"/>
          </a:xfrm>
          <a:prstGeom prst="line">
            <a:avLst/>
          </a:prstGeom>
          <a:ln w="153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9361302" y="607677"/>
            <a:ext cx="1207662" cy="3922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1" i="1">
                <a:solidFill>
                  <a:srgbClr val="000000"/>
                </a:solidFill>
                <a:latin typeface="Liberation Serif"/>
              </a:rPr>
              <a:t>Noise</a:t>
            </a:r>
          </a:p>
        </p:txBody>
      </p:sp>
      <p:sp>
        <p:nvSpPr>
          <p:cNvPr id="165" name="Rounded Rectangle 164"/>
          <p:cNvSpPr/>
          <p:nvPr/>
        </p:nvSpPr>
        <p:spPr>
          <a:solidFill>
            <a:srgbClr val="FFF7D6"/>
          </a:solidFill>
          <a:xfrm>
            <a:off x="8961312" y="1130741"/>
            <a:ext cx="1753802" cy="799980"/>
          </a:xfrm>
          <a:prstGeom prst="roundRect">
            <a:avLst>
              <a:gd name="adj" fmla="val 6730"/>
            </a:avLst>
          </a:prstGeom>
          <a:ln w="8461">
            <a:solidFill>
              <a:srgbClr val="CAD2DA"/>
            </a:solidFill>
          </a:ln>
          <a:effectLst>
            <a:outerShdw blurRad="30768" dist="23076" dir="2700000" algn="ctr" rotWithShape="0">
              <a:srgbClr val="77777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solidFill>
            <a:srgbClr val="E8F1F8"/>
          </a:solidFill>
          <a:xfrm>
            <a:off x="9022849" y="1261507"/>
            <a:ext cx="484603" cy="361529"/>
          </a:xfrm>
          <a:custGeom>
            <a:avLst/>
            <a:gdLst/>
            <a:ahLst/>
            <a:cxnLst/>
            <a:rect l="l" t="t" r="r" b="b"/>
            <a:pathLst>
              <a:path w="63" h="47">
                <a:moveTo>
                  <a:pt x="0" y="22"/>
                </a:moveTo>
                <a:lnTo>
                  <a:pt x="33" y="47"/>
                </a:lnTo>
                <a:lnTo>
                  <a:pt x="63" y="23"/>
                </a:lnTo>
                <a:lnTo>
                  <a:pt x="29" y="0"/>
                </a:lnTo>
                <a:close/>
              </a:path>
            </a:pathLst>
          </a:custGeom>
          <a:ln w="5384">
            <a:solidFill>
              <a:srgbClr val="80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 flipV="1">
            <a:off x="9208460" y="1216892"/>
            <a:ext cx="46383" cy="57230"/>
          </a:xfrm>
          <a:prstGeom prst="line">
            <a:avLst/>
          </a:prstGeom>
          <a:ln w="15384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254843" y="1216892"/>
            <a:ext cx="46384" cy="57230"/>
          </a:xfrm>
          <a:prstGeom prst="line">
            <a:avLst/>
          </a:prstGeom>
          <a:ln w="15384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9182691" y="1255045"/>
            <a:ext cx="72152" cy="83460"/>
          </a:xfrm>
          <a:prstGeom prst="line">
            <a:avLst/>
          </a:prstGeom>
          <a:ln w="15384">
            <a:solidFill>
              <a:srgbClr val="486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9254843" y="1255045"/>
            <a:ext cx="72152" cy="83460"/>
          </a:xfrm>
          <a:prstGeom prst="line">
            <a:avLst/>
          </a:prstGeom>
          <a:ln w="15384">
            <a:solidFill>
              <a:srgbClr val="486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156923" y="1293198"/>
            <a:ext cx="97920" cy="109690"/>
          </a:xfrm>
          <a:prstGeom prst="line">
            <a:avLst/>
          </a:prstGeom>
          <a:ln w="15384">
            <a:solidFill>
              <a:srgbClr val="6D7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254843" y="1293198"/>
            <a:ext cx="97921" cy="109690"/>
          </a:xfrm>
          <a:prstGeom prst="line">
            <a:avLst/>
          </a:prstGeom>
          <a:ln w="15384">
            <a:solidFill>
              <a:srgbClr val="6D7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31154" y="1331351"/>
            <a:ext cx="123689" cy="135920"/>
          </a:xfrm>
          <a:prstGeom prst="line">
            <a:avLst/>
          </a:prstGeom>
          <a:ln w="15384">
            <a:solidFill>
              <a:srgbClr val="919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254843" y="1331351"/>
            <a:ext cx="123690" cy="135920"/>
          </a:xfrm>
          <a:prstGeom prst="line">
            <a:avLst/>
          </a:prstGeom>
          <a:ln w="15384">
            <a:solidFill>
              <a:srgbClr val="919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105386" y="1369504"/>
            <a:ext cx="149457" cy="162150"/>
          </a:xfrm>
          <a:prstGeom prst="line">
            <a:avLst/>
          </a:prstGeom>
          <a:ln w="15384">
            <a:solidFill>
              <a:srgbClr val="B6A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9254843" y="1369504"/>
            <a:ext cx="149458" cy="162150"/>
          </a:xfrm>
          <a:prstGeom prst="line">
            <a:avLst/>
          </a:prstGeom>
          <a:ln w="15384">
            <a:solidFill>
              <a:srgbClr val="B6A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079617" y="1407657"/>
            <a:ext cx="175226" cy="188380"/>
          </a:xfrm>
          <a:prstGeom prst="line">
            <a:avLst/>
          </a:prstGeom>
          <a:ln w="15384">
            <a:solidFill>
              <a:srgbClr val="DAB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9254843" y="1407657"/>
            <a:ext cx="175227" cy="188380"/>
          </a:xfrm>
          <a:prstGeom prst="line">
            <a:avLst/>
          </a:prstGeom>
          <a:ln w="15384">
            <a:solidFill>
              <a:srgbClr val="DAB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179" name="Freeform 178"/>
          <p:cNvSpPr/>
          <p:nvPr/>
        </p:nvSpPr>
        <p:spPr>
          <a:solidFill>
            <a:srgbClr val="E8F1F8"/>
          </a:solidFill>
          <a:xfrm>
            <a:off x="9584374" y="1261507"/>
            <a:ext cx="484603" cy="361529"/>
          </a:xfrm>
          <a:custGeom>
            <a:avLst/>
            <a:gdLst/>
            <a:ahLst/>
            <a:cxnLst/>
            <a:rect l="l" t="t" r="r" b="b"/>
            <a:pathLst>
              <a:path w="63" h="47">
                <a:moveTo>
                  <a:pt x="0" y="22"/>
                </a:moveTo>
                <a:lnTo>
                  <a:pt x="33" y="47"/>
                </a:lnTo>
                <a:lnTo>
                  <a:pt x="63" y="23"/>
                </a:lnTo>
                <a:lnTo>
                  <a:pt x="29" y="0"/>
                </a:lnTo>
                <a:close/>
              </a:path>
            </a:pathLst>
          </a:custGeom>
          <a:ln w="5384">
            <a:solidFill>
              <a:srgbClr val="80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 flipV="1">
            <a:off x="9622834" y="1230738"/>
            <a:ext cx="193534" cy="76921"/>
          </a:xfrm>
          <a:prstGeom prst="line">
            <a:avLst/>
          </a:prstGeom>
          <a:ln w="16922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9816368" y="1230738"/>
            <a:ext cx="206456" cy="92306"/>
          </a:xfrm>
          <a:prstGeom prst="line">
            <a:avLst/>
          </a:prstGeom>
          <a:ln w="16922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622834" y="1270053"/>
            <a:ext cx="193534" cy="76922"/>
          </a:xfrm>
          <a:prstGeom prst="line">
            <a:avLst/>
          </a:prstGeom>
          <a:ln w="16922">
            <a:solidFill>
              <a:srgbClr val="3C6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816368" y="1270053"/>
            <a:ext cx="206456" cy="92306"/>
          </a:xfrm>
          <a:prstGeom prst="line">
            <a:avLst/>
          </a:prstGeom>
          <a:ln w="16922">
            <a:solidFill>
              <a:srgbClr val="3C6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22834" y="1309369"/>
            <a:ext cx="193534" cy="76921"/>
          </a:xfrm>
          <a:prstGeom prst="line">
            <a:avLst/>
          </a:prstGeom>
          <a:ln w="16922">
            <a:solidFill>
              <a:srgbClr val="547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816368" y="1309369"/>
            <a:ext cx="206456" cy="92305"/>
          </a:xfrm>
          <a:prstGeom prst="line">
            <a:avLst/>
          </a:prstGeom>
          <a:ln w="16922">
            <a:solidFill>
              <a:srgbClr val="547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622834" y="1348684"/>
            <a:ext cx="193534" cy="76921"/>
          </a:xfrm>
          <a:prstGeom prst="line">
            <a:avLst/>
          </a:prstGeom>
          <a:ln w="16922">
            <a:solidFill>
              <a:srgbClr val="6D8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816368" y="1348684"/>
            <a:ext cx="206456" cy="92305"/>
          </a:xfrm>
          <a:prstGeom prst="line">
            <a:avLst/>
          </a:prstGeom>
          <a:ln w="16922">
            <a:solidFill>
              <a:srgbClr val="6D8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622834" y="1387999"/>
            <a:ext cx="193534" cy="76921"/>
          </a:xfrm>
          <a:prstGeom prst="line">
            <a:avLst/>
          </a:prstGeom>
          <a:ln w="16922">
            <a:solidFill>
              <a:srgbClr val="858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9816368" y="1387999"/>
            <a:ext cx="206456" cy="92306"/>
          </a:xfrm>
          <a:prstGeom prst="line">
            <a:avLst/>
          </a:prstGeom>
          <a:ln w="16922">
            <a:solidFill>
              <a:srgbClr val="858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622834" y="1427314"/>
            <a:ext cx="193534" cy="76922"/>
          </a:xfrm>
          <a:prstGeom prst="line">
            <a:avLst/>
          </a:prstGeom>
          <a:ln w="16922">
            <a:solidFill>
              <a:srgbClr val="9D9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816368" y="1427314"/>
            <a:ext cx="206456" cy="92306"/>
          </a:xfrm>
          <a:prstGeom prst="line">
            <a:avLst/>
          </a:prstGeom>
          <a:ln w="16922">
            <a:solidFill>
              <a:srgbClr val="9D9C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9622834" y="1466630"/>
            <a:ext cx="193534" cy="76921"/>
          </a:xfrm>
          <a:prstGeom prst="line">
            <a:avLst/>
          </a:prstGeom>
          <a:ln w="16922">
            <a:solidFill>
              <a:srgbClr val="B6A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9816368" y="1466630"/>
            <a:ext cx="206456" cy="92305"/>
          </a:xfrm>
          <a:prstGeom prst="line">
            <a:avLst/>
          </a:prstGeom>
          <a:ln w="16922">
            <a:solidFill>
              <a:srgbClr val="B6A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9622834" y="1505945"/>
            <a:ext cx="193534" cy="76921"/>
          </a:xfrm>
          <a:prstGeom prst="line">
            <a:avLst/>
          </a:prstGeom>
          <a:ln w="16922">
            <a:solidFill>
              <a:srgbClr val="CE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9816368" y="1505945"/>
            <a:ext cx="206456" cy="92305"/>
          </a:xfrm>
          <a:prstGeom prst="line">
            <a:avLst/>
          </a:prstGeom>
          <a:ln w="16922">
            <a:solidFill>
              <a:srgbClr val="CEB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9622834" y="1545260"/>
            <a:ext cx="193534" cy="76921"/>
          </a:xfrm>
          <a:prstGeom prst="line">
            <a:avLst/>
          </a:prstGeom>
          <a:ln w="16922">
            <a:solidFill>
              <a:srgbClr val="E6C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816368" y="1545260"/>
            <a:ext cx="206456" cy="92306"/>
          </a:xfrm>
          <a:prstGeom prst="line">
            <a:avLst/>
          </a:prstGeom>
          <a:ln w="16922">
            <a:solidFill>
              <a:srgbClr val="E6C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198" name="Freeform 197"/>
          <p:cNvSpPr/>
          <p:nvPr/>
        </p:nvSpPr>
        <p:spPr>
          <a:solidFill>
            <a:srgbClr val="E8F1F8"/>
          </a:solidFill>
          <a:xfrm>
            <a:off x="10145898" y="1261507"/>
            <a:ext cx="484603" cy="361529"/>
          </a:xfrm>
          <a:custGeom>
            <a:avLst/>
            <a:gdLst/>
            <a:ahLst/>
            <a:cxnLst/>
            <a:rect l="l" t="t" r="r" b="b"/>
            <a:pathLst>
              <a:path w="63" h="47">
                <a:moveTo>
                  <a:pt x="0" y="22"/>
                </a:moveTo>
                <a:lnTo>
                  <a:pt x="33" y="47"/>
                </a:lnTo>
                <a:lnTo>
                  <a:pt x="63" y="23"/>
                </a:lnTo>
                <a:lnTo>
                  <a:pt x="29" y="0"/>
                </a:lnTo>
                <a:close/>
              </a:path>
            </a:pathLst>
          </a:custGeom>
          <a:ln w="5384">
            <a:solidFill>
              <a:srgbClr val="80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192050" y="1192278"/>
            <a:ext cx="53845" cy="38460"/>
          </a:xfrm>
          <a:prstGeom prst="line">
            <a:avLst/>
          </a:prstGeom>
          <a:ln w="9230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38201" y="1430733"/>
            <a:ext cx="53844" cy="38461"/>
          </a:xfrm>
          <a:prstGeom prst="line">
            <a:avLst/>
          </a:prstGeom>
          <a:ln w="9230">
            <a:solidFill>
              <a:srgbClr val="31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84351" y="1315351"/>
            <a:ext cx="53845" cy="38461"/>
          </a:xfrm>
          <a:prstGeom prst="line">
            <a:avLst/>
          </a:prstGeom>
          <a:ln w="9230">
            <a:solidFill>
              <a:srgbClr val="3F8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238203" y="1199970"/>
            <a:ext cx="53845" cy="38460"/>
          </a:xfrm>
          <a:prstGeom prst="line">
            <a:avLst/>
          </a:prstGeom>
          <a:ln w="9230">
            <a:solidFill>
              <a:srgbClr val="4CA1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0384353" y="1438425"/>
            <a:ext cx="53845" cy="38461"/>
          </a:xfrm>
          <a:prstGeom prst="line">
            <a:avLst/>
          </a:prstGeom>
          <a:ln w="9230">
            <a:solidFill>
              <a:srgbClr val="5ABA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0530503" y="1323044"/>
            <a:ext cx="53845" cy="38460"/>
          </a:xfrm>
          <a:prstGeom prst="line">
            <a:avLst/>
          </a:prstGeom>
          <a:ln w="9230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0284356" y="1207662"/>
            <a:ext cx="53845" cy="38460"/>
          </a:xfrm>
          <a:prstGeom prst="line">
            <a:avLst/>
          </a:prstGeom>
          <a:ln w="9230">
            <a:solidFill>
              <a:srgbClr val="31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0430506" y="1446117"/>
            <a:ext cx="53845" cy="38461"/>
          </a:xfrm>
          <a:prstGeom prst="line">
            <a:avLst/>
          </a:prstGeom>
          <a:ln w="9230">
            <a:solidFill>
              <a:srgbClr val="3F8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0576656" y="1330736"/>
            <a:ext cx="53845" cy="38460"/>
          </a:xfrm>
          <a:prstGeom prst="line">
            <a:avLst/>
          </a:prstGeom>
          <a:ln w="9230">
            <a:solidFill>
              <a:srgbClr val="4CA1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0330509" y="1215354"/>
            <a:ext cx="53844" cy="38461"/>
          </a:xfrm>
          <a:prstGeom prst="line">
            <a:avLst/>
          </a:prstGeom>
          <a:ln w="9230">
            <a:solidFill>
              <a:srgbClr val="5ABA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10476659" y="1453809"/>
            <a:ext cx="53844" cy="38461"/>
          </a:xfrm>
          <a:prstGeom prst="line">
            <a:avLst/>
          </a:prstGeom>
          <a:ln w="9230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10230511" y="1338428"/>
            <a:ext cx="53845" cy="38460"/>
          </a:xfrm>
          <a:prstGeom prst="line">
            <a:avLst/>
          </a:prstGeom>
          <a:ln w="9230">
            <a:solidFill>
              <a:srgbClr val="31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0376661" y="1223046"/>
            <a:ext cx="53845" cy="38461"/>
          </a:xfrm>
          <a:prstGeom prst="line">
            <a:avLst/>
          </a:prstGeom>
          <a:ln w="9230">
            <a:solidFill>
              <a:srgbClr val="3F8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10522811" y="1461502"/>
            <a:ext cx="53845" cy="38460"/>
          </a:xfrm>
          <a:prstGeom prst="line">
            <a:avLst/>
          </a:prstGeom>
          <a:ln w="9230">
            <a:solidFill>
              <a:srgbClr val="4CA1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0276664" y="1346120"/>
            <a:ext cx="53845" cy="38460"/>
          </a:xfrm>
          <a:prstGeom prst="line">
            <a:avLst/>
          </a:prstGeom>
          <a:ln w="9230">
            <a:solidFill>
              <a:srgbClr val="5ABA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0422814" y="1230738"/>
            <a:ext cx="53845" cy="38461"/>
          </a:xfrm>
          <a:prstGeom prst="line">
            <a:avLst/>
          </a:prstGeom>
          <a:ln w="9230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0568964" y="1469194"/>
            <a:ext cx="53845" cy="38460"/>
          </a:xfrm>
          <a:prstGeom prst="line">
            <a:avLst/>
          </a:prstGeom>
          <a:ln w="9230">
            <a:solidFill>
              <a:srgbClr val="31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0322816" y="1353812"/>
            <a:ext cx="53845" cy="38461"/>
          </a:xfrm>
          <a:prstGeom prst="line">
            <a:avLst/>
          </a:prstGeom>
          <a:ln w="9230">
            <a:solidFill>
              <a:srgbClr val="3F8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8984389" y="1676881"/>
            <a:ext cx="553832" cy="138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1" i="1">
                <a:solidFill>
                  <a:srgbClr val="000000"/>
                </a:solidFill>
                <a:latin typeface="Liberation Serif"/>
              </a:rPr>
              <a:t>Gaussian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553605" y="1676881"/>
            <a:ext cx="553832" cy="138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1" i="1">
                <a:solidFill>
                  <a:srgbClr val="000000"/>
                </a:solidFill>
                <a:latin typeface="Liberation Serif"/>
              </a:rPr>
              <a:t>Standard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122821" y="1676881"/>
            <a:ext cx="553832" cy="1384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1" i="1">
                <a:solidFill>
                  <a:srgbClr val="000000"/>
                </a:solidFill>
                <a:latin typeface="Liberation Serif"/>
              </a:rPr>
              <a:t>Random</a:t>
            </a:r>
          </a:p>
        </p:txBody>
      </p:sp>
      <p:sp>
        <p:nvSpPr>
          <p:cNvPr id="220" name="Rectangle 219"/>
          <p:cNvSpPr/>
          <p:nvPr/>
        </p:nvSpPr>
        <p:spPr>
          <a:solidFill>
            <a:srgbClr val="F5F4EE"/>
          </a:solidFill>
          <a:xfrm>
            <a:off x="11068951" y="515372"/>
            <a:ext cx="3369146" cy="1530731"/>
          </a:xfrm>
          <a:prstGeom prst="rect">
            <a:avLst/>
          </a:prstGeom>
          <a:ln w="23076">
            <a:solidFill>
              <a:srgbClr val="E9ECEF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1" name="Picture 220" descr="noise_lar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22796" y="561524"/>
            <a:ext cx="1892260" cy="1423041"/>
          </a:xfrm>
          <a:prstGeom prst="rect">
            <a:avLst/>
          </a:prstGeom>
        </p:spPr>
      </p:pic>
      <p:sp>
        <p:nvSpPr>
          <p:cNvPr id="222" name="Rectangle 221"/>
          <p:cNvSpPr/>
          <p:nvPr/>
        </p:nvSpPr>
        <p:spPr>
          <a:noFill/>
          <a:xfrm>
            <a:off x="11122796" y="561524"/>
            <a:ext cx="1892260" cy="1423041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3" name="Picture 222" descr="noise_t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053517" y="561524"/>
            <a:ext cx="661522" cy="469219"/>
          </a:xfrm>
          <a:prstGeom prst="rect">
            <a:avLst/>
          </a:prstGeom>
        </p:spPr>
      </p:pic>
      <p:sp>
        <p:nvSpPr>
          <p:cNvPr id="224" name="Rectangle 223"/>
          <p:cNvSpPr/>
          <p:nvPr/>
        </p:nvSpPr>
        <p:spPr>
          <a:noFill/>
          <a:xfrm>
            <a:off x="13053517" y="561524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5" name="Picture 224" descr="noise_t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753499" y="561524"/>
            <a:ext cx="661522" cy="469219"/>
          </a:xfrm>
          <a:prstGeom prst="rect">
            <a:avLst/>
          </a:prstGeom>
        </p:spPr>
      </p:pic>
      <p:sp>
        <p:nvSpPr>
          <p:cNvPr id="226" name="Rectangle 225"/>
          <p:cNvSpPr/>
          <p:nvPr/>
        </p:nvSpPr>
        <p:spPr>
          <a:noFill/>
          <a:xfrm>
            <a:off x="13753499" y="561524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7" name="Picture 226" descr="noise_t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053517" y="1053820"/>
            <a:ext cx="661522" cy="469219"/>
          </a:xfrm>
          <a:prstGeom prst="rect">
            <a:avLst/>
          </a:prstGeom>
        </p:spPr>
      </p:pic>
      <p:sp>
        <p:nvSpPr>
          <p:cNvPr id="228" name="Rectangle 227"/>
          <p:cNvSpPr/>
          <p:nvPr/>
        </p:nvSpPr>
        <p:spPr>
          <a:noFill/>
          <a:xfrm>
            <a:off x="13053517" y="1053820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9" name="Picture 228" descr="noise_t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753499" y="1053820"/>
            <a:ext cx="661522" cy="469219"/>
          </a:xfrm>
          <a:prstGeom prst="rect">
            <a:avLst/>
          </a:prstGeom>
        </p:spPr>
      </p:pic>
      <p:sp>
        <p:nvSpPr>
          <p:cNvPr id="230" name="Rectangle 229"/>
          <p:cNvSpPr/>
          <p:nvPr/>
        </p:nvSpPr>
        <p:spPr>
          <a:noFill/>
          <a:xfrm>
            <a:off x="13753499" y="1053820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1" name="Picture 230" descr="noise_t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053517" y="1546115"/>
            <a:ext cx="661522" cy="469219"/>
          </a:xfrm>
          <a:prstGeom prst="rect">
            <a:avLst/>
          </a:prstGeom>
        </p:spPr>
      </p:pic>
      <p:sp>
        <p:nvSpPr>
          <p:cNvPr id="232" name="Rectangle 231"/>
          <p:cNvSpPr/>
          <p:nvPr/>
        </p:nvSpPr>
        <p:spPr>
          <a:noFill/>
          <a:xfrm>
            <a:off x="13053517" y="1546115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3" name="Picture 232" descr="noise_t5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753499" y="1546115"/>
            <a:ext cx="661522" cy="469219"/>
          </a:xfrm>
          <a:prstGeom prst="rect">
            <a:avLst/>
          </a:prstGeom>
        </p:spPr>
      </p:pic>
      <p:sp>
        <p:nvSpPr>
          <p:cNvPr id="234" name="Rectangle 233"/>
          <p:cNvSpPr/>
          <p:nvPr/>
        </p:nvSpPr>
        <p:spPr>
          <a:noFill/>
          <a:xfrm>
            <a:off x="13753499" y="1546115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solidFill>
            <a:srgbClr val="BCC9D2"/>
          </a:solidFill>
          <a:xfrm>
            <a:off x="7276739" y="2230713"/>
            <a:ext cx="1515346" cy="246148"/>
          </a:xfrm>
          <a:custGeom>
            <a:avLst/>
            <a:gdLst/>
            <a:ahLst/>
            <a:cxnLst/>
            <a:rect l="l" t="t" r="r" b="b"/>
            <a:pathLst>
              <a:path w="197" h="32">
                <a:moveTo>
                  <a:pt x="0" y="0"/>
                </a:moveTo>
                <a:lnTo>
                  <a:pt x="159" y="0"/>
                </a:lnTo>
                <a:lnTo>
                  <a:pt x="197" y="32"/>
                </a:lnTo>
                <a:lnTo>
                  <a:pt x="38" y="32"/>
                </a:lnTo>
                <a:close/>
              </a:path>
            </a:pathLst>
          </a:custGeom>
          <a:ln w="7692">
            <a:solidFill>
              <a:srgbClr val="24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solidFill>
            <a:srgbClr val="7F8FE7">
              <a:alpha val="72000"/>
            </a:srgbClr>
          </a:solidFill>
          <a:xfrm>
            <a:off x="7415197" y="2384555"/>
            <a:ext cx="1492270" cy="230763"/>
          </a:xfrm>
          <a:custGeom>
            <a:avLst/>
            <a:gdLst/>
            <a:ahLst/>
            <a:cxnLst/>
            <a:rect l="l" t="t" r="r" b="b"/>
            <a:pathLst>
              <a:path w="194" h="30">
                <a:moveTo>
                  <a:pt x="0" y="0"/>
                </a:moveTo>
                <a:lnTo>
                  <a:pt x="159" y="0"/>
                </a:lnTo>
                <a:lnTo>
                  <a:pt x="194" y="30"/>
                </a:lnTo>
                <a:lnTo>
                  <a:pt x="36" y="30"/>
                </a:lnTo>
                <a:close/>
              </a:path>
            </a:pathLst>
          </a:custGeom>
          <a:ln w="7692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7" name="Connector 236"/>
          <p:cNvCxnSpPr/>
          <p:nvPr/>
        </p:nvCxnSpPr>
        <p:spPr>
          <a:xfrm>
            <a:off x="7276739" y="2230713"/>
            <a:ext cx="292301" cy="307684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569040" y="2538397"/>
            <a:ext cx="0" cy="1053820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8499785" y="2230713"/>
            <a:ext cx="407683" cy="307684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8907468" y="2538397"/>
            <a:ext cx="0" cy="1053820"/>
          </a:xfrm>
          <a:prstGeom prst="line">
            <a:avLst/>
          </a:prstGeom>
          <a:ln w="15384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pic>
        <p:nvPicPr>
          <p:cNvPr id="241" name="Picture 240" descr="src_mix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69040" y="2538397"/>
            <a:ext cx="1338428" cy="1053820"/>
          </a:xfrm>
          <a:prstGeom prst="rect">
            <a:avLst/>
          </a:prstGeom>
        </p:spPr>
      </p:pic>
      <p:sp>
        <p:nvSpPr>
          <p:cNvPr id="242" name="Rectangle 241"/>
          <p:cNvSpPr/>
          <p:nvPr/>
        </p:nvSpPr>
        <p:spPr>
          <a:noFill/>
          <a:xfrm>
            <a:off x="7569040" y="2538397"/>
            <a:ext cx="1338428" cy="1053820"/>
          </a:xfrm>
          <a:prstGeom prst="rect">
            <a:avLst/>
          </a:prstGeom>
          <a:ln w="9230">
            <a:solidFill>
              <a:srgbClr val="31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solidFill>
            <a:srgbClr val="111111"/>
          </a:solidFill>
          <a:xfrm>
            <a:off x="7261355" y="3307609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solidFill>
            <a:srgbClr val="111111"/>
          </a:solidFill>
          <a:xfrm>
            <a:off x="7338276" y="3392222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solidFill>
            <a:srgbClr val="111111"/>
          </a:solidFill>
          <a:xfrm>
            <a:off x="7415197" y="3476835"/>
            <a:ext cx="30768" cy="30768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solidFill>
            <a:srgbClr val="AAB3BD">
              <a:alpha val="38000"/>
            </a:srgbClr>
          </a:solidFill>
          <a:xfrm>
            <a:off x="9199768" y="2153792"/>
            <a:ext cx="1761494" cy="561524"/>
          </a:xfrm>
          <a:custGeom>
            <a:avLst/>
            <a:gdLst/>
            <a:ahLst/>
            <a:cxnLst/>
            <a:rect l="l" t="t" r="r" b="b"/>
            <a:pathLst>
              <a:path w="229" h="73">
                <a:moveTo>
                  <a:pt x="0" y="28"/>
                </a:moveTo>
                <a:lnTo>
                  <a:pt x="23" y="28"/>
                </a:lnTo>
                <a:lnTo>
                  <a:pt x="10" y="14"/>
                </a:lnTo>
                <a:lnTo>
                  <a:pt x="185" y="14"/>
                </a:lnTo>
                <a:lnTo>
                  <a:pt x="185" y="0"/>
                </a:lnTo>
                <a:lnTo>
                  <a:pt x="229" y="36"/>
                </a:lnTo>
                <a:lnTo>
                  <a:pt x="185" y="73"/>
                </a:lnTo>
                <a:lnTo>
                  <a:pt x="185" y="59"/>
                </a:lnTo>
                <a:lnTo>
                  <a:pt x="10" y="59"/>
                </a:lnTo>
                <a:lnTo>
                  <a:pt x="23" y="45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gradFill rotWithShape="1">
            <a:gsLst>
              <a:gs pos="0">
                <a:srgbClr val="FFFFFF"/>
              </a:gs>
              <a:gs pos="50000">
                <a:srgbClr val="F0C277"/>
              </a:gs>
              <a:gs pos="100000">
                <a:srgbClr val="FFFFFF"/>
              </a:gs>
            </a:gsLst>
            <a:lin ang="5400000" scaled="1"/>
          </a:gradFill>
          <a:xfrm>
            <a:off x="9168999" y="2115331"/>
            <a:ext cx="1761494" cy="561524"/>
          </a:xfrm>
          <a:custGeom>
            <a:avLst/>
            <a:gdLst/>
            <a:ahLst/>
            <a:cxnLst/>
            <a:rect l="l" t="t" r="r" b="b"/>
            <a:pathLst>
              <a:path w="229" h="73">
                <a:moveTo>
                  <a:pt x="0" y="28"/>
                </a:moveTo>
                <a:lnTo>
                  <a:pt x="23" y="28"/>
                </a:lnTo>
                <a:lnTo>
                  <a:pt x="10" y="14"/>
                </a:lnTo>
                <a:lnTo>
                  <a:pt x="185" y="14"/>
                </a:lnTo>
                <a:lnTo>
                  <a:pt x="185" y="0"/>
                </a:lnTo>
                <a:lnTo>
                  <a:pt x="229" y="37"/>
                </a:lnTo>
                <a:lnTo>
                  <a:pt x="185" y="73"/>
                </a:lnTo>
                <a:lnTo>
                  <a:pt x="185" y="59"/>
                </a:lnTo>
                <a:lnTo>
                  <a:pt x="10" y="59"/>
                </a:lnTo>
                <a:lnTo>
                  <a:pt x="23" y="45"/>
                </a:lnTo>
                <a:close/>
              </a:path>
            </a:pathLst>
          </a:custGeom>
          <a:ln w="9230">
            <a:solidFill>
              <a:srgbClr val="C7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Connector 247"/>
          <p:cNvCxnSpPr/>
          <p:nvPr/>
        </p:nvCxnSpPr>
        <p:spPr>
          <a:xfrm>
            <a:off x="9307457" y="2328403"/>
            <a:ext cx="1253815" cy="0"/>
          </a:xfrm>
          <a:prstGeom prst="line">
            <a:avLst/>
          </a:prstGeom>
          <a:ln w="1538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249" name="TextBox 248"/>
          <p:cNvSpPr txBox="1"/>
          <p:nvPr/>
        </p:nvSpPr>
        <p:spPr>
          <a:xfrm>
            <a:off x="9361302" y="2199944"/>
            <a:ext cx="1207662" cy="3922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1" i="1">
                <a:solidFill>
                  <a:srgbClr val="000000"/>
                </a:solidFill>
                <a:latin typeface="Liberation Serif"/>
              </a:rPr>
              <a:t>Mixture</a:t>
            </a:r>
          </a:p>
        </p:txBody>
      </p:sp>
      <p:sp>
        <p:nvSpPr>
          <p:cNvPr id="250" name="Rounded Rectangle 249"/>
          <p:cNvSpPr/>
          <p:nvPr/>
        </p:nvSpPr>
        <p:spPr>
          <a:solidFill>
            <a:srgbClr val="EEF6FB"/>
          </a:solidFill>
          <a:xfrm>
            <a:off x="8961312" y="2746085"/>
            <a:ext cx="1753802" cy="799980"/>
          </a:xfrm>
          <a:prstGeom prst="roundRect">
            <a:avLst>
              <a:gd name="adj" fmla="val 6730"/>
            </a:avLst>
          </a:prstGeom>
          <a:ln w="8461">
            <a:solidFill>
              <a:srgbClr val="CAD2DA"/>
            </a:solidFill>
          </a:ln>
          <a:effectLst>
            <a:outerShdw blurRad="30768" dist="23076" dir="2700000" algn="ctr" rotWithShape="0">
              <a:srgbClr val="777777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Connector 250"/>
          <p:cNvCxnSpPr/>
          <p:nvPr/>
        </p:nvCxnSpPr>
        <p:spPr>
          <a:xfrm>
            <a:off x="9030541" y="2944156"/>
            <a:ext cx="499988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9030541" y="3057615"/>
            <a:ext cx="499988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9030541" y="3171074"/>
            <a:ext cx="499988" cy="0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130539" y="2830698"/>
            <a:ext cx="0" cy="453834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230536" y="2830698"/>
            <a:ext cx="0" cy="453834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9330534" y="2830698"/>
            <a:ext cx="0" cy="453834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9430531" y="2830698"/>
            <a:ext cx="0" cy="453834"/>
          </a:xfrm>
          <a:prstGeom prst="line">
            <a:avLst/>
          </a:prstGeom>
          <a:ln w="5384">
            <a:solidFill>
              <a:srgbClr val="B9BE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9030541" y="2830698"/>
            <a:ext cx="0" cy="453834"/>
          </a:xfrm>
          <a:prstGeom prst="line">
            <a:avLst/>
          </a:prstGeom>
          <a:ln w="9230">
            <a:solidFill>
              <a:srgbClr val="1723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30541" y="3284532"/>
            <a:ext cx="499988" cy="0"/>
          </a:xfrm>
          <a:prstGeom prst="line">
            <a:avLst/>
          </a:prstGeom>
          <a:ln w="9230">
            <a:solidFill>
              <a:srgbClr val="1723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solidFill>
            <a:srgbClr val="5796BD">
              <a:alpha val="90000"/>
            </a:srgbClr>
          </a:solidFill>
          <a:xfrm>
            <a:off x="9045926" y="3248226"/>
            <a:ext cx="33974" cy="3630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solidFill>
            <a:srgbClr val="5796BD">
              <a:alpha val="90000"/>
            </a:srgbClr>
          </a:solidFill>
          <a:xfrm>
            <a:off x="9087591" y="3211919"/>
            <a:ext cx="33974" cy="7261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solidFill>
            <a:srgbClr val="5796BD">
              <a:alpha val="90000"/>
            </a:srgbClr>
          </a:solidFill>
          <a:xfrm>
            <a:off x="9129257" y="3139305"/>
            <a:ext cx="33974" cy="14522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solidFill>
            <a:srgbClr val="5796BD">
              <a:alpha val="90000"/>
            </a:srgbClr>
          </a:solidFill>
          <a:xfrm>
            <a:off x="9170922" y="2985002"/>
            <a:ext cx="33974" cy="29953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solidFill>
            <a:srgbClr val="5796BD">
              <a:alpha val="90000"/>
            </a:srgbClr>
          </a:solidFill>
          <a:xfrm>
            <a:off x="9212588" y="2853774"/>
            <a:ext cx="33974" cy="43075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solidFill>
            <a:srgbClr val="5796BD">
              <a:alpha val="90000"/>
            </a:srgbClr>
          </a:solidFill>
          <a:xfrm>
            <a:off x="9254254" y="3048538"/>
            <a:ext cx="33974" cy="23599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solidFill>
            <a:srgbClr val="5796BD">
              <a:alpha val="90000"/>
            </a:srgbClr>
          </a:solidFill>
          <a:xfrm>
            <a:off x="9295919" y="3166535"/>
            <a:ext cx="33974" cy="11799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solidFill>
            <a:srgbClr val="5796BD">
              <a:alpha val="90000"/>
            </a:srgbClr>
          </a:solidFill>
          <a:xfrm>
            <a:off x="9337585" y="3211919"/>
            <a:ext cx="33974" cy="7261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solidFill>
            <a:srgbClr val="5796BD">
              <a:alpha val="90000"/>
            </a:srgbClr>
          </a:solidFill>
          <a:xfrm>
            <a:off x="9379250" y="3248226"/>
            <a:ext cx="33974" cy="3630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solidFill>
            <a:srgbClr val="E8F1F8"/>
          </a:solidFill>
          <a:xfrm>
            <a:off x="9576681" y="2892235"/>
            <a:ext cx="492295" cy="376914"/>
          </a:xfrm>
          <a:custGeom>
            <a:avLst/>
            <a:gdLst/>
            <a:ahLst/>
            <a:cxnLst/>
            <a:rect l="l" t="t" r="r" b="b"/>
            <a:pathLst>
              <a:path w="64" h="49">
                <a:moveTo>
                  <a:pt x="0" y="23"/>
                </a:moveTo>
                <a:lnTo>
                  <a:pt x="33" y="49"/>
                </a:lnTo>
                <a:lnTo>
                  <a:pt x="64" y="23"/>
                </a:lnTo>
                <a:lnTo>
                  <a:pt x="30" y="0"/>
                </a:lnTo>
                <a:close/>
              </a:path>
            </a:pathLst>
          </a:custGeom>
          <a:ln w="5384">
            <a:solidFill>
              <a:srgbClr val="80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Connector 269"/>
          <p:cNvCxnSpPr/>
          <p:nvPr/>
        </p:nvCxnSpPr>
        <p:spPr>
          <a:xfrm flipV="1">
            <a:off x="9615142" y="2853774"/>
            <a:ext cx="197226" cy="76921"/>
          </a:xfrm>
          <a:prstGeom prst="line">
            <a:avLst/>
          </a:prstGeom>
          <a:ln w="16922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9812368" y="2853774"/>
            <a:ext cx="210456" cy="92305"/>
          </a:xfrm>
          <a:prstGeom prst="line">
            <a:avLst/>
          </a:prstGeom>
          <a:ln w="16922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9615142" y="2895653"/>
            <a:ext cx="197226" cy="76922"/>
          </a:xfrm>
          <a:prstGeom prst="line">
            <a:avLst/>
          </a:prstGeom>
          <a:ln w="16922">
            <a:solidFill>
              <a:srgbClr val="3C6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9812368" y="2895653"/>
            <a:ext cx="210456" cy="92306"/>
          </a:xfrm>
          <a:prstGeom prst="line">
            <a:avLst/>
          </a:prstGeom>
          <a:ln w="16922">
            <a:solidFill>
              <a:srgbClr val="3C6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9615142" y="2937533"/>
            <a:ext cx="197226" cy="76921"/>
          </a:xfrm>
          <a:prstGeom prst="line">
            <a:avLst/>
          </a:prstGeom>
          <a:ln w="16922">
            <a:solidFill>
              <a:srgbClr val="547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9812368" y="2937533"/>
            <a:ext cx="210456" cy="92305"/>
          </a:xfrm>
          <a:prstGeom prst="line">
            <a:avLst/>
          </a:prstGeom>
          <a:ln w="16922">
            <a:solidFill>
              <a:srgbClr val="547C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9615142" y="2979412"/>
            <a:ext cx="197226" cy="76921"/>
          </a:xfrm>
          <a:prstGeom prst="line">
            <a:avLst/>
          </a:prstGeom>
          <a:ln w="16922">
            <a:solidFill>
              <a:srgbClr val="6D8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9812368" y="2979412"/>
            <a:ext cx="210456" cy="92305"/>
          </a:xfrm>
          <a:prstGeom prst="line">
            <a:avLst/>
          </a:prstGeom>
          <a:ln w="16922">
            <a:solidFill>
              <a:srgbClr val="6D8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9615142" y="3021291"/>
            <a:ext cx="197226" cy="76921"/>
          </a:xfrm>
          <a:prstGeom prst="line">
            <a:avLst/>
          </a:prstGeom>
          <a:ln w="16922">
            <a:solidFill>
              <a:srgbClr val="859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9812368" y="3021291"/>
            <a:ext cx="210456" cy="92306"/>
          </a:xfrm>
          <a:prstGeom prst="line">
            <a:avLst/>
          </a:prstGeom>
          <a:ln w="16922">
            <a:solidFill>
              <a:srgbClr val="8595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9615142" y="3063171"/>
            <a:ext cx="197226" cy="76921"/>
          </a:xfrm>
          <a:prstGeom prst="line">
            <a:avLst/>
          </a:prstGeom>
          <a:ln w="16922">
            <a:solidFill>
              <a:srgbClr val="9DA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9812368" y="3063171"/>
            <a:ext cx="210456" cy="92305"/>
          </a:xfrm>
          <a:prstGeom prst="line">
            <a:avLst/>
          </a:prstGeom>
          <a:ln w="16922">
            <a:solidFill>
              <a:srgbClr val="9DA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9615142" y="3105050"/>
            <a:ext cx="197226" cy="76921"/>
          </a:xfrm>
          <a:prstGeom prst="line">
            <a:avLst/>
          </a:prstGeom>
          <a:ln w="16922">
            <a:solidFill>
              <a:srgbClr val="B6AE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9812368" y="3105050"/>
            <a:ext cx="210456" cy="92305"/>
          </a:xfrm>
          <a:prstGeom prst="line">
            <a:avLst/>
          </a:prstGeom>
          <a:ln w="16922">
            <a:solidFill>
              <a:srgbClr val="B6AE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9615142" y="3146929"/>
            <a:ext cx="197226" cy="76921"/>
          </a:xfrm>
          <a:prstGeom prst="line">
            <a:avLst/>
          </a:prstGeom>
          <a:ln w="16922">
            <a:solidFill>
              <a:srgbClr val="CEB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9812368" y="3146929"/>
            <a:ext cx="210456" cy="92305"/>
          </a:xfrm>
          <a:prstGeom prst="line">
            <a:avLst/>
          </a:prstGeom>
          <a:ln w="16922">
            <a:solidFill>
              <a:srgbClr val="CEB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9615142" y="3188808"/>
            <a:ext cx="197226" cy="76922"/>
          </a:xfrm>
          <a:prstGeom prst="line">
            <a:avLst/>
          </a:prstGeom>
          <a:ln w="16922">
            <a:solidFill>
              <a:srgbClr val="E6C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9812368" y="3188808"/>
            <a:ext cx="210456" cy="92306"/>
          </a:xfrm>
          <a:prstGeom prst="line">
            <a:avLst/>
          </a:prstGeom>
          <a:ln w="16922">
            <a:solidFill>
              <a:srgbClr val="E6C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288" name="Freeform 287"/>
          <p:cNvSpPr/>
          <p:nvPr/>
        </p:nvSpPr>
        <p:spPr>
          <a:solidFill>
            <a:srgbClr val="E8F1F8"/>
          </a:solidFill>
          <a:xfrm>
            <a:off x="10138206" y="2899927"/>
            <a:ext cx="492295" cy="369221"/>
          </a:xfrm>
          <a:custGeom>
            <a:avLst/>
            <a:gdLst/>
            <a:ahLst/>
            <a:cxnLst/>
            <a:rect l="l" t="t" r="r" b="b"/>
            <a:pathLst>
              <a:path w="64" h="48">
                <a:moveTo>
                  <a:pt x="0" y="22"/>
                </a:moveTo>
                <a:lnTo>
                  <a:pt x="33" y="48"/>
                </a:lnTo>
                <a:lnTo>
                  <a:pt x="64" y="23"/>
                </a:lnTo>
                <a:lnTo>
                  <a:pt x="30" y="0"/>
                </a:lnTo>
                <a:close/>
              </a:path>
            </a:pathLst>
          </a:custGeom>
          <a:ln w="5384">
            <a:solidFill>
              <a:srgbClr val="809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 flipV="1">
            <a:off x="10326816" y="2849159"/>
            <a:ext cx="47076" cy="59075"/>
          </a:xfrm>
          <a:prstGeom prst="line">
            <a:avLst/>
          </a:prstGeom>
          <a:ln w="15384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0373892" y="2849159"/>
            <a:ext cx="47076" cy="59075"/>
          </a:xfrm>
          <a:prstGeom prst="line">
            <a:avLst/>
          </a:prstGeom>
          <a:ln w="15384">
            <a:solidFill>
              <a:srgbClr val="245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0300663" y="2888542"/>
            <a:ext cx="73229" cy="86152"/>
          </a:xfrm>
          <a:prstGeom prst="line">
            <a:avLst/>
          </a:prstGeom>
          <a:ln w="15384">
            <a:solidFill>
              <a:srgbClr val="486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0373892" y="2888542"/>
            <a:ext cx="73229" cy="86152"/>
          </a:xfrm>
          <a:prstGeom prst="line">
            <a:avLst/>
          </a:prstGeom>
          <a:ln w="15384">
            <a:solidFill>
              <a:srgbClr val="486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10274510" y="2927926"/>
            <a:ext cx="99382" cy="113228"/>
          </a:xfrm>
          <a:prstGeom prst="line">
            <a:avLst/>
          </a:prstGeom>
          <a:ln w="15384">
            <a:solidFill>
              <a:srgbClr val="6D7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0373892" y="2927926"/>
            <a:ext cx="99382" cy="113228"/>
          </a:xfrm>
          <a:prstGeom prst="line">
            <a:avLst/>
          </a:prstGeom>
          <a:ln w="15384">
            <a:solidFill>
              <a:srgbClr val="6D7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10248357" y="2967310"/>
            <a:ext cx="125535" cy="140304"/>
          </a:xfrm>
          <a:prstGeom prst="line">
            <a:avLst/>
          </a:prstGeom>
          <a:ln w="15384">
            <a:solidFill>
              <a:srgbClr val="919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0373892" y="2967310"/>
            <a:ext cx="125535" cy="140304"/>
          </a:xfrm>
          <a:prstGeom prst="line">
            <a:avLst/>
          </a:prstGeom>
          <a:ln w="15384">
            <a:solidFill>
              <a:srgbClr val="919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0222204" y="3006693"/>
            <a:ext cx="151688" cy="167381"/>
          </a:xfrm>
          <a:prstGeom prst="line">
            <a:avLst/>
          </a:prstGeom>
          <a:ln w="15384">
            <a:solidFill>
              <a:srgbClr val="B6A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373892" y="3006693"/>
            <a:ext cx="151689" cy="167381"/>
          </a:xfrm>
          <a:prstGeom prst="line">
            <a:avLst/>
          </a:prstGeom>
          <a:ln w="15384">
            <a:solidFill>
              <a:srgbClr val="B6A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0196050" y="3046077"/>
            <a:ext cx="177842" cy="194457"/>
          </a:xfrm>
          <a:prstGeom prst="line">
            <a:avLst/>
          </a:prstGeom>
          <a:ln w="15384">
            <a:solidFill>
              <a:srgbClr val="DAB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373892" y="3046077"/>
            <a:ext cx="177842" cy="194457"/>
          </a:xfrm>
          <a:prstGeom prst="line">
            <a:avLst/>
          </a:prstGeom>
          <a:ln w="15384">
            <a:solidFill>
              <a:srgbClr val="DAB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01" name="TextBox 300"/>
          <p:cNvSpPr txBox="1"/>
          <p:nvPr/>
        </p:nvSpPr>
        <p:spPr>
          <a:xfrm>
            <a:off x="8999773" y="3330685"/>
            <a:ext cx="1676881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1">
                <a:solidFill>
                  <a:srgbClr val="000000"/>
                </a:solidFill>
                <a:latin typeface="Liberation Serif"/>
              </a:rPr>
              <a:t>Sequential Blending</a:t>
            </a:r>
          </a:p>
        </p:txBody>
      </p:sp>
      <p:sp>
        <p:nvSpPr>
          <p:cNvPr id="302" name="Rectangle 301"/>
          <p:cNvSpPr/>
          <p:nvPr/>
        </p:nvSpPr>
        <p:spPr>
          <a:solidFill>
            <a:srgbClr val="F5F4EE"/>
          </a:solidFill>
          <a:xfrm>
            <a:off x="11068951" y="2107639"/>
            <a:ext cx="3369146" cy="1530731"/>
          </a:xfrm>
          <a:prstGeom prst="rect">
            <a:avLst/>
          </a:prstGeom>
          <a:ln w="23076">
            <a:solidFill>
              <a:srgbClr val="E9ECEF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3" name="Picture 302" descr="mix_lar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22796" y="2153792"/>
            <a:ext cx="1892260" cy="1423041"/>
          </a:xfrm>
          <a:prstGeom prst="rect">
            <a:avLst/>
          </a:prstGeom>
        </p:spPr>
      </p:pic>
      <p:sp>
        <p:nvSpPr>
          <p:cNvPr id="304" name="Rectangle 303"/>
          <p:cNvSpPr/>
          <p:nvPr/>
        </p:nvSpPr>
        <p:spPr>
          <a:noFill/>
          <a:xfrm>
            <a:off x="11122796" y="2153792"/>
            <a:ext cx="1892260" cy="1423041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5" name="Picture 304" descr="mix_t0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053517" y="2153792"/>
            <a:ext cx="661522" cy="469219"/>
          </a:xfrm>
          <a:prstGeom prst="rect">
            <a:avLst/>
          </a:prstGeom>
        </p:spPr>
      </p:pic>
      <p:sp>
        <p:nvSpPr>
          <p:cNvPr id="306" name="Rectangle 305"/>
          <p:cNvSpPr/>
          <p:nvPr/>
        </p:nvSpPr>
        <p:spPr>
          <a:noFill/>
          <a:xfrm>
            <a:off x="13053517" y="2153792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7" name="Picture 306" descr="mix_t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753499" y="2153792"/>
            <a:ext cx="661522" cy="469219"/>
          </a:xfrm>
          <a:prstGeom prst="rect">
            <a:avLst/>
          </a:prstGeom>
        </p:spPr>
      </p:pic>
      <p:sp>
        <p:nvSpPr>
          <p:cNvPr id="308" name="Rectangle 307"/>
          <p:cNvSpPr/>
          <p:nvPr/>
        </p:nvSpPr>
        <p:spPr>
          <a:noFill/>
          <a:xfrm>
            <a:off x="13753499" y="2153792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9" name="Picture 308" descr="mix_t2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053517" y="2646087"/>
            <a:ext cx="661522" cy="469219"/>
          </a:xfrm>
          <a:prstGeom prst="rect">
            <a:avLst/>
          </a:prstGeom>
        </p:spPr>
      </p:pic>
      <p:sp>
        <p:nvSpPr>
          <p:cNvPr id="310" name="Rectangle 309"/>
          <p:cNvSpPr/>
          <p:nvPr/>
        </p:nvSpPr>
        <p:spPr>
          <a:noFill/>
          <a:xfrm>
            <a:off x="13053517" y="2646087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1" name="Picture 310" descr="mix_t3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753499" y="2646087"/>
            <a:ext cx="661522" cy="469219"/>
          </a:xfrm>
          <a:prstGeom prst="rect">
            <a:avLst/>
          </a:prstGeom>
        </p:spPr>
      </p:pic>
      <p:sp>
        <p:nvSpPr>
          <p:cNvPr id="312" name="Rectangle 311"/>
          <p:cNvSpPr/>
          <p:nvPr/>
        </p:nvSpPr>
        <p:spPr>
          <a:noFill/>
          <a:xfrm>
            <a:off x="13753499" y="2646087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3" name="Picture 312" descr="mix_t4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053517" y="3138382"/>
            <a:ext cx="661522" cy="469219"/>
          </a:xfrm>
          <a:prstGeom prst="rect">
            <a:avLst/>
          </a:prstGeom>
        </p:spPr>
      </p:pic>
      <p:sp>
        <p:nvSpPr>
          <p:cNvPr id="314" name="Rectangle 313"/>
          <p:cNvSpPr/>
          <p:nvPr/>
        </p:nvSpPr>
        <p:spPr>
          <a:noFill/>
          <a:xfrm>
            <a:off x="13053517" y="3138382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5" name="Picture 314" descr="mix_t5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753499" y="3138382"/>
            <a:ext cx="661522" cy="469219"/>
          </a:xfrm>
          <a:prstGeom prst="rect">
            <a:avLst/>
          </a:prstGeom>
        </p:spPr>
      </p:pic>
      <p:sp>
        <p:nvSpPr>
          <p:cNvPr id="316" name="Rectangle 315"/>
          <p:cNvSpPr/>
          <p:nvPr/>
        </p:nvSpPr>
        <p:spPr>
          <a:noFill/>
          <a:xfrm>
            <a:off x="13753499" y="3138382"/>
            <a:ext cx="661522" cy="469219"/>
          </a:xfrm>
          <a:prstGeom prst="rect">
            <a:avLst/>
          </a:prstGeom>
          <a:ln w="1538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ounded Rectangle 316"/>
          <p:cNvSpPr/>
          <p:nvPr/>
        </p:nvSpPr>
        <p:spPr>
          <a:solidFill>
            <a:srgbClr val="FFFFFF"/>
          </a:solidFill>
          <a:xfrm>
            <a:off x="61537" y="4192202"/>
            <a:ext cx="3961438" cy="3269148"/>
          </a:xfrm>
          <a:prstGeom prst="roundRect">
            <a:avLst>
              <a:gd name="adj" fmla="val 5647"/>
            </a:avLst>
          </a:prstGeom>
          <a:ln w="21537">
            <a:solidFill>
              <a:srgbClr val="142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ounded Rectangle 317"/>
          <p:cNvSpPr/>
          <p:nvPr/>
        </p:nvSpPr>
        <p:spPr>
          <a:gradFill rotWithShape="1">
            <a:gsLst>
              <a:gs pos="0">
                <a:srgbClr val="F5FBFF"/>
              </a:gs>
              <a:gs pos="28000">
                <a:srgbClr val="D9EAFF"/>
              </a:gs>
              <a:gs pos="100000">
                <a:srgbClr val="9EBCE7"/>
              </a:gs>
            </a:gsLst>
            <a:lin ang="5400000" scaled="1"/>
          </a:gradFill>
          <a:xfrm>
            <a:off x="384606" y="3953746"/>
            <a:ext cx="3484527" cy="353837"/>
          </a:xfrm>
          <a:prstGeom prst="roundRect">
            <a:avLst>
              <a:gd name="adj" fmla="val 30434"/>
            </a:avLst>
          </a:prstGeom>
          <a:ln w="20768">
            <a:solidFill>
              <a:srgbClr val="07182E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ounded Rectangle 318"/>
          <p:cNvSpPr/>
          <p:nvPr/>
        </p:nvSpPr>
        <p:spPr>
          <a:solidFill>
            <a:srgbClr val="FFFFFF">
              <a:alpha val="65000"/>
            </a:srgbClr>
          </a:solidFill>
          <a:xfrm>
            <a:off x="446143" y="3992207"/>
            <a:ext cx="3361454" cy="38461"/>
          </a:xfrm>
          <a:prstGeom prst="roundRect">
            <a:avLst>
              <a:gd name="adj" fmla="val 4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461527" y="3961438"/>
            <a:ext cx="3330685" cy="3384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1" b="1" i="0">
                <a:solidFill>
                  <a:srgbClr val="000000"/>
                </a:solidFill>
                <a:latin typeface="Liberation Serif"/>
              </a:rPr>
              <a:t>(b) Dual Prompt Processing</a:t>
            </a:r>
          </a:p>
        </p:txBody>
      </p:sp>
      <p:sp>
        <p:nvSpPr>
          <p:cNvPr id="321" name="TextBox 320"/>
          <p:cNvSpPr txBox="1"/>
          <p:nvPr/>
        </p:nvSpPr>
        <p:spPr>
          <a:xfrm rot="5400000">
            <a:off x="169226" y="4930645"/>
            <a:ext cx="476911" cy="19384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Type/Degradation-specific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Prompts</a:t>
            </a:r>
          </a:p>
        </p:txBody>
      </p:sp>
      <p:sp>
        <p:nvSpPr>
          <p:cNvPr id="322" name="Rounded Rectangle 321"/>
          <p:cNvSpPr/>
          <p:nvPr/>
        </p:nvSpPr>
        <p:spPr>
          <a:solidFill>
            <a:srgbClr val="FFFFFF"/>
          </a:solidFill>
          <a:xfrm>
            <a:off x="676906" y="4607576"/>
            <a:ext cx="523064" cy="1092280"/>
          </a:xfrm>
          <a:prstGeom prst="roundRect">
            <a:avLst>
              <a:gd name="adj" fmla="val 22058"/>
            </a:avLst>
          </a:prstGeom>
          <a:ln w="21537">
            <a:solidFill>
              <a:srgbClr val="1839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ounded Rectangle 322"/>
          <p:cNvSpPr/>
          <p:nvPr/>
        </p:nvSpPr>
        <p:spPr>
          <a:solidFill>
            <a:srgbClr val="F4C2C2"/>
          </a:solidFill>
          <a:xfrm>
            <a:off x="753827" y="4692189"/>
            <a:ext cx="346145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753827" y="4692189"/>
            <a:ext cx="346145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S</a:t>
            </a:r>
          </a:p>
        </p:txBody>
      </p:sp>
      <p:sp>
        <p:nvSpPr>
          <p:cNvPr id="325" name="Rounded Rectangle 324"/>
          <p:cNvSpPr/>
          <p:nvPr/>
        </p:nvSpPr>
        <p:spPr>
          <a:solidFill>
            <a:srgbClr val="F4D19A"/>
          </a:solidFill>
          <a:xfrm>
            <a:off x="753827" y="5053719"/>
            <a:ext cx="346145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753827" y="5053719"/>
            <a:ext cx="346145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H</a:t>
            </a:r>
          </a:p>
        </p:txBody>
      </p:sp>
      <p:sp>
        <p:nvSpPr>
          <p:cNvPr id="327" name="Rounded Rectangle 326"/>
          <p:cNvSpPr/>
          <p:nvPr/>
        </p:nvSpPr>
        <p:spPr>
          <a:solidFill>
            <a:srgbClr val="FFFFFF"/>
          </a:solidFill>
          <a:xfrm>
            <a:off x="676906" y="5969080"/>
            <a:ext cx="523064" cy="1115356"/>
          </a:xfrm>
          <a:prstGeom prst="roundRect">
            <a:avLst>
              <a:gd name="adj" fmla="val 22058"/>
            </a:avLst>
          </a:prstGeom>
          <a:ln w="21537">
            <a:solidFill>
              <a:srgbClr val="1839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ounded Rectangle 327"/>
          <p:cNvSpPr/>
          <p:nvPr/>
        </p:nvSpPr>
        <p:spPr>
          <a:solidFill>
            <a:srgbClr val="DDE7AD"/>
          </a:solidFill>
          <a:xfrm>
            <a:off x="753827" y="6038309"/>
            <a:ext cx="346145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753827" y="6038309"/>
            <a:ext cx="346145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N</a:t>
            </a:r>
          </a:p>
        </p:txBody>
      </p:sp>
      <p:sp>
        <p:nvSpPr>
          <p:cNvPr id="330" name="Rounded Rectangle 329"/>
          <p:cNvSpPr/>
          <p:nvPr/>
        </p:nvSpPr>
        <p:spPr>
          <a:solidFill>
            <a:srgbClr val="9ED6D4"/>
          </a:solidFill>
          <a:xfrm>
            <a:off x="753827" y="6376762"/>
            <a:ext cx="346145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753827" y="6376762"/>
            <a:ext cx="346145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B</a:t>
            </a:r>
          </a:p>
        </p:txBody>
      </p:sp>
      <p:sp>
        <p:nvSpPr>
          <p:cNvPr id="332" name="Rounded Rectangle 331"/>
          <p:cNvSpPr/>
          <p:nvPr/>
        </p:nvSpPr>
        <p:spPr>
          <a:solidFill>
            <a:srgbClr val="9DB9D5"/>
          </a:solidFill>
          <a:xfrm>
            <a:off x="753827" y="6715215"/>
            <a:ext cx="346145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753827" y="6715215"/>
            <a:ext cx="346145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C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653804" y="4407581"/>
            <a:ext cx="1730726" cy="207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00000"/>
                </a:solidFill>
                <a:latin typeface="Liberation Serif"/>
              </a:rPr>
              <a:t>Degradation Descriptor</a:t>
            </a:r>
          </a:p>
        </p:txBody>
      </p:sp>
      <p:sp>
        <p:nvSpPr>
          <p:cNvPr id="335" name="Rounded Rectangle 334"/>
          <p:cNvSpPr/>
          <p:nvPr/>
        </p:nvSpPr>
        <p:spPr>
          <a:solidFill>
            <a:srgbClr val="FFF7F1">
              <a:alpha val="50000"/>
            </a:srgbClr>
          </a:solidFill>
          <a:xfrm>
            <a:off x="1661497" y="4607576"/>
            <a:ext cx="1715341" cy="1061512"/>
          </a:xfrm>
          <a:prstGeom prst="roundRect">
            <a:avLst>
              <a:gd name="adj" fmla="val 10144"/>
            </a:avLst>
          </a:prstGeom>
          <a:ln w="12307">
            <a:solidFill>
              <a:srgbClr val="F29A6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ounded Rectangle 335"/>
          <p:cNvSpPr/>
          <p:nvPr/>
        </p:nvSpPr>
        <p:spPr>
          <a:solidFill>
            <a:srgbClr val="FAE7DD">
              <a:alpha val="68000"/>
            </a:srgbClr>
          </a:solidFill>
          <a:xfrm>
            <a:off x="1369196" y="4946029"/>
            <a:ext cx="1707649" cy="707674"/>
          </a:xfrm>
          <a:prstGeom prst="roundRect">
            <a:avLst>
              <a:gd name="adj" fmla="val 13043"/>
            </a:avLst>
          </a:prstGeom>
          <a:ln w="11538">
            <a:solidFill>
              <a:srgbClr val="F0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ounded Rectangle 336"/>
          <p:cNvSpPr/>
          <p:nvPr/>
        </p:nvSpPr>
        <p:spPr>
          <a:solidFill>
            <a:srgbClr val="E5E7EB"/>
          </a:solidFill>
          <a:xfrm>
            <a:off x="1753802" y="4692189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1753802" y="4684497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39" name="Rounded Rectangle 338"/>
          <p:cNvSpPr/>
          <p:nvPr/>
        </p:nvSpPr>
        <p:spPr>
          <a:solidFill>
            <a:srgbClr val="D8E7EF"/>
          </a:solidFill>
          <a:xfrm>
            <a:off x="2015334" y="4692189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2015334" y="4684497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41" name="Rounded Rectangle 340"/>
          <p:cNvSpPr/>
          <p:nvPr/>
        </p:nvSpPr>
        <p:spPr>
          <a:solidFill>
            <a:srgbClr val="D7E6DC"/>
          </a:solidFill>
          <a:xfrm>
            <a:off x="2276866" y="4692189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2276866" y="4684497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43" name="Rounded Rectangle 342"/>
          <p:cNvSpPr/>
          <p:nvPr/>
        </p:nvSpPr>
        <p:spPr>
          <a:solidFill>
            <a:srgbClr val="EEF0CF"/>
          </a:solidFill>
          <a:xfrm>
            <a:off x="2538397" y="4692189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2538397" y="4684497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45" name="Rounded Rectangle 344"/>
          <p:cNvSpPr/>
          <p:nvPr/>
        </p:nvSpPr>
        <p:spPr>
          <a:solidFill>
            <a:srgbClr val="F5DEC7"/>
          </a:solidFill>
          <a:xfrm>
            <a:off x="2799929" y="4692189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2799929" y="4684497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47" name="Rounded Rectangle 346"/>
          <p:cNvSpPr/>
          <p:nvPr/>
        </p:nvSpPr>
        <p:spPr>
          <a:solidFill>
            <a:srgbClr val="F5D6D8"/>
          </a:solidFill>
          <a:xfrm>
            <a:off x="3061461" y="4692189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3061461" y="4684497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349" name="Rounded Rectangle 348"/>
          <p:cNvSpPr/>
          <p:nvPr/>
        </p:nvSpPr>
        <p:spPr>
          <a:solidFill>
            <a:srgbClr val="E5E7EB"/>
          </a:solidFill>
          <a:xfrm>
            <a:off x="1415349" y="5046026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1415349" y="5038334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51" name="Rounded Rectangle 350"/>
          <p:cNvSpPr/>
          <p:nvPr/>
        </p:nvSpPr>
        <p:spPr>
          <a:solidFill>
            <a:srgbClr val="D8E7EF"/>
          </a:solidFill>
          <a:xfrm>
            <a:off x="1676881" y="5046026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1676881" y="5038334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53" name="Rounded Rectangle 352"/>
          <p:cNvSpPr/>
          <p:nvPr/>
        </p:nvSpPr>
        <p:spPr>
          <a:solidFill>
            <a:srgbClr val="D7E6DC"/>
          </a:solidFill>
          <a:xfrm>
            <a:off x="1938413" y="5046026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1938413" y="5038334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55" name="Rounded Rectangle 354"/>
          <p:cNvSpPr/>
          <p:nvPr/>
        </p:nvSpPr>
        <p:spPr>
          <a:solidFill>
            <a:srgbClr val="EEF0CF"/>
          </a:solidFill>
          <a:xfrm>
            <a:off x="2199944" y="5046026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2199944" y="5038334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57" name="Rounded Rectangle 356"/>
          <p:cNvSpPr/>
          <p:nvPr/>
        </p:nvSpPr>
        <p:spPr>
          <a:solidFill>
            <a:srgbClr val="F5DEC7"/>
          </a:solidFill>
          <a:xfrm>
            <a:off x="2461476" y="5046026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2461476" y="5038334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359" name="Rounded Rectangle 358"/>
          <p:cNvSpPr/>
          <p:nvPr/>
        </p:nvSpPr>
        <p:spPr>
          <a:solidFill>
            <a:srgbClr val="F5D6D8"/>
          </a:solidFill>
          <a:xfrm>
            <a:off x="2723008" y="5046026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2723008" y="5038334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361" name="Connector 360"/>
          <p:cNvCxnSpPr/>
          <p:nvPr/>
        </p:nvCxnSpPr>
        <p:spPr>
          <a:xfrm>
            <a:off x="1538423" y="5276790"/>
            <a:ext cx="0" cy="238455"/>
          </a:xfrm>
          <a:prstGeom prst="line">
            <a:avLst/>
          </a:prstGeom>
          <a:ln w="1538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62" name="Oval 361"/>
          <p:cNvSpPr/>
          <p:nvPr/>
        </p:nvSpPr>
        <p:spPr>
          <a:solidFill>
            <a:srgbClr val="FFFFFF"/>
          </a:solidFill>
          <a:xfrm>
            <a:off x="1492270" y="5484477"/>
            <a:ext cx="92305" cy="92305"/>
          </a:xfrm>
          <a:prstGeom prst="ellipse">
            <a:avLst/>
          </a:prstGeom>
          <a:ln w="1538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3" name="Connector 362"/>
          <p:cNvCxnSpPr/>
          <p:nvPr/>
        </p:nvCxnSpPr>
        <p:spPr>
          <a:xfrm>
            <a:off x="1799955" y="5276790"/>
            <a:ext cx="0" cy="238455"/>
          </a:xfrm>
          <a:prstGeom prst="line">
            <a:avLst/>
          </a:prstGeom>
          <a:ln w="1538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64" name="Oval 363"/>
          <p:cNvSpPr/>
          <p:nvPr/>
        </p:nvSpPr>
        <p:spPr>
          <a:solidFill>
            <a:srgbClr val="FFFFFF"/>
          </a:solidFill>
          <a:xfrm>
            <a:off x="1753802" y="5484477"/>
            <a:ext cx="92305" cy="92305"/>
          </a:xfrm>
          <a:prstGeom prst="ellipse">
            <a:avLst/>
          </a:prstGeom>
          <a:ln w="1538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2061486" y="5276790"/>
            <a:ext cx="0" cy="238455"/>
          </a:xfrm>
          <a:prstGeom prst="line">
            <a:avLst/>
          </a:prstGeom>
          <a:ln w="1538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66" name="Oval 365"/>
          <p:cNvSpPr/>
          <p:nvPr/>
        </p:nvSpPr>
        <p:spPr>
          <a:solidFill>
            <a:srgbClr val="FFFFFF"/>
          </a:solidFill>
          <a:xfrm>
            <a:off x="2015334" y="5484477"/>
            <a:ext cx="92305" cy="92305"/>
          </a:xfrm>
          <a:prstGeom prst="ellipse">
            <a:avLst/>
          </a:prstGeom>
          <a:ln w="1538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>
            <a:off x="2323018" y="5276790"/>
            <a:ext cx="0" cy="238455"/>
          </a:xfrm>
          <a:prstGeom prst="line">
            <a:avLst/>
          </a:prstGeom>
          <a:ln w="1538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68" name="Oval 367"/>
          <p:cNvSpPr/>
          <p:nvPr/>
        </p:nvSpPr>
        <p:spPr>
          <a:solidFill>
            <a:srgbClr val="FFFFFF"/>
          </a:solidFill>
          <a:xfrm>
            <a:off x="2276866" y="5484477"/>
            <a:ext cx="92305" cy="92305"/>
          </a:xfrm>
          <a:prstGeom prst="ellipse">
            <a:avLst/>
          </a:prstGeom>
          <a:ln w="1538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Connector 368"/>
          <p:cNvCxnSpPr/>
          <p:nvPr/>
        </p:nvCxnSpPr>
        <p:spPr>
          <a:xfrm>
            <a:off x="2584550" y="5276790"/>
            <a:ext cx="0" cy="238455"/>
          </a:xfrm>
          <a:prstGeom prst="line">
            <a:avLst/>
          </a:prstGeom>
          <a:ln w="1538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70" name="Oval 369"/>
          <p:cNvSpPr/>
          <p:nvPr/>
        </p:nvSpPr>
        <p:spPr>
          <a:solidFill>
            <a:srgbClr val="FFFFFF"/>
          </a:solidFill>
          <a:xfrm>
            <a:off x="2538397" y="5484477"/>
            <a:ext cx="92305" cy="92305"/>
          </a:xfrm>
          <a:prstGeom prst="ellipse">
            <a:avLst/>
          </a:prstGeom>
          <a:ln w="1538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>
            <a:off x="2846082" y="5276790"/>
            <a:ext cx="0" cy="238455"/>
          </a:xfrm>
          <a:prstGeom prst="line">
            <a:avLst/>
          </a:prstGeom>
          <a:ln w="1538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72" name="Oval 371"/>
          <p:cNvSpPr/>
          <p:nvPr/>
        </p:nvSpPr>
        <p:spPr>
          <a:solidFill>
            <a:srgbClr val="FFFFFF"/>
          </a:solidFill>
          <a:xfrm>
            <a:off x="2799929" y="5484477"/>
            <a:ext cx="92305" cy="92305"/>
          </a:xfrm>
          <a:prstGeom prst="ellipse">
            <a:avLst/>
          </a:prstGeom>
          <a:ln w="1538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1538423" y="5584474"/>
            <a:ext cx="653829" cy="130766"/>
          </a:xfrm>
          <a:prstGeom prst="line">
            <a:avLst/>
          </a:prstGeom>
          <a:ln w="1538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2192252" y="5584474"/>
            <a:ext cx="653830" cy="130766"/>
          </a:xfrm>
          <a:prstGeom prst="line">
            <a:avLst/>
          </a:prstGeom>
          <a:ln w="15384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75" name="Oval 374"/>
          <p:cNvSpPr/>
          <p:nvPr/>
        </p:nvSpPr>
        <p:spPr>
          <a:solidFill>
            <a:srgbClr val="FFFFFF"/>
          </a:solidFill>
          <a:xfrm>
            <a:off x="2146100" y="5669088"/>
            <a:ext cx="92305" cy="92305"/>
          </a:xfrm>
          <a:prstGeom prst="ellipse">
            <a:avLst/>
          </a:prstGeom>
          <a:ln w="15384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1199970" y="5053719"/>
            <a:ext cx="76921" cy="0"/>
          </a:xfrm>
          <a:prstGeom prst="line">
            <a:avLst/>
          </a:prstGeom>
          <a:ln w="192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1276891" y="5053719"/>
            <a:ext cx="0" cy="669213"/>
          </a:xfrm>
          <a:prstGeom prst="line">
            <a:avLst/>
          </a:prstGeom>
          <a:ln w="192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1276891" y="5722932"/>
            <a:ext cx="769211" cy="0"/>
          </a:xfrm>
          <a:prstGeom prst="line">
            <a:avLst/>
          </a:prstGeom>
          <a:ln w="192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1199970" y="5207561"/>
            <a:ext cx="76921" cy="0"/>
          </a:xfrm>
          <a:prstGeom prst="line">
            <a:avLst/>
          </a:prstGeom>
          <a:ln w="192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380" name="Rounded Rectangle 379"/>
          <p:cNvSpPr/>
          <p:nvPr/>
        </p:nvSpPr>
        <p:spPr>
          <a:solidFill>
            <a:srgbClr val="EDF7FC">
              <a:alpha val="42000"/>
            </a:srgbClr>
          </a:solidFill>
          <a:xfrm>
            <a:off x="1615344" y="5915235"/>
            <a:ext cx="1699957" cy="1315351"/>
          </a:xfrm>
          <a:prstGeom prst="roundRect">
            <a:avLst>
              <a:gd name="adj" fmla="val 8187"/>
            </a:avLst>
          </a:prstGeom>
          <a:ln w="12307">
            <a:solidFill>
              <a:srgbClr val="B9D8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ounded Rectangle 380"/>
          <p:cNvSpPr/>
          <p:nvPr/>
        </p:nvSpPr>
        <p:spPr>
          <a:solidFill>
            <a:srgbClr val="B9D9F0">
              <a:alpha val="62000"/>
            </a:srgbClr>
          </a:solidFill>
          <a:xfrm>
            <a:off x="1353812" y="6245996"/>
            <a:ext cx="1715341" cy="969206"/>
          </a:xfrm>
          <a:prstGeom prst="roundRect">
            <a:avLst>
              <a:gd name="adj" fmla="val 9523"/>
            </a:avLst>
          </a:prstGeom>
          <a:ln w="13845">
            <a:solidFill>
              <a:srgbClr val="3E9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ounded Rectangle 381"/>
          <p:cNvSpPr/>
          <p:nvPr/>
        </p:nvSpPr>
        <p:spPr>
          <a:solidFill>
            <a:srgbClr val="E5E7EB"/>
          </a:solidFill>
          <a:xfrm>
            <a:off x="1692265" y="597677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1692265" y="596908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/>
            </a:r>
          </a:p>
        </p:txBody>
      </p:sp>
      <p:sp>
        <p:nvSpPr>
          <p:cNvPr id="384" name="Rounded Rectangle 383"/>
          <p:cNvSpPr/>
          <p:nvPr/>
        </p:nvSpPr>
        <p:spPr>
          <a:solidFill>
            <a:srgbClr val="D8E7EF"/>
          </a:solidFill>
          <a:xfrm>
            <a:off x="1953797" y="597677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1953797" y="596908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/>
            </a:r>
          </a:p>
        </p:txBody>
      </p:sp>
      <p:sp>
        <p:nvSpPr>
          <p:cNvPr id="386" name="Rounded Rectangle 385"/>
          <p:cNvSpPr/>
          <p:nvPr/>
        </p:nvSpPr>
        <p:spPr>
          <a:solidFill>
            <a:srgbClr val="D7E6DC"/>
          </a:solidFill>
          <a:xfrm>
            <a:off x="2215329" y="597677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2215329" y="596908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/>
            </a:r>
          </a:p>
        </p:txBody>
      </p:sp>
      <p:sp>
        <p:nvSpPr>
          <p:cNvPr id="388" name="Rounded Rectangle 387"/>
          <p:cNvSpPr/>
          <p:nvPr/>
        </p:nvSpPr>
        <p:spPr>
          <a:solidFill>
            <a:srgbClr val="EEF0CF"/>
          </a:solidFill>
          <a:xfrm>
            <a:off x="2476861" y="597677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2476861" y="596908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/>
            </a:r>
          </a:p>
        </p:txBody>
      </p:sp>
      <p:sp>
        <p:nvSpPr>
          <p:cNvPr id="390" name="Rounded Rectangle 389"/>
          <p:cNvSpPr/>
          <p:nvPr/>
        </p:nvSpPr>
        <p:spPr>
          <a:solidFill>
            <a:srgbClr val="F5DEC7"/>
          </a:solidFill>
          <a:xfrm>
            <a:off x="2738392" y="597677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2738392" y="596908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/>
            </a:r>
          </a:p>
        </p:txBody>
      </p:sp>
      <p:sp>
        <p:nvSpPr>
          <p:cNvPr id="392" name="Rounded Rectangle 391"/>
          <p:cNvSpPr/>
          <p:nvPr/>
        </p:nvSpPr>
        <p:spPr>
          <a:solidFill>
            <a:srgbClr val="F5D6D8"/>
          </a:solidFill>
          <a:xfrm>
            <a:off x="2999924" y="597677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2999924" y="596908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/>
            </a:r>
          </a:p>
        </p:txBody>
      </p:sp>
      <p:sp>
        <p:nvSpPr>
          <p:cNvPr id="394" name="Rounded Rectangle 393"/>
          <p:cNvSpPr/>
          <p:nvPr/>
        </p:nvSpPr>
        <p:spPr>
          <a:solidFill>
            <a:srgbClr val="E5E7EB"/>
          </a:solidFill>
          <a:xfrm>
            <a:off x="1599960" y="6307533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1599960" y="6299841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96" name="Rounded Rectangle 395"/>
          <p:cNvSpPr/>
          <p:nvPr/>
        </p:nvSpPr>
        <p:spPr>
          <a:solidFill>
            <a:srgbClr val="D8E7EF"/>
          </a:solidFill>
          <a:xfrm>
            <a:off x="1861491" y="6307533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1861491" y="6299841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398" name="Rounded Rectangle 397"/>
          <p:cNvSpPr/>
          <p:nvPr/>
        </p:nvSpPr>
        <p:spPr>
          <a:solidFill>
            <a:srgbClr val="D7E6DC"/>
          </a:solidFill>
          <a:xfrm>
            <a:off x="2123023" y="6307533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2123023" y="6299841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400" name="Rounded Rectangle 399"/>
          <p:cNvSpPr/>
          <p:nvPr/>
        </p:nvSpPr>
        <p:spPr>
          <a:solidFill>
            <a:srgbClr val="EEF0CF"/>
          </a:solidFill>
          <a:xfrm>
            <a:off x="2384555" y="6307533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2384555" y="6299841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402" name="Rounded Rectangle 401"/>
          <p:cNvSpPr/>
          <p:nvPr/>
        </p:nvSpPr>
        <p:spPr>
          <a:solidFill>
            <a:srgbClr val="F5DEC7"/>
          </a:solidFill>
          <a:xfrm>
            <a:off x="2646087" y="6307533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2646087" y="6299841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404" name="Rounded Rectangle 403"/>
          <p:cNvSpPr/>
          <p:nvPr/>
        </p:nvSpPr>
        <p:spPr>
          <a:solidFill>
            <a:srgbClr val="F5D6D8"/>
          </a:solidFill>
          <a:xfrm>
            <a:off x="2907619" y="6307533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2907619" y="6299841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406" name="Rounded Rectangle 405"/>
          <p:cNvSpPr/>
          <p:nvPr/>
        </p:nvSpPr>
        <p:spPr>
          <a:solidFill>
            <a:srgbClr val="E5E7EB"/>
          </a:solidFill>
          <a:xfrm>
            <a:off x="1415349" y="663060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1415349" y="662291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408" name="Rounded Rectangle 407"/>
          <p:cNvSpPr/>
          <p:nvPr/>
        </p:nvSpPr>
        <p:spPr>
          <a:solidFill>
            <a:srgbClr val="D8E7EF"/>
          </a:solidFill>
          <a:xfrm>
            <a:off x="1676881" y="663060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1676881" y="662291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410" name="Rounded Rectangle 409"/>
          <p:cNvSpPr/>
          <p:nvPr/>
        </p:nvSpPr>
        <p:spPr>
          <a:solidFill>
            <a:srgbClr val="D7E6DC"/>
          </a:solidFill>
          <a:xfrm>
            <a:off x="1938413" y="663060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1938413" y="662291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412" name="Rounded Rectangle 411"/>
          <p:cNvSpPr/>
          <p:nvPr/>
        </p:nvSpPr>
        <p:spPr>
          <a:solidFill>
            <a:srgbClr val="EEF0CF"/>
          </a:solidFill>
          <a:xfrm>
            <a:off x="2199944" y="663060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2199944" y="662291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sp>
        <p:nvSpPr>
          <p:cNvPr id="414" name="Rounded Rectangle 413"/>
          <p:cNvSpPr/>
          <p:nvPr/>
        </p:nvSpPr>
        <p:spPr>
          <a:solidFill>
            <a:srgbClr val="F5DEC7"/>
          </a:solidFill>
          <a:xfrm>
            <a:off x="2461476" y="663060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2461476" y="662291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416" name="Rounded Rectangle 415"/>
          <p:cNvSpPr/>
          <p:nvPr/>
        </p:nvSpPr>
        <p:spPr>
          <a:solidFill>
            <a:srgbClr val="F5D6D8"/>
          </a:solidFill>
          <a:xfrm>
            <a:off x="2723008" y="6630602"/>
            <a:ext cx="246148" cy="230763"/>
          </a:xfrm>
          <a:prstGeom prst="roundRect">
            <a:avLst>
              <a:gd name="adj" fmla="val 20000"/>
            </a:avLst>
          </a:prstGeom>
          <a:ln w="11538"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2723008" y="6622910"/>
            <a:ext cx="24614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000000"/>
                </a:solidFill>
                <a:latin typeface="Liberation Serif"/>
              </a:rPr>
              <a:t>0</a:t>
            </a:r>
          </a:p>
        </p:txBody>
      </p:sp>
      <p:cxnSp>
        <p:nvCxnSpPr>
          <p:cNvPr id="418" name="Connector 417"/>
          <p:cNvCxnSpPr/>
          <p:nvPr/>
        </p:nvCxnSpPr>
        <p:spPr>
          <a:xfrm>
            <a:off x="1538423" y="6861365"/>
            <a:ext cx="0" cy="238456"/>
          </a:xfrm>
          <a:prstGeom prst="line">
            <a:avLst/>
          </a:prstGeom>
          <a:ln w="15384">
            <a:solidFill>
              <a:srgbClr val="15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19" name="Oval 418"/>
          <p:cNvSpPr/>
          <p:nvPr/>
        </p:nvSpPr>
        <p:spPr>
          <a:solidFill>
            <a:srgbClr val="FFFFFF"/>
          </a:solidFill>
          <a:xfrm>
            <a:off x="1492270" y="7069052"/>
            <a:ext cx="92305" cy="92305"/>
          </a:xfrm>
          <a:prstGeom prst="ellipse">
            <a:avLst/>
          </a:prstGeom>
          <a:ln w="15384">
            <a:solidFill>
              <a:srgbClr val="1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Connector 419"/>
          <p:cNvCxnSpPr/>
          <p:nvPr/>
        </p:nvCxnSpPr>
        <p:spPr>
          <a:xfrm>
            <a:off x="1799955" y="6861365"/>
            <a:ext cx="0" cy="238456"/>
          </a:xfrm>
          <a:prstGeom prst="line">
            <a:avLst/>
          </a:prstGeom>
          <a:ln w="15384">
            <a:solidFill>
              <a:srgbClr val="15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21" name="Oval 420"/>
          <p:cNvSpPr/>
          <p:nvPr/>
        </p:nvSpPr>
        <p:spPr>
          <a:solidFill>
            <a:srgbClr val="FFFFFF"/>
          </a:solidFill>
          <a:xfrm>
            <a:off x="1753802" y="7069052"/>
            <a:ext cx="92305" cy="92305"/>
          </a:xfrm>
          <a:prstGeom prst="ellipse">
            <a:avLst/>
          </a:prstGeom>
          <a:ln w="15384">
            <a:solidFill>
              <a:srgbClr val="1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2" name="Connector 421"/>
          <p:cNvCxnSpPr/>
          <p:nvPr/>
        </p:nvCxnSpPr>
        <p:spPr>
          <a:xfrm>
            <a:off x="2061486" y="6861365"/>
            <a:ext cx="0" cy="238456"/>
          </a:xfrm>
          <a:prstGeom prst="line">
            <a:avLst/>
          </a:prstGeom>
          <a:ln w="15384">
            <a:solidFill>
              <a:srgbClr val="15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23" name="Oval 422"/>
          <p:cNvSpPr/>
          <p:nvPr/>
        </p:nvSpPr>
        <p:spPr>
          <a:solidFill>
            <a:srgbClr val="FFFFFF"/>
          </a:solidFill>
          <a:xfrm>
            <a:off x="2015334" y="7069052"/>
            <a:ext cx="92305" cy="92305"/>
          </a:xfrm>
          <a:prstGeom prst="ellipse">
            <a:avLst/>
          </a:prstGeom>
          <a:ln w="15384">
            <a:solidFill>
              <a:srgbClr val="1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4" name="Connector 423"/>
          <p:cNvCxnSpPr/>
          <p:nvPr/>
        </p:nvCxnSpPr>
        <p:spPr>
          <a:xfrm>
            <a:off x="2323018" y="6861365"/>
            <a:ext cx="0" cy="238456"/>
          </a:xfrm>
          <a:prstGeom prst="line">
            <a:avLst/>
          </a:prstGeom>
          <a:ln w="15384">
            <a:solidFill>
              <a:srgbClr val="15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25" name="Oval 424"/>
          <p:cNvSpPr/>
          <p:nvPr/>
        </p:nvSpPr>
        <p:spPr>
          <a:solidFill>
            <a:srgbClr val="FFFFFF"/>
          </a:solidFill>
          <a:xfrm>
            <a:off x="2276866" y="7069052"/>
            <a:ext cx="92305" cy="92305"/>
          </a:xfrm>
          <a:prstGeom prst="ellipse">
            <a:avLst/>
          </a:prstGeom>
          <a:ln w="15384">
            <a:solidFill>
              <a:srgbClr val="1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Connector 425"/>
          <p:cNvCxnSpPr/>
          <p:nvPr/>
        </p:nvCxnSpPr>
        <p:spPr>
          <a:xfrm>
            <a:off x="2584550" y="6861365"/>
            <a:ext cx="0" cy="238456"/>
          </a:xfrm>
          <a:prstGeom prst="line">
            <a:avLst/>
          </a:prstGeom>
          <a:ln w="15384">
            <a:solidFill>
              <a:srgbClr val="15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27" name="Oval 426"/>
          <p:cNvSpPr/>
          <p:nvPr/>
        </p:nvSpPr>
        <p:spPr>
          <a:solidFill>
            <a:srgbClr val="FFFFFF"/>
          </a:solidFill>
          <a:xfrm>
            <a:off x="2538397" y="7069052"/>
            <a:ext cx="92305" cy="92305"/>
          </a:xfrm>
          <a:prstGeom prst="ellipse">
            <a:avLst/>
          </a:prstGeom>
          <a:ln w="15384">
            <a:solidFill>
              <a:srgbClr val="1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>
            <a:off x="2846082" y="6861365"/>
            <a:ext cx="0" cy="238456"/>
          </a:xfrm>
          <a:prstGeom prst="line">
            <a:avLst/>
          </a:prstGeom>
          <a:ln w="15384">
            <a:solidFill>
              <a:srgbClr val="15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29" name="Oval 428"/>
          <p:cNvSpPr/>
          <p:nvPr/>
        </p:nvSpPr>
        <p:spPr>
          <a:solidFill>
            <a:srgbClr val="FFFFFF"/>
          </a:solidFill>
          <a:xfrm>
            <a:off x="2799929" y="7069052"/>
            <a:ext cx="92305" cy="92305"/>
          </a:xfrm>
          <a:prstGeom prst="ellipse">
            <a:avLst/>
          </a:prstGeom>
          <a:ln w="15384">
            <a:solidFill>
              <a:srgbClr val="1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Connector 429"/>
          <p:cNvCxnSpPr/>
          <p:nvPr/>
        </p:nvCxnSpPr>
        <p:spPr>
          <a:xfrm>
            <a:off x="1538423" y="7169050"/>
            <a:ext cx="653829" cy="146150"/>
          </a:xfrm>
          <a:prstGeom prst="line">
            <a:avLst/>
          </a:prstGeom>
          <a:ln w="15384">
            <a:solidFill>
              <a:srgbClr val="15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2192252" y="7169050"/>
            <a:ext cx="653830" cy="146150"/>
          </a:xfrm>
          <a:prstGeom prst="line">
            <a:avLst/>
          </a:prstGeom>
          <a:ln w="15384">
            <a:solidFill>
              <a:srgbClr val="15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32" name="Oval 431"/>
          <p:cNvSpPr/>
          <p:nvPr/>
        </p:nvSpPr>
        <p:spPr>
          <a:solidFill>
            <a:srgbClr val="FFFFFF"/>
          </a:solidFill>
          <a:xfrm>
            <a:off x="2146100" y="7269047"/>
            <a:ext cx="92305" cy="92305"/>
          </a:xfrm>
          <a:prstGeom prst="ellipse">
            <a:avLst/>
          </a:prstGeom>
          <a:ln w="15384">
            <a:solidFill>
              <a:srgbClr val="1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3" name="Connector 432"/>
          <p:cNvCxnSpPr/>
          <p:nvPr/>
        </p:nvCxnSpPr>
        <p:spPr>
          <a:xfrm>
            <a:off x="1199970" y="6538297"/>
            <a:ext cx="99997" cy="0"/>
          </a:xfrm>
          <a:prstGeom prst="line">
            <a:avLst/>
          </a:prstGeom>
          <a:ln w="192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1299967" y="6538297"/>
            <a:ext cx="0" cy="784595"/>
          </a:xfrm>
          <a:prstGeom prst="line">
            <a:avLst/>
          </a:prstGeom>
          <a:ln w="192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299967" y="7322892"/>
            <a:ext cx="707675" cy="0"/>
          </a:xfrm>
          <a:prstGeom prst="line">
            <a:avLst/>
          </a:prstGeom>
          <a:ln w="192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199970" y="6884442"/>
            <a:ext cx="99997" cy="0"/>
          </a:xfrm>
          <a:prstGeom prst="line">
            <a:avLst/>
          </a:prstGeom>
          <a:ln w="192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076845" y="5292174"/>
            <a:ext cx="269224" cy="0"/>
          </a:xfrm>
          <a:prstGeom prst="line">
            <a:avLst/>
          </a:prstGeom>
          <a:ln w="1846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3346069" y="5176792"/>
            <a:ext cx="0" cy="115382"/>
          </a:xfrm>
          <a:prstGeom prst="line">
            <a:avLst/>
          </a:prstGeom>
          <a:ln w="1846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3346069" y="5176792"/>
            <a:ext cx="215380" cy="0"/>
          </a:xfrm>
          <a:prstGeom prst="line">
            <a:avLst/>
          </a:prstGeom>
          <a:ln w="18461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3076845" y="6915210"/>
            <a:ext cx="276917" cy="0"/>
          </a:xfrm>
          <a:prstGeom prst="line">
            <a:avLst/>
          </a:prstGeom>
          <a:ln w="1846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3353762" y="6461375"/>
            <a:ext cx="0" cy="453835"/>
          </a:xfrm>
          <a:prstGeom prst="line">
            <a:avLst/>
          </a:prstGeom>
          <a:ln w="1846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3353762" y="6461375"/>
            <a:ext cx="207687" cy="0"/>
          </a:xfrm>
          <a:prstGeom prst="line">
            <a:avLst/>
          </a:prstGeom>
          <a:ln w="18461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561449" y="4361428"/>
            <a:ext cx="330761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1" i="0">
                <a:solidFill>
                  <a:srgbClr val="385896"/>
                </a:solidFill>
                <a:latin typeface="Liberation Serif"/>
              </a:rPr>
              <a:t>TP</a:t>
            </a:r>
          </a:p>
        </p:txBody>
      </p:sp>
      <p:sp>
        <p:nvSpPr>
          <p:cNvPr id="444" name="Rounded Rectangle 443"/>
          <p:cNvSpPr/>
          <p:nvPr/>
        </p:nvSpPr>
        <p:spPr>
          <a:solidFill>
            <a:srgbClr val="F9FBFF"/>
          </a:solidFill>
          <a:xfrm>
            <a:off x="3569141" y="4607576"/>
            <a:ext cx="315377" cy="1084588"/>
          </a:xfrm>
          <a:prstGeom prst="roundRect">
            <a:avLst>
              <a:gd name="adj" fmla="val 29268"/>
            </a:avLst>
          </a:prstGeom>
          <a:ln w="16153">
            <a:solidFill>
              <a:srgbClr val="1839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solidFill>
            <a:srgbClr val="D4DEF5"/>
          </a:solidFill>
          <a:xfrm>
            <a:off x="3638370" y="4676805"/>
            <a:ext cx="169226" cy="169226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11" y="0"/>
                </a:moveTo>
                <a:lnTo>
                  <a:pt x="22" y="8"/>
                </a:lnTo>
                <a:lnTo>
                  <a:pt x="18" y="22"/>
                </a:lnTo>
                <a:lnTo>
                  <a:pt x="4" y="22"/>
                </a:lnTo>
                <a:lnTo>
                  <a:pt x="0" y="8"/>
                </a:lnTo>
                <a:close/>
              </a:path>
            </a:pathLst>
          </a:custGeom>
          <a:ln w="11538">
            <a:solidFill>
              <a:srgbClr val="8C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solidFill>
            <a:srgbClr val="F2CFD6"/>
          </a:solidFill>
          <a:xfrm>
            <a:off x="3638370" y="4976797"/>
            <a:ext cx="169226" cy="169226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11" y="0"/>
                </a:moveTo>
                <a:lnTo>
                  <a:pt x="22" y="8"/>
                </a:lnTo>
                <a:lnTo>
                  <a:pt x="18" y="22"/>
                </a:lnTo>
                <a:lnTo>
                  <a:pt x="4" y="22"/>
                </a:lnTo>
                <a:lnTo>
                  <a:pt x="0" y="8"/>
                </a:lnTo>
                <a:close/>
              </a:path>
            </a:pathLst>
          </a:custGeom>
          <a:ln w="11538">
            <a:solidFill>
              <a:srgbClr val="8C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solidFill>
            <a:srgbClr val="CDE8C6"/>
          </a:solidFill>
          <a:xfrm>
            <a:off x="3638370" y="5276790"/>
            <a:ext cx="169226" cy="169226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11" y="0"/>
                </a:moveTo>
                <a:lnTo>
                  <a:pt x="22" y="8"/>
                </a:lnTo>
                <a:lnTo>
                  <a:pt x="18" y="22"/>
                </a:lnTo>
                <a:lnTo>
                  <a:pt x="4" y="22"/>
                </a:lnTo>
                <a:lnTo>
                  <a:pt x="0" y="8"/>
                </a:lnTo>
                <a:close/>
              </a:path>
            </a:pathLst>
          </a:custGeom>
          <a:ln w="11538">
            <a:solidFill>
              <a:srgbClr val="8C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solidFill>
            <a:srgbClr val="FFE1A5"/>
          </a:solidFill>
          <a:xfrm>
            <a:off x="3638370" y="5438324"/>
            <a:ext cx="169226" cy="169226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11" y="0"/>
                </a:moveTo>
                <a:lnTo>
                  <a:pt x="22" y="8"/>
                </a:lnTo>
                <a:lnTo>
                  <a:pt x="18" y="22"/>
                </a:lnTo>
                <a:lnTo>
                  <a:pt x="4" y="22"/>
                </a:lnTo>
                <a:lnTo>
                  <a:pt x="0" y="8"/>
                </a:lnTo>
                <a:close/>
              </a:path>
            </a:pathLst>
          </a:custGeom>
          <a:ln w="11538">
            <a:solidFill>
              <a:srgbClr val="E7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3622985" y="5246021"/>
            <a:ext cx="207687" cy="207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450" name="TextBox 449"/>
          <p:cNvSpPr txBox="1"/>
          <p:nvPr/>
        </p:nvSpPr>
        <p:spPr>
          <a:xfrm rot="5400000">
            <a:off x="3430683" y="5569090"/>
            <a:ext cx="184611" cy="484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8" b="1" i="0">
                <a:solidFill>
                  <a:srgbClr val="000000"/>
                </a:solidFill>
                <a:latin typeface="Liberation Serif"/>
              </a:rPr>
              <a:t>1×1×64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3522988" y="7153666"/>
            <a:ext cx="392298" cy="2461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1" i="0">
                <a:solidFill>
                  <a:srgbClr val="385896"/>
                </a:solidFill>
                <a:latin typeface="Liberation Serif"/>
              </a:rPr>
              <a:t>DSP</a:t>
            </a:r>
          </a:p>
        </p:txBody>
      </p:sp>
      <p:sp>
        <p:nvSpPr>
          <p:cNvPr id="452" name="Rounded Rectangle 451"/>
          <p:cNvSpPr/>
          <p:nvPr/>
        </p:nvSpPr>
        <p:spPr>
          <a:solidFill>
            <a:srgbClr val="F9FBFF"/>
          </a:solidFill>
          <a:xfrm>
            <a:off x="3569141" y="5969080"/>
            <a:ext cx="315377" cy="1115356"/>
          </a:xfrm>
          <a:prstGeom prst="roundRect">
            <a:avLst>
              <a:gd name="adj" fmla="val 29268"/>
            </a:avLst>
          </a:prstGeom>
          <a:ln w="16153">
            <a:solidFill>
              <a:srgbClr val="18395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solidFill>
            <a:srgbClr val="D9EFC0"/>
          </a:solidFill>
          <a:xfrm>
            <a:off x="3630678" y="6046001"/>
            <a:ext cx="184611" cy="184611"/>
          </a:xfrm>
          <a:prstGeom prst="ellipse">
            <a:avLst/>
          </a:prstGeom>
          <a:ln w="9999">
            <a:solidFill>
              <a:srgbClr val="93A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solidFill>
            <a:srgbClr val="F7CDD3"/>
          </a:solidFill>
          <a:xfrm>
            <a:off x="3630678" y="6338302"/>
            <a:ext cx="184611" cy="184611"/>
          </a:xfrm>
          <a:prstGeom prst="ellipse">
            <a:avLst/>
          </a:prstGeom>
          <a:ln w="9999">
            <a:solidFill>
              <a:srgbClr val="93A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solidFill>
            <a:srgbClr val="BFD4F1"/>
          </a:solidFill>
          <a:xfrm>
            <a:off x="3630678" y="6630602"/>
            <a:ext cx="184611" cy="184611"/>
          </a:xfrm>
          <a:prstGeom prst="ellipse">
            <a:avLst/>
          </a:prstGeom>
          <a:ln w="9999">
            <a:solidFill>
              <a:srgbClr val="93A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solidFill>
            <a:srgbClr val="FFD34F"/>
          </a:solidFill>
          <a:xfrm>
            <a:off x="3630678" y="6922902"/>
            <a:ext cx="184611" cy="184611"/>
          </a:xfrm>
          <a:prstGeom prst="ellipse">
            <a:avLst/>
          </a:prstGeom>
          <a:ln w="9999">
            <a:solidFill>
              <a:srgbClr val="93A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3622985" y="6599833"/>
            <a:ext cx="207687" cy="207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458" name="Rounded Rectangle 457"/>
          <p:cNvSpPr/>
          <p:nvPr/>
        </p:nvSpPr>
        <p:spPr>
          <a:solidFill>
            <a:srgbClr val="FFFFFF"/>
          </a:solidFill>
          <a:xfrm>
            <a:off x="4269123" y="4192202"/>
            <a:ext cx="7861340" cy="3269148"/>
          </a:xfrm>
          <a:prstGeom prst="roundRect">
            <a:avLst>
              <a:gd name="adj" fmla="val 5647"/>
            </a:avLst>
          </a:prstGeom>
          <a:ln w="21537">
            <a:solidFill>
              <a:srgbClr val="142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ounded Rectangle 458"/>
          <p:cNvSpPr/>
          <p:nvPr/>
        </p:nvSpPr>
        <p:spPr>
          <a:gradFill rotWithShape="1">
            <a:gsLst>
              <a:gs pos="0">
                <a:srgbClr val="F5FBFF"/>
              </a:gs>
              <a:gs pos="28000">
                <a:srgbClr val="D9EAFF"/>
              </a:gs>
              <a:gs pos="100000">
                <a:srgbClr val="9EBCE7"/>
              </a:gs>
            </a:gsLst>
            <a:lin ang="5400000" scaled="1"/>
          </a:gradFill>
          <a:xfrm>
            <a:off x="4638344" y="3953746"/>
            <a:ext cx="7138281" cy="353837"/>
          </a:xfrm>
          <a:prstGeom prst="roundRect">
            <a:avLst>
              <a:gd name="adj" fmla="val 30434"/>
            </a:avLst>
          </a:prstGeom>
          <a:ln w="20768">
            <a:solidFill>
              <a:srgbClr val="07182E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ounded Rectangle 459"/>
          <p:cNvSpPr/>
          <p:nvPr/>
        </p:nvSpPr>
        <p:spPr>
          <a:solidFill>
            <a:srgbClr val="FFFFFF">
              <a:alpha val="65000"/>
            </a:srgbClr>
          </a:solidFill>
          <a:xfrm>
            <a:off x="4699881" y="3992207"/>
            <a:ext cx="7015208" cy="38461"/>
          </a:xfrm>
          <a:prstGeom prst="roundRect">
            <a:avLst>
              <a:gd name="adj" fmla="val 4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4715266" y="3961438"/>
            <a:ext cx="6984439" cy="3384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1" b="1" i="0">
                <a:solidFill>
                  <a:srgbClr val="000000"/>
                </a:solidFill>
                <a:latin typeface="Liberation Serif"/>
              </a:rPr>
              <a:t>(c) IR Multi-Degradation Restoration Network</a:t>
            </a:r>
          </a:p>
        </p:txBody>
      </p:sp>
      <p:cxnSp>
        <p:nvCxnSpPr>
          <p:cNvPr id="462" name="Connector 461"/>
          <p:cNvCxnSpPr/>
          <p:nvPr/>
        </p:nvCxnSpPr>
        <p:spPr>
          <a:xfrm>
            <a:off x="3884517" y="4746034"/>
            <a:ext cx="223072" cy="0"/>
          </a:xfrm>
          <a:prstGeom prst="line">
            <a:avLst/>
          </a:prstGeom>
          <a:ln w="30768">
            <a:solidFill>
              <a:srgbClr val="F1A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4107589" y="4469118"/>
            <a:ext cx="0" cy="276916"/>
          </a:xfrm>
          <a:prstGeom prst="line">
            <a:avLst/>
          </a:prstGeom>
          <a:ln w="30768">
            <a:solidFill>
              <a:srgbClr val="F1A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4107589" y="4469118"/>
            <a:ext cx="2923003" cy="0"/>
          </a:xfrm>
          <a:prstGeom prst="line">
            <a:avLst/>
          </a:prstGeom>
          <a:ln w="30768">
            <a:solidFill>
              <a:srgbClr val="F1A26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3884517" y="6515220"/>
            <a:ext cx="323069" cy="0"/>
          </a:xfrm>
          <a:prstGeom prst="line">
            <a:avLst/>
          </a:prstGeom>
          <a:ln w="30768">
            <a:solidFill>
              <a:srgbClr val="346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4207586" y="4792187"/>
            <a:ext cx="0" cy="1723033"/>
          </a:xfrm>
          <a:prstGeom prst="line">
            <a:avLst/>
          </a:prstGeom>
          <a:ln w="30768">
            <a:solidFill>
              <a:srgbClr val="346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4207586" y="4792187"/>
            <a:ext cx="2607627" cy="0"/>
          </a:xfrm>
          <a:prstGeom prst="line">
            <a:avLst/>
          </a:prstGeom>
          <a:ln w="30768">
            <a:solidFill>
              <a:srgbClr val="3468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68" name="Oval 467"/>
          <p:cNvSpPr/>
          <p:nvPr/>
        </p:nvSpPr>
        <p:spPr>
          <a:solidFill>
            <a:srgbClr val="F1A26B"/>
          </a:solidFill>
          <a:xfrm>
            <a:off x="6253688" y="4430657"/>
            <a:ext cx="76921" cy="76921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solidFill>
            <a:srgbClr val="F1A26B"/>
          </a:solidFill>
          <a:xfrm>
            <a:off x="9430531" y="4430657"/>
            <a:ext cx="76921" cy="76921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0" name="Connector 469"/>
          <p:cNvCxnSpPr/>
          <p:nvPr/>
        </p:nvCxnSpPr>
        <p:spPr>
          <a:xfrm>
            <a:off x="6292149" y="4469118"/>
            <a:ext cx="0" cy="715367"/>
          </a:xfrm>
          <a:prstGeom prst="line">
            <a:avLst/>
          </a:prstGeom>
          <a:ln w="23076">
            <a:solidFill>
              <a:srgbClr val="F1A26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9468992" y="4469118"/>
            <a:ext cx="1069204" cy="0"/>
          </a:xfrm>
          <a:prstGeom prst="line">
            <a:avLst/>
          </a:prstGeom>
          <a:ln w="30768">
            <a:solidFill>
              <a:srgbClr val="F1A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10538196" y="4469118"/>
            <a:ext cx="0" cy="684598"/>
          </a:xfrm>
          <a:prstGeom prst="line">
            <a:avLst/>
          </a:prstGeom>
          <a:ln w="30768">
            <a:solidFill>
              <a:srgbClr val="F1A26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73" name="Oval 472"/>
          <p:cNvSpPr/>
          <p:nvPr/>
        </p:nvSpPr>
        <p:spPr>
          <a:solidFill>
            <a:srgbClr val="3468B6"/>
          </a:solidFill>
          <a:xfrm>
            <a:off x="5992156" y="4753726"/>
            <a:ext cx="76921" cy="76921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solidFill>
            <a:srgbClr val="3468B6"/>
          </a:solidFill>
          <a:xfrm>
            <a:off x="9176691" y="4753726"/>
            <a:ext cx="76921" cy="76921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6030617" y="4792187"/>
            <a:ext cx="0" cy="423066"/>
          </a:xfrm>
          <a:prstGeom prst="line">
            <a:avLst/>
          </a:prstGeom>
          <a:ln w="30768">
            <a:solidFill>
              <a:srgbClr val="3468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9215152" y="4792187"/>
            <a:ext cx="1099972" cy="0"/>
          </a:xfrm>
          <a:prstGeom prst="line">
            <a:avLst/>
          </a:prstGeom>
          <a:ln w="30768">
            <a:solidFill>
              <a:srgbClr val="346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10315124" y="4792187"/>
            <a:ext cx="0" cy="353837"/>
          </a:xfrm>
          <a:prstGeom prst="line">
            <a:avLst/>
          </a:prstGeom>
          <a:ln w="30768">
            <a:solidFill>
              <a:srgbClr val="3468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78" name="TextBox 477"/>
          <p:cNvSpPr txBox="1"/>
          <p:nvPr/>
        </p:nvSpPr>
        <p:spPr>
          <a:xfrm>
            <a:off x="4415273" y="5146024"/>
            <a:ext cx="961514" cy="3692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Degraded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Inf. Image</a:t>
            </a:r>
          </a:p>
        </p:txBody>
      </p:sp>
      <p:pic>
        <p:nvPicPr>
          <p:cNvPr id="479" name="Picture 478" descr="degra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84505" y="5538322"/>
            <a:ext cx="930746" cy="784596"/>
          </a:xfrm>
          <a:prstGeom prst="rect">
            <a:avLst/>
          </a:prstGeom>
        </p:spPr>
      </p:pic>
      <p:sp>
        <p:nvSpPr>
          <p:cNvPr id="480" name="Rectangle 479"/>
          <p:cNvSpPr/>
          <p:nvPr/>
        </p:nvSpPr>
        <p:spPr>
          <a:noFill/>
          <a:xfrm>
            <a:off x="4384505" y="5538322"/>
            <a:ext cx="930746" cy="784596"/>
          </a:xfrm>
          <a:prstGeom prst="rect">
            <a:avLst/>
          </a:prstGeom>
          <a:ln w="7692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TextBox 480"/>
          <p:cNvSpPr txBox="1"/>
          <p:nvPr/>
        </p:nvSpPr>
        <p:spPr>
          <a:xfrm>
            <a:off x="11053567" y="5146024"/>
            <a:ext cx="1007667" cy="3692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Restored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Inf. Image</a:t>
            </a:r>
          </a:p>
        </p:txBody>
      </p:sp>
      <p:pic>
        <p:nvPicPr>
          <p:cNvPr id="482" name="Picture 481" descr="restor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076644" y="5546014"/>
            <a:ext cx="938438" cy="784596"/>
          </a:xfrm>
          <a:prstGeom prst="rect">
            <a:avLst/>
          </a:prstGeom>
        </p:spPr>
      </p:pic>
      <p:sp>
        <p:nvSpPr>
          <p:cNvPr id="483" name="Rectangle 482"/>
          <p:cNvSpPr/>
          <p:nvPr/>
        </p:nvSpPr>
        <p:spPr>
          <a:noFill/>
          <a:xfrm>
            <a:off x="11076644" y="5546014"/>
            <a:ext cx="938438" cy="784596"/>
          </a:xfrm>
          <a:prstGeom prst="rect">
            <a:avLst/>
          </a:prstGeom>
          <a:ln w="7692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4" name="Connector 483"/>
          <p:cNvCxnSpPr/>
          <p:nvPr/>
        </p:nvCxnSpPr>
        <p:spPr>
          <a:xfrm>
            <a:off x="4846032" y="6322917"/>
            <a:ext cx="0" cy="961515"/>
          </a:xfrm>
          <a:prstGeom prst="line">
            <a:avLst/>
          </a:prstGeom>
          <a:ln w="2615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4846032" y="7284432"/>
            <a:ext cx="3015308" cy="0"/>
          </a:xfrm>
          <a:prstGeom prst="line">
            <a:avLst/>
          </a:prstGeom>
          <a:ln w="2615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5322943" y="5930620"/>
            <a:ext cx="215379" cy="0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315250" y="5922927"/>
            <a:ext cx="0" cy="923054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315250" y="6845981"/>
            <a:ext cx="5499862" cy="0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10815112" y="5846006"/>
            <a:ext cx="0" cy="999975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90" name="Freeform 489"/>
          <p:cNvSpPr/>
          <p:nvPr/>
        </p:nvSpPr>
        <p:spPr>
          <a:solidFill>
            <a:srgbClr val="EEF0F1">
              <a:alpha val="92000"/>
            </a:srgbClr>
          </a:solidFill>
          <a:xfrm>
            <a:off x="5522938" y="5207561"/>
            <a:ext cx="938438" cy="1384580"/>
          </a:xfrm>
          <a:custGeom>
            <a:avLst/>
            <a:gdLst/>
            <a:ahLst/>
            <a:cxnLst/>
            <a:rect l="l" t="t" r="r" b="b"/>
            <a:pathLst>
              <a:path w="122" h="180">
                <a:moveTo>
                  <a:pt x="0" y="0"/>
                </a:moveTo>
                <a:lnTo>
                  <a:pt x="102" y="0"/>
                </a:lnTo>
                <a:lnTo>
                  <a:pt x="122" y="23"/>
                </a:lnTo>
                <a:lnTo>
                  <a:pt x="106" y="180"/>
                </a:lnTo>
                <a:lnTo>
                  <a:pt x="0" y="180"/>
                </a:lnTo>
                <a:close/>
              </a:path>
            </a:pathLst>
          </a:custGeom>
          <a:ln w="9230">
            <a:solidFill>
              <a:srgbClr val="D3D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solidFill>
            <a:srgbClr val="88A9C9"/>
          </a:solidFill>
          <a:xfrm>
            <a:off x="5592167" y="5199869"/>
            <a:ext cx="269224" cy="1330736"/>
          </a:xfrm>
          <a:custGeom>
            <a:avLst/>
            <a:gdLst/>
            <a:ahLst/>
            <a:cxnLst/>
            <a:rect l="l" t="t" r="r" b="b"/>
            <a:pathLst>
              <a:path w="35" h="173">
                <a:moveTo>
                  <a:pt x="0" y="16"/>
                </a:moveTo>
                <a:lnTo>
                  <a:pt x="19" y="16"/>
                </a:lnTo>
                <a:lnTo>
                  <a:pt x="35" y="0"/>
                </a:lnTo>
                <a:lnTo>
                  <a:pt x="35" y="157"/>
                </a:lnTo>
                <a:lnTo>
                  <a:pt x="19" y="173"/>
                </a:lnTo>
                <a:lnTo>
                  <a:pt x="0" y="173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solidFill>
            <a:srgbClr val="799CBF"/>
          </a:solidFill>
          <a:xfrm>
            <a:off x="5676780" y="5199869"/>
            <a:ext cx="269224" cy="1330736"/>
          </a:xfrm>
          <a:custGeom>
            <a:avLst/>
            <a:gdLst/>
            <a:ahLst/>
            <a:cxnLst/>
            <a:rect l="l" t="t" r="r" b="b"/>
            <a:pathLst>
              <a:path w="35" h="173">
                <a:moveTo>
                  <a:pt x="0" y="16"/>
                </a:moveTo>
                <a:lnTo>
                  <a:pt x="19" y="16"/>
                </a:lnTo>
                <a:lnTo>
                  <a:pt x="35" y="0"/>
                </a:lnTo>
                <a:lnTo>
                  <a:pt x="35" y="157"/>
                </a:lnTo>
                <a:lnTo>
                  <a:pt x="19" y="173"/>
                </a:lnTo>
                <a:lnTo>
                  <a:pt x="0" y="173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solidFill>
            <a:srgbClr val="6B90B6"/>
          </a:solidFill>
          <a:xfrm>
            <a:off x="5761393" y="5199869"/>
            <a:ext cx="269224" cy="1330736"/>
          </a:xfrm>
          <a:custGeom>
            <a:avLst/>
            <a:gdLst/>
            <a:ahLst/>
            <a:cxnLst/>
            <a:rect l="l" t="t" r="r" b="b"/>
            <a:pathLst>
              <a:path w="35" h="173">
                <a:moveTo>
                  <a:pt x="0" y="16"/>
                </a:moveTo>
                <a:lnTo>
                  <a:pt x="19" y="16"/>
                </a:lnTo>
                <a:lnTo>
                  <a:pt x="35" y="0"/>
                </a:lnTo>
                <a:lnTo>
                  <a:pt x="35" y="157"/>
                </a:lnTo>
                <a:lnTo>
                  <a:pt x="19" y="173"/>
                </a:lnTo>
                <a:lnTo>
                  <a:pt x="0" y="173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Connector 493"/>
          <p:cNvCxnSpPr/>
          <p:nvPr/>
        </p:nvCxnSpPr>
        <p:spPr>
          <a:xfrm>
            <a:off x="6230612" y="5892159"/>
            <a:ext cx="476911" cy="0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495" name="Freeform 494"/>
          <p:cNvSpPr/>
          <p:nvPr/>
        </p:nvSpPr>
        <p:spPr>
          <a:solidFill>
            <a:srgbClr val="EEF0F1">
              <a:alpha val="92000"/>
            </a:srgbClr>
          </a:solidFill>
          <a:xfrm>
            <a:off x="6645986" y="5307558"/>
            <a:ext cx="930746" cy="1130741"/>
          </a:xfrm>
          <a:custGeom>
            <a:avLst/>
            <a:gdLst/>
            <a:ahLst/>
            <a:cxnLst/>
            <a:rect l="l" t="t" r="r" b="b"/>
            <a:pathLst>
              <a:path w="121" h="147">
                <a:moveTo>
                  <a:pt x="0" y="0"/>
                </a:moveTo>
                <a:lnTo>
                  <a:pt x="101" y="0"/>
                </a:lnTo>
                <a:lnTo>
                  <a:pt x="121" y="23"/>
                </a:lnTo>
                <a:lnTo>
                  <a:pt x="108" y="147"/>
                </a:lnTo>
                <a:lnTo>
                  <a:pt x="0" y="147"/>
                </a:lnTo>
                <a:close/>
              </a:path>
            </a:pathLst>
          </a:custGeom>
          <a:ln w="9230">
            <a:solidFill>
              <a:srgbClr val="D3D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solidFill>
            <a:srgbClr val="6F9BC1"/>
          </a:solidFill>
          <a:xfrm>
            <a:off x="6715215" y="5322943"/>
            <a:ext cx="253840" cy="1053820"/>
          </a:xfrm>
          <a:custGeom>
            <a:avLst/>
            <a:gdLst/>
            <a:ahLst/>
            <a:cxnLst/>
            <a:rect l="l" t="t" r="r" b="b"/>
            <a:pathLst>
              <a:path w="33" h="137">
                <a:moveTo>
                  <a:pt x="0" y="13"/>
                </a:moveTo>
                <a:lnTo>
                  <a:pt x="20" y="13"/>
                </a:lnTo>
                <a:lnTo>
                  <a:pt x="33" y="0"/>
                </a:lnTo>
                <a:lnTo>
                  <a:pt x="33" y="124"/>
                </a:lnTo>
                <a:lnTo>
                  <a:pt x="20" y="137"/>
                </a:lnTo>
                <a:lnTo>
                  <a:pt x="0" y="137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solidFill>
            <a:srgbClr val="6993BA"/>
          </a:solidFill>
          <a:xfrm>
            <a:off x="6799828" y="5322943"/>
            <a:ext cx="253840" cy="1053820"/>
          </a:xfrm>
          <a:custGeom>
            <a:avLst/>
            <a:gdLst/>
            <a:ahLst/>
            <a:cxnLst/>
            <a:rect l="l" t="t" r="r" b="b"/>
            <a:pathLst>
              <a:path w="33" h="137">
                <a:moveTo>
                  <a:pt x="0" y="13"/>
                </a:moveTo>
                <a:lnTo>
                  <a:pt x="20" y="13"/>
                </a:lnTo>
                <a:lnTo>
                  <a:pt x="33" y="0"/>
                </a:lnTo>
                <a:lnTo>
                  <a:pt x="33" y="124"/>
                </a:lnTo>
                <a:lnTo>
                  <a:pt x="20" y="137"/>
                </a:lnTo>
                <a:lnTo>
                  <a:pt x="0" y="137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solidFill>
            <a:srgbClr val="638BB3"/>
          </a:solidFill>
          <a:xfrm>
            <a:off x="6884442" y="5322943"/>
            <a:ext cx="253840" cy="1053820"/>
          </a:xfrm>
          <a:custGeom>
            <a:avLst/>
            <a:gdLst/>
            <a:ahLst/>
            <a:cxnLst/>
            <a:rect l="l" t="t" r="r" b="b"/>
            <a:pathLst>
              <a:path w="33" h="137">
                <a:moveTo>
                  <a:pt x="0" y="13"/>
                </a:moveTo>
                <a:lnTo>
                  <a:pt x="20" y="13"/>
                </a:lnTo>
                <a:lnTo>
                  <a:pt x="33" y="0"/>
                </a:lnTo>
                <a:lnTo>
                  <a:pt x="33" y="124"/>
                </a:lnTo>
                <a:lnTo>
                  <a:pt x="20" y="137"/>
                </a:lnTo>
                <a:lnTo>
                  <a:pt x="0" y="137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ounded Rectangle 498"/>
          <p:cNvSpPr/>
          <p:nvPr/>
        </p:nvSpPr>
        <p:spPr>
          <a:solidFill>
            <a:srgbClr val="FFFFFF"/>
          </a:solidFill>
          <a:xfrm>
            <a:off x="6576757" y="5207561"/>
            <a:ext cx="2146100" cy="1461502"/>
          </a:xfrm>
          <a:prstGeom prst="roundRect">
            <a:avLst>
              <a:gd name="adj" fmla="val 9473"/>
            </a:avLst>
          </a:prstGeom>
          <a:ln w="16922">
            <a:solidFill>
              <a:srgbClr val="777777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7753650" y="6415223"/>
            <a:ext cx="892285" cy="2076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IR Block</a:t>
            </a:r>
          </a:p>
        </p:txBody>
      </p:sp>
      <p:sp>
        <p:nvSpPr>
          <p:cNvPr id="501" name="Rectangle 500"/>
          <p:cNvSpPr/>
          <p:nvPr/>
        </p:nvSpPr>
        <p:spPr>
          <a:solidFill>
            <a:srgbClr val="FFFFFF"/>
          </a:solidFill>
          <a:xfrm>
            <a:off x="7407505" y="5422940"/>
            <a:ext cx="984591" cy="284608"/>
          </a:xfrm>
          <a:prstGeom prst="rect">
            <a:avLst/>
          </a:prstGeom>
          <a:ln w="15384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7438274" y="5446016"/>
            <a:ext cx="923054" cy="2307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00000"/>
                </a:solidFill>
                <a:latin typeface="Liberation Serif"/>
              </a:rPr>
              <a:t>Prompt Fusion</a:t>
            </a:r>
          </a:p>
        </p:txBody>
      </p:sp>
      <p:cxnSp>
        <p:nvCxnSpPr>
          <p:cNvPr id="503" name="Connector 502"/>
          <p:cNvCxnSpPr/>
          <p:nvPr/>
        </p:nvCxnSpPr>
        <p:spPr>
          <a:xfrm>
            <a:off x="7615192" y="5707548"/>
            <a:ext cx="0" cy="123074"/>
          </a:xfrm>
          <a:prstGeom prst="line">
            <a:avLst/>
          </a:prstGeom>
          <a:ln w="19230">
            <a:solidFill>
              <a:srgbClr val="D4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8099796" y="5707548"/>
            <a:ext cx="0" cy="123074"/>
          </a:xfrm>
          <a:prstGeom prst="line">
            <a:avLst/>
          </a:prstGeom>
          <a:ln w="19230">
            <a:solidFill>
              <a:srgbClr val="D4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7322892" y="5892159"/>
            <a:ext cx="169227" cy="0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06" name="Oval 505"/>
          <p:cNvSpPr/>
          <p:nvPr/>
        </p:nvSpPr>
        <p:spPr>
          <a:solidFill>
            <a:srgbClr val="FFFFFF"/>
          </a:solidFill>
          <a:xfrm>
            <a:off x="7492119" y="5769085"/>
            <a:ext cx="246148" cy="246148"/>
          </a:xfrm>
          <a:prstGeom prst="ellipse">
            <a:avLst/>
          </a:prstGeom>
          <a:ln w="230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>
            <a:off x="7538271" y="5815238"/>
            <a:ext cx="153843" cy="153842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H="1">
            <a:off x="7538271" y="5815238"/>
            <a:ext cx="153843" cy="153842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7722882" y="5715240"/>
            <a:ext cx="215379" cy="176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 i="1">
                <a:solidFill>
                  <a:srgbClr val="000000"/>
                </a:solidFill>
                <a:latin typeface="Liberation Serif"/>
              </a:rPr>
              <a:t>γ</a:t>
            </a:r>
          </a:p>
        </p:txBody>
      </p:sp>
      <p:cxnSp>
        <p:nvCxnSpPr>
          <p:cNvPr id="510" name="Connector 509"/>
          <p:cNvCxnSpPr/>
          <p:nvPr/>
        </p:nvCxnSpPr>
        <p:spPr>
          <a:xfrm>
            <a:off x="7738266" y="5892159"/>
            <a:ext cx="238456" cy="0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11" name="Oval 510"/>
          <p:cNvSpPr/>
          <p:nvPr/>
        </p:nvSpPr>
        <p:spPr>
          <a:solidFill>
            <a:srgbClr val="FFFFFF"/>
          </a:solidFill>
          <a:xfrm>
            <a:off x="7976722" y="5769085"/>
            <a:ext cx="246148" cy="246148"/>
          </a:xfrm>
          <a:prstGeom prst="ellipse">
            <a:avLst/>
          </a:prstGeom>
          <a:ln w="230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>
            <a:off x="8015182" y="5892159"/>
            <a:ext cx="169227" cy="0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8099796" y="5807546"/>
            <a:ext cx="0" cy="169226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8230562" y="5715240"/>
            <a:ext cx="192303" cy="176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2" b="1" i="1">
                <a:solidFill>
                  <a:srgbClr val="000000"/>
                </a:solidFill>
                <a:latin typeface="Liberation Serif"/>
              </a:rPr>
              <a:t>β</a:t>
            </a:r>
          </a:p>
        </p:txBody>
      </p:sp>
      <p:cxnSp>
        <p:nvCxnSpPr>
          <p:cNvPr id="515" name="Connector 514"/>
          <p:cNvCxnSpPr/>
          <p:nvPr/>
        </p:nvCxnSpPr>
        <p:spPr>
          <a:xfrm>
            <a:off x="8222869" y="5892159"/>
            <a:ext cx="192303" cy="0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16" name="Oval 515"/>
          <p:cNvSpPr/>
          <p:nvPr/>
        </p:nvSpPr>
        <p:spPr>
          <a:solidFill>
            <a:srgbClr val="FFFFFF"/>
          </a:solidFill>
          <a:xfrm>
            <a:off x="8415172" y="5769085"/>
            <a:ext cx="246148" cy="246148"/>
          </a:xfrm>
          <a:prstGeom prst="ellipse">
            <a:avLst/>
          </a:prstGeom>
          <a:ln w="230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7" name="Connector 516"/>
          <p:cNvCxnSpPr/>
          <p:nvPr/>
        </p:nvCxnSpPr>
        <p:spPr>
          <a:xfrm>
            <a:off x="8453633" y="5892159"/>
            <a:ext cx="169226" cy="0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8538246" y="5807546"/>
            <a:ext cx="0" cy="169226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8661320" y="5892159"/>
            <a:ext cx="246148" cy="0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7330584" y="6084462"/>
            <a:ext cx="0" cy="199995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7330584" y="6284457"/>
            <a:ext cx="1207662" cy="0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8538246" y="6015233"/>
            <a:ext cx="0" cy="269224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23" name="Rounded Rectangle 522"/>
          <p:cNvSpPr/>
          <p:nvPr/>
        </p:nvSpPr>
        <p:spPr>
          <a:solidFill>
            <a:srgbClr val="C7D7E6">
              <a:alpha val="18000"/>
            </a:srgbClr>
          </a:solidFill>
          <a:xfrm>
            <a:off x="7115205" y="4415273"/>
            <a:ext cx="915362" cy="623061"/>
          </a:xfrm>
          <a:prstGeom prst="roundRect">
            <a:avLst>
              <a:gd name="adj" fmla="val 14814"/>
            </a:avLst>
          </a:prstGeom>
          <a:ln w="13845">
            <a:solidFill>
              <a:srgbClr val="417E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ounded Rectangle 523"/>
          <p:cNvSpPr/>
          <p:nvPr/>
        </p:nvSpPr>
        <p:spPr>
          <a:solidFill>
            <a:srgbClr val="C7D7E6">
              <a:alpha val="15000"/>
            </a:srgbClr>
          </a:solidFill>
          <a:xfrm>
            <a:off x="6807521" y="4515271"/>
            <a:ext cx="1576883" cy="561524"/>
          </a:xfrm>
          <a:prstGeom prst="roundRect">
            <a:avLst>
              <a:gd name="adj" fmla="val 16438"/>
            </a:avLst>
          </a:prstGeom>
          <a:ln w="13845">
            <a:solidFill>
              <a:srgbClr val="417E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ounded Rectangle 524"/>
          <p:cNvSpPr/>
          <p:nvPr/>
        </p:nvSpPr>
        <p:spPr>
          <a:solidFill>
            <a:srgbClr val="C7D7E6">
              <a:alpha val="12000"/>
            </a:srgbClr>
          </a:solidFill>
          <a:xfrm>
            <a:off x="7445966" y="4499886"/>
            <a:ext cx="1246122" cy="584601"/>
          </a:xfrm>
          <a:prstGeom prst="roundRect">
            <a:avLst>
              <a:gd name="adj" fmla="val 15789"/>
            </a:avLst>
          </a:prstGeom>
          <a:ln w="13845">
            <a:solidFill>
              <a:srgbClr val="417E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solidFill>
            <a:srgbClr val="B8C7D4">
              <a:alpha val="82000"/>
            </a:srgbClr>
          </a:solidFill>
          <a:xfrm>
            <a:off x="6899826" y="4584500"/>
            <a:ext cx="546140" cy="538448"/>
          </a:xfrm>
          <a:custGeom>
            <a:avLst/>
            <a:gdLst/>
            <a:ahLst/>
            <a:cxnLst/>
            <a:rect l="l" t="t" r="r" b="b"/>
            <a:pathLst>
              <a:path w="71" h="70">
                <a:moveTo>
                  <a:pt x="0" y="0"/>
                </a:moveTo>
                <a:lnTo>
                  <a:pt x="71" y="20"/>
                </a:lnTo>
                <a:lnTo>
                  <a:pt x="71" y="49"/>
                </a:lnTo>
                <a:lnTo>
                  <a:pt x="0" y="70"/>
                </a:lnTo>
                <a:close/>
              </a:path>
            </a:pathLst>
          </a:custGeom>
          <a:ln w="13845">
            <a:solidFill>
              <a:srgbClr val="5D6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solidFill>
            <a:srgbClr val="D9E0E6">
              <a:alpha val="82000"/>
            </a:srgbClr>
          </a:solidFill>
          <a:xfrm>
            <a:off x="6961363" y="4507579"/>
            <a:ext cx="584601" cy="692290"/>
          </a:xfrm>
          <a:custGeom>
            <a:avLst/>
            <a:gdLst/>
            <a:ahLst/>
            <a:cxnLst/>
            <a:rect l="l" t="t" r="r" b="b"/>
            <a:pathLst>
              <a:path w="76" h="90">
                <a:moveTo>
                  <a:pt x="0" y="0"/>
                </a:moveTo>
                <a:lnTo>
                  <a:pt x="76" y="21"/>
                </a:lnTo>
                <a:lnTo>
                  <a:pt x="76" y="67"/>
                </a:lnTo>
                <a:lnTo>
                  <a:pt x="0" y="90"/>
                </a:lnTo>
                <a:close/>
              </a:path>
            </a:pathLst>
          </a:custGeom>
          <a:ln w="13845">
            <a:solidFill>
              <a:srgbClr val="5D6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solidFill>
            <a:srgbClr val="B8C7D4">
              <a:alpha val="82000"/>
            </a:srgbClr>
          </a:solidFill>
          <a:xfrm>
            <a:off x="7761343" y="4553731"/>
            <a:ext cx="438450" cy="523064"/>
          </a:xfrm>
          <a:custGeom>
            <a:avLst/>
            <a:gdLst/>
            <a:ahLst/>
            <a:cxnLst/>
            <a:rect l="l" t="t" r="r" b="b"/>
            <a:pathLst>
              <a:path w="57" h="68">
                <a:moveTo>
                  <a:pt x="0" y="19"/>
                </a:moveTo>
                <a:lnTo>
                  <a:pt x="57" y="0"/>
                </a:lnTo>
                <a:lnTo>
                  <a:pt x="57" y="68"/>
                </a:lnTo>
                <a:lnTo>
                  <a:pt x="0" y="49"/>
                </a:lnTo>
                <a:close/>
              </a:path>
            </a:pathLst>
          </a:custGeom>
          <a:ln w="13845">
            <a:solidFill>
              <a:srgbClr val="5D6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solidFill>
            <a:srgbClr val="D9E0E6">
              <a:alpha val="82000"/>
            </a:srgbClr>
          </a:solidFill>
          <a:xfrm>
            <a:off x="7869032" y="4461426"/>
            <a:ext cx="730751" cy="699982"/>
          </a:xfrm>
          <a:custGeom>
            <a:avLst/>
            <a:gdLst/>
            <a:ahLst/>
            <a:cxnLst/>
            <a:rect l="l" t="t" r="r" b="b"/>
            <a:pathLst>
              <a:path w="95" h="91">
                <a:moveTo>
                  <a:pt x="0" y="31"/>
                </a:moveTo>
                <a:lnTo>
                  <a:pt x="95" y="0"/>
                </a:lnTo>
                <a:lnTo>
                  <a:pt x="95" y="91"/>
                </a:lnTo>
                <a:lnTo>
                  <a:pt x="0" y="62"/>
                </a:lnTo>
                <a:close/>
              </a:path>
            </a:pathLst>
          </a:custGeom>
          <a:ln w="13845">
            <a:solidFill>
              <a:srgbClr val="5D6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solidFill>
            <a:srgbClr val="D2D7DD"/>
          </a:solidFill>
          <a:xfrm>
            <a:off x="7492119" y="4607576"/>
            <a:ext cx="115382" cy="492295"/>
          </a:xfrm>
          <a:prstGeom prst="rect">
            <a:avLst/>
          </a:prstGeom>
          <a:ln w="11538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7615192" y="5076795"/>
            <a:ext cx="0" cy="330761"/>
          </a:xfrm>
          <a:prstGeom prst="line">
            <a:avLst/>
          </a:prstGeom>
          <a:ln w="30768">
            <a:solidFill>
              <a:srgbClr val="3468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8115180" y="5084487"/>
            <a:ext cx="0" cy="323069"/>
          </a:xfrm>
          <a:prstGeom prst="line">
            <a:avLst/>
          </a:prstGeom>
          <a:ln w="30768">
            <a:solidFill>
              <a:srgbClr val="F1A26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33" name="Freeform 532"/>
          <p:cNvSpPr/>
          <p:nvPr/>
        </p:nvSpPr>
        <p:spPr>
          <a:solidFill>
            <a:srgbClr val="EEF0F1">
              <a:alpha val="92000"/>
            </a:srgbClr>
          </a:solidFill>
          <a:xfrm>
            <a:off x="8838238" y="5276790"/>
            <a:ext cx="907669" cy="1215354"/>
          </a:xfrm>
          <a:custGeom>
            <a:avLst/>
            <a:gdLst/>
            <a:ahLst/>
            <a:cxnLst/>
            <a:rect l="l" t="t" r="r" b="b"/>
            <a:pathLst>
              <a:path w="118" h="158">
                <a:moveTo>
                  <a:pt x="0" y="0"/>
                </a:moveTo>
                <a:lnTo>
                  <a:pt x="98" y="0"/>
                </a:lnTo>
                <a:lnTo>
                  <a:pt x="118" y="23"/>
                </a:lnTo>
                <a:lnTo>
                  <a:pt x="104" y="158"/>
                </a:lnTo>
                <a:lnTo>
                  <a:pt x="0" y="158"/>
                </a:lnTo>
                <a:close/>
              </a:path>
            </a:pathLst>
          </a:custGeom>
          <a:ln w="9230">
            <a:solidFill>
              <a:srgbClr val="D3D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solidFill>
            <a:srgbClr val="7FA4C4"/>
          </a:solidFill>
          <a:xfrm>
            <a:off x="8907468" y="5284482"/>
            <a:ext cx="253840" cy="1146125"/>
          </a:xfrm>
          <a:custGeom>
            <a:avLst/>
            <a:gdLst/>
            <a:ahLst/>
            <a:cxnLst/>
            <a:rect l="l" t="t" r="r" b="b"/>
            <a:pathLst>
              <a:path w="33" h="149">
                <a:moveTo>
                  <a:pt x="0" y="14"/>
                </a:moveTo>
                <a:lnTo>
                  <a:pt x="19" y="14"/>
                </a:lnTo>
                <a:lnTo>
                  <a:pt x="33" y="0"/>
                </a:lnTo>
                <a:lnTo>
                  <a:pt x="33" y="135"/>
                </a:lnTo>
                <a:lnTo>
                  <a:pt x="19" y="149"/>
                </a:lnTo>
                <a:lnTo>
                  <a:pt x="0" y="149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solidFill>
            <a:srgbClr val="7399BC"/>
          </a:solidFill>
          <a:xfrm>
            <a:off x="8984389" y="5284482"/>
            <a:ext cx="253840" cy="1146125"/>
          </a:xfrm>
          <a:custGeom>
            <a:avLst/>
            <a:gdLst/>
            <a:ahLst/>
            <a:cxnLst/>
            <a:rect l="l" t="t" r="r" b="b"/>
            <a:pathLst>
              <a:path w="33" h="149">
                <a:moveTo>
                  <a:pt x="0" y="14"/>
                </a:moveTo>
                <a:lnTo>
                  <a:pt x="19" y="14"/>
                </a:lnTo>
                <a:lnTo>
                  <a:pt x="33" y="0"/>
                </a:lnTo>
                <a:lnTo>
                  <a:pt x="33" y="135"/>
                </a:lnTo>
                <a:lnTo>
                  <a:pt x="19" y="149"/>
                </a:lnTo>
                <a:lnTo>
                  <a:pt x="0" y="149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solidFill>
            <a:srgbClr val="688EB4"/>
          </a:solidFill>
          <a:xfrm>
            <a:off x="9069002" y="5284482"/>
            <a:ext cx="253840" cy="1146125"/>
          </a:xfrm>
          <a:custGeom>
            <a:avLst/>
            <a:gdLst/>
            <a:ahLst/>
            <a:cxnLst/>
            <a:rect l="l" t="t" r="r" b="b"/>
            <a:pathLst>
              <a:path w="33" h="149">
                <a:moveTo>
                  <a:pt x="0" y="14"/>
                </a:moveTo>
                <a:lnTo>
                  <a:pt x="19" y="14"/>
                </a:lnTo>
                <a:lnTo>
                  <a:pt x="33" y="0"/>
                </a:lnTo>
                <a:lnTo>
                  <a:pt x="33" y="135"/>
                </a:lnTo>
                <a:lnTo>
                  <a:pt x="19" y="149"/>
                </a:lnTo>
                <a:lnTo>
                  <a:pt x="0" y="149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>
            <a:off x="9522837" y="5892159"/>
            <a:ext cx="292300" cy="0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38" name="Freeform 537"/>
          <p:cNvSpPr/>
          <p:nvPr/>
        </p:nvSpPr>
        <p:spPr>
          <a:solidFill>
            <a:srgbClr val="EEF0F1">
              <a:alpha val="92000"/>
            </a:srgbClr>
          </a:solidFill>
          <a:xfrm>
            <a:off x="9753600" y="5130640"/>
            <a:ext cx="976898" cy="1523038"/>
          </a:xfrm>
          <a:custGeom>
            <a:avLst/>
            <a:gdLst/>
            <a:ahLst/>
            <a:cxnLst/>
            <a:rect l="l" t="t" r="r" b="b"/>
            <a:pathLst>
              <a:path w="127" h="198">
                <a:moveTo>
                  <a:pt x="0" y="0"/>
                </a:moveTo>
                <a:lnTo>
                  <a:pt x="107" y="0"/>
                </a:lnTo>
                <a:lnTo>
                  <a:pt x="127" y="23"/>
                </a:lnTo>
                <a:lnTo>
                  <a:pt x="109" y="198"/>
                </a:lnTo>
                <a:lnTo>
                  <a:pt x="0" y="198"/>
                </a:lnTo>
                <a:close/>
              </a:path>
            </a:pathLst>
          </a:custGeom>
          <a:ln w="9230">
            <a:solidFill>
              <a:srgbClr val="D3D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solidFill>
            <a:srgbClr val="83A9C8"/>
          </a:solidFill>
          <a:xfrm>
            <a:off x="9822829" y="5107563"/>
            <a:ext cx="292300" cy="1484578"/>
          </a:xfrm>
          <a:custGeom>
            <a:avLst/>
            <a:gdLst/>
            <a:ahLst/>
            <a:cxnLst/>
            <a:rect l="l" t="t" r="r" b="b"/>
            <a:pathLst>
              <a:path w="38" h="193">
                <a:moveTo>
                  <a:pt x="0" y="18"/>
                </a:moveTo>
                <a:lnTo>
                  <a:pt x="20" y="18"/>
                </a:lnTo>
                <a:lnTo>
                  <a:pt x="38" y="0"/>
                </a:lnTo>
                <a:lnTo>
                  <a:pt x="38" y="175"/>
                </a:lnTo>
                <a:lnTo>
                  <a:pt x="20" y="193"/>
                </a:lnTo>
                <a:lnTo>
                  <a:pt x="0" y="193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solidFill>
            <a:srgbClr val="769CBF"/>
          </a:solidFill>
          <a:xfrm>
            <a:off x="9907442" y="5107563"/>
            <a:ext cx="292300" cy="1484578"/>
          </a:xfrm>
          <a:custGeom>
            <a:avLst/>
            <a:gdLst/>
            <a:ahLst/>
            <a:cxnLst/>
            <a:rect l="l" t="t" r="r" b="b"/>
            <a:pathLst>
              <a:path w="38" h="193">
                <a:moveTo>
                  <a:pt x="0" y="18"/>
                </a:moveTo>
                <a:lnTo>
                  <a:pt x="20" y="18"/>
                </a:lnTo>
                <a:lnTo>
                  <a:pt x="38" y="0"/>
                </a:lnTo>
                <a:lnTo>
                  <a:pt x="38" y="175"/>
                </a:lnTo>
                <a:lnTo>
                  <a:pt x="20" y="193"/>
                </a:lnTo>
                <a:lnTo>
                  <a:pt x="0" y="193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solidFill>
            <a:srgbClr val="6990B6"/>
          </a:solidFill>
          <a:xfrm>
            <a:off x="9992056" y="5107563"/>
            <a:ext cx="292300" cy="1484578"/>
          </a:xfrm>
          <a:custGeom>
            <a:avLst/>
            <a:gdLst/>
            <a:ahLst/>
            <a:cxnLst/>
            <a:rect l="l" t="t" r="r" b="b"/>
            <a:pathLst>
              <a:path w="38" h="193">
                <a:moveTo>
                  <a:pt x="0" y="18"/>
                </a:moveTo>
                <a:lnTo>
                  <a:pt x="20" y="18"/>
                </a:lnTo>
                <a:lnTo>
                  <a:pt x="38" y="0"/>
                </a:lnTo>
                <a:lnTo>
                  <a:pt x="38" y="175"/>
                </a:lnTo>
                <a:lnTo>
                  <a:pt x="20" y="193"/>
                </a:lnTo>
                <a:lnTo>
                  <a:pt x="0" y="193"/>
                </a:lnTo>
                <a:close/>
              </a:path>
            </a:pathLst>
          </a:custGeom>
          <a:ln w="13076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2" name="Connector 541"/>
          <p:cNvCxnSpPr/>
          <p:nvPr/>
        </p:nvCxnSpPr>
        <p:spPr>
          <a:xfrm>
            <a:off x="10461274" y="5892159"/>
            <a:ext cx="230764" cy="0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43" name="Oval 542"/>
          <p:cNvSpPr/>
          <p:nvPr/>
        </p:nvSpPr>
        <p:spPr>
          <a:solidFill>
            <a:srgbClr val="FFFFFF"/>
          </a:solidFill>
          <a:xfrm>
            <a:off x="10692038" y="5769085"/>
            <a:ext cx="246148" cy="246148"/>
          </a:xfrm>
          <a:prstGeom prst="ellipse">
            <a:avLst/>
          </a:prstGeom>
          <a:ln w="23076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4" name="Connector 543"/>
          <p:cNvCxnSpPr/>
          <p:nvPr/>
        </p:nvCxnSpPr>
        <p:spPr>
          <a:xfrm>
            <a:off x="10730498" y="5892159"/>
            <a:ext cx="169227" cy="0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10815112" y="5807546"/>
            <a:ext cx="0" cy="169226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10938185" y="5892159"/>
            <a:ext cx="138459" cy="0"/>
          </a:xfrm>
          <a:prstGeom prst="line">
            <a:avLst/>
          </a:prstGeom>
          <a:ln w="23076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11545862" y="6330609"/>
            <a:ext cx="0" cy="730751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H="1">
            <a:off x="8230562" y="7061360"/>
            <a:ext cx="3315300" cy="0"/>
          </a:xfrm>
          <a:prstGeom prst="line">
            <a:avLst/>
          </a:prstGeom>
          <a:ln w="230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49" name="Oval 548"/>
          <p:cNvSpPr/>
          <p:nvPr/>
        </p:nvSpPr>
        <p:spPr>
          <a:solidFill>
            <a:srgbClr val="B40000"/>
          </a:solidFill>
          <a:xfrm>
            <a:off x="8161332" y="6992131"/>
            <a:ext cx="130766" cy="130766"/>
          </a:xfrm>
          <a:prstGeom prst="ellipse">
            <a:avLst/>
          </a:prstGeom>
          <a:ln w="7692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>
            <a:off x="8222869" y="7061360"/>
            <a:ext cx="0" cy="176919"/>
          </a:xfrm>
          <a:prstGeom prst="line">
            <a:avLst/>
          </a:prstGeom>
          <a:ln w="30768">
            <a:solidFill>
              <a:srgbClr val="B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>
            <a:off x="8061335" y="7238279"/>
            <a:ext cx="161534" cy="0"/>
          </a:xfrm>
          <a:prstGeom prst="line">
            <a:avLst/>
          </a:prstGeom>
          <a:ln w="30768">
            <a:solidFill>
              <a:srgbClr val="B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8061335" y="7153666"/>
            <a:ext cx="0" cy="84613"/>
          </a:xfrm>
          <a:prstGeom prst="line">
            <a:avLst/>
          </a:prstGeom>
          <a:ln w="30768">
            <a:solidFill>
              <a:srgbClr val="B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H="1">
            <a:off x="7907493" y="7153666"/>
            <a:ext cx="153842" cy="0"/>
          </a:xfrm>
          <a:prstGeom prst="line">
            <a:avLst/>
          </a:prstGeom>
          <a:ln w="30768">
            <a:solidFill>
              <a:srgbClr val="B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7907493" y="7153666"/>
            <a:ext cx="0" cy="99997"/>
          </a:xfrm>
          <a:prstGeom prst="line">
            <a:avLst/>
          </a:prstGeom>
          <a:ln w="30768">
            <a:solidFill>
              <a:srgbClr val="B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H="1">
            <a:off x="7830572" y="7253663"/>
            <a:ext cx="76921" cy="0"/>
          </a:xfrm>
          <a:prstGeom prst="line">
            <a:avLst/>
          </a:prstGeom>
          <a:ln w="30768">
            <a:solidFill>
              <a:srgbClr val="B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56" name="Oval 555"/>
          <p:cNvSpPr/>
          <p:nvPr/>
        </p:nvSpPr>
        <p:spPr>
          <a:solidFill>
            <a:srgbClr val="B40000"/>
          </a:solidFill>
          <a:xfrm>
            <a:off x="7815187" y="7230587"/>
            <a:ext cx="107690" cy="107690"/>
          </a:xfrm>
          <a:prstGeom prst="ellipse">
            <a:avLst/>
          </a:prstGeom>
          <a:ln w="7692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8961312" y="7061360"/>
            <a:ext cx="2323018" cy="238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Selective Progressive Training(SPT)</a:t>
            </a:r>
          </a:p>
        </p:txBody>
      </p:sp>
      <p:sp>
        <p:nvSpPr>
          <p:cNvPr id="558" name="Rounded Rectangle 557"/>
          <p:cNvSpPr/>
          <p:nvPr/>
        </p:nvSpPr>
        <p:spPr>
          <a:solidFill>
            <a:srgbClr val="FFFFFF"/>
          </a:solidFill>
          <a:xfrm>
            <a:off x="12192000" y="4192202"/>
            <a:ext cx="2384555" cy="3269148"/>
          </a:xfrm>
          <a:prstGeom prst="roundRect">
            <a:avLst>
              <a:gd name="adj" fmla="val 7741"/>
            </a:avLst>
          </a:prstGeom>
          <a:ln w="21537">
            <a:solidFill>
              <a:srgbClr val="142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ounded Rectangle 558"/>
          <p:cNvSpPr/>
          <p:nvPr/>
        </p:nvSpPr>
        <p:spPr>
          <a:gradFill rotWithShape="1">
            <a:gsLst>
              <a:gs pos="0">
                <a:srgbClr val="F5FBFF"/>
              </a:gs>
              <a:gs pos="28000">
                <a:srgbClr val="D9EAFF"/>
              </a:gs>
              <a:gs pos="100000">
                <a:srgbClr val="9EBCE7"/>
              </a:gs>
            </a:gsLst>
            <a:lin ang="5400000" scaled="1"/>
          </a:gradFill>
          <a:xfrm>
            <a:off x="12361226" y="3961438"/>
            <a:ext cx="2069179" cy="346145"/>
          </a:xfrm>
          <a:prstGeom prst="roundRect">
            <a:avLst>
              <a:gd name="adj" fmla="val 31111"/>
            </a:avLst>
          </a:prstGeom>
          <a:ln w="20768">
            <a:solidFill>
              <a:srgbClr val="07182E"/>
            </a:solidFill>
          </a:ln>
          <a:effectLst>
            <a:outerShdw blurRad="30768" dist="23076" dir="2700000" algn="ctr" rotWithShape="0">
              <a:srgbClr val="777777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ounded Rectangle 559"/>
          <p:cNvSpPr/>
          <p:nvPr/>
        </p:nvSpPr>
        <p:spPr>
          <a:solidFill>
            <a:srgbClr val="FFFFFF">
              <a:alpha val="65000"/>
            </a:srgbClr>
          </a:solidFill>
          <a:xfrm>
            <a:off x="12422763" y="3999899"/>
            <a:ext cx="1946105" cy="38461"/>
          </a:xfrm>
          <a:prstGeom prst="roundRect">
            <a:avLst>
              <a:gd name="adj" fmla="val 4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12438148" y="3969131"/>
            <a:ext cx="1915336" cy="3307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1" b="1" i="0">
                <a:solidFill>
                  <a:srgbClr val="000000"/>
                </a:solidFill>
                <a:latin typeface="Liberation Serif"/>
              </a:rPr>
              <a:t>(d) SPT</a:t>
            </a:r>
          </a:p>
        </p:txBody>
      </p:sp>
      <p:cxnSp>
        <p:nvCxnSpPr>
          <p:cNvPr id="562" name="Connector 561"/>
          <p:cNvCxnSpPr/>
          <p:nvPr/>
        </p:nvCxnSpPr>
        <p:spPr>
          <a:xfrm flipV="1">
            <a:off x="12438148" y="4376813"/>
            <a:ext cx="0" cy="2969155"/>
          </a:xfrm>
          <a:prstGeom prst="line">
            <a:avLst/>
          </a:prstGeom>
          <a:ln w="23845">
            <a:solidFill>
              <a:srgbClr val="0B35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12438148" y="4376813"/>
            <a:ext cx="1084588" cy="0"/>
          </a:xfrm>
          <a:prstGeom prst="line">
            <a:avLst/>
          </a:prstGeom>
          <a:ln w="23845">
            <a:solidFill>
              <a:srgbClr val="0B35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13522736" y="4376813"/>
            <a:ext cx="0" cy="161534"/>
          </a:xfrm>
          <a:prstGeom prst="line">
            <a:avLst/>
          </a:prstGeom>
          <a:ln w="23845">
            <a:solidFill>
              <a:srgbClr val="0B3577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 rot="5400000">
            <a:off x="12207384" y="5484477"/>
            <a:ext cx="292300" cy="8692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Iterative</a:t>
            </a:r>
          </a:p>
        </p:txBody>
      </p:sp>
      <p:sp>
        <p:nvSpPr>
          <p:cNvPr id="566" name="Rounded Rectangle 565"/>
          <p:cNvSpPr/>
          <p:nvPr/>
        </p:nvSpPr>
        <p:spPr>
          <a:solidFill>
            <a:srgbClr val="FFFFFF"/>
          </a:solidFill>
          <a:xfrm>
            <a:off x="12653527" y="4546039"/>
            <a:ext cx="1623036" cy="946130"/>
          </a:xfrm>
          <a:prstGeom prst="roundRect">
            <a:avLst>
              <a:gd name="adj" fmla="val 10569"/>
            </a:avLst>
          </a:prstGeom>
          <a:ln w="15384">
            <a:solidFill>
              <a:srgbClr val="7D7D7D"/>
            </a:solidFill>
          </a:ln>
          <a:effectLst>
            <a:outerShdw blurRad="30768" dist="23076" dir="2700000" algn="ctr" rotWithShape="0">
              <a:srgbClr val="77777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 rot="5400000">
            <a:off x="12676603" y="4676805"/>
            <a:ext cx="261532" cy="6999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Iter.1</a:t>
            </a:r>
          </a:p>
        </p:txBody>
      </p:sp>
      <p:sp>
        <p:nvSpPr>
          <p:cNvPr id="568" name="Rounded Rectangle 567"/>
          <p:cNvSpPr/>
          <p:nvPr/>
        </p:nvSpPr>
        <p:spPr>
          <a:solidFill>
            <a:srgbClr val="FFFFFF"/>
          </a:solidFill>
          <a:xfrm>
            <a:off x="12999672" y="4622960"/>
            <a:ext cx="553832" cy="184611"/>
          </a:xfrm>
          <a:prstGeom prst="roundRect">
            <a:avLst>
              <a:gd name="adj" fmla="val 20833"/>
            </a:avLst>
          </a:prstGeom>
          <a:ln w="1230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TextBox 568"/>
          <p:cNvSpPr txBox="1"/>
          <p:nvPr/>
        </p:nvSpPr>
        <p:spPr>
          <a:xfrm>
            <a:off x="13015056" y="4622960"/>
            <a:ext cx="523064" cy="18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8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570" name="Rounded Rectangle 569"/>
          <p:cNvSpPr/>
          <p:nvPr/>
        </p:nvSpPr>
        <p:spPr>
          <a:solidFill>
            <a:srgbClr val="DDE7AD"/>
          </a:solidFill>
          <a:xfrm>
            <a:off x="13907341" y="4622960"/>
            <a:ext cx="238456" cy="192303"/>
          </a:xfrm>
          <a:prstGeom prst="roundRect">
            <a:avLst>
              <a:gd name="adj" fmla="val 28000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13907341" y="4622960"/>
            <a:ext cx="238456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0" i="0">
                <a:solidFill>
                  <a:srgbClr val="FFFFFF"/>
                </a:solidFill>
                <a:latin typeface="Liberation Serif"/>
              </a:rPr>
              <a:t>N</a:t>
            </a:r>
          </a:p>
        </p:txBody>
      </p:sp>
      <p:cxnSp>
        <p:nvCxnSpPr>
          <p:cNvPr id="572" name="Connector 571"/>
          <p:cNvCxnSpPr/>
          <p:nvPr/>
        </p:nvCxnSpPr>
        <p:spPr>
          <a:xfrm>
            <a:off x="13161206" y="4807571"/>
            <a:ext cx="0" cy="107690"/>
          </a:xfrm>
          <a:prstGeom prst="line">
            <a:avLst/>
          </a:prstGeom>
          <a:ln w="15384">
            <a:solidFill>
              <a:srgbClr val="7132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13376585" y="4807571"/>
            <a:ext cx="0" cy="107690"/>
          </a:xfrm>
          <a:prstGeom prst="line">
            <a:avLst/>
          </a:prstGeom>
          <a:ln w="15384">
            <a:solidFill>
              <a:srgbClr val="EF0000"/>
            </a:solidFill>
            <a:prstDash val="sysDot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74" name="Rounded Rectangle 573"/>
          <p:cNvSpPr/>
          <p:nvPr/>
        </p:nvSpPr>
        <p:spPr>
          <a:solidFill>
            <a:srgbClr val="FFFFFF"/>
          </a:solidFill>
          <a:xfrm>
            <a:off x="12999672" y="4915261"/>
            <a:ext cx="553832" cy="184611"/>
          </a:xfrm>
          <a:prstGeom prst="roundRect">
            <a:avLst>
              <a:gd name="adj" fmla="val 20833"/>
            </a:avLst>
          </a:prstGeom>
          <a:ln w="1230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TextBox 574"/>
          <p:cNvSpPr txBox="1"/>
          <p:nvPr/>
        </p:nvSpPr>
        <p:spPr>
          <a:xfrm>
            <a:off x="13015056" y="4915261"/>
            <a:ext cx="523064" cy="18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8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576" name="Rounded Rectangle 575"/>
          <p:cNvSpPr/>
          <p:nvPr/>
        </p:nvSpPr>
        <p:spPr>
          <a:solidFill>
            <a:srgbClr val="9ED6D4"/>
          </a:solidFill>
          <a:xfrm>
            <a:off x="13907341" y="4915261"/>
            <a:ext cx="238456" cy="192303"/>
          </a:xfrm>
          <a:prstGeom prst="roundRect">
            <a:avLst>
              <a:gd name="adj" fmla="val 28000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13907341" y="4915261"/>
            <a:ext cx="238456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0" i="0">
                <a:solidFill>
                  <a:srgbClr val="FFFFFF"/>
                </a:solidFill>
                <a:latin typeface="Liberation Serif"/>
              </a:rPr>
              <a:t>B</a:t>
            </a:r>
          </a:p>
        </p:txBody>
      </p:sp>
      <p:cxnSp>
        <p:nvCxnSpPr>
          <p:cNvPr id="578" name="Connector 577"/>
          <p:cNvCxnSpPr/>
          <p:nvPr/>
        </p:nvCxnSpPr>
        <p:spPr>
          <a:xfrm>
            <a:off x="13161206" y="5099871"/>
            <a:ext cx="0" cy="107690"/>
          </a:xfrm>
          <a:prstGeom prst="line">
            <a:avLst/>
          </a:prstGeom>
          <a:ln w="15384">
            <a:solidFill>
              <a:srgbClr val="7132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13376585" y="5099871"/>
            <a:ext cx="0" cy="107690"/>
          </a:xfrm>
          <a:prstGeom prst="line">
            <a:avLst/>
          </a:prstGeom>
          <a:ln w="15384">
            <a:solidFill>
              <a:srgbClr val="EF0000"/>
            </a:solidFill>
            <a:prstDash val="sysDot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80" name="Rounded Rectangle 579"/>
          <p:cNvSpPr/>
          <p:nvPr/>
        </p:nvSpPr>
        <p:spPr>
          <a:solidFill>
            <a:srgbClr val="FFFFFF"/>
          </a:solidFill>
          <a:xfrm>
            <a:off x="12999672" y="5207561"/>
            <a:ext cx="553832" cy="184611"/>
          </a:xfrm>
          <a:prstGeom prst="roundRect">
            <a:avLst>
              <a:gd name="adj" fmla="val 20833"/>
            </a:avLst>
          </a:prstGeom>
          <a:ln w="1230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TextBox 580"/>
          <p:cNvSpPr txBox="1"/>
          <p:nvPr/>
        </p:nvSpPr>
        <p:spPr>
          <a:xfrm>
            <a:off x="13015056" y="5207561"/>
            <a:ext cx="523064" cy="18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8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582" name="Rounded Rectangle 581"/>
          <p:cNvSpPr/>
          <p:nvPr/>
        </p:nvSpPr>
        <p:spPr>
          <a:solidFill>
            <a:srgbClr val="9DB9D5"/>
          </a:solidFill>
          <a:xfrm>
            <a:off x="13907341" y="5207561"/>
            <a:ext cx="238456" cy="192303"/>
          </a:xfrm>
          <a:prstGeom prst="roundRect">
            <a:avLst>
              <a:gd name="adj" fmla="val 28000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13907341" y="5207561"/>
            <a:ext cx="238456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0" i="0">
                <a:solidFill>
                  <a:srgbClr val="FFFFFF"/>
                </a:solidFill>
                <a:latin typeface="Liberation Serif"/>
              </a:rPr>
              <a:t>C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13568888" y="4646037"/>
            <a:ext cx="299992" cy="1615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1" i="0">
                <a:solidFill>
                  <a:srgbClr val="C7D3AA"/>
                </a:solidFill>
                <a:latin typeface="Liberation Serif"/>
              </a:rPr>
              <a:t>≪</a:t>
            </a:r>
          </a:p>
        </p:txBody>
      </p:sp>
      <p:sp>
        <p:nvSpPr>
          <p:cNvPr id="585" name="Rounded Rectangle 584"/>
          <p:cNvSpPr/>
          <p:nvPr/>
        </p:nvSpPr>
        <p:spPr>
          <a:solidFill>
            <a:srgbClr val="FFFFFF"/>
          </a:solidFill>
          <a:xfrm>
            <a:off x="12653527" y="5561398"/>
            <a:ext cx="1623036" cy="261532"/>
          </a:xfrm>
          <a:prstGeom prst="roundRect">
            <a:avLst>
              <a:gd name="adj" fmla="val 23529"/>
            </a:avLst>
          </a:prstGeom>
          <a:ln w="12307">
            <a:solidFill>
              <a:srgbClr val="999999"/>
            </a:solidFill>
          </a:ln>
          <a:effectLst>
            <a:outerShdw blurRad="30768" dist="23076" dir="2700000" algn="ctr" rotWithShape="0">
              <a:srgbClr val="77777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12684295" y="5569090"/>
            <a:ext cx="1561499" cy="2307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Iter.2</a:t>
            </a:r>
          </a:p>
        </p:txBody>
      </p:sp>
      <p:sp>
        <p:nvSpPr>
          <p:cNvPr id="587" name="Rounded Rectangle 586"/>
          <p:cNvSpPr/>
          <p:nvPr/>
        </p:nvSpPr>
        <p:spPr>
          <a:solidFill>
            <a:srgbClr val="FFFFFF"/>
          </a:solidFill>
          <a:xfrm>
            <a:off x="12653527" y="5892159"/>
            <a:ext cx="1623036" cy="261532"/>
          </a:xfrm>
          <a:prstGeom prst="roundRect">
            <a:avLst>
              <a:gd name="adj" fmla="val 23529"/>
            </a:avLst>
          </a:prstGeom>
          <a:ln w="12307">
            <a:solidFill>
              <a:srgbClr val="999999"/>
            </a:solidFill>
          </a:ln>
          <a:effectLst>
            <a:outerShdw blurRad="30768" dist="23076" dir="2700000" algn="ctr" rotWithShape="0">
              <a:srgbClr val="777777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12684295" y="5899851"/>
            <a:ext cx="1561499" cy="2307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Iter.3</a:t>
            </a:r>
          </a:p>
        </p:txBody>
      </p:sp>
      <p:sp>
        <p:nvSpPr>
          <p:cNvPr id="589" name="Rounded Rectangle 588"/>
          <p:cNvSpPr/>
          <p:nvPr/>
        </p:nvSpPr>
        <p:spPr>
          <a:solidFill>
            <a:srgbClr val="FFFFFF"/>
          </a:solidFill>
          <a:xfrm>
            <a:off x="12653527" y="6199844"/>
            <a:ext cx="1623036" cy="946130"/>
          </a:xfrm>
          <a:prstGeom prst="roundRect">
            <a:avLst>
              <a:gd name="adj" fmla="val 10569"/>
            </a:avLst>
          </a:prstGeom>
          <a:ln w="15384">
            <a:solidFill>
              <a:srgbClr val="7D7D7D"/>
            </a:solidFill>
          </a:ln>
          <a:effectLst>
            <a:outerShdw blurRad="30768" dist="23076" dir="2700000" algn="ctr" rotWithShape="0">
              <a:srgbClr val="77777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 rot="5400000">
            <a:off x="12676603" y="6330609"/>
            <a:ext cx="261532" cy="6999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Iter.n</a:t>
            </a:r>
          </a:p>
        </p:txBody>
      </p:sp>
      <p:sp>
        <p:nvSpPr>
          <p:cNvPr id="591" name="Rounded Rectangle 590"/>
          <p:cNvSpPr/>
          <p:nvPr/>
        </p:nvSpPr>
        <p:spPr>
          <a:solidFill>
            <a:srgbClr val="FFFFFF"/>
          </a:solidFill>
          <a:xfrm>
            <a:off x="12999672" y="6276765"/>
            <a:ext cx="553832" cy="184611"/>
          </a:xfrm>
          <a:prstGeom prst="roundRect">
            <a:avLst>
              <a:gd name="adj" fmla="val 20833"/>
            </a:avLst>
          </a:prstGeom>
          <a:ln w="1230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13015056" y="6276765"/>
            <a:ext cx="523064" cy="18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8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593" name="Rounded Rectangle 592"/>
          <p:cNvSpPr/>
          <p:nvPr/>
        </p:nvSpPr>
        <p:spPr>
          <a:solidFill>
            <a:srgbClr val="DDE7AD"/>
          </a:solidFill>
          <a:xfrm>
            <a:off x="13907341" y="6276765"/>
            <a:ext cx="238456" cy="192303"/>
          </a:xfrm>
          <a:prstGeom prst="roundRect">
            <a:avLst>
              <a:gd name="adj" fmla="val 28000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13907341" y="6276765"/>
            <a:ext cx="238456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0" i="0">
                <a:solidFill>
                  <a:srgbClr val="FFFFFF"/>
                </a:solidFill>
                <a:latin typeface="Liberation Serif"/>
              </a:rPr>
              <a:t>N</a:t>
            </a:r>
          </a:p>
        </p:txBody>
      </p:sp>
      <p:cxnSp>
        <p:nvCxnSpPr>
          <p:cNvPr id="595" name="Connector 594"/>
          <p:cNvCxnSpPr/>
          <p:nvPr/>
        </p:nvCxnSpPr>
        <p:spPr>
          <a:xfrm>
            <a:off x="13161206" y="6461375"/>
            <a:ext cx="0" cy="107690"/>
          </a:xfrm>
          <a:prstGeom prst="line">
            <a:avLst/>
          </a:prstGeom>
          <a:ln w="15384">
            <a:solidFill>
              <a:srgbClr val="7132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13376585" y="6461375"/>
            <a:ext cx="0" cy="107690"/>
          </a:xfrm>
          <a:prstGeom prst="line">
            <a:avLst/>
          </a:prstGeom>
          <a:ln w="15384">
            <a:solidFill>
              <a:srgbClr val="EF0000"/>
            </a:solidFill>
            <a:prstDash val="sysDot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597" name="Rounded Rectangle 596"/>
          <p:cNvSpPr/>
          <p:nvPr/>
        </p:nvSpPr>
        <p:spPr>
          <a:solidFill>
            <a:srgbClr val="FFFFFF"/>
          </a:solidFill>
          <a:xfrm>
            <a:off x="12999672" y="6569065"/>
            <a:ext cx="553832" cy="184611"/>
          </a:xfrm>
          <a:prstGeom prst="roundRect">
            <a:avLst>
              <a:gd name="adj" fmla="val 20833"/>
            </a:avLst>
          </a:prstGeom>
          <a:ln w="1230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13015056" y="6569065"/>
            <a:ext cx="523064" cy="18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8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599" name="Rounded Rectangle 598"/>
          <p:cNvSpPr/>
          <p:nvPr/>
        </p:nvSpPr>
        <p:spPr>
          <a:solidFill>
            <a:srgbClr val="9ED6D4"/>
          </a:solidFill>
          <a:xfrm>
            <a:off x="13907341" y="6569065"/>
            <a:ext cx="238456" cy="192303"/>
          </a:xfrm>
          <a:prstGeom prst="roundRect">
            <a:avLst>
              <a:gd name="adj" fmla="val 28000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13907341" y="6569065"/>
            <a:ext cx="238456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0" i="0">
                <a:solidFill>
                  <a:srgbClr val="FFFFFF"/>
                </a:solidFill>
                <a:latin typeface="Liberation Serif"/>
              </a:rPr>
              <a:t>B</a:t>
            </a:r>
          </a:p>
        </p:txBody>
      </p:sp>
      <p:cxnSp>
        <p:nvCxnSpPr>
          <p:cNvPr id="601" name="Connector 600"/>
          <p:cNvCxnSpPr/>
          <p:nvPr/>
        </p:nvCxnSpPr>
        <p:spPr>
          <a:xfrm>
            <a:off x="13161206" y="6753676"/>
            <a:ext cx="0" cy="107689"/>
          </a:xfrm>
          <a:prstGeom prst="line">
            <a:avLst/>
          </a:prstGeom>
          <a:ln w="15384">
            <a:solidFill>
              <a:srgbClr val="7132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13376585" y="6753676"/>
            <a:ext cx="0" cy="107689"/>
          </a:xfrm>
          <a:prstGeom prst="line">
            <a:avLst/>
          </a:prstGeom>
          <a:ln w="15384">
            <a:solidFill>
              <a:srgbClr val="EF0000"/>
            </a:solidFill>
            <a:prstDash val="sysDot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solidFill>
            <a:srgbClr val="FFFFFF"/>
          </a:solidFill>
          <a:xfrm>
            <a:off x="12999672" y="6861365"/>
            <a:ext cx="553832" cy="184611"/>
          </a:xfrm>
          <a:prstGeom prst="roundRect">
            <a:avLst>
              <a:gd name="adj" fmla="val 20833"/>
            </a:avLst>
          </a:prstGeom>
          <a:ln w="1230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13015056" y="6861365"/>
            <a:ext cx="523064" cy="184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8" b="0" i="1">
                <a:solidFill>
                  <a:srgbClr val="000000"/>
                </a:solidFill>
                <a:latin typeface="Liberation Serif"/>
              </a:rPr>
              <a:t>Nθ</a:t>
            </a:r>
          </a:p>
        </p:txBody>
      </p:sp>
      <p:sp>
        <p:nvSpPr>
          <p:cNvPr id="605" name="Rounded Rectangle 604"/>
          <p:cNvSpPr/>
          <p:nvPr/>
        </p:nvSpPr>
        <p:spPr>
          <a:solidFill>
            <a:srgbClr val="9DB9D5"/>
          </a:solidFill>
          <a:xfrm>
            <a:off x="13907341" y="6861365"/>
            <a:ext cx="238456" cy="192303"/>
          </a:xfrm>
          <a:prstGeom prst="roundRect">
            <a:avLst>
              <a:gd name="adj" fmla="val 28000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13907341" y="6861365"/>
            <a:ext cx="238456" cy="192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0" i="0">
                <a:solidFill>
                  <a:srgbClr val="FFFFFF"/>
                </a:solidFill>
                <a:latin typeface="Liberation Serif"/>
              </a:rPr>
              <a:t>C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13638117" y="6869057"/>
            <a:ext cx="299992" cy="1615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1" i="0">
                <a:solidFill>
                  <a:srgbClr val="C7D3AA"/>
                </a:solidFill>
                <a:latin typeface="Liberation Serif"/>
              </a:rPr>
              <a:t>≪</a:t>
            </a:r>
          </a:p>
        </p:txBody>
      </p:sp>
      <p:cxnSp>
        <p:nvCxnSpPr>
          <p:cNvPr id="608" name="Connector 607"/>
          <p:cNvCxnSpPr/>
          <p:nvPr/>
        </p:nvCxnSpPr>
        <p:spPr>
          <a:xfrm>
            <a:off x="14268871" y="4946029"/>
            <a:ext cx="176918" cy="0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14445789" y="4946029"/>
            <a:ext cx="0" cy="130766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H="1">
            <a:off x="14315023" y="5076795"/>
            <a:ext cx="130766" cy="0"/>
          </a:xfrm>
          <a:prstGeom prst="line">
            <a:avLst/>
          </a:prstGeom>
          <a:ln w="18461">
            <a:solidFill>
              <a:srgbClr val="F3B3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14268871" y="5699856"/>
            <a:ext cx="176918" cy="0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14445789" y="5699856"/>
            <a:ext cx="0" cy="130766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>
            <a:off x="14315023" y="5830622"/>
            <a:ext cx="130766" cy="0"/>
          </a:xfrm>
          <a:prstGeom prst="line">
            <a:avLst/>
          </a:prstGeom>
          <a:ln w="18461">
            <a:solidFill>
              <a:srgbClr val="F3B3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14268871" y="6030617"/>
            <a:ext cx="176918" cy="0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14445789" y="6030617"/>
            <a:ext cx="0" cy="130766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14315023" y="6161383"/>
            <a:ext cx="130766" cy="0"/>
          </a:xfrm>
          <a:prstGeom prst="line">
            <a:avLst/>
          </a:prstGeom>
          <a:ln w="18461">
            <a:solidFill>
              <a:srgbClr val="F3B3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268871" y="6584449"/>
            <a:ext cx="176918" cy="0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445789" y="6584449"/>
            <a:ext cx="0" cy="130766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H="1">
            <a:off x="14315023" y="6715215"/>
            <a:ext cx="130766" cy="0"/>
          </a:xfrm>
          <a:prstGeom prst="line">
            <a:avLst/>
          </a:prstGeom>
          <a:ln w="18461">
            <a:solidFill>
              <a:srgbClr val="F3B3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4268871" y="6976747"/>
            <a:ext cx="176918" cy="0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4445789" y="6976747"/>
            <a:ext cx="0" cy="130766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H="1">
            <a:off x="14315023" y="7107513"/>
            <a:ext cx="130766" cy="0"/>
          </a:xfrm>
          <a:prstGeom prst="line">
            <a:avLst/>
          </a:prstGeom>
          <a:ln w="18461">
            <a:solidFill>
              <a:srgbClr val="F3B3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623" name="TextBox 622"/>
          <p:cNvSpPr txBox="1"/>
          <p:nvPr/>
        </p:nvSpPr>
        <p:spPr>
          <a:xfrm rot="16200000">
            <a:off x="14299639" y="5038334"/>
            <a:ext cx="269224" cy="46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000000"/>
                </a:solidFill>
                <a:latin typeface="Liberation Serif"/>
              </a:rPr>
              <a:t>Update</a:t>
            </a:r>
          </a:p>
        </p:txBody>
      </p:sp>
      <p:sp>
        <p:nvSpPr>
          <p:cNvPr id="624" name="TextBox 623"/>
          <p:cNvSpPr txBox="1"/>
          <p:nvPr/>
        </p:nvSpPr>
        <p:spPr>
          <a:xfrm rot="16200000">
            <a:off x="14299639" y="6622910"/>
            <a:ext cx="269224" cy="46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000000"/>
                </a:solidFill>
                <a:latin typeface="Liberation Serif"/>
              </a:rPr>
              <a:t>Update</a:t>
            </a:r>
          </a:p>
        </p:txBody>
      </p:sp>
      <p:sp>
        <p:nvSpPr>
          <p:cNvPr id="625" name="Rounded Rectangle 624"/>
          <p:cNvSpPr/>
          <p:nvPr/>
        </p:nvSpPr>
        <p:spPr>
          <a:solidFill>
            <a:srgbClr val="FFFFFF"/>
          </a:solidFill>
          <a:xfrm>
            <a:off x="61537" y="7622885"/>
            <a:ext cx="14522710" cy="415374"/>
          </a:xfrm>
          <a:prstGeom prst="roundRect">
            <a:avLst>
              <a:gd name="adj" fmla="val 27777"/>
            </a:avLst>
          </a:prstGeom>
          <a:ln w="18461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ounded Rectangle 625"/>
          <p:cNvSpPr/>
          <p:nvPr/>
        </p:nvSpPr>
        <p:spPr>
          <a:solidFill>
            <a:srgbClr val="F4C2C2"/>
          </a:solidFill>
          <a:xfrm>
            <a:off x="207687" y="7684421"/>
            <a:ext cx="353837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07687" y="7684421"/>
            <a:ext cx="353837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S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607677" y="7699806"/>
            <a:ext cx="1361504" cy="292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Single Degraded</a:t>
            </a:r>
          </a:p>
        </p:txBody>
      </p:sp>
      <p:sp>
        <p:nvSpPr>
          <p:cNvPr id="629" name="Rounded Rectangle 628"/>
          <p:cNvSpPr/>
          <p:nvPr/>
        </p:nvSpPr>
        <p:spPr>
          <a:solidFill>
            <a:srgbClr val="F4D19A"/>
          </a:solidFill>
          <a:xfrm>
            <a:off x="2030718" y="7684421"/>
            <a:ext cx="353837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2030718" y="7684421"/>
            <a:ext cx="353837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H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2430708" y="7699806"/>
            <a:ext cx="1392273" cy="292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Hybrid Degraded</a:t>
            </a:r>
          </a:p>
        </p:txBody>
      </p:sp>
      <p:sp>
        <p:nvSpPr>
          <p:cNvPr id="632" name="Rounded Rectangle 631"/>
          <p:cNvSpPr/>
          <p:nvPr/>
        </p:nvSpPr>
        <p:spPr>
          <a:solidFill>
            <a:srgbClr val="DDE7AD"/>
          </a:solidFill>
          <a:xfrm>
            <a:off x="3884517" y="7684421"/>
            <a:ext cx="353837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3884517" y="7684421"/>
            <a:ext cx="353837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N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4284507" y="7699806"/>
            <a:ext cx="653830" cy="292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Noise</a:t>
            </a:r>
          </a:p>
        </p:txBody>
      </p:sp>
      <p:sp>
        <p:nvSpPr>
          <p:cNvPr id="635" name="Rounded Rectangle 634"/>
          <p:cNvSpPr/>
          <p:nvPr/>
        </p:nvSpPr>
        <p:spPr>
          <a:solidFill>
            <a:srgbClr val="9ED6D4"/>
          </a:solidFill>
          <a:xfrm>
            <a:off x="4999874" y="7684421"/>
            <a:ext cx="353837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4999874" y="7684421"/>
            <a:ext cx="353837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B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5399864" y="7699806"/>
            <a:ext cx="561524" cy="292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Blur</a:t>
            </a:r>
          </a:p>
        </p:txBody>
      </p:sp>
      <p:sp>
        <p:nvSpPr>
          <p:cNvPr id="638" name="Rounded Rectangle 637"/>
          <p:cNvSpPr/>
          <p:nvPr/>
        </p:nvSpPr>
        <p:spPr>
          <a:solidFill>
            <a:srgbClr val="9DB9D5"/>
          </a:solidFill>
          <a:xfrm>
            <a:off x="6022925" y="7684421"/>
            <a:ext cx="353837" cy="323069"/>
          </a:xfrm>
          <a:prstGeom prst="roundRect">
            <a:avLst>
              <a:gd name="adj" fmla="val 16666"/>
            </a:avLst>
          </a:prstGeom>
          <a:ln w="15384">
            <a:solidFill>
              <a:srgbClr val="1F4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none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TextBox 638"/>
          <p:cNvSpPr txBox="1"/>
          <p:nvPr/>
        </p:nvSpPr>
        <p:spPr>
          <a:xfrm>
            <a:off x="6022925" y="7684421"/>
            <a:ext cx="353837" cy="323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5" b="0" i="0">
                <a:solidFill>
                  <a:srgbClr val="FFFFFF"/>
                </a:solidFill>
                <a:latin typeface="Liberation Serif"/>
              </a:rPr>
              <a:t>C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6422915" y="7699806"/>
            <a:ext cx="761519" cy="292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Contrast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7192126" y="7692114"/>
            <a:ext cx="415374" cy="29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385896"/>
                </a:solidFill>
                <a:latin typeface="Liberation Serif"/>
              </a:rPr>
              <a:t>DSP: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7638269" y="7692114"/>
            <a:ext cx="1999950" cy="29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Degradation-specific Prompts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9645910" y="7692114"/>
            <a:ext cx="307685" cy="29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1" i="0">
                <a:solidFill>
                  <a:srgbClr val="385896"/>
                </a:solidFill>
                <a:latin typeface="Liberation Serif"/>
              </a:rPr>
              <a:t>TP: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9976671" y="7692114"/>
            <a:ext cx="961514" cy="29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Type Prompt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10938185" y="7845956"/>
            <a:ext cx="323069" cy="0"/>
          </a:xfrm>
          <a:prstGeom prst="line">
            <a:avLst/>
          </a:prstGeom>
          <a:ln w="23076">
            <a:solidFill>
              <a:srgbClr val="6D2AA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11315099" y="7692114"/>
            <a:ext cx="253840" cy="29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FP</a:t>
            </a:r>
          </a:p>
        </p:txBody>
      </p:sp>
      <p:cxnSp>
        <p:nvCxnSpPr>
          <p:cNvPr id="647" name="Connector 646"/>
          <p:cNvCxnSpPr/>
          <p:nvPr/>
        </p:nvCxnSpPr>
        <p:spPr>
          <a:xfrm>
            <a:off x="11668936" y="7845956"/>
            <a:ext cx="323069" cy="0"/>
          </a:xfrm>
          <a:prstGeom prst="line">
            <a:avLst/>
          </a:prstGeom>
          <a:ln w="23076">
            <a:solidFill>
              <a:srgbClr val="EF0000"/>
            </a:solidFill>
            <a:prstDash val="sysDot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648" name="TextBox 647"/>
          <p:cNvSpPr txBox="1"/>
          <p:nvPr/>
        </p:nvSpPr>
        <p:spPr>
          <a:xfrm>
            <a:off x="12045850" y="7692114"/>
            <a:ext cx="253840" cy="29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BP</a:t>
            </a:r>
          </a:p>
        </p:txBody>
      </p:sp>
      <p:cxnSp>
        <p:nvCxnSpPr>
          <p:cNvPr id="649" name="Connector 648"/>
          <p:cNvCxnSpPr/>
          <p:nvPr/>
        </p:nvCxnSpPr>
        <p:spPr>
          <a:xfrm>
            <a:off x="12368919" y="7753650"/>
            <a:ext cx="176918" cy="0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2545837" y="7753650"/>
            <a:ext cx="0" cy="130766"/>
          </a:xfrm>
          <a:prstGeom prst="line">
            <a:avLst/>
          </a:prstGeom>
          <a:ln w="18461">
            <a:solidFill>
              <a:srgbClr val="F3B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H="1">
            <a:off x="12415071" y="7884416"/>
            <a:ext cx="130766" cy="0"/>
          </a:xfrm>
          <a:prstGeom prst="line">
            <a:avLst/>
          </a:prstGeom>
          <a:ln w="18461">
            <a:solidFill>
              <a:srgbClr val="F3B3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none"/>
          </a:effectRef>
          <a:fontRef idx="minor">
            <a:schemeClr val="tx1"/>
          </a:fontRef>
        </p:style>
      </p:cxnSp>
      <p:sp>
        <p:nvSpPr>
          <p:cNvPr id="652" name="TextBox 651"/>
          <p:cNvSpPr txBox="1"/>
          <p:nvPr/>
        </p:nvSpPr>
        <p:spPr>
          <a:xfrm>
            <a:off x="12615066" y="7692114"/>
            <a:ext cx="1369196" cy="29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9" b="1" i="0">
                <a:solidFill>
                  <a:srgbClr val="000000"/>
                </a:solidFill>
                <a:latin typeface="Liberation Serif"/>
              </a:rPr>
              <a:t>Parameter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Enhancing Infrared Vision Progressive Prompt Fusion Network and Benchmark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80382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