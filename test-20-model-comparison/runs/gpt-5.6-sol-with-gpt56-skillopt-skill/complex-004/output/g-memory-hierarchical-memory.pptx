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27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779" y="125622"/>
            <a:ext cx="12009542" cy="6727102"/>
          </a:xfrm>
          <a:prstGeom prst="rect">
            <a:avLst/>
          </a:prstGeom>
          <a:solidFill>
            <a:srgbClr val="FFFFFF"/>
          </a:solidFill>
          <a:ln w="12562">
            <a:solidFill>
              <a:srgbClr val="77777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6370" y="314057"/>
            <a:ext cx="2179556" cy="1708470"/>
          </a:xfrm>
          <a:prstGeom prst="rect">
            <a:avLst/>
          </a:prstGeom>
          <a:solidFill>
            <a:srgbClr val="F7F7F7">
              <a:alpha val="34000"/>
            </a:srgbClr>
          </a:solidFill>
          <a:ln w="1256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2900" y="364306"/>
            <a:ext cx="2179556" cy="1708470"/>
          </a:xfrm>
          <a:prstGeom prst="rect">
            <a:avLst/>
          </a:prstGeom>
          <a:solidFill>
            <a:srgbClr val="F7F7F7">
              <a:alpha val="34000"/>
            </a:srgbClr>
          </a:solidFill>
          <a:ln w="1256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839" y="257526"/>
            <a:ext cx="2179556" cy="1708470"/>
          </a:xfrm>
          <a:prstGeom prst="rect">
            <a:avLst/>
          </a:prstGeom>
          <a:solidFill>
            <a:srgbClr val="F7F7F7">
              <a:alpha val="86000"/>
            </a:srgbClr>
          </a:solidFill>
          <a:ln w="13818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5213" y="2267491"/>
            <a:ext cx="2179556" cy="4384236"/>
          </a:xfrm>
          <a:prstGeom prst="rect">
            <a:avLst/>
          </a:prstGeom>
          <a:solidFill>
            <a:srgbClr val="F8F8F8">
              <a:alpha val="34000"/>
            </a:srgbClr>
          </a:solidFill>
          <a:ln w="1256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1743" y="2317741"/>
            <a:ext cx="2179556" cy="4384236"/>
          </a:xfrm>
          <a:prstGeom prst="rect">
            <a:avLst/>
          </a:prstGeom>
          <a:solidFill>
            <a:srgbClr val="F8F8F8">
              <a:alpha val="34000"/>
            </a:srgbClr>
          </a:solidFill>
          <a:ln w="1256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683" y="2210961"/>
            <a:ext cx="2179556" cy="4384236"/>
          </a:xfrm>
          <a:prstGeom prst="rect">
            <a:avLst/>
          </a:prstGeom>
          <a:solidFill>
            <a:srgbClr val="F8F8F8">
              <a:alpha val="86000"/>
            </a:srgbClr>
          </a:solidFill>
          <a:ln w="13818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73863" y="445961"/>
            <a:ext cx="3530001" cy="1501192"/>
          </a:xfrm>
          <a:prstGeom prst="rect">
            <a:avLst/>
          </a:prstGeom>
          <a:solidFill>
            <a:srgbClr val="DDEFD9">
              <a:alpha val="34000"/>
            </a:srgbClr>
          </a:solidFill>
          <a:ln w="12562">
            <a:solidFill>
              <a:srgbClr val="6F8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36675" y="502491"/>
            <a:ext cx="3530001" cy="1501192"/>
          </a:xfrm>
          <a:prstGeom prst="rect">
            <a:avLst/>
          </a:prstGeom>
          <a:solidFill>
            <a:srgbClr val="DDEFD9">
              <a:alpha val="34000"/>
            </a:srgbClr>
          </a:solidFill>
          <a:ln w="12562">
            <a:solidFill>
              <a:srgbClr val="6F8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11052" y="389430"/>
            <a:ext cx="3530001" cy="1501192"/>
          </a:xfrm>
          <a:prstGeom prst="rect">
            <a:avLst/>
          </a:prstGeom>
          <a:solidFill>
            <a:srgbClr val="DDEFD9">
              <a:alpha val="86000"/>
            </a:srgbClr>
          </a:solidFill>
          <a:ln w="13818">
            <a:solidFill>
              <a:srgbClr val="6F8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1301" y="2242367"/>
            <a:ext cx="1783844" cy="2104182"/>
          </a:xfrm>
          <a:prstGeom prst="rect">
            <a:avLst/>
          </a:prstGeom>
          <a:solidFill>
            <a:srgbClr val="DCEB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1924" y="2242367"/>
            <a:ext cx="1714751" cy="2104182"/>
          </a:xfrm>
          <a:prstGeom prst="rect">
            <a:avLst/>
          </a:prstGeom>
          <a:solidFill>
            <a:srgbClr val="DCEB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73863" y="4735980"/>
            <a:ext cx="3567688" cy="1922029"/>
          </a:xfrm>
          <a:prstGeom prst="rect">
            <a:avLst/>
          </a:prstGeom>
          <a:solidFill>
            <a:srgbClr val="F2DFF0">
              <a:alpha val="34000"/>
            </a:srgbClr>
          </a:solidFill>
          <a:ln w="12562">
            <a:solidFill>
              <a:srgbClr val="C48D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6675" y="4792510"/>
            <a:ext cx="3567688" cy="1922029"/>
          </a:xfrm>
          <a:prstGeom prst="rect">
            <a:avLst/>
          </a:prstGeom>
          <a:solidFill>
            <a:srgbClr val="F2DFF0">
              <a:alpha val="34000"/>
            </a:srgbClr>
          </a:solidFill>
          <a:ln w="12562">
            <a:solidFill>
              <a:srgbClr val="C48D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1052" y="4679450"/>
            <a:ext cx="3567688" cy="1922029"/>
          </a:xfrm>
          <a:prstGeom prst="rect">
            <a:avLst/>
          </a:prstGeom>
          <a:solidFill>
            <a:srgbClr val="F2DFF0">
              <a:alpha val="86000"/>
            </a:srgbClr>
          </a:solidFill>
          <a:ln w="13818">
            <a:solidFill>
              <a:srgbClr val="C48D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333987" y="1306477"/>
            <a:ext cx="1231104" cy="1940873"/>
          </a:xfrm>
          <a:custGeom>
            <a:avLst/>
            <a:gdLst/>
            <a:ahLst/>
            <a:cxnLst/>
            <a:rect l="l" t="t" r="r" b="b"/>
            <a:pathLst>
              <a:path w="1231104" h="1940873">
                <a:moveTo>
                  <a:pt x="0" y="219840"/>
                </a:moveTo>
                <a:lnTo>
                  <a:pt x="1231104" y="0"/>
                </a:lnTo>
                <a:lnTo>
                  <a:pt x="709769" y="1940873"/>
                </a:lnTo>
                <a:lnTo>
                  <a:pt x="238683" y="1940873"/>
                </a:lnTo>
                <a:close/>
              </a:path>
            </a:pathLst>
          </a:custGeom>
          <a:solidFill>
            <a:srgbClr val="CFE6D5">
              <a:alpha val="38000"/>
            </a:srgbClr>
          </a:solidFill>
          <a:ln w="18843">
            <a:solidFill>
              <a:srgbClr val="777777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894307" y="3530001"/>
            <a:ext cx="1746157" cy="1293915"/>
          </a:xfrm>
          <a:custGeom>
            <a:avLst/>
            <a:gdLst/>
            <a:ahLst/>
            <a:cxnLst/>
            <a:rect l="l" t="t" r="r" b="b"/>
            <a:pathLst>
              <a:path w="1746157" h="1293915">
                <a:moveTo>
                  <a:pt x="521335" y="401993"/>
                </a:moveTo>
                <a:lnTo>
                  <a:pt x="1055232" y="0"/>
                </a:lnTo>
                <a:lnTo>
                  <a:pt x="1746157" y="1293915"/>
                </a:lnTo>
                <a:lnTo>
                  <a:pt x="0" y="1293915"/>
                </a:lnTo>
                <a:close/>
              </a:path>
            </a:pathLst>
          </a:custGeom>
          <a:solidFill>
            <a:srgbClr val="EDF0F3">
              <a:alpha val="34000"/>
            </a:srgbClr>
          </a:solidFill>
          <a:ln w="18843">
            <a:solidFill>
              <a:srgbClr val="66666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850339" y="4955820"/>
            <a:ext cx="2430802" cy="1765001"/>
          </a:xfrm>
          <a:custGeom>
            <a:avLst/>
            <a:gdLst/>
            <a:ahLst/>
            <a:cxnLst/>
            <a:rect l="l" t="t" r="r" b="b"/>
            <a:pathLst>
              <a:path w="2430802" h="1765001">
                <a:moveTo>
                  <a:pt x="565303" y="452242"/>
                </a:moveTo>
                <a:lnTo>
                  <a:pt x="1425819" y="452242"/>
                </a:lnTo>
                <a:lnTo>
                  <a:pt x="2430802" y="0"/>
                </a:lnTo>
                <a:lnTo>
                  <a:pt x="2430802" y="1419538"/>
                </a:lnTo>
                <a:lnTo>
                  <a:pt x="0" y="1765001"/>
                </a:lnTo>
                <a:close/>
              </a:path>
            </a:pathLst>
          </a:custGeom>
          <a:solidFill>
            <a:srgbClr val="EEE7EF">
              <a:alpha val="24000"/>
            </a:srgbClr>
          </a:solidFill>
          <a:ln w="18843">
            <a:solidFill>
              <a:srgbClr val="777777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46534" y="1695908"/>
            <a:ext cx="527615" cy="3360410"/>
          </a:xfrm>
          <a:prstGeom prst="roundRect">
            <a:avLst/>
          </a:prstGeom>
          <a:solidFill>
            <a:srgbClr val="F8BEBE">
              <a:alpha val="22000"/>
            </a:srgbClr>
          </a:solidFill>
          <a:ln w="12562">
            <a:solidFill>
              <a:srgbClr val="CC6A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112637" y="3442065"/>
            <a:ext cx="1633097" cy="1626816"/>
          </a:xfrm>
          <a:custGeom>
            <a:avLst/>
            <a:gdLst/>
            <a:ahLst/>
            <a:cxnLst/>
            <a:rect l="l" t="t" r="r" b="b"/>
            <a:pathLst>
              <a:path w="1633097" h="1626816">
                <a:moveTo>
                  <a:pt x="797705" y="0"/>
                </a:moveTo>
                <a:lnTo>
                  <a:pt x="0" y="1626816"/>
                </a:lnTo>
                <a:lnTo>
                  <a:pt x="1633097" y="1626816"/>
                </a:lnTo>
                <a:close/>
              </a:path>
            </a:pathLst>
          </a:custGeom>
          <a:solidFill>
            <a:srgbClr val="F8BEBE">
              <a:alpha val="28000"/>
            </a:srgbClr>
          </a:solidFill>
          <a:ln w="18843">
            <a:solidFill>
              <a:srgbClr val="111111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9181" y="378752"/>
            <a:ext cx="169590" cy="214815"/>
          </a:xfrm>
          <a:prstGeom prst="rect">
            <a:avLst/>
          </a:prstGeom>
          <a:solidFill>
            <a:srgbClr val="CDE8EA"/>
          </a:solidFill>
          <a:ln w="12562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3099" y="339181"/>
            <a:ext cx="101754" cy="56530"/>
          </a:xfrm>
          <a:prstGeom prst="roundRect">
            <a:avLst/>
          </a:prstGeom>
          <a:solidFill>
            <a:srgbClr val="E5C85D"/>
          </a:solidFill>
          <a:ln w="9421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7446" y="429630"/>
            <a:ext cx="28265" cy="2826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670" y="440936"/>
            <a:ext cx="67837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67446" y="474854"/>
            <a:ext cx="28265" cy="2826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670" y="486160"/>
            <a:ext cx="67837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67446" y="520078"/>
            <a:ext cx="28265" cy="2826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12670" y="531384"/>
            <a:ext cx="67837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533897" y="358025"/>
            <a:ext cx="43967" cy="238683"/>
          </a:xfrm>
          <a:prstGeom prst="roundRect">
            <a:avLst/>
          </a:prstGeom>
          <a:solidFill>
            <a:srgbClr val="E50000"/>
          </a:solidFill>
          <a:ln w="816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2" y="320338"/>
            <a:ext cx="1476068" cy="2823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1" i="0">
                <a:solidFill>
                  <a:srgbClr val="222222"/>
                </a:solidFill>
                <a:latin typeface="DejaVu Serif"/>
              </a:defRPr>
            </a:pPr>
            <a:r>
              <a:t>Symbols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4057" y="678363"/>
            <a:ext cx="577864" cy="1570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619" y="672082"/>
            <a:ext cx="565302" cy="1570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FFFFFF"/>
                </a:solidFill>
                <a:latin typeface="DejaVu Sans"/>
              </a:defRPr>
            </a:pPr>
            <a:r>
              <a:t>Black font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327" y="678363"/>
            <a:ext cx="1319039" cy="16330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Notations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4057" y="885640"/>
            <a:ext cx="521334" cy="169590"/>
          </a:xfrm>
          <a:prstGeom prst="rect">
            <a:avLst/>
          </a:prstGeom>
          <a:solidFill>
            <a:srgbClr val="E5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619" y="879359"/>
            <a:ext cx="508772" cy="169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FFFFFF"/>
                </a:solidFill>
                <a:latin typeface="DejaVu Sans"/>
              </a:defRPr>
            </a:pPr>
            <a:r>
              <a:t>Red font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516" y="891922"/>
            <a:ext cx="1319039" cy="16330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Operations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6619" y="1187135"/>
            <a:ext cx="502491" cy="0"/>
          </a:xfrm>
          <a:prstGeom prst="line">
            <a:avLst/>
          </a:prstGeom>
          <a:ln w="43967">
            <a:solidFill>
              <a:srgbClr val="E51C23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904484" y="1092918"/>
            <a:ext cx="1319039" cy="18843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Forward Process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26619" y="1356726"/>
            <a:ext cx="502491" cy="25125"/>
          </a:xfrm>
          <a:prstGeom prst="line">
            <a:avLst/>
          </a:prstGeom>
          <a:ln w="31405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904484" y="1275071"/>
            <a:ext cx="1319039" cy="1947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Edges between nodes</a:t>
            </a:r>
          </a:p>
        </p:txBody>
      </p:sp>
      <p:sp>
        <p:nvSpPr>
          <p:cNvPr id="42" name="Oval 41"/>
          <p:cNvSpPr/>
          <p:nvPr/>
        </p:nvSpPr>
        <p:spPr>
          <a:xfrm>
            <a:off x="320338" y="1501192"/>
            <a:ext cx="175871" cy="175871"/>
          </a:xfrm>
          <a:prstGeom prst="ellipse">
            <a:avLst/>
          </a:prstGeom>
          <a:solidFill>
            <a:srgbClr val="75CF70"/>
          </a:solidFill>
          <a:ln w="18843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178" y="1482349"/>
            <a:ext cx="847954" cy="2009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Insight node</a:t>
            </a:r>
          </a:p>
        </p:txBody>
      </p:sp>
      <p:sp>
        <p:nvSpPr>
          <p:cNvPr id="44" name="Oval 43"/>
          <p:cNvSpPr/>
          <p:nvPr/>
        </p:nvSpPr>
        <p:spPr>
          <a:xfrm>
            <a:off x="1375569" y="1501192"/>
            <a:ext cx="175871" cy="175871"/>
          </a:xfrm>
          <a:prstGeom prst="ellipse">
            <a:avLst/>
          </a:prstGeom>
          <a:solidFill>
            <a:srgbClr val="70A9EA"/>
          </a:solidFill>
          <a:ln w="18843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95409" y="1482349"/>
            <a:ext cx="690925" cy="2009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Query node</a:t>
            </a:r>
          </a:p>
        </p:txBody>
      </p:sp>
      <p:sp>
        <p:nvSpPr>
          <p:cNvPr id="46" name="Oval 45"/>
          <p:cNvSpPr/>
          <p:nvPr/>
        </p:nvSpPr>
        <p:spPr>
          <a:xfrm>
            <a:off x="320338" y="1733594"/>
            <a:ext cx="175871" cy="175871"/>
          </a:xfrm>
          <a:prstGeom prst="ellipse">
            <a:avLst/>
          </a:prstGeom>
          <a:solidFill>
            <a:srgbClr val="BC86F2"/>
          </a:solidFill>
          <a:ln w="18843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178" y="1714751"/>
            <a:ext cx="1695908" cy="2009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555555"/>
                </a:solidFill>
                <a:latin typeface="DejaVu Sans"/>
              </a:defRPr>
            </a:pPr>
            <a:r>
              <a:t>: Agent utterance node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491" y="2298897"/>
            <a:ext cx="1695908" cy="28233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1" i="0">
                <a:solidFill>
                  <a:srgbClr val="222222"/>
                </a:solidFill>
                <a:latin typeface="DejaVu Serif"/>
              </a:defRPr>
            </a:pPr>
            <a:r>
              <a:t>Query/Task Q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9021" y="2625517"/>
            <a:ext cx="1714751" cy="1162011"/>
          </a:xfrm>
          <a:prstGeom prst="roundRect">
            <a:avLst/>
          </a:prstGeom>
          <a:solidFill>
            <a:srgbClr val="DDF3F4"/>
          </a:solidFill>
          <a:ln w="13818">
            <a:solidFill>
              <a:srgbClr val="65BA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270" y="2675766"/>
            <a:ext cx="1614253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Topic: Embodied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270" y="2820232"/>
            <a:ext cx="716050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Difficulty:</a:t>
            </a:r>
          </a:p>
        </p:txBody>
      </p:sp>
      <p:sp>
        <p:nvSpPr>
          <p:cNvPr id="52" name="Freeform 51"/>
          <p:cNvSpPr/>
          <p:nvPr/>
        </p:nvSpPr>
        <p:spPr>
          <a:xfrm>
            <a:off x="1375042" y="2829654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1" y="60484"/>
                </a:lnTo>
                <a:lnTo>
                  <a:pt x="82158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500665" y="2829654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7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626288" y="2829654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0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7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751910" y="2829654"/>
            <a:ext cx="101554" cy="96583"/>
          </a:xfrm>
          <a:custGeom>
            <a:avLst/>
            <a:gdLst/>
            <a:ahLst/>
            <a:cxnLst/>
            <a:rect l="l" t="t" r="r" b="b"/>
            <a:pathLst>
              <a:path w="101554" h="96583">
                <a:moveTo>
                  <a:pt x="50777" y="0"/>
                </a:moveTo>
                <a:lnTo>
                  <a:pt x="64271" y="34816"/>
                </a:lnTo>
                <a:lnTo>
                  <a:pt x="101554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877533" y="2829654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676" y="3002385"/>
            <a:ext cx="1551441" cy="7537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You are in the middle of 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room. Looking quickly around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you, you see a cabinet 6, 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cabinet 5, ... Your task is to: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put a clean egg in microwave.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1993" y="3875464"/>
            <a:ext cx="1758719" cy="766299"/>
          </a:xfrm>
          <a:prstGeom prst="roundRect">
            <a:avLst/>
          </a:prstGeom>
          <a:solidFill>
            <a:srgbClr val="EEEAF0"/>
          </a:solidFill>
          <a:ln w="13818">
            <a:solidFill>
              <a:srgbClr val="C7AE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242" y="3925713"/>
            <a:ext cx="1658221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Topic: Web 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2242" y="4070179"/>
            <a:ext cx="716050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Difficulty:</a:t>
            </a:r>
          </a:p>
        </p:txBody>
      </p:sp>
      <p:sp>
        <p:nvSpPr>
          <p:cNvPr id="61" name="Freeform 60"/>
          <p:cNvSpPr/>
          <p:nvPr/>
        </p:nvSpPr>
        <p:spPr>
          <a:xfrm>
            <a:off x="1218013" y="4079601"/>
            <a:ext cx="101554" cy="96583"/>
          </a:xfrm>
          <a:custGeom>
            <a:avLst/>
            <a:gdLst/>
            <a:ahLst/>
            <a:cxnLst/>
            <a:rect l="l" t="t" r="r" b="b"/>
            <a:pathLst>
              <a:path w="101554" h="96583">
                <a:moveTo>
                  <a:pt x="50777" y="0"/>
                </a:moveTo>
                <a:lnTo>
                  <a:pt x="64271" y="34816"/>
                </a:lnTo>
                <a:lnTo>
                  <a:pt x="101554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343636" y="4079601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469259" y="4079601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1" y="60484"/>
                </a:lnTo>
                <a:lnTo>
                  <a:pt x="82158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594882" y="4079601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720505" y="4079601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0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7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3647" y="4252332"/>
            <a:ext cx="1595409" cy="358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Are both Lygodium 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Maxillaria a genus of orchids?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6299" y="4723418"/>
            <a:ext cx="1564004" cy="1023826"/>
          </a:xfrm>
          <a:prstGeom prst="roundRect">
            <a:avLst/>
          </a:prstGeom>
          <a:solidFill>
            <a:srgbClr val="F8EAE7"/>
          </a:solidFill>
          <a:ln w="13818">
            <a:solidFill>
              <a:srgbClr val="D899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6548" y="4773667"/>
            <a:ext cx="1463505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Topic: Embodied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6548" y="4918133"/>
            <a:ext cx="716050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Difficulty:</a:t>
            </a:r>
          </a:p>
        </p:txBody>
      </p:sp>
      <p:sp>
        <p:nvSpPr>
          <p:cNvPr id="70" name="Freeform 69"/>
          <p:cNvSpPr/>
          <p:nvPr/>
        </p:nvSpPr>
        <p:spPr>
          <a:xfrm>
            <a:off x="1582320" y="4927555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0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7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707942" y="4927555"/>
            <a:ext cx="101554" cy="96583"/>
          </a:xfrm>
          <a:custGeom>
            <a:avLst/>
            <a:gdLst/>
            <a:ahLst/>
            <a:cxnLst/>
            <a:rect l="l" t="t" r="r" b="b"/>
            <a:pathLst>
              <a:path w="101554" h="96583">
                <a:moveTo>
                  <a:pt x="50777" y="0"/>
                </a:moveTo>
                <a:lnTo>
                  <a:pt x="64271" y="34816"/>
                </a:lnTo>
                <a:lnTo>
                  <a:pt x="101554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833565" y="4927555"/>
            <a:ext cx="101554" cy="96583"/>
          </a:xfrm>
          <a:custGeom>
            <a:avLst/>
            <a:gdLst/>
            <a:ahLst/>
            <a:cxnLst/>
            <a:rect l="l" t="t" r="r" b="b"/>
            <a:pathLst>
              <a:path w="101554" h="96583">
                <a:moveTo>
                  <a:pt x="50777" y="0"/>
                </a:moveTo>
                <a:lnTo>
                  <a:pt x="64271" y="34816"/>
                </a:lnTo>
                <a:lnTo>
                  <a:pt x="101554" y="36891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959188" y="4927555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1" y="60484"/>
                </a:lnTo>
                <a:lnTo>
                  <a:pt x="82158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3" y="34816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084811" y="4927555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6"/>
                </a:lnTo>
                <a:lnTo>
                  <a:pt x="101553" y="36891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7" y="76347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1"/>
                </a:lnTo>
                <a:lnTo>
                  <a:pt x="37282" y="34816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7954" y="5100286"/>
            <a:ext cx="1400694" cy="6155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Your task is to find 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butterfly egg in the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outside. Move it to the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green box in the bathroom.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51743" y="5816336"/>
            <a:ext cx="1564004" cy="722331"/>
          </a:xfrm>
          <a:prstGeom prst="roundRect">
            <a:avLst/>
          </a:prstGeom>
          <a:solidFill>
            <a:srgbClr val="FFF5DF"/>
          </a:solidFill>
          <a:ln w="13818">
            <a:solidFill>
              <a:srgbClr val="EBC3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1993" y="5866585"/>
            <a:ext cx="1463505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Topic: Game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1993" y="6011052"/>
            <a:ext cx="716050" cy="1444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222222"/>
                </a:solidFill>
                <a:latin typeface="DejaVu Sans Mono"/>
              </a:defRPr>
            </a:pPr>
            <a:r>
              <a:t>Difficulty:</a:t>
            </a:r>
          </a:p>
        </p:txBody>
      </p:sp>
      <p:sp>
        <p:nvSpPr>
          <p:cNvPr id="79" name="Freeform 78"/>
          <p:cNvSpPr/>
          <p:nvPr/>
        </p:nvSpPr>
        <p:spPr>
          <a:xfrm>
            <a:off x="1167764" y="6020473"/>
            <a:ext cx="101554" cy="96583"/>
          </a:xfrm>
          <a:custGeom>
            <a:avLst/>
            <a:gdLst/>
            <a:ahLst/>
            <a:cxnLst/>
            <a:rect l="l" t="t" r="r" b="b"/>
            <a:pathLst>
              <a:path w="101554" h="96583">
                <a:moveTo>
                  <a:pt x="50777" y="0"/>
                </a:moveTo>
                <a:lnTo>
                  <a:pt x="64271" y="34817"/>
                </a:lnTo>
                <a:lnTo>
                  <a:pt x="101554" y="36892"/>
                </a:lnTo>
                <a:lnTo>
                  <a:pt x="72611" y="60484"/>
                </a:lnTo>
                <a:lnTo>
                  <a:pt x="82159" y="96583"/>
                </a:lnTo>
                <a:lnTo>
                  <a:pt x="50777" y="76348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2"/>
                </a:lnTo>
                <a:lnTo>
                  <a:pt x="37283" y="34817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293387" y="6020473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7"/>
                </a:lnTo>
                <a:lnTo>
                  <a:pt x="101553" y="36892"/>
                </a:lnTo>
                <a:lnTo>
                  <a:pt x="72611" y="60484"/>
                </a:lnTo>
                <a:lnTo>
                  <a:pt x="82158" y="96583"/>
                </a:lnTo>
                <a:lnTo>
                  <a:pt x="50777" y="76348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2"/>
                </a:lnTo>
                <a:lnTo>
                  <a:pt x="37283" y="34817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419010" y="6020473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7" y="0"/>
                </a:moveTo>
                <a:lnTo>
                  <a:pt x="64271" y="34817"/>
                </a:lnTo>
                <a:lnTo>
                  <a:pt x="101553" y="36892"/>
                </a:lnTo>
                <a:lnTo>
                  <a:pt x="72611" y="60484"/>
                </a:lnTo>
                <a:lnTo>
                  <a:pt x="82158" y="96583"/>
                </a:lnTo>
                <a:lnTo>
                  <a:pt x="50777" y="76348"/>
                </a:lnTo>
                <a:lnTo>
                  <a:pt x="19395" y="96583"/>
                </a:lnTo>
                <a:lnTo>
                  <a:pt x="28943" y="60484"/>
                </a:lnTo>
                <a:lnTo>
                  <a:pt x="0" y="36892"/>
                </a:lnTo>
                <a:lnTo>
                  <a:pt x="37282" y="34817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544633" y="6020473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1" y="34817"/>
                </a:lnTo>
                <a:lnTo>
                  <a:pt x="101553" y="36892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8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2"/>
                </a:lnTo>
                <a:lnTo>
                  <a:pt x="37282" y="34817"/>
                </a:lnTo>
                <a:close/>
              </a:path>
            </a:pathLst>
          </a:custGeom>
          <a:solidFill>
            <a:srgbClr val="FFC400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670256" y="6020473"/>
            <a:ext cx="101553" cy="96583"/>
          </a:xfrm>
          <a:custGeom>
            <a:avLst/>
            <a:gdLst/>
            <a:ahLst/>
            <a:cxnLst/>
            <a:rect l="l" t="t" r="r" b="b"/>
            <a:pathLst>
              <a:path w="101553" h="96583">
                <a:moveTo>
                  <a:pt x="50776" y="0"/>
                </a:moveTo>
                <a:lnTo>
                  <a:pt x="64270" y="34817"/>
                </a:lnTo>
                <a:lnTo>
                  <a:pt x="101553" y="36892"/>
                </a:lnTo>
                <a:lnTo>
                  <a:pt x="72610" y="60484"/>
                </a:lnTo>
                <a:lnTo>
                  <a:pt x="82158" y="96583"/>
                </a:lnTo>
                <a:lnTo>
                  <a:pt x="50776" y="76348"/>
                </a:lnTo>
                <a:lnTo>
                  <a:pt x="19395" y="96583"/>
                </a:lnTo>
                <a:lnTo>
                  <a:pt x="28942" y="60484"/>
                </a:lnTo>
                <a:lnTo>
                  <a:pt x="0" y="36892"/>
                </a:lnTo>
                <a:lnTo>
                  <a:pt x="37282" y="34817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3398" y="6193205"/>
            <a:ext cx="1400694" cy="3140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b1 is on b2., b2 is on b6.,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101010"/>
                </a:solidFill>
                <a:latin typeface="DejaVu Sans"/>
              </a:defRPr>
            </a:pPr>
            <a:r>
              <a:t>b3 is on b7., b5 is on b3.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13453" y="408274"/>
            <a:ext cx="1381851" cy="27322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006400"/>
                </a:solidFill>
                <a:latin typeface="DejaVu Serif"/>
              </a:defRPr>
            </a:pPr>
            <a:r>
              <a:t>Insight Graph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20730" y="640676"/>
            <a:ext cx="187931" cy="2210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49" b="0" i="1">
                <a:solidFill>
                  <a:srgbClr val="008A20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3388" y="607511"/>
            <a:ext cx="265315" cy="994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52" b="0" i="1">
                <a:solidFill>
                  <a:srgbClr val="008A20"/>
                </a:solidFill>
                <a:latin typeface="DejaVu Serif"/>
              </a:defRPr>
            </a:pPr>
            <a:r>
              <a:t>(t)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42333" y="773334"/>
            <a:ext cx="342699" cy="994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9" b="0" i="0">
                <a:solidFill>
                  <a:srgbClr val="008A20"/>
                </a:solidFill>
                <a:latin typeface="DejaVu Serif"/>
              </a:defRPr>
            </a:pPr>
            <a:r>
              <a:t>insight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8703" y="668313"/>
            <a:ext cx="939658" cy="187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7" b="0" i="1">
                <a:solidFill>
                  <a:srgbClr val="008A20"/>
                </a:solidFill>
                <a:latin typeface="DejaVu Serif"/>
              </a:defRPr>
            </a:pPr>
            <a:r>
              <a:t> = (I, Eᵢ)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00890" y="3994805"/>
            <a:ext cx="1394413" cy="2641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0964C5"/>
                </a:solidFill>
                <a:latin typeface="DejaVu Serif"/>
              </a:defRPr>
            </a:pPr>
            <a:r>
              <a:t>Query Graph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02385" y="4208364"/>
            <a:ext cx="187931" cy="2210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49" b="0" i="1">
                <a:solidFill>
                  <a:srgbClr val="0964C5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35043" y="4175200"/>
            <a:ext cx="265315" cy="994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52" b="0" i="1">
                <a:solidFill>
                  <a:srgbClr val="0964C5"/>
                </a:solidFill>
                <a:latin typeface="DejaVu Serif"/>
              </a:defRPr>
            </a:pPr>
            <a:r>
              <a:t>(t)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23988" y="4341022"/>
            <a:ext cx="342699" cy="994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9" b="0" i="0">
                <a:solidFill>
                  <a:srgbClr val="0964C5"/>
                </a:solidFill>
                <a:latin typeface="DejaVu Serif"/>
              </a:defRPr>
            </a:pPr>
            <a:r>
              <a:t>query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00358" y="4236001"/>
            <a:ext cx="939658" cy="187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57" b="0" i="1">
                <a:solidFill>
                  <a:srgbClr val="0964C5"/>
                </a:solidFill>
                <a:latin typeface="DejaVu Serif"/>
              </a:defRPr>
            </a:pPr>
            <a:r>
              <a:t> = (Q, E_q)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01389" y="5929397"/>
            <a:ext cx="1130605" cy="25501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5D00C4"/>
                </a:solidFill>
                <a:latin typeface="DejaVu Serif"/>
              </a:defRPr>
            </a:pPr>
            <a:r>
              <a:t>Interaction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5D00C4"/>
                </a:solidFill>
                <a:latin typeface="DejaVu Serif"/>
              </a:defRPr>
            </a:pPr>
            <a:r>
              <a:t>Graphs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75766" y="6375358"/>
            <a:ext cx="166575" cy="1959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95" b="0" i="1">
                <a:solidFill>
                  <a:srgbClr val="6610D0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93349" y="6345962"/>
            <a:ext cx="235165" cy="88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78" b="0" i="1">
                <a:solidFill>
                  <a:srgbClr val="6610D0"/>
                </a:solidFill>
                <a:latin typeface="DejaVu Serif"/>
              </a:defRPr>
            </a:pPr>
            <a:r>
              <a:t>(Q)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3550" y="6492941"/>
            <a:ext cx="303755" cy="88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40" b="0" i="0">
                <a:solidFill>
                  <a:srgbClr val="6610D0"/>
                </a:solidFill>
                <a:latin typeface="DejaVu Serif"/>
              </a:defRPr>
            </a:pPr>
            <a:r>
              <a:t>inter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28515" y="6399854"/>
            <a:ext cx="832879" cy="1665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48" b="0" i="1">
                <a:solidFill>
                  <a:srgbClr val="6610D0"/>
                </a:solidFill>
                <a:latin typeface="DejaVu Serif"/>
              </a:defRPr>
            </a:pPr>
            <a:r>
              <a:t> = (U(Q), E_u(Q))</a:t>
            </a:r>
          </a:p>
        </p:txBody>
      </p:sp>
      <p:sp>
        <p:nvSpPr>
          <p:cNvPr id="100" name="Oval 99"/>
          <p:cNvSpPr/>
          <p:nvPr/>
        </p:nvSpPr>
        <p:spPr>
          <a:xfrm>
            <a:off x="3850339" y="263807"/>
            <a:ext cx="1972278" cy="1972278"/>
          </a:xfrm>
          <a:prstGeom prst="ellipse">
            <a:avLst/>
          </a:prstGeom>
          <a:solidFill>
            <a:srgbClr val="EDF7ED"/>
          </a:solidFill>
          <a:ln w="32661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4233489" y="791423"/>
            <a:ext cx="364306" cy="489929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4597795" y="791423"/>
            <a:ext cx="640676" cy="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4597795" y="791423"/>
            <a:ext cx="810267" cy="778862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4" name="Connector 103"/>
          <p:cNvCxnSpPr/>
          <p:nvPr/>
        </p:nvCxnSpPr>
        <p:spPr>
          <a:xfrm>
            <a:off x="4597795" y="791423"/>
            <a:ext cx="43968" cy="967296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4233489" y="1281352"/>
            <a:ext cx="408274" cy="477367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4641763" y="791423"/>
            <a:ext cx="596708" cy="967296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07" name="Connector 106"/>
          <p:cNvCxnSpPr/>
          <p:nvPr/>
        </p:nvCxnSpPr>
        <p:spPr>
          <a:xfrm flipV="1">
            <a:off x="4641763" y="1570285"/>
            <a:ext cx="766299" cy="188434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108" name="Oval 107"/>
          <p:cNvSpPr/>
          <p:nvPr/>
        </p:nvSpPr>
        <p:spPr>
          <a:xfrm>
            <a:off x="4415642" y="609270"/>
            <a:ext cx="364306" cy="364306"/>
          </a:xfrm>
          <a:prstGeom prst="ellipse">
            <a:avLst/>
          </a:prstGeom>
          <a:solidFill>
            <a:srgbClr val="52A879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40766" y="646957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29201" y="803986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1</a:t>
            </a:r>
          </a:p>
        </p:txBody>
      </p:sp>
      <p:sp>
        <p:nvSpPr>
          <p:cNvPr id="111" name="Oval 110"/>
          <p:cNvSpPr/>
          <p:nvPr/>
        </p:nvSpPr>
        <p:spPr>
          <a:xfrm>
            <a:off x="5056318" y="609270"/>
            <a:ext cx="364306" cy="364306"/>
          </a:xfrm>
          <a:prstGeom prst="ellipse">
            <a:avLst/>
          </a:prstGeom>
          <a:solidFill>
            <a:srgbClr val="98FF45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81443" y="646957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69877" y="803986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2</a:t>
            </a:r>
          </a:p>
        </p:txBody>
      </p:sp>
      <p:sp>
        <p:nvSpPr>
          <p:cNvPr id="114" name="Oval 113"/>
          <p:cNvSpPr/>
          <p:nvPr/>
        </p:nvSpPr>
        <p:spPr>
          <a:xfrm>
            <a:off x="4051336" y="1099199"/>
            <a:ext cx="364306" cy="364306"/>
          </a:xfrm>
          <a:prstGeom prst="ellipse">
            <a:avLst/>
          </a:prstGeom>
          <a:solidFill>
            <a:srgbClr val="75D66B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076460" y="1136886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64894" y="1293915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3</a:t>
            </a:r>
          </a:p>
        </p:txBody>
      </p:sp>
      <p:sp>
        <p:nvSpPr>
          <p:cNvPr id="117" name="Oval 116"/>
          <p:cNvSpPr/>
          <p:nvPr/>
        </p:nvSpPr>
        <p:spPr>
          <a:xfrm>
            <a:off x="4459610" y="1576566"/>
            <a:ext cx="364306" cy="364306"/>
          </a:xfrm>
          <a:prstGeom prst="ellipse">
            <a:avLst/>
          </a:prstGeom>
          <a:solidFill>
            <a:srgbClr val="00EB70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84734" y="1614253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73169" y="1771281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4</a:t>
            </a:r>
          </a:p>
        </p:txBody>
      </p:sp>
      <p:sp>
        <p:nvSpPr>
          <p:cNvPr id="120" name="Oval 119"/>
          <p:cNvSpPr/>
          <p:nvPr/>
        </p:nvSpPr>
        <p:spPr>
          <a:xfrm>
            <a:off x="5225909" y="1388132"/>
            <a:ext cx="364306" cy="364306"/>
          </a:xfrm>
          <a:prstGeom prst="ellipse">
            <a:avLst/>
          </a:prstGeom>
          <a:solidFill>
            <a:srgbClr val="75EFB1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51034" y="1425819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39468" y="1582847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5</a:t>
            </a:r>
          </a:p>
        </p:txBody>
      </p:sp>
      <p:sp>
        <p:nvSpPr>
          <p:cNvPr id="123" name="Oval 122"/>
          <p:cNvSpPr/>
          <p:nvPr/>
        </p:nvSpPr>
        <p:spPr>
          <a:xfrm>
            <a:off x="3862901" y="2518737"/>
            <a:ext cx="1972278" cy="1972278"/>
          </a:xfrm>
          <a:prstGeom prst="ellipse">
            <a:avLst/>
          </a:prstGeom>
          <a:solidFill>
            <a:srgbClr val="EAF2FF"/>
          </a:solidFill>
          <a:ln w="32661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 flipV="1">
            <a:off x="4189521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4283738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377955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4472172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566389" y="3071478"/>
            <a:ext cx="414556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4660606" y="3071478"/>
            <a:ext cx="414556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754823" y="3071478"/>
            <a:ext cx="414556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4849041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943258" y="3071478"/>
            <a:ext cx="414555" cy="414555"/>
          </a:xfrm>
          <a:prstGeom prst="line">
            <a:avLst/>
          </a:prstGeom>
          <a:ln w="37686">
            <a:solidFill>
              <a:srgbClr val="6FA4D6">
                <a:alpha val="75000"/>
              </a:srgbClr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434485" y="3228506"/>
            <a:ext cx="0" cy="67836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434485" y="3504876"/>
            <a:ext cx="464805" cy="40199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 flipV="1">
            <a:off x="4899290" y="3504876"/>
            <a:ext cx="489929" cy="420837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899290" y="3171976"/>
            <a:ext cx="552740" cy="33290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 flipV="1">
            <a:off x="4434485" y="3228506"/>
            <a:ext cx="464805" cy="27637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138" name="Oval 137"/>
          <p:cNvSpPr/>
          <p:nvPr/>
        </p:nvSpPr>
        <p:spPr>
          <a:xfrm>
            <a:off x="4277457" y="3071478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02581" y="3109164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65891" y="3241068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1</a:t>
            </a:r>
          </a:p>
        </p:txBody>
      </p:sp>
      <p:sp>
        <p:nvSpPr>
          <p:cNvPr id="141" name="Oval 140"/>
          <p:cNvSpPr/>
          <p:nvPr/>
        </p:nvSpPr>
        <p:spPr>
          <a:xfrm>
            <a:off x="4277457" y="3749841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302581" y="3787528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65891" y="3919432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2</a:t>
            </a:r>
          </a:p>
        </p:txBody>
      </p:sp>
      <p:sp>
        <p:nvSpPr>
          <p:cNvPr id="144" name="Oval 143"/>
          <p:cNvSpPr/>
          <p:nvPr/>
        </p:nvSpPr>
        <p:spPr>
          <a:xfrm>
            <a:off x="5232190" y="3768684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257315" y="3806371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420624" y="3938275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3</a:t>
            </a:r>
          </a:p>
        </p:txBody>
      </p:sp>
      <p:sp>
        <p:nvSpPr>
          <p:cNvPr id="147" name="Oval 146"/>
          <p:cNvSpPr/>
          <p:nvPr/>
        </p:nvSpPr>
        <p:spPr>
          <a:xfrm>
            <a:off x="4742261" y="3347848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67386" y="3385535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30695" y="3517439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4</a:t>
            </a:r>
          </a:p>
        </p:txBody>
      </p:sp>
      <p:sp>
        <p:nvSpPr>
          <p:cNvPr id="150" name="Oval 149"/>
          <p:cNvSpPr/>
          <p:nvPr/>
        </p:nvSpPr>
        <p:spPr>
          <a:xfrm>
            <a:off x="5295002" y="3014947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320126" y="3052634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83436" y="3184538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5</a:t>
            </a:r>
          </a:p>
        </p:txBody>
      </p:sp>
      <p:cxnSp>
        <p:nvCxnSpPr>
          <p:cNvPr id="153" name="Connector 152"/>
          <p:cNvCxnSpPr/>
          <p:nvPr/>
        </p:nvCxnSpPr>
        <p:spPr>
          <a:xfrm flipH="1" flipV="1">
            <a:off x="4641763" y="1922029"/>
            <a:ext cx="257527" cy="1419538"/>
          </a:xfrm>
          <a:prstGeom prst="line">
            <a:avLst/>
          </a:prstGeom>
          <a:ln w="31405">
            <a:solidFill>
              <a:srgbClr val="111111"/>
            </a:solidFill>
            <a:prstDash val="dash"/>
            <a:tailEnd type="triangle" w="med" len="med"/>
          </a:ln>
          <a:effectLst/>
        </p:spPr>
      </p:cxnSp>
      <p:sp>
        <p:nvSpPr>
          <p:cNvPr id="154" name="Oval 153"/>
          <p:cNvSpPr/>
          <p:nvPr/>
        </p:nvSpPr>
        <p:spPr>
          <a:xfrm>
            <a:off x="3850339" y="4704574"/>
            <a:ext cx="1972278" cy="1972278"/>
          </a:xfrm>
          <a:prstGeom prst="ellipse">
            <a:avLst/>
          </a:prstGeom>
          <a:solidFill>
            <a:srgbClr val="F8E7F7"/>
          </a:solidFill>
          <a:ln w="32661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H="1">
            <a:off x="4233489" y="4999788"/>
            <a:ext cx="634395" cy="370587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4867884" y="4999788"/>
            <a:ext cx="521335" cy="326619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233489" y="5370375"/>
            <a:ext cx="634395" cy="395712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58" name="Connector 157"/>
          <p:cNvCxnSpPr/>
          <p:nvPr/>
        </p:nvCxnSpPr>
        <p:spPr>
          <a:xfrm flipH="1">
            <a:off x="4867884" y="5326407"/>
            <a:ext cx="521335" cy="43968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59" name="Connector 158"/>
          <p:cNvCxnSpPr/>
          <p:nvPr/>
        </p:nvCxnSpPr>
        <p:spPr>
          <a:xfrm flipH="1">
            <a:off x="4233489" y="5766087"/>
            <a:ext cx="634395" cy="332901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4867884" y="5766087"/>
            <a:ext cx="540178" cy="295214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233489" y="6098988"/>
            <a:ext cx="634395" cy="29521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162" name="Connector 161"/>
          <p:cNvCxnSpPr/>
          <p:nvPr/>
        </p:nvCxnSpPr>
        <p:spPr>
          <a:xfrm flipH="1">
            <a:off x="4867884" y="6061301"/>
            <a:ext cx="540178" cy="33290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163" name="Oval 162"/>
          <p:cNvSpPr/>
          <p:nvPr/>
        </p:nvSpPr>
        <p:spPr>
          <a:xfrm>
            <a:off x="4729699" y="4861603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786355" y="4918259"/>
            <a:ext cx="163058" cy="163058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4798917" y="4921520"/>
            <a:ext cx="137934" cy="58701"/>
          </a:xfrm>
          <a:custGeom>
            <a:avLst/>
            <a:gdLst/>
            <a:ahLst/>
            <a:cxnLst/>
            <a:rect l="l" t="t" r="r" b="b"/>
            <a:pathLst>
              <a:path w="137934" h="58701">
                <a:moveTo>
                  <a:pt x="0" y="53809"/>
                </a:moveTo>
                <a:lnTo>
                  <a:pt x="16788" y="4892"/>
                </a:lnTo>
                <a:lnTo>
                  <a:pt x="44508" y="52179"/>
                </a:lnTo>
                <a:lnTo>
                  <a:pt x="72228" y="0"/>
                </a:lnTo>
                <a:lnTo>
                  <a:pt x="104840" y="52179"/>
                </a:lnTo>
                <a:lnTo>
                  <a:pt x="137452" y="11414"/>
                </a:lnTo>
                <a:lnTo>
                  <a:pt x="137934" y="58701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802661" y="4975329"/>
            <a:ext cx="130446" cy="84790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818966" y="4999788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890712" y="4999788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095304" y="5232190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151960" y="5288846"/>
            <a:ext cx="163058" cy="163058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151960" y="5288846"/>
            <a:ext cx="40764" cy="40764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192724" y="5288846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233489" y="5288846"/>
            <a:ext cx="40764" cy="407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274253" y="5288846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151960" y="5329611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192724" y="5329611"/>
            <a:ext cx="40764" cy="40764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233489" y="5329611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274253" y="5329611"/>
            <a:ext cx="40764" cy="40764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151960" y="5370375"/>
            <a:ext cx="40764" cy="40764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192724" y="5370375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233489" y="5370375"/>
            <a:ext cx="40764" cy="40764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274253" y="5370375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251034" y="5188222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307689" y="5244878"/>
            <a:ext cx="163058" cy="163058"/>
          </a:xfrm>
          <a:prstGeom prst="rect">
            <a:avLst/>
          </a:prstGeom>
          <a:solidFill>
            <a:srgbClr val="111111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5327257" y="5270967"/>
            <a:ext cx="123924" cy="55440"/>
          </a:xfrm>
          <a:custGeom>
            <a:avLst/>
            <a:gdLst/>
            <a:ahLst/>
            <a:cxnLst/>
            <a:rect l="l" t="t" r="r" b="b"/>
            <a:pathLst>
              <a:path w="123924" h="55440">
                <a:moveTo>
                  <a:pt x="0" y="55440"/>
                </a:moveTo>
                <a:lnTo>
                  <a:pt x="61962" y="0"/>
                </a:lnTo>
                <a:lnTo>
                  <a:pt x="123924" y="55440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343562" y="5326407"/>
            <a:ext cx="91312" cy="53809"/>
          </a:xfrm>
          <a:prstGeom prst="rect">
            <a:avLst/>
          </a:pr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379435" y="5342713"/>
            <a:ext cx="19567" cy="37503"/>
          </a:xfrm>
          <a:prstGeom prst="rect">
            <a:avLst/>
          </a:prstGeom>
          <a:solidFill>
            <a:srgbClr val="FF77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729699" y="5627902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786355" y="5684558"/>
            <a:ext cx="163058" cy="163058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4798917" y="5687819"/>
            <a:ext cx="137934" cy="58701"/>
          </a:xfrm>
          <a:custGeom>
            <a:avLst/>
            <a:gdLst/>
            <a:ahLst/>
            <a:cxnLst/>
            <a:rect l="l" t="t" r="r" b="b"/>
            <a:pathLst>
              <a:path w="137934" h="58701">
                <a:moveTo>
                  <a:pt x="0" y="53809"/>
                </a:moveTo>
                <a:lnTo>
                  <a:pt x="16788" y="4892"/>
                </a:lnTo>
                <a:lnTo>
                  <a:pt x="44508" y="52179"/>
                </a:lnTo>
                <a:lnTo>
                  <a:pt x="72228" y="0"/>
                </a:lnTo>
                <a:lnTo>
                  <a:pt x="104840" y="52179"/>
                </a:lnTo>
                <a:lnTo>
                  <a:pt x="137452" y="11414"/>
                </a:lnTo>
                <a:lnTo>
                  <a:pt x="137934" y="58701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02661" y="5741628"/>
            <a:ext cx="130446" cy="84790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18966" y="5766087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90712" y="5766087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095304" y="5960803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151960" y="6017458"/>
            <a:ext cx="163058" cy="163058"/>
          </a:xfrm>
          <a:prstGeom prst="rect">
            <a:avLst/>
          </a:prstGeom>
          <a:solidFill>
            <a:srgbClr val="D9A6F2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164522" y="6071268"/>
            <a:ext cx="137934" cy="90405"/>
          </a:xfrm>
          <a:custGeom>
            <a:avLst/>
            <a:gdLst/>
            <a:ahLst/>
            <a:cxnLst/>
            <a:rect l="l" t="t" r="r" b="b"/>
            <a:pathLst>
              <a:path w="137934" h="90405">
                <a:moveTo>
                  <a:pt x="0" y="90405"/>
                </a:moveTo>
                <a:lnTo>
                  <a:pt x="49400" y="0"/>
                </a:lnTo>
                <a:lnTo>
                  <a:pt x="82011" y="60331"/>
                </a:lnTo>
                <a:lnTo>
                  <a:pt x="111362" y="14675"/>
                </a:lnTo>
                <a:lnTo>
                  <a:pt x="137934" y="90405"/>
                </a:lnTo>
                <a:close/>
              </a:path>
            </a:pathLst>
          </a:custGeom>
          <a:solidFill>
            <a:srgbClr val="9C4DCE"/>
          </a:solidFill>
          <a:ln w="6281">
            <a:solidFill>
              <a:srgbClr val="4C146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181310" y="6045178"/>
            <a:ext cx="22828" cy="22828"/>
          </a:xfrm>
          <a:prstGeom prst="ellipse">
            <a:avLst/>
          </a:prstGeom>
          <a:solidFill>
            <a:srgbClr val="FFE3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5269877" y="5923116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26533" y="5979772"/>
            <a:ext cx="163058" cy="163058"/>
          </a:xfrm>
          <a:prstGeom prst="rect">
            <a:avLst/>
          </a:prstGeom>
          <a:solidFill>
            <a:srgbClr val="111111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5346100" y="6005861"/>
            <a:ext cx="123924" cy="55440"/>
          </a:xfrm>
          <a:custGeom>
            <a:avLst/>
            <a:gdLst/>
            <a:ahLst/>
            <a:cxnLst/>
            <a:rect l="l" t="t" r="r" b="b"/>
            <a:pathLst>
              <a:path w="123924" h="55440">
                <a:moveTo>
                  <a:pt x="0" y="55440"/>
                </a:moveTo>
                <a:lnTo>
                  <a:pt x="61962" y="0"/>
                </a:lnTo>
                <a:lnTo>
                  <a:pt x="123924" y="55440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362406" y="6061301"/>
            <a:ext cx="91312" cy="53809"/>
          </a:xfrm>
          <a:prstGeom prst="rect">
            <a:avLst/>
          </a:pr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98279" y="6077607"/>
            <a:ext cx="19567" cy="37503"/>
          </a:xfrm>
          <a:prstGeom prst="rect">
            <a:avLst/>
          </a:prstGeom>
          <a:solidFill>
            <a:srgbClr val="FF77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729699" y="6256016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786355" y="6312672"/>
            <a:ext cx="163058" cy="163058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786355" y="6312672"/>
            <a:ext cx="40764" cy="40764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827119" y="6312672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867884" y="6312672"/>
            <a:ext cx="40764" cy="407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908649" y="6312672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786355" y="635343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827119" y="6353437"/>
            <a:ext cx="40764" cy="40764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867884" y="635343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908649" y="6353437"/>
            <a:ext cx="40764" cy="40764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786355" y="6394201"/>
            <a:ext cx="40764" cy="40764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827119" y="6394201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867884" y="6394201"/>
            <a:ext cx="40764" cy="40764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908649" y="6394201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944556" y="1834093"/>
            <a:ext cx="320338" cy="282651"/>
          </a:xfrm>
          <a:custGeom>
            <a:avLst/>
            <a:gdLst/>
            <a:ahLst/>
            <a:cxnLst/>
            <a:rect l="l" t="t" r="r" b="b"/>
            <a:pathLst>
              <a:path w="320338" h="282651">
                <a:moveTo>
                  <a:pt x="0" y="0"/>
                </a:moveTo>
                <a:lnTo>
                  <a:pt x="320338" y="94217"/>
                </a:lnTo>
                <a:lnTo>
                  <a:pt x="62812" y="282651"/>
                </a:lnTo>
                <a:close/>
              </a:path>
            </a:pathLst>
          </a:custGeom>
          <a:solidFill>
            <a:srgbClr val="91C9BE"/>
          </a:solidFill>
          <a:ln w="12562">
            <a:solidFill>
              <a:srgbClr val="006B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839075" y="973576"/>
            <a:ext cx="1174573" cy="1287633"/>
          </a:xfrm>
          <a:prstGeom prst="rect">
            <a:avLst/>
          </a:prstGeom>
          <a:solidFill>
            <a:srgbClr val="91C9BE">
              <a:alpha val="96000"/>
            </a:srgbClr>
          </a:solidFill>
          <a:ln w="12562">
            <a:solidFill>
              <a:srgbClr val="006B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901887" y="1036388"/>
            <a:ext cx="615551" cy="188434"/>
          </a:xfrm>
          <a:prstGeom prst="rect">
            <a:avLst/>
          </a:prstGeom>
          <a:solidFill>
            <a:srgbClr val="91C9BE"/>
          </a:solidFill>
          <a:ln w="12562">
            <a:solidFill>
              <a:srgbClr val="006B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958417" y="1055231"/>
            <a:ext cx="502491" cy="150747"/>
          </a:xfrm>
          <a:prstGeom prst="rect">
            <a:avLst/>
          </a:prstGeom>
          <a:solidFill>
            <a:srgbClr val="91C9BE">
              <a:alpha val="36000"/>
            </a:srgbClr>
          </a:solidFill>
          <a:ln w="8165">
            <a:solidFill>
              <a:srgbClr val="006B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2952136" y="1042669"/>
            <a:ext cx="515053" cy="169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A1A1A"/>
                </a:solidFill>
                <a:latin typeface="DejaVu Serif"/>
              </a:defRPr>
            </a:pPr>
            <a:r>
              <a:t>Insight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914449" y="1300196"/>
            <a:ext cx="1023826" cy="9233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Ensure the search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terms are precise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and directly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related to the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specific entity or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institution ...</a:t>
            </a:r>
          </a:p>
        </p:txBody>
      </p:sp>
      <p:sp>
        <p:nvSpPr>
          <p:cNvPr id="223" name="Freeform 222"/>
          <p:cNvSpPr/>
          <p:nvPr/>
        </p:nvSpPr>
        <p:spPr>
          <a:xfrm>
            <a:off x="3969681" y="2958417"/>
            <a:ext cx="194715" cy="213559"/>
          </a:xfrm>
          <a:custGeom>
            <a:avLst/>
            <a:gdLst/>
            <a:ahLst/>
            <a:cxnLst/>
            <a:rect l="l" t="t" r="r" b="b"/>
            <a:pathLst>
              <a:path w="194715" h="213559">
                <a:moveTo>
                  <a:pt x="0" y="37687"/>
                </a:moveTo>
                <a:lnTo>
                  <a:pt x="175872" y="213559"/>
                </a:lnTo>
                <a:lnTo>
                  <a:pt x="194715" y="0"/>
                </a:lnTo>
                <a:close/>
              </a:path>
            </a:pathLst>
          </a:custGeom>
          <a:solidFill>
            <a:srgbClr val="D2E5FF"/>
          </a:solidFill>
          <a:ln w="12562">
            <a:solidFill>
              <a:srgbClr val="062B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832794" y="2405677"/>
            <a:ext cx="1450943" cy="672082"/>
          </a:xfrm>
          <a:prstGeom prst="rect">
            <a:avLst/>
          </a:prstGeom>
          <a:solidFill>
            <a:srgbClr val="D2E5FF">
              <a:alpha val="96000"/>
            </a:srgbClr>
          </a:solidFill>
          <a:ln w="12562">
            <a:solidFill>
              <a:srgbClr val="062B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895606" y="2468488"/>
            <a:ext cx="565302" cy="188434"/>
          </a:xfrm>
          <a:prstGeom prst="rect">
            <a:avLst/>
          </a:prstGeom>
          <a:solidFill>
            <a:srgbClr val="D2E5FF"/>
          </a:solidFill>
          <a:ln w="12562">
            <a:solidFill>
              <a:srgbClr val="062B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952136" y="2487331"/>
            <a:ext cx="452242" cy="150747"/>
          </a:xfrm>
          <a:prstGeom prst="rect">
            <a:avLst/>
          </a:prstGeom>
          <a:solidFill>
            <a:srgbClr val="D2E5FF">
              <a:alpha val="36000"/>
            </a:srgbClr>
          </a:solidFill>
          <a:ln w="8165">
            <a:solidFill>
              <a:srgbClr val="062B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945855" y="2474769"/>
            <a:ext cx="464804" cy="169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A1A1A"/>
                </a:solidFill>
                <a:latin typeface="DejaVu Serif"/>
              </a:defRPr>
            </a:pPr>
            <a:r>
              <a:t>Query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908168" y="2732296"/>
            <a:ext cx="1300196" cy="307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Are Deodato and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Alejandro both film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01010"/>
                </a:solidFill>
                <a:latin typeface="DejaVu Sans"/>
              </a:defRPr>
            </a:pPr>
            <a:r>
              <a:t>directors?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3705873" y="5659308"/>
            <a:ext cx="169591" cy="282651"/>
          </a:xfrm>
          <a:custGeom>
            <a:avLst/>
            <a:gdLst/>
            <a:ahLst/>
            <a:cxnLst/>
            <a:rect l="l" t="t" r="r" b="b"/>
            <a:pathLst>
              <a:path w="169591" h="282651">
                <a:moveTo>
                  <a:pt x="0" y="31405"/>
                </a:moveTo>
                <a:lnTo>
                  <a:pt x="169591" y="282651"/>
                </a:lnTo>
                <a:lnTo>
                  <a:pt x="150747" y="0"/>
                </a:lnTo>
                <a:close/>
              </a:path>
            </a:pathLst>
          </a:custGeom>
          <a:solidFill>
            <a:srgbClr val="EEDAF4"/>
          </a:solidFill>
          <a:ln w="12562">
            <a:solidFill>
              <a:srgbClr val="5A00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688328" y="4742261"/>
            <a:ext cx="1193416" cy="1067794"/>
          </a:xfrm>
          <a:prstGeom prst="rect">
            <a:avLst/>
          </a:prstGeom>
          <a:solidFill>
            <a:srgbClr val="EEDAF4">
              <a:alpha val="96000"/>
            </a:srgbClr>
          </a:solidFill>
          <a:ln w="12562">
            <a:solidFill>
              <a:srgbClr val="5A00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751139" y="4805073"/>
            <a:ext cx="1055231" cy="188434"/>
          </a:xfrm>
          <a:prstGeom prst="rect">
            <a:avLst/>
          </a:prstGeom>
          <a:solidFill>
            <a:srgbClr val="EEDAF4"/>
          </a:solidFill>
          <a:ln w="12562">
            <a:solidFill>
              <a:srgbClr val="5A00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807670" y="4823916"/>
            <a:ext cx="942171" cy="150747"/>
          </a:xfrm>
          <a:prstGeom prst="rect">
            <a:avLst/>
          </a:prstGeom>
          <a:solidFill>
            <a:srgbClr val="EEDAF4">
              <a:alpha val="36000"/>
            </a:srgbClr>
          </a:solidFill>
          <a:ln w="8165">
            <a:solidFill>
              <a:srgbClr val="5A00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801389" y="4811354"/>
            <a:ext cx="954733" cy="169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A1A1A"/>
                </a:solidFill>
                <a:latin typeface="DejaVu Serif"/>
              </a:defRPr>
            </a:pPr>
            <a:r>
              <a:t>Interactions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763702" y="5068881"/>
            <a:ext cx="1042669" cy="7034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791" b="0" i="0">
                <a:solidFill>
                  <a:srgbClr val="101010"/>
                </a:solidFill>
                <a:latin typeface="DejaVu Sans"/>
              </a:defRPr>
            </a:pPr>
            <a:r>
              <a:t>· CEO agent: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791" b="0" i="0">
                <a:solidFill>
                  <a:srgbClr val="101010"/>
                </a:solidFill>
                <a:latin typeface="DejaVu Sans"/>
              </a:defRPr>
            </a:pPr>
            <a:r>
              <a:t>  assigning tasks...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791" b="0" i="0">
                <a:solidFill>
                  <a:srgbClr val="101010"/>
                </a:solidFill>
                <a:latin typeface="DejaVu Sans"/>
              </a:defRPr>
            </a:pPr>
            <a:r>
              <a:t>· Thinker agent: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791" b="0" i="0">
                <a:solidFill>
                  <a:srgbClr val="101010"/>
                </a:solidFill>
                <a:latin typeface="DejaVu Sans"/>
              </a:defRPr>
            </a:pPr>
            <a:r>
              <a:t>  OK, I will...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791" b="0" i="0">
                <a:solidFill>
                  <a:srgbClr val="101010"/>
                </a:solidFill>
                <a:latin typeface="DejaVu Sans"/>
              </a:defRPr>
            </a:pPr>
            <a:r>
              <a:t>· Executor agent: ...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663203" y="3360410"/>
            <a:ext cx="1193416" cy="42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Similarity-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based Retrieval</a:t>
            </a:r>
          </a:p>
        </p:txBody>
      </p:sp>
      <p:sp>
        <p:nvSpPr>
          <p:cNvPr id="236" name="Rectangle 235"/>
          <p:cNvSpPr/>
          <p:nvPr/>
        </p:nvSpPr>
        <p:spPr>
          <a:xfrm rot="180000">
            <a:off x="2204680" y="3850339"/>
            <a:ext cx="75373" cy="150747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 rot="21480000">
            <a:off x="2355427" y="3837777"/>
            <a:ext cx="94217" cy="175871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Editable broad process arrow"/>
          <p:cNvSpPr/>
          <p:nvPr/>
        </p:nvSpPr>
        <p:spPr>
          <a:xfrm>
            <a:off x="2487331" y="3787528"/>
            <a:ext cx="1658222" cy="276370"/>
          </a:xfrm>
          <a:custGeom>
            <a:avLst/>
            <a:gdLst/>
            <a:ahLst/>
            <a:cxnLst/>
            <a:rect l="l" t="t" r="r" b="b"/>
            <a:pathLst>
              <a:path w="1658222" h="276370">
                <a:moveTo>
                  <a:pt x="0" y="50249"/>
                </a:moveTo>
                <a:lnTo>
                  <a:pt x="1469787" y="50249"/>
                </a:lnTo>
                <a:lnTo>
                  <a:pt x="1469787" y="0"/>
                </a:lnTo>
                <a:lnTo>
                  <a:pt x="1658222" y="138185"/>
                </a:lnTo>
                <a:lnTo>
                  <a:pt x="1469787" y="276370"/>
                </a:lnTo>
                <a:lnTo>
                  <a:pt x="1469787" y="226121"/>
                </a:lnTo>
                <a:lnTo>
                  <a:pt x="0" y="226121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36478" y="1953434"/>
            <a:ext cx="1036388" cy="414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upward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traversal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96300" y="4214645"/>
            <a:ext cx="1231103" cy="4522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downward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E60000"/>
                </a:solidFill>
                <a:latin typeface="DejaVu Serif"/>
              </a:defRPr>
            </a:pPr>
            <a:r>
              <a:t>traversal</a:t>
            </a:r>
          </a:p>
        </p:txBody>
      </p:sp>
      <p:sp>
        <p:nvSpPr>
          <p:cNvPr id="241" name="Rectangle 240"/>
          <p:cNvSpPr/>
          <p:nvPr/>
        </p:nvSpPr>
        <p:spPr>
          <a:xfrm rot="180000">
            <a:off x="5640464" y="1488630"/>
            <a:ext cx="75373" cy="150747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 rot="21480000">
            <a:off x="5791212" y="1476068"/>
            <a:ext cx="94217" cy="175871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Editable broad process arrow"/>
          <p:cNvSpPr/>
          <p:nvPr/>
        </p:nvSpPr>
        <p:spPr>
          <a:xfrm>
            <a:off x="5923116" y="1425819"/>
            <a:ext cx="295213" cy="276370"/>
          </a:xfrm>
          <a:custGeom>
            <a:avLst/>
            <a:gdLst/>
            <a:ahLst/>
            <a:cxnLst/>
            <a:rect l="l" t="t" r="r" b="b"/>
            <a:pathLst>
              <a:path w="295213" h="276370">
                <a:moveTo>
                  <a:pt x="0" y="50249"/>
                </a:moveTo>
                <a:lnTo>
                  <a:pt x="191889" y="50249"/>
                </a:lnTo>
                <a:lnTo>
                  <a:pt x="191889" y="0"/>
                </a:lnTo>
                <a:lnTo>
                  <a:pt x="295213" y="138185"/>
                </a:lnTo>
                <a:lnTo>
                  <a:pt x="191889" y="276370"/>
                </a:lnTo>
                <a:lnTo>
                  <a:pt x="191889" y="226121"/>
                </a:lnTo>
                <a:lnTo>
                  <a:pt x="0" y="226121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161799" y="489929"/>
            <a:ext cx="2261210" cy="2641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222222"/>
                </a:solidFill>
                <a:latin typeface="DejaVu Serif"/>
              </a:defRPr>
            </a:pPr>
            <a:r>
              <a:t>Distilled Insights</a:t>
            </a:r>
          </a:p>
        </p:txBody>
      </p:sp>
      <p:sp>
        <p:nvSpPr>
          <p:cNvPr id="245" name="Oval 244"/>
          <p:cNvSpPr/>
          <p:nvPr/>
        </p:nvSpPr>
        <p:spPr>
          <a:xfrm>
            <a:off x="6243454" y="778861"/>
            <a:ext cx="192202" cy="229575"/>
          </a:xfrm>
          <a:prstGeom prst="ellipse">
            <a:avLst/>
          </a:prstGeom>
          <a:solidFill>
            <a:srgbClr val="FFE57D"/>
          </a:solidFill>
          <a:ln w="12562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6302183" y="864285"/>
            <a:ext cx="26694" cy="69406"/>
          </a:xfrm>
          <a:prstGeom prst="line">
            <a:avLst/>
          </a:prstGeom>
          <a:ln w="9421">
            <a:solidFill>
              <a:srgbClr val="333333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 flipH="1">
            <a:off x="6350233" y="864285"/>
            <a:ext cx="26695" cy="69406"/>
          </a:xfrm>
          <a:prstGeom prst="line">
            <a:avLst/>
          </a:prstGeom>
          <a:ln w="9421">
            <a:solidFill>
              <a:srgbClr val="333333"/>
            </a:solidFill>
          </a:ln>
          <a:effectLst/>
        </p:spPr>
      </p:cxnSp>
      <p:sp>
        <p:nvSpPr>
          <p:cNvPr id="248" name="Rectangle 247"/>
          <p:cNvSpPr/>
          <p:nvPr/>
        </p:nvSpPr>
        <p:spPr>
          <a:xfrm>
            <a:off x="6312861" y="944369"/>
            <a:ext cx="53389" cy="64067"/>
          </a:xfrm>
          <a:prstGeom prst="rect">
            <a:avLst/>
          </a:prstGeom>
          <a:solidFill>
            <a:srgbClr val="C2B9D7"/>
          </a:solidFill>
          <a:ln w="7537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6206081" y="816234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H="1">
            <a:off x="6446335" y="816234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286166" y="746827"/>
            <a:ext cx="16017" cy="26695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H="1">
            <a:off x="6382267" y="752166"/>
            <a:ext cx="10678" cy="26695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 flipV="1">
            <a:off x="6216759" y="912335"/>
            <a:ext cx="26695" cy="5339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H="1" flipV="1">
            <a:off x="6440996" y="912335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6557511" y="778861"/>
            <a:ext cx="1947153" cy="4648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Insight 1: Clearly identify key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entities and their roles, use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specific names and titles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309949" y="917046"/>
            <a:ext cx="439679" cy="2135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6" b="0" i="0">
                <a:solidFill>
                  <a:srgbClr val="111111"/>
                </a:solidFill>
                <a:latin typeface="DejaVu Serif"/>
              </a:defRPr>
            </a:pPr>
            <a:r>
              <a:t>from</a:t>
            </a:r>
          </a:p>
        </p:txBody>
      </p:sp>
      <p:sp>
        <p:nvSpPr>
          <p:cNvPr id="257" name="Oval 256"/>
          <p:cNvSpPr/>
          <p:nvPr/>
        </p:nvSpPr>
        <p:spPr>
          <a:xfrm>
            <a:off x="8912939" y="873078"/>
            <a:ext cx="326619" cy="326619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979896" y="940035"/>
            <a:ext cx="192705" cy="192705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8992458" y="943889"/>
            <a:ext cx="167581" cy="69374"/>
          </a:xfrm>
          <a:custGeom>
            <a:avLst/>
            <a:gdLst/>
            <a:ahLst/>
            <a:cxnLst/>
            <a:rect l="l" t="t" r="r" b="b"/>
            <a:pathLst>
              <a:path w="167581" h="69374">
                <a:moveTo>
                  <a:pt x="0" y="63593"/>
                </a:moveTo>
                <a:lnTo>
                  <a:pt x="22125" y="5781"/>
                </a:lnTo>
                <a:lnTo>
                  <a:pt x="54885" y="61666"/>
                </a:lnTo>
                <a:lnTo>
                  <a:pt x="87645" y="0"/>
                </a:lnTo>
                <a:lnTo>
                  <a:pt x="126186" y="61666"/>
                </a:lnTo>
                <a:lnTo>
                  <a:pt x="164727" y="13490"/>
                </a:lnTo>
                <a:lnTo>
                  <a:pt x="167581" y="69374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8999166" y="1007482"/>
            <a:ext cx="154164" cy="100206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018437" y="1036388"/>
            <a:ext cx="25051" cy="34686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103227" y="1036388"/>
            <a:ext cx="25051" cy="34686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243454" y="1337883"/>
            <a:ext cx="192202" cy="229575"/>
          </a:xfrm>
          <a:prstGeom prst="ellipse">
            <a:avLst/>
          </a:prstGeom>
          <a:solidFill>
            <a:srgbClr val="FFE57D"/>
          </a:solidFill>
          <a:ln w="12562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6302183" y="1423306"/>
            <a:ext cx="26694" cy="69407"/>
          </a:xfrm>
          <a:prstGeom prst="line">
            <a:avLst/>
          </a:prstGeom>
          <a:ln w="9421">
            <a:solidFill>
              <a:srgbClr val="333333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 flipH="1">
            <a:off x="6350233" y="1423306"/>
            <a:ext cx="26695" cy="69407"/>
          </a:xfrm>
          <a:prstGeom prst="line">
            <a:avLst/>
          </a:prstGeom>
          <a:ln w="9421">
            <a:solidFill>
              <a:srgbClr val="333333"/>
            </a:solidFill>
          </a:ln>
          <a:effectLst/>
        </p:spPr>
      </p:cxnSp>
      <p:sp>
        <p:nvSpPr>
          <p:cNvPr id="266" name="Rectangle 265"/>
          <p:cNvSpPr/>
          <p:nvPr/>
        </p:nvSpPr>
        <p:spPr>
          <a:xfrm>
            <a:off x="6312861" y="1503391"/>
            <a:ext cx="53389" cy="64067"/>
          </a:xfrm>
          <a:prstGeom prst="rect">
            <a:avLst/>
          </a:prstGeom>
          <a:solidFill>
            <a:srgbClr val="C2B9D7"/>
          </a:solidFill>
          <a:ln w="7537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206081" y="1375255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H="1">
            <a:off x="6446335" y="1375255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286166" y="1305849"/>
            <a:ext cx="16017" cy="26695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H="1">
            <a:off x="6382267" y="1311188"/>
            <a:ext cx="10678" cy="26695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6216759" y="1471357"/>
            <a:ext cx="26695" cy="5339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H="1" flipV="1">
            <a:off x="6440996" y="1471357"/>
            <a:ext cx="26695" cy="10678"/>
          </a:xfrm>
          <a:prstGeom prst="line">
            <a:avLst/>
          </a:prstGeom>
          <a:ln w="8793">
            <a:solidFill>
              <a:srgbClr val="333333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6557511" y="1325320"/>
            <a:ext cx="1947153" cy="4773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Insight 2: Double-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check the relevance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of the search results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7801177" y="1457224"/>
            <a:ext cx="439679" cy="2135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6" b="0" i="0">
                <a:solidFill>
                  <a:srgbClr val="111111"/>
                </a:solidFill>
                <a:latin typeface="DejaVu Serif"/>
              </a:defRPr>
            </a:pPr>
            <a:r>
              <a:t>from</a:t>
            </a:r>
          </a:p>
        </p:txBody>
      </p:sp>
      <p:sp>
        <p:nvSpPr>
          <p:cNvPr id="275" name="Oval 274"/>
          <p:cNvSpPr/>
          <p:nvPr/>
        </p:nvSpPr>
        <p:spPr>
          <a:xfrm>
            <a:off x="8259700" y="1438381"/>
            <a:ext cx="314057" cy="314057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324082" y="1502763"/>
            <a:ext cx="185293" cy="185293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8336644" y="1506468"/>
            <a:ext cx="160169" cy="66706"/>
          </a:xfrm>
          <a:custGeom>
            <a:avLst/>
            <a:gdLst/>
            <a:ahLst/>
            <a:cxnLst/>
            <a:rect l="l" t="t" r="r" b="b"/>
            <a:pathLst>
              <a:path w="160169" h="66706">
                <a:moveTo>
                  <a:pt x="0" y="61147"/>
                </a:moveTo>
                <a:lnTo>
                  <a:pt x="20791" y="5559"/>
                </a:lnTo>
                <a:lnTo>
                  <a:pt x="52291" y="59294"/>
                </a:lnTo>
                <a:lnTo>
                  <a:pt x="83791" y="0"/>
                </a:lnTo>
                <a:lnTo>
                  <a:pt x="120849" y="59294"/>
                </a:lnTo>
                <a:lnTo>
                  <a:pt x="157908" y="12971"/>
                </a:lnTo>
                <a:lnTo>
                  <a:pt x="160169" y="66706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342611" y="1567615"/>
            <a:ext cx="148234" cy="96352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8361141" y="1595409"/>
            <a:ext cx="24088" cy="33352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8442670" y="1595409"/>
            <a:ext cx="24088" cy="33352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8667974" y="1476068"/>
            <a:ext cx="326619" cy="21355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6" b="0" i="0">
                <a:solidFill>
                  <a:srgbClr val="111111"/>
                </a:solidFill>
                <a:latin typeface="DejaVu Serif"/>
              </a:defRPr>
            </a:pPr>
            <a:r>
              <a:t>and</a:t>
            </a:r>
          </a:p>
        </p:txBody>
      </p:sp>
      <p:sp>
        <p:nvSpPr>
          <p:cNvPr id="282" name="Oval 281"/>
          <p:cNvSpPr/>
          <p:nvPr/>
        </p:nvSpPr>
        <p:spPr>
          <a:xfrm>
            <a:off x="8938064" y="1438381"/>
            <a:ext cx="314057" cy="314057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002445" y="1502763"/>
            <a:ext cx="185293" cy="185293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002445" y="1502763"/>
            <a:ext cx="46323" cy="46323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048769" y="1502763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095092" y="1502763"/>
            <a:ext cx="46323" cy="46323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141415" y="1502763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002445" y="1549086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048769" y="1549086"/>
            <a:ext cx="46323" cy="46323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095092" y="1549086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141415" y="1549086"/>
            <a:ext cx="46323" cy="46323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002445" y="1595409"/>
            <a:ext cx="46323" cy="46323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048769" y="1595409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095092" y="1595409"/>
            <a:ext cx="46323" cy="46323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141415" y="1595409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752226" y="1947153"/>
            <a:ext cx="2449645" cy="26380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84" b="1" i="1">
                <a:solidFill>
                  <a:srgbClr val="E60000"/>
                </a:solidFill>
                <a:latin typeface="DejaVu Serif"/>
              </a:defRPr>
            </a:pPr>
            <a:r>
              <a:t>Memory  Augmentation</a:t>
            </a:r>
          </a:p>
        </p:txBody>
      </p:sp>
      <p:sp>
        <p:nvSpPr>
          <p:cNvPr id="297" name="Rectangle 296"/>
          <p:cNvSpPr/>
          <p:nvPr/>
        </p:nvSpPr>
        <p:spPr>
          <a:xfrm rot="120000">
            <a:off x="7606462" y="1783844"/>
            <a:ext cx="182153" cy="75373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 rot="21480000">
            <a:off x="7593899" y="1909466"/>
            <a:ext cx="207277" cy="94217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Editable broad process arrow"/>
          <p:cNvSpPr/>
          <p:nvPr/>
        </p:nvSpPr>
        <p:spPr>
          <a:xfrm>
            <a:off x="7581337" y="2041370"/>
            <a:ext cx="232402" cy="395712"/>
          </a:xfrm>
          <a:custGeom>
            <a:avLst/>
            <a:gdLst/>
            <a:ahLst/>
            <a:cxnLst/>
            <a:rect l="l" t="t" r="r" b="b"/>
            <a:pathLst>
              <a:path w="232402" h="395712">
                <a:moveTo>
                  <a:pt x="50249" y="0"/>
                </a:moveTo>
                <a:lnTo>
                  <a:pt x="182153" y="0"/>
                </a:lnTo>
                <a:lnTo>
                  <a:pt x="182153" y="207278"/>
                </a:lnTo>
                <a:lnTo>
                  <a:pt x="232402" y="207278"/>
                </a:lnTo>
                <a:lnTo>
                  <a:pt x="116201" y="395712"/>
                </a:lnTo>
                <a:lnTo>
                  <a:pt x="0" y="207278"/>
                </a:lnTo>
                <a:lnTo>
                  <a:pt x="50249" y="207278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6658009" y="4365393"/>
            <a:ext cx="2638079" cy="30149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84" b="1" i="1">
                <a:solidFill>
                  <a:srgbClr val="E60000"/>
                </a:solidFill>
                <a:latin typeface="DejaVu Serif"/>
              </a:defRPr>
            </a:pPr>
            <a:r>
              <a:t>Memory  Augmentation</a:t>
            </a:r>
          </a:p>
        </p:txBody>
      </p:sp>
      <p:sp>
        <p:nvSpPr>
          <p:cNvPr id="301" name="Rectangle 300"/>
          <p:cNvSpPr/>
          <p:nvPr/>
        </p:nvSpPr>
        <p:spPr>
          <a:xfrm rot="21480000">
            <a:off x="7549931" y="4660606"/>
            <a:ext cx="219839" cy="75373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 rot="120000">
            <a:off x="7537369" y="4522421"/>
            <a:ext cx="244964" cy="94217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Editable broad process arrow"/>
          <p:cNvSpPr/>
          <p:nvPr/>
        </p:nvSpPr>
        <p:spPr>
          <a:xfrm>
            <a:off x="7524807" y="4258613"/>
            <a:ext cx="270089" cy="226121"/>
          </a:xfrm>
          <a:custGeom>
            <a:avLst/>
            <a:gdLst/>
            <a:ahLst/>
            <a:cxnLst/>
            <a:rect l="l" t="t" r="r" b="b"/>
            <a:pathLst>
              <a:path w="270089" h="226121">
                <a:moveTo>
                  <a:pt x="50249" y="226121"/>
                </a:moveTo>
                <a:lnTo>
                  <a:pt x="219840" y="226121"/>
                </a:lnTo>
                <a:lnTo>
                  <a:pt x="219840" y="188435"/>
                </a:lnTo>
                <a:lnTo>
                  <a:pt x="270089" y="188435"/>
                </a:lnTo>
                <a:lnTo>
                  <a:pt x="135044" y="0"/>
                </a:lnTo>
                <a:lnTo>
                  <a:pt x="0" y="188435"/>
                </a:lnTo>
                <a:lnTo>
                  <a:pt x="50249" y="188435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180643" y="2292616"/>
            <a:ext cx="1507473" cy="2641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222222"/>
                </a:solidFill>
                <a:latin typeface="DejaVu Serif"/>
              </a:defRPr>
            </a:pPr>
            <a:r>
              <a:t>Multi-agent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222222"/>
                </a:solidFill>
                <a:latin typeface="DejaVu Serif"/>
              </a:defRPr>
            </a:pPr>
            <a:r>
              <a:t>System G</a:t>
            </a:r>
          </a:p>
        </p:txBody>
      </p:sp>
      <p:sp>
        <p:nvSpPr>
          <p:cNvPr id="305" name="Freeform 304"/>
          <p:cNvSpPr/>
          <p:nvPr/>
        </p:nvSpPr>
        <p:spPr>
          <a:xfrm>
            <a:off x="6381639" y="2939574"/>
            <a:ext cx="904484" cy="414555"/>
          </a:xfrm>
          <a:custGeom>
            <a:avLst/>
            <a:gdLst/>
            <a:ahLst/>
            <a:cxnLst/>
            <a:rect l="l" t="t" r="r" b="b"/>
            <a:pathLst>
              <a:path w="904484" h="414555">
                <a:moveTo>
                  <a:pt x="175872" y="81654"/>
                </a:moveTo>
                <a:lnTo>
                  <a:pt x="703488" y="0"/>
                </a:lnTo>
                <a:lnTo>
                  <a:pt x="904484" y="113060"/>
                </a:lnTo>
                <a:lnTo>
                  <a:pt x="766299" y="288932"/>
                </a:lnTo>
                <a:lnTo>
                  <a:pt x="741175" y="182153"/>
                </a:lnTo>
                <a:lnTo>
                  <a:pt x="232402" y="226121"/>
                </a:lnTo>
                <a:lnTo>
                  <a:pt x="395712" y="364306"/>
                </a:lnTo>
                <a:lnTo>
                  <a:pt x="188434" y="414555"/>
                </a:lnTo>
                <a:lnTo>
                  <a:pt x="0" y="175872"/>
                </a:lnTo>
                <a:close/>
              </a:path>
            </a:pathLst>
          </a:custGeom>
          <a:solidFill>
            <a:srgbClr val="CFE7FF">
              <a:alpha val="92000"/>
            </a:srgbClr>
          </a:solidFill>
          <a:ln w="13818">
            <a:solidFill>
              <a:srgbClr val="2B7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6381639" y="3190819"/>
            <a:ext cx="31406" cy="31406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381639" y="3128008"/>
            <a:ext cx="94217" cy="94217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>
            <a:off x="6381639" y="3065196"/>
            <a:ext cx="157029" cy="157029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381639" y="3002385"/>
            <a:ext cx="219840" cy="219840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6381639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444450" y="2939574"/>
            <a:ext cx="28265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>
            <a:off x="6507262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3" name="Connector 312"/>
          <p:cNvCxnSpPr/>
          <p:nvPr/>
        </p:nvCxnSpPr>
        <p:spPr>
          <a:xfrm>
            <a:off x="6570073" y="2939574"/>
            <a:ext cx="28265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4" name="Connector 313"/>
          <p:cNvCxnSpPr/>
          <p:nvPr/>
        </p:nvCxnSpPr>
        <p:spPr>
          <a:xfrm>
            <a:off x="6632885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5" name="Connector 314"/>
          <p:cNvCxnSpPr/>
          <p:nvPr/>
        </p:nvCxnSpPr>
        <p:spPr>
          <a:xfrm>
            <a:off x="6695696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6" name="Connector 315"/>
          <p:cNvCxnSpPr/>
          <p:nvPr/>
        </p:nvCxnSpPr>
        <p:spPr>
          <a:xfrm>
            <a:off x="6758508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7" name="Connector 316"/>
          <p:cNvCxnSpPr/>
          <p:nvPr/>
        </p:nvCxnSpPr>
        <p:spPr>
          <a:xfrm>
            <a:off x="6821319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8" name="Connector 317"/>
          <p:cNvCxnSpPr/>
          <p:nvPr/>
        </p:nvCxnSpPr>
        <p:spPr>
          <a:xfrm>
            <a:off x="6884130" y="2939574"/>
            <a:ext cx="28265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19" name="Connector 318"/>
          <p:cNvCxnSpPr/>
          <p:nvPr/>
        </p:nvCxnSpPr>
        <p:spPr>
          <a:xfrm>
            <a:off x="6946942" y="293957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0" name="Connector 319"/>
          <p:cNvCxnSpPr/>
          <p:nvPr/>
        </p:nvCxnSpPr>
        <p:spPr>
          <a:xfrm>
            <a:off x="7009753" y="2939574"/>
            <a:ext cx="276370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1" name="Connector 320"/>
          <p:cNvCxnSpPr/>
          <p:nvPr/>
        </p:nvCxnSpPr>
        <p:spPr>
          <a:xfrm>
            <a:off x="7072565" y="2939574"/>
            <a:ext cx="213558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2" name="Connector 321"/>
          <p:cNvCxnSpPr/>
          <p:nvPr/>
        </p:nvCxnSpPr>
        <p:spPr>
          <a:xfrm>
            <a:off x="7135376" y="2939574"/>
            <a:ext cx="150747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3" name="Connector 322"/>
          <p:cNvCxnSpPr/>
          <p:nvPr/>
        </p:nvCxnSpPr>
        <p:spPr>
          <a:xfrm>
            <a:off x="7198187" y="2939574"/>
            <a:ext cx="87936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4" name="Connector 323"/>
          <p:cNvCxnSpPr/>
          <p:nvPr/>
        </p:nvCxnSpPr>
        <p:spPr>
          <a:xfrm>
            <a:off x="7260999" y="2939574"/>
            <a:ext cx="25124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sp>
        <p:nvSpPr>
          <p:cNvPr id="325" name="Freeform 324"/>
          <p:cNvSpPr/>
          <p:nvPr/>
        </p:nvSpPr>
        <p:spPr>
          <a:xfrm>
            <a:off x="7085127" y="3077759"/>
            <a:ext cx="452242" cy="728612"/>
          </a:xfrm>
          <a:custGeom>
            <a:avLst/>
            <a:gdLst/>
            <a:ahLst/>
            <a:cxnLst/>
            <a:rect l="l" t="t" r="r" b="b"/>
            <a:pathLst>
              <a:path w="452242" h="728612">
                <a:moveTo>
                  <a:pt x="339181" y="144466"/>
                </a:moveTo>
                <a:lnTo>
                  <a:pt x="452242" y="533897"/>
                </a:lnTo>
                <a:lnTo>
                  <a:pt x="351744" y="728612"/>
                </a:lnTo>
                <a:lnTo>
                  <a:pt x="163310" y="602989"/>
                </a:lnTo>
                <a:lnTo>
                  <a:pt x="244964" y="571584"/>
                </a:lnTo>
                <a:lnTo>
                  <a:pt x="169591" y="238683"/>
                </a:lnTo>
                <a:lnTo>
                  <a:pt x="56530" y="383149"/>
                </a:lnTo>
                <a:lnTo>
                  <a:pt x="0" y="188434"/>
                </a:lnTo>
                <a:lnTo>
                  <a:pt x="226121" y="0"/>
                </a:lnTo>
                <a:close/>
              </a:path>
            </a:pathLst>
          </a:custGeom>
          <a:solidFill>
            <a:srgbClr val="CFE7FF">
              <a:alpha val="92000"/>
            </a:srgbClr>
          </a:solidFill>
          <a:ln w="13818">
            <a:solidFill>
              <a:srgbClr val="2B7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7085127" y="3329004"/>
            <a:ext cx="31406" cy="31406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>
            <a:off x="7085127" y="3266193"/>
            <a:ext cx="94217" cy="94217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7085127" y="3203382"/>
            <a:ext cx="157028" cy="157028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29" name="Connector 328"/>
          <p:cNvCxnSpPr/>
          <p:nvPr/>
        </p:nvCxnSpPr>
        <p:spPr>
          <a:xfrm>
            <a:off x="7085127" y="3140570"/>
            <a:ext cx="219840" cy="219840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0" name="Connector 329"/>
          <p:cNvCxnSpPr/>
          <p:nvPr/>
        </p:nvCxnSpPr>
        <p:spPr>
          <a:xfrm>
            <a:off x="7085127" y="3077759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1" name="Connector 330"/>
          <p:cNvCxnSpPr/>
          <p:nvPr/>
        </p:nvCxnSpPr>
        <p:spPr>
          <a:xfrm>
            <a:off x="7147938" y="3077759"/>
            <a:ext cx="28265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2" name="Connector 331"/>
          <p:cNvCxnSpPr/>
          <p:nvPr/>
        </p:nvCxnSpPr>
        <p:spPr>
          <a:xfrm>
            <a:off x="7210750" y="3077759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3" name="Connector 332"/>
          <p:cNvCxnSpPr/>
          <p:nvPr/>
        </p:nvCxnSpPr>
        <p:spPr>
          <a:xfrm>
            <a:off x="7273561" y="3077759"/>
            <a:ext cx="263808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4" name="Connector 333"/>
          <p:cNvCxnSpPr/>
          <p:nvPr/>
        </p:nvCxnSpPr>
        <p:spPr>
          <a:xfrm>
            <a:off x="7336373" y="3077759"/>
            <a:ext cx="200996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5" name="Connector 334"/>
          <p:cNvCxnSpPr/>
          <p:nvPr/>
        </p:nvCxnSpPr>
        <p:spPr>
          <a:xfrm>
            <a:off x="7399184" y="3077759"/>
            <a:ext cx="138185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6" name="Connector 335"/>
          <p:cNvCxnSpPr/>
          <p:nvPr/>
        </p:nvCxnSpPr>
        <p:spPr>
          <a:xfrm>
            <a:off x="7461995" y="3077759"/>
            <a:ext cx="75374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37" name="Connector 336"/>
          <p:cNvCxnSpPr/>
          <p:nvPr/>
        </p:nvCxnSpPr>
        <p:spPr>
          <a:xfrm>
            <a:off x="7524807" y="3077759"/>
            <a:ext cx="1256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sp>
        <p:nvSpPr>
          <p:cNvPr id="338" name="Freeform 337"/>
          <p:cNvSpPr/>
          <p:nvPr/>
        </p:nvSpPr>
        <p:spPr>
          <a:xfrm>
            <a:off x="6513543" y="3555125"/>
            <a:ext cx="954733" cy="489929"/>
          </a:xfrm>
          <a:custGeom>
            <a:avLst/>
            <a:gdLst/>
            <a:ahLst/>
            <a:cxnLst/>
            <a:rect l="l" t="t" r="r" b="b"/>
            <a:pathLst>
              <a:path w="954733" h="489929">
                <a:moveTo>
                  <a:pt x="760018" y="326620"/>
                </a:moveTo>
                <a:lnTo>
                  <a:pt x="238683" y="489929"/>
                </a:lnTo>
                <a:lnTo>
                  <a:pt x="0" y="376869"/>
                </a:lnTo>
                <a:lnTo>
                  <a:pt x="131904" y="188435"/>
                </a:lnTo>
                <a:lnTo>
                  <a:pt x="157029" y="301495"/>
                </a:lnTo>
                <a:lnTo>
                  <a:pt x="634395" y="150748"/>
                </a:lnTo>
                <a:lnTo>
                  <a:pt x="496210" y="37687"/>
                </a:lnTo>
                <a:lnTo>
                  <a:pt x="709769" y="0"/>
                </a:lnTo>
                <a:lnTo>
                  <a:pt x="954733" y="263808"/>
                </a:lnTo>
                <a:close/>
              </a:path>
            </a:pathLst>
          </a:custGeom>
          <a:solidFill>
            <a:srgbClr val="CFE7FF">
              <a:alpha val="92000"/>
            </a:srgbClr>
          </a:solidFill>
          <a:ln w="13818">
            <a:solidFill>
              <a:srgbClr val="2B7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9" name="Connector 338"/>
          <p:cNvCxnSpPr/>
          <p:nvPr/>
        </p:nvCxnSpPr>
        <p:spPr>
          <a:xfrm>
            <a:off x="6513543" y="3806371"/>
            <a:ext cx="31406" cy="31406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0" name="Connector 339"/>
          <p:cNvCxnSpPr/>
          <p:nvPr/>
        </p:nvCxnSpPr>
        <p:spPr>
          <a:xfrm>
            <a:off x="6513543" y="3743560"/>
            <a:ext cx="94217" cy="94217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>
            <a:off x="6513543" y="3680748"/>
            <a:ext cx="157029" cy="157029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6513543" y="3617937"/>
            <a:ext cx="219840" cy="219840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3" name="Connector 342"/>
          <p:cNvCxnSpPr/>
          <p:nvPr/>
        </p:nvCxnSpPr>
        <p:spPr>
          <a:xfrm>
            <a:off x="6513543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4" name="Connector 343"/>
          <p:cNvCxnSpPr/>
          <p:nvPr/>
        </p:nvCxnSpPr>
        <p:spPr>
          <a:xfrm>
            <a:off x="6576354" y="3555125"/>
            <a:ext cx="282652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5" name="Connector 344"/>
          <p:cNvCxnSpPr/>
          <p:nvPr/>
        </p:nvCxnSpPr>
        <p:spPr>
          <a:xfrm>
            <a:off x="6639166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6" name="Connector 345"/>
          <p:cNvCxnSpPr/>
          <p:nvPr/>
        </p:nvCxnSpPr>
        <p:spPr>
          <a:xfrm>
            <a:off x="6701977" y="3555125"/>
            <a:ext cx="282652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7" name="Connector 346"/>
          <p:cNvCxnSpPr/>
          <p:nvPr/>
        </p:nvCxnSpPr>
        <p:spPr>
          <a:xfrm>
            <a:off x="6764789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8" name="Connector 347"/>
          <p:cNvCxnSpPr/>
          <p:nvPr/>
        </p:nvCxnSpPr>
        <p:spPr>
          <a:xfrm>
            <a:off x="6827600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49" name="Connector 348"/>
          <p:cNvCxnSpPr/>
          <p:nvPr/>
        </p:nvCxnSpPr>
        <p:spPr>
          <a:xfrm>
            <a:off x="6890411" y="3555125"/>
            <a:ext cx="282652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0" name="Connector 349"/>
          <p:cNvCxnSpPr/>
          <p:nvPr/>
        </p:nvCxnSpPr>
        <p:spPr>
          <a:xfrm>
            <a:off x="6953223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1" name="Connector 350"/>
          <p:cNvCxnSpPr/>
          <p:nvPr/>
        </p:nvCxnSpPr>
        <p:spPr>
          <a:xfrm>
            <a:off x="7016034" y="3555125"/>
            <a:ext cx="282652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2" name="Connector 351"/>
          <p:cNvCxnSpPr/>
          <p:nvPr/>
        </p:nvCxnSpPr>
        <p:spPr>
          <a:xfrm>
            <a:off x="7078846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3" name="Connector 352"/>
          <p:cNvCxnSpPr/>
          <p:nvPr/>
        </p:nvCxnSpPr>
        <p:spPr>
          <a:xfrm>
            <a:off x="7141657" y="3555125"/>
            <a:ext cx="282651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4" name="Connector 353"/>
          <p:cNvCxnSpPr/>
          <p:nvPr/>
        </p:nvCxnSpPr>
        <p:spPr>
          <a:xfrm>
            <a:off x="7204469" y="3555125"/>
            <a:ext cx="263807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>
            <a:off x="7267280" y="3555125"/>
            <a:ext cx="200996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7330091" y="3555125"/>
            <a:ext cx="138185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7" name="Connector 356"/>
          <p:cNvCxnSpPr/>
          <p:nvPr/>
        </p:nvCxnSpPr>
        <p:spPr>
          <a:xfrm>
            <a:off x="7392903" y="3555125"/>
            <a:ext cx="75373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58" name="Connector 357"/>
          <p:cNvCxnSpPr/>
          <p:nvPr/>
        </p:nvCxnSpPr>
        <p:spPr>
          <a:xfrm>
            <a:off x="7455714" y="3555125"/>
            <a:ext cx="12562" cy="282652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sp>
        <p:nvSpPr>
          <p:cNvPr id="359" name="Freeform 358"/>
          <p:cNvSpPr/>
          <p:nvPr/>
        </p:nvSpPr>
        <p:spPr>
          <a:xfrm>
            <a:off x="6299984" y="3215944"/>
            <a:ext cx="452242" cy="778861"/>
          </a:xfrm>
          <a:custGeom>
            <a:avLst/>
            <a:gdLst/>
            <a:ahLst/>
            <a:cxnLst/>
            <a:rect l="l" t="t" r="r" b="b"/>
            <a:pathLst>
              <a:path w="452242" h="778861">
                <a:moveTo>
                  <a:pt x="94217" y="565303"/>
                </a:moveTo>
                <a:lnTo>
                  <a:pt x="0" y="175872"/>
                </a:lnTo>
                <a:lnTo>
                  <a:pt x="75374" y="0"/>
                </a:lnTo>
                <a:lnTo>
                  <a:pt x="270089" y="125623"/>
                </a:lnTo>
                <a:lnTo>
                  <a:pt x="188434" y="169591"/>
                </a:lnTo>
                <a:lnTo>
                  <a:pt x="270089" y="489929"/>
                </a:lnTo>
                <a:lnTo>
                  <a:pt x="389431" y="370587"/>
                </a:lnTo>
                <a:lnTo>
                  <a:pt x="452242" y="565303"/>
                </a:lnTo>
                <a:lnTo>
                  <a:pt x="257527" y="778861"/>
                </a:lnTo>
                <a:close/>
              </a:path>
            </a:pathLst>
          </a:custGeom>
          <a:solidFill>
            <a:srgbClr val="CFE7FF">
              <a:alpha val="92000"/>
            </a:srgbClr>
          </a:solidFill>
          <a:ln w="13818">
            <a:solidFill>
              <a:srgbClr val="2B7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>
            <a:off x="6299984" y="3467189"/>
            <a:ext cx="31406" cy="31406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6299984" y="3404378"/>
            <a:ext cx="94217" cy="94217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6299984" y="3341567"/>
            <a:ext cx="157029" cy="157028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>
            <a:off x="6299984" y="3278755"/>
            <a:ext cx="219840" cy="219840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>
            <a:off x="6299984" y="3215944"/>
            <a:ext cx="28265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5" name="Connector 364"/>
          <p:cNvCxnSpPr/>
          <p:nvPr/>
        </p:nvCxnSpPr>
        <p:spPr>
          <a:xfrm>
            <a:off x="6362796" y="321594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6" name="Connector 365"/>
          <p:cNvCxnSpPr/>
          <p:nvPr/>
        </p:nvCxnSpPr>
        <p:spPr>
          <a:xfrm>
            <a:off x="6425607" y="3215944"/>
            <a:ext cx="282651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>
            <a:off x="6488418" y="3215944"/>
            <a:ext cx="263808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6551230" y="3215944"/>
            <a:ext cx="200996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>
            <a:off x="6614041" y="3215944"/>
            <a:ext cx="138185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676853" y="3215944"/>
            <a:ext cx="75373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cxnSp>
        <p:nvCxnSpPr>
          <p:cNvPr id="371" name="Connector 370"/>
          <p:cNvCxnSpPr/>
          <p:nvPr/>
        </p:nvCxnSpPr>
        <p:spPr>
          <a:xfrm>
            <a:off x="6739664" y="3215944"/>
            <a:ext cx="12562" cy="282651"/>
          </a:xfrm>
          <a:prstGeom prst="line">
            <a:avLst/>
          </a:prstGeom>
          <a:ln w="5024">
            <a:solidFill>
              <a:srgbClr val="4389CA">
                <a:alpha val="80000"/>
              </a:srgbClr>
            </a:solidFill>
          </a:ln>
          <a:effectLst/>
        </p:spPr>
      </p:cxnSp>
      <p:sp>
        <p:nvSpPr>
          <p:cNvPr id="372" name="Oval 371"/>
          <p:cNvSpPr/>
          <p:nvPr/>
        </p:nvSpPr>
        <p:spPr>
          <a:xfrm>
            <a:off x="6218329" y="2826513"/>
            <a:ext cx="515053" cy="515053"/>
          </a:xfrm>
          <a:prstGeom prst="ellipse">
            <a:avLst/>
          </a:prstGeom>
          <a:solidFill>
            <a:srgbClr val="DFF28C"/>
          </a:solidFill>
          <a:ln w="13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6383209" y="2991393"/>
            <a:ext cx="185293" cy="185293"/>
          </a:xfrm>
          <a:prstGeom prst="rect">
            <a:avLst/>
          </a:prstGeom>
          <a:solidFill>
            <a:srgbClr val="FF2CA0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416562" y="3032158"/>
            <a:ext cx="118587" cy="107470"/>
          </a:xfrm>
          <a:prstGeom prst="rect">
            <a:avLst/>
          </a:prstGeom>
          <a:solidFill>
            <a:srgbClr val="FFB6E1"/>
          </a:solidFill>
          <a:ln w="6281">
            <a:solidFill>
              <a:srgbClr val="7A005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6440650" y="3067363"/>
            <a:ext cx="18529" cy="18529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6496238" y="3067363"/>
            <a:ext cx="18529" cy="18529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7129095" y="2826513"/>
            <a:ext cx="515053" cy="515053"/>
          </a:xfrm>
          <a:prstGeom prst="ellipse">
            <a:avLst/>
          </a:prstGeom>
          <a:solidFill>
            <a:srgbClr val="40AFAF"/>
          </a:solidFill>
          <a:ln w="13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7293975" y="2991393"/>
            <a:ext cx="185293" cy="185293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7293975" y="2991393"/>
            <a:ext cx="46323" cy="46323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7340298" y="2991393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7386622" y="2991393"/>
            <a:ext cx="46323" cy="46323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432945" y="2991393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7293975" y="3037716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7340298" y="3037716"/>
            <a:ext cx="46323" cy="46323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386622" y="3037716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7432945" y="3037716"/>
            <a:ext cx="46323" cy="46323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7293975" y="3084040"/>
            <a:ext cx="46323" cy="46323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7340298" y="3084040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7386622" y="3084040"/>
            <a:ext cx="46323" cy="46323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7432945" y="3084040"/>
            <a:ext cx="46323" cy="4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6218329" y="3687029"/>
            <a:ext cx="515053" cy="515053"/>
          </a:xfrm>
          <a:prstGeom prst="ellipse">
            <a:avLst/>
          </a:prstGeom>
          <a:solidFill>
            <a:srgbClr val="9BCB68"/>
          </a:solidFill>
          <a:ln w="13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6383209" y="3851909"/>
            <a:ext cx="185293" cy="185293"/>
          </a:xfrm>
          <a:prstGeom prst="rect">
            <a:avLst/>
          </a:prstGeom>
          <a:solidFill>
            <a:srgbClr val="F5DB20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6420268" y="3903792"/>
            <a:ext cx="33352" cy="40764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6496238" y="3903792"/>
            <a:ext cx="33352" cy="40764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5" name="Connector 394"/>
          <p:cNvCxnSpPr/>
          <p:nvPr/>
        </p:nvCxnSpPr>
        <p:spPr>
          <a:xfrm>
            <a:off x="6453621" y="3981615"/>
            <a:ext cx="50029" cy="0"/>
          </a:xfrm>
          <a:prstGeom prst="line">
            <a:avLst/>
          </a:prstGeom>
          <a:ln w="12562">
            <a:solidFill>
              <a:srgbClr val="8A4A00"/>
            </a:solidFill>
          </a:ln>
          <a:effectLst/>
        </p:spPr>
      </p:cxnSp>
      <p:sp>
        <p:nvSpPr>
          <p:cNvPr id="396" name="Oval 395"/>
          <p:cNvSpPr/>
          <p:nvPr/>
        </p:nvSpPr>
        <p:spPr>
          <a:xfrm>
            <a:off x="7129095" y="3687029"/>
            <a:ext cx="515053" cy="515053"/>
          </a:xfrm>
          <a:prstGeom prst="ellipse">
            <a:avLst/>
          </a:prstGeom>
          <a:solidFill>
            <a:srgbClr val="3CAAAA"/>
          </a:solidFill>
          <a:ln w="13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7293975" y="3851909"/>
            <a:ext cx="185293" cy="185293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7306537" y="3855615"/>
            <a:ext cx="160169" cy="66706"/>
          </a:xfrm>
          <a:custGeom>
            <a:avLst/>
            <a:gdLst/>
            <a:ahLst/>
            <a:cxnLst/>
            <a:rect l="l" t="t" r="r" b="b"/>
            <a:pathLst>
              <a:path w="160169" h="66706">
                <a:moveTo>
                  <a:pt x="0" y="61147"/>
                </a:moveTo>
                <a:lnTo>
                  <a:pt x="20791" y="5559"/>
                </a:lnTo>
                <a:lnTo>
                  <a:pt x="52291" y="59294"/>
                </a:lnTo>
                <a:lnTo>
                  <a:pt x="83791" y="0"/>
                </a:lnTo>
                <a:lnTo>
                  <a:pt x="120849" y="59294"/>
                </a:lnTo>
                <a:lnTo>
                  <a:pt x="157908" y="12971"/>
                </a:lnTo>
                <a:lnTo>
                  <a:pt x="160169" y="66706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7312504" y="3916762"/>
            <a:ext cx="148234" cy="96352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7331034" y="3944556"/>
            <a:ext cx="24088" cy="33352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7412563" y="3944556"/>
            <a:ext cx="24088" cy="33352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6658009" y="3329004"/>
            <a:ext cx="1004982" cy="42711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4" b="0" i="1">
                <a:solidFill>
                  <a:srgbClr val="444444"/>
                </a:solidFill>
                <a:latin typeface="DejaVu Serif"/>
              </a:defRPr>
            </a:pPr>
            <a:r>
              <a:t>Iteration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8064985" y="2361709"/>
            <a:ext cx="188434" cy="238683"/>
          </a:xfrm>
          <a:prstGeom prst="rect">
            <a:avLst/>
          </a:prstGeom>
          <a:solidFill>
            <a:srgbClr val="CDE8EA"/>
          </a:solidFill>
          <a:ln w="12562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8102672" y="2317741"/>
            <a:ext cx="113060" cy="62811"/>
          </a:xfrm>
          <a:prstGeom prst="roundRect">
            <a:avLst/>
          </a:prstGeom>
          <a:solidFill>
            <a:srgbClr val="E5C85D"/>
          </a:solidFill>
          <a:ln w="9421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8096391" y="2418239"/>
            <a:ext cx="31405" cy="3140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6" name="Connector 405"/>
          <p:cNvCxnSpPr/>
          <p:nvPr/>
        </p:nvCxnSpPr>
        <p:spPr>
          <a:xfrm>
            <a:off x="8146640" y="2430801"/>
            <a:ext cx="75373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407" name="Rectangle 406"/>
          <p:cNvSpPr/>
          <p:nvPr/>
        </p:nvSpPr>
        <p:spPr>
          <a:xfrm>
            <a:off x="8096391" y="2468488"/>
            <a:ext cx="31405" cy="3140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8146640" y="2481050"/>
            <a:ext cx="75373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409" name="Rectangle 408"/>
          <p:cNvSpPr/>
          <p:nvPr/>
        </p:nvSpPr>
        <p:spPr>
          <a:xfrm>
            <a:off x="8096391" y="2518737"/>
            <a:ext cx="31405" cy="31405"/>
          </a:xfrm>
          <a:prstGeom prst="rect">
            <a:avLst/>
          </a:prstGeom>
          <a:solidFill>
            <a:srgbClr val="7CDDD5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8146640" y="2531299"/>
            <a:ext cx="75373" cy="0"/>
          </a:xfrm>
          <a:prstGeom prst="line">
            <a:avLst/>
          </a:prstGeom>
          <a:ln w="6281">
            <a:solidFill>
              <a:srgbClr val="333333"/>
            </a:solidFill>
          </a:ln>
          <a:effectLst/>
        </p:spPr>
      </p:cxnSp>
      <p:sp>
        <p:nvSpPr>
          <p:cNvPr id="411" name="Oval 410"/>
          <p:cNvSpPr/>
          <p:nvPr/>
        </p:nvSpPr>
        <p:spPr>
          <a:xfrm>
            <a:off x="8322512" y="2317741"/>
            <a:ext cx="100498" cy="100498"/>
          </a:xfrm>
          <a:prstGeom prst="ellipse">
            <a:avLst/>
          </a:prstGeom>
          <a:solidFill>
            <a:srgbClr val="6CD266"/>
          </a:solidFill>
          <a:ln w="9421">
            <a:solidFill>
              <a:srgbClr val="174A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353917" y="2305178"/>
            <a:ext cx="75373" cy="1067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42" b="1" i="0">
                <a:solidFill>
                  <a:srgbClr val="174A23"/>
                </a:solidFill>
                <a:latin typeface="DejaVu Sans"/>
              </a:defRPr>
            </a:pPr>
            <a:r>
              <a:t>✓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416729" y="2248648"/>
            <a:ext cx="1162011" cy="25501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222222"/>
                </a:solidFill>
                <a:latin typeface="DejaVu Serif"/>
              </a:defRPr>
            </a:pPr>
            <a:r>
              <a:t>Output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222222"/>
                </a:solidFill>
                <a:latin typeface="DejaVu Serif"/>
              </a:defRPr>
            </a:pPr>
            <a:r>
              <a:t>Solution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8064985" y="2738577"/>
            <a:ext cx="1444662" cy="590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Since both are confirmed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as film directors from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their respective countries,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the answer is Yes.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8096391" y="3479752"/>
            <a:ext cx="138185" cy="182153"/>
          </a:xfrm>
          <a:prstGeom prst="roundRect">
            <a:avLst/>
          </a:prstGeom>
          <a:solidFill>
            <a:srgbClr val="F2C5A9"/>
          </a:solidFill>
          <a:ln w="9421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8121515" y="3442065"/>
            <a:ext cx="62812" cy="75374"/>
          </a:xfrm>
          <a:custGeom>
            <a:avLst/>
            <a:gdLst/>
            <a:ahLst/>
            <a:cxnLst/>
            <a:rect l="l" t="t" r="r" b="b"/>
            <a:pathLst>
              <a:path w="62812" h="75374">
                <a:moveTo>
                  <a:pt x="0" y="62811"/>
                </a:moveTo>
                <a:lnTo>
                  <a:pt x="25125" y="0"/>
                </a:lnTo>
                <a:lnTo>
                  <a:pt x="62812" y="12562"/>
                </a:lnTo>
                <a:lnTo>
                  <a:pt x="50249" y="75374"/>
                </a:lnTo>
                <a:close/>
              </a:path>
            </a:pathLst>
          </a:custGeom>
          <a:solidFill>
            <a:srgbClr val="F2C5A9"/>
          </a:solidFill>
          <a:ln w="816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8052423" y="3649343"/>
            <a:ext cx="31405" cy="31405"/>
          </a:xfrm>
          <a:prstGeom prst="ellipse">
            <a:avLst/>
          </a:prstGeom>
          <a:solidFill>
            <a:srgbClr val="E65C6A"/>
          </a:solidFill>
          <a:ln w="3768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8083828" y="3661905"/>
            <a:ext cx="31405" cy="31405"/>
          </a:xfrm>
          <a:prstGeom prst="ellipse">
            <a:avLst/>
          </a:prstGeom>
          <a:solidFill>
            <a:srgbClr val="E65C6A"/>
          </a:solidFill>
          <a:ln w="3768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8115234" y="3674467"/>
            <a:ext cx="31405" cy="31405"/>
          </a:xfrm>
          <a:prstGeom prst="ellipse">
            <a:avLst/>
          </a:prstGeom>
          <a:solidFill>
            <a:srgbClr val="E65C6A"/>
          </a:solidFill>
          <a:ln w="3768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8146640" y="3687029"/>
            <a:ext cx="31405" cy="31405"/>
          </a:xfrm>
          <a:prstGeom prst="ellipse">
            <a:avLst/>
          </a:prstGeom>
          <a:solidFill>
            <a:srgbClr val="E65C6A"/>
          </a:solidFill>
          <a:ln w="3768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8404167" y="3385535"/>
            <a:ext cx="1193416" cy="24590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222222"/>
                </a:solidFill>
                <a:latin typeface="DejaVu Serif"/>
              </a:defRPr>
            </a:pPr>
            <a:r>
              <a:t>Environment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222222"/>
                </a:solidFill>
                <a:latin typeface="DejaVu Serif"/>
              </a:defRPr>
            </a:pPr>
            <a:r>
              <a:t>Feedback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115234" y="3831496"/>
            <a:ext cx="1381851" cy="4648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Execution: Success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Token cost: 3,345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Tool calls: 3 ...</a:t>
            </a:r>
          </a:p>
        </p:txBody>
      </p:sp>
      <p:sp>
        <p:nvSpPr>
          <p:cNvPr id="423" name="Rectangle 422"/>
          <p:cNvSpPr/>
          <p:nvPr/>
        </p:nvSpPr>
        <p:spPr>
          <a:xfrm rot="180000">
            <a:off x="7537369" y="3448346"/>
            <a:ext cx="75373" cy="138185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 rot="21480000">
            <a:off x="7688116" y="3435784"/>
            <a:ext cx="94217" cy="163309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Editable broad process arrow"/>
          <p:cNvSpPr/>
          <p:nvPr/>
        </p:nvSpPr>
        <p:spPr>
          <a:xfrm>
            <a:off x="7820020" y="3385535"/>
            <a:ext cx="219840" cy="263808"/>
          </a:xfrm>
          <a:custGeom>
            <a:avLst/>
            <a:gdLst/>
            <a:ahLst/>
            <a:cxnLst/>
            <a:rect l="l" t="t" r="r" b="b"/>
            <a:pathLst>
              <a:path w="219840" h="263808">
                <a:moveTo>
                  <a:pt x="0" y="50249"/>
                </a:moveTo>
                <a:lnTo>
                  <a:pt x="142896" y="50249"/>
                </a:lnTo>
                <a:lnTo>
                  <a:pt x="142896" y="0"/>
                </a:lnTo>
                <a:lnTo>
                  <a:pt x="219840" y="131904"/>
                </a:lnTo>
                <a:lnTo>
                  <a:pt x="142896" y="263808"/>
                </a:lnTo>
                <a:lnTo>
                  <a:pt x="142896" y="213558"/>
                </a:lnTo>
                <a:lnTo>
                  <a:pt x="0" y="213558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972066" y="4823916"/>
            <a:ext cx="2261210" cy="2641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222222"/>
                </a:solidFill>
                <a:latin typeface="DejaVu Serif"/>
              </a:defRPr>
            </a:pPr>
            <a:r>
              <a:t>Trajectory Condensation</a:t>
            </a:r>
          </a:p>
        </p:txBody>
      </p:sp>
      <p:sp>
        <p:nvSpPr>
          <p:cNvPr id="427" name="Oval 426"/>
          <p:cNvSpPr/>
          <p:nvPr/>
        </p:nvSpPr>
        <p:spPr>
          <a:xfrm>
            <a:off x="6306265" y="5062599"/>
            <a:ext cx="1306477" cy="1306477"/>
          </a:xfrm>
          <a:prstGeom prst="ellipse">
            <a:avLst/>
          </a:prstGeom>
          <a:solidFill>
            <a:srgbClr val="F7E7F3"/>
          </a:solidFill>
          <a:ln w="32661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H="1">
            <a:off x="6538668" y="5244752"/>
            <a:ext cx="427117" cy="251246"/>
          </a:xfrm>
          <a:prstGeom prst="line">
            <a:avLst/>
          </a:prstGeom>
          <a:ln w="13818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29" name="Connector 428"/>
          <p:cNvCxnSpPr/>
          <p:nvPr/>
        </p:nvCxnSpPr>
        <p:spPr>
          <a:xfrm>
            <a:off x="6538668" y="5495998"/>
            <a:ext cx="414555" cy="270089"/>
          </a:xfrm>
          <a:prstGeom prst="line">
            <a:avLst/>
          </a:prstGeom>
          <a:ln w="13818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30" name="Connector 429"/>
          <p:cNvCxnSpPr/>
          <p:nvPr/>
        </p:nvCxnSpPr>
        <p:spPr>
          <a:xfrm>
            <a:off x="6953223" y="5766087"/>
            <a:ext cx="395712" cy="251246"/>
          </a:xfrm>
          <a:prstGeom prst="line">
            <a:avLst/>
          </a:prstGeom>
          <a:ln w="13818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431" name="Oval 430"/>
          <p:cNvSpPr/>
          <p:nvPr/>
        </p:nvSpPr>
        <p:spPr>
          <a:xfrm>
            <a:off x="6859006" y="5137973"/>
            <a:ext cx="213558" cy="213558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6902785" y="5181753"/>
            <a:ext cx="125999" cy="125999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6915348" y="5184273"/>
            <a:ext cx="103357" cy="45359"/>
          </a:xfrm>
          <a:custGeom>
            <a:avLst/>
            <a:gdLst/>
            <a:ahLst/>
            <a:cxnLst/>
            <a:rect l="l" t="t" r="r" b="b"/>
            <a:pathLst>
              <a:path w="103357" h="45359">
                <a:moveTo>
                  <a:pt x="0" y="41580"/>
                </a:moveTo>
                <a:lnTo>
                  <a:pt x="10117" y="3780"/>
                </a:lnTo>
                <a:lnTo>
                  <a:pt x="31537" y="40320"/>
                </a:lnTo>
                <a:lnTo>
                  <a:pt x="52957" y="0"/>
                </a:lnTo>
                <a:lnTo>
                  <a:pt x="78157" y="40320"/>
                </a:lnTo>
                <a:lnTo>
                  <a:pt x="103357" y="8820"/>
                </a:lnTo>
                <a:lnTo>
                  <a:pt x="100875" y="45359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6915385" y="5225853"/>
            <a:ext cx="100799" cy="65519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6927985" y="5244752"/>
            <a:ext cx="16379" cy="22679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6983425" y="5244752"/>
            <a:ext cx="16379" cy="22679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431888" y="5389219"/>
            <a:ext cx="213558" cy="213558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6475668" y="5432998"/>
            <a:ext cx="125999" cy="125999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6475668" y="5432998"/>
            <a:ext cx="31499" cy="31499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6507168" y="54329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6538668" y="5432998"/>
            <a:ext cx="31499" cy="31499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6570167" y="54329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6475668" y="54644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6507168" y="5464498"/>
            <a:ext cx="31499" cy="31499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6538668" y="54644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6570167" y="5464498"/>
            <a:ext cx="31499" cy="31499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6475668" y="5495998"/>
            <a:ext cx="31499" cy="31499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6507168" y="54959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6538668" y="5495998"/>
            <a:ext cx="31499" cy="31499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6570167" y="5495998"/>
            <a:ext cx="31499" cy="31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6846443" y="5659308"/>
            <a:ext cx="213558" cy="213558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6890223" y="5703087"/>
            <a:ext cx="125999" cy="125999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6902785" y="5705607"/>
            <a:ext cx="103358" cy="45360"/>
          </a:xfrm>
          <a:custGeom>
            <a:avLst/>
            <a:gdLst/>
            <a:ahLst/>
            <a:cxnLst/>
            <a:rect l="l" t="t" r="r" b="b"/>
            <a:pathLst>
              <a:path w="103358" h="45360">
                <a:moveTo>
                  <a:pt x="0" y="41580"/>
                </a:moveTo>
                <a:lnTo>
                  <a:pt x="10118" y="3780"/>
                </a:lnTo>
                <a:lnTo>
                  <a:pt x="31538" y="40320"/>
                </a:lnTo>
                <a:lnTo>
                  <a:pt x="52958" y="0"/>
                </a:lnTo>
                <a:lnTo>
                  <a:pt x="78158" y="40320"/>
                </a:lnTo>
                <a:lnTo>
                  <a:pt x="103358" y="8820"/>
                </a:lnTo>
                <a:lnTo>
                  <a:pt x="100875" y="45360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6902823" y="5747187"/>
            <a:ext cx="100799" cy="65519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6915423" y="5766087"/>
            <a:ext cx="16379" cy="22679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6970863" y="5766087"/>
            <a:ext cx="16379" cy="22679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7242155" y="5910553"/>
            <a:ext cx="213558" cy="213558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7285935" y="5954333"/>
            <a:ext cx="125999" cy="125999"/>
          </a:xfrm>
          <a:prstGeom prst="rect">
            <a:avLst/>
          </a:prstGeom>
          <a:solidFill>
            <a:srgbClr val="111111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7301055" y="5974493"/>
            <a:ext cx="95760" cy="42840"/>
          </a:xfrm>
          <a:custGeom>
            <a:avLst/>
            <a:gdLst/>
            <a:ahLst/>
            <a:cxnLst/>
            <a:rect l="l" t="t" r="r" b="b"/>
            <a:pathLst>
              <a:path w="95760" h="42840">
                <a:moveTo>
                  <a:pt x="0" y="42840"/>
                </a:moveTo>
                <a:lnTo>
                  <a:pt x="47880" y="0"/>
                </a:lnTo>
                <a:lnTo>
                  <a:pt x="95760" y="42840"/>
                </a:lnTo>
                <a:close/>
              </a:path>
            </a:pathLst>
          </a:cu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7313655" y="6017333"/>
            <a:ext cx="70559" cy="41579"/>
          </a:xfrm>
          <a:prstGeom prst="rect">
            <a:avLst/>
          </a:prstGeom>
          <a:solidFill>
            <a:srgbClr val="FFFFFF"/>
          </a:solidFill>
          <a:ln w="6281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7341375" y="6029933"/>
            <a:ext cx="15119" cy="28979"/>
          </a:xfrm>
          <a:prstGeom prst="rect">
            <a:avLst/>
          </a:prstGeom>
          <a:solidFill>
            <a:srgbClr val="FF77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7210750" y="5382938"/>
            <a:ext cx="226121" cy="226121"/>
          </a:xfrm>
          <a:prstGeom prst="ellipse">
            <a:avLst/>
          </a:prstGeom>
          <a:solidFill>
            <a:srgbClr val="F5F5F5"/>
          </a:solidFill>
          <a:ln w="1570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6425607" y="5904272"/>
            <a:ext cx="226121" cy="226121"/>
          </a:xfrm>
          <a:prstGeom prst="ellipse">
            <a:avLst/>
          </a:prstGeom>
          <a:solidFill>
            <a:srgbClr val="F5F5F5"/>
          </a:solidFill>
          <a:ln w="1570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6840162" y="6073863"/>
            <a:ext cx="226121" cy="226121"/>
          </a:xfrm>
          <a:prstGeom prst="ellipse">
            <a:avLst/>
          </a:prstGeom>
          <a:solidFill>
            <a:srgbClr val="F5F5F5"/>
          </a:solidFill>
          <a:ln w="1570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 rot="19320000">
            <a:off x="7694398" y="5169379"/>
            <a:ext cx="75373" cy="157028"/>
          </a:xfrm>
          <a:prstGeom prst="rect">
            <a:avLst/>
          </a:prstGeom>
          <a:solidFill>
            <a:srgbClr val="F1B39E"/>
          </a:solidFill>
          <a:ln w="816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 rot="2280000">
            <a:off x="7826302" y="5169379"/>
            <a:ext cx="75373" cy="157028"/>
          </a:xfrm>
          <a:prstGeom prst="rect">
            <a:avLst/>
          </a:prstGeom>
          <a:solidFill>
            <a:srgbClr val="F5C98A"/>
          </a:solidFill>
          <a:ln w="816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Rounded Rectangle 466"/>
          <p:cNvSpPr/>
          <p:nvPr/>
        </p:nvSpPr>
        <p:spPr>
          <a:xfrm>
            <a:off x="7738366" y="5144254"/>
            <a:ext cx="125622" cy="138185"/>
          </a:xfrm>
          <a:prstGeom prst="roundRect">
            <a:avLst/>
          </a:prstGeom>
          <a:solidFill>
            <a:srgbClr val="EBC2A7"/>
          </a:solidFill>
          <a:ln w="7537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7977049" y="5100286"/>
            <a:ext cx="1476068" cy="28265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6" b="0" i="0">
                <a:solidFill>
                  <a:srgbClr val="444444"/>
                </a:solidFill>
                <a:latin typeface="DejaVu Serif"/>
              </a:defRPr>
            </a:pPr>
            <a:r>
              <a:t>Collab. Experience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7769771" y="5376656"/>
            <a:ext cx="1695908" cy="4522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This history follows a chain-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   style, collaboration strategy...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7713241" y="5828899"/>
            <a:ext cx="301494" cy="219839"/>
          </a:xfrm>
          <a:prstGeom prst="rect">
            <a:avLst/>
          </a:prstGeom>
          <a:solidFill>
            <a:srgbClr val="B7E9F1"/>
          </a:solidFill>
          <a:ln w="12562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7776052" y="5860304"/>
            <a:ext cx="175872" cy="150748"/>
          </a:xfrm>
          <a:custGeom>
            <a:avLst/>
            <a:gdLst/>
            <a:ahLst/>
            <a:cxnLst/>
            <a:rect l="l" t="t" r="r" b="b"/>
            <a:pathLst>
              <a:path w="175872" h="150748">
                <a:moveTo>
                  <a:pt x="87936" y="0"/>
                </a:moveTo>
                <a:lnTo>
                  <a:pt x="175872" y="150748"/>
                </a:lnTo>
                <a:lnTo>
                  <a:pt x="0" y="150748"/>
                </a:lnTo>
                <a:close/>
              </a:path>
            </a:pathLst>
          </a:custGeom>
          <a:solidFill>
            <a:srgbClr val="FFB631"/>
          </a:solidFill>
          <a:ln w="9421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7838864" y="5891710"/>
            <a:ext cx="50249" cy="879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92" b="1" i="0">
                <a:solidFill>
                  <a:srgbClr val="111111"/>
                </a:solidFill>
                <a:latin typeface="DejaVu Sans"/>
              </a:defRPr>
            </a:pPr>
            <a:r>
              <a:t>!</a:t>
            </a:r>
          </a:p>
        </p:txBody>
      </p:sp>
      <p:cxnSp>
        <p:nvCxnSpPr>
          <p:cNvPr id="473" name="Connector 472"/>
          <p:cNvCxnSpPr/>
          <p:nvPr/>
        </p:nvCxnSpPr>
        <p:spPr>
          <a:xfrm>
            <a:off x="7863988" y="6048739"/>
            <a:ext cx="0" cy="50249"/>
          </a:xfrm>
          <a:prstGeom prst="line">
            <a:avLst/>
          </a:prstGeom>
          <a:ln w="12562">
            <a:solidFill>
              <a:srgbClr val="333333"/>
            </a:solidFill>
          </a:ln>
          <a:effectLst/>
        </p:spPr>
      </p:cxnSp>
      <p:cxnSp>
        <p:nvCxnSpPr>
          <p:cNvPr id="474" name="Connector 473"/>
          <p:cNvCxnSpPr/>
          <p:nvPr/>
        </p:nvCxnSpPr>
        <p:spPr>
          <a:xfrm>
            <a:off x="7801177" y="6098988"/>
            <a:ext cx="125623" cy="0"/>
          </a:xfrm>
          <a:prstGeom prst="line">
            <a:avLst/>
          </a:prstGeom>
          <a:ln w="12562">
            <a:solidFill>
              <a:srgbClr val="333333"/>
            </a:solidFill>
          </a:ln>
          <a:effectLst/>
        </p:spPr>
      </p:cxnSp>
      <p:sp>
        <p:nvSpPr>
          <p:cNvPr id="475" name="TextBox 474"/>
          <p:cNvSpPr txBox="1"/>
          <p:nvPr/>
        </p:nvSpPr>
        <p:spPr>
          <a:xfrm>
            <a:off x="8071266" y="5778649"/>
            <a:ext cx="1381851" cy="28265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86" b="0" i="0">
                <a:solidFill>
                  <a:srgbClr val="444444"/>
                </a:solidFill>
                <a:latin typeface="DejaVu Serif"/>
              </a:defRPr>
            </a:pPr>
            <a:r>
              <a:t>Failure Lessons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7662992" y="6086425"/>
            <a:ext cx="1790125" cy="439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Take care when summarizing the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   final result, DO NOT ...</a:t>
            </a:r>
          </a:p>
        </p:txBody>
      </p:sp>
      <p:sp>
        <p:nvSpPr>
          <p:cNvPr id="477" name="TextBox 476"/>
          <p:cNvSpPr txBox="1"/>
          <p:nvPr/>
        </p:nvSpPr>
        <p:spPr>
          <a:xfrm rot="5400000">
            <a:off x="5696995" y="5112848"/>
            <a:ext cx="408274" cy="12876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86" b="1" i="1">
                <a:solidFill>
                  <a:srgbClr val="E60000"/>
                </a:solidFill>
                <a:latin typeface="DejaVu Serif"/>
              </a:defRPr>
            </a:pPr>
            <a:r>
              <a:t>Core Path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86" b="1" i="1">
                <a:solidFill>
                  <a:srgbClr val="E60000"/>
                </a:solidFill>
                <a:latin typeface="DejaVu Serif"/>
              </a:defRPr>
            </a:pPr>
            <a:r>
              <a:t>Extraction</a:t>
            </a:r>
          </a:p>
        </p:txBody>
      </p:sp>
      <p:sp>
        <p:nvSpPr>
          <p:cNvPr id="478" name="Oval 477"/>
          <p:cNvSpPr/>
          <p:nvPr/>
        </p:nvSpPr>
        <p:spPr>
          <a:xfrm>
            <a:off x="9974452" y="263807"/>
            <a:ext cx="1972278" cy="1972278"/>
          </a:xfrm>
          <a:prstGeom prst="ellipse">
            <a:avLst/>
          </a:prstGeom>
          <a:solidFill>
            <a:srgbClr val="EDF7ED"/>
          </a:solidFill>
          <a:ln w="32661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10363883" y="785142"/>
            <a:ext cx="376868" cy="49621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0" name="Connector 479"/>
          <p:cNvCxnSpPr/>
          <p:nvPr/>
        </p:nvCxnSpPr>
        <p:spPr>
          <a:xfrm>
            <a:off x="10740751" y="785142"/>
            <a:ext cx="634395" cy="6281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0740751" y="785142"/>
            <a:ext cx="810267" cy="527616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10740751" y="785142"/>
            <a:ext cx="213559" cy="515054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10363883" y="1281352"/>
            <a:ext cx="590427" cy="18844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4" name="Connector 483"/>
          <p:cNvCxnSpPr/>
          <p:nvPr/>
        </p:nvCxnSpPr>
        <p:spPr>
          <a:xfrm flipV="1">
            <a:off x="10954310" y="791423"/>
            <a:ext cx="420836" cy="50877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5" name="Connector 484"/>
          <p:cNvCxnSpPr/>
          <p:nvPr/>
        </p:nvCxnSpPr>
        <p:spPr>
          <a:xfrm>
            <a:off x="10954310" y="1300196"/>
            <a:ext cx="596708" cy="12562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486" name="Connector 485"/>
          <p:cNvCxnSpPr/>
          <p:nvPr/>
        </p:nvCxnSpPr>
        <p:spPr>
          <a:xfrm flipH="1">
            <a:off x="10910342" y="1300196"/>
            <a:ext cx="43968" cy="584146"/>
          </a:xfrm>
          <a:prstGeom prst="line">
            <a:avLst/>
          </a:prstGeom>
          <a:ln w="25124">
            <a:solidFill>
              <a:srgbClr val="C65A5A"/>
            </a:solidFill>
            <a:tailEnd type="triangle" w="med" len="med"/>
          </a:ln>
          <a:effectLst/>
        </p:spPr>
      </p:cxnSp>
      <p:cxnSp>
        <p:nvCxnSpPr>
          <p:cNvPr id="487" name="Connector 486"/>
          <p:cNvCxnSpPr/>
          <p:nvPr/>
        </p:nvCxnSpPr>
        <p:spPr>
          <a:xfrm flipH="1">
            <a:off x="10910342" y="1312758"/>
            <a:ext cx="640676" cy="571584"/>
          </a:xfrm>
          <a:prstGeom prst="line">
            <a:avLst/>
          </a:prstGeom>
          <a:ln w="25124">
            <a:solidFill>
              <a:srgbClr val="C65A5A"/>
            </a:solidFill>
            <a:tailEnd type="triangle" w="med" len="med"/>
          </a:ln>
          <a:effectLst/>
        </p:spPr>
      </p:cxnSp>
      <p:sp>
        <p:nvSpPr>
          <p:cNvPr id="488" name="Oval 487"/>
          <p:cNvSpPr/>
          <p:nvPr/>
        </p:nvSpPr>
        <p:spPr>
          <a:xfrm>
            <a:off x="10558598" y="602989"/>
            <a:ext cx="364306" cy="364306"/>
          </a:xfrm>
          <a:prstGeom prst="ellipse">
            <a:avLst/>
          </a:prstGeom>
          <a:solidFill>
            <a:srgbClr val="52A879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10583723" y="640676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10772157" y="797704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1</a:t>
            </a:r>
          </a:p>
        </p:txBody>
      </p:sp>
      <p:sp>
        <p:nvSpPr>
          <p:cNvPr id="491" name="Oval 490"/>
          <p:cNvSpPr/>
          <p:nvPr/>
        </p:nvSpPr>
        <p:spPr>
          <a:xfrm>
            <a:off x="11192993" y="609270"/>
            <a:ext cx="364306" cy="364306"/>
          </a:xfrm>
          <a:prstGeom prst="ellipse">
            <a:avLst/>
          </a:prstGeom>
          <a:solidFill>
            <a:srgbClr val="98FF45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11218118" y="646957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1406552" y="803986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2</a:t>
            </a:r>
          </a:p>
        </p:txBody>
      </p:sp>
      <p:sp>
        <p:nvSpPr>
          <p:cNvPr id="494" name="Oval 493"/>
          <p:cNvSpPr/>
          <p:nvPr/>
        </p:nvSpPr>
        <p:spPr>
          <a:xfrm>
            <a:off x="10181729" y="1099199"/>
            <a:ext cx="364306" cy="364306"/>
          </a:xfrm>
          <a:prstGeom prst="ellipse">
            <a:avLst/>
          </a:prstGeom>
          <a:solidFill>
            <a:srgbClr val="75D66B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10206854" y="1136886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0395288" y="1293915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3</a:t>
            </a:r>
          </a:p>
        </p:txBody>
      </p:sp>
      <p:sp>
        <p:nvSpPr>
          <p:cNvPr id="497" name="Oval 496"/>
          <p:cNvSpPr/>
          <p:nvPr/>
        </p:nvSpPr>
        <p:spPr>
          <a:xfrm>
            <a:off x="10772157" y="1118043"/>
            <a:ext cx="364306" cy="364306"/>
          </a:xfrm>
          <a:prstGeom prst="ellipse">
            <a:avLst/>
          </a:prstGeom>
          <a:solidFill>
            <a:srgbClr val="00EB70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10797281" y="1155729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985716" y="1312758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4</a:t>
            </a:r>
          </a:p>
        </p:txBody>
      </p:sp>
      <p:sp>
        <p:nvSpPr>
          <p:cNvPr id="500" name="Oval 499"/>
          <p:cNvSpPr/>
          <p:nvPr/>
        </p:nvSpPr>
        <p:spPr>
          <a:xfrm>
            <a:off x="11368865" y="1130605"/>
            <a:ext cx="364306" cy="364306"/>
          </a:xfrm>
          <a:prstGeom prst="ellipse">
            <a:avLst/>
          </a:prstGeom>
          <a:solidFill>
            <a:srgbClr val="75EFB1"/>
          </a:solidFill>
          <a:ln w="31405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11393990" y="1168292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11582424" y="1325320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5</a:t>
            </a:r>
          </a:p>
        </p:txBody>
      </p:sp>
      <p:sp>
        <p:nvSpPr>
          <p:cNvPr id="503" name="Oval 502"/>
          <p:cNvSpPr/>
          <p:nvPr/>
        </p:nvSpPr>
        <p:spPr>
          <a:xfrm>
            <a:off x="10728189" y="1702189"/>
            <a:ext cx="364306" cy="364306"/>
          </a:xfrm>
          <a:prstGeom prst="ellipse">
            <a:avLst/>
          </a:prstGeom>
          <a:solidFill>
            <a:srgbClr val="FFE1E1"/>
          </a:solidFill>
          <a:ln w="31405">
            <a:solidFill>
              <a:srgbClr val="C65A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10753313" y="1739876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l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10941748" y="1896904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6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0018420" y="1564004"/>
            <a:ext cx="179389" cy="21104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7" b="0" i="1">
                <a:solidFill>
                  <a:srgbClr val="00751C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0145048" y="1532347"/>
            <a:ext cx="253255" cy="949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23" b="0" i="1">
                <a:solidFill>
                  <a:srgbClr val="00751C"/>
                </a:solidFill>
                <a:latin typeface="DejaVu Serif"/>
              </a:defRPr>
            </a:pPr>
            <a:r>
              <a:t>(t+1)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0134495" y="1690631"/>
            <a:ext cx="327121" cy="949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81" b="0" i="0">
                <a:solidFill>
                  <a:srgbClr val="00751C"/>
                </a:solidFill>
                <a:latin typeface="DejaVu Serif"/>
              </a:defRPr>
            </a:pPr>
            <a:r>
              <a:t>insight</a:t>
            </a:r>
          </a:p>
        </p:txBody>
      </p:sp>
      <p:sp>
        <p:nvSpPr>
          <p:cNvPr id="509" name="Oval 508"/>
          <p:cNvSpPr/>
          <p:nvPr/>
        </p:nvSpPr>
        <p:spPr>
          <a:xfrm>
            <a:off x="9974452" y="2525018"/>
            <a:ext cx="1972278" cy="1972278"/>
          </a:xfrm>
          <a:prstGeom prst="ellipse">
            <a:avLst/>
          </a:prstGeom>
          <a:solidFill>
            <a:srgbClr val="EAF2FF"/>
          </a:solidFill>
          <a:ln w="32661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>
            <a:off x="10376445" y="3178257"/>
            <a:ext cx="12562" cy="816548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11" name="Connector 510"/>
          <p:cNvCxnSpPr/>
          <p:nvPr/>
        </p:nvCxnSpPr>
        <p:spPr>
          <a:xfrm flipV="1">
            <a:off x="10389007" y="3454627"/>
            <a:ext cx="521335" cy="540178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12" name="Connector 511"/>
          <p:cNvCxnSpPr/>
          <p:nvPr/>
        </p:nvCxnSpPr>
        <p:spPr>
          <a:xfrm flipV="1">
            <a:off x="11387709" y="3599093"/>
            <a:ext cx="358025" cy="40199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1387709" y="2989823"/>
            <a:ext cx="94217" cy="1011263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14" name="Connector 513"/>
          <p:cNvCxnSpPr/>
          <p:nvPr/>
        </p:nvCxnSpPr>
        <p:spPr>
          <a:xfrm flipH="1" flipV="1">
            <a:off x="11481926" y="2989823"/>
            <a:ext cx="263808" cy="60927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15" name="Connector 514"/>
          <p:cNvCxnSpPr/>
          <p:nvPr/>
        </p:nvCxnSpPr>
        <p:spPr>
          <a:xfrm flipH="1" flipV="1">
            <a:off x="10376445" y="3178257"/>
            <a:ext cx="533897" cy="276370"/>
          </a:xfrm>
          <a:prstGeom prst="line">
            <a:avLst/>
          </a:prstGeom>
          <a:ln w="25124">
            <a:solidFill>
              <a:srgbClr val="E45B5B"/>
            </a:solidFill>
            <a:tailEnd type="triangle" w="med" len="med"/>
          </a:ln>
          <a:effectLst/>
        </p:spPr>
      </p:cxnSp>
      <p:cxnSp>
        <p:nvCxnSpPr>
          <p:cNvPr id="516" name="Connector 515"/>
          <p:cNvCxnSpPr/>
          <p:nvPr/>
        </p:nvCxnSpPr>
        <p:spPr>
          <a:xfrm flipH="1">
            <a:off x="10389007" y="3454627"/>
            <a:ext cx="521335" cy="540178"/>
          </a:xfrm>
          <a:prstGeom prst="line">
            <a:avLst/>
          </a:prstGeom>
          <a:ln w="25124">
            <a:solidFill>
              <a:srgbClr val="E45B5B"/>
            </a:solidFill>
            <a:tailEnd type="triangle" w="med" len="med"/>
          </a:ln>
          <a:effectLst/>
        </p:spPr>
      </p:cxnSp>
      <p:cxnSp>
        <p:nvCxnSpPr>
          <p:cNvPr id="517" name="Connector 516"/>
          <p:cNvCxnSpPr/>
          <p:nvPr/>
        </p:nvCxnSpPr>
        <p:spPr>
          <a:xfrm>
            <a:off x="10910342" y="3454627"/>
            <a:ext cx="835392" cy="144466"/>
          </a:xfrm>
          <a:prstGeom prst="line">
            <a:avLst/>
          </a:prstGeom>
          <a:ln w="25124">
            <a:solidFill>
              <a:srgbClr val="E45B5B"/>
            </a:solidFill>
            <a:tailEnd type="triangle" w="med" len="med"/>
          </a:ln>
          <a:effectLst/>
        </p:spPr>
      </p:cxnSp>
      <p:cxnSp>
        <p:nvCxnSpPr>
          <p:cNvPr id="518" name="Connector 517"/>
          <p:cNvCxnSpPr/>
          <p:nvPr/>
        </p:nvCxnSpPr>
        <p:spPr>
          <a:xfrm>
            <a:off x="10910342" y="3454627"/>
            <a:ext cx="477367" cy="546459"/>
          </a:xfrm>
          <a:prstGeom prst="line">
            <a:avLst/>
          </a:prstGeom>
          <a:ln w="25124">
            <a:solidFill>
              <a:srgbClr val="E45B5B"/>
            </a:solidFill>
            <a:tailEnd type="triangle" w="med" len="med"/>
          </a:ln>
          <a:effectLst/>
        </p:spPr>
      </p:cxnSp>
      <p:sp>
        <p:nvSpPr>
          <p:cNvPr id="519" name="Oval 518"/>
          <p:cNvSpPr/>
          <p:nvPr/>
        </p:nvSpPr>
        <p:spPr>
          <a:xfrm>
            <a:off x="10219416" y="3021228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10244541" y="3058915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10407851" y="3190819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1</a:t>
            </a:r>
          </a:p>
        </p:txBody>
      </p:sp>
      <p:sp>
        <p:nvSpPr>
          <p:cNvPr id="522" name="Oval 521"/>
          <p:cNvSpPr/>
          <p:nvPr/>
        </p:nvSpPr>
        <p:spPr>
          <a:xfrm>
            <a:off x="10231979" y="3837777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0257103" y="3875464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0420413" y="4007368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2</a:t>
            </a:r>
          </a:p>
        </p:txBody>
      </p:sp>
      <p:sp>
        <p:nvSpPr>
          <p:cNvPr id="525" name="Oval 524"/>
          <p:cNvSpPr/>
          <p:nvPr/>
        </p:nvSpPr>
        <p:spPr>
          <a:xfrm>
            <a:off x="11230680" y="3844058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11255805" y="3881745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11419114" y="4013649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3</a:t>
            </a:r>
          </a:p>
        </p:txBody>
      </p:sp>
      <p:sp>
        <p:nvSpPr>
          <p:cNvPr id="528" name="Oval 527"/>
          <p:cNvSpPr/>
          <p:nvPr/>
        </p:nvSpPr>
        <p:spPr>
          <a:xfrm>
            <a:off x="11588705" y="3442065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1613830" y="3479752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11777139" y="3611656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4</a:t>
            </a:r>
          </a:p>
        </p:txBody>
      </p:sp>
      <p:sp>
        <p:nvSpPr>
          <p:cNvPr id="531" name="Oval 530"/>
          <p:cNvSpPr/>
          <p:nvPr/>
        </p:nvSpPr>
        <p:spPr>
          <a:xfrm>
            <a:off x="11324897" y="2832794"/>
            <a:ext cx="314057" cy="314057"/>
          </a:xfrm>
          <a:prstGeom prst="ellipse">
            <a:avLst/>
          </a:prstGeom>
          <a:solidFill>
            <a:srgbClr val="73A9EC"/>
          </a:solidFill>
          <a:ln w="31405">
            <a:solidFill>
              <a:srgbClr val="003F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11350022" y="2870481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1513331" y="3002385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5</a:t>
            </a:r>
          </a:p>
        </p:txBody>
      </p:sp>
      <p:sp>
        <p:nvSpPr>
          <p:cNvPr id="534" name="Oval 533"/>
          <p:cNvSpPr/>
          <p:nvPr/>
        </p:nvSpPr>
        <p:spPr>
          <a:xfrm>
            <a:off x="10753313" y="3297599"/>
            <a:ext cx="314057" cy="314057"/>
          </a:xfrm>
          <a:prstGeom prst="ellipse">
            <a:avLst/>
          </a:prstGeom>
          <a:solidFill>
            <a:srgbClr val="FFE1E1"/>
          </a:solidFill>
          <a:ln w="31405">
            <a:solidFill>
              <a:srgbClr val="C65A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10778438" y="3335286"/>
            <a:ext cx="188434" cy="2386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33" b="0" i="1">
                <a:solidFill>
                  <a:srgbClr val="111111"/>
                </a:solidFill>
                <a:latin typeface="DejaVu Serif"/>
              </a:defRPr>
            </a:pPr>
            <a:r>
              <a:t>q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10941748" y="3467189"/>
            <a:ext cx="113060" cy="113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41" b="0" i="1">
                <a:solidFill>
                  <a:srgbClr val="111111"/>
                </a:solidFill>
                <a:latin typeface="DejaVu Serif"/>
              </a:defRPr>
            </a:pPr>
            <a:r>
              <a:t>6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817423" y="4095304"/>
            <a:ext cx="179389" cy="21104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7" b="0" i="1">
                <a:solidFill>
                  <a:srgbClr val="003F78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9944051" y="4063647"/>
            <a:ext cx="253255" cy="949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23" b="0" i="1">
                <a:solidFill>
                  <a:srgbClr val="003F78"/>
                </a:solidFill>
                <a:latin typeface="DejaVu Serif"/>
              </a:defRPr>
            </a:pPr>
            <a:r>
              <a:t>(t+1)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9933499" y="4221931"/>
            <a:ext cx="327121" cy="949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81" b="0" i="0">
                <a:solidFill>
                  <a:srgbClr val="003F78"/>
                </a:solidFill>
                <a:latin typeface="DejaVu Serif"/>
              </a:defRPr>
            </a:pPr>
            <a:r>
              <a:t>query</a:t>
            </a:r>
          </a:p>
        </p:txBody>
      </p:sp>
      <p:cxnSp>
        <p:nvCxnSpPr>
          <p:cNvPr id="540" name="Connector 539"/>
          <p:cNvCxnSpPr/>
          <p:nvPr/>
        </p:nvCxnSpPr>
        <p:spPr>
          <a:xfrm flipV="1">
            <a:off x="10910342" y="2066495"/>
            <a:ext cx="0" cy="1212260"/>
          </a:xfrm>
          <a:prstGeom prst="line">
            <a:avLst/>
          </a:prstGeom>
          <a:ln w="31405">
            <a:solidFill>
              <a:srgbClr val="C65A5A"/>
            </a:solidFill>
            <a:prstDash val="dash"/>
            <a:tailEnd type="triangle" w="med" len="med"/>
          </a:ln>
          <a:effectLst/>
        </p:spPr>
      </p:cxnSp>
      <p:sp>
        <p:nvSpPr>
          <p:cNvPr id="541" name="Oval 540"/>
          <p:cNvSpPr/>
          <p:nvPr/>
        </p:nvSpPr>
        <p:spPr>
          <a:xfrm>
            <a:off x="9974452" y="4735980"/>
            <a:ext cx="1972278" cy="1972278"/>
          </a:xfrm>
          <a:prstGeom prst="ellipse">
            <a:avLst/>
          </a:prstGeom>
          <a:solidFill>
            <a:srgbClr val="F8E7F7"/>
          </a:solidFill>
          <a:ln w="32661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2" name="Connector 541"/>
          <p:cNvCxnSpPr/>
          <p:nvPr/>
        </p:nvCxnSpPr>
        <p:spPr>
          <a:xfrm flipH="1">
            <a:off x="10564879" y="6186924"/>
            <a:ext cx="829111" cy="0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43" name="Connector 542"/>
          <p:cNvCxnSpPr/>
          <p:nvPr/>
        </p:nvCxnSpPr>
        <p:spPr>
          <a:xfrm flipV="1">
            <a:off x="10564879" y="5433187"/>
            <a:ext cx="12562" cy="753737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cxnSp>
        <p:nvCxnSpPr>
          <p:cNvPr id="544" name="Connector 543"/>
          <p:cNvCxnSpPr/>
          <p:nvPr/>
        </p:nvCxnSpPr>
        <p:spPr>
          <a:xfrm>
            <a:off x="10577441" y="5433187"/>
            <a:ext cx="810268" cy="6281"/>
          </a:xfrm>
          <a:prstGeom prst="line">
            <a:avLst/>
          </a:prstGeom>
          <a:ln w="25124">
            <a:solidFill>
              <a:srgbClr val="666666"/>
            </a:solidFill>
            <a:tailEnd type="triangle" w="med" len="med"/>
          </a:ln>
          <a:effectLst/>
        </p:spPr>
      </p:cxnSp>
      <p:sp>
        <p:nvSpPr>
          <p:cNvPr id="545" name="Oval 544"/>
          <p:cNvSpPr/>
          <p:nvPr/>
        </p:nvSpPr>
        <p:spPr>
          <a:xfrm>
            <a:off x="10439256" y="5295002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0495912" y="5351657"/>
            <a:ext cx="163058" cy="163058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0495912" y="5351657"/>
            <a:ext cx="40764" cy="40764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0536677" y="535165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0577441" y="5351657"/>
            <a:ext cx="40764" cy="407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0618206" y="535165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95912" y="5392422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0536677" y="5392422"/>
            <a:ext cx="40764" cy="40764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0577441" y="5392422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0618206" y="5392422"/>
            <a:ext cx="40764" cy="40764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0495912" y="5433187"/>
            <a:ext cx="40764" cy="40764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10536677" y="543318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0577441" y="5433187"/>
            <a:ext cx="40764" cy="40764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0618206" y="5433187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1249524" y="5301283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1306179" y="5357939"/>
            <a:ext cx="163058" cy="163058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1306179" y="5357939"/>
            <a:ext cx="40764" cy="40764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1346944" y="5357939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1387709" y="5357939"/>
            <a:ext cx="40764" cy="407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1428473" y="5357939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1306179" y="5398703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1346944" y="5398703"/>
            <a:ext cx="40764" cy="40764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11387709" y="5398703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1428473" y="5398703"/>
            <a:ext cx="40764" cy="40764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11306179" y="5439468"/>
            <a:ext cx="40764" cy="40764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1346944" y="5439468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1387709" y="5439468"/>
            <a:ext cx="40764" cy="40764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11428473" y="5439468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10426694" y="6048739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0483350" y="6105394"/>
            <a:ext cx="163058" cy="163058"/>
          </a:xfrm>
          <a:prstGeom prst="rect">
            <a:avLst/>
          </a:prstGeom>
          <a:solidFill>
            <a:srgbClr val="FFF7EF"/>
          </a:solidFill>
          <a:ln w="8793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10483350" y="6105394"/>
            <a:ext cx="40764" cy="40764"/>
          </a:xfrm>
          <a:prstGeom prst="rect">
            <a:avLst/>
          </a:prstGeom>
          <a:solidFill>
            <a:srgbClr val="FF40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10524115" y="6105394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10564879" y="6105394"/>
            <a:ext cx="40764" cy="407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10605644" y="6105394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10483350" y="6146159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10524115" y="6146159"/>
            <a:ext cx="40764" cy="40764"/>
          </a:xfrm>
          <a:prstGeom prst="rect">
            <a:avLst/>
          </a:prstGeom>
          <a:solidFill>
            <a:srgbClr val="EE17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10564879" y="6146159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10605644" y="6146159"/>
            <a:ext cx="40764" cy="40764"/>
          </a:xfrm>
          <a:prstGeom prst="rect">
            <a:avLst/>
          </a:prstGeom>
          <a:solidFill>
            <a:srgbClr val="FF80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10483350" y="6186924"/>
            <a:ext cx="40764" cy="40764"/>
          </a:xfrm>
          <a:prstGeom prst="rect">
            <a:avLst/>
          </a:prstGeom>
          <a:solidFill>
            <a:srgbClr val="002B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10524115" y="6186924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10564879" y="6186924"/>
            <a:ext cx="40764" cy="40764"/>
          </a:xfrm>
          <a:prstGeom prst="rect">
            <a:avLst/>
          </a:prstGeom>
          <a:solidFill>
            <a:srgbClr val="FF17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10605644" y="6186924"/>
            <a:ext cx="40764" cy="40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1255805" y="6048739"/>
            <a:ext cx="276370" cy="276370"/>
          </a:xfrm>
          <a:prstGeom prst="ellipse">
            <a:avLst/>
          </a:prstGeom>
          <a:solidFill>
            <a:srgbClr val="F4E8FA"/>
          </a:solidFill>
          <a:ln w="31405">
            <a:solidFill>
              <a:srgbClr val="3C00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11312461" y="6105394"/>
            <a:ext cx="163058" cy="163058"/>
          </a:xfrm>
          <a:prstGeom prst="rect">
            <a:avLst/>
          </a:prstGeom>
          <a:solidFill>
            <a:srgbClr val="ECF7FF"/>
          </a:solidFill>
          <a:ln w="7537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11325023" y="6108656"/>
            <a:ext cx="137934" cy="58701"/>
          </a:xfrm>
          <a:custGeom>
            <a:avLst/>
            <a:gdLst/>
            <a:ahLst/>
            <a:cxnLst/>
            <a:rect l="l" t="t" r="r" b="b"/>
            <a:pathLst>
              <a:path w="137934" h="58701">
                <a:moveTo>
                  <a:pt x="0" y="53809"/>
                </a:moveTo>
                <a:lnTo>
                  <a:pt x="16788" y="4891"/>
                </a:lnTo>
                <a:lnTo>
                  <a:pt x="44508" y="52178"/>
                </a:lnTo>
                <a:lnTo>
                  <a:pt x="72228" y="0"/>
                </a:lnTo>
                <a:lnTo>
                  <a:pt x="104840" y="52178"/>
                </a:lnTo>
                <a:lnTo>
                  <a:pt x="137451" y="11414"/>
                </a:lnTo>
                <a:lnTo>
                  <a:pt x="137934" y="58701"/>
                </a:lnTo>
                <a:close/>
              </a:path>
            </a:pathLst>
          </a:custGeom>
          <a:solidFill>
            <a:srgbClr val="FFE62E"/>
          </a:solidFill>
          <a:ln w="6281">
            <a:solidFill>
              <a:srgbClr val="533A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11328766" y="6162465"/>
            <a:ext cx="130446" cy="84790"/>
          </a:xfrm>
          <a:prstGeom prst="rect">
            <a:avLst/>
          </a:prstGeom>
          <a:solidFill>
            <a:srgbClr val="FFFFFF"/>
          </a:solidFill>
          <a:ln w="6281">
            <a:solidFill>
              <a:srgbClr val="15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11345072" y="6186924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11416818" y="6186924"/>
            <a:ext cx="21197" cy="29350"/>
          </a:xfrm>
          <a:prstGeom prst="rect">
            <a:avLst/>
          </a:prstGeom>
          <a:solidFill>
            <a:srgbClr val="0C5B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Rounded Rectangle 592"/>
          <p:cNvSpPr/>
          <p:nvPr/>
        </p:nvSpPr>
        <p:spPr>
          <a:xfrm>
            <a:off x="9968171" y="4936977"/>
            <a:ext cx="452242" cy="364306"/>
          </a:xfrm>
          <a:prstGeom prst="roundRect">
            <a:avLst/>
          </a:pr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10230471" y="5295002"/>
            <a:ext cx="85926" cy="119341"/>
          </a:xfrm>
          <a:custGeom>
            <a:avLst/>
            <a:gdLst/>
            <a:ahLst/>
            <a:cxnLst/>
            <a:rect l="l" t="t" r="r" b="b"/>
            <a:pathLst>
              <a:path w="85926" h="119341">
                <a:moveTo>
                  <a:pt x="0" y="0"/>
                </a:moveTo>
                <a:lnTo>
                  <a:pt x="76881" y="119341"/>
                </a:lnTo>
                <a:lnTo>
                  <a:pt x="85926" y="0"/>
                </a:lnTo>
                <a:close/>
              </a:path>
            </a:pathLst>
          </a:cu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10081231" y="5093628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10194292" y="5093628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0307352" y="5093628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Rounded Rectangle 597"/>
          <p:cNvSpPr/>
          <p:nvPr/>
        </p:nvSpPr>
        <p:spPr>
          <a:xfrm>
            <a:off x="11362584" y="4836478"/>
            <a:ext cx="452242" cy="364306"/>
          </a:xfrm>
          <a:prstGeom prst="roundRect">
            <a:avLst/>
          </a:pr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1624885" y="5194503"/>
            <a:ext cx="85926" cy="119342"/>
          </a:xfrm>
          <a:custGeom>
            <a:avLst/>
            <a:gdLst/>
            <a:ahLst/>
            <a:cxnLst/>
            <a:rect l="l" t="t" r="r" b="b"/>
            <a:pathLst>
              <a:path w="85926" h="119342">
                <a:moveTo>
                  <a:pt x="0" y="0"/>
                </a:moveTo>
                <a:lnTo>
                  <a:pt x="76881" y="119342"/>
                </a:lnTo>
                <a:lnTo>
                  <a:pt x="85926" y="0"/>
                </a:lnTo>
                <a:close/>
              </a:path>
            </a:pathLst>
          </a:cu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11475645" y="4993130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11588705" y="4993130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11701766" y="4993130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3" name="Rounded Rectangle 602"/>
          <p:cNvSpPr/>
          <p:nvPr/>
        </p:nvSpPr>
        <p:spPr>
          <a:xfrm>
            <a:off x="9949327" y="5690713"/>
            <a:ext cx="452242" cy="364306"/>
          </a:xfrm>
          <a:prstGeom prst="roundRect">
            <a:avLst/>
          </a:pr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0211628" y="6048739"/>
            <a:ext cx="85926" cy="119341"/>
          </a:xfrm>
          <a:custGeom>
            <a:avLst/>
            <a:gdLst/>
            <a:ahLst/>
            <a:cxnLst/>
            <a:rect l="l" t="t" r="r" b="b"/>
            <a:pathLst>
              <a:path w="85926" h="119341">
                <a:moveTo>
                  <a:pt x="0" y="0"/>
                </a:moveTo>
                <a:lnTo>
                  <a:pt x="76881" y="119341"/>
                </a:lnTo>
                <a:lnTo>
                  <a:pt x="85926" y="0"/>
                </a:lnTo>
                <a:close/>
              </a:path>
            </a:pathLst>
          </a:cu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10062388" y="5847365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10175448" y="5847365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10288509" y="5847365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8" name="Rounded Rectangle 607"/>
          <p:cNvSpPr/>
          <p:nvPr/>
        </p:nvSpPr>
        <p:spPr>
          <a:xfrm>
            <a:off x="11400271" y="5659308"/>
            <a:ext cx="452242" cy="364306"/>
          </a:xfrm>
          <a:prstGeom prst="roundRect">
            <a:avLst/>
          </a:pr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1662571" y="6017333"/>
            <a:ext cx="85926" cy="119342"/>
          </a:xfrm>
          <a:custGeom>
            <a:avLst/>
            <a:gdLst/>
            <a:ahLst/>
            <a:cxnLst/>
            <a:rect l="l" t="t" r="r" b="b"/>
            <a:pathLst>
              <a:path w="85926" h="119342">
                <a:moveTo>
                  <a:pt x="0" y="0"/>
                </a:moveTo>
                <a:lnTo>
                  <a:pt x="76882" y="119342"/>
                </a:lnTo>
                <a:lnTo>
                  <a:pt x="85926" y="0"/>
                </a:lnTo>
                <a:close/>
              </a:path>
            </a:pathLst>
          </a:custGeom>
          <a:solidFill>
            <a:srgbClr val="39A7E8"/>
          </a:solidFill>
          <a:ln w="6281">
            <a:solidFill>
              <a:srgbClr val="39A7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11513331" y="5815959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11626392" y="5815959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11739453" y="5815959"/>
            <a:ext cx="75373" cy="753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10772157" y="5653027"/>
            <a:ext cx="196474" cy="23114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10" b="0" i="1">
                <a:solidFill>
                  <a:srgbClr val="444444"/>
                </a:solidFill>
                <a:latin typeface="DejaVu Serif"/>
              </a:defRPr>
            </a:pPr>
            <a:r>
              <a:t>G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10910844" y="5618355"/>
            <a:ext cx="277375" cy="1040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82" b="0" i="1">
                <a:solidFill>
                  <a:srgbClr val="444444"/>
                </a:solidFill>
                <a:latin typeface="DejaVu Serif"/>
              </a:defRPr>
            </a:pPr>
            <a:r>
              <a:t>(Q)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10899287" y="5791714"/>
            <a:ext cx="358276" cy="1040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37" b="0" i="0">
                <a:solidFill>
                  <a:srgbClr val="444444"/>
                </a:solidFill>
                <a:latin typeface="DejaVu Serif"/>
              </a:defRPr>
            </a:pPr>
            <a:r>
              <a:t>inter</a:t>
            </a:r>
          </a:p>
        </p:txBody>
      </p:sp>
      <p:sp>
        <p:nvSpPr>
          <p:cNvPr id="616" name="Rectangle 615"/>
          <p:cNvSpPr/>
          <p:nvPr/>
        </p:nvSpPr>
        <p:spPr>
          <a:xfrm rot="180000">
            <a:off x="9597583" y="3391816"/>
            <a:ext cx="75373" cy="150747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 rot="21480000">
            <a:off x="9748331" y="3379254"/>
            <a:ext cx="94217" cy="175871"/>
          </a:xfrm>
          <a:prstGeom prst="rect">
            <a:avLst/>
          </a:prstGeom>
          <a:solidFill>
            <a:srgbClr val="FF9999"/>
          </a:solidFill>
          <a:ln w="12562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Editable broad process arrow"/>
          <p:cNvSpPr/>
          <p:nvPr/>
        </p:nvSpPr>
        <p:spPr>
          <a:xfrm>
            <a:off x="9880235" y="3329004"/>
            <a:ext cx="785142" cy="276371"/>
          </a:xfrm>
          <a:custGeom>
            <a:avLst/>
            <a:gdLst/>
            <a:ahLst/>
            <a:cxnLst/>
            <a:rect l="l" t="t" r="r" b="b"/>
            <a:pathLst>
              <a:path w="785142" h="276371">
                <a:moveTo>
                  <a:pt x="0" y="50250"/>
                </a:moveTo>
                <a:lnTo>
                  <a:pt x="596708" y="50250"/>
                </a:lnTo>
                <a:lnTo>
                  <a:pt x="596708" y="0"/>
                </a:lnTo>
                <a:lnTo>
                  <a:pt x="785142" y="138185"/>
                </a:lnTo>
                <a:lnTo>
                  <a:pt x="596708" y="276371"/>
                </a:lnTo>
                <a:lnTo>
                  <a:pt x="596708" y="226121"/>
                </a:lnTo>
                <a:lnTo>
                  <a:pt x="0" y="226121"/>
                </a:lnTo>
                <a:close/>
              </a:path>
            </a:pathLst>
          </a:custGeom>
          <a:solidFill>
            <a:srgbClr val="FF7777"/>
          </a:solidFill>
          <a:ln w="13818">
            <a:solidFill>
              <a:srgbClr val="E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9873954" y="2079057"/>
            <a:ext cx="847954" cy="51505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35" b="1" i="1">
                <a:solidFill>
                  <a:srgbClr val="E60000"/>
                </a:solidFill>
                <a:latin typeface="DejaVu Serif"/>
              </a:defRPr>
            </a:pPr>
            <a:r>
              <a:t>Update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35" b="1" i="1">
                <a:solidFill>
                  <a:srgbClr val="E60000"/>
                </a:solidFill>
                <a:latin typeface="DejaVu Serif"/>
              </a:defRPr>
            </a:pPr>
            <a:r>
              <a:t>Insights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10401569" y="4183240"/>
            <a:ext cx="1067794" cy="5338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35" b="1" i="1">
                <a:solidFill>
                  <a:srgbClr val="E60000"/>
                </a:solidFill>
                <a:latin typeface="DejaVu Serif"/>
              </a:defRPr>
            </a:pPr>
            <a:r>
              <a:t>Update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35" b="1" i="1">
                <a:solidFill>
                  <a:srgbClr val="E60000"/>
                </a:solidFill>
                <a:latin typeface="DejaVu Serif"/>
              </a:defRPr>
            </a:pPr>
            <a:r>
              <a:t>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G-Memory Tracing Hierarchical Memory for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2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