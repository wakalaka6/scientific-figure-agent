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02915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nvas background"/>
          <p:cNvSpPr/>
          <p:nvPr/>
        </p:nvSpPr>
        <p:spPr>
          <a:xfrm>
            <a:off x="0" y="0"/>
            <a:ext cx="12191999" cy="60291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sting sample label"/>
          <p:cNvSpPr txBox="1"/>
          <p:nvPr/>
        </p:nvSpPr>
        <p:spPr>
          <a:xfrm rot="16200000">
            <a:off x="53473" y="548105"/>
            <a:ext cx="320842" cy="17044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89" b="0" i="0">
                <a:solidFill>
                  <a:srgbClr val="000000"/>
                </a:solidFill>
                <a:latin typeface="DejaVu Serif"/>
              </a:rPr>
              <a:t>Testing sample</a:t>
            </a:r>
          </a:p>
        </p:txBody>
      </p:sp>
      <p:pic>
        <p:nvPicPr>
          <p:cNvPr id="4" name="testing cat photo" descr="asset-test_c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842" y="594894"/>
            <a:ext cx="1530684" cy="1604210"/>
          </a:xfrm>
          <a:prstGeom prst="rect">
            <a:avLst/>
          </a:prstGeom>
        </p:spPr>
      </p:pic>
      <p:sp>
        <p:nvSpPr>
          <p:cNvPr id="5" name="right process arrow"/>
          <p:cNvSpPr/>
          <p:nvPr/>
        </p:nvSpPr>
        <p:spPr>
          <a:xfrm>
            <a:off x="2025315" y="1303421"/>
            <a:ext cx="467895" cy="401052"/>
          </a:xfrm>
          <a:custGeom>
            <a:avLst/>
            <a:gdLst/>
            <a:ahLst/>
            <a:cxnLst/>
            <a:rect l="l" t="t" r="r" b="b"/>
            <a:pathLst>
              <a:path w="467895" h="401052">
                <a:moveTo>
                  <a:pt x="0" y="100263"/>
                </a:moveTo>
                <a:lnTo>
                  <a:pt x="257342" y="100263"/>
                </a:lnTo>
                <a:lnTo>
                  <a:pt x="257342" y="0"/>
                </a:lnTo>
                <a:lnTo>
                  <a:pt x="467895" y="200526"/>
                </a:lnTo>
                <a:lnTo>
                  <a:pt x="257342" y="401052"/>
                </a:lnTo>
                <a:lnTo>
                  <a:pt x="257342" y="300789"/>
                </a:lnTo>
                <a:lnTo>
                  <a:pt x="0" y="300789"/>
                </a:lnTo>
                <a:close/>
              </a:path>
            </a:pathLst>
          </a:custGeom>
          <a:solidFill>
            <a:srgbClr val="FFFFFF"/>
          </a:solidFill>
          <a:ln w="26736">
            <a:solidFill>
              <a:srgbClr val="2F559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raining data label"/>
          <p:cNvSpPr txBox="1"/>
          <p:nvPr/>
        </p:nvSpPr>
        <p:spPr>
          <a:xfrm rot="16200000">
            <a:off x="46789" y="2834105"/>
            <a:ext cx="327526" cy="265363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1" b="0" i="0">
                <a:solidFill>
                  <a:srgbClr val="000000"/>
                </a:solidFill>
                <a:latin typeface="DejaVu Serif"/>
              </a:rPr>
              <a:t>Task-t training data</a:t>
            </a:r>
          </a:p>
        </p:txBody>
      </p:sp>
      <p:sp>
        <p:nvSpPr>
          <p:cNvPr id="7" name="training sample stack frame"/>
          <p:cNvSpPr/>
          <p:nvPr/>
        </p:nvSpPr>
        <p:spPr>
          <a:xfrm>
            <a:off x="501315" y="2860842"/>
            <a:ext cx="1457157" cy="3174999"/>
          </a:xfrm>
          <a:prstGeom prst="rect">
            <a:avLst/>
          </a:prstGeom>
          <a:solidFill>
            <a:srgbClr val="FFFFFF"/>
          </a:solidFill>
          <a:ln w="26736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kitten photo layer" descr="asset-kitt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578" y="2954420"/>
            <a:ext cx="1022684" cy="1049421"/>
          </a:xfrm>
          <a:prstGeom prst="rect">
            <a:avLst/>
          </a:prstGeom>
        </p:spPr>
      </p:pic>
      <p:sp>
        <p:nvSpPr>
          <p:cNvPr id="9" name="kitten card border"/>
          <p:cNvSpPr/>
          <p:nvPr/>
        </p:nvSpPr>
        <p:spPr>
          <a:xfrm>
            <a:off x="574842" y="2927684"/>
            <a:ext cx="1082842" cy="1122947"/>
          </a:xfrm>
          <a:prstGeom prst="rect">
            <a:avLst/>
          </a:prstGeom>
          <a:noFill/>
          <a:ln w="26736">
            <a:solidFill>
              <a:srgbClr val="ED7D31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kitten photo layer" descr="asset-kitt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42" y="3074736"/>
            <a:ext cx="1022684" cy="1049421"/>
          </a:xfrm>
          <a:prstGeom prst="rect">
            <a:avLst/>
          </a:prstGeom>
        </p:spPr>
      </p:pic>
      <p:sp>
        <p:nvSpPr>
          <p:cNvPr id="11" name="kitten card border"/>
          <p:cNvSpPr/>
          <p:nvPr/>
        </p:nvSpPr>
        <p:spPr>
          <a:xfrm>
            <a:off x="675105" y="3047999"/>
            <a:ext cx="1082842" cy="1122947"/>
          </a:xfrm>
          <a:prstGeom prst="rect">
            <a:avLst/>
          </a:prstGeom>
          <a:noFill/>
          <a:ln w="26736">
            <a:solidFill>
              <a:srgbClr val="ED7D31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kitten photo layer" descr="asset-kitt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157" y="3201736"/>
            <a:ext cx="1022684" cy="1049421"/>
          </a:xfrm>
          <a:prstGeom prst="rect">
            <a:avLst/>
          </a:prstGeom>
        </p:spPr>
      </p:pic>
      <p:sp>
        <p:nvSpPr>
          <p:cNvPr id="13" name="kitten card border"/>
          <p:cNvSpPr/>
          <p:nvPr/>
        </p:nvSpPr>
        <p:spPr>
          <a:xfrm>
            <a:off x="795421" y="3174999"/>
            <a:ext cx="1082842" cy="1122947"/>
          </a:xfrm>
          <a:prstGeom prst="rect">
            <a:avLst/>
          </a:prstGeom>
          <a:noFill/>
          <a:ln w="26736">
            <a:solidFill>
              <a:srgbClr val="ED7D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raining stack ellipsis dot"/>
          <p:cNvSpPr/>
          <p:nvPr/>
        </p:nvSpPr>
        <p:spPr>
          <a:xfrm>
            <a:off x="1196473" y="4331368"/>
            <a:ext cx="40105" cy="40105"/>
          </a:xfrm>
          <a:prstGeom prst="ellipse">
            <a:avLst/>
          </a:prstGeom>
          <a:solidFill>
            <a:srgbClr val="000000"/>
          </a:solidFill>
          <a:ln w="668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raining stack ellipsis dot"/>
          <p:cNvSpPr/>
          <p:nvPr/>
        </p:nvSpPr>
        <p:spPr>
          <a:xfrm>
            <a:off x="1196473" y="4438315"/>
            <a:ext cx="40105" cy="40105"/>
          </a:xfrm>
          <a:prstGeom prst="ellipse">
            <a:avLst/>
          </a:prstGeom>
          <a:solidFill>
            <a:srgbClr val="000000"/>
          </a:solidFill>
          <a:ln w="668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raining stack ellipsis dot"/>
          <p:cNvSpPr/>
          <p:nvPr/>
        </p:nvSpPr>
        <p:spPr>
          <a:xfrm>
            <a:off x="1196473" y="4545263"/>
            <a:ext cx="40105" cy="40105"/>
          </a:xfrm>
          <a:prstGeom prst="ellipse">
            <a:avLst/>
          </a:prstGeom>
          <a:solidFill>
            <a:srgbClr val="000000"/>
          </a:solidFill>
          <a:ln w="668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dog photo layer" descr="asset-d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26" y="4612105"/>
            <a:ext cx="1076157" cy="1109578"/>
          </a:xfrm>
          <a:prstGeom prst="rect">
            <a:avLst/>
          </a:prstGeom>
        </p:spPr>
      </p:pic>
      <p:sp>
        <p:nvSpPr>
          <p:cNvPr id="18" name="dog card border"/>
          <p:cNvSpPr/>
          <p:nvPr/>
        </p:nvSpPr>
        <p:spPr>
          <a:xfrm>
            <a:off x="554789" y="4585368"/>
            <a:ext cx="1136315" cy="1183105"/>
          </a:xfrm>
          <a:prstGeom prst="rect">
            <a:avLst/>
          </a:prstGeom>
          <a:noFill/>
          <a:ln w="26736">
            <a:solidFill>
              <a:srgbClr val="92B95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dog photo layer" descr="asset-d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789" y="4712368"/>
            <a:ext cx="1076157" cy="1109578"/>
          </a:xfrm>
          <a:prstGeom prst="rect">
            <a:avLst/>
          </a:prstGeom>
        </p:spPr>
      </p:pic>
      <p:sp>
        <p:nvSpPr>
          <p:cNvPr id="20" name="dog card border"/>
          <p:cNvSpPr/>
          <p:nvPr/>
        </p:nvSpPr>
        <p:spPr>
          <a:xfrm>
            <a:off x="655052" y="4685631"/>
            <a:ext cx="1136315" cy="1183105"/>
          </a:xfrm>
          <a:prstGeom prst="rect">
            <a:avLst/>
          </a:prstGeom>
          <a:noFill/>
          <a:ln w="26736">
            <a:solidFill>
              <a:srgbClr val="4472C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dog photo layer" descr="asset-d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421" y="4812631"/>
            <a:ext cx="1076157" cy="1109578"/>
          </a:xfrm>
          <a:prstGeom prst="rect">
            <a:avLst/>
          </a:prstGeom>
        </p:spPr>
      </p:pic>
      <p:sp>
        <p:nvSpPr>
          <p:cNvPr id="22" name="dog card border"/>
          <p:cNvSpPr/>
          <p:nvPr/>
        </p:nvSpPr>
        <p:spPr>
          <a:xfrm>
            <a:off x="768684" y="4785894"/>
            <a:ext cx="1136315" cy="1183105"/>
          </a:xfrm>
          <a:prstGeom prst="rect">
            <a:avLst/>
          </a:prstGeom>
          <a:noFill/>
          <a:ln w="26736">
            <a:solidFill>
              <a:srgbClr val="4472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ight process arrow"/>
          <p:cNvSpPr/>
          <p:nvPr/>
        </p:nvSpPr>
        <p:spPr>
          <a:xfrm>
            <a:off x="2025315" y="4358105"/>
            <a:ext cx="467895" cy="401052"/>
          </a:xfrm>
          <a:custGeom>
            <a:avLst/>
            <a:gdLst/>
            <a:ahLst/>
            <a:cxnLst/>
            <a:rect l="l" t="t" r="r" b="b"/>
            <a:pathLst>
              <a:path w="467895" h="401052">
                <a:moveTo>
                  <a:pt x="0" y="100263"/>
                </a:moveTo>
                <a:lnTo>
                  <a:pt x="257342" y="100263"/>
                </a:lnTo>
                <a:lnTo>
                  <a:pt x="257342" y="0"/>
                </a:lnTo>
                <a:lnTo>
                  <a:pt x="467895" y="200526"/>
                </a:lnTo>
                <a:lnTo>
                  <a:pt x="257342" y="401052"/>
                </a:lnTo>
                <a:lnTo>
                  <a:pt x="257342" y="300789"/>
                </a:lnTo>
                <a:lnTo>
                  <a:pt x="0" y="300789"/>
                </a:lnTo>
                <a:close/>
              </a:path>
            </a:pathLst>
          </a:custGeom>
          <a:solidFill>
            <a:srgbClr val="FFFFFF"/>
          </a:solidFill>
          <a:ln w="26736">
            <a:solidFill>
              <a:srgbClr val="2F559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op process boundary"/>
          <p:cNvSpPr/>
          <p:nvPr/>
        </p:nvSpPr>
        <p:spPr>
          <a:xfrm>
            <a:off x="2519947" y="106947"/>
            <a:ext cx="7185526" cy="2894263"/>
          </a:xfrm>
          <a:prstGeom prst="rect">
            <a:avLst/>
          </a:prstGeom>
          <a:noFill/>
          <a:ln w="26736">
            <a:solidFill>
              <a:srgbClr val="00000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op dotted guide"/>
          <p:cNvSpPr/>
          <p:nvPr/>
        </p:nvSpPr>
        <p:spPr>
          <a:xfrm>
            <a:off x="2620210" y="167105"/>
            <a:ext cx="6984999" cy="2740526"/>
          </a:xfrm>
          <a:prstGeom prst="rect">
            <a:avLst/>
          </a:prstGeom>
          <a:noFill/>
          <a:ln w="26736">
            <a:solidFill>
              <a:srgbClr val="B4CAE8"/>
            </a:solidFill>
            <a:prstDash val="sysDot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inference phase label"/>
          <p:cNvSpPr txBox="1"/>
          <p:nvPr/>
        </p:nvSpPr>
        <p:spPr>
          <a:xfrm rot="5400000">
            <a:off x="2600157" y="367631"/>
            <a:ext cx="334210" cy="18715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1" b="0" i="0">
                <a:solidFill>
                  <a:srgbClr val="000000"/>
                </a:solidFill>
                <a:latin typeface="DejaVu Serif"/>
              </a:rPr>
              <a:t>Inference</a:t>
            </a:r>
          </a:p>
        </p:txBody>
      </p:sp>
      <p:sp>
        <p:nvSpPr>
          <p:cNvPr id="27" name="inference panel"/>
          <p:cNvSpPr/>
          <p:nvPr/>
        </p:nvSpPr>
        <p:spPr>
          <a:xfrm>
            <a:off x="2987842" y="314157"/>
            <a:ext cx="2626894" cy="2439736"/>
          </a:xfrm>
          <a:prstGeom prst="rect">
            <a:avLst/>
          </a:prstGeom>
          <a:solidFill>
            <a:srgbClr val="DDEBF7"/>
          </a:solidFill>
          <a:ln w="26736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frozen pretrained backbone"/>
          <p:cNvSpPr/>
          <p:nvPr/>
        </p:nvSpPr>
        <p:spPr>
          <a:xfrm>
            <a:off x="3141578" y="360947"/>
            <a:ext cx="541421" cy="2326105"/>
          </a:xfrm>
          <a:prstGeom prst="rect">
            <a:avLst/>
          </a:prstGeom>
          <a:solidFill>
            <a:srgbClr val="A9D8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lock shackle"/>
          <p:cNvSpPr/>
          <p:nvPr/>
        </p:nvSpPr>
        <p:spPr>
          <a:xfrm>
            <a:off x="3310020" y="434473"/>
            <a:ext cx="162426" cy="180473"/>
          </a:xfrm>
          <a:prstGeom prst="roundRect">
            <a:avLst/>
          </a:prstGeom>
          <a:noFill/>
          <a:ln w="2406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lock body"/>
          <p:cNvSpPr/>
          <p:nvPr/>
        </p:nvSpPr>
        <p:spPr>
          <a:xfrm>
            <a:off x="3261894" y="554789"/>
            <a:ext cx="264694" cy="222584"/>
          </a:xfrm>
          <a:prstGeom prst="roundRect">
            <a:avLst/>
          </a:prstGeom>
          <a:solidFill>
            <a:srgbClr val="000000"/>
          </a:solidFill>
          <a:ln w="668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keyhole"/>
          <p:cNvSpPr/>
          <p:nvPr/>
        </p:nvSpPr>
        <p:spPr>
          <a:xfrm>
            <a:off x="3370178" y="620963"/>
            <a:ext cx="48126" cy="54142"/>
          </a:xfrm>
          <a:prstGeom prst="ellipse">
            <a:avLst/>
          </a:prstGeom>
          <a:solidFill>
            <a:srgbClr val="A9D88F"/>
          </a:solidFill>
          <a:ln w="6684">
            <a:solidFill>
              <a:srgbClr val="A9D88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keyhole stem"/>
          <p:cNvSpPr/>
          <p:nvPr/>
        </p:nvSpPr>
        <p:spPr>
          <a:xfrm>
            <a:off x="3382210" y="663073"/>
            <a:ext cx="24063" cy="60158"/>
          </a:xfrm>
          <a:custGeom>
            <a:avLst/>
            <a:gdLst/>
            <a:ahLst/>
            <a:cxnLst/>
            <a:rect l="l" t="t" r="r" b="b"/>
            <a:pathLst>
              <a:path w="24063" h="60158">
                <a:moveTo>
                  <a:pt x="0" y="0"/>
                </a:moveTo>
                <a:lnTo>
                  <a:pt x="24063" y="0"/>
                </a:lnTo>
                <a:lnTo>
                  <a:pt x="12032" y="60158"/>
                </a:lnTo>
                <a:close/>
              </a:path>
            </a:pathLst>
          </a:custGeom>
          <a:solidFill>
            <a:srgbClr val="A9D88F"/>
          </a:solidFill>
          <a:ln w="6684">
            <a:solidFill>
              <a:srgbClr val="A9D88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pretrained hptm label"/>
          <p:cNvSpPr txBox="1"/>
          <p:nvPr/>
        </p:nvSpPr>
        <p:spPr>
          <a:xfrm rot="5400000">
            <a:off x="3228473" y="815473"/>
            <a:ext cx="380999" cy="175794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6" b="0" i="0">
                <a:solidFill>
                  <a:srgbClr val="000000"/>
                </a:solidFill>
                <a:latin typeface="DejaVu Serif"/>
              </a:rPr>
              <a:t>Pretrained hₚₜₘ</a:t>
            </a:r>
          </a:p>
        </p:txBody>
      </p:sp>
      <p:sp>
        <p:nvSpPr>
          <p:cNvPr id="34" name="task identification network"/>
          <p:cNvSpPr/>
          <p:nvPr/>
        </p:nvSpPr>
        <p:spPr>
          <a:xfrm>
            <a:off x="3856789" y="360947"/>
            <a:ext cx="1122947" cy="2326105"/>
          </a:xfrm>
          <a:prstGeom prst="rect">
            <a:avLst/>
          </a:prstGeom>
          <a:solidFill>
            <a:srgbClr val="AEC4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MLP block"/>
          <p:cNvSpPr/>
          <p:nvPr/>
        </p:nvSpPr>
        <p:spPr>
          <a:xfrm>
            <a:off x="3970420" y="688473"/>
            <a:ext cx="354263" cy="1844842"/>
          </a:xfrm>
          <a:prstGeom prst="rect">
            <a:avLst/>
          </a:prstGeom>
          <a:solidFill>
            <a:srgbClr val="E2F0D9"/>
          </a:solidFill>
          <a:ln w="26736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MLP label"/>
          <p:cNvSpPr txBox="1"/>
          <p:nvPr/>
        </p:nvSpPr>
        <p:spPr>
          <a:xfrm rot="5400000">
            <a:off x="3970420" y="875631"/>
            <a:ext cx="354263" cy="148389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89" b="0" i="0">
                <a:solidFill>
                  <a:srgbClr val="000000"/>
                </a:solidFill>
                <a:latin typeface="DejaVu Serif"/>
              </a:rPr>
              <a:t>MLP</a:t>
            </a:r>
          </a:p>
        </p:txBody>
      </p:sp>
      <p:sp>
        <p:nvSpPr>
          <p:cNvPr id="37" name="classifier units"/>
          <p:cNvSpPr/>
          <p:nvPr/>
        </p:nvSpPr>
        <p:spPr>
          <a:xfrm>
            <a:off x="4545263" y="695157"/>
            <a:ext cx="354263" cy="1838157"/>
          </a:xfrm>
          <a:prstGeom prst="rect">
            <a:avLst/>
          </a:prstGeom>
          <a:solidFill>
            <a:srgbClr val="A8C1E4"/>
          </a:solidFill>
          <a:ln w="26736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classifier unit"/>
          <p:cNvSpPr/>
          <p:nvPr/>
        </p:nvSpPr>
        <p:spPr>
          <a:xfrm>
            <a:off x="4632157" y="748631"/>
            <a:ext cx="187157" cy="187157"/>
          </a:xfrm>
          <a:prstGeom prst="ellipse">
            <a:avLst/>
          </a:prstGeom>
          <a:solidFill>
            <a:srgbClr val="A7C4E0"/>
          </a:solidFill>
          <a:ln w="6684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classifier unit"/>
          <p:cNvSpPr/>
          <p:nvPr/>
        </p:nvSpPr>
        <p:spPr>
          <a:xfrm>
            <a:off x="4632157" y="1022684"/>
            <a:ext cx="187157" cy="187157"/>
          </a:xfrm>
          <a:prstGeom prst="ellipse">
            <a:avLst/>
          </a:prstGeom>
          <a:solidFill>
            <a:srgbClr val="A7C4E0"/>
          </a:solidFill>
          <a:ln w="6684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classifier unit"/>
          <p:cNvSpPr/>
          <p:nvPr/>
        </p:nvSpPr>
        <p:spPr>
          <a:xfrm>
            <a:off x="4632157" y="1303421"/>
            <a:ext cx="187157" cy="187157"/>
          </a:xfrm>
          <a:prstGeom prst="ellipse">
            <a:avLst/>
          </a:prstGeom>
          <a:solidFill>
            <a:srgbClr val="A7C4E0"/>
          </a:solidFill>
          <a:ln w="6684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classifier unit"/>
          <p:cNvSpPr/>
          <p:nvPr/>
        </p:nvSpPr>
        <p:spPr>
          <a:xfrm>
            <a:off x="4632157" y="1824789"/>
            <a:ext cx="187157" cy="187157"/>
          </a:xfrm>
          <a:prstGeom prst="ellipse">
            <a:avLst/>
          </a:prstGeom>
          <a:solidFill>
            <a:srgbClr val="A7C4E0"/>
          </a:solidFill>
          <a:ln w="6684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classifier unit"/>
          <p:cNvSpPr/>
          <p:nvPr/>
        </p:nvSpPr>
        <p:spPr>
          <a:xfrm>
            <a:off x="4632157" y="2105526"/>
            <a:ext cx="187157" cy="187157"/>
          </a:xfrm>
          <a:prstGeom prst="ellipse">
            <a:avLst/>
          </a:prstGeom>
          <a:solidFill>
            <a:srgbClr val="A7C4E0"/>
          </a:solidFill>
          <a:ln w="6684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classifier unit"/>
          <p:cNvSpPr/>
          <p:nvPr/>
        </p:nvSpPr>
        <p:spPr>
          <a:xfrm>
            <a:off x="4632157" y="2379578"/>
            <a:ext cx="187157" cy="187157"/>
          </a:xfrm>
          <a:prstGeom prst="ellipse">
            <a:avLst/>
          </a:prstGeom>
          <a:solidFill>
            <a:srgbClr val="A7C4E0"/>
          </a:solidFill>
          <a:ln w="6684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classifier ellipsis dot"/>
          <p:cNvSpPr/>
          <p:nvPr/>
        </p:nvSpPr>
        <p:spPr>
          <a:xfrm>
            <a:off x="4712368" y="1530684"/>
            <a:ext cx="40105" cy="40105"/>
          </a:xfrm>
          <a:prstGeom prst="ellipse">
            <a:avLst/>
          </a:prstGeom>
          <a:solidFill>
            <a:srgbClr val="000000"/>
          </a:solidFill>
          <a:ln w="668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classifier ellipsis dot"/>
          <p:cNvSpPr/>
          <p:nvPr/>
        </p:nvSpPr>
        <p:spPr>
          <a:xfrm>
            <a:off x="4712368" y="1644315"/>
            <a:ext cx="40105" cy="40105"/>
          </a:xfrm>
          <a:prstGeom prst="ellipse">
            <a:avLst/>
          </a:prstGeom>
          <a:solidFill>
            <a:srgbClr val="000000"/>
          </a:solidFill>
          <a:ln w="668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classifier ellipsis dot"/>
          <p:cNvSpPr/>
          <p:nvPr/>
        </p:nvSpPr>
        <p:spPr>
          <a:xfrm>
            <a:off x="4712368" y="1757947"/>
            <a:ext cx="40105" cy="40105"/>
          </a:xfrm>
          <a:prstGeom prst="ellipse">
            <a:avLst/>
          </a:prstGeom>
          <a:solidFill>
            <a:srgbClr val="000000"/>
          </a:solidFill>
          <a:ln w="668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g base"/>
          <p:cNvSpPr txBox="1"/>
          <p:nvPr/>
        </p:nvSpPr>
        <p:spPr>
          <a:xfrm>
            <a:off x="4271210" y="360947"/>
            <a:ext cx="227263" cy="280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5" b="0" i="1">
                <a:solidFill>
                  <a:srgbClr val="000000"/>
                </a:solidFill>
                <a:latin typeface="DejaVu Serif"/>
              </a:rPr>
              <a:t>g</a:t>
            </a:r>
          </a:p>
        </p:txBody>
      </p:sp>
      <p:sp>
        <p:nvSpPr>
          <p:cNvPr id="48" name="omega subscript"/>
          <p:cNvSpPr txBox="1"/>
          <p:nvPr/>
        </p:nvSpPr>
        <p:spPr>
          <a:xfrm>
            <a:off x="4478420" y="494631"/>
            <a:ext cx="247315" cy="16710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 i="1">
                <a:solidFill>
                  <a:srgbClr val="000000"/>
                </a:solidFill>
                <a:latin typeface="DejaVu Serif"/>
              </a:rPr>
              <a:t>ω</a:t>
            </a:r>
          </a:p>
        </p:txBody>
      </p:sp>
      <p:cxnSp>
        <p:nvCxnSpPr>
          <p:cNvPr id="49" name="backbone to MLP"/>
          <p:cNvCxnSpPr/>
          <p:nvPr/>
        </p:nvCxnSpPr>
        <p:spPr>
          <a:xfrm>
            <a:off x="3689684" y="1644315"/>
            <a:ext cx="267368" cy="0"/>
          </a:xfrm>
          <a:prstGeom prst="line">
            <a:avLst/>
          </a:prstGeom>
          <a:ln w="20052">
            <a:solidFill>
              <a:srgbClr val="000000"/>
            </a:solidFill>
            <a:tailEnd type="triangle" w="med" len="med"/>
          </a:ln>
        </p:spPr>
      </p:cxnSp>
      <p:cxnSp>
        <p:nvCxnSpPr>
          <p:cNvPr id="50" name="MLP to units"/>
          <p:cNvCxnSpPr/>
          <p:nvPr/>
        </p:nvCxnSpPr>
        <p:spPr>
          <a:xfrm>
            <a:off x="4331368" y="1644315"/>
            <a:ext cx="200526" cy="0"/>
          </a:xfrm>
          <a:prstGeom prst="line">
            <a:avLst/>
          </a:prstGeom>
          <a:ln w="20052">
            <a:solidFill>
              <a:srgbClr val="000000"/>
            </a:solidFill>
            <a:tailEnd type="triangle" w="med" len="med"/>
          </a:ln>
        </p:spPr>
      </p:cxnSp>
      <p:cxnSp>
        <p:nvCxnSpPr>
          <p:cNvPr id="51" name="units to task id"/>
          <p:cNvCxnSpPr/>
          <p:nvPr/>
        </p:nvCxnSpPr>
        <p:spPr>
          <a:xfrm>
            <a:off x="4912894" y="1644315"/>
            <a:ext cx="220579" cy="0"/>
          </a:xfrm>
          <a:prstGeom prst="line">
            <a:avLst/>
          </a:prstGeom>
          <a:ln w="20052">
            <a:solidFill>
              <a:srgbClr val="000000"/>
            </a:solidFill>
            <a:tailEnd type="triangle" w="med" len="med"/>
          </a:ln>
        </p:spPr>
      </p:cxnSp>
      <p:sp>
        <p:nvSpPr>
          <p:cNvPr id="52" name="predicted task id"/>
          <p:cNvSpPr txBox="1"/>
          <p:nvPr/>
        </p:nvSpPr>
        <p:spPr>
          <a:xfrm>
            <a:off x="5059947" y="1403684"/>
            <a:ext cx="521368" cy="57484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1" b="0" i="0">
                <a:solidFill>
                  <a:srgbClr val="000000"/>
                </a:solidFill>
                <a:latin typeface="DejaVu Serif"/>
              </a:rPr>
              <a:t>Task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1" b="0" i="0">
                <a:solidFill>
                  <a:srgbClr val="000000"/>
                </a:solidFill>
                <a:latin typeface="DejaVu Serif"/>
              </a:rPr>
              <a:t>ID t̂f</a:t>
            </a:r>
          </a:p>
        </p:txBody>
      </p:sp>
      <p:sp>
        <p:nvSpPr>
          <p:cNvPr id="53" name="initial matching label"/>
          <p:cNvSpPr txBox="1"/>
          <p:nvPr/>
        </p:nvSpPr>
        <p:spPr>
          <a:xfrm rot="5400000">
            <a:off x="5648157" y="367631"/>
            <a:ext cx="347578" cy="173789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8" b="0" i="0">
                <a:solidFill>
                  <a:srgbClr val="000000"/>
                </a:solidFill>
                <a:latin typeface="DejaVu Serif"/>
              </a:rPr>
              <a:t>Initial Matching</a:t>
            </a:r>
          </a:p>
        </p:txBody>
      </p:sp>
      <p:sp>
        <p:nvSpPr>
          <p:cNvPr id="54" name="right process arrow"/>
          <p:cNvSpPr/>
          <p:nvPr/>
        </p:nvSpPr>
        <p:spPr>
          <a:xfrm>
            <a:off x="5648157" y="2112210"/>
            <a:ext cx="387684" cy="314158"/>
          </a:xfrm>
          <a:custGeom>
            <a:avLst/>
            <a:gdLst/>
            <a:ahLst/>
            <a:cxnLst/>
            <a:rect l="l" t="t" r="r" b="b"/>
            <a:pathLst>
              <a:path w="387684" h="314158">
                <a:moveTo>
                  <a:pt x="0" y="78539"/>
                </a:moveTo>
                <a:lnTo>
                  <a:pt x="213227" y="78539"/>
                </a:lnTo>
                <a:lnTo>
                  <a:pt x="213227" y="0"/>
                </a:lnTo>
                <a:lnTo>
                  <a:pt x="387684" y="157079"/>
                </a:lnTo>
                <a:lnTo>
                  <a:pt x="213227" y="314158"/>
                </a:lnTo>
                <a:lnTo>
                  <a:pt x="213227" y="235618"/>
                </a:lnTo>
                <a:lnTo>
                  <a:pt x="0" y="235618"/>
                </a:lnTo>
                <a:close/>
              </a:path>
            </a:pathLst>
          </a:custGeom>
          <a:solidFill>
            <a:srgbClr val="FFFFFF"/>
          </a:solidFill>
          <a:ln w="26736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initial matching panel"/>
          <p:cNvSpPr/>
          <p:nvPr/>
        </p:nvSpPr>
        <p:spPr>
          <a:xfrm>
            <a:off x="6049210" y="220578"/>
            <a:ext cx="3515894" cy="2653631"/>
          </a:xfrm>
          <a:prstGeom prst="rect">
            <a:avLst/>
          </a:prstGeom>
          <a:solidFill>
            <a:srgbClr val="FBE4D5"/>
          </a:solidFill>
          <a:ln w="26736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initial parameter pool"/>
          <p:cNvSpPr/>
          <p:nvPr/>
        </p:nvSpPr>
        <p:spPr>
          <a:xfrm>
            <a:off x="6249736" y="320842"/>
            <a:ext cx="2820736" cy="915736"/>
          </a:xfrm>
          <a:prstGeom prst="rect">
            <a:avLst/>
          </a:prstGeom>
          <a:solidFill>
            <a:srgbClr val="D7D7D7"/>
          </a:solidFill>
          <a:ln w="26736">
            <a:solidFill>
              <a:srgbClr val="14264A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7" name="pool label divider"/>
          <p:cNvCxnSpPr/>
          <p:nvPr/>
        </p:nvCxnSpPr>
        <p:spPr>
          <a:xfrm>
            <a:off x="7111999" y="320842"/>
            <a:ext cx="0" cy="915736"/>
          </a:xfrm>
          <a:prstGeom prst="line">
            <a:avLst/>
          </a:prstGeom>
          <a:ln w="26736">
            <a:solidFill>
              <a:srgbClr val="14264A"/>
            </a:solidFill>
          </a:ln>
        </p:spPr>
      </p:cxnSp>
      <p:sp>
        <p:nvSpPr>
          <p:cNvPr id="58" name="initial parameter pool label"/>
          <p:cNvSpPr txBox="1"/>
          <p:nvPr/>
        </p:nvSpPr>
        <p:spPr>
          <a:xfrm>
            <a:off x="6303210" y="447842"/>
            <a:ext cx="741947" cy="68178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89" b="0" i="0">
                <a:solidFill>
                  <a:srgbClr val="000000"/>
                </a:solidFill>
                <a:latin typeface="DejaVu Serif"/>
              </a:rPr>
              <a:t>Param.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89" b="0" i="0">
                <a:solidFill>
                  <a:srgbClr val="000000"/>
                </a:solidFill>
                <a:latin typeface="DejaVu Serif"/>
              </a:rPr>
              <a:t>Pool P</a:t>
            </a:r>
          </a:p>
        </p:txBody>
      </p:sp>
      <p:sp>
        <p:nvSpPr>
          <p:cNvPr id="59" name="parameter card"/>
          <p:cNvSpPr/>
          <p:nvPr/>
        </p:nvSpPr>
        <p:spPr>
          <a:xfrm>
            <a:off x="7158789" y="394368"/>
            <a:ext cx="247315" cy="715210"/>
          </a:xfrm>
          <a:prstGeom prst="rect">
            <a:avLst/>
          </a:prstGeom>
          <a:solidFill>
            <a:srgbClr val="F4B1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parameter card"/>
          <p:cNvSpPr/>
          <p:nvPr/>
        </p:nvSpPr>
        <p:spPr>
          <a:xfrm>
            <a:off x="7439526" y="394368"/>
            <a:ext cx="247315" cy="715210"/>
          </a:xfrm>
          <a:prstGeom prst="rect">
            <a:avLst/>
          </a:prstGeom>
          <a:solidFill>
            <a:srgbClr val="F4B1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parameter card"/>
          <p:cNvSpPr/>
          <p:nvPr/>
        </p:nvSpPr>
        <p:spPr>
          <a:xfrm>
            <a:off x="7733631" y="394368"/>
            <a:ext cx="247315" cy="715210"/>
          </a:xfrm>
          <a:prstGeom prst="rect">
            <a:avLst/>
          </a:prstGeom>
          <a:solidFill>
            <a:srgbClr val="F4B1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parameter card"/>
          <p:cNvSpPr/>
          <p:nvPr/>
        </p:nvSpPr>
        <p:spPr>
          <a:xfrm>
            <a:off x="8462210" y="394368"/>
            <a:ext cx="247315" cy="715210"/>
          </a:xfrm>
          <a:prstGeom prst="rect">
            <a:avLst/>
          </a:prstGeom>
          <a:solidFill>
            <a:srgbClr val="F4B1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parameter card"/>
          <p:cNvSpPr/>
          <p:nvPr/>
        </p:nvSpPr>
        <p:spPr>
          <a:xfrm>
            <a:off x="8749631" y="394368"/>
            <a:ext cx="247315" cy="715210"/>
          </a:xfrm>
          <a:prstGeom prst="rect">
            <a:avLst/>
          </a:prstGeom>
          <a:solidFill>
            <a:srgbClr val="F4B1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initial pool ellipsis"/>
          <p:cNvSpPr txBox="1"/>
          <p:nvPr/>
        </p:nvSpPr>
        <p:spPr>
          <a:xfrm>
            <a:off x="7967578" y="561473"/>
            <a:ext cx="421105" cy="38099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4" b="0" i="0">
                <a:solidFill>
                  <a:srgbClr val="000000"/>
                </a:solidFill>
                <a:latin typeface="DejaVu Serif"/>
              </a:rPr>
              <a:t>•••</a:t>
            </a:r>
          </a:p>
        </p:txBody>
      </p:sp>
      <p:pic>
        <p:nvPicPr>
          <p:cNvPr id="65" name="initial matching cat" descr="asset-match_c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3157" y="1316789"/>
            <a:ext cx="768684" cy="788736"/>
          </a:xfrm>
          <a:prstGeom prst="rect">
            <a:avLst/>
          </a:prstGeom>
        </p:spPr>
      </p:pic>
      <p:cxnSp>
        <p:nvCxnSpPr>
          <p:cNvPr id="66" name="pool to selected parameter"/>
          <p:cNvCxnSpPr/>
          <p:nvPr/>
        </p:nvCxnSpPr>
        <p:spPr>
          <a:xfrm>
            <a:off x="8148052" y="1243263"/>
            <a:ext cx="0" cy="320842"/>
          </a:xfrm>
          <a:prstGeom prst="line">
            <a:avLst/>
          </a:prstGeom>
          <a:ln w="20052">
            <a:solidFill>
              <a:srgbClr val="000000"/>
            </a:solidFill>
            <a:tailEnd type="triangle" w="med" len="med"/>
          </a:ln>
        </p:spPr>
      </p:cxnSp>
      <p:sp>
        <p:nvSpPr>
          <p:cNvPr id="67" name="selected parameter box"/>
          <p:cNvSpPr/>
          <p:nvPr/>
        </p:nvSpPr>
        <p:spPr>
          <a:xfrm>
            <a:off x="7238999" y="1577473"/>
            <a:ext cx="1838157" cy="441157"/>
          </a:xfrm>
          <a:prstGeom prst="roundRect">
            <a:avLst/>
          </a:prstGeom>
          <a:solidFill>
            <a:srgbClr val="FFFFFF"/>
          </a:solidFill>
          <a:ln w="26736">
            <a:solidFill>
              <a:srgbClr val="14264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selected parameter"/>
          <p:cNvSpPr txBox="1"/>
          <p:nvPr/>
        </p:nvSpPr>
        <p:spPr>
          <a:xfrm>
            <a:off x="7399420" y="1617578"/>
            <a:ext cx="1503947" cy="35426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7" b="0" i="0">
                <a:solidFill>
                  <a:srgbClr val="000000"/>
                </a:solidFill>
                <a:latin typeface="DejaVu Serif"/>
              </a:rPr>
              <a:t>Selected p</a:t>
            </a:r>
          </a:p>
        </p:txBody>
      </p:sp>
      <p:cxnSp>
        <p:nvCxnSpPr>
          <p:cNvPr id="69" name="sample to backbone"/>
          <p:cNvCxnSpPr/>
          <p:nvPr/>
        </p:nvCxnSpPr>
        <p:spPr>
          <a:xfrm>
            <a:off x="6664157" y="2105526"/>
            <a:ext cx="0" cy="193842"/>
          </a:xfrm>
          <a:prstGeom prst="line">
            <a:avLst/>
          </a:prstGeom>
          <a:ln w="20052">
            <a:solidFill>
              <a:srgbClr val="000000"/>
            </a:solidFill>
            <a:tailEnd type="triangle" w="med" len="med"/>
          </a:ln>
        </p:spPr>
      </p:cxnSp>
      <p:cxnSp>
        <p:nvCxnSpPr>
          <p:cNvPr id="70" name="selected parameter to backbone"/>
          <p:cNvCxnSpPr/>
          <p:nvPr/>
        </p:nvCxnSpPr>
        <p:spPr>
          <a:xfrm>
            <a:off x="8154736" y="2025315"/>
            <a:ext cx="0" cy="274053"/>
          </a:xfrm>
          <a:prstGeom prst="line">
            <a:avLst/>
          </a:prstGeom>
          <a:ln w="20052">
            <a:solidFill>
              <a:srgbClr val="000000"/>
            </a:solidFill>
            <a:tailEnd type="triangle" w="med" len="med"/>
          </a:ln>
        </p:spPr>
      </p:cxnSp>
      <p:sp>
        <p:nvSpPr>
          <p:cNvPr id="71" name="initial frozen backbone"/>
          <p:cNvSpPr/>
          <p:nvPr/>
        </p:nvSpPr>
        <p:spPr>
          <a:xfrm>
            <a:off x="6256420" y="2299368"/>
            <a:ext cx="2854157" cy="501315"/>
          </a:xfrm>
          <a:prstGeom prst="rect">
            <a:avLst/>
          </a:prstGeom>
          <a:solidFill>
            <a:srgbClr val="A9D8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lock shackle"/>
          <p:cNvSpPr/>
          <p:nvPr/>
        </p:nvSpPr>
        <p:spPr>
          <a:xfrm>
            <a:off x="6612288" y="2372894"/>
            <a:ext cx="140769" cy="156410"/>
          </a:xfrm>
          <a:prstGeom prst="roundRect">
            <a:avLst/>
          </a:prstGeom>
          <a:noFill/>
          <a:ln w="2085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lock body"/>
          <p:cNvSpPr/>
          <p:nvPr/>
        </p:nvSpPr>
        <p:spPr>
          <a:xfrm>
            <a:off x="6570578" y="2477168"/>
            <a:ext cx="229402" cy="192906"/>
          </a:xfrm>
          <a:prstGeom prst="roundRect">
            <a:avLst/>
          </a:prstGeom>
          <a:solidFill>
            <a:srgbClr val="000000"/>
          </a:solidFill>
          <a:ln w="668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keyhole"/>
          <p:cNvSpPr/>
          <p:nvPr/>
        </p:nvSpPr>
        <p:spPr>
          <a:xfrm>
            <a:off x="6664425" y="2534518"/>
            <a:ext cx="41709" cy="46923"/>
          </a:xfrm>
          <a:prstGeom prst="ellipse">
            <a:avLst/>
          </a:prstGeom>
          <a:solidFill>
            <a:srgbClr val="A9D88F"/>
          </a:solidFill>
          <a:ln w="6684">
            <a:solidFill>
              <a:srgbClr val="A9D88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keyhole stem"/>
          <p:cNvSpPr/>
          <p:nvPr/>
        </p:nvSpPr>
        <p:spPr>
          <a:xfrm>
            <a:off x="6674852" y="2571014"/>
            <a:ext cx="20855" cy="52137"/>
          </a:xfrm>
          <a:custGeom>
            <a:avLst/>
            <a:gdLst/>
            <a:ahLst/>
            <a:cxnLst/>
            <a:rect l="l" t="t" r="r" b="b"/>
            <a:pathLst>
              <a:path w="20855" h="52137">
                <a:moveTo>
                  <a:pt x="0" y="0"/>
                </a:moveTo>
                <a:lnTo>
                  <a:pt x="20855" y="0"/>
                </a:lnTo>
                <a:lnTo>
                  <a:pt x="10427" y="52137"/>
                </a:lnTo>
                <a:close/>
              </a:path>
            </a:pathLst>
          </a:custGeom>
          <a:solidFill>
            <a:srgbClr val="A9D88F"/>
          </a:solidFill>
          <a:ln w="6684">
            <a:solidFill>
              <a:srgbClr val="A9D88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initial pretrained label"/>
          <p:cNvSpPr txBox="1"/>
          <p:nvPr/>
        </p:nvSpPr>
        <p:spPr>
          <a:xfrm>
            <a:off x="6998368" y="2352842"/>
            <a:ext cx="1256631" cy="40105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6" b="0" i="0">
                <a:solidFill>
                  <a:srgbClr val="000000"/>
                </a:solidFill>
                <a:latin typeface="DejaVu Serif"/>
              </a:rPr>
              <a:t>Pretrained</a:t>
            </a:r>
          </a:p>
        </p:txBody>
      </p:sp>
      <p:sp>
        <p:nvSpPr>
          <p:cNvPr id="77" name="initial h base"/>
          <p:cNvSpPr txBox="1"/>
          <p:nvPr/>
        </p:nvSpPr>
        <p:spPr>
          <a:xfrm>
            <a:off x="8221578" y="2339473"/>
            <a:ext cx="253999" cy="407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4" b="0" i="1">
                <a:solidFill>
                  <a:srgbClr val="000000"/>
                </a:solidFill>
                <a:latin typeface="DejaVu Serif"/>
              </a:rPr>
              <a:t>h</a:t>
            </a:r>
          </a:p>
        </p:txBody>
      </p:sp>
      <p:sp>
        <p:nvSpPr>
          <p:cNvPr id="78" name="initial h subscript"/>
          <p:cNvSpPr txBox="1"/>
          <p:nvPr/>
        </p:nvSpPr>
        <p:spPr>
          <a:xfrm>
            <a:off x="8428789" y="2533315"/>
            <a:ext cx="401052" cy="1804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7" b="0" i="1">
                <a:solidFill>
                  <a:srgbClr val="000000"/>
                </a:solidFill>
                <a:latin typeface="DejaVu Serif"/>
              </a:rPr>
              <a:t>ptm</a:t>
            </a:r>
          </a:p>
        </p:txBody>
      </p:sp>
      <p:cxnSp>
        <p:nvCxnSpPr>
          <p:cNvPr id="79" name="backbone feedback to rematching segment 1"/>
          <p:cNvCxnSpPr/>
          <p:nvPr/>
        </p:nvCxnSpPr>
        <p:spPr>
          <a:xfrm>
            <a:off x="9110578" y="2580105"/>
            <a:ext cx="207211" cy="0"/>
          </a:xfrm>
          <a:prstGeom prst="line">
            <a:avLst/>
          </a:prstGeom>
          <a:ln w="20052">
            <a:solidFill>
              <a:srgbClr val="000000"/>
            </a:solidFill>
          </a:ln>
        </p:spPr>
      </p:cxnSp>
      <p:cxnSp>
        <p:nvCxnSpPr>
          <p:cNvPr id="80" name="backbone feedback to rematching segment 2"/>
          <p:cNvCxnSpPr/>
          <p:nvPr/>
        </p:nvCxnSpPr>
        <p:spPr>
          <a:xfrm flipV="1">
            <a:off x="9317789" y="2205789"/>
            <a:ext cx="0" cy="374316"/>
          </a:xfrm>
          <a:prstGeom prst="line">
            <a:avLst/>
          </a:prstGeom>
          <a:ln w="20052">
            <a:solidFill>
              <a:srgbClr val="000000"/>
            </a:solidFill>
            <a:tailEnd type="triangle" w="med" len="med"/>
          </a:ln>
        </p:spPr>
      </p:cxnSp>
      <p:sp>
        <p:nvSpPr>
          <p:cNvPr id="81" name="rematching label box"/>
          <p:cNvSpPr/>
          <p:nvPr/>
        </p:nvSpPr>
        <p:spPr>
          <a:xfrm>
            <a:off x="9143999" y="761999"/>
            <a:ext cx="347578" cy="1443789"/>
          </a:xfrm>
          <a:prstGeom prst="rect">
            <a:avLst/>
          </a:prstGeom>
          <a:solidFill>
            <a:srgbClr val="FFFFFF"/>
          </a:solidFill>
          <a:ln w="26736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rematching vertical label"/>
          <p:cNvSpPr txBox="1"/>
          <p:nvPr/>
        </p:nvSpPr>
        <p:spPr>
          <a:xfrm rot="5400000">
            <a:off x="9184105" y="795421"/>
            <a:ext cx="267368" cy="137026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1" b="1" i="0">
                <a:solidFill>
                  <a:srgbClr val="FF0000"/>
                </a:solidFill>
                <a:latin typeface="DejaVu Serif"/>
              </a:rPr>
              <a:t>Rematching</a:t>
            </a:r>
          </a:p>
        </p:txBody>
      </p:sp>
      <p:cxnSp>
        <p:nvCxnSpPr>
          <p:cNvPr id="83" name="rematching feedback to pool segment 1"/>
          <p:cNvCxnSpPr/>
          <p:nvPr/>
        </p:nvCxnSpPr>
        <p:spPr>
          <a:xfrm flipV="1">
            <a:off x="9317789" y="481263"/>
            <a:ext cx="0" cy="280736"/>
          </a:xfrm>
          <a:prstGeom prst="line">
            <a:avLst/>
          </a:prstGeom>
          <a:ln w="20052">
            <a:solidFill>
              <a:srgbClr val="000000"/>
            </a:solidFill>
          </a:ln>
        </p:spPr>
      </p:cxnSp>
      <p:cxnSp>
        <p:nvCxnSpPr>
          <p:cNvPr id="84" name="rematching feedback to pool segment 2"/>
          <p:cNvCxnSpPr/>
          <p:nvPr/>
        </p:nvCxnSpPr>
        <p:spPr>
          <a:xfrm flipH="1">
            <a:off x="9083841" y="481263"/>
            <a:ext cx="233948" cy="0"/>
          </a:xfrm>
          <a:prstGeom prst="line">
            <a:avLst/>
          </a:prstGeom>
          <a:ln w="20052">
            <a:solidFill>
              <a:srgbClr val="000000"/>
            </a:solidFill>
            <a:tailEnd type="triangle" w="med" len="med"/>
          </a:ln>
        </p:spPr>
      </p:cxnSp>
      <p:sp>
        <p:nvSpPr>
          <p:cNvPr id="85" name="estimated task id"/>
          <p:cNvSpPr txBox="1"/>
          <p:nvPr/>
        </p:nvSpPr>
        <p:spPr>
          <a:xfrm>
            <a:off x="9344526" y="340894"/>
            <a:ext cx="200526" cy="44115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6" b="0" i="1">
                <a:solidFill>
                  <a:srgbClr val="000000"/>
                </a:solidFill>
                <a:latin typeface="DejaVu Serif"/>
              </a:rPr>
              <a:t>t̂s</a:t>
            </a:r>
          </a:p>
        </p:txBody>
      </p:sp>
      <p:sp>
        <p:nvSpPr>
          <p:cNvPr id="86" name="training process boundary"/>
          <p:cNvSpPr/>
          <p:nvPr/>
        </p:nvSpPr>
        <p:spPr>
          <a:xfrm>
            <a:off x="2519947" y="3181684"/>
            <a:ext cx="7185526" cy="2814052"/>
          </a:xfrm>
          <a:prstGeom prst="rect">
            <a:avLst/>
          </a:prstGeom>
          <a:noFill/>
          <a:ln w="26736">
            <a:solidFill>
              <a:srgbClr val="00000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training dotted guide"/>
          <p:cNvSpPr/>
          <p:nvPr/>
        </p:nvSpPr>
        <p:spPr>
          <a:xfrm>
            <a:off x="2620210" y="3261894"/>
            <a:ext cx="6984999" cy="2640263"/>
          </a:xfrm>
          <a:prstGeom prst="rect">
            <a:avLst/>
          </a:prstGeom>
          <a:noFill/>
          <a:ln w="26736">
            <a:solidFill>
              <a:srgbClr val="B4CAE8"/>
            </a:solidFill>
            <a:prstDash val="sysDot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training phase label"/>
          <p:cNvSpPr txBox="1"/>
          <p:nvPr/>
        </p:nvSpPr>
        <p:spPr>
          <a:xfrm rot="5400000">
            <a:off x="2600157" y="3388894"/>
            <a:ext cx="334210" cy="12165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1" b="0" i="0">
                <a:solidFill>
                  <a:srgbClr val="000000"/>
                </a:solidFill>
                <a:latin typeface="DejaVu Serif"/>
              </a:rPr>
              <a:t>Training</a:t>
            </a:r>
          </a:p>
        </p:txBody>
      </p:sp>
      <p:sp>
        <p:nvSpPr>
          <p:cNvPr id="89" name="CLMR label"/>
          <p:cNvSpPr txBox="1"/>
          <p:nvPr/>
        </p:nvSpPr>
        <p:spPr>
          <a:xfrm rot="16200000">
            <a:off x="2606842" y="4779210"/>
            <a:ext cx="334210" cy="112963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1" b="1" i="0">
                <a:solidFill>
                  <a:srgbClr val="FF0000"/>
                </a:solidFill>
                <a:latin typeface="DejaVu Serif"/>
              </a:rPr>
              <a:t>CLMR</a:t>
            </a:r>
          </a:p>
        </p:txBody>
      </p:sp>
      <p:sp>
        <p:nvSpPr>
          <p:cNvPr id="90" name="training panel"/>
          <p:cNvSpPr/>
          <p:nvPr/>
        </p:nvSpPr>
        <p:spPr>
          <a:xfrm>
            <a:off x="2987842" y="3255210"/>
            <a:ext cx="6577262" cy="2666999"/>
          </a:xfrm>
          <a:prstGeom prst="rect">
            <a:avLst/>
          </a:prstGeom>
          <a:solidFill>
            <a:srgbClr val="D6E5F4"/>
          </a:solidFill>
          <a:ln w="26736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down process arrow"/>
          <p:cNvSpPr/>
          <p:nvPr/>
        </p:nvSpPr>
        <p:spPr>
          <a:xfrm>
            <a:off x="4745789" y="2820736"/>
            <a:ext cx="467895" cy="481263"/>
          </a:xfrm>
          <a:custGeom>
            <a:avLst/>
            <a:gdLst/>
            <a:ahLst/>
            <a:cxnLst/>
            <a:rect l="l" t="t" r="r" b="b"/>
            <a:pathLst>
              <a:path w="467895" h="481263">
                <a:moveTo>
                  <a:pt x="116974" y="0"/>
                </a:moveTo>
                <a:lnTo>
                  <a:pt x="350921" y="0"/>
                </a:lnTo>
                <a:lnTo>
                  <a:pt x="350921" y="264695"/>
                </a:lnTo>
                <a:lnTo>
                  <a:pt x="467895" y="264695"/>
                </a:lnTo>
                <a:lnTo>
                  <a:pt x="233947" y="481263"/>
                </a:lnTo>
                <a:lnTo>
                  <a:pt x="0" y="264695"/>
                </a:lnTo>
                <a:lnTo>
                  <a:pt x="116974" y="264695"/>
                </a:lnTo>
                <a:close/>
              </a:path>
            </a:pathLst>
          </a:custGeom>
          <a:solidFill>
            <a:srgbClr val="FFFFFF"/>
          </a:solidFill>
          <a:ln w="26736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retrieval and tuning subpanel"/>
          <p:cNvSpPr/>
          <p:nvPr/>
        </p:nvSpPr>
        <p:spPr>
          <a:xfrm>
            <a:off x="3148263" y="3315368"/>
            <a:ext cx="3027947" cy="2546684"/>
          </a:xfrm>
          <a:prstGeom prst="rect">
            <a:avLst/>
          </a:prstGeom>
          <a:solidFill>
            <a:srgbClr val="FBE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3" name="histogram horizontal axis"/>
          <p:cNvCxnSpPr/>
          <p:nvPr/>
        </p:nvCxnSpPr>
        <p:spPr>
          <a:xfrm>
            <a:off x="3428999" y="3943684"/>
            <a:ext cx="2560053" cy="0"/>
          </a:xfrm>
          <a:prstGeom prst="line">
            <a:avLst/>
          </a:prstGeom>
          <a:ln w="20052">
            <a:solidFill>
              <a:srgbClr val="000000"/>
            </a:solidFill>
            <a:tailEnd type="triangle" w="med" len="med"/>
          </a:ln>
        </p:spPr>
      </p:cxnSp>
      <p:cxnSp>
        <p:nvCxnSpPr>
          <p:cNvPr id="94" name="histogram vertical axis"/>
          <p:cNvCxnSpPr/>
          <p:nvPr/>
        </p:nvCxnSpPr>
        <p:spPr>
          <a:xfrm flipV="1">
            <a:off x="3449052" y="3408947"/>
            <a:ext cx="0" cy="534737"/>
          </a:xfrm>
          <a:prstGeom prst="line">
            <a:avLst/>
          </a:prstGeom>
          <a:ln w="20052">
            <a:solidFill>
              <a:srgbClr val="000000"/>
            </a:solidFill>
            <a:tailEnd type="triangle" w="med" len="med"/>
          </a:ln>
        </p:spPr>
      </p:cxnSp>
      <p:sp>
        <p:nvSpPr>
          <p:cNvPr id="95" name="distance axis label"/>
          <p:cNvSpPr txBox="1"/>
          <p:nvPr/>
        </p:nvSpPr>
        <p:spPr>
          <a:xfrm>
            <a:off x="3235157" y="3342105"/>
            <a:ext cx="253999" cy="280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89" b="0" i="1">
                <a:solidFill>
                  <a:srgbClr val="000000"/>
                </a:solidFill>
                <a:latin typeface="DejaVu Serif"/>
              </a:rPr>
              <a:t>d</a:t>
            </a:r>
          </a:p>
        </p:txBody>
      </p:sp>
      <p:sp>
        <p:nvSpPr>
          <p:cNvPr id="96" name="task score bar"/>
          <p:cNvSpPr/>
          <p:nvPr/>
        </p:nvSpPr>
        <p:spPr>
          <a:xfrm>
            <a:off x="3462420" y="3723105"/>
            <a:ext cx="113631" cy="213894"/>
          </a:xfrm>
          <a:prstGeom prst="rect">
            <a:avLst/>
          </a:prstGeom>
          <a:solidFill>
            <a:srgbClr val="E2F0D9"/>
          </a:solidFill>
          <a:ln w="1336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task score bar"/>
          <p:cNvSpPr/>
          <p:nvPr/>
        </p:nvSpPr>
        <p:spPr>
          <a:xfrm>
            <a:off x="3582736" y="3636210"/>
            <a:ext cx="106947" cy="307473"/>
          </a:xfrm>
          <a:prstGeom prst="rect">
            <a:avLst/>
          </a:prstGeom>
          <a:solidFill>
            <a:srgbClr val="E2F0D9"/>
          </a:solidFill>
          <a:ln w="1336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task score bar"/>
          <p:cNvSpPr/>
          <p:nvPr/>
        </p:nvSpPr>
        <p:spPr>
          <a:xfrm>
            <a:off x="3703052" y="3689684"/>
            <a:ext cx="106947" cy="253999"/>
          </a:xfrm>
          <a:prstGeom prst="rect">
            <a:avLst/>
          </a:prstGeom>
          <a:solidFill>
            <a:srgbClr val="E2F0D9"/>
          </a:solidFill>
          <a:ln w="1336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task score bar"/>
          <p:cNvSpPr/>
          <p:nvPr/>
        </p:nvSpPr>
        <p:spPr>
          <a:xfrm>
            <a:off x="3823368" y="3789947"/>
            <a:ext cx="106947" cy="153736"/>
          </a:xfrm>
          <a:prstGeom prst="rect">
            <a:avLst/>
          </a:prstGeom>
          <a:solidFill>
            <a:srgbClr val="E2F0D9"/>
          </a:solidFill>
          <a:ln w="1336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task score bar"/>
          <p:cNvSpPr/>
          <p:nvPr/>
        </p:nvSpPr>
        <p:spPr>
          <a:xfrm>
            <a:off x="3950368" y="3850105"/>
            <a:ext cx="106947" cy="93578"/>
          </a:xfrm>
          <a:prstGeom prst="rect">
            <a:avLst/>
          </a:prstGeom>
          <a:solidFill>
            <a:srgbClr val="E2F0D9"/>
          </a:solidFill>
          <a:ln w="1336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task score bar"/>
          <p:cNvSpPr/>
          <p:nvPr/>
        </p:nvSpPr>
        <p:spPr>
          <a:xfrm>
            <a:off x="4110789" y="3756526"/>
            <a:ext cx="113631" cy="187157"/>
          </a:xfrm>
          <a:prstGeom prst="rect">
            <a:avLst/>
          </a:prstGeom>
          <a:solidFill>
            <a:srgbClr val="FBE5D6"/>
          </a:solidFill>
          <a:ln w="1336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task score bar"/>
          <p:cNvSpPr/>
          <p:nvPr/>
        </p:nvSpPr>
        <p:spPr>
          <a:xfrm>
            <a:off x="4231105" y="3796631"/>
            <a:ext cx="106947" cy="147052"/>
          </a:xfrm>
          <a:prstGeom prst="rect">
            <a:avLst/>
          </a:prstGeom>
          <a:solidFill>
            <a:srgbClr val="FBE5D6"/>
          </a:solidFill>
          <a:ln w="1336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task score bar"/>
          <p:cNvSpPr/>
          <p:nvPr/>
        </p:nvSpPr>
        <p:spPr>
          <a:xfrm>
            <a:off x="4351420" y="3729789"/>
            <a:ext cx="113631" cy="213894"/>
          </a:xfrm>
          <a:prstGeom prst="rect">
            <a:avLst/>
          </a:prstGeom>
          <a:solidFill>
            <a:srgbClr val="FBE5D6"/>
          </a:solidFill>
          <a:ln w="1336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task score bar"/>
          <p:cNvSpPr/>
          <p:nvPr/>
        </p:nvSpPr>
        <p:spPr>
          <a:xfrm>
            <a:off x="4571999" y="3636210"/>
            <a:ext cx="120315" cy="307473"/>
          </a:xfrm>
          <a:prstGeom prst="rect">
            <a:avLst/>
          </a:prstGeom>
          <a:solidFill>
            <a:srgbClr val="AEC4E6"/>
          </a:solidFill>
          <a:ln w="1336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task score bar"/>
          <p:cNvSpPr/>
          <p:nvPr/>
        </p:nvSpPr>
        <p:spPr>
          <a:xfrm>
            <a:off x="4692315" y="3703052"/>
            <a:ext cx="113631" cy="240631"/>
          </a:xfrm>
          <a:prstGeom prst="rect">
            <a:avLst/>
          </a:prstGeom>
          <a:solidFill>
            <a:srgbClr val="AEC4E6"/>
          </a:solidFill>
          <a:ln w="1336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task score bar"/>
          <p:cNvSpPr/>
          <p:nvPr/>
        </p:nvSpPr>
        <p:spPr>
          <a:xfrm>
            <a:off x="4812631" y="3783263"/>
            <a:ext cx="113631" cy="160421"/>
          </a:xfrm>
          <a:prstGeom prst="rect">
            <a:avLst/>
          </a:prstGeom>
          <a:solidFill>
            <a:srgbClr val="AEC4E6"/>
          </a:solidFill>
          <a:ln w="1336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task score bar"/>
          <p:cNvSpPr/>
          <p:nvPr/>
        </p:nvSpPr>
        <p:spPr>
          <a:xfrm>
            <a:off x="4932947" y="3850105"/>
            <a:ext cx="106947" cy="93578"/>
          </a:xfrm>
          <a:prstGeom prst="rect">
            <a:avLst/>
          </a:prstGeom>
          <a:solidFill>
            <a:srgbClr val="AEC4E6"/>
          </a:solidFill>
          <a:ln w="1336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task score bar"/>
          <p:cNvSpPr/>
          <p:nvPr/>
        </p:nvSpPr>
        <p:spPr>
          <a:xfrm>
            <a:off x="5300578" y="3783263"/>
            <a:ext cx="113631" cy="160421"/>
          </a:xfrm>
          <a:prstGeom prst="rect">
            <a:avLst/>
          </a:prstGeom>
          <a:solidFill>
            <a:srgbClr val="E7E6E6"/>
          </a:solidFill>
          <a:ln w="1336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task score bar"/>
          <p:cNvSpPr/>
          <p:nvPr/>
        </p:nvSpPr>
        <p:spPr>
          <a:xfrm>
            <a:off x="5420894" y="3743157"/>
            <a:ext cx="113631" cy="200526"/>
          </a:xfrm>
          <a:prstGeom prst="rect">
            <a:avLst/>
          </a:prstGeom>
          <a:solidFill>
            <a:srgbClr val="E7E6E6"/>
          </a:solidFill>
          <a:ln w="1336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task score bar"/>
          <p:cNvSpPr/>
          <p:nvPr/>
        </p:nvSpPr>
        <p:spPr>
          <a:xfrm>
            <a:off x="5541210" y="3763210"/>
            <a:ext cx="113631" cy="180473"/>
          </a:xfrm>
          <a:prstGeom prst="rect">
            <a:avLst/>
          </a:prstGeom>
          <a:solidFill>
            <a:srgbClr val="E7E6E6"/>
          </a:solidFill>
          <a:ln w="1336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task score bar"/>
          <p:cNvSpPr/>
          <p:nvPr/>
        </p:nvSpPr>
        <p:spPr>
          <a:xfrm>
            <a:off x="5661526" y="3816684"/>
            <a:ext cx="113631" cy="126999"/>
          </a:xfrm>
          <a:prstGeom prst="rect">
            <a:avLst/>
          </a:prstGeom>
          <a:solidFill>
            <a:srgbClr val="E7E6E6"/>
          </a:solidFill>
          <a:ln w="1336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task score bar"/>
          <p:cNvSpPr/>
          <p:nvPr/>
        </p:nvSpPr>
        <p:spPr>
          <a:xfrm>
            <a:off x="5781841" y="3863473"/>
            <a:ext cx="106947" cy="80210"/>
          </a:xfrm>
          <a:prstGeom prst="rect">
            <a:avLst/>
          </a:prstGeom>
          <a:solidFill>
            <a:srgbClr val="E7E6E6"/>
          </a:solidFill>
          <a:ln w="1336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text-109"/>
          <p:cNvSpPr txBox="1"/>
          <p:nvPr/>
        </p:nvSpPr>
        <p:spPr>
          <a:xfrm>
            <a:off x="3542631" y="3342105"/>
            <a:ext cx="367631" cy="2673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6" b="0" i="1">
                <a:solidFill>
                  <a:srgbClr val="000000"/>
                </a:solidFill>
                <a:latin typeface="DejaVu Serif"/>
              </a:rPr>
              <a:t>T₁</a:t>
            </a:r>
          </a:p>
        </p:txBody>
      </p:sp>
      <p:sp>
        <p:nvSpPr>
          <p:cNvPr id="114" name="text-110"/>
          <p:cNvSpPr txBox="1"/>
          <p:nvPr/>
        </p:nvSpPr>
        <p:spPr>
          <a:xfrm>
            <a:off x="4070684" y="3342105"/>
            <a:ext cx="367631" cy="2673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6" b="0" i="1">
                <a:solidFill>
                  <a:srgbClr val="000000"/>
                </a:solidFill>
                <a:latin typeface="DejaVu Serif"/>
              </a:rPr>
              <a:t>T₂</a:t>
            </a:r>
          </a:p>
        </p:txBody>
      </p:sp>
      <p:sp>
        <p:nvSpPr>
          <p:cNvPr id="115" name="text-111"/>
          <p:cNvSpPr txBox="1"/>
          <p:nvPr/>
        </p:nvSpPr>
        <p:spPr>
          <a:xfrm>
            <a:off x="4538578" y="3342105"/>
            <a:ext cx="367631" cy="2673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6" b="0" i="1">
                <a:solidFill>
                  <a:srgbClr val="000000"/>
                </a:solidFill>
                <a:latin typeface="DejaVu Serif"/>
              </a:rPr>
              <a:t>T₃</a:t>
            </a:r>
          </a:p>
        </p:txBody>
      </p:sp>
      <p:sp>
        <p:nvSpPr>
          <p:cNvPr id="116" name="text-112"/>
          <p:cNvSpPr txBox="1"/>
          <p:nvPr/>
        </p:nvSpPr>
        <p:spPr>
          <a:xfrm>
            <a:off x="5013157" y="3368842"/>
            <a:ext cx="267368" cy="23394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3" b="0" i="0">
                <a:solidFill>
                  <a:srgbClr val="000000"/>
                </a:solidFill>
                <a:latin typeface="DejaVu Serif"/>
              </a:rPr>
              <a:t>...</a:t>
            </a:r>
          </a:p>
        </p:txBody>
      </p:sp>
      <p:sp>
        <p:nvSpPr>
          <p:cNvPr id="117" name="text-113"/>
          <p:cNvSpPr txBox="1"/>
          <p:nvPr/>
        </p:nvSpPr>
        <p:spPr>
          <a:xfrm>
            <a:off x="5280526" y="3342105"/>
            <a:ext cx="668421" cy="2673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6" b="0" i="1">
                <a:solidFill>
                  <a:srgbClr val="000000"/>
                </a:solidFill>
                <a:latin typeface="DejaVu Serif"/>
              </a:rPr>
              <a:t>Tₜ₋₁</a:t>
            </a:r>
          </a:p>
        </p:txBody>
      </p:sp>
      <p:sp>
        <p:nvSpPr>
          <p:cNvPr id="118" name="text-114"/>
          <p:cNvSpPr txBox="1"/>
          <p:nvPr/>
        </p:nvSpPr>
        <p:spPr>
          <a:xfrm>
            <a:off x="5079999" y="3696368"/>
            <a:ext cx="307473" cy="23394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1" b="0" i="0">
                <a:solidFill>
                  <a:srgbClr val="000000"/>
                </a:solidFill>
                <a:latin typeface="DejaVu Serif"/>
              </a:rPr>
              <a:t>...</a:t>
            </a:r>
          </a:p>
        </p:txBody>
      </p:sp>
      <p:sp>
        <p:nvSpPr>
          <p:cNvPr id="119" name="down process arrow"/>
          <p:cNvSpPr/>
          <p:nvPr/>
        </p:nvSpPr>
        <p:spPr>
          <a:xfrm>
            <a:off x="4505157" y="4030578"/>
            <a:ext cx="260684" cy="254000"/>
          </a:xfrm>
          <a:custGeom>
            <a:avLst/>
            <a:gdLst/>
            <a:ahLst/>
            <a:cxnLst/>
            <a:rect l="l" t="t" r="r" b="b"/>
            <a:pathLst>
              <a:path w="260684" h="254000">
                <a:moveTo>
                  <a:pt x="65171" y="0"/>
                </a:moveTo>
                <a:lnTo>
                  <a:pt x="195513" y="0"/>
                </a:lnTo>
                <a:lnTo>
                  <a:pt x="195513" y="139700"/>
                </a:lnTo>
                <a:lnTo>
                  <a:pt x="260684" y="139700"/>
                </a:lnTo>
                <a:lnTo>
                  <a:pt x="130342" y="254000"/>
                </a:lnTo>
                <a:lnTo>
                  <a:pt x="0" y="139700"/>
                </a:lnTo>
                <a:lnTo>
                  <a:pt x="65171" y="139700"/>
                </a:lnTo>
                <a:close/>
              </a:path>
            </a:pathLst>
          </a:custGeom>
          <a:solidFill>
            <a:srgbClr val="FFFFFF"/>
          </a:solidFill>
          <a:ln w="26736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top K label"/>
          <p:cNvSpPr txBox="1"/>
          <p:nvPr/>
        </p:nvSpPr>
        <p:spPr>
          <a:xfrm>
            <a:off x="4812631" y="3997157"/>
            <a:ext cx="882315" cy="30078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6" b="0" i="0">
                <a:solidFill>
                  <a:srgbClr val="000000"/>
                </a:solidFill>
                <a:latin typeface="DejaVu Serif"/>
              </a:rPr>
              <a:t>top-K</a:t>
            </a:r>
          </a:p>
        </p:txBody>
      </p:sp>
      <p:sp>
        <p:nvSpPr>
          <p:cNvPr id="121" name="top K set box"/>
          <p:cNvSpPr/>
          <p:nvPr/>
        </p:nvSpPr>
        <p:spPr>
          <a:xfrm>
            <a:off x="3235157" y="4244473"/>
            <a:ext cx="2847473" cy="434473"/>
          </a:xfrm>
          <a:prstGeom prst="roundRect">
            <a:avLst/>
          </a:prstGeom>
          <a:solidFill>
            <a:srgbClr val="FFFFFF"/>
          </a:solidFill>
          <a:ln w="26736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top K task set"/>
          <p:cNvSpPr txBox="1"/>
          <p:nvPr/>
        </p:nvSpPr>
        <p:spPr>
          <a:xfrm>
            <a:off x="3348789" y="4277894"/>
            <a:ext cx="2620210" cy="36094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4" b="0" i="1">
                <a:solidFill>
                  <a:srgbClr val="000000"/>
                </a:solidFill>
                <a:latin typeface="DejaVu Serif"/>
              </a:rPr>
              <a:t>{T₁,  T₃,  T₄  ...  Tⱼ}</a:t>
            </a:r>
          </a:p>
        </p:txBody>
      </p:sp>
      <p:sp>
        <p:nvSpPr>
          <p:cNvPr id="123" name="down process arrow"/>
          <p:cNvSpPr/>
          <p:nvPr/>
        </p:nvSpPr>
        <p:spPr>
          <a:xfrm>
            <a:off x="4505157" y="4678947"/>
            <a:ext cx="260684" cy="254000"/>
          </a:xfrm>
          <a:custGeom>
            <a:avLst/>
            <a:gdLst/>
            <a:ahLst/>
            <a:cxnLst/>
            <a:rect l="l" t="t" r="r" b="b"/>
            <a:pathLst>
              <a:path w="260684" h="254000">
                <a:moveTo>
                  <a:pt x="65171" y="0"/>
                </a:moveTo>
                <a:lnTo>
                  <a:pt x="195513" y="0"/>
                </a:lnTo>
                <a:lnTo>
                  <a:pt x="195513" y="139700"/>
                </a:lnTo>
                <a:lnTo>
                  <a:pt x="260684" y="139700"/>
                </a:lnTo>
                <a:lnTo>
                  <a:pt x="130342" y="254000"/>
                </a:lnTo>
                <a:lnTo>
                  <a:pt x="0" y="139700"/>
                </a:lnTo>
                <a:lnTo>
                  <a:pt x="65171" y="139700"/>
                </a:lnTo>
                <a:close/>
              </a:path>
            </a:pathLst>
          </a:custGeom>
          <a:solidFill>
            <a:srgbClr val="FFFFFF"/>
          </a:solidFill>
          <a:ln w="26736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training parameter pool"/>
          <p:cNvSpPr/>
          <p:nvPr/>
        </p:nvSpPr>
        <p:spPr>
          <a:xfrm>
            <a:off x="3261894" y="4919578"/>
            <a:ext cx="2807368" cy="1009315"/>
          </a:xfrm>
          <a:prstGeom prst="rect">
            <a:avLst/>
          </a:prstGeom>
          <a:solidFill>
            <a:srgbClr val="D7D7D7"/>
          </a:solidFill>
          <a:ln w="26736">
            <a:solidFill>
              <a:srgbClr val="14264A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5" name="training pool label divider"/>
          <p:cNvCxnSpPr/>
          <p:nvPr/>
        </p:nvCxnSpPr>
        <p:spPr>
          <a:xfrm>
            <a:off x="4110789" y="4919578"/>
            <a:ext cx="0" cy="1009316"/>
          </a:xfrm>
          <a:prstGeom prst="line">
            <a:avLst/>
          </a:prstGeom>
          <a:ln w="26736">
            <a:solidFill>
              <a:srgbClr val="14264A"/>
            </a:solidFill>
          </a:ln>
        </p:spPr>
      </p:cxnSp>
      <p:sp>
        <p:nvSpPr>
          <p:cNvPr id="126" name="training parameter pool label"/>
          <p:cNvSpPr txBox="1"/>
          <p:nvPr/>
        </p:nvSpPr>
        <p:spPr>
          <a:xfrm>
            <a:off x="3335420" y="5113420"/>
            <a:ext cx="735263" cy="60826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4" b="0" i="0">
                <a:solidFill>
                  <a:srgbClr val="000000"/>
                </a:solidFill>
                <a:latin typeface="DejaVu Serif"/>
              </a:rPr>
              <a:t>Param.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4" b="0" i="0">
                <a:solidFill>
                  <a:srgbClr val="000000"/>
                </a:solidFill>
                <a:latin typeface="DejaVu Serif"/>
              </a:rPr>
              <a:t>Pool P</a:t>
            </a:r>
          </a:p>
        </p:txBody>
      </p:sp>
      <p:sp>
        <p:nvSpPr>
          <p:cNvPr id="127" name="frozen parameter card"/>
          <p:cNvSpPr/>
          <p:nvPr/>
        </p:nvSpPr>
        <p:spPr>
          <a:xfrm>
            <a:off x="4170947" y="5053263"/>
            <a:ext cx="253999" cy="715210"/>
          </a:xfrm>
          <a:prstGeom prst="rect">
            <a:avLst/>
          </a:prstGeom>
          <a:solidFill>
            <a:srgbClr val="F4B1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lock shackle"/>
          <p:cNvSpPr/>
          <p:nvPr/>
        </p:nvSpPr>
        <p:spPr>
          <a:xfrm>
            <a:off x="4236719" y="5273841"/>
            <a:ext cx="86627" cy="96252"/>
          </a:xfrm>
          <a:prstGeom prst="roundRect">
            <a:avLst/>
          </a:prstGeom>
          <a:noFill/>
          <a:ln w="1283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lock body"/>
          <p:cNvSpPr/>
          <p:nvPr/>
        </p:nvSpPr>
        <p:spPr>
          <a:xfrm>
            <a:off x="4211052" y="5338010"/>
            <a:ext cx="141170" cy="118711"/>
          </a:xfrm>
          <a:prstGeom prst="roundRect">
            <a:avLst/>
          </a:prstGeom>
          <a:solidFill>
            <a:srgbClr val="000000"/>
          </a:solidFill>
          <a:ln w="668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keyhole"/>
          <p:cNvSpPr/>
          <p:nvPr/>
        </p:nvSpPr>
        <p:spPr>
          <a:xfrm>
            <a:off x="4268804" y="5373303"/>
            <a:ext cx="25667" cy="28875"/>
          </a:xfrm>
          <a:prstGeom prst="ellipse">
            <a:avLst/>
          </a:prstGeom>
          <a:solidFill>
            <a:srgbClr val="F4B183"/>
          </a:solidFill>
          <a:ln w="6684">
            <a:solidFill>
              <a:srgbClr val="F4B1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keyhole stem"/>
          <p:cNvSpPr/>
          <p:nvPr/>
        </p:nvSpPr>
        <p:spPr>
          <a:xfrm>
            <a:off x="4275220" y="5395761"/>
            <a:ext cx="12834" cy="32085"/>
          </a:xfrm>
          <a:custGeom>
            <a:avLst/>
            <a:gdLst/>
            <a:ahLst/>
            <a:cxnLst/>
            <a:rect l="l" t="t" r="r" b="b"/>
            <a:pathLst>
              <a:path w="12834" h="32085">
                <a:moveTo>
                  <a:pt x="0" y="0"/>
                </a:moveTo>
                <a:lnTo>
                  <a:pt x="12834" y="0"/>
                </a:lnTo>
                <a:lnTo>
                  <a:pt x="6417" y="32085"/>
                </a:lnTo>
                <a:close/>
              </a:path>
            </a:pathLst>
          </a:custGeom>
          <a:solidFill>
            <a:srgbClr val="F4B183"/>
          </a:solidFill>
          <a:ln w="6684">
            <a:solidFill>
              <a:srgbClr val="F4B1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frozen parameter card"/>
          <p:cNvSpPr/>
          <p:nvPr/>
        </p:nvSpPr>
        <p:spPr>
          <a:xfrm>
            <a:off x="4458368" y="5053263"/>
            <a:ext cx="253999" cy="715210"/>
          </a:xfrm>
          <a:prstGeom prst="rect">
            <a:avLst/>
          </a:prstGeom>
          <a:solidFill>
            <a:srgbClr val="F4B1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lock shackle"/>
          <p:cNvSpPr/>
          <p:nvPr/>
        </p:nvSpPr>
        <p:spPr>
          <a:xfrm>
            <a:off x="4524140" y="5273841"/>
            <a:ext cx="86627" cy="96252"/>
          </a:xfrm>
          <a:prstGeom prst="roundRect">
            <a:avLst/>
          </a:prstGeom>
          <a:noFill/>
          <a:ln w="1283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lock body"/>
          <p:cNvSpPr/>
          <p:nvPr/>
        </p:nvSpPr>
        <p:spPr>
          <a:xfrm>
            <a:off x="4498473" y="5338010"/>
            <a:ext cx="141170" cy="118711"/>
          </a:xfrm>
          <a:prstGeom prst="roundRect">
            <a:avLst/>
          </a:prstGeom>
          <a:solidFill>
            <a:srgbClr val="000000"/>
          </a:solidFill>
          <a:ln w="668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keyhole"/>
          <p:cNvSpPr/>
          <p:nvPr/>
        </p:nvSpPr>
        <p:spPr>
          <a:xfrm>
            <a:off x="4556225" y="5373303"/>
            <a:ext cx="25667" cy="28875"/>
          </a:xfrm>
          <a:prstGeom prst="ellipse">
            <a:avLst/>
          </a:prstGeom>
          <a:solidFill>
            <a:srgbClr val="F4B183"/>
          </a:solidFill>
          <a:ln w="6684">
            <a:solidFill>
              <a:srgbClr val="F4B1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keyhole stem"/>
          <p:cNvSpPr/>
          <p:nvPr/>
        </p:nvSpPr>
        <p:spPr>
          <a:xfrm>
            <a:off x="4562641" y="5395761"/>
            <a:ext cx="12834" cy="32085"/>
          </a:xfrm>
          <a:custGeom>
            <a:avLst/>
            <a:gdLst/>
            <a:ahLst/>
            <a:cxnLst/>
            <a:rect l="l" t="t" r="r" b="b"/>
            <a:pathLst>
              <a:path w="12834" h="32085">
                <a:moveTo>
                  <a:pt x="0" y="0"/>
                </a:moveTo>
                <a:lnTo>
                  <a:pt x="12834" y="0"/>
                </a:lnTo>
                <a:lnTo>
                  <a:pt x="6417" y="32085"/>
                </a:lnTo>
                <a:close/>
              </a:path>
            </a:pathLst>
          </a:custGeom>
          <a:solidFill>
            <a:srgbClr val="F4B183"/>
          </a:solidFill>
          <a:ln w="6684">
            <a:solidFill>
              <a:srgbClr val="F4B1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frozen parameter card"/>
          <p:cNvSpPr/>
          <p:nvPr/>
        </p:nvSpPr>
        <p:spPr>
          <a:xfrm>
            <a:off x="4745789" y="5053263"/>
            <a:ext cx="253999" cy="715210"/>
          </a:xfrm>
          <a:prstGeom prst="rect">
            <a:avLst/>
          </a:prstGeom>
          <a:solidFill>
            <a:srgbClr val="F4B1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lock shackle"/>
          <p:cNvSpPr/>
          <p:nvPr/>
        </p:nvSpPr>
        <p:spPr>
          <a:xfrm>
            <a:off x="4811561" y="5273841"/>
            <a:ext cx="86627" cy="96252"/>
          </a:xfrm>
          <a:prstGeom prst="roundRect">
            <a:avLst/>
          </a:prstGeom>
          <a:noFill/>
          <a:ln w="1283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lock body"/>
          <p:cNvSpPr/>
          <p:nvPr/>
        </p:nvSpPr>
        <p:spPr>
          <a:xfrm>
            <a:off x="4785894" y="5338010"/>
            <a:ext cx="141170" cy="118711"/>
          </a:xfrm>
          <a:prstGeom prst="roundRect">
            <a:avLst/>
          </a:prstGeom>
          <a:solidFill>
            <a:srgbClr val="000000"/>
          </a:solidFill>
          <a:ln w="668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keyhole"/>
          <p:cNvSpPr/>
          <p:nvPr/>
        </p:nvSpPr>
        <p:spPr>
          <a:xfrm>
            <a:off x="4843646" y="5373303"/>
            <a:ext cx="25667" cy="28875"/>
          </a:xfrm>
          <a:prstGeom prst="ellipse">
            <a:avLst/>
          </a:prstGeom>
          <a:solidFill>
            <a:srgbClr val="F4B183"/>
          </a:solidFill>
          <a:ln w="6684">
            <a:solidFill>
              <a:srgbClr val="F4B1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keyhole stem"/>
          <p:cNvSpPr/>
          <p:nvPr/>
        </p:nvSpPr>
        <p:spPr>
          <a:xfrm>
            <a:off x="4850063" y="5395761"/>
            <a:ext cx="12833" cy="32085"/>
          </a:xfrm>
          <a:custGeom>
            <a:avLst/>
            <a:gdLst/>
            <a:ahLst/>
            <a:cxnLst/>
            <a:rect l="l" t="t" r="r" b="b"/>
            <a:pathLst>
              <a:path w="12833" h="32085">
                <a:moveTo>
                  <a:pt x="0" y="0"/>
                </a:moveTo>
                <a:lnTo>
                  <a:pt x="12833" y="0"/>
                </a:lnTo>
                <a:lnTo>
                  <a:pt x="6416" y="32085"/>
                </a:lnTo>
                <a:close/>
              </a:path>
            </a:pathLst>
          </a:custGeom>
          <a:solidFill>
            <a:srgbClr val="F4B183"/>
          </a:solidFill>
          <a:ln w="6684">
            <a:solidFill>
              <a:srgbClr val="F4B1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frozen parameter card"/>
          <p:cNvSpPr/>
          <p:nvPr/>
        </p:nvSpPr>
        <p:spPr>
          <a:xfrm>
            <a:off x="5501105" y="5053263"/>
            <a:ext cx="253999" cy="715210"/>
          </a:xfrm>
          <a:prstGeom prst="rect">
            <a:avLst/>
          </a:prstGeom>
          <a:solidFill>
            <a:srgbClr val="F4B1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lock shackle"/>
          <p:cNvSpPr/>
          <p:nvPr/>
        </p:nvSpPr>
        <p:spPr>
          <a:xfrm>
            <a:off x="5566877" y="5273841"/>
            <a:ext cx="86627" cy="96252"/>
          </a:xfrm>
          <a:prstGeom prst="roundRect">
            <a:avLst/>
          </a:prstGeom>
          <a:noFill/>
          <a:ln w="1283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lock body"/>
          <p:cNvSpPr/>
          <p:nvPr/>
        </p:nvSpPr>
        <p:spPr>
          <a:xfrm>
            <a:off x="5541210" y="5338010"/>
            <a:ext cx="141170" cy="118711"/>
          </a:xfrm>
          <a:prstGeom prst="roundRect">
            <a:avLst/>
          </a:prstGeom>
          <a:solidFill>
            <a:srgbClr val="000000"/>
          </a:solidFill>
          <a:ln w="668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keyhole"/>
          <p:cNvSpPr/>
          <p:nvPr/>
        </p:nvSpPr>
        <p:spPr>
          <a:xfrm>
            <a:off x="5598961" y="5373303"/>
            <a:ext cx="25667" cy="28875"/>
          </a:xfrm>
          <a:prstGeom prst="ellipse">
            <a:avLst/>
          </a:prstGeom>
          <a:solidFill>
            <a:srgbClr val="F4B183"/>
          </a:solidFill>
          <a:ln w="6684">
            <a:solidFill>
              <a:srgbClr val="F4B1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keyhole stem"/>
          <p:cNvSpPr/>
          <p:nvPr/>
        </p:nvSpPr>
        <p:spPr>
          <a:xfrm>
            <a:off x="5605378" y="5395761"/>
            <a:ext cx="12834" cy="32085"/>
          </a:xfrm>
          <a:custGeom>
            <a:avLst/>
            <a:gdLst/>
            <a:ahLst/>
            <a:cxnLst/>
            <a:rect l="l" t="t" r="r" b="b"/>
            <a:pathLst>
              <a:path w="12834" h="32085">
                <a:moveTo>
                  <a:pt x="0" y="0"/>
                </a:moveTo>
                <a:lnTo>
                  <a:pt x="12834" y="0"/>
                </a:lnTo>
                <a:lnTo>
                  <a:pt x="6417" y="32085"/>
                </a:lnTo>
                <a:close/>
              </a:path>
            </a:pathLst>
          </a:custGeom>
          <a:solidFill>
            <a:srgbClr val="F4B183"/>
          </a:solidFill>
          <a:ln w="6684">
            <a:solidFill>
              <a:srgbClr val="F4B1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training pool ellipsis"/>
          <p:cNvSpPr txBox="1"/>
          <p:nvPr/>
        </p:nvSpPr>
        <p:spPr>
          <a:xfrm>
            <a:off x="5046578" y="5260473"/>
            <a:ext cx="401052" cy="280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1" b="0" i="0">
                <a:solidFill>
                  <a:srgbClr val="000000"/>
                </a:solidFill>
                <a:latin typeface="DejaVu Serif"/>
              </a:rPr>
              <a:t>•••</a:t>
            </a:r>
          </a:p>
        </p:txBody>
      </p:sp>
      <p:sp>
        <p:nvSpPr>
          <p:cNvPr id="148" name="trainable parameter card"/>
          <p:cNvSpPr/>
          <p:nvPr/>
        </p:nvSpPr>
        <p:spPr>
          <a:xfrm>
            <a:off x="5755105" y="5039894"/>
            <a:ext cx="267368" cy="741947"/>
          </a:xfrm>
          <a:prstGeom prst="rect">
            <a:avLst/>
          </a:prstGeom>
          <a:solidFill>
            <a:srgbClr val="F7B37D"/>
          </a:solidFill>
          <a:ln w="26736">
            <a:solidFill>
              <a:srgbClr val="FF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trainable flame"/>
          <p:cNvSpPr/>
          <p:nvPr/>
        </p:nvSpPr>
        <p:spPr>
          <a:xfrm>
            <a:off x="5815263" y="5327315"/>
            <a:ext cx="173789" cy="314158"/>
          </a:xfrm>
          <a:custGeom>
            <a:avLst/>
            <a:gdLst/>
            <a:ahLst/>
            <a:cxnLst/>
            <a:rect l="l" t="t" r="r" b="b"/>
            <a:pathLst>
              <a:path w="173789" h="314158">
                <a:moveTo>
                  <a:pt x="73526" y="314158"/>
                </a:moveTo>
                <a:lnTo>
                  <a:pt x="0" y="233948"/>
                </a:lnTo>
                <a:lnTo>
                  <a:pt x="6684" y="106948"/>
                </a:lnTo>
                <a:lnTo>
                  <a:pt x="53473" y="53474"/>
                </a:lnTo>
                <a:lnTo>
                  <a:pt x="53473" y="153737"/>
                </a:lnTo>
                <a:lnTo>
                  <a:pt x="100263" y="106948"/>
                </a:lnTo>
                <a:lnTo>
                  <a:pt x="127000" y="0"/>
                </a:lnTo>
                <a:lnTo>
                  <a:pt x="173789" y="86895"/>
                </a:lnTo>
                <a:lnTo>
                  <a:pt x="173789" y="200526"/>
                </a:lnTo>
                <a:close/>
              </a:path>
            </a:pathLst>
          </a:custGeom>
          <a:solidFill>
            <a:srgbClr val="FF0000"/>
          </a:solidFill>
          <a:ln w="6684">
            <a:solidFill>
              <a:srgbClr val="FF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right process arrow"/>
          <p:cNvSpPr/>
          <p:nvPr/>
        </p:nvSpPr>
        <p:spPr>
          <a:xfrm>
            <a:off x="6182894" y="4518526"/>
            <a:ext cx="327526" cy="340894"/>
          </a:xfrm>
          <a:custGeom>
            <a:avLst/>
            <a:gdLst/>
            <a:ahLst/>
            <a:cxnLst/>
            <a:rect l="l" t="t" r="r" b="b"/>
            <a:pathLst>
              <a:path w="327526" h="340894">
                <a:moveTo>
                  <a:pt x="0" y="85223"/>
                </a:moveTo>
                <a:lnTo>
                  <a:pt x="180140" y="85223"/>
                </a:lnTo>
                <a:lnTo>
                  <a:pt x="180140" y="0"/>
                </a:lnTo>
                <a:lnTo>
                  <a:pt x="327526" y="170447"/>
                </a:lnTo>
                <a:lnTo>
                  <a:pt x="180140" y="340894"/>
                </a:lnTo>
                <a:lnTo>
                  <a:pt x="180140" y="255671"/>
                </a:lnTo>
                <a:lnTo>
                  <a:pt x="0" y="255671"/>
                </a:lnTo>
                <a:close/>
              </a:path>
            </a:pathLst>
          </a:custGeom>
          <a:solidFill>
            <a:srgbClr val="FFFFFF"/>
          </a:solidFill>
          <a:ln w="26736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old feature space"/>
          <p:cNvSpPr/>
          <p:nvPr/>
        </p:nvSpPr>
        <p:spPr>
          <a:xfrm>
            <a:off x="6503736" y="3342105"/>
            <a:ext cx="2947736" cy="1310105"/>
          </a:xfrm>
          <a:prstGeom prst="roundRect">
            <a:avLst/>
          </a:prstGeom>
          <a:solidFill>
            <a:srgbClr val="D7D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feature graph W₁"/>
          <p:cNvSpPr/>
          <p:nvPr/>
        </p:nvSpPr>
        <p:spPr>
          <a:xfrm rot="900000">
            <a:off x="6737684" y="3449052"/>
            <a:ext cx="733926" cy="565484"/>
          </a:xfrm>
          <a:prstGeom prst="rect">
            <a:avLst/>
          </a:prstGeom>
          <a:solidFill>
            <a:srgbClr val="E8E8E8"/>
          </a:solidFill>
          <a:ln w="26736">
            <a:solidFill>
              <a:srgbClr val="3C7DD9"/>
            </a:solidFill>
            <a:prstDash val="sysDot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53" name="graph edge"/>
          <p:cNvCxnSpPr/>
          <p:nvPr/>
        </p:nvCxnSpPr>
        <p:spPr>
          <a:xfrm flipV="1">
            <a:off x="6888078" y="3551320"/>
            <a:ext cx="198521" cy="102269"/>
          </a:xfrm>
          <a:prstGeom prst="line">
            <a:avLst/>
          </a:prstGeom>
          <a:ln w="13368">
            <a:solidFill>
              <a:srgbClr val="111111"/>
            </a:solidFill>
          </a:ln>
        </p:spPr>
      </p:cxnSp>
      <p:cxnSp>
        <p:nvCxnSpPr>
          <p:cNvPr id="154" name="graph edge"/>
          <p:cNvCxnSpPr/>
          <p:nvPr/>
        </p:nvCxnSpPr>
        <p:spPr>
          <a:xfrm>
            <a:off x="6888078" y="3653589"/>
            <a:ext cx="403058" cy="30079"/>
          </a:xfrm>
          <a:prstGeom prst="line">
            <a:avLst/>
          </a:prstGeom>
          <a:ln w="13368">
            <a:solidFill>
              <a:srgbClr val="111111"/>
            </a:solidFill>
          </a:ln>
        </p:spPr>
      </p:cxnSp>
      <p:cxnSp>
        <p:nvCxnSpPr>
          <p:cNvPr id="155" name="graph edge"/>
          <p:cNvCxnSpPr/>
          <p:nvPr/>
        </p:nvCxnSpPr>
        <p:spPr>
          <a:xfrm>
            <a:off x="6888078" y="3653589"/>
            <a:ext cx="102269" cy="228600"/>
          </a:xfrm>
          <a:prstGeom prst="line">
            <a:avLst/>
          </a:prstGeom>
          <a:ln w="13368">
            <a:solidFill>
              <a:srgbClr val="111111"/>
            </a:solidFill>
          </a:ln>
        </p:spPr>
      </p:cxnSp>
      <p:cxnSp>
        <p:nvCxnSpPr>
          <p:cNvPr id="156" name="graph edge"/>
          <p:cNvCxnSpPr/>
          <p:nvPr/>
        </p:nvCxnSpPr>
        <p:spPr>
          <a:xfrm>
            <a:off x="6888078" y="3653589"/>
            <a:ext cx="378995" cy="246647"/>
          </a:xfrm>
          <a:prstGeom prst="line">
            <a:avLst/>
          </a:prstGeom>
          <a:ln w="13368">
            <a:solidFill>
              <a:srgbClr val="111111"/>
            </a:solidFill>
          </a:ln>
        </p:spPr>
      </p:cxnSp>
      <p:cxnSp>
        <p:nvCxnSpPr>
          <p:cNvPr id="157" name="graph edge"/>
          <p:cNvCxnSpPr/>
          <p:nvPr/>
        </p:nvCxnSpPr>
        <p:spPr>
          <a:xfrm>
            <a:off x="7086599" y="3551320"/>
            <a:ext cx="204537" cy="132348"/>
          </a:xfrm>
          <a:prstGeom prst="line">
            <a:avLst/>
          </a:prstGeom>
          <a:ln w="13368">
            <a:solidFill>
              <a:srgbClr val="111111"/>
            </a:solidFill>
          </a:ln>
        </p:spPr>
      </p:cxnSp>
      <p:cxnSp>
        <p:nvCxnSpPr>
          <p:cNvPr id="158" name="graph edge"/>
          <p:cNvCxnSpPr/>
          <p:nvPr/>
        </p:nvCxnSpPr>
        <p:spPr>
          <a:xfrm flipH="1">
            <a:off x="6990347" y="3551320"/>
            <a:ext cx="96252" cy="330869"/>
          </a:xfrm>
          <a:prstGeom prst="line">
            <a:avLst/>
          </a:prstGeom>
          <a:ln w="13368">
            <a:solidFill>
              <a:srgbClr val="111111"/>
            </a:solidFill>
          </a:ln>
        </p:spPr>
      </p:cxnSp>
      <p:cxnSp>
        <p:nvCxnSpPr>
          <p:cNvPr id="159" name="graph edge"/>
          <p:cNvCxnSpPr/>
          <p:nvPr/>
        </p:nvCxnSpPr>
        <p:spPr>
          <a:xfrm>
            <a:off x="7086599" y="3551320"/>
            <a:ext cx="180474" cy="348916"/>
          </a:xfrm>
          <a:prstGeom prst="line">
            <a:avLst/>
          </a:prstGeom>
          <a:ln w="13368">
            <a:solidFill>
              <a:srgbClr val="111111"/>
            </a:solidFill>
          </a:ln>
        </p:spPr>
      </p:cxnSp>
      <p:cxnSp>
        <p:nvCxnSpPr>
          <p:cNvPr id="160" name="graph edge"/>
          <p:cNvCxnSpPr/>
          <p:nvPr/>
        </p:nvCxnSpPr>
        <p:spPr>
          <a:xfrm flipH="1">
            <a:off x="6990347" y="3683668"/>
            <a:ext cx="300789" cy="198521"/>
          </a:xfrm>
          <a:prstGeom prst="line">
            <a:avLst/>
          </a:prstGeom>
          <a:ln w="13368">
            <a:solidFill>
              <a:srgbClr val="111111"/>
            </a:solidFill>
          </a:ln>
        </p:spPr>
      </p:cxnSp>
      <p:cxnSp>
        <p:nvCxnSpPr>
          <p:cNvPr id="161" name="graph edge"/>
          <p:cNvCxnSpPr/>
          <p:nvPr/>
        </p:nvCxnSpPr>
        <p:spPr>
          <a:xfrm flipH="1">
            <a:off x="7267073" y="3683668"/>
            <a:ext cx="24063" cy="216568"/>
          </a:xfrm>
          <a:prstGeom prst="line">
            <a:avLst/>
          </a:prstGeom>
          <a:ln w="13368">
            <a:solidFill>
              <a:srgbClr val="111111"/>
            </a:solidFill>
          </a:ln>
        </p:spPr>
      </p:cxnSp>
      <p:cxnSp>
        <p:nvCxnSpPr>
          <p:cNvPr id="162" name="graph edge"/>
          <p:cNvCxnSpPr/>
          <p:nvPr/>
        </p:nvCxnSpPr>
        <p:spPr>
          <a:xfrm>
            <a:off x="6990347" y="3882189"/>
            <a:ext cx="276726" cy="18047"/>
          </a:xfrm>
          <a:prstGeom prst="line">
            <a:avLst/>
          </a:prstGeom>
          <a:ln w="13368">
            <a:solidFill>
              <a:srgbClr val="111111"/>
            </a:solidFill>
          </a:ln>
        </p:spPr>
      </p:cxnSp>
      <p:sp>
        <p:nvSpPr>
          <p:cNvPr id="163" name="rect-159"/>
          <p:cNvSpPr/>
          <p:nvPr/>
        </p:nvSpPr>
        <p:spPr>
          <a:xfrm>
            <a:off x="6839952" y="3605463"/>
            <a:ext cx="96252" cy="96252"/>
          </a:xfrm>
          <a:prstGeom prst="rect">
            <a:avLst/>
          </a:prstGeom>
          <a:solidFill>
            <a:srgbClr val="2F80C4"/>
          </a:solidFill>
          <a:ln w="6684">
            <a:solidFill>
              <a:srgbClr val="2F80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ellipse-160"/>
          <p:cNvSpPr/>
          <p:nvPr/>
        </p:nvSpPr>
        <p:spPr>
          <a:xfrm>
            <a:off x="7038473" y="3503194"/>
            <a:ext cx="96252" cy="96252"/>
          </a:xfrm>
          <a:prstGeom prst="ellipse">
            <a:avLst/>
          </a:prstGeom>
          <a:solidFill>
            <a:srgbClr val="2F80C4"/>
          </a:solidFill>
          <a:ln w="6684">
            <a:solidFill>
              <a:srgbClr val="2F80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poly-161"/>
          <p:cNvSpPr/>
          <p:nvPr/>
        </p:nvSpPr>
        <p:spPr>
          <a:xfrm>
            <a:off x="7236994" y="3629526"/>
            <a:ext cx="108284" cy="102268"/>
          </a:xfrm>
          <a:custGeom>
            <a:avLst/>
            <a:gdLst/>
            <a:ahLst/>
            <a:cxnLst/>
            <a:rect l="l" t="t" r="r" b="b"/>
            <a:pathLst>
              <a:path w="108284" h="102268">
                <a:moveTo>
                  <a:pt x="54142" y="0"/>
                </a:moveTo>
                <a:lnTo>
                  <a:pt x="0" y="102268"/>
                </a:lnTo>
                <a:lnTo>
                  <a:pt x="108284" y="102268"/>
                </a:lnTo>
                <a:close/>
              </a:path>
            </a:pathLst>
          </a:custGeom>
          <a:solidFill>
            <a:srgbClr val="2F80C4"/>
          </a:solidFill>
          <a:ln w="6684">
            <a:solidFill>
              <a:srgbClr val="2F80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poly-162"/>
          <p:cNvSpPr/>
          <p:nvPr/>
        </p:nvSpPr>
        <p:spPr>
          <a:xfrm>
            <a:off x="6936205" y="3828047"/>
            <a:ext cx="108284" cy="102268"/>
          </a:xfrm>
          <a:custGeom>
            <a:avLst/>
            <a:gdLst/>
            <a:ahLst/>
            <a:cxnLst/>
            <a:rect l="l" t="t" r="r" b="b"/>
            <a:pathLst>
              <a:path w="108284" h="102268">
                <a:moveTo>
                  <a:pt x="54142" y="0"/>
                </a:moveTo>
                <a:lnTo>
                  <a:pt x="0" y="102268"/>
                </a:lnTo>
                <a:lnTo>
                  <a:pt x="108284" y="102268"/>
                </a:lnTo>
                <a:close/>
              </a:path>
            </a:pathLst>
          </a:custGeom>
          <a:solidFill>
            <a:srgbClr val="2F80C4"/>
          </a:solidFill>
          <a:ln w="6684">
            <a:solidFill>
              <a:srgbClr val="2F80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poly-163"/>
          <p:cNvSpPr/>
          <p:nvPr/>
        </p:nvSpPr>
        <p:spPr>
          <a:xfrm>
            <a:off x="7215581" y="3846094"/>
            <a:ext cx="102984" cy="97944"/>
          </a:xfrm>
          <a:custGeom>
            <a:avLst/>
            <a:gdLst/>
            <a:ahLst/>
            <a:cxnLst/>
            <a:rect l="l" t="t" r="r" b="b"/>
            <a:pathLst>
              <a:path w="102984" h="97944">
                <a:moveTo>
                  <a:pt x="51492" y="0"/>
                </a:moveTo>
                <a:lnTo>
                  <a:pt x="65636" y="34675"/>
                </a:lnTo>
                <a:lnTo>
                  <a:pt x="102984" y="37411"/>
                </a:lnTo>
                <a:lnTo>
                  <a:pt x="74377" y="61578"/>
                </a:lnTo>
                <a:lnTo>
                  <a:pt x="83316" y="97944"/>
                </a:lnTo>
                <a:lnTo>
                  <a:pt x="51492" y="78205"/>
                </a:lnTo>
                <a:lnTo>
                  <a:pt x="19668" y="97944"/>
                </a:lnTo>
                <a:lnTo>
                  <a:pt x="28607" y="61578"/>
                </a:lnTo>
                <a:lnTo>
                  <a:pt x="0" y="37411"/>
                </a:lnTo>
                <a:lnTo>
                  <a:pt x="37348" y="34675"/>
                </a:lnTo>
                <a:close/>
              </a:path>
            </a:pathLst>
          </a:custGeom>
          <a:solidFill>
            <a:srgbClr val="2F80C4"/>
          </a:solidFill>
          <a:ln w="6684">
            <a:solidFill>
              <a:srgbClr val="2F80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text-164"/>
          <p:cNvSpPr txBox="1"/>
          <p:nvPr/>
        </p:nvSpPr>
        <p:spPr>
          <a:xfrm>
            <a:off x="6767762" y="3822031"/>
            <a:ext cx="252663" cy="1443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6" b="0" i="1">
                <a:solidFill>
                  <a:srgbClr val="000000"/>
                </a:solidFill>
                <a:latin typeface="DejaVu Serif"/>
              </a:rPr>
              <a:t>W₁</a:t>
            </a:r>
          </a:p>
        </p:txBody>
      </p:sp>
      <p:sp>
        <p:nvSpPr>
          <p:cNvPr id="169" name="feature graph W₂"/>
          <p:cNvSpPr/>
          <p:nvPr/>
        </p:nvSpPr>
        <p:spPr>
          <a:xfrm rot="21180000">
            <a:off x="7693526" y="3462420"/>
            <a:ext cx="733926" cy="565484"/>
          </a:xfrm>
          <a:prstGeom prst="rect">
            <a:avLst/>
          </a:prstGeom>
          <a:solidFill>
            <a:srgbClr val="E8E8E8"/>
          </a:solidFill>
          <a:ln w="26736">
            <a:solidFill>
              <a:srgbClr val="3C7DD9"/>
            </a:solidFill>
            <a:prstDash val="sysDot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0" name="graph edge"/>
          <p:cNvCxnSpPr/>
          <p:nvPr/>
        </p:nvCxnSpPr>
        <p:spPr>
          <a:xfrm flipV="1">
            <a:off x="7843920" y="3564689"/>
            <a:ext cx="198521" cy="102268"/>
          </a:xfrm>
          <a:prstGeom prst="line">
            <a:avLst/>
          </a:prstGeom>
          <a:ln w="13368">
            <a:solidFill>
              <a:srgbClr val="111111"/>
            </a:solidFill>
          </a:ln>
        </p:spPr>
      </p:cxnSp>
      <p:cxnSp>
        <p:nvCxnSpPr>
          <p:cNvPr id="171" name="graph edge"/>
          <p:cNvCxnSpPr/>
          <p:nvPr/>
        </p:nvCxnSpPr>
        <p:spPr>
          <a:xfrm>
            <a:off x="7843920" y="3666957"/>
            <a:ext cx="403058" cy="30079"/>
          </a:xfrm>
          <a:prstGeom prst="line">
            <a:avLst/>
          </a:prstGeom>
          <a:ln w="13368">
            <a:solidFill>
              <a:srgbClr val="111111"/>
            </a:solidFill>
          </a:ln>
        </p:spPr>
      </p:cxnSp>
      <p:cxnSp>
        <p:nvCxnSpPr>
          <p:cNvPr id="172" name="graph edge"/>
          <p:cNvCxnSpPr/>
          <p:nvPr/>
        </p:nvCxnSpPr>
        <p:spPr>
          <a:xfrm>
            <a:off x="7843920" y="3666957"/>
            <a:ext cx="102269" cy="228600"/>
          </a:xfrm>
          <a:prstGeom prst="line">
            <a:avLst/>
          </a:prstGeom>
          <a:ln w="13368">
            <a:solidFill>
              <a:srgbClr val="111111"/>
            </a:solidFill>
          </a:ln>
        </p:spPr>
      </p:cxnSp>
      <p:cxnSp>
        <p:nvCxnSpPr>
          <p:cNvPr id="173" name="graph edge"/>
          <p:cNvCxnSpPr/>
          <p:nvPr/>
        </p:nvCxnSpPr>
        <p:spPr>
          <a:xfrm>
            <a:off x="7843920" y="3666957"/>
            <a:ext cx="378995" cy="246648"/>
          </a:xfrm>
          <a:prstGeom prst="line">
            <a:avLst/>
          </a:prstGeom>
          <a:ln w="13368">
            <a:solidFill>
              <a:srgbClr val="111111"/>
            </a:solidFill>
          </a:ln>
        </p:spPr>
      </p:cxnSp>
      <p:cxnSp>
        <p:nvCxnSpPr>
          <p:cNvPr id="174" name="graph edge"/>
          <p:cNvCxnSpPr/>
          <p:nvPr/>
        </p:nvCxnSpPr>
        <p:spPr>
          <a:xfrm>
            <a:off x="8042441" y="3564689"/>
            <a:ext cx="204537" cy="132347"/>
          </a:xfrm>
          <a:prstGeom prst="line">
            <a:avLst/>
          </a:prstGeom>
          <a:ln w="13368">
            <a:solidFill>
              <a:srgbClr val="111111"/>
            </a:solidFill>
          </a:ln>
        </p:spPr>
      </p:cxnSp>
      <p:cxnSp>
        <p:nvCxnSpPr>
          <p:cNvPr id="175" name="graph edge"/>
          <p:cNvCxnSpPr/>
          <p:nvPr/>
        </p:nvCxnSpPr>
        <p:spPr>
          <a:xfrm flipH="1">
            <a:off x="7946189" y="3564689"/>
            <a:ext cx="96252" cy="330868"/>
          </a:xfrm>
          <a:prstGeom prst="line">
            <a:avLst/>
          </a:prstGeom>
          <a:ln w="13368">
            <a:solidFill>
              <a:srgbClr val="111111"/>
            </a:solidFill>
          </a:ln>
        </p:spPr>
      </p:cxnSp>
      <p:cxnSp>
        <p:nvCxnSpPr>
          <p:cNvPr id="176" name="graph edge"/>
          <p:cNvCxnSpPr/>
          <p:nvPr/>
        </p:nvCxnSpPr>
        <p:spPr>
          <a:xfrm>
            <a:off x="8042441" y="3564689"/>
            <a:ext cx="180474" cy="348916"/>
          </a:xfrm>
          <a:prstGeom prst="line">
            <a:avLst/>
          </a:prstGeom>
          <a:ln w="13368">
            <a:solidFill>
              <a:srgbClr val="111111"/>
            </a:solidFill>
          </a:ln>
        </p:spPr>
      </p:cxnSp>
      <p:cxnSp>
        <p:nvCxnSpPr>
          <p:cNvPr id="177" name="graph edge"/>
          <p:cNvCxnSpPr/>
          <p:nvPr/>
        </p:nvCxnSpPr>
        <p:spPr>
          <a:xfrm flipH="1">
            <a:off x="7946189" y="3697036"/>
            <a:ext cx="300789" cy="198521"/>
          </a:xfrm>
          <a:prstGeom prst="line">
            <a:avLst/>
          </a:prstGeom>
          <a:ln w="13368">
            <a:solidFill>
              <a:srgbClr val="111111"/>
            </a:solidFill>
          </a:ln>
        </p:spPr>
      </p:cxnSp>
      <p:cxnSp>
        <p:nvCxnSpPr>
          <p:cNvPr id="178" name="graph edge"/>
          <p:cNvCxnSpPr/>
          <p:nvPr/>
        </p:nvCxnSpPr>
        <p:spPr>
          <a:xfrm flipH="1">
            <a:off x="8222915" y="3697036"/>
            <a:ext cx="24063" cy="216569"/>
          </a:xfrm>
          <a:prstGeom prst="line">
            <a:avLst/>
          </a:prstGeom>
          <a:ln w="13368">
            <a:solidFill>
              <a:srgbClr val="111111"/>
            </a:solidFill>
          </a:ln>
        </p:spPr>
      </p:cxnSp>
      <p:cxnSp>
        <p:nvCxnSpPr>
          <p:cNvPr id="179" name="graph edge"/>
          <p:cNvCxnSpPr/>
          <p:nvPr/>
        </p:nvCxnSpPr>
        <p:spPr>
          <a:xfrm>
            <a:off x="7946189" y="3895557"/>
            <a:ext cx="276726" cy="18048"/>
          </a:xfrm>
          <a:prstGeom prst="line">
            <a:avLst/>
          </a:prstGeom>
          <a:ln w="13368">
            <a:solidFill>
              <a:srgbClr val="111111"/>
            </a:solidFill>
          </a:ln>
        </p:spPr>
      </p:cxnSp>
      <p:sp>
        <p:nvSpPr>
          <p:cNvPr id="180" name="rect-176"/>
          <p:cNvSpPr/>
          <p:nvPr/>
        </p:nvSpPr>
        <p:spPr>
          <a:xfrm>
            <a:off x="7795794" y="3618831"/>
            <a:ext cx="96252" cy="96252"/>
          </a:xfrm>
          <a:prstGeom prst="rect">
            <a:avLst/>
          </a:prstGeom>
          <a:solidFill>
            <a:srgbClr val="2F80C4"/>
          </a:solidFill>
          <a:ln w="6684">
            <a:solidFill>
              <a:srgbClr val="2F80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ellipse-177"/>
          <p:cNvSpPr/>
          <p:nvPr/>
        </p:nvSpPr>
        <p:spPr>
          <a:xfrm>
            <a:off x="7994315" y="3516563"/>
            <a:ext cx="96252" cy="96252"/>
          </a:xfrm>
          <a:prstGeom prst="ellipse">
            <a:avLst/>
          </a:prstGeom>
          <a:solidFill>
            <a:srgbClr val="2F80C4"/>
          </a:solidFill>
          <a:ln w="6684">
            <a:solidFill>
              <a:srgbClr val="2F80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poly-178"/>
          <p:cNvSpPr/>
          <p:nvPr/>
        </p:nvSpPr>
        <p:spPr>
          <a:xfrm>
            <a:off x="8192836" y="3642894"/>
            <a:ext cx="108284" cy="102269"/>
          </a:xfrm>
          <a:custGeom>
            <a:avLst/>
            <a:gdLst/>
            <a:ahLst/>
            <a:cxnLst/>
            <a:rect l="l" t="t" r="r" b="b"/>
            <a:pathLst>
              <a:path w="108284" h="102269">
                <a:moveTo>
                  <a:pt x="54142" y="0"/>
                </a:moveTo>
                <a:lnTo>
                  <a:pt x="0" y="102269"/>
                </a:lnTo>
                <a:lnTo>
                  <a:pt x="108284" y="102269"/>
                </a:lnTo>
                <a:close/>
              </a:path>
            </a:pathLst>
          </a:custGeom>
          <a:solidFill>
            <a:srgbClr val="2F80C4"/>
          </a:solidFill>
          <a:ln w="6684">
            <a:solidFill>
              <a:srgbClr val="2F80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poly-179"/>
          <p:cNvSpPr/>
          <p:nvPr/>
        </p:nvSpPr>
        <p:spPr>
          <a:xfrm>
            <a:off x="7892047" y="3841415"/>
            <a:ext cx="108284" cy="102269"/>
          </a:xfrm>
          <a:custGeom>
            <a:avLst/>
            <a:gdLst/>
            <a:ahLst/>
            <a:cxnLst/>
            <a:rect l="l" t="t" r="r" b="b"/>
            <a:pathLst>
              <a:path w="108284" h="102269">
                <a:moveTo>
                  <a:pt x="54142" y="0"/>
                </a:moveTo>
                <a:lnTo>
                  <a:pt x="0" y="102269"/>
                </a:lnTo>
                <a:lnTo>
                  <a:pt x="108284" y="102269"/>
                </a:lnTo>
                <a:close/>
              </a:path>
            </a:pathLst>
          </a:custGeom>
          <a:solidFill>
            <a:srgbClr val="2F80C4"/>
          </a:solidFill>
          <a:ln w="6684">
            <a:solidFill>
              <a:srgbClr val="2F80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poly-180"/>
          <p:cNvSpPr/>
          <p:nvPr/>
        </p:nvSpPr>
        <p:spPr>
          <a:xfrm>
            <a:off x="8171423" y="3859463"/>
            <a:ext cx="102984" cy="97944"/>
          </a:xfrm>
          <a:custGeom>
            <a:avLst/>
            <a:gdLst/>
            <a:ahLst/>
            <a:cxnLst/>
            <a:rect l="l" t="t" r="r" b="b"/>
            <a:pathLst>
              <a:path w="102984" h="97944">
                <a:moveTo>
                  <a:pt x="51492" y="0"/>
                </a:moveTo>
                <a:lnTo>
                  <a:pt x="65636" y="34674"/>
                </a:lnTo>
                <a:lnTo>
                  <a:pt x="102984" y="37411"/>
                </a:lnTo>
                <a:lnTo>
                  <a:pt x="74378" y="61578"/>
                </a:lnTo>
                <a:lnTo>
                  <a:pt x="83316" y="97944"/>
                </a:lnTo>
                <a:lnTo>
                  <a:pt x="51492" y="78205"/>
                </a:lnTo>
                <a:lnTo>
                  <a:pt x="19668" y="97944"/>
                </a:lnTo>
                <a:lnTo>
                  <a:pt x="28607" y="61578"/>
                </a:lnTo>
                <a:lnTo>
                  <a:pt x="0" y="37411"/>
                </a:lnTo>
                <a:lnTo>
                  <a:pt x="37348" y="34674"/>
                </a:lnTo>
                <a:close/>
              </a:path>
            </a:pathLst>
          </a:custGeom>
          <a:solidFill>
            <a:srgbClr val="2F80C4"/>
          </a:solidFill>
          <a:ln w="6684">
            <a:solidFill>
              <a:srgbClr val="2F80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text-181"/>
          <p:cNvSpPr txBox="1"/>
          <p:nvPr/>
        </p:nvSpPr>
        <p:spPr>
          <a:xfrm>
            <a:off x="7723605" y="3835399"/>
            <a:ext cx="252663" cy="1443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6" b="0" i="1">
                <a:solidFill>
                  <a:srgbClr val="000000"/>
                </a:solidFill>
                <a:latin typeface="DejaVu Serif"/>
              </a:rPr>
              <a:t>W₂</a:t>
            </a:r>
          </a:p>
        </p:txBody>
      </p:sp>
      <p:sp>
        <p:nvSpPr>
          <p:cNvPr id="186" name="feature graph Wₖ"/>
          <p:cNvSpPr/>
          <p:nvPr/>
        </p:nvSpPr>
        <p:spPr>
          <a:xfrm rot="21180000">
            <a:off x="8722894" y="3449052"/>
            <a:ext cx="733926" cy="565484"/>
          </a:xfrm>
          <a:prstGeom prst="rect">
            <a:avLst/>
          </a:prstGeom>
          <a:solidFill>
            <a:srgbClr val="E8E8E8"/>
          </a:solidFill>
          <a:ln w="26736">
            <a:solidFill>
              <a:srgbClr val="3C7DD9"/>
            </a:solidFill>
            <a:prstDash val="sysDot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87" name="graph edge"/>
          <p:cNvCxnSpPr/>
          <p:nvPr/>
        </p:nvCxnSpPr>
        <p:spPr>
          <a:xfrm flipV="1">
            <a:off x="8873289" y="3551320"/>
            <a:ext cx="198521" cy="102269"/>
          </a:xfrm>
          <a:prstGeom prst="line">
            <a:avLst/>
          </a:prstGeom>
          <a:ln w="13368">
            <a:solidFill>
              <a:srgbClr val="111111"/>
            </a:solidFill>
          </a:ln>
        </p:spPr>
      </p:cxnSp>
      <p:cxnSp>
        <p:nvCxnSpPr>
          <p:cNvPr id="188" name="graph edge"/>
          <p:cNvCxnSpPr/>
          <p:nvPr/>
        </p:nvCxnSpPr>
        <p:spPr>
          <a:xfrm>
            <a:off x="8873289" y="3653589"/>
            <a:ext cx="403058" cy="30079"/>
          </a:xfrm>
          <a:prstGeom prst="line">
            <a:avLst/>
          </a:prstGeom>
          <a:ln w="13368">
            <a:solidFill>
              <a:srgbClr val="111111"/>
            </a:solidFill>
          </a:ln>
        </p:spPr>
      </p:cxnSp>
      <p:cxnSp>
        <p:nvCxnSpPr>
          <p:cNvPr id="189" name="graph edge"/>
          <p:cNvCxnSpPr/>
          <p:nvPr/>
        </p:nvCxnSpPr>
        <p:spPr>
          <a:xfrm>
            <a:off x="8873289" y="3653589"/>
            <a:ext cx="102268" cy="228600"/>
          </a:xfrm>
          <a:prstGeom prst="line">
            <a:avLst/>
          </a:prstGeom>
          <a:ln w="13368">
            <a:solidFill>
              <a:srgbClr val="111111"/>
            </a:solidFill>
          </a:ln>
        </p:spPr>
      </p:cxnSp>
      <p:cxnSp>
        <p:nvCxnSpPr>
          <p:cNvPr id="190" name="graph edge"/>
          <p:cNvCxnSpPr/>
          <p:nvPr/>
        </p:nvCxnSpPr>
        <p:spPr>
          <a:xfrm>
            <a:off x="8873289" y="3653589"/>
            <a:ext cx="378994" cy="246647"/>
          </a:xfrm>
          <a:prstGeom prst="line">
            <a:avLst/>
          </a:prstGeom>
          <a:ln w="13368">
            <a:solidFill>
              <a:srgbClr val="111111"/>
            </a:solidFill>
          </a:ln>
        </p:spPr>
      </p:cxnSp>
      <p:cxnSp>
        <p:nvCxnSpPr>
          <p:cNvPr id="191" name="graph edge"/>
          <p:cNvCxnSpPr/>
          <p:nvPr/>
        </p:nvCxnSpPr>
        <p:spPr>
          <a:xfrm>
            <a:off x="9071810" y="3551320"/>
            <a:ext cx="204537" cy="132348"/>
          </a:xfrm>
          <a:prstGeom prst="line">
            <a:avLst/>
          </a:prstGeom>
          <a:ln w="13368">
            <a:solidFill>
              <a:srgbClr val="111111"/>
            </a:solidFill>
          </a:ln>
        </p:spPr>
      </p:cxnSp>
      <p:cxnSp>
        <p:nvCxnSpPr>
          <p:cNvPr id="192" name="graph edge"/>
          <p:cNvCxnSpPr/>
          <p:nvPr/>
        </p:nvCxnSpPr>
        <p:spPr>
          <a:xfrm flipH="1">
            <a:off x="8975557" y="3551320"/>
            <a:ext cx="96253" cy="330869"/>
          </a:xfrm>
          <a:prstGeom prst="line">
            <a:avLst/>
          </a:prstGeom>
          <a:ln w="13368">
            <a:solidFill>
              <a:srgbClr val="111111"/>
            </a:solidFill>
          </a:ln>
        </p:spPr>
      </p:cxnSp>
      <p:cxnSp>
        <p:nvCxnSpPr>
          <p:cNvPr id="193" name="graph edge"/>
          <p:cNvCxnSpPr/>
          <p:nvPr/>
        </p:nvCxnSpPr>
        <p:spPr>
          <a:xfrm>
            <a:off x="9071810" y="3551320"/>
            <a:ext cx="180473" cy="348916"/>
          </a:xfrm>
          <a:prstGeom prst="line">
            <a:avLst/>
          </a:prstGeom>
          <a:ln w="13368">
            <a:solidFill>
              <a:srgbClr val="111111"/>
            </a:solidFill>
          </a:ln>
        </p:spPr>
      </p:cxnSp>
      <p:cxnSp>
        <p:nvCxnSpPr>
          <p:cNvPr id="194" name="graph edge"/>
          <p:cNvCxnSpPr/>
          <p:nvPr/>
        </p:nvCxnSpPr>
        <p:spPr>
          <a:xfrm flipH="1">
            <a:off x="8975557" y="3683668"/>
            <a:ext cx="300790" cy="198521"/>
          </a:xfrm>
          <a:prstGeom prst="line">
            <a:avLst/>
          </a:prstGeom>
          <a:ln w="13368">
            <a:solidFill>
              <a:srgbClr val="111111"/>
            </a:solidFill>
          </a:ln>
        </p:spPr>
      </p:cxnSp>
      <p:cxnSp>
        <p:nvCxnSpPr>
          <p:cNvPr id="195" name="graph edge"/>
          <p:cNvCxnSpPr/>
          <p:nvPr/>
        </p:nvCxnSpPr>
        <p:spPr>
          <a:xfrm flipH="1">
            <a:off x="9252283" y="3683668"/>
            <a:ext cx="24064" cy="216568"/>
          </a:xfrm>
          <a:prstGeom prst="line">
            <a:avLst/>
          </a:prstGeom>
          <a:ln w="13368">
            <a:solidFill>
              <a:srgbClr val="111111"/>
            </a:solidFill>
          </a:ln>
        </p:spPr>
      </p:cxnSp>
      <p:cxnSp>
        <p:nvCxnSpPr>
          <p:cNvPr id="196" name="graph edge"/>
          <p:cNvCxnSpPr/>
          <p:nvPr/>
        </p:nvCxnSpPr>
        <p:spPr>
          <a:xfrm>
            <a:off x="8975557" y="3882189"/>
            <a:ext cx="276726" cy="18047"/>
          </a:xfrm>
          <a:prstGeom prst="line">
            <a:avLst/>
          </a:prstGeom>
          <a:ln w="13368">
            <a:solidFill>
              <a:srgbClr val="111111"/>
            </a:solidFill>
          </a:ln>
        </p:spPr>
      </p:cxnSp>
      <p:sp>
        <p:nvSpPr>
          <p:cNvPr id="197" name="rect-193"/>
          <p:cNvSpPr/>
          <p:nvPr/>
        </p:nvSpPr>
        <p:spPr>
          <a:xfrm>
            <a:off x="8825162" y="3605463"/>
            <a:ext cx="96252" cy="96252"/>
          </a:xfrm>
          <a:prstGeom prst="rect">
            <a:avLst/>
          </a:prstGeom>
          <a:solidFill>
            <a:srgbClr val="2F80C4"/>
          </a:solidFill>
          <a:ln w="6684">
            <a:solidFill>
              <a:srgbClr val="2F80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ellipse-194"/>
          <p:cNvSpPr/>
          <p:nvPr/>
        </p:nvSpPr>
        <p:spPr>
          <a:xfrm>
            <a:off x="9023683" y="3503194"/>
            <a:ext cx="96252" cy="96252"/>
          </a:xfrm>
          <a:prstGeom prst="ellipse">
            <a:avLst/>
          </a:prstGeom>
          <a:solidFill>
            <a:srgbClr val="2F80C4"/>
          </a:solidFill>
          <a:ln w="6684">
            <a:solidFill>
              <a:srgbClr val="2F80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poly-195"/>
          <p:cNvSpPr/>
          <p:nvPr/>
        </p:nvSpPr>
        <p:spPr>
          <a:xfrm>
            <a:off x="9222205" y="3629526"/>
            <a:ext cx="108284" cy="102268"/>
          </a:xfrm>
          <a:custGeom>
            <a:avLst/>
            <a:gdLst/>
            <a:ahLst/>
            <a:cxnLst/>
            <a:rect l="l" t="t" r="r" b="b"/>
            <a:pathLst>
              <a:path w="108284" h="102268">
                <a:moveTo>
                  <a:pt x="54142" y="0"/>
                </a:moveTo>
                <a:lnTo>
                  <a:pt x="0" y="102268"/>
                </a:lnTo>
                <a:lnTo>
                  <a:pt x="108284" y="102268"/>
                </a:lnTo>
                <a:close/>
              </a:path>
            </a:pathLst>
          </a:custGeom>
          <a:solidFill>
            <a:srgbClr val="2F80C4"/>
          </a:solidFill>
          <a:ln w="6684">
            <a:solidFill>
              <a:srgbClr val="2F80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poly-196"/>
          <p:cNvSpPr/>
          <p:nvPr/>
        </p:nvSpPr>
        <p:spPr>
          <a:xfrm>
            <a:off x="8921415" y="3828047"/>
            <a:ext cx="108284" cy="102268"/>
          </a:xfrm>
          <a:custGeom>
            <a:avLst/>
            <a:gdLst/>
            <a:ahLst/>
            <a:cxnLst/>
            <a:rect l="l" t="t" r="r" b="b"/>
            <a:pathLst>
              <a:path w="108284" h="102268">
                <a:moveTo>
                  <a:pt x="54142" y="0"/>
                </a:moveTo>
                <a:lnTo>
                  <a:pt x="0" y="102268"/>
                </a:lnTo>
                <a:lnTo>
                  <a:pt x="108284" y="102268"/>
                </a:lnTo>
                <a:close/>
              </a:path>
            </a:pathLst>
          </a:custGeom>
          <a:solidFill>
            <a:srgbClr val="2F80C4"/>
          </a:solidFill>
          <a:ln w="6684">
            <a:solidFill>
              <a:srgbClr val="2F80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poly-197"/>
          <p:cNvSpPr/>
          <p:nvPr/>
        </p:nvSpPr>
        <p:spPr>
          <a:xfrm>
            <a:off x="9200791" y="3846094"/>
            <a:ext cx="102985" cy="97944"/>
          </a:xfrm>
          <a:custGeom>
            <a:avLst/>
            <a:gdLst/>
            <a:ahLst/>
            <a:cxnLst/>
            <a:rect l="l" t="t" r="r" b="b"/>
            <a:pathLst>
              <a:path w="102985" h="97944">
                <a:moveTo>
                  <a:pt x="51492" y="0"/>
                </a:moveTo>
                <a:lnTo>
                  <a:pt x="65636" y="34675"/>
                </a:lnTo>
                <a:lnTo>
                  <a:pt x="102985" y="37411"/>
                </a:lnTo>
                <a:lnTo>
                  <a:pt x="74378" y="61578"/>
                </a:lnTo>
                <a:lnTo>
                  <a:pt x="83316" y="97944"/>
                </a:lnTo>
                <a:lnTo>
                  <a:pt x="51492" y="78205"/>
                </a:lnTo>
                <a:lnTo>
                  <a:pt x="19669" y="97944"/>
                </a:lnTo>
                <a:lnTo>
                  <a:pt x="28607" y="61578"/>
                </a:lnTo>
                <a:lnTo>
                  <a:pt x="0" y="37411"/>
                </a:lnTo>
                <a:lnTo>
                  <a:pt x="37349" y="34675"/>
                </a:lnTo>
                <a:close/>
              </a:path>
            </a:pathLst>
          </a:custGeom>
          <a:solidFill>
            <a:srgbClr val="2F80C4"/>
          </a:solidFill>
          <a:ln w="6684">
            <a:solidFill>
              <a:srgbClr val="2F80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text-198"/>
          <p:cNvSpPr txBox="1"/>
          <p:nvPr/>
        </p:nvSpPr>
        <p:spPr>
          <a:xfrm>
            <a:off x="8752973" y="3822031"/>
            <a:ext cx="252663" cy="1443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6" b="0" i="1">
                <a:solidFill>
                  <a:srgbClr val="000000"/>
                </a:solidFill>
                <a:latin typeface="DejaVu Serif"/>
              </a:rPr>
              <a:t>Wₖ</a:t>
            </a:r>
          </a:p>
        </p:txBody>
      </p:sp>
      <p:sp>
        <p:nvSpPr>
          <p:cNvPr id="203" name="feature graph ellipsis"/>
          <p:cNvSpPr txBox="1"/>
          <p:nvPr/>
        </p:nvSpPr>
        <p:spPr>
          <a:xfrm>
            <a:off x="8368631" y="3696368"/>
            <a:ext cx="300789" cy="32084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5" b="0" i="0">
                <a:solidFill>
                  <a:srgbClr val="000000"/>
                </a:solidFill>
                <a:latin typeface="DejaVu Serif"/>
              </a:rPr>
              <a:t>•••</a:t>
            </a:r>
          </a:p>
        </p:txBody>
      </p:sp>
      <p:sp>
        <p:nvSpPr>
          <p:cNvPr id="204" name="old feature space label"/>
          <p:cNvSpPr txBox="1"/>
          <p:nvPr/>
        </p:nvSpPr>
        <p:spPr>
          <a:xfrm>
            <a:off x="6951578" y="4331368"/>
            <a:ext cx="2065421" cy="38099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4" b="0" i="0">
                <a:solidFill>
                  <a:srgbClr val="000000"/>
                </a:solidFill>
                <a:latin typeface="DejaVu Serif"/>
              </a:rPr>
              <a:t>Old feature space</a:t>
            </a:r>
          </a:p>
        </p:txBody>
      </p:sp>
      <p:cxnSp>
        <p:nvCxnSpPr>
          <p:cNvPr id="205" name="old space to loss"/>
          <p:cNvCxnSpPr/>
          <p:nvPr/>
        </p:nvCxnSpPr>
        <p:spPr>
          <a:xfrm>
            <a:off x="7867315" y="4652210"/>
            <a:ext cx="0" cy="80210"/>
          </a:xfrm>
          <a:prstGeom prst="line">
            <a:avLst/>
          </a:prstGeom>
          <a:ln w="26736">
            <a:solidFill>
              <a:srgbClr val="7F7F7F"/>
            </a:solidFill>
            <a:tailEnd type="triangle" w="med" len="med"/>
          </a:ln>
        </p:spPr>
      </p:cxnSp>
      <p:sp>
        <p:nvSpPr>
          <p:cNvPr id="206" name="CTIRD loss box"/>
          <p:cNvSpPr/>
          <p:nvPr/>
        </p:nvSpPr>
        <p:spPr>
          <a:xfrm>
            <a:off x="7399420" y="4598736"/>
            <a:ext cx="935789" cy="367631"/>
          </a:xfrm>
          <a:prstGeom prst="roundRect">
            <a:avLst/>
          </a:prstGeom>
          <a:solidFill>
            <a:srgbClr val="FFFFFF"/>
          </a:solidFill>
          <a:ln w="2005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CTIRD L base"/>
          <p:cNvSpPr txBox="1"/>
          <p:nvPr/>
        </p:nvSpPr>
        <p:spPr>
          <a:xfrm>
            <a:off x="7506368" y="4618789"/>
            <a:ext cx="227263" cy="3074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4" b="0" i="1">
                <a:solidFill>
                  <a:srgbClr val="000000"/>
                </a:solidFill>
                <a:latin typeface="DejaVu Serif"/>
              </a:rPr>
              <a:t>L</a:t>
            </a:r>
          </a:p>
        </p:txBody>
      </p:sp>
      <p:sp>
        <p:nvSpPr>
          <p:cNvPr id="208" name="CTIRD subscript"/>
          <p:cNvSpPr txBox="1"/>
          <p:nvPr/>
        </p:nvSpPr>
        <p:spPr>
          <a:xfrm>
            <a:off x="7700210" y="4772526"/>
            <a:ext cx="521368" cy="15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7" b="0" i="1">
                <a:solidFill>
                  <a:srgbClr val="000000"/>
                </a:solidFill>
                <a:latin typeface="DejaVu Serif"/>
              </a:rPr>
              <a:t>CTIRD</a:t>
            </a:r>
          </a:p>
        </p:txBody>
      </p:sp>
      <p:sp>
        <p:nvSpPr>
          <p:cNvPr id="209" name="new feature space"/>
          <p:cNvSpPr/>
          <p:nvPr/>
        </p:nvSpPr>
        <p:spPr>
          <a:xfrm>
            <a:off x="6503736" y="5039894"/>
            <a:ext cx="2947736" cy="815473"/>
          </a:xfrm>
          <a:prstGeom prst="roundRect">
            <a:avLst/>
          </a:prstGeom>
          <a:solidFill>
            <a:srgbClr val="FFF0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feature graph Wₜ"/>
          <p:cNvSpPr/>
          <p:nvPr/>
        </p:nvSpPr>
        <p:spPr>
          <a:xfrm rot="420000">
            <a:off x="7472947" y="5053263"/>
            <a:ext cx="733926" cy="565484"/>
          </a:xfrm>
          <a:prstGeom prst="rect">
            <a:avLst/>
          </a:prstGeom>
          <a:solidFill>
            <a:srgbClr val="E8E8E8"/>
          </a:solidFill>
          <a:ln w="26736">
            <a:solidFill>
              <a:srgbClr val="FF7F32"/>
            </a:solidFill>
            <a:prstDash val="sysDot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11" name="graph edge"/>
          <p:cNvCxnSpPr/>
          <p:nvPr/>
        </p:nvCxnSpPr>
        <p:spPr>
          <a:xfrm flipV="1">
            <a:off x="7623341" y="5155531"/>
            <a:ext cx="198521" cy="102268"/>
          </a:xfrm>
          <a:prstGeom prst="line">
            <a:avLst/>
          </a:prstGeom>
          <a:ln w="13368">
            <a:solidFill>
              <a:srgbClr val="111111"/>
            </a:solidFill>
          </a:ln>
        </p:spPr>
      </p:cxnSp>
      <p:cxnSp>
        <p:nvCxnSpPr>
          <p:cNvPr id="212" name="graph edge"/>
          <p:cNvCxnSpPr/>
          <p:nvPr/>
        </p:nvCxnSpPr>
        <p:spPr>
          <a:xfrm>
            <a:off x="7623341" y="5257799"/>
            <a:ext cx="403058" cy="30079"/>
          </a:xfrm>
          <a:prstGeom prst="line">
            <a:avLst/>
          </a:prstGeom>
          <a:ln w="13368">
            <a:solidFill>
              <a:srgbClr val="111111"/>
            </a:solidFill>
          </a:ln>
        </p:spPr>
      </p:cxnSp>
      <p:cxnSp>
        <p:nvCxnSpPr>
          <p:cNvPr id="213" name="graph edge"/>
          <p:cNvCxnSpPr/>
          <p:nvPr/>
        </p:nvCxnSpPr>
        <p:spPr>
          <a:xfrm>
            <a:off x="7623341" y="5257799"/>
            <a:ext cx="102269" cy="228600"/>
          </a:xfrm>
          <a:prstGeom prst="line">
            <a:avLst/>
          </a:prstGeom>
          <a:ln w="13368">
            <a:solidFill>
              <a:srgbClr val="111111"/>
            </a:solidFill>
          </a:ln>
        </p:spPr>
      </p:cxnSp>
      <p:cxnSp>
        <p:nvCxnSpPr>
          <p:cNvPr id="214" name="graph edge"/>
          <p:cNvCxnSpPr/>
          <p:nvPr/>
        </p:nvCxnSpPr>
        <p:spPr>
          <a:xfrm>
            <a:off x="7623341" y="5257799"/>
            <a:ext cx="378995" cy="246648"/>
          </a:xfrm>
          <a:prstGeom prst="line">
            <a:avLst/>
          </a:prstGeom>
          <a:ln w="13368">
            <a:solidFill>
              <a:srgbClr val="111111"/>
            </a:solidFill>
          </a:ln>
        </p:spPr>
      </p:cxnSp>
      <p:cxnSp>
        <p:nvCxnSpPr>
          <p:cNvPr id="215" name="graph edge"/>
          <p:cNvCxnSpPr/>
          <p:nvPr/>
        </p:nvCxnSpPr>
        <p:spPr>
          <a:xfrm>
            <a:off x="7821862" y="5155531"/>
            <a:ext cx="204537" cy="132347"/>
          </a:xfrm>
          <a:prstGeom prst="line">
            <a:avLst/>
          </a:prstGeom>
          <a:ln w="13368">
            <a:solidFill>
              <a:srgbClr val="111111"/>
            </a:solidFill>
          </a:ln>
        </p:spPr>
      </p:cxnSp>
      <p:cxnSp>
        <p:nvCxnSpPr>
          <p:cNvPr id="216" name="graph edge"/>
          <p:cNvCxnSpPr/>
          <p:nvPr/>
        </p:nvCxnSpPr>
        <p:spPr>
          <a:xfrm flipH="1">
            <a:off x="7725610" y="5155531"/>
            <a:ext cx="96252" cy="330868"/>
          </a:xfrm>
          <a:prstGeom prst="line">
            <a:avLst/>
          </a:prstGeom>
          <a:ln w="13368">
            <a:solidFill>
              <a:srgbClr val="111111"/>
            </a:solidFill>
          </a:ln>
        </p:spPr>
      </p:cxnSp>
      <p:cxnSp>
        <p:nvCxnSpPr>
          <p:cNvPr id="217" name="graph edge"/>
          <p:cNvCxnSpPr/>
          <p:nvPr/>
        </p:nvCxnSpPr>
        <p:spPr>
          <a:xfrm>
            <a:off x="7821862" y="5155531"/>
            <a:ext cx="180474" cy="348916"/>
          </a:xfrm>
          <a:prstGeom prst="line">
            <a:avLst/>
          </a:prstGeom>
          <a:ln w="13368">
            <a:solidFill>
              <a:srgbClr val="111111"/>
            </a:solidFill>
          </a:ln>
        </p:spPr>
      </p:cxnSp>
      <p:cxnSp>
        <p:nvCxnSpPr>
          <p:cNvPr id="218" name="graph edge"/>
          <p:cNvCxnSpPr/>
          <p:nvPr/>
        </p:nvCxnSpPr>
        <p:spPr>
          <a:xfrm flipH="1">
            <a:off x="7725610" y="5287878"/>
            <a:ext cx="300789" cy="198521"/>
          </a:xfrm>
          <a:prstGeom prst="line">
            <a:avLst/>
          </a:prstGeom>
          <a:ln w="13368">
            <a:solidFill>
              <a:srgbClr val="111111"/>
            </a:solidFill>
          </a:ln>
        </p:spPr>
      </p:cxnSp>
      <p:cxnSp>
        <p:nvCxnSpPr>
          <p:cNvPr id="219" name="graph edge"/>
          <p:cNvCxnSpPr/>
          <p:nvPr/>
        </p:nvCxnSpPr>
        <p:spPr>
          <a:xfrm flipH="1">
            <a:off x="8002336" y="5287878"/>
            <a:ext cx="24063" cy="216569"/>
          </a:xfrm>
          <a:prstGeom prst="line">
            <a:avLst/>
          </a:prstGeom>
          <a:ln w="13368">
            <a:solidFill>
              <a:srgbClr val="111111"/>
            </a:solidFill>
          </a:ln>
        </p:spPr>
      </p:cxnSp>
      <p:cxnSp>
        <p:nvCxnSpPr>
          <p:cNvPr id="220" name="graph edge"/>
          <p:cNvCxnSpPr/>
          <p:nvPr/>
        </p:nvCxnSpPr>
        <p:spPr>
          <a:xfrm>
            <a:off x="7725610" y="5486399"/>
            <a:ext cx="276726" cy="18048"/>
          </a:xfrm>
          <a:prstGeom prst="line">
            <a:avLst/>
          </a:prstGeom>
          <a:ln w="13368">
            <a:solidFill>
              <a:srgbClr val="111111"/>
            </a:solidFill>
          </a:ln>
        </p:spPr>
      </p:cxnSp>
      <p:sp>
        <p:nvSpPr>
          <p:cNvPr id="221" name="rect-217"/>
          <p:cNvSpPr/>
          <p:nvPr/>
        </p:nvSpPr>
        <p:spPr>
          <a:xfrm>
            <a:off x="7575215" y="5209673"/>
            <a:ext cx="96252" cy="96252"/>
          </a:xfrm>
          <a:prstGeom prst="rect">
            <a:avLst/>
          </a:prstGeom>
          <a:solidFill>
            <a:srgbClr val="E85D86"/>
          </a:solidFill>
          <a:ln w="6684">
            <a:solidFill>
              <a:srgbClr val="E85D8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ellipse-218"/>
          <p:cNvSpPr/>
          <p:nvPr/>
        </p:nvSpPr>
        <p:spPr>
          <a:xfrm>
            <a:off x="7773736" y="5107405"/>
            <a:ext cx="96252" cy="96252"/>
          </a:xfrm>
          <a:prstGeom prst="ellipse">
            <a:avLst/>
          </a:prstGeom>
          <a:solidFill>
            <a:srgbClr val="E85D86"/>
          </a:solidFill>
          <a:ln w="6684">
            <a:solidFill>
              <a:srgbClr val="E85D8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poly-219"/>
          <p:cNvSpPr/>
          <p:nvPr/>
        </p:nvSpPr>
        <p:spPr>
          <a:xfrm>
            <a:off x="7972257" y="5233736"/>
            <a:ext cx="108284" cy="102269"/>
          </a:xfrm>
          <a:custGeom>
            <a:avLst/>
            <a:gdLst/>
            <a:ahLst/>
            <a:cxnLst/>
            <a:rect l="l" t="t" r="r" b="b"/>
            <a:pathLst>
              <a:path w="108284" h="102269">
                <a:moveTo>
                  <a:pt x="54142" y="0"/>
                </a:moveTo>
                <a:lnTo>
                  <a:pt x="0" y="102269"/>
                </a:lnTo>
                <a:lnTo>
                  <a:pt x="108284" y="102269"/>
                </a:lnTo>
                <a:close/>
              </a:path>
            </a:pathLst>
          </a:custGeom>
          <a:solidFill>
            <a:srgbClr val="E85D86"/>
          </a:solidFill>
          <a:ln w="6684">
            <a:solidFill>
              <a:srgbClr val="E85D8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poly-220"/>
          <p:cNvSpPr/>
          <p:nvPr/>
        </p:nvSpPr>
        <p:spPr>
          <a:xfrm>
            <a:off x="7671468" y="5432257"/>
            <a:ext cx="108284" cy="102269"/>
          </a:xfrm>
          <a:custGeom>
            <a:avLst/>
            <a:gdLst/>
            <a:ahLst/>
            <a:cxnLst/>
            <a:rect l="l" t="t" r="r" b="b"/>
            <a:pathLst>
              <a:path w="108284" h="102269">
                <a:moveTo>
                  <a:pt x="54142" y="0"/>
                </a:moveTo>
                <a:lnTo>
                  <a:pt x="0" y="102269"/>
                </a:lnTo>
                <a:lnTo>
                  <a:pt x="108284" y="102269"/>
                </a:lnTo>
                <a:close/>
              </a:path>
            </a:pathLst>
          </a:custGeom>
          <a:solidFill>
            <a:srgbClr val="E85D86"/>
          </a:solidFill>
          <a:ln w="6684">
            <a:solidFill>
              <a:srgbClr val="E85D8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poly-221"/>
          <p:cNvSpPr/>
          <p:nvPr/>
        </p:nvSpPr>
        <p:spPr>
          <a:xfrm>
            <a:off x="7950844" y="5450305"/>
            <a:ext cx="102984" cy="97944"/>
          </a:xfrm>
          <a:custGeom>
            <a:avLst/>
            <a:gdLst/>
            <a:ahLst/>
            <a:cxnLst/>
            <a:rect l="l" t="t" r="r" b="b"/>
            <a:pathLst>
              <a:path w="102984" h="97944">
                <a:moveTo>
                  <a:pt x="51492" y="0"/>
                </a:moveTo>
                <a:lnTo>
                  <a:pt x="65636" y="34674"/>
                </a:lnTo>
                <a:lnTo>
                  <a:pt x="102984" y="37411"/>
                </a:lnTo>
                <a:lnTo>
                  <a:pt x="74378" y="61578"/>
                </a:lnTo>
                <a:lnTo>
                  <a:pt x="83316" y="97944"/>
                </a:lnTo>
                <a:lnTo>
                  <a:pt x="51492" y="78205"/>
                </a:lnTo>
                <a:lnTo>
                  <a:pt x="19668" y="97944"/>
                </a:lnTo>
                <a:lnTo>
                  <a:pt x="28607" y="61578"/>
                </a:lnTo>
                <a:lnTo>
                  <a:pt x="0" y="37411"/>
                </a:lnTo>
                <a:lnTo>
                  <a:pt x="37348" y="34674"/>
                </a:lnTo>
                <a:close/>
              </a:path>
            </a:pathLst>
          </a:custGeom>
          <a:solidFill>
            <a:srgbClr val="E85D86"/>
          </a:solidFill>
          <a:ln w="6684">
            <a:solidFill>
              <a:srgbClr val="E85D8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text-222"/>
          <p:cNvSpPr txBox="1"/>
          <p:nvPr/>
        </p:nvSpPr>
        <p:spPr>
          <a:xfrm>
            <a:off x="7503026" y="5426241"/>
            <a:ext cx="252663" cy="1443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6" b="0" i="1">
                <a:solidFill>
                  <a:srgbClr val="000000"/>
                </a:solidFill>
                <a:latin typeface="DejaVu Serif"/>
              </a:rPr>
              <a:t>Wₜ</a:t>
            </a:r>
          </a:p>
        </p:txBody>
      </p:sp>
      <p:sp>
        <p:nvSpPr>
          <p:cNvPr id="227" name="new feature space label"/>
          <p:cNvSpPr txBox="1"/>
          <p:nvPr/>
        </p:nvSpPr>
        <p:spPr>
          <a:xfrm>
            <a:off x="6817894" y="5521157"/>
            <a:ext cx="2306052" cy="3275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2" b="0" i="0">
                <a:solidFill>
                  <a:srgbClr val="000000"/>
                </a:solidFill>
                <a:latin typeface="DejaVu Serif"/>
              </a:rPr>
              <a:t>New feature space</a:t>
            </a:r>
          </a:p>
        </p:txBody>
      </p:sp>
      <p:cxnSp>
        <p:nvCxnSpPr>
          <p:cNvPr id="228" name="new space to loss"/>
          <p:cNvCxnSpPr/>
          <p:nvPr/>
        </p:nvCxnSpPr>
        <p:spPr>
          <a:xfrm flipV="1">
            <a:off x="7867315" y="4973052"/>
            <a:ext cx="0" cy="66842"/>
          </a:xfrm>
          <a:prstGeom prst="line">
            <a:avLst/>
          </a:prstGeom>
          <a:ln w="26736">
            <a:solidFill>
              <a:srgbClr val="7F7F7F"/>
            </a:solidFill>
            <a:tailEnd type="triangle" w="med" len="med"/>
          </a:ln>
        </p:spPr>
      </p:cxnSp>
      <p:sp>
        <p:nvSpPr>
          <p:cNvPr id="229" name="right rematching boundary"/>
          <p:cNvSpPr/>
          <p:nvPr/>
        </p:nvSpPr>
        <p:spPr>
          <a:xfrm>
            <a:off x="9812420" y="106947"/>
            <a:ext cx="2379578" cy="5875420"/>
          </a:xfrm>
          <a:prstGeom prst="rect">
            <a:avLst/>
          </a:prstGeom>
          <a:noFill/>
          <a:ln w="26736">
            <a:solidFill>
              <a:srgbClr val="00000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right dotted guide"/>
          <p:cNvSpPr/>
          <p:nvPr/>
        </p:nvSpPr>
        <p:spPr>
          <a:xfrm>
            <a:off x="9885947" y="173789"/>
            <a:ext cx="2225842" cy="5714999"/>
          </a:xfrm>
          <a:prstGeom prst="rect">
            <a:avLst/>
          </a:prstGeom>
          <a:noFill/>
          <a:ln w="26736">
            <a:solidFill>
              <a:srgbClr val="B4CAE8"/>
            </a:solidFill>
            <a:prstDash val="sysDot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right rematching title"/>
          <p:cNvSpPr txBox="1"/>
          <p:nvPr/>
        </p:nvSpPr>
        <p:spPr>
          <a:xfrm>
            <a:off x="9892631" y="120315"/>
            <a:ext cx="1604210" cy="280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4" b="1" i="0">
                <a:solidFill>
                  <a:srgbClr val="FF0000"/>
                </a:solidFill>
                <a:latin typeface="DejaVu Serif"/>
              </a:rPr>
              <a:t>Rematching</a:t>
            </a:r>
          </a:p>
        </p:txBody>
      </p:sp>
      <p:sp>
        <p:nvSpPr>
          <p:cNvPr id="232" name="direct rematching region"/>
          <p:cNvSpPr/>
          <p:nvPr/>
        </p:nvSpPr>
        <p:spPr>
          <a:xfrm>
            <a:off x="9899315" y="394368"/>
            <a:ext cx="2212473" cy="2486526"/>
          </a:xfrm>
          <a:prstGeom prst="rect">
            <a:avLst/>
          </a:prstGeom>
          <a:solidFill>
            <a:srgbClr val="DCE9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direct classifier band"/>
          <p:cNvSpPr/>
          <p:nvPr/>
        </p:nvSpPr>
        <p:spPr>
          <a:xfrm>
            <a:off x="10119894" y="407736"/>
            <a:ext cx="1637631" cy="294105"/>
          </a:xfrm>
          <a:prstGeom prst="rect">
            <a:avLst/>
          </a:prstGeom>
          <a:solidFill>
            <a:srgbClr val="89AA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direct classifier title"/>
          <p:cNvSpPr txBox="1"/>
          <p:nvPr/>
        </p:nvSpPr>
        <p:spPr>
          <a:xfrm>
            <a:off x="10200105" y="414421"/>
            <a:ext cx="1029368" cy="2673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4" b="0" i="1">
                <a:solidFill>
                  <a:srgbClr val="FFFFFF"/>
                </a:solidFill>
                <a:latin typeface="DejaVu Serif"/>
              </a:rPr>
              <a:t>Classifier</a:t>
            </a:r>
          </a:p>
        </p:txBody>
      </p:sp>
      <p:sp>
        <p:nvSpPr>
          <p:cNvPr id="235" name="direct classifier g base"/>
          <p:cNvSpPr txBox="1"/>
          <p:nvPr/>
        </p:nvSpPr>
        <p:spPr>
          <a:xfrm>
            <a:off x="11229473" y="394368"/>
            <a:ext cx="187157" cy="280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89" b="0" i="1">
                <a:solidFill>
                  <a:srgbClr val="FFFFFF"/>
                </a:solidFill>
                <a:latin typeface="DejaVu Serif"/>
              </a:rPr>
              <a:t>g</a:t>
            </a:r>
          </a:p>
        </p:txBody>
      </p:sp>
      <p:sp>
        <p:nvSpPr>
          <p:cNvPr id="236" name="direct classifier theta subscript"/>
          <p:cNvSpPr txBox="1"/>
          <p:nvPr/>
        </p:nvSpPr>
        <p:spPr>
          <a:xfrm>
            <a:off x="11389894" y="521368"/>
            <a:ext cx="160421" cy="14705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9" b="0" i="1">
                <a:solidFill>
                  <a:srgbClr val="FFFFFF"/>
                </a:solidFill>
                <a:latin typeface="DejaVu Serif"/>
              </a:rPr>
              <a:t>θ</a:t>
            </a:r>
          </a:p>
        </p:txBody>
      </p:sp>
      <p:sp>
        <p:nvSpPr>
          <p:cNvPr id="237" name="direct classifier g subscript"/>
          <p:cNvSpPr txBox="1"/>
          <p:nvPr/>
        </p:nvSpPr>
        <p:spPr>
          <a:xfrm>
            <a:off x="11516894" y="574842"/>
            <a:ext cx="120315" cy="10694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6" b="0" i="1">
                <a:solidFill>
                  <a:srgbClr val="FFFFFF"/>
                </a:solidFill>
                <a:latin typeface="DejaVu Serif"/>
              </a:rPr>
              <a:t>g</a:t>
            </a:r>
          </a:p>
        </p:txBody>
      </p:sp>
      <p:cxnSp>
        <p:nvCxnSpPr>
          <p:cNvPr id="238" name="classifier to class"/>
          <p:cNvCxnSpPr/>
          <p:nvPr/>
        </p:nvCxnSpPr>
        <p:spPr>
          <a:xfrm>
            <a:off x="10895262" y="708526"/>
            <a:ext cx="0" cy="193842"/>
          </a:xfrm>
          <a:prstGeom prst="line">
            <a:avLst/>
          </a:prstGeom>
          <a:ln w="20052">
            <a:solidFill>
              <a:srgbClr val="000000"/>
            </a:solidFill>
            <a:tailEnd type="triangle" w="med" len="med"/>
          </a:ln>
        </p:spPr>
      </p:cxnSp>
      <p:sp>
        <p:nvSpPr>
          <p:cNvPr id="239" name="class prediction box"/>
          <p:cNvSpPr/>
          <p:nvPr/>
        </p:nvSpPr>
        <p:spPr>
          <a:xfrm>
            <a:off x="10206789" y="909052"/>
            <a:ext cx="1350210" cy="354263"/>
          </a:xfrm>
          <a:prstGeom prst="roundRect">
            <a:avLst/>
          </a:prstGeom>
          <a:solidFill>
            <a:srgbClr val="FFFFFF"/>
          </a:solidFill>
          <a:ln w="26736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class prediction"/>
          <p:cNvSpPr txBox="1"/>
          <p:nvPr/>
        </p:nvSpPr>
        <p:spPr>
          <a:xfrm>
            <a:off x="10320420" y="935789"/>
            <a:ext cx="1136315" cy="29410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89" b="0" i="0">
                <a:solidFill>
                  <a:srgbClr val="000000"/>
                </a:solidFill>
                <a:latin typeface="DejaVu Serif"/>
              </a:rPr>
              <a:t>Class ŷ</a:t>
            </a:r>
          </a:p>
        </p:txBody>
      </p:sp>
      <p:cxnSp>
        <p:nvCxnSpPr>
          <p:cNvPr id="241" name="class to task id"/>
          <p:cNvCxnSpPr/>
          <p:nvPr/>
        </p:nvCxnSpPr>
        <p:spPr>
          <a:xfrm>
            <a:off x="10895262" y="1269999"/>
            <a:ext cx="0" cy="147053"/>
          </a:xfrm>
          <a:prstGeom prst="line">
            <a:avLst/>
          </a:prstGeom>
          <a:ln w="20052">
            <a:solidFill>
              <a:srgbClr val="000000"/>
            </a:solidFill>
            <a:tailEnd type="triangle" w="med" len="med"/>
          </a:ln>
        </p:spPr>
      </p:cxnSp>
      <p:sp>
        <p:nvSpPr>
          <p:cNvPr id="242" name="task id prediction box"/>
          <p:cNvSpPr/>
          <p:nvPr/>
        </p:nvSpPr>
        <p:spPr>
          <a:xfrm>
            <a:off x="10200105" y="1423736"/>
            <a:ext cx="1363578" cy="360947"/>
          </a:xfrm>
          <a:prstGeom prst="roundRect">
            <a:avLst/>
          </a:prstGeom>
          <a:solidFill>
            <a:srgbClr val="FFFFFF"/>
          </a:solidFill>
          <a:ln w="26736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task id from class"/>
          <p:cNvSpPr txBox="1"/>
          <p:nvPr/>
        </p:nvSpPr>
        <p:spPr>
          <a:xfrm>
            <a:off x="10273631" y="1457157"/>
            <a:ext cx="1209842" cy="28742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6" b="0" i="0">
                <a:solidFill>
                  <a:srgbClr val="000000"/>
                </a:solidFill>
                <a:latin typeface="DejaVu Serif"/>
              </a:rPr>
              <a:t>Task ID t̂s</a:t>
            </a:r>
          </a:p>
        </p:txBody>
      </p:sp>
      <p:cxnSp>
        <p:nvCxnSpPr>
          <p:cNvPr id="244" name="task id to mismatch test"/>
          <p:cNvCxnSpPr/>
          <p:nvPr/>
        </p:nvCxnSpPr>
        <p:spPr>
          <a:xfrm>
            <a:off x="10895262" y="1791368"/>
            <a:ext cx="0" cy="160421"/>
          </a:xfrm>
          <a:prstGeom prst="line">
            <a:avLst/>
          </a:prstGeom>
          <a:ln w="20052">
            <a:solidFill>
              <a:srgbClr val="000000"/>
            </a:solidFill>
            <a:tailEnd type="triangle" w="med" len="med"/>
          </a:ln>
        </p:spPr>
      </p:cxnSp>
      <p:sp>
        <p:nvSpPr>
          <p:cNvPr id="245" name="task mismatch diamond"/>
          <p:cNvSpPr/>
          <p:nvPr/>
        </p:nvSpPr>
        <p:spPr>
          <a:xfrm>
            <a:off x="10093157" y="1945105"/>
            <a:ext cx="1584158" cy="668421"/>
          </a:xfrm>
          <a:custGeom>
            <a:avLst/>
            <a:gdLst/>
            <a:ahLst/>
            <a:cxnLst/>
            <a:rect l="l" t="t" r="r" b="b"/>
            <a:pathLst>
              <a:path w="1584158" h="668421">
                <a:moveTo>
                  <a:pt x="795421" y="0"/>
                </a:moveTo>
                <a:lnTo>
                  <a:pt x="1584158" y="347579"/>
                </a:lnTo>
                <a:lnTo>
                  <a:pt x="795421" y="668421"/>
                </a:lnTo>
                <a:lnTo>
                  <a:pt x="0" y="347579"/>
                </a:lnTo>
                <a:close/>
              </a:path>
            </a:pathLst>
          </a:custGeom>
          <a:solidFill>
            <a:srgbClr val="FFFFFF"/>
          </a:solidFill>
          <a:ln w="26736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task mismatch condition"/>
          <p:cNvSpPr txBox="1"/>
          <p:nvPr/>
        </p:nvSpPr>
        <p:spPr>
          <a:xfrm>
            <a:off x="10420683" y="2098842"/>
            <a:ext cx="955842" cy="35426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89" b="0" i="1">
                <a:solidFill>
                  <a:srgbClr val="000000"/>
                </a:solidFill>
                <a:latin typeface="DejaVu Serif"/>
              </a:rPr>
              <a:t>t̂f ≠ t̂s</a:t>
            </a:r>
          </a:p>
        </p:txBody>
      </p:sp>
      <p:sp>
        <p:nvSpPr>
          <p:cNvPr id="247" name="yes direct branch"/>
          <p:cNvSpPr txBox="1"/>
          <p:nvPr/>
        </p:nvSpPr>
        <p:spPr>
          <a:xfrm>
            <a:off x="9939420" y="2052052"/>
            <a:ext cx="501315" cy="23394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4" b="0" i="0">
                <a:solidFill>
                  <a:srgbClr val="000000"/>
                </a:solidFill>
                <a:latin typeface="DejaVu Serif"/>
              </a:rPr>
              <a:t>Yes</a:t>
            </a:r>
          </a:p>
        </p:txBody>
      </p:sp>
      <p:sp>
        <p:nvSpPr>
          <p:cNvPr id="248" name="no direct branch"/>
          <p:cNvSpPr txBox="1"/>
          <p:nvPr/>
        </p:nvSpPr>
        <p:spPr>
          <a:xfrm>
            <a:off x="11563683" y="2052052"/>
            <a:ext cx="487947" cy="23394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4" b="0" i="0">
                <a:solidFill>
                  <a:srgbClr val="000000"/>
                </a:solidFill>
                <a:latin typeface="DejaVu Serif"/>
              </a:rPr>
              <a:t>No</a:t>
            </a:r>
          </a:p>
        </p:txBody>
      </p:sp>
      <p:cxnSp>
        <p:nvCxnSpPr>
          <p:cNvPr id="249" name="mismatch yes branch"/>
          <p:cNvCxnSpPr/>
          <p:nvPr/>
        </p:nvCxnSpPr>
        <p:spPr>
          <a:xfrm>
            <a:off x="10093157" y="2292684"/>
            <a:ext cx="0" cy="233947"/>
          </a:xfrm>
          <a:prstGeom prst="line">
            <a:avLst/>
          </a:prstGeom>
          <a:ln w="20052">
            <a:solidFill>
              <a:srgbClr val="000000"/>
            </a:solidFill>
            <a:tailEnd type="triangle" w="med" len="med"/>
          </a:ln>
        </p:spPr>
      </p:cxnSp>
      <p:cxnSp>
        <p:nvCxnSpPr>
          <p:cNvPr id="250" name="mismatch no branch"/>
          <p:cNvCxnSpPr/>
          <p:nvPr/>
        </p:nvCxnSpPr>
        <p:spPr>
          <a:xfrm>
            <a:off x="11677315" y="2292684"/>
            <a:ext cx="0" cy="233947"/>
          </a:xfrm>
          <a:prstGeom prst="line">
            <a:avLst/>
          </a:prstGeom>
          <a:ln w="20052">
            <a:solidFill>
              <a:srgbClr val="000000"/>
            </a:solidFill>
            <a:tailEnd type="triangle" w="med" len="med"/>
          </a:ln>
        </p:spPr>
      </p:cxnSp>
      <p:sp>
        <p:nvSpPr>
          <p:cNvPr id="251" name="selected source task parameter"/>
          <p:cNvSpPr txBox="1"/>
          <p:nvPr/>
        </p:nvSpPr>
        <p:spPr>
          <a:xfrm>
            <a:off x="9952789" y="2526631"/>
            <a:ext cx="614947" cy="29410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89" b="0" i="1">
                <a:solidFill>
                  <a:srgbClr val="000000"/>
                </a:solidFill>
                <a:latin typeface="DejaVu Serif"/>
              </a:rPr>
              <a:t>pₜ̂s</a:t>
            </a:r>
          </a:p>
        </p:txBody>
      </p:sp>
      <p:sp>
        <p:nvSpPr>
          <p:cNvPr id="252" name="selected inferred task parameter"/>
          <p:cNvSpPr txBox="1"/>
          <p:nvPr/>
        </p:nvSpPr>
        <p:spPr>
          <a:xfrm>
            <a:off x="11470104" y="2526631"/>
            <a:ext cx="628315" cy="29410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89" b="0" i="1">
                <a:solidFill>
                  <a:srgbClr val="000000"/>
                </a:solidFill>
                <a:latin typeface="DejaVu Serif"/>
              </a:rPr>
              <a:t>pₜ̂f</a:t>
            </a:r>
          </a:p>
        </p:txBody>
      </p:sp>
      <p:sp>
        <p:nvSpPr>
          <p:cNvPr id="253" name="direct vertical label"/>
          <p:cNvSpPr txBox="1"/>
          <p:nvPr/>
        </p:nvSpPr>
        <p:spPr>
          <a:xfrm rot="5400000">
            <a:off x="11797631" y="1142999"/>
            <a:ext cx="334210" cy="163763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89" b="1" i="0">
                <a:solidFill>
                  <a:srgbClr val="000000"/>
                </a:solidFill>
                <a:latin typeface="DejaVu Serif"/>
              </a:rPr>
              <a:t>Direct</a:t>
            </a:r>
          </a:p>
        </p:txBody>
      </p:sp>
      <p:sp>
        <p:nvSpPr>
          <p:cNvPr id="254" name="confidence rematching region"/>
          <p:cNvSpPr/>
          <p:nvPr/>
        </p:nvSpPr>
        <p:spPr>
          <a:xfrm>
            <a:off x="9899315" y="2914315"/>
            <a:ext cx="2212473" cy="3001210"/>
          </a:xfrm>
          <a:prstGeom prst="rect">
            <a:avLst/>
          </a:prstGeom>
          <a:solidFill>
            <a:srgbClr val="E1F0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confidence classifier band"/>
          <p:cNvSpPr/>
          <p:nvPr/>
        </p:nvSpPr>
        <p:spPr>
          <a:xfrm>
            <a:off x="10113210" y="2941052"/>
            <a:ext cx="1644315" cy="287421"/>
          </a:xfrm>
          <a:prstGeom prst="rect">
            <a:avLst/>
          </a:prstGeom>
          <a:solidFill>
            <a:srgbClr val="89AA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confidence classifier title"/>
          <p:cNvSpPr txBox="1"/>
          <p:nvPr/>
        </p:nvSpPr>
        <p:spPr>
          <a:xfrm>
            <a:off x="10200105" y="2947736"/>
            <a:ext cx="1029368" cy="26068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4" b="0" i="1">
                <a:solidFill>
                  <a:srgbClr val="FFFFFF"/>
                </a:solidFill>
                <a:latin typeface="DejaVu Serif"/>
              </a:rPr>
              <a:t>Classifier</a:t>
            </a:r>
          </a:p>
        </p:txBody>
      </p:sp>
      <p:sp>
        <p:nvSpPr>
          <p:cNvPr id="257" name="confidence classifier g base"/>
          <p:cNvSpPr txBox="1"/>
          <p:nvPr/>
        </p:nvSpPr>
        <p:spPr>
          <a:xfrm>
            <a:off x="11229473" y="2934368"/>
            <a:ext cx="187157" cy="280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89" b="0" i="1">
                <a:solidFill>
                  <a:srgbClr val="FFFFFF"/>
                </a:solidFill>
                <a:latin typeface="DejaVu Serif"/>
              </a:rPr>
              <a:t>g</a:t>
            </a:r>
          </a:p>
        </p:txBody>
      </p:sp>
      <p:sp>
        <p:nvSpPr>
          <p:cNvPr id="258" name="confidence classifier theta subscript"/>
          <p:cNvSpPr txBox="1"/>
          <p:nvPr/>
        </p:nvSpPr>
        <p:spPr>
          <a:xfrm>
            <a:off x="11389894" y="3061368"/>
            <a:ext cx="160421" cy="14705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9" b="0" i="1">
                <a:solidFill>
                  <a:srgbClr val="FFFFFF"/>
                </a:solidFill>
                <a:latin typeface="DejaVu Serif"/>
              </a:rPr>
              <a:t>θ</a:t>
            </a:r>
          </a:p>
        </p:txBody>
      </p:sp>
      <p:sp>
        <p:nvSpPr>
          <p:cNvPr id="259" name="confidence classifier g subscript"/>
          <p:cNvSpPr txBox="1"/>
          <p:nvPr/>
        </p:nvSpPr>
        <p:spPr>
          <a:xfrm>
            <a:off x="11516894" y="3114842"/>
            <a:ext cx="120315" cy="10694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6" b="0" i="1">
                <a:solidFill>
                  <a:srgbClr val="FFFFFF"/>
                </a:solidFill>
                <a:latin typeface="DejaVu Serif"/>
              </a:rPr>
              <a:t>g</a:t>
            </a:r>
          </a:p>
        </p:txBody>
      </p:sp>
      <p:cxnSp>
        <p:nvCxnSpPr>
          <p:cNvPr id="260" name="classifier to distribution"/>
          <p:cNvCxnSpPr/>
          <p:nvPr/>
        </p:nvCxnSpPr>
        <p:spPr>
          <a:xfrm>
            <a:off x="10895262" y="3235157"/>
            <a:ext cx="0" cy="307474"/>
          </a:xfrm>
          <a:prstGeom prst="line">
            <a:avLst/>
          </a:prstGeom>
          <a:ln w="20052">
            <a:solidFill>
              <a:srgbClr val="000000"/>
            </a:solidFill>
            <a:tailEnd type="triangle" w="med" len="med"/>
          </a:ln>
        </p:spPr>
      </p:cxnSp>
      <p:sp>
        <p:nvSpPr>
          <p:cNvPr id="261" name="direct score label"/>
          <p:cNvSpPr txBox="1"/>
          <p:nvPr/>
        </p:nvSpPr>
        <p:spPr>
          <a:xfrm>
            <a:off x="11028947" y="3241842"/>
            <a:ext cx="822157" cy="280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4" b="0" i="0">
                <a:solidFill>
                  <a:srgbClr val="000000"/>
                </a:solidFill>
                <a:latin typeface="DejaVu Serif"/>
              </a:rPr>
              <a:t>Direct</a:t>
            </a:r>
          </a:p>
        </p:txBody>
      </p:sp>
      <p:sp>
        <p:nvSpPr>
          <p:cNvPr id="262" name="distribution box"/>
          <p:cNvSpPr/>
          <p:nvPr/>
        </p:nvSpPr>
        <p:spPr>
          <a:xfrm>
            <a:off x="10093157" y="3549315"/>
            <a:ext cx="1637631" cy="354263"/>
          </a:xfrm>
          <a:prstGeom prst="roundRect">
            <a:avLst/>
          </a:prstGeom>
          <a:solidFill>
            <a:srgbClr val="FFFFFF"/>
          </a:solidFill>
          <a:ln w="26736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distribution prediction"/>
          <p:cNvSpPr txBox="1"/>
          <p:nvPr/>
        </p:nvSpPr>
        <p:spPr>
          <a:xfrm>
            <a:off x="10159999" y="3576052"/>
            <a:ext cx="1510631" cy="30078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4" b="0" i="0">
                <a:solidFill>
                  <a:srgbClr val="000000"/>
                </a:solidFill>
                <a:latin typeface="DejaVu Serif"/>
              </a:rPr>
              <a:t>Distribution d̃</a:t>
            </a:r>
          </a:p>
        </p:txBody>
      </p:sp>
      <p:cxnSp>
        <p:nvCxnSpPr>
          <p:cNvPr id="264" name="distribution to confidence"/>
          <p:cNvCxnSpPr/>
          <p:nvPr/>
        </p:nvCxnSpPr>
        <p:spPr>
          <a:xfrm>
            <a:off x="10895262" y="3910263"/>
            <a:ext cx="0" cy="147052"/>
          </a:xfrm>
          <a:prstGeom prst="line">
            <a:avLst/>
          </a:prstGeom>
          <a:ln w="20052">
            <a:solidFill>
              <a:srgbClr val="000000"/>
            </a:solidFill>
            <a:tailEnd type="triangle" w="med" len="med"/>
          </a:ln>
        </p:spPr>
      </p:cxnSp>
      <p:sp>
        <p:nvSpPr>
          <p:cNvPr id="265" name="confidence box"/>
          <p:cNvSpPr/>
          <p:nvPr/>
        </p:nvSpPr>
        <p:spPr>
          <a:xfrm>
            <a:off x="10093157" y="4063999"/>
            <a:ext cx="1637631" cy="347578"/>
          </a:xfrm>
          <a:prstGeom prst="roundRect">
            <a:avLst/>
          </a:prstGeom>
          <a:solidFill>
            <a:srgbClr val="FFFFFF"/>
          </a:solidFill>
          <a:ln w="26736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confidence score"/>
          <p:cNvSpPr txBox="1"/>
          <p:nvPr/>
        </p:nvSpPr>
        <p:spPr>
          <a:xfrm>
            <a:off x="10206789" y="4090736"/>
            <a:ext cx="1410368" cy="28742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4" b="0" i="0">
                <a:solidFill>
                  <a:srgbClr val="000000"/>
                </a:solidFill>
                <a:latin typeface="DejaVu Serif"/>
              </a:rPr>
              <a:t>Confidence E</a:t>
            </a:r>
          </a:p>
        </p:txBody>
      </p:sp>
      <p:cxnSp>
        <p:nvCxnSpPr>
          <p:cNvPr id="267" name="confidence to threshold"/>
          <p:cNvCxnSpPr/>
          <p:nvPr/>
        </p:nvCxnSpPr>
        <p:spPr>
          <a:xfrm>
            <a:off x="10895262" y="4418263"/>
            <a:ext cx="0" cy="120315"/>
          </a:xfrm>
          <a:prstGeom prst="line">
            <a:avLst/>
          </a:prstGeom>
          <a:ln w="20052">
            <a:solidFill>
              <a:srgbClr val="000000"/>
            </a:solidFill>
            <a:tailEnd type="triangle" w="med" len="med"/>
          </a:ln>
        </p:spPr>
      </p:cxnSp>
      <p:sp>
        <p:nvSpPr>
          <p:cNvPr id="268" name="confidence threshold diamond"/>
          <p:cNvSpPr/>
          <p:nvPr/>
        </p:nvSpPr>
        <p:spPr>
          <a:xfrm>
            <a:off x="10166683" y="4545263"/>
            <a:ext cx="1443790" cy="508000"/>
          </a:xfrm>
          <a:custGeom>
            <a:avLst/>
            <a:gdLst/>
            <a:ahLst/>
            <a:cxnLst/>
            <a:rect l="l" t="t" r="r" b="b"/>
            <a:pathLst>
              <a:path w="1443790" h="508000">
                <a:moveTo>
                  <a:pt x="721895" y="0"/>
                </a:moveTo>
                <a:lnTo>
                  <a:pt x="1443790" y="254000"/>
                </a:lnTo>
                <a:lnTo>
                  <a:pt x="721895" y="508000"/>
                </a:lnTo>
                <a:lnTo>
                  <a:pt x="0" y="254000"/>
                </a:lnTo>
                <a:close/>
              </a:path>
            </a:pathLst>
          </a:custGeom>
          <a:solidFill>
            <a:srgbClr val="FFFFFF"/>
          </a:solidFill>
          <a:ln w="26736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confidence threshold"/>
          <p:cNvSpPr txBox="1"/>
          <p:nvPr/>
        </p:nvSpPr>
        <p:spPr>
          <a:xfrm>
            <a:off x="10460789" y="4625473"/>
            <a:ext cx="868947" cy="32084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89" b="0" i="1">
                <a:solidFill>
                  <a:srgbClr val="000000"/>
                </a:solidFill>
                <a:latin typeface="DejaVu Serif"/>
              </a:rPr>
              <a:t>E &lt; τ</a:t>
            </a:r>
          </a:p>
        </p:txBody>
      </p:sp>
      <p:cxnSp>
        <p:nvCxnSpPr>
          <p:cNvPr id="270" name="threshold yes branch"/>
          <p:cNvCxnSpPr/>
          <p:nvPr/>
        </p:nvCxnSpPr>
        <p:spPr>
          <a:xfrm>
            <a:off x="10888578" y="5059947"/>
            <a:ext cx="0" cy="120316"/>
          </a:xfrm>
          <a:prstGeom prst="line">
            <a:avLst/>
          </a:prstGeom>
          <a:ln w="20052">
            <a:solidFill>
              <a:srgbClr val="000000"/>
            </a:solidFill>
            <a:tailEnd type="triangle" w="med" len="med"/>
          </a:ln>
        </p:spPr>
      </p:cxnSp>
      <p:sp>
        <p:nvSpPr>
          <p:cNvPr id="271" name="confidence yes label"/>
          <p:cNvSpPr txBox="1"/>
          <p:nvPr/>
        </p:nvSpPr>
        <p:spPr>
          <a:xfrm>
            <a:off x="11229473" y="4959684"/>
            <a:ext cx="534736" cy="25399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4" b="0" i="0">
                <a:solidFill>
                  <a:srgbClr val="000000"/>
                </a:solidFill>
                <a:latin typeface="DejaVu Serif"/>
              </a:rPr>
              <a:t>Yes</a:t>
            </a:r>
          </a:p>
        </p:txBody>
      </p:sp>
      <p:sp>
        <p:nvSpPr>
          <p:cNvPr id="272" name="confidence task selection box"/>
          <p:cNvSpPr/>
          <p:nvPr/>
        </p:nvSpPr>
        <p:spPr>
          <a:xfrm>
            <a:off x="10079789" y="5186947"/>
            <a:ext cx="1918368" cy="648368"/>
          </a:xfrm>
          <a:prstGeom prst="roundRect">
            <a:avLst/>
          </a:prstGeom>
          <a:solidFill>
            <a:srgbClr val="FFFFFF"/>
          </a:solidFill>
          <a:ln w="26736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confidence task selection formula"/>
          <p:cNvSpPr txBox="1"/>
          <p:nvPr/>
        </p:nvSpPr>
        <p:spPr>
          <a:xfrm>
            <a:off x="10159999" y="5227052"/>
            <a:ext cx="1751263" cy="55478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1" b="0" i="1">
                <a:solidFill>
                  <a:srgbClr val="000000"/>
                </a:solidFill>
                <a:latin typeface="DejaVu Serif"/>
              </a:rPr>
              <a:t>t̂s=argmax E(x; pᵢ)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1" b="0" i="1">
                <a:solidFill>
                  <a:srgbClr val="000000"/>
                </a:solidFill>
                <a:latin typeface="DejaVu Serif"/>
              </a:rPr>
              <a:t>i ∈ Γ</a:t>
            </a:r>
          </a:p>
        </p:txBody>
      </p:sp>
      <p:sp>
        <p:nvSpPr>
          <p:cNvPr id="274" name="confidence vertical label"/>
          <p:cNvSpPr txBox="1"/>
          <p:nvPr/>
        </p:nvSpPr>
        <p:spPr>
          <a:xfrm rot="5400000">
            <a:off x="11784262" y="2954420"/>
            <a:ext cx="340894" cy="25533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4" b="1" i="0">
                <a:solidFill>
                  <a:srgbClr val="000000"/>
                </a:solidFill>
                <a:latin typeface="DejaVu Serif"/>
              </a:rPr>
              <a:t>Confidence-based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FERENCE_IMAGE_DO_NOT_EVALUATE" descr="Hybrid Re-matching for Continual Learning with Parameter-Efficient Tuning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8" cy="60291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