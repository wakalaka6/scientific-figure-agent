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78714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nvas"/>
          <p:cNvSpPr/>
          <p:nvPr/>
        </p:nvSpPr>
        <p:spPr>
          <a:xfrm>
            <a:off x="0" y="0"/>
            <a:ext cx="14630400" cy="7871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mfa_panel"/>
          <p:cNvSpPr/>
          <p:nvPr/>
        </p:nvSpPr>
        <p:spPr>
          <a:xfrm>
            <a:off x="60960" y="99060"/>
            <a:ext cx="7048500" cy="214884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_panel"/>
          <p:cNvSpPr/>
          <p:nvPr/>
        </p:nvSpPr>
        <p:spPr>
          <a:xfrm>
            <a:off x="60960" y="2385060"/>
            <a:ext cx="7048500" cy="2118360"/>
          </a:xfrm>
          <a:prstGeom prst="rect">
            <a:avLst/>
          </a:prstGeom>
          <a:solidFill>
            <a:srgbClr val="FFF9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retrain_panel"/>
          <p:cNvSpPr/>
          <p:nvPr/>
        </p:nvSpPr>
        <p:spPr>
          <a:xfrm>
            <a:off x="60960" y="4640580"/>
            <a:ext cx="7048500" cy="2849880"/>
          </a:xfrm>
          <a:prstGeom prst="rect">
            <a:avLst/>
          </a:prstGeom>
          <a:solidFill>
            <a:srgbClr val="F3FA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mf_panel"/>
          <p:cNvSpPr/>
          <p:nvPr/>
        </p:nvSpPr>
        <p:spPr>
          <a:xfrm>
            <a:off x="7246620" y="99060"/>
            <a:ext cx="7322820" cy="2148840"/>
          </a:xfrm>
          <a:prstGeom prst="rect">
            <a:avLst/>
          </a:prstGeom>
          <a:solidFill>
            <a:srgbClr val="FF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f_panel"/>
          <p:cNvSpPr/>
          <p:nvPr/>
        </p:nvSpPr>
        <p:spPr>
          <a:xfrm>
            <a:off x="7246620" y="2385060"/>
            <a:ext cx="7322820" cy="2110740"/>
          </a:xfrm>
          <a:prstGeom prst="rect">
            <a:avLst/>
          </a:prstGeom>
          <a:solidFill>
            <a:srgbClr val="F1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da_panel"/>
          <p:cNvSpPr/>
          <p:nvPr/>
        </p:nvSpPr>
        <p:spPr>
          <a:xfrm>
            <a:off x="7246620" y="4640580"/>
            <a:ext cx="7322820" cy="1310640"/>
          </a:xfrm>
          <a:prstGeom prst="rect">
            <a:avLst/>
          </a:prstGeom>
          <a:solidFill>
            <a:srgbClr val="F1FA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mr_panel"/>
          <p:cNvSpPr/>
          <p:nvPr/>
        </p:nvSpPr>
        <p:spPr>
          <a:xfrm>
            <a:off x="7246620" y="6057900"/>
            <a:ext cx="7322820" cy="144018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_8"/>
          <p:cNvSpPr txBox="1"/>
          <p:nvPr/>
        </p:nvSpPr>
        <p:spPr>
          <a:xfrm>
            <a:off x="1905000" y="144780"/>
            <a:ext cx="3429000" cy="259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20" b="1" i="0">
                <a:solidFill>
                  <a:srgbClr val="161616"/>
                </a:solidFill>
                <a:latin typeface="Liberation Serif"/>
              </a:defRPr>
            </a:pPr>
            <a:r>
              <a:t>Multi-Frequency Augmentation</a:t>
            </a:r>
          </a:p>
        </p:txBody>
      </p:sp>
      <p:sp>
        <p:nvSpPr>
          <p:cNvPr id="11" name="region_signal_bg"/>
          <p:cNvSpPr/>
          <p:nvPr/>
        </p:nvSpPr>
        <p:spPr>
          <a:xfrm>
            <a:off x="266700" y="640080"/>
            <a:ext cx="2956560" cy="3733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me_axes"/>
          <p:cNvSpPr/>
          <p:nvPr/>
        </p:nvSpPr>
        <p:spPr>
          <a:xfrm>
            <a:off x="266700" y="457200"/>
            <a:ext cx="3131820" cy="533400"/>
          </a:xfrm>
          <a:custGeom>
            <a:avLst/>
            <a:gdLst/>
            <a:ahLst/>
            <a:cxnLst/>
            <a:rect l="l" t="t" r="r" b="b"/>
            <a:pathLst>
              <a:path w="411" h="70">
                <a:moveTo>
                  <a:pt x="0" y="0"/>
                </a:moveTo>
                <a:lnTo>
                  <a:pt x="0" y="70"/>
                </a:lnTo>
                <a:lnTo>
                  <a:pt x="411" y="70"/>
                </a:lnTo>
              </a:path>
            </a:pathLst>
          </a:custGeom>
          <a:noFill/>
          <a:ln w="11429">
            <a:solidFill>
              <a:srgbClr val="161616"/>
            </a:solidFill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_11"/>
          <p:cNvSpPr txBox="1"/>
          <p:nvPr/>
        </p:nvSpPr>
        <p:spPr>
          <a:xfrm>
            <a:off x="205740" y="365760"/>
            <a:ext cx="609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Value</a:t>
            </a:r>
          </a:p>
        </p:txBody>
      </p:sp>
      <p:sp>
        <p:nvSpPr>
          <p:cNvPr id="14" name="text_12"/>
          <p:cNvSpPr txBox="1"/>
          <p:nvPr/>
        </p:nvSpPr>
        <p:spPr>
          <a:xfrm>
            <a:off x="2781300" y="1005840"/>
            <a:ext cx="5486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Time</a:t>
            </a:r>
          </a:p>
        </p:txBody>
      </p:sp>
      <p:sp>
        <p:nvSpPr>
          <p:cNvPr id="15" name="region_1_wave"/>
          <p:cNvSpPr/>
          <p:nvPr/>
        </p:nvSpPr>
        <p:spPr>
          <a:xfrm>
            <a:off x="304800" y="678180"/>
            <a:ext cx="2880360" cy="152400"/>
          </a:xfrm>
          <a:custGeom>
            <a:avLst/>
            <a:gdLst/>
            <a:ahLst/>
            <a:cxnLst/>
            <a:rect l="l" t="t" r="r" b="b"/>
            <a:pathLst>
              <a:path w="378" h="20">
                <a:moveTo>
                  <a:pt x="0" y="1"/>
                </a:moveTo>
                <a:lnTo>
                  <a:pt x="4" y="0"/>
                </a:lnTo>
                <a:lnTo>
                  <a:pt x="8" y="3"/>
                </a:lnTo>
                <a:lnTo>
                  <a:pt x="12" y="8"/>
                </a:lnTo>
                <a:lnTo>
                  <a:pt x="16" y="14"/>
                </a:lnTo>
                <a:lnTo>
                  <a:pt x="20" y="17"/>
                </a:lnTo>
                <a:lnTo>
                  <a:pt x="24" y="19"/>
                </a:lnTo>
                <a:lnTo>
                  <a:pt x="28" y="17"/>
                </a:lnTo>
                <a:lnTo>
                  <a:pt x="32" y="14"/>
                </a:lnTo>
                <a:lnTo>
                  <a:pt x="36" y="11"/>
                </a:lnTo>
                <a:lnTo>
                  <a:pt x="40" y="9"/>
                </a:lnTo>
                <a:lnTo>
                  <a:pt x="44" y="8"/>
                </a:lnTo>
                <a:lnTo>
                  <a:pt x="48" y="7"/>
                </a:lnTo>
                <a:lnTo>
                  <a:pt x="52" y="6"/>
                </a:lnTo>
                <a:lnTo>
                  <a:pt x="56" y="5"/>
                </a:lnTo>
                <a:lnTo>
                  <a:pt x="60" y="4"/>
                </a:lnTo>
                <a:lnTo>
                  <a:pt x="64" y="5"/>
                </a:lnTo>
                <a:lnTo>
                  <a:pt x="68" y="7"/>
                </a:lnTo>
                <a:lnTo>
                  <a:pt x="72" y="11"/>
                </a:lnTo>
                <a:lnTo>
                  <a:pt x="76" y="16"/>
                </a:lnTo>
                <a:lnTo>
                  <a:pt x="80" y="19"/>
                </a:lnTo>
                <a:lnTo>
                  <a:pt x="84" y="20"/>
                </a:lnTo>
                <a:lnTo>
                  <a:pt x="88" y="17"/>
                </a:lnTo>
                <a:lnTo>
                  <a:pt x="92" y="12"/>
                </a:lnTo>
                <a:lnTo>
                  <a:pt x="97" y="6"/>
                </a:lnTo>
                <a:lnTo>
                  <a:pt x="101" y="3"/>
                </a:lnTo>
                <a:lnTo>
                  <a:pt x="105" y="2"/>
                </a:lnTo>
                <a:lnTo>
                  <a:pt x="109" y="4"/>
                </a:lnTo>
                <a:lnTo>
                  <a:pt x="113" y="6"/>
                </a:lnTo>
                <a:lnTo>
                  <a:pt x="117" y="9"/>
                </a:lnTo>
                <a:lnTo>
                  <a:pt x="121" y="10"/>
                </a:lnTo>
                <a:lnTo>
                  <a:pt x="125" y="11"/>
                </a:lnTo>
                <a:lnTo>
                  <a:pt x="129" y="12"/>
                </a:lnTo>
                <a:lnTo>
                  <a:pt x="133" y="14"/>
                </a:lnTo>
                <a:lnTo>
                  <a:pt x="137" y="16"/>
                </a:lnTo>
                <a:lnTo>
                  <a:pt x="141" y="17"/>
                </a:lnTo>
                <a:lnTo>
                  <a:pt x="145" y="16"/>
                </a:lnTo>
                <a:lnTo>
                  <a:pt x="149" y="13"/>
                </a:lnTo>
                <a:lnTo>
                  <a:pt x="153" y="8"/>
                </a:lnTo>
                <a:lnTo>
                  <a:pt x="157" y="4"/>
                </a:lnTo>
                <a:lnTo>
                  <a:pt x="161" y="0"/>
                </a:lnTo>
                <a:lnTo>
                  <a:pt x="165" y="0"/>
                </a:lnTo>
                <a:lnTo>
                  <a:pt x="169" y="3"/>
                </a:lnTo>
                <a:lnTo>
                  <a:pt x="173" y="8"/>
                </a:lnTo>
                <a:lnTo>
                  <a:pt x="177" y="13"/>
                </a:lnTo>
                <a:lnTo>
                  <a:pt x="181" y="16"/>
                </a:lnTo>
                <a:lnTo>
                  <a:pt x="185" y="17"/>
                </a:lnTo>
                <a:lnTo>
                  <a:pt x="189" y="16"/>
                </a:lnTo>
                <a:lnTo>
                  <a:pt x="193" y="14"/>
                </a:lnTo>
                <a:lnTo>
                  <a:pt x="197" y="12"/>
                </a:lnTo>
                <a:lnTo>
                  <a:pt x="201" y="11"/>
                </a:lnTo>
                <a:lnTo>
                  <a:pt x="205" y="10"/>
                </a:lnTo>
                <a:lnTo>
                  <a:pt x="209" y="8"/>
                </a:lnTo>
                <a:lnTo>
                  <a:pt x="213" y="6"/>
                </a:lnTo>
                <a:lnTo>
                  <a:pt x="217" y="4"/>
                </a:lnTo>
                <a:lnTo>
                  <a:pt x="221" y="2"/>
                </a:lnTo>
                <a:lnTo>
                  <a:pt x="225" y="3"/>
                </a:lnTo>
                <a:lnTo>
                  <a:pt x="229" y="7"/>
                </a:lnTo>
                <a:lnTo>
                  <a:pt x="233" y="12"/>
                </a:lnTo>
                <a:lnTo>
                  <a:pt x="237" y="17"/>
                </a:lnTo>
                <a:lnTo>
                  <a:pt x="241" y="20"/>
                </a:lnTo>
                <a:lnTo>
                  <a:pt x="245" y="19"/>
                </a:lnTo>
                <a:lnTo>
                  <a:pt x="249" y="16"/>
                </a:lnTo>
                <a:lnTo>
                  <a:pt x="253" y="11"/>
                </a:lnTo>
                <a:lnTo>
                  <a:pt x="257" y="7"/>
                </a:lnTo>
                <a:lnTo>
                  <a:pt x="261" y="4"/>
                </a:lnTo>
                <a:lnTo>
                  <a:pt x="265" y="4"/>
                </a:lnTo>
                <a:lnTo>
                  <a:pt x="269" y="5"/>
                </a:lnTo>
                <a:lnTo>
                  <a:pt x="273" y="6"/>
                </a:lnTo>
                <a:lnTo>
                  <a:pt x="277" y="7"/>
                </a:lnTo>
                <a:lnTo>
                  <a:pt x="281" y="8"/>
                </a:lnTo>
                <a:lnTo>
                  <a:pt x="286" y="9"/>
                </a:lnTo>
                <a:lnTo>
                  <a:pt x="290" y="11"/>
                </a:lnTo>
                <a:lnTo>
                  <a:pt x="294" y="14"/>
                </a:lnTo>
                <a:lnTo>
                  <a:pt x="298" y="17"/>
                </a:lnTo>
                <a:lnTo>
                  <a:pt x="302" y="18"/>
                </a:lnTo>
                <a:lnTo>
                  <a:pt x="306" y="17"/>
                </a:lnTo>
                <a:lnTo>
                  <a:pt x="310" y="14"/>
                </a:lnTo>
                <a:lnTo>
                  <a:pt x="314" y="8"/>
                </a:lnTo>
                <a:lnTo>
                  <a:pt x="318" y="3"/>
                </a:lnTo>
                <a:lnTo>
                  <a:pt x="322" y="0"/>
                </a:lnTo>
                <a:lnTo>
                  <a:pt x="326" y="1"/>
                </a:lnTo>
                <a:lnTo>
                  <a:pt x="330" y="4"/>
                </a:lnTo>
                <a:lnTo>
                  <a:pt x="334" y="9"/>
                </a:lnTo>
                <a:lnTo>
                  <a:pt x="338" y="13"/>
                </a:lnTo>
                <a:lnTo>
                  <a:pt x="342" y="15"/>
                </a:lnTo>
                <a:lnTo>
                  <a:pt x="346" y="15"/>
                </a:lnTo>
                <a:lnTo>
                  <a:pt x="350" y="15"/>
                </a:lnTo>
                <a:lnTo>
                  <a:pt x="354" y="14"/>
                </a:lnTo>
                <a:lnTo>
                  <a:pt x="358" y="13"/>
                </a:lnTo>
                <a:lnTo>
                  <a:pt x="362" y="13"/>
                </a:lnTo>
                <a:lnTo>
                  <a:pt x="366" y="12"/>
                </a:lnTo>
                <a:lnTo>
                  <a:pt x="370" y="9"/>
                </a:lnTo>
                <a:lnTo>
                  <a:pt x="374" y="6"/>
                </a:lnTo>
                <a:lnTo>
                  <a:pt x="378" y="3"/>
                </a:lnTo>
              </a:path>
            </a:pathLst>
          </a:custGeom>
          <a:noFill/>
          <a:ln w="10668">
            <a:solidFill>
              <a:srgbClr val="ED7D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gion_n_wave"/>
          <p:cNvSpPr/>
          <p:nvPr/>
        </p:nvSpPr>
        <p:spPr>
          <a:xfrm>
            <a:off x="304800" y="838200"/>
            <a:ext cx="2880360" cy="137160"/>
          </a:xfrm>
          <a:custGeom>
            <a:avLst/>
            <a:gdLst/>
            <a:ahLst/>
            <a:cxnLst/>
            <a:rect l="l" t="t" r="r" b="b"/>
            <a:pathLst>
              <a:path w="378" h="18">
                <a:moveTo>
                  <a:pt x="0" y="5"/>
                </a:moveTo>
                <a:lnTo>
                  <a:pt x="4" y="10"/>
                </a:lnTo>
                <a:lnTo>
                  <a:pt x="8" y="16"/>
                </a:lnTo>
                <a:lnTo>
                  <a:pt x="12" y="18"/>
                </a:lnTo>
                <a:lnTo>
                  <a:pt x="16" y="16"/>
                </a:lnTo>
                <a:lnTo>
                  <a:pt x="20" y="10"/>
                </a:lnTo>
                <a:lnTo>
                  <a:pt x="24" y="4"/>
                </a:lnTo>
                <a:lnTo>
                  <a:pt x="28" y="2"/>
                </a:lnTo>
                <a:lnTo>
                  <a:pt x="32" y="3"/>
                </a:lnTo>
                <a:lnTo>
                  <a:pt x="36" y="6"/>
                </a:lnTo>
                <a:lnTo>
                  <a:pt x="40" y="8"/>
                </a:lnTo>
                <a:lnTo>
                  <a:pt x="44" y="10"/>
                </a:lnTo>
                <a:lnTo>
                  <a:pt x="48" y="11"/>
                </a:lnTo>
                <a:lnTo>
                  <a:pt x="52" y="13"/>
                </a:lnTo>
                <a:lnTo>
                  <a:pt x="56" y="15"/>
                </a:lnTo>
                <a:lnTo>
                  <a:pt x="60" y="15"/>
                </a:lnTo>
                <a:lnTo>
                  <a:pt x="64" y="11"/>
                </a:lnTo>
                <a:lnTo>
                  <a:pt x="68" y="5"/>
                </a:lnTo>
                <a:lnTo>
                  <a:pt x="72" y="0"/>
                </a:lnTo>
                <a:lnTo>
                  <a:pt x="76" y="0"/>
                </a:lnTo>
                <a:lnTo>
                  <a:pt x="80" y="5"/>
                </a:lnTo>
                <a:lnTo>
                  <a:pt x="84" y="11"/>
                </a:lnTo>
                <a:lnTo>
                  <a:pt x="88" y="15"/>
                </a:lnTo>
                <a:lnTo>
                  <a:pt x="92" y="15"/>
                </a:lnTo>
                <a:lnTo>
                  <a:pt x="97" y="13"/>
                </a:lnTo>
                <a:lnTo>
                  <a:pt x="101" y="11"/>
                </a:lnTo>
                <a:lnTo>
                  <a:pt x="105" y="10"/>
                </a:lnTo>
                <a:lnTo>
                  <a:pt x="109" y="9"/>
                </a:lnTo>
                <a:lnTo>
                  <a:pt x="113" y="6"/>
                </a:lnTo>
                <a:lnTo>
                  <a:pt x="117" y="3"/>
                </a:lnTo>
                <a:lnTo>
                  <a:pt x="121" y="2"/>
                </a:lnTo>
                <a:lnTo>
                  <a:pt x="125" y="4"/>
                </a:lnTo>
                <a:lnTo>
                  <a:pt x="129" y="10"/>
                </a:lnTo>
                <a:lnTo>
                  <a:pt x="133" y="16"/>
                </a:lnTo>
                <a:lnTo>
                  <a:pt x="137" y="18"/>
                </a:lnTo>
                <a:lnTo>
                  <a:pt x="141" y="16"/>
                </a:lnTo>
                <a:lnTo>
                  <a:pt x="145" y="10"/>
                </a:lnTo>
                <a:lnTo>
                  <a:pt x="149" y="6"/>
                </a:lnTo>
                <a:lnTo>
                  <a:pt x="153" y="3"/>
                </a:lnTo>
                <a:lnTo>
                  <a:pt x="157" y="4"/>
                </a:lnTo>
                <a:lnTo>
                  <a:pt x="161" y="6"/>
                </a:lnTo>
                <a:lnTo>
                  <a:pt x="165" y="7"/>
                </a:lnTo>
                <a:lnTo>
                  <a:pt x="169" y="8"/>
                </a:lnTo>
                <a:lnTo>
                  <a:pt x="173" y="10"/>
                </a:lnTo>
                <a:lnTo>
                  <a:pt x="177" y="13"/>
                </a:lnTo>
                <a:lnTo>
                  <a:pt x="181" y="16"/>
                </a:lnTo>
                <a:lnTo>
                  <a:pt x="185" y="16"/>
                </a:lnTo>
                <a:lnTo>
                  <a:pt x="189" y="12"/>
                </a:lnTo>
                <a:lnTo>
                  <a:pt x="193" y="5"/>
                </a:lnTo>
                <a:lnTo>
                  <a:pt x="197" y="1"/>
                </a:lnTo>
                <a:lnTo>
                  <a:pt x="201" y="1"/>
                </a:lnTo>
                <a:lnTo>
                  <a:pt x="205" y="5"/>
                </a:lnTo>
                <a:lnTo>
                  <a:pt x="209" y="10"/>
                </a:lnTo>
                <a:lnTo>
                  <a:pt x="213" y="13"/>
                </a:lnTo>
                <a:lnTo>
                  <a:pt x="217" y="14"/>
                </a:lnTo>
                <a:lnTo>
                  <a:pt x="221" y="13"/>
                </a:lnTo>
                <a:lnTo>
                  <a:pt x="225" y="12"/>
                </a:lnTo>
                <a:lnTo>
                  <a:pt x="229" y="12"/>
                </a:lnTo>
                <a:lnTo>
                  <a:pt x="233" y="10"/>
                </a:lnTo>
                <a:lnTo>
                  <a:pt x="237" y="7"/>
                </a:lnTo>
                <a:lnTo>
                  <a:pt x="241" y="3"/>
                </a:lnTo>
                <a:lnTo>
                  <a:pt x="245" y="1"/>
                </a:lnTo>
                <a:lnTo>
                  <a:pt x="249" y="3"/>
                </a:lnTo>
                <a:lnTo>
                  <a:pt x="253" y="9"/>
                </a:lnTo>
                <a:lnTo>
                  <a:pt x="257" y="15"/>
                </a:lnTo>
                <a:lnTo>
                  <a:pt x="261" y="18"/>
                </a:lnTo>
                <a:lnTo>
                  <a:pt x="265" y="16"/>
                </a:lnTo>
                <a:lnTo>
                  <a:pt x="269" y="11"/>
                </a:lnTo>
                <a:lnTo>
                  <a:pt x="273" y="7"/>
                </a:lnTo>
                <a:lnTo>
                  <a:pt x="277" y="5"/>
                </a:lnTo>
                <a:lnTo>
                  <a:pt x="281" y="5"/>
                </a:lnTo>
                <a:lnTo>
                  <a:pt x="286" y="5"/>
                </a:lnTo>
                <a:lnTo>
                  <a:pt x="290" y="5"/>
                </a:lnTo>
                <a:lnTo>
                  <a:pt x="294" y="6"/>
                </a:lnTo>
                <a:lnTo>
                  <a:pt x="298" y="9"/>
                </a:lnTo>
                <a:lnTo>
                  <a:pt x="302" y="13"/>
                </a:lnTo>
                <a:lnTo>
                  <a:pt x="306" y="17"/>
                </a:lnTo>
                <a:lnTo>
                  <a:pt x="310" y="17"/>
                </a:lnTo>
                <a:lnTo>
                  <a:pt x="314" y="12"/>
                </a:lnTo>
                <a:lnTo>
                  <a:pt x="318" y="6"/>
                </a:lnTo>
                <a:lnTo>
                  <a:pt x="322" y="1"/>
                </a:lnTo>
                <a:lnTo>
                  <a:pt x="326" y="1"/>
                </a:lnTo>
                <a:lnTo>
                  <a:pt x="330" y="5"/>
                </a:lnTo>
                <a:lnTo>
                  <a:pt x="334" y="9"/>
                </a:lnTo>
                <a:lnTo>
                  <a:pt x="338" y="11"/>
                </a:lnTo>
                <a:lnTo>
                  <a:pt x="342" y="12"/>
                </a:lnTo>
                <a:lnTo>
                  <a:pt x="346" y="12"/>
                </a:lnTo>
                <a:lnTo>
                  <a:pt x="350" y="13"/>
                </a:lnTo>
                <a:lnTo>
                  <a:pt x="354" y="14"/>
                </a:lnTo>
                <a:lnTo>
                  <a:pt x="358" y="12"/>
                </a:lnTo>
                <a:lnTo>
                  <a:pt x="362" y="7"/>
                </a:lnTo>
                <a:lnTo>
                  <a:pt x="366" y="2"/>
                </a:lnTo>
                <a:lnTo>
                  <a:pt x="370" y="0"/>
                </a:lnTo>
                <a:lnTo>
                  <a:pt x="374" y="3"/>
                </a:lnTo>
                <a:lnTo>
                  <a:pt x="378" y="9"/>
                </a:lnTo>
              </a:path>
            </a:pathLst>
          </a:custGeom>
          <a:noFill/>
          <a:ln w="990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_15"/>
          <p:cNvSpPr txBox="1"/>
          <p:nvPr/>
        </p:nvSpPr>
        <p:spPr>
          <a:xfrm>
            <a:off x="1104900" y="640080"/>
            <a:ext cx="990599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ED7D31"/>
                </a:solidFill>
                <a:latin typeface="Liberation Serif"/>
              </a:defRPr>
            </a:pPr>
            <a:r>
              <a:t>Region 1</a:t>
            </a:r>
          </a:p>
        </p:txBody>
      </p:sp>
      <p:sp>
        <p:nvSpPr>
          <p:cNvPr id="18" name="text_16"/>
          <p:cNvSpPr txBox="1"/>
          <p:nvPr/>
        </p:nvSpPr>
        <p:spPr>
          <a:xfrm>
            <a:off x="2133600" y="815340"/>
            <a:ext cx="914400" cy="167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61616"/>
                </a:solidFill>
                <a:latin typeface="Liberation Serif"/>
              </a:defRPr>
            </a:pPr>
            <a:r>
              <a:t>Region n</a:t>
            </a:r>
          </a:p>
        </p:txBody>
      </p:sp>
      <p:cxnSp>
        <p:nvCxnSpPr>
          <p:cNvPr id="19" name="fft_arrow"/>
          <p:cNvCxnSpPr/>
          <p:nvPr/>
        </p:nvCxnSpPr>
        <p:spPr>
          <a:xfrm>
            <a:off x="3398520" y="800100"/>
            <a:ext cx="327660" cy="0"/>
          </a:xfrm>
          <a:prstGeom prst="line">
            <a:avLst/>
          </a:prstGeom>
          <a:ln w="45719">
            <a:solidFill>
              <a:srgbClr val="80B767"/>
            </a:solidFill>
            <a:tailEnd type="triangle" w="sm" len="sm"/>
          </a:ln>
        </p:spPr>
      </p:cxnSp>
      <p:sp>
        <p:nvSpPr>
          <p:cNvPr id="20" name="text_18"/>
          <p:cNvSpPr txBox="1"/>
          <p:nvPr/>
        </p:nvSpPr>
        <p:spPr>
          <a:xfrm>
            <a:off x="3406140" y="594360"/>
            <a:ext cx="365760" cy="167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1">
                <a:solidFill>
                  <a:srgbClr val="80B767"/>
                </a:solidFill>
                <a:latin typeface="Liberation Serif"/>
              </a:defRPr>
            </a:pPr>
            <a:r>
              <a:t>FFT</a:t>
            </a:r>
          </a:p>
        </p:txBody>
      </p:sp>
      <p:sp>
        <p:nvSpPr>
          <p:cNvPr id="21" name="spectrum_bg"/>
          <p:cNvSpPr/>
          <p:nvPr/>
        </p:nvSpPr>
        <p:spPr>
          <a:xfrm>
            <a:off x="3909060" y="640080"/>
            <a:ext cx="2948940" cy="358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requency_axes"/>
          <p:cNvSpPr/>
          <p:nvPr/>
        </p:nvSpPr>
        <p:spPr>
          <a:xfrm>
            <a:off x="3901440" y="457200"/>
            <a:ext cx="3147060" cy="541020"/>
          </a:xfrm>
          <a:custGeom>
            <a:avLst/>
            <a:gdLst/>
            <a:ahLst/>
            <a:cxnLst/>
            <a:rect l="l" t="t" r="r" b="b"/>
            <a:pathLst>
              <a:path w="413" h="71">
                <a:moveTo>
                  <a:pt x="0" y="0"/>
                </a:moveTo>
                <a:lnTo>
                  <a:pt x="0" y="71"/>
                </a:lnTo>
                <a:lnTo>
                  <a:pt x="413" y="71"/>
                </a:lnTo>
              </a:path>
            </a:pathLst>
          </a:custGeom>
          <a:noFill/>
          <a:ln w="11429">
            <a:solidFill>
              <a:srgbClr val="161616"/>
            </a:solidFill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_21"/>
          <p:cNvSpPr txBox="1"/>
          <p:nvPr/>
        </p:nvSpPr>
        <p:spPr>
          <a:xfrm>
            <a:off x="3985260" y="365760"/>
            <a:ext cx="8382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Amplitude</a:t>
            </a:r>
          </a:p>
        </p:txBody>
      </p:sp>
      <p:sp>
        <p:nvSpPr>
          <p:cNvPr id="24" name="text_22"/>
          <p:cNvSpPr txBox="1"/>
          <p:nvPr/>
        </p:nvSpPr>
        <p:spPr>
          <a:xfrm>
            <a:off x="6088380" y="1005840"/>
            <a:ext cx="7239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Frequency</a:t>
            </a:r>
          </a:p>
        </p:txBody>
      </p:sp>
      <p:sp>
        <p:nvSpPr>
          <p:cNvPr id="25" name="spectrum_wave"/>
          <p:cNvSpPr/>
          <p:nvPr/>
        </p:nvSpPr>
        <p:spPr>
          <a:xfrm>
            <a:off x="3947160" y="609600"/>
            <a:ext cx="2880360" cy="411480"/>
          </a:xfrm>
          <a:custGeom>
            <a:avLst/>
            <a:gdLst/>
            <a:ahLst/>
            <a:cxnLst/>
            <a:rect l="l" t="t" r="r" b="b"/>
            <a:pathLst>
              <a:path w="378" h="54">
                <a:moveTo>
                  <a:pt x="0" y="38"/>
                </a:moveTo>
                <a:lnTo>
                  <a:pt x="3" y="31"/>
                </a:lnTo>
                <a:lnTo>
                  <a:pt x="6" y="37"/>
                </a:lnTo>
                <a:lnTo>
                  <a:pt x="9" y="38"/>
                </a:lnTo>
                <a:lnTo>
                  <a:pt x="12" y="30"/>
                </a:lnTo>
                <a:lnTo>
                  <a:pt x="15" y="38"/>
                </a:lnTo>
                <a:lnTo>
                  <a:pt x="18" y="48"/>
                </a:lnTo>
                <a:lnTo>
                  <a:pt x="21" y="36"/>
                </a:lnTo>
                <a:lnTo>
                  <a:pt x="24" y="23"/>
                </a:lnTo>
                <a:lnTo>
                  <a:pt x="27" y="21"/>
                </a:lnTo>
                <a:lnTo>
                  <a:pt x="30" y="10"/>
                </a:lnTo>
                <a:lnTo>
                  <a:pt x="33" y="0"/>
                </a:lnTo>
                <a:lnTo>
                  <a:pt x="36" y="14"/>
                </a:lnTo>
                <a:lnTo>
                  <a:pt x="39" y="26"/>
                </a:lnTo>
                <a:lnTo>
                  <a:pt x="42" y="22"/>
                </a:lnTo>
                <a:lnTo>
                  <a:pt x="45" y="27"/>
                </a:lnTo>
                <a:lnTo>
                  <a:pt x="48" y="35"/>
                </a:lnTo>
                <a:lnTo>
                  <a:pt x="51" y="27"/>
                </a:lnTo>
                <a:lnTo>
                  <a:pt x="54" y="27"/>
                </a:lnTo>
                <a:lnTo>
                  <a:pt x="57" y="44"/>
                </a:lnTo>
                <a:lnTo>
                  <a:pt x="60" y="48"/>
                </a:lnTo>
                <a:lnTo>
                  <a:pt x="63" y="40"/>
                </a:lnTo>
                <a:lnTo>
                  <a:pt x="66" y="41"/>
                </a:lnTo>
                <a:lnTo>
                  <a:pt x="69" y="33"/>
                </a:lnTo>
                <a:lnTo>
                  <a:pt x="72" y="12"/>
                </a:lnTo>
                <a:lnTo>
                  <a:pt x="75" y="7"/>
                </a:lnTo>
                <a:lnTo>
                  <a:pt x="78" y="18"/>
                </a:lnTo>
                <a:lnTo>
                  <a:pt x="81" y="16"/>
                </a:lnTo>
                <a:lnTo>
                  <a:pt x="84" y="15"/>
                </a:lnTo>
                <a:lnTo>
                  <a:pt x="87" y="27"/>
                </a:lnTo>
                <a:lnTo>
                  <a:pt x="90" y="24"/>
                </a:lnTo>
                <a:lnTo>
                  <a:pt x="93" y="14"/>
                </a:lnTo>
                <a:lnTo>
                  <a:pt x="96" y="24"/>
                </a:lnTo>
                <a:lnTo>
                  <a:pt x="99" y="39"/>
                </a:lnTo>
                <a:lnTo>
                  <a:pt x="102" y="39"/>
                </a:lnTo>
                <a:lnTo>
                  <a:pt x="105" y="45"/>
                </a:lnTo>
                <a:lnTo>
                  <a:pt x="108" y="54"/>
                </a:lnTo>
                <a:lnTo>
                  <a:pt x="111" y="39"/>
                </a:lnTo>
                <a:lnTo>
                  <a:pt x="114" y="21"/>
                </a:lnTo>
                <a:lnTo>
                  <a:pt x="117" y="23"/>
                </a:lnTo>
                <a:lnTo>
                  <a:pt x="120" y="21"/>
                </a:lnTo>
                <a:lnTo>
                  <a:pt x="123" y="12"/>
                </a:lnTo>
                <a:lnTo>
                  <a:pt x="126" y="20"/>
                </a:lnTo>
                <a:lnTo>
                  <a:pt x="129" y="26"/>
                </a:lnTo>
                <a:lnTo>
                  <a:pt x="132" y="13"/>
                </a:lnTo>
                <a:lnTo>
                  <a:pt x="135" y="9"/>
                </a:lnTo>
                <a:lnTo>
                  <a:pt x="138" y="20"/>
                </a:lnTo>
                <a:lnTo>
                  <a:pt x="141" y="22"/>
                </a:lnTo>
                <a:lnTo>
                  <a:pt x="144" y="27"/>
                </a:lnTo>
                <a:lnTo>
                  <a:pt x="147" y="47"/>
                </a:lnTo>
                <a:lnTo>
                  <a:pt x="150" y="53"/>
                </a:lnTo>
                <a:lnTo>
                  <a:pt x="153" y="39"/>
                </a:lnTo>
                <a:lnTo>
                  <a:pt x="156" y="36"/>
                </a:lnTo>
                <a:lnTo>
                  <a:pt x="159" y="35"/>
                </a:lnTo>
                <a:lnTo>
                  <a:pt x="162" y="22"/>
                </a:lnTo>
                <a:lnTo>
                  <a:pt x="165" y="21"/>
                </a:lnTo>
                <a:lnTo>
                  <a:pt x="168" y="32"/>
                </a:lnTo>
                <a:lnTo>
                  <a:pt x="171" y="25"/>
                </a:lnTo>
                <a:lnTo>
                  <a:pt x="174" y="11"/>
                </a:lnTo>
                <a:lnTo>
                  <a:pt x="177" y="13"/>
                </a:lnTo>
                <a:lnTo>
                  <a:pt x="180" y="12"/>
                </a:lnTo>
                <a:lnTo>
                  <a:pt x="183" y="6"/>
                </a:lnTo>
                <a:lnTo>
                  <a:pt x="186" y="20"/>
                </a:lnTo>
                <a:lnTo>
                  <a:pt x="189" y="40"/>
                </a:lnTo>
                <a:lnTo>
                  <a:pt x="192" y="40"/>
                </a:lnTo>
                <a:lnTo>
                  <a:pt x="195" y="39"/>
                </a:lnTo>
                <a:lnTo>
                  <a:pt x="198" y="45"/>
                </a:lnTo>
                <a:lnTo>
                  <a:pt x="201" y="36"/>
                </a:lnTo>
                <a:lnTo>
                  <a:pt x="204" y="25"/>
                </a:lnTo>
                <a:lnTo>
                  <a:pt x="207" y="35"/>
                </a:lnTo>
                <a:lnTo>
                  <a:pt x="210" y="39"/>
                </a:lnTo>
                <a:lnTo>
                  <a:pt x="213" y="27"/>
                </a:lnTo>
                <a:lnTo>
                  <a:pt x="216" y="23"/>
                </a:lnTo>
                <a:lnTo>
                  <a:pt x="219" y="21"/>
                </a:lnTo>
                <a:lnTo>
                  <a:pt x="222" y="5"/>
                </a:lnTo>
                <a:lnTo>
                  <a:pt x="225" y="0"/>
                </a:lnTo>
                <a:lnTo>
                  <a:pt x="228" y="16"/>
                </a:lnTo>
                <a:lnTo>
                  <a:pt x="231" y="25"/>
                </a:lnTo>
                <a:lnTo>
                  <a:pt x="234" y="26"/>
                </a:lnTo>
                <a:lnTo>
                  <a:pt x="237" y="38"/>
                </a:lnTo>
                <a:lnTo>
                  <a:pt x="240" y="42"/>
                </a:lnTo>
                <a:lnTo>
                  <a:pt x="243" y="29"/>
                </a:lnTo>
                <a:lnTo>
                  <a:pt x="246" y="31"/>
                </a:lnTo>
                <a:lnTo>
                  <a:pt x="249" y="43"/>
                </a:lnTo>
                <a:lnTo>
                  <a:pt x="252" y="39"/>
                </a:lnTo>
                <a:lnTo>
                  <a:pt x="255" y="35"/>
                </a:lnTo>
                <a:lnTo>
                  <a:pt x="258" y="40"/>
                </a:lnTo>
                <a:lnTo>
                  <a:pt x="261" y="28"/>
                </a:lnTo>
                <a:lnTo>
                  <a:pt x="264" y="7"/>
                </a:lnTo>
                <a:lnTo>
                  <a:pt x="267" y="7"/>
                </a:lnTo>
                <a:lnTo>
                  <a:pt x="270" y="13"/>
                </a:lnTo>
                <a:lnTo>
                  <a:pt x="273" y="10"/>
                </a:lnTo>
                <a:lnTo>
                  <a:pt x="276" y="19"/>
                </a:lnTo>
                <a:lnTo>
                  <a:pt x="279" y="35"/>
                </a:lnTo>
                <a:lnTo>
                  <a:pt x="282" y="29"/>
                </a:lnTo>
                <a:lnTo>
                  <a:pt x="285" y="22"/>
                </a:lnTo>
                <a:lnTo>
                  <a:pt x="288" y="33"/>
                </a:lnTo>
                <a:lnTo>
                  <a:pt x="291" y="37"/>
                </a:lnTo>
                <a:lnTo>
                  <a:pt x="294" y="35"/>
                </a:lnTo>
                <a:lnTo>
                  <a:pt x="297" y="47"/>
                </a:lnTo>
                <a:lnTo>
                  <a:pt x="300" y="51"/>
                </a:lnTo>
                <a:lnTo>
                  <a:pt x="303" y="33"/>
                </a:lnTo>
                <a:lnTo>
                  <a:pt x="306" y="21"/>
                </a:lnTo>
                <a:lnTo>
                  <a:pt x="309" y="20"/>
                </a:lnTo>
                <a:lnTo>
                  <a:pt x="312" y="10"/>
                </a:lnTo>
                <a:lnTo>
                  <a:pt x="315" y="6"/>
                </a:lnTo>
                <a:lnTo>
                  <a:pt x="318" y="21"/>
                </a:lnTo>
                <a:lnTo>
                  <a:pt x="321" y="26"/>
                </a:lnTo>
                <a:lnTo>
                  <a:pt x="324" y="16"/>
                </a:lnTo>
                <a:lnTo>
                  <a:pt x="327" y="20"/>
                </a:lnTo>
                <a:lnTo>
                  <a:pt x="330" y="27"/>
                </a:lnTo>
                <a:lnTo>
                  <a:pt x="333" y="22"/>
                </a:lnTo>
                <a:lnTo>
                  <a:pt x="336" y="31"/>
                </a:lnTo>
                <a:lnTo>
                  <a:pt x="339" y="51"/>
                </a:lnTo>
                <a:lnTo>
                  <a:pt x="342" y="50"/>
                </a:lnTo>
                <a:lnTo>
                  <a:pt x="345" y="39"/>
                </a:lnTo>
                <a:lnTo>
                  <a:pt x="348" y="39"/>
                </a:lnTo>
                <a:lnTo>
                  <a:pt x="351" y="30"/>
                </a:lnTo>
                <a:lnTo>
                  <a:pt x="354" y="12"/>
                </a:lnTo>
                <a:lnTo>
                  <a:pt x="357" y="16"/>
                </a:lnTo>
                <a:lnTo>
                  <a:pt x="360" y="26"/>
                </a:lnTo>
                <a:lnTo>
                  <a:pt x="363" y="18"/>
                </a:lnTo>
                <a:lnTo>
                  <a:pt x="366" y="14"/>
                </a:lnTo>
                <a:lnTo>
                  <a:pt x="369" y="21"/>
                </a:lnTo>
                <a:lnTo>
                  <a:pt x="372" y="14"/>
                </a:lnTo>
                <a:lnTo>
                  <a:pt x="375" y="9"/>
                </a:lnTo>
                <a:lnTo>
                  <a:pt x="378" y="27"/>
                </a:lnTo>
              </a:path>
            </a:pathLst>
          </a:custGeom>
          <a:noFill/>
          <a:ln w="10668">
            <a:solidFill>
              <a:srgbClr val="7C8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freq1_bracket"/>
          <p:cNvSpPr/>
          <p:nvPr/>
        </p:nvSpPr>
        <p:spPr>
          <a:xfrm>
            <a:off x="3977640" y="647700"/>
            <a:ext cx="822960" cy="228600"/>
          </a:xfrm>
          <a:custGeom>
            <a:avLst/>
            <a:gdLst/>
            <a:ahLst/>
            <a:cxnLst/>
            <a:rect l="l" t="t" r="r" b="b"/>
            <a:pathLst>
              <a:path w="108" h="30">
                <a:moveTo>
                  <a:pt x="0" y="30"/>
                </a:moveTo>
                <a:lnTo>
                  <a:pt x="20" y="0"/>
                </a:lnTo>
                <a:lnTo>
                  <a:pt x="108" y="0"/>
                </a:lnTo>
              </a:path>
            </a:pathLst>
          </a:custGeom>
          <a:noFill/>
          <a:ln w="9906">
            <a:solidFill>
              <a:srgbClr val="D627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freq2_bracket"/>
          <p:cNvSpPr/>
          <p:nvPr/>
        </p:nvSpPr>
        <p:spPr>
          <a:xfrm>
            <a:off x="4724400" y="746760"/>
            <a:ext cx="678180" cy="175260"/>
          </a:xfrm>
          <a:custGeom>
            <a:avLst/>
            <a:gdLst/>
            <a:ahLst/>
            <a:cxnLst/>
            <a:rect l="l" t="t" r="r" b="b"/>
            <a:pathLst>
              <a:path w="89" h="23">
                <a:moveTo>
                  <a:pt x="0" y="23"/>
                </a:moveTo>
                <a:lnTo>
                  <a:pt x="16" y="0"/>
                </a:lnTo>
                <a:lnTo>
                  <a:pt x="89" y="0"/>
                </a:lnTo>
              </a:path>
            </a:pathLst>
          </a:custGeom>
          <a:noFill/>
          <a:ln w="9906">
            <a:solidFill>
              <a:srgbClr val="D627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_26"/>
          <p:cNvSpPr txBox="1"/>
          <p:nvPr/>
        </p:nvSpPr>
        <p:spPr>
          <a:xfrm>
            <a:off x="4175760" y="640080"/>
            <a:ext cx="7315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D62728"/>
                </a:solidFill>
                <a:latin typeface="Liberation Serif"/>
              </a:defRPr>
            </a:pPr>
            <a:r>
              <a:t>Frequency 1</a:t>
            </a:r>
          </a:p>
        </p:txBody>
      </p:sp>
      <p:sp>
        <p:nvSpPr>
          <p:cNvPr id="29" name="text_27"/>
          <p:cNvSpPr txBox="1"/>
          <p:nvPr/>
        </p:nvSpPr>
        <p:spPr>
          <a:xfrm>
            <a:off x="4968240" y="693420"/>
            <a:ext cx="7315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D62728"/>
                </a:solidFill>
                <a:latin typeface="Liberation Serif"/>
              </a:defRPr>
            </a:pPr>
            <a:r>
              <a:t>Frequency 2</a:t>
            </a:r>
          </a:p>
        </p:txBody>
      </p:sp>
      <p:sp>
        <p:nvSpPr>
          <p:cNvPr id="30" name="text_28"/>
          <p:cNvSpPr txBox="1"/>
          <p:nvPr/>
        </p:nvSpPr>
        <p:spPr>
          <a:xfrm>
            <a:off x="251460" y="1028700"/>
            <a:ext cx="12954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D62728"/>
                </a:solidFill>
                <a:latin typeface="Liberation Serif"/>
              </a:defRPr>
            </a:pPr>
            <a:r>
              <a:t>Random Threshold</a:t>
            </a:r>
          </a:p>
        </p:txBody>
      </p:sp>
      <p:sp>
        <p:nvSpPr>
          <p:cNvPr id="31" name="trunc_left_frame"/>
          <p:cNvSpPr/>
          <p:nvPr/>
        </p:nvSpPr>
        <p:spPr>
          <a:xfrm>
            <a:off x="259080" y="1226820"/>
            <a:ext cx="2987040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runc_left_wave"/>
          <p:cNvSpPr/>
          <p:nvPr/>
        </p:nvSpPr>
        <p:spPr>
          <a:xfrm>
            <a:off x="289560" y="1211580"/>
            <a:ext cx="2956560" cy="358140"/>
          </a:xfrm>
          <a:custGeom>
            <a:avLst/>
            <a:gdLst/>
            <a:ahLst/>
            <a:cxnLst/>
            <a:rect l="l" t="t" r="r" b="b"/>
            <a:pathLst>
              <a:path w="388" h="47">
                <a:moveTo>
                  <a:pt x="0" y="20"/>
                </a:moveTo>
                <a:lnTo>
                  <a:pt x="3" y="10"/>
                </a:lnTo>
                <a:lnTo>
                  <a:pt x="6" y="14"/>
                </a:lnTo>
                <a:lnTo>
                  <a:pt x="9" y="20"/>
                </a:lnTo>
                <a:lnTo>
                  <a:pt x="12" y="15"/>
                </a:lnTo>
                <a:lnTo>
                  <a:pt x="15" y="12"/>
                </a:lnTo>
                <a:lnTo>
                  <a:pt x="18" y="18"/>
                </a:lnTo>
                <a:lnTo>
                  <a:pt x="21" y="18"/>
                </a:lnTo>
                <a:lnTo>
                  <a:pt x="24" y="9"/>
                </a:lnTo>
                <a:lnTo>
                  <a:pt x="27" y="7"/>
                </a:lnTo>
                <a:lnTo>
                  <a:pt x="30" y="20"/>
                </a:lnTo>
                <a:lnTo>
                  <a:pt x="33" y="30"/>
                </a:lnTo>
                <a:lnTo>
                  <a:pt x="36" y="31"/>
                </a:lnTo>
                <a:lnTo>
                  <a:pt x="39" y="36"/>
                </a:lnTo>
                <a:lnTo>
                  <a:pt x="42" y="44"/>
                </a:lnTo>
                <a:lnTo>
                  <a:pt x="45" y="42"/>
                </a:lnTo>
                <a:lnTo>
                  <a:pt x="48" y="29"/>
                </a:lnTo>
                <a:lnTo>
                  <a:pt x="51" y="21"/>
                </a:lnTo>
                <a:lnTo>
                  <a:pt x="54" y="25"/>
                </a:lnTo>
                <a:lnTo>
                  <a:pt x="57" y="24"/>
                </a:lnTo>
                <a:lnTo>
                  <a:pt x="60" y="17"/>
                </a:lnTo>
                <a:lnTo>
                  <a:pt x="63" y="18"/>
                </a:lnTo>
                <a:lnTo>
                  <a:pt x="66" y="24"/>
                </a:lnTo>
                <a:lnTo>
                  <a:pt x="69" y="19"/>
                </a:lnTo>
                <a:lnTo>
                  <a:pt x="72" y="6"/>
                </a:lnTo>
                <a:lnTo>
                  <a:pt x="75" y="4"/>
                </a:lnTo>
                <a:lnTo>
                  <a:pt x="78" y="11"/>
                </a:lnTo>
                <a:lnTo>
                  <a:pt x="81" y="15"/>
                </a:lnTo>
                <a:lnTo>
                  <a:pt x="84" y="16"/>
                </a:lnTo>
                <a:lnTo>
                  <a:pt x="87" y="27"/>
                </a:lnTo>
                <a:lnTo>
                  <a:pt x="90" y="41"/>
                </a:lnTo>
                <a:lnTo>
                  <a:pt x="93" y="41"/>
                </a:lnTo>
                <a:lnTo>
                  <a:pt x="96" y="31"/>
                </a:lnTo>
                <a:lnTo>
                  <a:pt x="99" y="30"/>
                </a:lnTo>
                <a:lnTo>
                  <a:pt x="102" y="33"/>
                </a:lnTo>
                <a:lnTo>
                  <a:pt x="105" y="28"/>
                </a:lnTo>
                <a:lnTo>
                  <a:pt x="108" y="22"/>
                </a:lnTo>
                <a:lnTo>
                  <a:pt x="111" y="27"/>
                </a:lnTo>
                <a:lnTo>
                  <a:pt x="114" y="33"/>
                </a:lnTo>
                <a:lnTo>
                  <a:pt x="117" y="25"/>
                </a:lnTo>
                <a:lnTo>
                  <a:pt x="120" y="12"/>
                </a:lnTo>
                <a:lnTo>
                  <a:pt x="123" y="10"/>
                </a:lnTo>
                <a:lnTo>
                  <a:pt x="126" y="10"/>
                </a:lnTo>
                <a:lnTo>
                  <a:pt x="129" y="5"/>
                </a:lnTo>
                <a:lnTo>
                  <a:pt x="132" y="3"/>
                </a:lnTo>
                <a:lnTo>
                  <a:pt x="135" y="16"/>
                </a:lnTo>
                <a:lnTo>
                  <a:pt x="138" y="30"/>
                </a:lnTo>
                <a:lnTo>
                  <a:pt x="141" y="30"/>
                </a:lnTo>
                <a:lnTo>
                  <a:pt x="144" y="27"/>
                </a:lnTo>
                <a:lnTo>
                  <a:pt x="147" y="32"/>
                </a:lnTo>
                <a:lnTo>
                  <a:pt x="150" y="35"/>
                </a:lnTo>
                <a:lnTo>
                  <a:pt x="153" y="27"/>
                </a:lnTo>
                <a:lnTo>
                  <a:pt x="156" y="24"/>
                </a:lnTo>
                <a:lnTo>
                  <a:pt x="159" y="34"/>
                </a:lnTo>
                <a:lnTo>
                  <a:pt x="162" y="40"/>
                </a:lnTo>
                <a:lnTo>
                  <a:pt x="165" y="32"/>
                </a:lnTo>
                <a:lnTo>
                  <a:pt x="168" y="24"/>
                </a:lnTo>
                <a:lnTo>
                  <a:pt x="171" y="23"/>
                </a:lnTo>
                <a:lnTo>
                  <a:pt x="174" y="18"/>
                </a:lnTo>
                <a:lnTo>
                  <a:pt x="177" y="4"/>
                </a:lnTo>
                <a:lnTo>
                  <a:pt x="180" y="0"/>
                </a:lnTo>
                <a:lnTo>
                  <a:pt x="183" y="10"/>
                </a:lnTo>
                <a:lnTo>
                  <a:pt x="186" y="18"/>
                </a:lnTo>
                <a:lnTo>
                  <a:pt x="189" y="17"/>
                </a:lnTo>
                <a:lnTo>
                  <a:pt x="192" y="20"/>
                </a:lnTo>
                <a:lnTo>
                  <a:pt x="196" y="29"/>
                </a:lnTo>
                <a:lnTo>
                  <a:pt x="199" y="29"/>
                </a:lnTo>
                <a:lnTo>
                  <a:pt x="202" y="21"/>
                </a:lnTo>
                <a:lnTo>
                  <a:pt x="205" y="22"/>
                </a:lnTo>
                <a:lnTo>
                  <a:pt x="208" y="34"/>
                </a:lnTo>
                <a:lnTo>
                  <a:pt x="211" y="39"/>
                </a:lnTo>
                <a:lnTo>
                  <a:pt x="214" y="35"/>
                </a:lnTo>
                <a:lnTo>
                  <a:pt x="217" y="36"/>
                </a:lnTo>
                <a:lnTo>
                  <a:pt x="220" y="38"/>
                </a:lnTo>
                <a:lnTo>
                  <a:pt x="223" y="29"/>
                </a:lnTo>
                <a:lnTo>
                  <a:pt x="226" y="13"/>
                </a:lnTo>
                <a:lnTo>
                  <a:pt x="229" y="7"/>
                </a:lnTo>
                <a:lnTo>
                  <a:pt x="232" y="12"/>
                </a:lnTo>
                <a:lnTo>
                  <a:pt x="235" y="12"/>
                </a:lnTo>
                <a:lnTo>
                  <a:pt x="238" y="9"/>
                </a:lnTo>
                <a:lnTo>
                  <a:pt x="241" y="15"/>
                </a:lnTo>
                <a:lnTo>
                  <a:pt x="244" y="24"/>
                </a:lnTo>
                <a:lnTo>
                  <a:pt x="247" y="21"/>
                </a:lnTo>
                <a:lnTo>
                  <a:pt x="250" y="13"/>
                </a:lnTo>
                <a:lnTo>
                  <a:pt x="253" y="17"/>
                </a:lnTo>
                <a:lnTo>
                  <a:pt x="256" y="27"/>
                </a:lnTo>
                <a:lnTo>
                  <a:pt x="259" y="29"/>
                </a:lnTo>
                <a:lnTo>
                  <a:pt x="262" y="30"/>
                </a:lnTo>
                <a:lnTo>
                  <a:pt x="265" y="40"/>
                </a:lnTo>
                <a:lnTo>
                  <a:pt x="268" y="47"/>
                </a:lnTo>
                <a:lnTo>
                  <a:pt x="271" y="39"/>
                </a:lnTo>
                <a:lnTo>
                  <a:pt x="274" y="25"/>
                </a:lnTo>
                <a:lnTo>
                  <a:pt x="277" y="22"/>
                </a:lnTo>
                <a:lnTo>
                  <a:pt x="280" y="21"/>
                </a:lnTo>
                <a:lnTo>
                  <a:pt x="283" y="13"/>
                </a:lnTo>
                <a:lnTo>
                  <a:pt x="286" y="9"/>
                </a:lnTo>
                <a:lnTo>
                  <a:pt x="289" y="17"/>
                </a:lnTo>
                <a:lnTo>
                  <a:pt x="292" y="23"/>
                </a:lnTo>
                <a:lnTo>
                  <a:pt x="295" y="16"/>
                </a:lnTo>
                <a:lnTo>
                  <a:pt x="298" y="9"/>
                </a:lnTo>
                <a:lnTo>
                  <a:pt x="301" y="12"/>
                </a:lnTo>
                <a:lnTo>
                  <a:pt x="304" y="17"/>
                </a:lnTo>
                <a:lnTo>
                  <a:pt x="307" y="15"/>
                </a:lnTo>
                <a:lnTo>
                  <a:pt x="310" y="19"/>
                </a:lnTo>
                <a:lnTo>
                  <a:pt x="313" y="34"/>
                </a:lnTo>
                <a:lnTo>
                  <a:pt x="316" y="44"/>
                </a:lnTo>
                <a:lnTo>
                  <a:pt x="319" y="40"/>
                </a:lnTo>
                <a:lnTo>
                  <a:pt x="322" y="34"/>
                </a:lnTo>
                <a:lnTo>
                  <a:pt x="325" y="35"/>
                </a:lnTo>
                <a:lnTo>
                  <a:pt x="328" y="31"/>
                </a:lnTo>
                <a:lnTo>
                  <a:pt x="331" y="19"/>
                </a:lnTo>
                <a:lnTo>
                  <a:pt x="334" y="16"/>
                </a:lnTo>
                <a:lnTo>
                  <a:pt x="337" y="23"/>
                </a:lnTo>
                <a:lnTo>
                  <a:pt x="340" y="26"/>
                </a:lnTo>
                <a:lnTo>
                  <a:pt x="343" y="17"/>
                </a:lnTo>
                <a:lnTo>
                  <a:pt x="346" y="12"/>
                </a:lnTo>
                <a:lnTo>
                  <a:pt x="349" y="14"/>
                </a:lnTo>
                <a:lnTo>
                  <a:pt x="352" y="11"/>
                </a:lnTo>
                <a:lnTo>
                  <a:pt x="355" y="3"/>
                </a:lnTo>
                <a:lnTo>
                  <a:pt x="358" y="7"/>
                </a:lnTo>
                <a:lnTo>
                  <a:pt x="361" y="23"/>
                </a:lnTo>
                <a:lnTo>
                  <a:pt x="364" y="32"/>
                </a:lnTo>
                <a:lnTo>
                  <a:pt x="367" y="31"/>
                </a:lnTo>
                <a:lnTo>
                  <a:pt x="370" y="35"/>
                </a:lnTo>
                <a:lnTo>
                  <a:pt x="373" y="41"/>
                </a:lnTo>
                <a:lnTo>
                  <a:pt x="376" y="36"/>
                </a:lnTo>
                <a:lnTo>
                  <a:pt x="379" y="24"/>
                </a:lnTo>
                <a:lnTo>
                  <a:pt x="382" y="24"/>
                </a:lnTo>
                <a:lnTo>
                  <a:pt x="385" y="31"/>
                </a:lnTo>
                <a:lnTo>
                  <a:pt x="388" y="30"/>
                </a:lnTo>
              </a:path>
            </a:pathLst>
          </a:custGeom>
          <a:noFill/>
          <a:ln w="9144">
            <a:solidFill>
              <a:srgbClr val="7C8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runc_left_mask"/>
          <p:cNvSpPr/>
          <p:nvPr/>
        </p:nvSpPr>
        <p:spPr>
          <a:xfrm>
            <a:off x="914400" y="1226820"/>
            <a:ext cx="2316480" cy="320040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" name="trunc_left_threshold"/>
          <p:cNvCxnSpPr/>
          <p:nvPr/>
        </p:nvCxnSpPr>
        <p:spPr>
          <a:xfrm>
            <a:off x="914400" y="1226820"/>
            <a:ext cx="0" cy="320040"/>
          </a:xfrm>
          <a:prstGeom prst="line">
            <a:avLst/>
          </a:prstGeom>
          <a:ln w="8382">
            <a:solidFill>
              <a:srgbClr val="D62728"/>
            </a:solidFill>
            <a:prstDash val="dash"/>
          </a:ln>
        </p:spPr>
      </p:cxnSp>
      <p:cxnSp>
        <p:nvCxnSpPr>
          <p:cNvPr id="35" name="trunc_left_hatch"/>
          <p:cNvCxnSpPr/>
          <p:nvPr/>
        </p:nvCxnSpPr>
        <p:spPr>
          <a:xfrm flipV="1">
            <a:off x="8991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36" name="trunc_left_hatch"/>
          <p:cNvCxnSpPr/>
          <p:nvPr/>
        </p:nvCxnSpPr>
        <p:spPr>
          <a:xfrm flipV="1">
            <a:off x="9753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37" name="trunc_left_hatch"/>
          <p:cNvCxnSpPr/>
          <p:nvPr/>
        </p:nvCxnSpPr>
        <p:spPr>
          <a:xfrm flipV="1">
            <a:off x="10515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38" name="trunc_left_hatch"/>
          <p:cNvCxnSpPr/>
          <p:nvPr/>
        </p:nvCxnSpPr>
        <p:spPr>
          <a:xfrm flipV="1">
            <a:off x="11277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39" name="trunc_left_hatch"/>
          <p:cNvCxnSpPr/>
          <p:nvPr/>
        </p:nvCxnSpPr>
        <p:spPr>
          <a:xfrm flipV="1">
            <a:off x="12039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40" name="trunc_left_hatch"/>
          <p:cNvCxnSpPr/>
          <p:nvPr/>
        </p:nvCxnSpPr>
        <p:spPr>
          <a:xfrm flipV="1">
            <a:off x="12801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41" name="trunc_left_hatch"/>
          <p:cNvCxnSpPr/>
          <p:nvPr/>
        </p:nvCxnSpPr>
        <p:spPr>
          <a:xfrm flipV="1">
            <a:off x="13563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42" name="trunc_left_hatch"/>
          <p:cNvCxnSpPr/>
          <p:nvPr/>
        </p:nvCxnSpPr>
        <p:spPr>
          <a:xfrm flipV="1">
            <a:off x="14325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43" name="trunc_left_hatch"/>
          <p:cNvCxnSpPr/>
          <p:nvPr/>
        </p:nvCxnSpPr>
        <p:spPr>
          <a:xfrm flipV="1">
            <a:off x="15087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44" name="trunc_left_hatch"/>
          <p:cNvCxnSpPr/>
          <p:nvPr/>
        </p:nvCxnSpPr>
        <p:spPr>
          <a:xfrm flipV="1">
            <a:off x="15849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45" name="trunc_left_hatch"/>
          <p:cNvCxnSpPr/>
          <p:nvPr/>
        </p:nvCxnSpPr>
        <p:spPr>
          <a:xfrm flipV="1">
            <a:off x="1661160" y="1226820"/>
            <a:ext cx="342899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46" name="trunc_left_hatch"/>
          <p:cNvCxnSpPr/>
          <p:nvPr/>
        </p:nvCxnSpPr>
        <p:spPr>
          <a:xfrm flipV="1">
            <a:off x="17373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47" name="trunc_left_hatch"/>
          <p:cNvCxnSpPr/>
          <p:nvPr/>
        </p:nvCxnSpPr>
        <p:spPr>
          <a:xfrm flipV="1">
            <a:off x="18135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48" name="trunc_left_hatch"/>
          <p:cNvCxnSpPr/>
          <p:nvPr/>
        </p:nvCxnSpPr>
        <p:spPr>
          <a:xfrm flipV="1">
            <a:off x="1889759" y="1226820"/>
            <a:ext cx="342901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49" name="trunc_left_hatch"/>
          <p:cNvCxnSpPr/>
          <p:nvPr/>
        </p:nvCxnSpPr>
        <p:spPr>
          <a:xfrm flipV="1">
            <a:off x="19659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50" name="trunc_left_hatch"/>
          <p:cNvCxnSpPr/>
          <p:nvPr/>
        </p:nvCxnSpPr>
        <p:spPr>
          <a:xfrm flipV="1">
            <a:off x="20421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51" name="trunc_left_hatch"/>
          <p:cNvCxnSpPr/>
          <p:nvPr/>
        </p:nvCxnSpPr>
        <p:spPr>
          <a:xfrm flipV="1">
            <a:off x="21183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52" name="trunc_left_hatch"/>
          <p:cNvCxnSpPr/>
          <p:nvPr/>
        </p:nvCxnSpPr>
        <p:spPr>
          <a:xfrm flipV="1">
            <a:off x="21945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53" name="trunc_left_hatch"/>
          <p:cNvCxnSpPr/>
          <p:nvPr/>
        </p:nvCxnSpPr>
        <p:spPr>
          <a:xfrm flipV="1">
            <a:off x="22707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54" name="trunc_left_hatch"/>
          <p:cNvCxnSpPr/>
          <p:nvPr/>
        </p:nvCxnSpPr>
        <p:spPr>
          <a:xfrm flipV="1">
            <a:off x="23469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55" name="trunc_left_hatch"/>
          <p:cNvCxnSpPr/>
          <p:nvPr/>
        </p:nvCxnSpPr>
        <p:spPr>
          <a:xfrm flipV="1">
            <a:off x="24231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56" name="trunc_left_hatch"/>
          <p:cNvCxnSpPr/>
          <p:nvPr/>
        </p:nvCxnSpPr>
        <p:spPr>
          <a:xfrm flipV="1">
            <a:off x="24993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57" name="trunc_left_hatch"/>
          <p:cNvCxnSpPr/>
          <p:nvPr/>
        </p:nvCxnSpPr>
        <p:spPr>
          <a:xfrm flipV="1">
            <a:off x="25755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58" name="trunc_left_hatch"/>
          <p:cNvCxnSpPr/>
          <p:nvPr/>
        </p:nvCxnSpPr>
        <p:spPr>
          <a:xfrm flipV="1">
            <a:off x="26517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59" name="trunc_left_hatch"/>
          <p:cNvCxnSpPr/>
          <p:nvPr/>
        </p:nvCxnSpPr>
        <p:spPr>
          <a:xfrm flipV="1">
            <a:off x="27279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60" name="trunc_left_hatch"/>
          <p:cNvCxnSpPr/>
          <p:nvPr/>
        </p:nvCxnSpPr>
        <p:spPr>
          <a:xfrm flipV="1">
            <a:off x="28041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61" name="trunc_left_hatch"/>
          <p:cNvCxnSpPr/>
          <p:nvPr/>
        </p:nvCxnSpPr>
        <p:spPr>
          <a:xfrm flipV="1">
            <a:off x="28803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62" name="trunc_left_hatch"/>
          <p:cNvCxnSpPr/>
          <p:nvPr/>
        </p:nvCxnSpPr>
        <p:spPr>
          <a:xfrm flipV="1">
            <a:off x="29565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63" name="trunc_left_hatch"/>
          <p:cNvCxnSpPr/>
          <p:nvPr/>
        </p:nvCxnSpPr>
        <p:spPr>
          <a:xfrm flipV="1">
            <a:off x="30327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64" name="trunc_left_hatch"/>
          <p:cNvCxnSpPr/>
          <p:nvPr/>
        </p:nvCxnSpPr>
        <p:spPr>
          <a:xfrm flipV="1">
            <a:off x="31089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65" name="trunc_left_hatch"/>
          <p:cNvCxnSpPr/>
          <p:nvPr/>
        </p:nvCxnSpPr>
        <p:spPr>
          <a:xfrm flipV="1">
            <a:off x="31851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66" name="trunc_left_hatch"/>
          <p:cNvCxnSpPr/>
          <p:nvPr/>
        </p:nvCxnSpPr>
        <p:spPr>
          <a:xfrm flipV="1">
            <a:off x="326136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sp>
        <p:nvSpPr>
          <p:cNvPr id="67" name="trunc_right_frame"/>
          <p:cNvSpPr/>
          <p:nvPr/>
        </p:nvSpPr>
        <p:spPr>
          <a:xfrm>
            <a:off x="3916680" y="1226820"/>
            <a:ext cx="2941320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runc_right_wave"/>
          <p:cNvSpPr/>
          <p:nvPr/>
        </p:nvSpPr>
        <p:spPr>
          <a:xfrm>
            <a:off x="3947160" y="1226820"/>
            <a:ext cx="2910840" cy="327660"/>
          </a:xfrm>
          <a:custGeom>
            <a:avLst/>
            <a:gdLst/>
            <a:ahLst/>
            <a:cxnLst/>
            <a:rect l="l" t="t" r="r" b="b"/>
            <a:pathLst>
              <a:path w="382" h="43">
                <a:moveTo>
                  <a:pt x="0" y="34"/>
                </a:moveTo>
                <a:lnTo>
                  <a:pt x="3" y="33"/>
                </a:lnTo>
                <a:lnTo>
                  <a:pt x="6" y="34"/>
                </a:lnTo>
                <a:lnTo>
                  <a:pt x="9" y="24"/>
                </a:lnTo>
                <a:lnTo>
                  <a:pt x="12" y="15"/>
                </a:lnTo>
                <a:lnTo>
                  <a:pt x="15" y="19"/>
                </a:lnTo>
                <a:lnTo>
                  <a:pt x="18" y="26"/>
                </a:lnTo>
                <a:lnTo>
                  <a:pt x="21" y="20"/>
                </a:lnTo>
                <a:lnTo>
                  <a:pt x="24" y="12"/>
                </a:lnTo>
                <a:lnTo>
                  <a:pt x="27" y="12"/>
                </a:lnTo>
                <a:lnTo>
                  <a:pt x="30" y="12"/>
                </a:lnTo>
                <a:lnTo>
                  <a:pt x="33" y="3"/>
                </a:lnTo>
                <a:lnTo>
                  <a:pt x="36" y="1"/>
                </a:lnTo>
                <a:lnTo>
                  <a:pt x="39" y="14"/>
                </a:lnTo>
                <a:lnTo>
                  <a:pt x="42" y="26"/>
                </a:lnTo>
                <a:lnTo>
                  <a:pt x="45" y="28"/>
                </a:lnTo>
                <a:lnTo>
                  <a:pt x="48" y="30"/>
                </a:lnTo>
                <a:lnTo>
                  <a:pt x="51" y="38"/>
                </a:lnTo>
                <a:lnTo>
                  <a:pt x="54" y="36"/>
                </a:lnTo>
                <a:lnTo>
                  <a:pt x="57" y="25"/>
                </a:lnTo>
                <a:lnTo>
                  <a:pt x="60" y="22"/>
                </a:lnTo>
                <a:lnTo>
                  <a:pt x="63" y="29"/>
                </a:lnTo>
                <a:lnTo>
                  <a:pt x="66" y="31"/>
                </a:lnTo>
                <a:lnTo>
                  <a:pt x="69" y="23"/>
                </a:lnTo>
                <a:lnTo>
                  <a:pt x="72" y="22"/>
                </a:lnTo>
                <a:lnTo>
                  <a:pt x="75" y="24"/>
                </a:lnTo>
                <a:lnTo>
                  <a:pt x="78" y="14"/>
                </a:lnTo>
                <a:lnTo>
                  <a:pt x="81" y="0"/>
                </a:lnTo>
                <a:lnTo>
                  <a:pt x="84" y="0"/>
                </a:lnTo>
                <a:lnTo>
                  <a:pt x="87" y="9"/>
                </a:lnTo>
                <a:lnTo>
                  <a:pt x="90" y="12"/>
                </a:lnTo>
                <a:lnTo>
                  <a:pt x="93" y="14"/>
                </a:lnTo>
                <a:lnTo>
                  <a:pt x="96" y="25"/>
                </a:lnTo>
                <a:lnTo>
                  <a:pt x="99" y="34"/>
                </a:lnTo>
                <a:lnTo>
                  <a:pt x="102" y="29"/>
                </a:lnTo>
                <a:lnTo>
                  <a:pt x="105" y="22"/>
                </a:lnTo>
                <a:lnTo>
                  <a:pt x="108" y="26"/>
                </a:lnTo>
                <a:lnTo>
                  <a:pt x="111" y="33"/>
                </a:lnTo>
                <a:lnTo>
                  <a:pt x="114" y="30"/>
                </a:lnTo>
                <a:lnTo>
                  <a:pt x="117" y="28"/>
                </a:lnTo>
                <a:lnTo>
                  <a:pt x="120" y="35"/>
                </a:lnTo>
                <a:lnTo>
                  <a:pt x="123" y="34"/>
                </a:lnTo>
                <a:lnTo>
                  <a:pt x="126" y="20"/>
                </a:lnTo>
                <a:lnTo>
                  <a:pt x="129" y="8"/>
                </a:lnTo>
                <a:lnTo>
                  <a:pt x="132" y="8"/>
                </a:lnTo>
                <a:lnTo>
                  <a:pt x="135" y="7"/>
                </a:lnTo>
                <a:lnTo>
                  <a:pt x="138" y="2"/>
                </a:lnTo>
                <a:lnTo>
                  <a:pt x="141" y="7"/>
                </a:lnTo>
                <a:lnTo>
                  <a:pt x="144" y="21"/>
                </a:lnTo>
                <a:lnTo>
                  <a:pt x="147" y="25"/>
                </a:lnTo>
                <a:lnTo>
                  <a:pt x="150" y="18"/>
                </a:lnTo>
                <a:lnTo>
                  <a:pt x="153" y="19"/>
                </a:lnTo>
                <a:lnTo>
                  <a:pt x="156" y="26"/>
                </a:lnTo>
                <a:lnTo>
                  <a:pt x="159" y="26"/>
                </a:lnTo>
                <a:lnTo>
                  <a:pt x="162" y="23"/>
                </a:lnTo>
                <a:lnTo>
                  <a:pt x="165" y="32"/>
                </a:lnTo>
                <a:lnTo>
                  <a:pt x="168" y="43"/>
                </a:lnTo>
                <a:lnTo>
                  <a:pt x="171" y="39"/>
                </a:lnTo>
                <a:lnTo>
                  <a:pt x="174" y="27"/>
                </a:lnTo>
                <a:lnTo>
                  <a:pt x="177" y="23"/>
                </a:lnTo>
                <a:lnTo>
                  <a:pt x="180" y="20"/>
                </a:lnTo>
                <a:lnTo>
                  <a:pt x="183" y="9"/>
                </a:lnTo>
                <a:lnTo>
                  <a:pt x="186" y="1"/>
                </a:lnTo>
                <a:lnTo>
                  <a:pt x="189" y="9"/>
                </a:lnTo>
                <a:lnTo>
                  <a:pt x="193" y="18"/>
                </a:lnTo>
                <a:lnTo>
                  <a:pt x="196" y="15"/>
                </a:lnTo>
                <a:lnTo>
                  <a:pt x="199" y="11"/>
                </a:lnTo>
                <a:lnTo>
                  <a:pt x="202" y="17"/>
                </a:lnTo>
                <a:lnTo>
                  <a:pt x="205" y="19"/>
                </a:lnTo>
                <a:lnTo>
                  <a:pt x="208" y="14"/>
                </a:lnTo>
                <a:lnTo>
                  <a:pt x="211" y="15"/>
                </a:lnTo>
                <a:lnTo>
                  <a:pt x="214" y="30"/>
                </a:lnTo>
                <a:lnTo>
                  <a:pt x="217" y="40"/>
                </a:lnTo>
                <a:lnTo>
                  <a:pt x="220" y="37"/>
                </a:lnTo>
                <a:lnTo>
                  <a:pt x="223" y="35"/>
                </a:lnTo>
                <a:lnTo>
                  <a:pt x="226" y="37"/>
                </a:lnTo>
                <a:lnTo>
                  <a:pt x="229" y="30"/>
                </a:lnTo>
                <a:lnTo>
                  <a:pt x="232" y="14"/>
                </a:lnTo>
                <a:lnTo>
                  <a:pt x="235" y="10"/>
                </a:lnTo>
                <a:lnTo>
                  <a:pt x="238" y="17"/>
                </a:lnTo>
                <a:lnTo>
                  <a:pt x="241" y="17"/>
                </a:lnTo>
                <a:lnTo>
                  <a:pt x="244" y="11"/>
                </a:lnTo>
                <a:lnTo>
                  <a:pt x="247" y="13"/>
                </a:lnTo>
                <a:lnTo>
                  <a:pt x="250" y="18"/>
                </a:lnTo>
                <a:lnTo>
                  <a:pt x="253" y="11"/>
                </a:lnTo>
                <a:lnTo>
                  <a:pt x="256" y="3"/>
                </a:lnTo>
                <a:lnTo>
                  <a:pt x="259" y="9"/>
                </a:lnTo>
                <a:lnTo>
                  <a:pt x="262" y="22"/>
                </a:lnTo>
                <a:lnTo>
                  <a:pt x="265" y="27"/>
                </a:lnTo>
                <a:lnTo>
                  <a:pt x="268" y="29"/>
                </a:lnTo>
                <a:lnTo>
                  <a:pt x="271" y="39"/>
                </a:lnTo>
                <a:lnTo>
                  <a:pt x="274" y="43"/>
                </a:lnTo>
                <a:lnTo>
                  <a:pt x="277" y="33"/>
                </a:lnTo>
                <a:lnTo>
                  <a:pt x="280" y="22"/>
                </a:lnTo>
                <a:lnTo>
                  <a:pt x="283" y="23"/>
                </a:lnTo>
                <a:lnTo>
                  <a:pt x="286" y="25"/>
                </a:lnTo>
                <a:lnTo>
                  <a:pt x="289" y="18"/>
                </a:lnTo>
                <a:lnTo>
                  <a:pt x="292" y="16"/>
                </a:lnTo>
                <a:lnTo>
                  <a:pt x="295" y="22"/>
                </a:lnTo>
                <a:lnTo>
                  <a:pt x="298" y="20"/>
                </a:lnTo>
                <a:lnTo>
                  <a:pt x="301" y="7"/>
                </a:lnTo>
                <a:lnTo>
                  <a:pt x="304" y="1"/>
                </a:lnTo>
                <a:lnTo>
                  <a:pt x="307" y="7"/>
                </a:lnTo>
                <a:lnTo>
                  <a:pt x="310" y="11"/>
                </a:lnTo>
                <a:lnTo>
                  <a:pt x="313" y="11"/>
                </a:lnTo>
                <a:lnTo>
                  <a:pt x="316" y="20"/>
                </a:lnTo>
                <a:lnTo>
                  <a:pt x="319" y="36"/>
                </a:lnTo>
                <a:lnTo>
                  <a:pt x="322" y="38"/>
                </a:lnTo>
                <a:lnTo>
                  <a:pt x="325" y="30"/>
                </a:lnTo>
                <a:lnTo>
                  <a:pt x="328" y="28"/>
                </a:lnTo>
                <a:lnTo>
                  <a:pt x="331" y="32"/>
                </a:lnTo>
                <a:lnTo>
                  <a:pt x="334" y="27"/>
                </a:lnTo>
                <a:lnTo>
                  <a:pt x="337" y="21"/>
                </a:lnTo>
                <a:lnTo>
                  <a:pt x="340" y="26"/>
                </a:lnTo>
                <a:lnTo>
                  <a:pt x="343" y="32"/>
                </a:lnTo>
                <a:lnTo>
                  <a:pt x="346" y="25"/>
                </a:lnTo>
                <a:lnTo>
                  <a:pt x="349" y="12"/>
                </a:lnTo>
                <a:lnTo>
                  <a:pt x="352" y="9"/>
                </a:lnTo>
                <a:lnTo>
                  <a:pt x="355" y="9"/>
                </a:lnTo>
                <a:lnTo>
                  <a:pt x="358" y="2"/>
                </a:lnTo>
                <a:lnTo>
                  <a:pt x="361" y="0"/>
                </a:lnTo>
                <a:lnTo>
                  <a:pt x="364" y="14"/>
                </a:lnTo>
                <a:lnTo>
                  <a:pt x="367" y="26"/>
                </a:lnTo>
                <a:lnTo>
                  <a:pt x="370" y="26"/>
                </a:lnTo>
                <a:lnTo>
                  <a:pt x="373" y="24"/>
                </a:lnTo>
                <a:lnTo>
                  <a:pt x="376" y="31"/>
                </a:lnTo>
                <a:lnTo>
                  <a:pt x="379" y="31"/>
                </a:lnTo>
                <a:lnTo>
                  <a:pt x="382" y="24"/>
                </a:lnTo>
              </a:path>
            </a:pathLst>
          </a:custGeom>
          <a:noFill/>
          <a:ln w="9144">
            <a:solidFill>
              <a:srgbClr val="7C8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runc_right_mask"/>
          <p:cNvSpPr/>
          <p:nvPr/>
        </p:nvSpPr>
        <p:spPr>
          <a:xfrm>
            <a:off x="4084320" y="1226820"/>
            <a:ext cx="1242060" cy="320040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0" name="trunc_right_threshold"/>
          <p:cNvCxnSpPr/>
          <p:nvPr/>
        </p:nvCxnSpPr>
        <p:spPr>
          <a:xfrm>
            <a:off x="5326380" y="1226820"/>
            <a:ext cx="0" cy="320040"/>
          </a:xfrm>
          <a:prstGeom prst="line">
            <a:avLst/>
          </a:prstGeom>
          <a:ln w="8382">
            <a:solidFill>
              <a:srgbClr val="D62728"/>
            </a:solidFill>
            <a:prstDash val="dash"/>
          </a:ln>
        </p:spPr>
      </p:cxnSp>
      <p:cxnSp>
        <p:nvCxnSpPr>
          <p:cNvPr id="71" name="trunc_right_hatch"/>
          <p:cNvCxnSpPr/>
          <p:nvPr/>
        </p:nvCxnSpPr>
        <p:spPr>
          <a:xfrm flipV="1">
            <a:off x="4008119" y="1226820"/>
            <a:ext cx="342901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72" name="trunc_right_hatch"/>
          <p:cNvCxnSpPr/>
          <p:nvPr/>
        </p:nvCxnSpPr>
        <p:spPr>
          <a:xfrm flipV="1">
            <a:off x="408432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73" name="trunc_right_hatch"/>
          <p:cNvCxnSpPr/>
          <p:nvPr/>
        </p:nvCxnSpPr>
        <p:spPr>
          <a:xfrm flipV="1">
            <a:off x="416052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74" name="trunc_right_hatch"/>
          <p:cNvCxnSpPr/>
          <p:nvPr/>
        </p:nvCxnSpPr>
        <p:spPr>
          <a:xfrm flipV="1">
            <a:off x="423672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75" name="trunc_right_hatch"/>
          <p:cNvCxnSpPr/>
          <p:nvPr/>
        </p:nvCxnSpPr>
        <p:spPr>
          <a:xfrm flipV="1">
            <a:off x="431292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76" name="trunc_right_hatch"/>
          <p:cNvCxnSpPr/>
          <p:nvPr/>
        </p:nvCxnSpPr>
        <p:spPr>
          <a:xfrm flipV="1">
            <a:off x="438912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77" name="trunc_right_hatch"/>
          <p:cNvCxnSpPr/>
          <p:nvPr/>
        </p:nvCxnSpPr>
        <p:spPr>
          <a:xfrm flipV="1">
            <a:off x="446532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78" name="trunc_right_hatch"/>
          <p:cNvCxnSpPr/>
          <p:nvPr/>
        </p:nvCxnSpPr>
        <p:spPr>
          <a:xfrm flipV="1">
            <a:off x="454152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79" name="trunc_right_hatch"/>
          <p:cNvCxnSpPr/>
          <p:nvPr/>
        </p:nvCxnSpPr>
        <p:spPr>
          <a:xfrm flipV="1">
            <a:off x="461772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80" name="trunc_right_hatch"/>
          <p:cNvCxnSpPr/>
          <p:nvPr/>
        </p:nvCxnSpPr>
        <p:spPr>
          <a:xfrm flipV="1">
            <a:off x="469392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81" name="trunc_right_hatch"/>
          <p:cNvCxnSpPr/>
          <p:nvPr/>
        </p:nvCxnSpPr>
        <p:spPr>
          <a:xfrm flipV="1">
            <a:off x="477012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82" name="trunc_right_hatch"/>
          <p:cNvCxnSpPr/>
          <p:nvPr/>
        </p:nvCxnSpPr>
        <p:spPr>
          <a:xfrm flipV="1">
            <a:off x="484632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83" name="trunc_right_hatch"/>
          <p:cNvCxnSpPr/>
          <p:nvPr/>
        </p:nvCxnSpPr>
        <p:spPr>
          <a:xfrm flipV="1">
            <a:off x="492252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84" name="trunc_right_hatch"/>
          <p:cNvCxnSpPr/>
          <p:nvPr/>
        </p:nvCxnSpPr>
        <p:spPr>
          <a:xfrm flipV="1">
            <a:off x="499872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85" name="trunc_right_hatch"/>
          <p:cNvCxnSpPr/>
          <p:nvPr/>
        </p:nvCxnSpPr>
        <p:spPr>
          <a:xfrm flipV="1">
            <a:off x="507492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86" name="trunc_right_hatch"/>
          <p:cNvCxnSpPr/>
          <p:nvPr/>
        </p:nvCxnSpPr>
        <p:spPr>
          <a:xfrm flipV="1">
            <a:off x="515112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87" name="trunc_right_hatch"/>
          <p:cNvCxnSpPr/>
          <p:nvPr/>
        </p:nvCxnSpPr>
        <p:spPr>
          <a:xfrm flipV="1">
            <a:off x="522732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88" name="trunc_right_hatch"/>
          <p:cNvCxnSpPr/>
          <p:nvPr/>
        </p:nvCxnSpPr>
        <p:spPr>
          <a:xfrm flipV="1">
            <a:off x="530352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cxnSp>
        <p:nvCxnSpPr>
          <p:cNvPr id="89" name="trunc_right_hatch"/>
          <p:cNvCxnSpPr/>
          <p:nvPr/>
        </p:nvCxnSpPr>
        <p:spPr>
          <a:xfrm flipV="1">
            <a:off x="5379720" y="1226820"/>
            <a:ext cx="342900" cy="304800"/>
          </a:xfrm>
          <a:prstGeom prst="line">
            <a:avLst/>
          </a:prstGeom>
          <a:ln w="4953">
            <a:solidFill>
              <a:srgbClr val="777777"/>
            </a:solidFill>
          </a:ln>
        </p:spPr>
      </p:cxnSp>
      <p:sp>
        <p:nvSpPr>
          <p:cNvPr id="90" name="text_88"/>
          <p:cNvSpPr txBox="1"/>
          <p:nvPr/>
        </p:nvSpPr>
        <p:spPr>
          <a:xfrm>
            <a:off x="1645920" y="1242060"/>
            <a:ext cx="137160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erif"/>
              </a:defRPr>
            </a:pPr>
            <a:r>
              <a:t>Truncate</a:t>
            </a:r>
          </a:p>
        </p:txBody>
      </p:sp>
      <p:sp>
        <p:nvSpPr>
          <p:cNvPr id="91" name="text_89"/>
          <p:cNvSpPr txBox="1"/>
          <p:nvPr/>
        </p:nvSpPr>
        <p:spPr>
          <a:xfrm>
            <a:off x="4130040" y="1242060"/>
            <a:ext cx="137160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erif"/>
              </a:defRPr>
            </a:pPr>
            <a:r>
              <a:t>Truncate</a:t>
            </a:r>
          </a:p>
        </p:txBody>
      </p:sp>
      <p:sp>
        <p:nvSpPr>
          <p:cNvPr id="92" name="text_90"/>
          <p:cNvSpPr txBox="1"/>
          <p:nvPr/>
        </p:nvSpPr>
        <p:spPr>
          <a:xfrm>
            <a:off x="1943100" y="1562100"/>
            <a:ext cx="1447800" cy="220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erif"/>
              </a:defRPr>
            </a:pPr>
            <a:r>
              <a:t>Hybrid Frequency Input</a:t>
            </a:r>
          </a:p>
        </p:txBody>
      </p:sp>
      <p:sp>
        <p:nvSpPr>
          <p:cNvPr id="93" name="rich_91"/>
          <p:cNvSpPr txBox="1"/>
          <p:nvPr/>
        </p:nvSpPr>
        <p:spPr>
          <a:xfrm>
            <a:off x="3406140" y="1562100"/>
            <a:ext cx="411480" cy="220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40" b="0" i="1">
                <a:solidFill>
                  <a:srgbClr val="D62728"/>
                </a:solidFill>
                <a:latin typeface="Liberation Serif"/>
              </a:rPr>
              <a:t>x</a:t>
            </a:r>
            <a:r>
              <a:rPr sz="775" b="0" i="1" baseline="-22000">
                <a:solidFill>
                  <a:srgbClr val="D62728"/>
                </a:solidFill>
                <a:latin typeface="Liberation Serif"/>
              </a:rPr>
              <a:t>aug</a:t>
            </a:r>
          </a:p>
        </p:txBody>
      </p:sp>
      <p:sp>
        <p:nvSpPr>
          <p:cNvPr id="94" name="text_92"/>
          <p:cNvSpPr txBox="1"/>
          <p:nvPr/>
        </p:nvSpPr>
        <p:spPr>
          <a:xfrm>
            <a:off x="3779519" y="1562100"/>
            <a:ext cx="929640" cy="220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erif"/>
              </a:defRPr>
            </a:pPr>
            <a:r>
              <a:t>with Raw Input</a:t>
            </a:r>
          </a:p>
        </p:txBody>
      </p:sp>
      <p:sp>
        <p:nvSpPr>
          <p:cNvPr id="95" name="rich_93"/>
          <p:cNvSpPr txBox="1"/>
          <p:nvPr/>
        </p:nvSpPr>
        <p:spPr>
          <a:xfrm>
            <a:off x="4716780" y="1562100"/>
            <a:ext cx="365760" cy="220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40" b="0" i="1">
                <a:solidFill>
                  <a:srgbClr val="D62728"/>
                </a:solidFill>
                <a:latin typeface="Liberation Serif"/>
              </a:rPr>
              <a:t>x</a:t>
            </a:r>
            <a:r>
              <a:rPr sz="775" b="0" i="1" baseline="-22000">
                <a:solidFill>
                  <a:srgbClr val="D62728"/>
                </a:solidFill>
                <a:latin typeface="Liberation Serif"/>
              </a:rPr>
              <a:t>e</a:t>
            </a:r>
          </a:p>
        </p:txBody>
      </p:sp>
      <p:cxnSp>
        <p:nvCxnSpPr>
          <p:cNvPr id="96" name="ifft_left_arrow"/>
          <p:cNvCxnSpPr/>
          <p:nvPr/>
        </p:nvCxnSpPr>
        <p:spPr>
          <a:xfrm>
            <a:off x="1676400" y="1546860"/>
            <a:ext cx="0" cy="243840"/>
          </a:xfrm>
          <a:prstGeom prst="line">
            <a:avLst/>
          </a:prstGeom>
          <a:ln w="30480">
            <a:solidFill>
              <a:srgbClr val="ED7D31"/>
            </a:solidFill>
            <a:tailEnd type="triangle" w="sm" len="sm"/>
          </a:ln>
        </p:spPr>
      </p:cxnSp>
      <p:cxnSp>
        <p:nvCxnSpPr>
          <p:cNvPr id="97" name="ifft_right_arrow"/>
          <p:cNvCxnSpPr/>
          <p:nvPr/>
        </p:nvCxnSpPr>
        <p:spPr>
          <a:xfrm>
            <a:off x="5334000" y="1546860"/>
            <a:ext cx="0" cy="243840"/>
          </a:xfrm>
          <a:prstGeom prst="line">
            <a:avLst/>
          </a:prstGeom>
          <a:ln w="30480">
            <a:solidFill>
              <a:srgbClr val="ED7D31"/>
            </a:solidFill>
            <a:tailEnd type="triangle" w="sm" len="sm"/>
          </a:ln>
        </p:spPr>
      </p:cxnSp>
      <p:sp>
        <p:nvSpPr>
          <p:cNvPr id="98" name="text_96"/>
          <p:cNvSpPr txBox="1"/>
          <p:nvPr/>
        </p:nvSpPr>
        <p:spPr>
          <a:xfrm>
            <a:off x="1097280" y="1562100"/>
            <a:ext cx="53340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1">
                <a:solidFill>
                  <a:srgbClr val="ED7D31"/>
                </a:solidFill>
                <a:latin typeface="Liberation Serif"/>
              </a:defRPr>
            </a:pPr>
            <a:r>
              <a:t>iFFT</a:t>
            </a:r>
          </a:p>
        </p:txBody>
      </p:sp>
      <p:sp>
        <p:nvSpPr>
          <p:cNvPr id="99" name="text_97"/>
          <p:cNvSpPr txBox="1"/>
          <p:nvPr/>
        </p:nvSpPr>
        <p:spPr>
          <a:xfrm>
            <a:off x="5455920" y="1562100"/>
            <a:ext cx="53340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1">
                <a:solidFill>
                  <a:srgbClr val="ED7D31"/>
                </a:solidFill>
                <a:latin typeface="Liberation Serif"/>
              </a:defRPr>
            </a:pPr>
            <a:r>
              <a:t>iFFT</a:t>
            </a:r>
          </a:p>
        </p:txBody>
      </p:sp>
      <p:sp>
        <p:nvSpPr>
          <p:cNvPr id="100" name="hybrid_strip"/>
          <p:cNvSpPr/>
          <p:nvPr/>
        </p:nvSpPr>
        <p:spPr>
          <a:xfrm>
            <a:off x="259080" y="1798320"/>
            <a:ext cx="6598920" cy="37338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hybrid_frame_0"/>
          <p:cNvSpPr/>
          <p:nvPr/>
        </p:nvSpPr>
        <p:spPr>
          <a:xfrm>
            <a:off x="320040" y="1844040"/>
            <a:ext cx="1539240" cy="289560"/>
          </a:xfrm>
          <a:prstGeom prst="rect">
            <a:avLst/>
          </a:prstGeom>
          <a:solidFill>
            <a:srgbClr val="FFFFFF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hybrid_wave_0"/>
          <p:cNvSpPr/>
          <p:nvPr/>
        </p:nvSpPr>
        <p:spPr>
          <a:xfrm>
            <a:off x="358140" y="1859280"/>
            <a:ext cx="1463040" cy="243840"/>
          </a:xfrm>
          <a:custGeom>
            <a:avLst/>
            <a:gdLst/>
            <a:ahLst/>
            <a:cxnLst/>
            <a:rect l="l" t="t" r="r" b="b"/>
            <a:pathLst>
              <a:path w="192" h="32">
                <a:moveTo>
                  <a:pt x="0" y="11"/>
                </a:moveTo>
                <a:lnTo>
                  <a:pt x="3" y="13"/>
                </a:lnTo>
                <a:lnTo>
                  <a:pt x="6" y="32"/>
                </a:lnTo>
                <a:lnTo>
                  <a:pt x="9" y="8"/>
                </a:lnTo>
                <a:lnTo>
                  <a:pt x="12" y="10"/>
                </a:lnTo>
                <a:lnTo>
                  <a:pt x="15" y="29"/>
                </a:lnTo>
                <a:lnTo>
                  <a:pt x="18" y="15"/>
                </a:lnTo>
                <a:lnTo>
                  <a:pt x="21" y="13"/>
                </a:lnTo>
                <a:lnTo>
                  <a:pt x="24" y="19"/>
                </a:lnTo>
                <a:lnTo>
                  <a:pt x="27" y="15"/>
                </a:lnTo>
                <a:lnTo>
                  <a:pt x="30" y="20"/>
                </a:lnTo>
                <a:lnTo>
                  <a:pt x="33" y="21"/>
                </a:lnTo>
                <a:lnTo>
                  <a:pt x="36" y="9"/>
                </a:lnTo>
                <a:lnTo>
                  <a:pt x="39" y="16"/>
                </a:lnTo>
                <a:lnTo>
                  <a:pt x="42" y="30"/>
                </a:lnTo>
                <a:lnTo>
                  <a:pt x="45" y="10"/>
                </a:lnTo>
                <a:lnTo>
                  <a:pt x="48" y="9"/>
                </a:lnTo>
                <a:lnTo>
                  <a:pt x="51" y="28"/>
                </a:lnTo>
                <a:lnTo>
                  <a:pt x="54" y="13"/>
                </a:lnTo>
                <a:lnTo>
                  <a:pt x="57" y="17"/>
                </a:lnTo>
                <a:lnTo>
                  <a:pt x="60" y="21"/>
                </a:lnTo>
                <a:lnTo>
                  <a:pt x="63" y="5"/>
                </a:lnTo>
                <a:lnTo>
                  <a:pt x="66" y="28"/>
                </a:lnTo>
                <a:lnTo>
                  <a:pt x="69" y="23"/>
                </a:lnTo>
                <a:lnTo>
                  <a:pt x="72" y="0"/>
                </a:lnTo>
                <a:lnTo>
                  <a:pt x="75" y="26"/>
                </a:lnTo>
                <a:lnTo>
                  <a:pt x="78" y="23"/>
                </a:lnTo>
                <a:lnTo>
                  <a:pt x="81" y="9"/>
                </a:lnTo>
                <a:lnTo>
                  <a:pt x="84" y="22"/>
                </a:lnTo>
                <a:lnTo>
                  <a:pt x="87" y="13"/>
                </a:lnTo>
                <a:lnTo>
                  <a:pt x="90" y="16"/>
                </a:lnTo>
                <a:lnTo>
                  <a:pt x="93" y="26"/>
                </a:lnTo>
                <a:lnTo>
                  <a:pt x="96" y="10"/>
                </a:lnTo>
                <a:lnTo>
                  <a:pt x="99" y="11"/>
                </a:lnTo>
                <a:lnTo>
                  <a:pt x="102" y="27"/>
                </a:lnTo>
                <a:lnTo>
                  <a:pt x="105" y="18"/>
                </a:lnTo>
                <a:lnTo>
                  <a:pt x="108" y="8"/>
                </a:lnTo>
                <a:lnTo>
                  <a:pt x="111" y="20"/>
                </a:lnTo>
                <a:lnTo>
                  <a:pt x="114" y="20"/>
                </a:lnTo>
                <a:lnTo>
                  <a:pt x="117" y="14"/>
                </a:lnTo>
                <a:lnTo>
                  <a:pt x="120" y="22"/>
                </a:lnTo>
                <a:lnTo>
                  <a:pt x="123" y="10"/>
                </a:lnTo>
                <a:lnTo>
                  <a:pt x="126" y="14"/>
                </a:lnTo>
                <a:lnTo>
                  <a:pt x="129" y="32"/>
                </a:lnTo>
                <a:lnTo>
                  <a:pt x="132" y="6"/>
                </a:lnTo>
                <a:lnTo>
                  <a:pt x="135" y="10"/>
                </a:lnTo>
                <a:lnTo>
                  <a:pt x="138" y="32"/>
                </a:lnTo>
                <a:lnTo>
                  <a:pt x="141" y="10"/>
                </a:lnTo>
                <a:lnTo>
                  <a:pt x="144" y="16"/>
                </a:lnTo>
                <a:lnTo>
                  <a:pt x="147" y="21"/>
                </a:lnTo>
                <a:lnTo>
                  <a:pt x="150" y="7"/>
                </a:lnTo>
                <a:lnTo>
                  <a:pt x="153" y="27"/>
                </a:lnTo>
                <a:lnTo>
                  <a:pt x="156" y="19"/>
                </a:lnTo>
                <a:lnTo>
                  <a:pt x="159" y="3"/>
                </a:lnTo>
                <a:lnTo>
                  <a:pt x="162" y="25"/>
                </a:lnTo>
                <a:lnTo>
                  <a:pt x="165" y="23"/>
                </a:lnTo>
                <a:lnTo>
                  <a:pt x="168" y="9"/>
                </a:lnTo>
                <a:lnTo>
                  <a:pt x="171" y="17"/>
                </a:lnTo>
                <a:lnTo>
                  <a:pt x="174" y="19"/>
                </a:lnTo>
                <a:lnTo>
                  <a:pt x="177" y="17"/>
                </a:lnTo>
                <a:lnTo>
                  <a:pt x="180" y="21"/>
                </a:lnTo>
                <a:lnTo>
                  <a:pt x="183" y="14"/>
                </a:lnTo>
                <a:lnTo>
                  <a:pt x="186" y="10"/>
                </a:lnTo>
                <a:lnTo>
                  <a:pt x="189" y="27"/>
                </a:lnTo>
                <a:lnTo>
                  <a:pt x="192" y="20"/>
                </a:lnTo>
              </a:path>
            </a:pathLst>
          </a:custGeom>
          <a:noFill/>
          <a:ln w="8763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hybrid_frame_1"/>
          <p:cNvSpPr/>
          <p:nvPr/>
        </p:nvSpPr>
        <p:spPr>
          <a:xfrm>
            <a:off x="1912620" y="1844040"/>
            <a:ext cx="1562100" cy="289560"/>
          </a:xfrm>
          <a:prstGeom prst="rect">
            <a:avLst/>
          </a:prstGeom>
          <a:solidFill>
            <a:srgbClr val="FFFFFF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hybrid_wave_1"/>
          <p:cNvSpPr/>
          <p:nvPr/>
        </p:nvSpPr>
        <p:spPr>
          <a:xfrm>
            <a:off x="1950720" y="1866900"/>
            <a:ext cx="1485900" cy="243840"/>
          </a:xfrm>
          <a:custGeom>
            <a:avLst/>
            <a:gdLst/>
            <a:ahLst/>
            <a:cxnLst/>
            <a:rect l="l" t="t" r="r" b="b"/>
            <a:pathLst>
              <a:path w="195" h="32">
                <a:moveTo>
                  <a:pt x="0" y="3"/>
                </a:moveTo>
                <a:lnTo>
                  <a:pt x="3" y="8"/>
                </a:lnTo>
                <a:lnTo>
                  <a:pt x="6" y="17"/>
                </a:lnTo>
                <a:lnTo>
                  <a:pt x="9" y="13"/>
                </a:lnTo>
                <a:lnTo>
                  <a:pt x="12" y="23"/>
                </a:lnTo>
                <a:lnTo>
                  <a:pt x="15" y="28"/>
                </a:lnTo>
                <a:lnTo>
                  <a:pt x="18" y="14"/>
                </a:lnTo>
                <a:lnTo>
                  <a:pt x="21" y="8"/>
                </a:lnTo>
                <a:lnTo>
                  <a:pt x="24" y="8"/>
                </a:lnTo>
                <a:lnTo>
                  <a:pt x="27" y="12"/>
                </a:lnTo>
                <a:lnTo>
                  <a:pt x="30" y="26"/>
                </a:lnTo>
                <a:lnTo>
                  <a:pt x="33" y="24"/>
                </a:lnTo>
                <a:lnTo>
                  <a:pt x="36" y="16"/>
                </a:lnTo>
                <a:lnTo>
                  <a:pt x="39" y="18"/>
                </a:lnTo>
                <a:lnTo>
                  <a:pt x="42" y="7"/>
                </a:lnTo>
                <a:lnTo>
                  <a:pt x="45" y="2"/>
                </a:lnTo>
                <a:lnTo>
                  <a:pt x="48" y="24"/>
                </a:lnTo>
                <a:lnTo>
                  <a:pt x="51" y="28"/>
                </a:lnTo>
                <a:lnTo>
                  <a:pt x="54" y="16"/>
                </a:lnTo>
                <a:lnTo>
                  <a:pt x="57" y="19"/>
                </a:lnTo>
                <a:lnTo>
                  <a:pt x="60" y="12"/>
                </a:lnTo>
                <a:lnTo>
                  <a:pt x="63" y="3"/>
                </a:lnTo>
                <a:lnTo>
                  <a:pt x="66" y="15"/>
                </a:lnTo>
                <a:lnTo>
                  <a:pt x="69" y="24"/>
                </a:lnTo>
                <a:lnTo>
                  <a:pt x="72" y="24"/>
                </a:lnTo>
                <a:lnTo>
                  <a:pt x="75" y="22"/>
                </a:lnTo>
                <a:lnTo>
                  <a:pt x="78" y="9"/>
                </a:lnTo>
                <a:lnTo>
                  <a:pt x="81" y="6"/>
                </a:lnTo>
                <a:lnTo>
                  <a:pt x="84" y="16"/>
                </a:lnTo>
                <a:lnTo>
                  <a:pt x="87" y="14"/>
                </a:lnTo>
                <a:lnTo>
                  <a:pt x="90" y="21"/>
                </a:lnTo>
                <a:lnTo>
                  <a:pt x="93" y="32"/>
                </a:lnTo>
                <a:lnTo>
                  <a:pt x="96" y="13"/>
                </a:lnTo>
                <a:lnTo>
                  <a:pt x="99" y="2"/>
                </a:lnTo>
                <a:lnTo>
                  <a:pt x="102" y="15"/>
                </a:lnTo>
                <a:lnTo>
                  <a:pt x="105" y="14"/>
                </a:lnTo>
                <a:lnTo>
                  <a:pt x="108" y="16"/>
                </a:lnTo>
                <a:lnTo>
                  <a:pt x="111" y="29"/>
                </a:lnTo>
                <a:lnTo>
                  <a:pt x="114" y="21"/>
                </a:lnTo>
                <a:lnTo>
                  <a:pt x="117" y="9"/>
                </a:lnTo>
                <a:lnTo>
                  <a:pt x="120" y="8"/>
                </a:lnTo>
                <a:lnTo>
                  <a:pt x="123" y="8"/>
                </a:lnTo>
                <a:lnTo>
                  <a:pt x="126" y="19"/>
                </a:lnTo>
                <a:lnTo>
                  <a:pt x="129" y="28"/>
                </a:lnTo>
                <a:lnTo>
                  <a:pt x="132" y="18"/>
                </a:lnTo>
                <a:lnTo>
                  <a:pt x="135" y="17"/>
                </a:lnTo>
                <a:lnTo>
                  <a:pt x="138" y="15"/>
                </a:lnTo>
                <a:lnTo>
                  <a:pt x="141" y="0"/>
                </a:lnTo>
                <a:lnTo>
                  <a:pt x="144" y="12"/>
                </a:lnTo>
                <a:lnTo>
                  <a:pt x="147" y="30"/>
                </a:lnTo>
                <a:lnTo>
                  <a:pt x="150" y="20"/>
                </a:lnTo>
                <a:lnTo>
                  <a:pt x="153" y="16"/>
                </a:lnTo>
                <a:lnTo>
                  <a:pt x="156" y="18"/>
                </a:lnTo>
                <a:lnTo>
                  <a:pt x="159" y="5"/>
                </a:lnTo>
                <a:lnTo>
                  <a:pt x="162" y="7"/>
                </a:lnTo>
                <a:lnTo>
                  <a:pt x="165" y="21"/>
                </a:lnTo>
                <a:lnTo>
                  <a:pt x="168" y="24"/>
                </a:lnTo>
                <a:lnTo>
                  <a:pt x="171" y="24"/>
                </a:lnTo>
                <a:lnTo>
                  <a:pt x="174" y="17"/>
                </a:lnTo>
                <a:lnTo>
                  <a:pt x="177" y="5"/>
                </a:lnTo>
                <a:lnTo>
                  <a:pt x="180" y="11"/>
                </a:lnTo>
                <a:lnTo>
                  <a:pt x="183" y="16"/>
                </a:lnTo>
                <a:lnTo>
                  <a:pt x="186" y="15"/>
                </a:lnTo>
                <a:lnTo>
                  <a:pt x="189" y="29"/>
                </a:lnTo>
                <a:lnTo>
                  <a:pt x="192" y="26"/>
                </a:lnTo>
                <a:lnTo>
                  <a:pt x="195" y="3"/>
                </a:lnTo>
              </a:path>
            </a:pathLst>
          </a:custGeom>
          <a:noFill/>
          <a:ln w="8763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hybrid_frame_2"/>
          <p:cNvSpPr/>
          <p:nvPr/>
        </p:nvSpPr>
        <p:spPr>
          <a:xfrm>
            <a:off x="3528060" y="1844040"/>
            <a:ext cx="1539240" cy="289560"/>
          </a:xfrm>
          <a:prstGeom prst="rect">
            <a:avLst/>
          </a:prstGeom>
          <a:solidFill>
            <a:srgbClr val="FFFFFF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hybrid_wave_2"/>
          <p:cNvSpPr/>
          <p:nvPr/>
        </p:nvSpPr>
        <p:spPr>
          <a:xfrm>
            <a:off x="3566160" y="1866900"/>
            <a:ext cx="1463040" cy="251460"/>
          </a:xfrm>
          <a:custGeom>
            <a:avLst/>
            <a:gdLst/>
            <a:ahLst/>
            <a:cxnLst/>
            <a:rect l="l" t="t" r="r" b="b"/>
            <a:pathLst>
              <a:path w="192" h="33">
                <a:moveTo>
                  <a:pt x="0" y="27"/>
                </a:moveTo>
                <a:lnTo>
                  <a:pt x="3" y="25"/>
                </a:lnTo>
                <a:lnTo>
                  <a:pt x="6" y="27"/>
                </a:lnTo>
                <a:lnTo>
                  <a:pt x="9" y="16"/>
                </a:lnTo>
                <a:lnTo>
                  <a:pt x="12" y="19"/>
                </a:lnTo>
                <a:lnTo>
                  <a:pt x="15" y="18"/>
                </a:lnTo>
                <a:lnTo>
                  <a:pt x="18" y="12"/>
                </a:lnTo>
                <a:lnTo>
                  <a:pt x="21" y="7"/>
                </a:lnTo>
                <a:lnTo>
                  <a:pt x="24" y="0"/>
                </a:lnTo>
                <a:lnTo>
                  <a:pt x="27" y="14"/>
                </a:lnTo>
                <a:lnTo>
                  <a:pt x="30" y="18"/>
                </a:lnTo>
                <a:lnTo>
                  <a:pt x="33" y="27"/>
                </a:lnTo>
                <a:lnTo>
                  <a:pt x="36" y="19"/>
                </a:lnTo>
                <a:lnTo>
                  <a:pt x="39" y="21"/>
                </a:lnTo>
                <a:lnTo>
                  <a:pt x="42" y="23"/>
                </a:lnTo>
                <a:lnTo>
                  <a:pt x="45" y="21"/>
                </a:lnTo>
                <a:lnTo>
                  <a:pt x="48" y="17"/>
                </a:lnTo>
                <a:lnTo>
                  <a:pt x="51" y="1"/>
                </a:lnTo>
                <a:lnTo>
                  <a:pt x="54" y="6"/>
                </a:lnTo>
                <a:lnTo>
                  <a:pt x="57" y="7"/>
                </a:lnTo>
                <a:lnTo>
                  <a:pt x="60" y="20"/>
                </a:lnTo>
                <a:lnTo>
                  <a:pt x="63" y="18"/>
                </a:lnTo>
                <a:lnTo>
                  <a:pt x="66" y="19"/>
                </a:lnTo>
                <a:lnTo>
                  <a:pt x="69" y="23"/>
                </a:lnTo>
                <a:lnTo>
                  <a:pt x="72" y="25"/>
                </a:lnTo>
                <a:lnTo>
                  <a:pt x="75" y="29"/>
                </a:lnTo>
                <a:lnTo>
                  <a:pt x="78" y="12"/>
                </a:lnTo>
                <a:lnTo>
                  <a:pt x="81" y="9"/>
                </a:lnTo>
                <a:lnTo>
                  <a:pt x="84" y="2"/>
                </a:lnTo>
                <a:lnTo>
                  <a:pt x="87" y="12"/>
                </a:lnTo>
                <a:lnTo>
                  <a:pt x="90" y="14"/>
                </a:lnTo>
                <a:lnTo>
                  <a:pt x="93" y="13"/>
                </a:lnTo>
                <a:lnTo>
                  <a:pt x="96" y="17"/>
                </a:lnTo>
                <a:lnTo>
                  <a:pt x="99" y="19"/>
                </a:lnTo>
                <a:lnTo>
                  <a:pt x="102" y="33"/>
                </a:lnTo>
                <a:lnTo>
                  <a:pt x="105" y="24"/>
                </a:lnTo>
                <a:lnTo>
                  <a:pt x="108" y="20"/>
                </a:lnTo>
                <a:lnTo>
                  <a:pt x="111" y="6"/>
                </a:lnTo>
                <a:lnTo>
                  <a:pt x="114" y="9"/>
                </a:lnTo>
                <a:lnTo>
                  <a:pt x="117" y="11"/>
                </a:lnTo>
                <a:lnTo>
                  <a:pt x="120" y="10"/>
                </a:lnTo>
                <a:lnTo>
                  <a:pt x="123" y="11"/>
                </a:lnTo>
                <a:lnTo>
                  <a:pt x="126" y="8"/>
                </a:lnTo>
                <a:lnTo>
                  <a:pt x="129" y="25"/>
                </a:lnTo>
                <a:lnTo>
                  <a:pt x="132" y="26"/>
                </a:lnTo>
                <a:lnTo>
                  <a:pt x="135" y="30"/>
                </a:lnTo>
                <a:lnTo>
                  <a:pt x="138" y="17"/>
                </a:lnTo>
                <a:lnTo>
                  <a:pt x="141" y="13"/>
                </a:lnTo>
                <a:lnTo>
                  <a:pt x="144" y="14"/>
                </a:lnTo>
                <a:lnTo>
                  <a:pt x="147" y="11"/>
                </a:lnTo>
                <a:lnTo>
                  <a:pt x="150" y="11"/>
                </a:lnTo>
                <a:lnTo>
                  <a:pt x="153" y="1"/>
                </a:lnTo>
                <a:lnTo>
                  <a:pt x="156" y="12"/>
                </a:lnTo>
                <a:lnTo>
                  <a:pt x="159" y="17"/>
                </a:lnTo>
                <a:lnTo>
                  <a:pt x="162" y="30"/>
                </a:lnTo>
                <a:lnTo>
                  <a:pt x="165" y="25"/>
                </a:lnTo>
                <a:lnTo>
                  <a:pt x="168" y="20"/>
                </a:lnTo>
                <a:lnTo>
                  <a:pt x="171" y="19"/>
                </a:lnTo>
                <a:lnTo>
                  <a:pt x="174" y="16"/>
                </a:lnTo>
                <a:lnTo>
                  <a:pt x="177" y="19"/>
                </a:lnTo>
                <a:lnTo>
                  <a:pt x="180" y="4"/>
                </a:lnTo>
                <a:lnTo>
                  <a:pt x="183" y="5"/>
                </a:lnTo>
                <a:lnTo>
                  <a:pt x="186" y="5"/>
                </a:lnTo>
                <a:lnTo>
                  <a:pt x="189" y="20"/>
                </a:lnTo>
                <a:lnTo>
                  <a:pt x="192" y="24"/>
                </a:lnTo>
              </a:path>
            </a:pathLst>
          </a:custGeom>
          <a:noFill/>
          <a:ln w="8763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hybrid_frame_3"/>
          <p:cNvSpPr/>
          <p:nvPr/>
        </p:nvSpPr>
        <p:spPr>
          <a:xfrm>
            <a:off x="5120640" y="1844040"/>
            <a:ext cx="1661160" cy="289560"/>
          </a:xfrm>
          <a:prstGeom prst="rect">
            <a:avLst/>
          </a:prstGeom>
          <a:solidFill>
            <a:srgbClr val="FFFFFF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hybrid_wave_3"/>
          <p:cNvSpPr/>
          <p:nvPr/>
        </p:nvSpPr>
        <p:spPr>
          <a:xfrm>
            <a:off x="5158740" y="1859280"/>
            <a:ext cx="1584960" cy="251460"/>
          </a:xfrm>
          <a:custGeom>
            <a:avLst/>
            <a:gdLst/>
            <a:ahLst/>
            <a:cxnLst/>
            <a:rect l="l" t="t" r="r" b="b"/>
            <a:pathLst>
              <a:path w="208" h="33">
                <a:moveTo>
                  <a:pt x="0" y="24"/>
                </a:moveTo>
                <a:lnTo>
                  <a:pt x="3" y="20"/>
                </a:lnTo>
                <a:lnTo>
                  <a:pt x="6" y="16"/>
                </a:lnTo>
                <a:lnTo>
                  <a:pt x="9" y="4"/>
                </a:lnTo>
                <a:lnTo>
                  <a:pt x="12" y="28"/>
                </a:lnTo>
                <a:lnTo>
                  <a:pt x="15" y="24"/>
                </a:lnTo>
                <a:lnTo>
                  <a:pt x="18" y="8"/>
                </a:lnTo>
                <a:lnTo>
                  <a:pt x="21" y="11"/>
                </a:lnTo>
                <a:lnTo>
                  <a:pt x="24" y="21"/>
                </a:lnTo>
                <a:lnTo>
                  <a:pt x="27" y="31"/>
                </a:lnTo>
                <a:lnTo>
                  <a:pt x="30" y="3"/>
                </a:lnTo>
                <a:lnTo>
                  <a:pt x="33" y="11"/>
                </a:lnTo>
                <a:lnTo>
                  <a:pt x="36" y="25"/>
                </a:lnTo>
                <a:lnTo>
                  <a:pt x="39" y="23"/>
                </a:lnTo>
                <a:lnTo>
                  <a:pt x="42" y="12"/>
                </a:lnTo>
                <a:lnTo>
                  <a:pt x="45" y="5"/>
                </a:lnTo>
                <a:lnTo>
                  <a:pt x="48" y="30"/>
                </a:lnTo>
                <a:lnTo>
                  <a:pt x="51" y="18"/>
                </a:lnTo>
                <a:lnTo>
                  <a:pt x="54" y="12"/>
                </a:lnTo>
                <a:lnTo>
                  <a:pt x="57" y="13"/>
                </a:lnTo>
                <a:lnTo>
                  <a:pt x="60" y="22"/>
                </a:lnTo>
                <a:lnTo>
                  <a:pt x="63" y="22"/>
                </a:lnTo>
                <a:lnTo>
                  <a:pt x="66" y="6"/>
                </a:lnTo>
                <a:lnTo>
                  <a:pt x="69" y="23"/>
                </a:lnTo>
                <a:lnTo>
                  <a:pt x="72" y="19"/>
                </a:lnTo>
                <a:lnTo>
                  <a:pt x="75" y="16"/>
                </a:lnTo>
                <a:lnTo>
                  <a:pt x="78" y="12"/>
                </a:lnTo>
                <a:lnTo>
                  <a:pt x="81" y="20"/>
                </a:lnTo>
                <a:lnTo>
                  <a:pt x="84" y="26"/>
                </a:lnTo>
                <a:lnTo>
                  <a:pt x="87" y="5"/>
                </a:lnTo>
                <a:lnTo>
                  <a:pt x="90" y="17"/>
                </a:lnTo>
                <a:lnTo>
                  <a:pt x="93" y="22"/>
                </a:lnTo>
                <a:lnTo>
                  <a:pt x="96" y="23"/>
                </a:lnTo>
                <a:lnTo>
                  <a:pt x="99" y="7"/>
                </a:lnTo>
                <a:lnTo>
                  <a:pt x="102" y="9"/>
                </a:lnTo>
                <a:lnTo>
                  <a:pt x="106" y="33"/>
                </a:lnTo>
                <a:lnTo>
                  <a:pt x="109" y="17"/>
                </a:lnTo>
                <a:lnTo>
                  <a:pt x="112" y="10"/>
                </a:lnTo>
                <a:lnTo>
                  <a:pt x="115" y="9"/>
                </a:lnTo>
                <a:lnTo>
                  <a:pt x="118" y="30"/>
                </a:lnTo>
                <a:lnTo>
                  <a:pt x="121" y="23"/>
                </a:lnTo>
                <a:lnTo>
                  <a:pt x="124" y="2"/>
                </a:lnTo>
                <a:lnTo>
                  <a:pt x="127" y="18"/>
                </a:lnTo>
                <a:lnTo>
                  <a:pt x="130" y="23"/>
                </a:lnTo>
                <a:lnTo>
                  <a:pt x="133" y="24"/>
                </a:lnTo>
                <a:lnTo>
                  <a:pt x="136" y="5"/>
                </a:lnTo>
                <a:lnTo>
                  <a:pt x="139" y="16"/>
                </a:lnTo>
                <a:lnTo>
                  <a:pt x="142" y="27"/>
                </a:lnTo>
                <a:lnTo>
                  <a:pt x="145" y="14"/>
                </a:lnTo>
                <a:lnTo>
                  <a:pt x="148" y="15"/>
                </a:lnTo>
                <a:lnTo>
                  <a:pt x="151" y="13"/>
                </a:lnTo>
                <a:lnTo>
                  <a:pt x="154" y="27"/>
                </a:lnTo>
                <a:lnTo>
                  <a:pt x="157" y="12"/>
                </a:lnTo>
                <a:lnTo>
                  <a:pt x="160" y="13"/>
                </a:lnTo>
                <a:lnTo>
                  <a:pt x="163" y="24"/>
                </a:lnTo>
                <a:lnTo>
                  <a:pt x="166" y="16"/>
                </a:lnTo>
                <a:lnTo>
                  <a:pt x="169" y="15"/>
                </a:lnTo>
                <a:lnTo>
                  <a:pt x="172" y="10"/>
                </a:lnTo>
                <a:lnTo>
                  <a:pt x="175" y="29"/>
                </a:lnTo>
                <a:lnTo>
                  <a:pt x="178" y="17"/>
                </a:lnTo>
                <a:lnTo>
                  <a:pt x="181" y="6"/>
                </a:lnTo>
                <a:lnTo>
                  <a:pt x="184" y="19"/>
                </a:lnTo>
                <a:lnTo>
                  <a:pt x="187" y="24"/>
                </a:lnTo>
                <a:lnTo>
                  <a:pt x="190" y="22"/>
                </a:lnTo>
                <a:lnTo>
                  <a:pt x="193" y="0"/>
                </a:lnTo>
                <a:lnTo>
                  <a:pt x="196" y="20"/>
                </a:lnTo>
                <a:lnTo>
                  <a:pt x="199" y="29"/>
                </a:lnTo>
                <a:lnTo>
                  <a:pt x="202" y="16"/>
                </a:lnTo>
                <a:lnTo>
                  <a:pt x="205" y="8"/>
                </a:lnTo>
                <a:lnTo>
                  <a:pt x="208" y="13"/>
                </a:lnTo>
              </a:path>
            </a:pathLst>
          </a:custGeom>
          <a:noFill/>
          <a:ln w="8763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hybrid_brace"/>
          <p:cNvSpPr/>
          <p:nvPr/>
        </p:nvSpPr>
        <p:spPr>
          <a:xfrm>
            <a:off x="1676400" y="1150620"/>
            <a:ext cx="3710940" cy="53340"/>
          </a:xfrm>
          <a:custGeom>
            <a:avLst/>
            <a:gdLst/>
            <a:ahLst/>
            <a:cxnLst/>
            <a:rect l="l" t="t" r="r" b="b"/>
            <a:pathLst>
              <a:path w="487" h="7">
                <a:moveTo>
                  <a:pt x="0" y="0"/>
                </a:moveTo>
                <a:lnTo>
                  <a:pt x="0" y="7"/>
                </a:lnTo>
                <a:lnTo>
                  <a:pt x="487" y="7"/>
                </a:lnTo>
                <a:lnTo>
                  <a:pt x="487" y="0"/>
                </a:lnTo>
              </a:path>
            </a:pathLst>
          </a:custGeom>
          <a:noFill/>
          <a:ln w="8382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0" name="hybrid_brace_tip"/>
          <p:cNvCxnSpPr/>
          <p:nvPr/>
        </p:nvCxnSpPr>
        <p:spPr>
          <a:xfrm>
            <a:off x="3535680" y="1203960"/>
            <a:ext cx="0" cy="121920"/>
          </a:xfrm>
          <a:prstGeom prst="line">
            <a:avLst/>
          </a:prstGeom>
          <a:ln w="8382">
            <a:solidFill>
              <a:srgbClr val="161616"/>
            </a:solidFill>
          </a:ln>
        </p:spPr>
      </p:cxnSp>
      <p:sp>
        <p:nvSpPr>
          <p:cNvPr id="111" name="text_109"/>
          <p:cNvSpPr txBox="1"/>
          <p:nvPr/>
        </p:nvSpPr>
        <p:spPr>
          <a:xfrm>
            <a:off x="2514600" y="2438400"/>
            <a:ext cx="2362200" cy="259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20" b="1" i="0">
                <a:solidFill>
                  <a:srgbClr val="161616"/>
                </a:solidFill>
                <a:latin typeface="Liberation Serif"/>
              </a:defRPr>
            </a:pPr>
            <a:r>
              <a:t>Multi-Domain Prompting</a:t>
            </a:r>
          </a:p>
        </p:txBody>
      </p:sp>
      <p:sp>
        <p:nvSpPr>
          <p:cNvPr id="112" name="text_110"/>
          <p:cNvSpPr txBox="1"/>
          <p:nvPr/>
        </p:nvSpPr>
        <p:spPr>
          <a:xfrm>
            <a:off x="670560" y="2712720"/>
            <a:ext cx="15621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8A8A8A"/>
                </a:solidFill>
                <a:latin typeface="Liberation Serif"/>
              </a:defRPr>
            </a:pPr>
            <a:r>
              <a:t>Norm &amp; Patchify</a:t>
            </a:r>
          </a:p>
        </p:txBody>
      </p:sp>
      <p:sp>
        <p:nvSpPr>
          <p:cNvPr id="113" name="norm_patch_group"/>
          <p:cNvSpPr/>
          <p:nvPr/>
        </p:nvSpPr>
        <p:spPr>
          <a:xfrm>
            <a:off x="312420" y="2910840"/>
            <a:ext cx="1958340" cy="381000"/>
          </a:xfrm>
          <a:prstGeom prst="rect">
            <a:avLst/>
          </a:prstGeom>
          <a:noFill/>
          <a:ln w="8382">
            <a:solidFill>
              <a:srgbClr val="16161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patch_bg_0"/>
          <p:cNvSpPr/>
          <p:nvPr/>
        </p:nvSpPr>
        <p:spPr>
          <a:xfrm>
            <a:off x="365760" y="2979420"/>
            <a:ext cx="213360" cy="25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patch_wave_0"/>
          <p:cNvSpPr/>
          <p:nvPr/>
        </p:nvSpPr>
        <p:spPr>
          <a:xfrm>
            <a:off x="381000" y="3032760"/>
            <a:ext cx="182880" cy="167640"/>
          </a:xfrm>
          <a:custGeom>
            <a:avLst/>
            <a:gdLst/>
            <a:ahLst/>
            <a:cxnLst/>
            <a:rect l="l" t="t" r="r" b="b"/>
            <a:pathLst>
              <a:path w="24" h="22">
                <a:moveTo>
                  <a:pt x="0" y="6"/>
                </a:moveTo>
                <a:lnTo>
                  <a:pt x="1" y="9"/>
                </a:lnTo>
                <a:lnTo>
                  <a:pt x="2" y="13"/>
                </a:lnTo>
                <a:lnTo>
                  <a:pt x="3" y="17"/>
                </a:lnTo>
                <a:lnTo>
                  <a:pt x="4" y="20"/>
                </a:lnTo>
                <a:lnTo>
                  <a:pt x="5" y="22"/>
                </a:lnTo>
                <a:lnTo>
                  <a:pt x="6" y="22"/>
                </a:lnTo>
                <a:lnTo>
                  <a:pt x="7" y="21"/>
                </a:lnTo>
                <a:lnTo>
                  <a:pt x="8" y="18"/>
                </a:lnTo>
                <a:lnTo>
                  <a:pt x="9" y="14"/>
                </a:lnTo>
                <a:lnTo>
                  <a:pt x="10" y="10"/>
                </a:lnTo>
                <a:lnTo>
                  <a:pt x="11" y="6"/>
                </a:lnTo>
                <a:lnTo>
                  <a:pt x="12" y="2"/>
                </a:lnTo>
                <a:lnTo>
                  <a:pt x="12" y="0"/>
                </a:lnTo>
                <a:lnTo>
                  <a:pt x="13" y="0"/>
                </a:lnTo>
                <a:lnTo>
                  <a:pt x="14" y="1"/>
                </a:lnTo>
                <a:lnTo>
                  <a:pt x="15" y="2"/>
                </a:lnTo>
                <a:lnTo>
                  <a:pt x="16" y="5"/>
                </a:lnTo>
                <a:lnTo>
                  <a:pt x="17" y="7"/>
                </a:lnTo>
                <a:lnTo>
                  <a:pt x="18" y="9"/>
                </a:lnTo>
                <a:lnTo>
                  <a:pt x="19" y="10"/>
                </a:lnTo>
                <a:lnTo>
                  <a:pt x="20" y="11"/>
                </a:lnTo>
                <a:lnTo>
                  <a:pt x="21" y="12"/>
                </a:lnTo>
                <a:lnTo>
                  <a:pt x="22" y="13"/>
                </a:lnTo>
                <a:lnTo>
                  <a:pt x="23" y="13"/>
                </a:lnTo>
                <a:lnTo>
                  <a:pt x="24" y="15"/>
                </a:lnTo>
              </a:path>
            </a:pathLst>
          </a:custGeom>
          <a:noFill/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patch_bg_1"/>
          <p:cNvSpPr/>
          <p:nvPr/>
        </p:nvSpPr>
        <p:spPr>
          <a:xfrm>
            <a:off x="632460" y="2979420"/>
            <a:ext cx="213360" cy="25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patch_wave_1"/>
          <p:cNvSpPr/>
          <p:nvPr/>
        </p:nvSpPr>
        <p:spPr>
          <a:xfrm>
            <a:off x="647700" y="3017520"/>
            <a:ext cx="182880" cy="175260"/>
          </a:xfrm>
          <a:custGeom>
            <a:avLst/>
            <a:gdLst/>
            <a:ahLst/>
            <a:cxnLst/>
            <a:rect l="l" t="t" r="r" b="b"/>
            <a:pathLst>
              <a:path w="24" h="23">
                <a:moveTo>
                  <a:pt x="0" y="1"/>
                </a:moveTo>
                <a:lnTo>
                  <a:pt x="1" y="0"/>
                </a:lnTo>
                <a:lnTo>
                  <a:pt x="2" y="1"/>
                </a:lnTo>
                <a:lnTo>
                  <a:pt x="3" y="3"/>
                </a:lnTo>
                <a:lnTo>
                  <a:pt x="4" y="7"/>
                </a:lnTo>
                <a:lnTo>
                  <a:pt x="5" y="12"/>
                </a:lnTo>
                <a:lnTo>
                  <a:pt x="6" y="16"/>
                </a:lnTo>
                <a:lnTo>
                  <a:pt x="7" y="20"/>
                </a:lnTo>
                <a:lnTo>
                  <a:pt x="8" y="22"/>
                </a:lnTo>
                <a:lnTo>
                  <a:pt x="9" y="23"/>
                </a:lnTo>
                <a:lnTo>
                  <a:pt x="10" y="22"/>
                </a:lnTo>
                <a:lnTo>
                  <a:pt x="11" y="20"/>
                </a:lnTo>
                <a:lnTo>
                  <a:pt x="12" y="18"/>
                </a:lnTo>
                <a:lnTo>
                  <a:pt x="12" y="15"/>
                </a:lnTo>
                <a:lnTo>
                  <a:pt x="13" y="13"/>
                </a:lnTo>
                <a:lnTo>
                  <a:pt x="14" y="11"/>
                </a:lnTo>
                <a:lnTo>
                  <a:pt x="15" y="10"/>
                </a:lnTo>
                <a:lnTo>
                  <a:pt x="16" y="9"/>
                </a:lnTo>
                <a:lnTo>
                  <a:pt x="17" y="9"/>
                </a:lnTo>
                <a:lnTo>
                  <a:pt x="18" y="8"/>
                </a:lnTo>
                <a:lnTo>
                  <a:pt x="19" y="7"/>
                </a:lnTo>
                <a:lnTo>
                  <a:pt x="20" y="6"/>
                </a:lnTo>
                <a:lnTo>
                  <a:pt x="21" y="5"/>
                </a:lnTo>
                <a:lnTo>
                  <a:pt x="22" y="5"/>
                </a:lnTo>
                <a:lnTo>
                  <a:pt x="23" y="5"/>
                </a:lnTo>
                <a:lnTo>
                  <a:pt x="24" y="6"/>
                </a:lnTo>
              </a:path>
            </a:pathLst>
          </a:custGeom>
          <a:noFill/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patch_bg_2"/>
          <p:cNvSpPr/>
          <p:nvPr/>
        </p:nvSpPr>
        <p:spPr>
          <a:xfrm>
            <a:off x="899160" y="2979420"/>
            <a:ext cx="213360" cy="25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patch_wave_2"/>
          <p:cNvSpPr/>
          <p:nvPr/>
        </p:nvSpPr>
        <p:spPr>
          <a:xfrm>
            <a:off x="914400" y="3032760"/>
            <a:ext cx="182880" cy="167640"/>
          </a:xfrm>
          <a:custGeom>
            <a:avLst/>
            <a:gdLst/>
            <a:ahLst/>
            <a:cxnLst/>
            <a:rect l="l" t="t" r="r" b="b"/>
            <a:pathLst>
              <a:path w="24" h="22">
                <a:moveTo>
                  <a:pt x="0" y="11"/>
                </a:moveTo>
                <a:lnTo>
                  <a:pt x="1" y="10"/>
                </a:lnTo>
                <a:lnTo>
                  <a:pt x="2" y="9"/>
                </a:lnTo>
                <a:lnTo>
                  <a:pt x="3" y="8"/>
                </a:lnTo>
                <a:lnTo>
                  <a:pt x="4" y="6"/>
                </a:lnTo>
                <a:lnTo>
                  <a:pt x="5" y="4"/>
                </a:lnTo>
                <a:lnTo>
                  <a:pt x="6" y="2"/>
                </a:lnTo>
                <a:lnTo>
                  <a:pt x="7" y="0"/>
                </a:lnTo>
                <a:lnTo>
                  <a:pt x="8" y="0"/>
                </a:lnTo>
                <a:lnTo>
                  <a:pt x="9" y="2"/>
                </a:lnTo>
                <a:lnTo>
                  <a:pt x="10" y="4"/>
                </a:lnTo>
                <a:lnTo>
                  <a:pt x="11" y="8"/>
                </a:lnTo>
                <a:lnTo>
                  <a:pt x="12" y="12"/>
                </a:lnTo>
                <a:lnTo>
                  <a:pt x="12" y="16"/>
                </a:lnTo>
                <a:lnTo>
                  <a:pt x="13" y="20"/>
                </a:lnTo>
                <a:lnTo>
                  <a:pt x="14" y="22"/>
                </a:lnTo>
                <a:lnTo>
                  <a:pt x="15" y="22"/>
                </a:lnTo>
                <a:lnTo>
                  <a:pt x="16" y="21"/>
                </a:lnTo>
                <a:lnTo>
                  <a:pt x="17" y="18"/>
                </a:lnTo>
                <a:lnTo>
                  <a:pt x="18" y="15"/>
                </a:lnTo>
                <a:lnTo>
                  <a:pt x="19" y="11"/>
                </a:lnTo>
                <a:lnTo>
                  <a:pt x="20" y="7"/>
                </a:lnTo>
                <a:lnTo>
                  <a:pt x="21" y="4"/>
                </a:lnTo>
                <a:lnTo>
                  <a:pt x="22" y="3"/>
                </a:lnTo>
                <a:lnTo>
                  <a:pt x="23" y="2"/>
                </a:lnTo>
                <a:lnTo>
                  <a:pt x="24" y="3"/>
                </a:lnTo>
              </a:path>
            </a:pathLst>
          </a:custGeom>
          <a:noFill/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patch_bg_3"/>
          <p:cNvSpPr/>
          <p:nvPr/>
        </p:nvSpPr>
        <p:spPr>
          <a:xfrm>
            <a:off x="1165860" y="2979420"/>
            <a:ext cx="213360" cy="25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patch_wave_3"/>
          <p:cNvSpPr/>
          <p:nvPr/>
        </p:nvSpPr>
        <p:spPr>
          <a:xfrm>
            <a:off x="1181100" y="3017520"/>
            <a:ext cx="182880" cy="175260"/>
          </a:xfrm>
          <a:custGeom>
            <a:avLst/>
            <a:gdLst/>
            <a:ahLst/>
            <a:cxnLst/>
            <a:rect l="l" t="t" r="r" b="b"/>
            <a:pathLst>
              <a:path w="24" h="23">
                <a:moveTo>
                  <a:pt x="0" y="14"/>
                </a:moveTo>
                <a:lnTo>
                  <a:pt x="1" y="17"/>
                </a:lnTo>
                <a:lnTo>
                  <a:pt x="2" y="20"/>
                </a:lnTo>
                <a:lnTo>
                  <a:pt x="3" y="22"/>
                </a:lnTo>
                <a:lnTo>
                  <a:pt x="4" y="23"/>
                </a:lnTo>
                <a:lnTo>
                  <a:pt x="5" y="23"/>
                </a:lnTo>
                <a:lnTo>
                  <a:pt x="6" y="21"/>
                </a:lnTo>
                <a:lnTo>
                  <a:pt x="7" y="17"/>
                </a:lnTo>
                <a:lnTo>
                  <a:pt x="8" y="13"/>
                </a:lnTo>
                <a:lnTo>
                  <a:pt x="9" y="8"/>
                </a:lnTo>
                <a:lnTo>
                  <a:pt x="10" y="4"/>
                </a:lnTo>
                <a:lnTo>
                  <a:pt x="11" y="1"/>
                </a:lnTo>
                <a:lnTo>
                  <a:pt x="12" y="0"/>
                </a:lnTo>
                <a:lnTo>
                  <a:pt x="12" y="0"/>
                </a:lnTo>
                <a:lnTo>
                  <a:pt x="13" y="2"/>
                </a:lnTo>
                <a:lnTo>
                  <a:pt x="14" y="5"/>
                </a:lnTo>
                <a:lnTo>
                  <a:pt x="15" y="9"/>
                </a:lnTo>
                <a:lnTo>
                  <a:pt x="16" y="12"/>
                </a:lnTo>
                <a:lnTo>
                  <a:pt x="17" y="15"/>
                </a:lnTo>
                <a:lnTo>
                  <a:pt x="18" y="17"/>
                </a:lnTo>
                <a:lnTo>
                  <a:pt x="19" y="17"/>
                </a:lnTo>
                <a:lnTo>
                  <a:pt x="20" y="18"/>
                </a:lnTo>
                <a:lnTo>
                  <a:pt x="21" y="18"/>
                </a:lnTo>
                <a:lnTo>
                  <a:pt x="22" y="17"/>
                </a:lnTo>
                <a:lnTo>
                  <a:pt x="23" y="17"/>
                </a:lnTo>
                <a:lnTo>
                  <a:pt x="24" y="17"/>
                </a:lnTo>
              </a:path>
            </a:pathLst>
          </a:custGeom>
          <a:noFill/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patch_bg_4"/>
          <p:cNvSpPr/>
          <p:nvPr/>
        </p:nvSpPr>
        <p:spPr>
          <a:xfrm>
            <a:off x="1432560" y="2979420"/>
            <a:ext cx="213360" cy="25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patch_wave_4"/>
          <p:cNvSpPr/>
          <p:nvPr/>
        </p:nvSpPr>
        <p:spPr>
          <a:xfrm>
            <a:off x="1447800" y="3025140"/>
            <a:ext cx="182880" cy="175260"/>
          </a:xfrm>
          <a:custGeom>
            <a:avLst/>
            <a:gdLst/>
            <a:ahLst/>
            <a:cxnLst/>
            <a:rect l="l" t="t" r="r" b="b"/>
            <a:pathLst>
              <a:path w="24" h="23">
                <a:moveTo>
                  <a:pt x="0" y="15"/>
                </a:moveTo>
                <a:lnTo>
                  <a:pt x="1" y="14"/>
                </a:lnTo>
                <a:lnTo>
                  <a:pt x="2" y="13"/>
                </a:lnTo>
                <a:lnTo>
                  <a:pt x="3" y="11"/>
                </a:lnTo>
                <a:lnTo>
                  <a:pt x="4" y="9"/>
                </a:lnTo>
                <a:lnTo>
                  <a:pt x="5" y="7"/>
                </a:lnTo>
                <a:lnTo>
                  <a:pt x="6" y="4"/>
                </a:lnTo>
                <a:lnTo>
                  <a:pt x="7" y="2"/>
                </a:lnTo>
                <a:lnTo>
                  <a:pt x="8" y="0"/>
                </a:lnTo>
                <a:lnTo>
                  <a:pt x="9" y="0"/>
                </a:lnTo>
                <a:lnTo>
                  <a:pt x="10" y="2"/>
                </a:lnTo>
                <a:lnTo>
                  <a:pt x="11" y="5"/>
                </a:lnTo>
                <a:lnTo>
                  <a:pt x="12" y="9"/>
                </a:lnTo>
                <a:lnTo>
                  <a:pt x="12" y="13"/>
                </a:lnTo>
                <a:lnTo>
                  <a:pt x="13" y="18"/>
                </a:lnTo>
                <a:lnTo>
                  <a:pt x="14" y="21"/>
                </a:lnTo>
                <a:lnTo>
                  <a:pt x="15" y="23"/>
                </a:lnTo>
                <a:lnTo>
                  <a:pt x="16" y="23"/>
                </a:lnTo>
                <a:lnTo>
                  <a:pt x="17" y="21"/>
                </a:lnTo>
                <a:lnTo>
                  <a:pt x="18" y="19"/>
                </a:lnTo>
                <a:lnTo>
                  <a:pt x="19" y="15"/>
                </a:lnTo>
                <a:lnTo>
                  <a:pt x="20" y="12"/>
                </a:lnTo>
                <a:lnTo>
                  <a:pt x="21" y="9"/>
                </a:lnTo>
                <a:lnTo>
                  <a:pt x="22" y="7"/>
                </a:lnTo>
                <a:lnTo>
                  <a:pt x="23" y="6"/>
                </a:lnTo>
                <a:lnTo>
                  <a:pt x="24" y="5"/>
                </a:lnTo>
              </a:path>
            </a:pathLst>
          </a:custGeom>
          <a:noFill/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patch_bg_5"/>
          <p:cNvSpPr/>
          <p:nvPr/>
        </p:nvSpPr>
        <p:spPr>
          <a:xfrm>
            <a:off x="1699260" y="2979420"/>
            <a:ext cx="213360" cy="25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patch_wave_5"/>
          <p:cNvSpPr/>
          <p:nvPr/>
        </p:nvSpPr>
        <p:spPr>
          <a:xfrm>
            <a:off x="1714500" y="3017520"/>
            <a:ext cx="182880" cy="144780"/>
          </a:xfrm>
          <a:custGeom>
            <a:avLst/>
            <a:gdLst/>
            <a:ahLst/>
            <a:cxnLst/>
            <a:rect l="l" t="t" r="r" b="b"/>
            <a:pathLst>
              <a:path w="24" h="19">
                <a:moveTo>
                  <a:pt x="0" y="6"/>
                </a:moveTo>
                <a:lnTo>
                  <a:pt x="1" y="3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3"/>
                </a:lnTo>
                <a:lnTo>
                  <a:pt x="6" y="7"/>
                </a:lnTo>
                <a:lnTo>
                  <a:pt x="7" y="11"/>
                </a:lnTo>
                <a:lnTo>
                  <a:pt x="8" y="14"/>
                </a:lnTo>
                <a:lnTo>
                  <a:pt x="9" y="17"/>
                </a:lnTo>
                <a:lnTo>
                  <a:pt x="10" y="19"/>
                </a:lnTo>
                <a:lnTo>
                  <a:pt x="11" y="19"/>
                </a:lnTo>
                <a:lnTo>
                  <a:pt x="12" y="19"/>
                </a:lnTo>
                <a:lnTo>
                  <a:pt x="12" y="18"/>
                </a:lnTo>
                <a:lnTo>
                  <a:pt x="13" y="17"/>
                </a:lnTo>
                <a:lnTo>
                  <a:pt x="14" y="16"/>
                </a:lnTo>
                <a:lnTo>
                  <a:pt x="15" y="16"/>
                </a:lnTo>
                <a:lnTo>
                  <a:pt x="16" y="15"/>
                </a:lnTo>
                <a:lnTo>
                  <a:pt x="17" y="15"/>
                </a:lnTo>
                <a:lnTo>
                  <a:pt x="18" y="14"/>
                </a:lnTo>
                <a:lnTo>
                  <a:pt x="19" y="13"/>
                </a:lnTo>
                <a:lnTo>
                  <a:pt x="20" y="11"/>
                </a:lnTo>
                <a:lnTo>
                  <a:pt x="21" y="8"/>
                </a:lnTo>
                <a:lnTo>
                  <a:pt x="22" y="5"/>
                </a:lnTo>
                <a:lnTo>
                  <a:pt x="23" y="3"/>
                </a:lnTo>
                <a:lnTo>
                  <a:pt x="24" y="2"/>
                </a:lnTo>
              </a:path>
            </a:pathLst>
          </a:custGeom>
          <a:noFill/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patch_bg_6"/>
          <p:cNvSpPr/>
          <p:nvPr/>
        </p:nvSpPr>
        <p:spPr>
          <a:xfrm>
            <a:off x="1965960" y="2979420"/>
            <a:ext cx="213360" cy="25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patch_wave_6"/>
          <p:cNvSpPr/>
          <p:nvPr/>
        </p:nvSpPr>
        <p:spPr>
          <a:xfrm>
            <a:off x="1981200" y="3032760"/>
            <a:ext cx="182880" cy="167640"/>
          </a:xfrm>
          <a:custGeom>
            <a:avLst/>
            <a:gdLst/>
            <a:ahLst/>
            <a:cxnLst/>
            <a:rect l="l" t="t" r="r" b="b"/>
            <a:pathLst>
              <a:path w="24" h="22">
                <a:moveTo>
                  <a:pt x="0" y="11"/>
                </a:moveTo>
                <a:lnTo>
                  <a:pt x="1" y="11"/>
                </a:lnTo>
                <a:lnTo>
                  <a:pt x="2" y="10"/>
                </a:lnTo>
                <a:lnTo>
                  <a:pt x="3" y="8"/>
                </a:lnTo>
                <a:lnTo>
                  <a:pt x="4" y="6"/>
                </a:lnTo>
                <a:lnTo>
                  <a:pt x="5" y="4"/>
                </a:lnTo>
                <a:lnTo>
                  <a:pt x="6" y="2"/>
                </a:lnTo>
                <a:lnTo>
                  <a:pt x="7" y="0"/>
                </a:lnTo>
                <a:lnTo>
                  <a:pt x="8" y="0"/>
                </a:lnTo>
                <a:lnTo>
                  <a:pt x="9" y="1"/>
                </a:lnTo>
                <a:lnTo>
                  <a:pt x="10" y="3"/>
                </a:lnTo>
                <a:lnTo>
                  <a:pt x="11" y="7"/>
                </a:lnTo>
                <a:lnTo>
                  <a:pt x="12" y="11"/>
                </a:lnTo>
                <a:lnTo>
                  <a:pt x="12" y="16"/>
                </a:lnTo>
                <a:lnTo>
                  <a:pt x="13" y="19"/>
                </a:lnTo>
                <a:lnTo>
                  <a:pt x="14" y="22"/>
                </a:lnTo>
                <a:lnTo>
                  <a:pt x="15" y="22"/>
                </a:lnTo>
                <a:lnTo>
                  <a:pt x="16" y="21"/>
                </a:lnTo>
                <a:lnTo>
                  <a:pt x="17" y="19"/>
                </a:lnTo>
                <a:lnTo>
                  <a:pt x="18" y="15"/>
                </a:lnTo>
                <a:lnTo>
                  <a:pt x="19" y="11"/>
                </a:lnTo>
                <a:lnTo>
                  <a:pt x="20" y="8"/>
                </a:lnTo>
                <a:lnTo>
                  <a:pt x="21" y="5"/>
                </a:lnTo>
                <a:lnTo>
                  <a:pt x="22" y="3"/>
                </a:lnTo>
                <a:lnTo>
                  <a:pt x="23" y="3"/>
                </a:lnTo>
                <a:lnTo>
                  <a:pt x="24" y="3"/>
                </a:lnTo>
              </a:path>
            </a:pathLst>
          </a:custGeom>
          <a:noFill/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8" name="patch_to_projection"/>
          <p:cNvCxnSpPr/>
          <p:nvPr/>
        </p:nvCxnSpPr>
        <p:spPr>
          <a:xfrm>
            <a:off x="2270760" y="3101340"/>
            <a:ext cx="464820" cy="0"/>
          </a:xfrm>
          <a:prstGeom prst="line">
            <a:avLst/>
          </a:prstGeom>
          <a:ln w="9906">
            <a:solidFill>
              <a:srgbClr val="161616"/>
            </a:solidFill>
            <a:tailEnd type="triangle" w="sm" len="sm"/>
          </a:ln>
        </p:spPr>
      </p:cxnSp>
      <p:sp>
        <p:nvSpPr>
          <p:cNvPr id="129" name="text_127"/>
          <p:cNvSpPr txBox="1"/>
          <p:nvPr/>
        </p:nvSpPr>
        <p:spPr>
          <a:xfrm>
            <a:off x="3032760" y="2705100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8A8A8A"/>
                </a:solidFill>
                <a:latin typeface="Liberation Serif"/>
              </a:defRPr>
            </a:pPr>
            <a:r>
              <a:t>Projection</a:t>
            </a:r>
          </a:p>
        </p:txBody>
      </p:sp>
      <p:sp>
        <p:nvSpPr>
          <p:cNvPr id="130" name="projection_linear"/>
          <p:cNvSpPr/>
          <p:nvPr/>
        </p:nvSpPr>
        <p:spPr>
          <a:xfrm>
            <a:off x="2735580" y="2933700"/>
            <a:ext cx="1120140" cy="335280"/>
          </a:xfrm>
          <a:prstGeom prst="roundRect">
            <a:avLst>
              <a:gd name="adj" fmla="val 15909"/>
            </a:avLst>
          </a:prstGeom>
          <a:solidFill>
            <a:srgbClr val="F7C3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text_129"/>
          <p:cNvSpPr txBox="1"/>
          <p:nvPr/>
        </p:nvSpPr>
        <p:spPr>
          <a:xfrm>
            <a:off x="2971800" y="2971800"/>
            <a:ext cx="624840" cy="259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Linear</a:t>
            </a:r>
          </a:p>
        </p:txBody>
      </p:sp>
      <p:sp>
        <p:nvSpPr>
          <p:cNvPr id="132" name="prompt_projection_flame_outer"/>
          <p:cNvSpPr/>
          <p:nvPr/>
        </p:nvSpPr>
        <p:spPr>
          <a:xfrm>
            <a:off x="3611880" y="2979420"/>
            <a:ext cx="137160" cy="220980"/>
          </a:xfrm>
          <a:custGeom>
            <a:avLst/>
            <a:gdLst/>
            <a:ahLst/>
            <a:cxnLst/>
            <a:rect l="l" t="t" r="r" b="b"/>
            <a:pathLst>
              <a:path w="18" h="29">
                <a:moveTo>
                  <a:pt x="9" y="0"/>
                </a:moveTo>
                <a:lnTo>
                  <a:pt x="6" y="9"/>
                </a:lnTo>
                <a:lnTo>
                  <a:pt x="0" y="14"/>
                </a:lnTo>
                <a:lnTo>
                  <a:pt x="1" y="23"/>
                </a:lnTo>
                <a:lnTo>
                  <a:pt x="9" y="29"/>
                </a:lnTo>
                <a:lnTo>
                  <a:pt x="18" y="22"/>
                </a:lnTo>
                <a:lnTo>
                  <a:pt x="15" y="14"/>
                </a:lnTo>
                <a:lnTo>
                  <a:pt x="11" y="7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prompt_projection_flame_inner"/>
          <p:cNvSpPr/>
          <p:nvPr/>
        </p:nvSpPr>
        <p:spPr>
          <a:xfrm>
            <a:off x="3649980" y="3063240"/>
            <a:ext cx="60960" cy="114300"/>
          </a:xfrm>
          <a:custGeom>
            <a:avLst/>
            <a:gdLst/>
            <a:ahLst/>
            <a:cxnLst/>
            <a:rect l="l" t="t" r="r" b="b"/>
            <a:pathLst>
              <a:path w="8" h="15">
                <a:moveTo>
                  <a:pt x="4" y="0"/>
                </a:moveTo>
                <a:lnTo>
                  <a:pt x="0" y="7"/>
                </a:lnTo>
                <a:lnTo>
                  <a:pt x="2" y="13"/>
                </a:lnTo>
                <a:lnTo>
                  <a:pt x="4" y="15"/>
                </a:lnTo>
                <a:lnTo>
                  <a:pt x="8" y="10"/>
                </a:lnTo>
                <a:lnTo>
                  <a:pt x="6" y="6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4" name="projection_to_tokens"/>
          <p:cNvCxnSpPr/>
          <p:nvPr/>
        </p:nvCxnSpPr>
        <p:spPr>
          <a:xfrm>
            <a:off x="3855720" y="3101340"/>
            <a:ext cx="556260" cy="0"/>
          </a:xfrm>
          <a:prstGeom prst="line">
            <a:avLst/>
          </a:prstGeom>
          <a:ln w="9906">
            <a:solidFill>
              <a:srgbClr val="161616"/>
            </a:solidFill>
            <a:tailEnd type="triangle" w="sm" len="sm"/>
          </a:ln>
        </p:spPr>
      </p:cxnSp>
      <p:sp>
        <p:nvSpPr>
          <p:cNvPr id="135" name="continuous_tokens_group"/>
          <p:cNvSpPr/>
          <p:nvPr/>
        </p:nvSpPr>
        <p:spPr>
          <a:xfrm>
            <a:off x="4411980" y="2773680"/>
            <a:ext cx="2453640" cy="548640"/>
          </a:xfrm>
          <a:prstGeom prst="rect">
            <a:avLst/>
          </a:prstGeom>
          <a:noFill/>
          <a:ln w="8382">
            <a:solidFill>
              <a:srgbClr val="16161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continuous_token_0"/>
          <p:cNvSpPr/>
          <p:nvPr/>
        </p:nvSpPr>
        <p:spPr>
          <a:xfrm>
            <a:off x="4488180" y="2842260"/>
            <a:ext cx="152400" cy="41910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continuous_token_0_cell_0"/>
          <p:cNvSpPr/>
          <p:nvPr/>
        </p:nvSpPr>
        <p:spPr>
          <a:xfrm>
            <a:off x="4526280" y="2887980"/>
            <a:ext cx="76200" cy="7874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continuous_token_0_cell_1"/>
          <p:cNvSpPr/>
          <p:nvPr/>
        </p:nvSpPr>
        <p:spPr>
          <a:xfrm>
            <a:off x="4526280" y="3012440"/>
            <a:ext cx="76200" cy="7874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continuous_token_0_cell_2"/>
          <p:cNvSpPr/>
          <p:nvPr/>
        </p:nvSpPr>
        <p:spPr>
          <a:xfrm>
            <a:off x="4526280" y="3136900"/>
            <a:ext cx="76200" cy="7874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continuous_token_0_ellipsis"/>
          <p:cNvSpPr txBox="1"/>
          <p:nvPr/>
        </p:nvSpPr>
        <p:spPr>
          <a:xfrm>
            <a:off x="4511040" y="2998470"/>
            <a:ext cx="10668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141" name="text_139"/>
          <p:cNvSpPr txBox="1"/>
          <p:nvPr/>
        </p:nvSpPr>
        <p:spPr>
          <a:xfrm>
            <a:off x="4732020" y="2956560"/>
            <a:ext cx="2133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ans"/>
              </a:defRPr>
            </a:pPr>
            <a:r>
              <a:t>…</a:t>
            </a:r>
          </a:p>
        </p:txBody>
      </p:sp>
      <p:sp>
        <p:nvSpPr>
          <p:cNvPr id="142" name="continuous_token_2"/>
          <p:cNvSpPr/>
          <p:nvPr/>
        </p:nvSpPr>
        <p:spPr>
          <a:xfrm>
            <a:off x="5036820" y="2842260"/>
            <a:ext cx="152400" cy="41910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continuous_token_2_cell_0"/>
          <p:cNvSpPr/>
          <p:nvPr/>
        </p:nvSpPr>
        <p:spPr>
          <a:xfrm>
            <a:off x="5074920" y="2887980"/>
            <a:ext cx="76200" cy="7874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continuous_token_2_cell_1"/>
          <p:cNvSpPr/>
          <p:nvPr/>
        </p:nvSpPr>
        <p:spPr>
          <a:xfrm>
            <a:off x="5074920" y="3012440"/>
            <a:ext cx="76200" cy="7874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continuous_token_2_cell_2"/>
          <p:cNvSpPr/>
          <p:nvPr/>
        </p:nvSpPr>
        <p:spPr>
          <a:xfrm>
            <a:off x="5074920" y="3136900"/>
            <a:ext cx="76200" cy="7874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continuous_token_2_ellipsis"/>
          <p:cNvSpPr txBox="1"/>
          <p:nvPr/>
        </p:nvSpPr>
        <p:spPr>
          <a:xfrm>
            <a:off x="5059680" y="2998470"/>
            <a:ext cx="10668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147" name="continuous_token_3"/>
          <p:cNvSpPr/>
          <p:nvPr/>
        </p:nvSpPr>
        <p:spPr>
          <a:xfrm>
            <a:off x="5311140" y="2842260"/>
            <a:ext cx="152400" cy="41910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continuous_token_3_cell_0"/>
          <p:cNvSpPr/>
          <p:nvPr/>
        </p:nvSpPr>
        <p:spPr>
          <a:xfrm>
            <a:off x="5349240" y="2887980"/>
            <a:ext cx="76200" cy="7874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continuous_token_3_cell_1"/>
          <p:cNvSpPr/>
          <p:nvPr/>
        </p:nvSpPr>
        <p:spPr>
          <a:xfrm>
            <a:off x="5349240" y="3012440"/>
            <a:ext cx="76200" cy="7874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continuous_token_3_cell_2"/>
          <p:cNvSpPr/>
          <p:nvPr/>
        </p:nvSpPr>
        <p:spPr>
          <a:xfrm>
            <a:off x="5349240" y="3136900"/>
            <a:ext cx="76200" cy="7874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continuous_token_3_ellipsis"/>
          <p:cNvSpPr txBox="1"/>
          <p:nvPr/>
        </p:nvSpPr>
        <p:spPr>
          <a:xfrm>
            <a:off x="5334000" y="2998470"/>
            <a:ext cx="10668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152" name="continuous_token_4"/>
          <p:cNvSpPr/>
          <p:nvPr/>
        </p:nvSpPr>
        <p:spPr>
          <a:xfrm>
            <a:off x="5585460" y="2842260"/>
            <a:ext cx="152400" cy="41910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continuous_token_4_cell_0"/>
          <p:cNvSpPr/>
          <p:nvPr/>
        </p:nvSpPr>
        <p:spPr>
          <a:xfrm>
            <a:off x="5623560" y="2887980"/>
            <a:ext cx="76200" cy="7874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continuous_token_4_cell_1"/>
          <p:cNvSpPr/>
          <p:nvPr/>
        </p:nvSpPr>
        <p:spPr>
          <a:xfrm>
            <a:off x="5623560" y="3012440"/>
            <a:ext cx="76200" cy="7874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continuous_token_4_cell_2"/>
          <p:cNvSpPr/>
          <p:nvPr/>
        </p:nvSpPr>
        <p:spPr>
          <a:xfrm>
            <a:off x="5623560" y="3136900"/>
            <a:ext cx="76200" cy="7874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continuous_token_4_ellipsis"/>
          <p:cNvSpPr txBox="1"/>
          <p:nvPr/>
        </p:nvSpPr>
        <p:spPr>
          <a:xfrm>
            <a:off x="5608320" y="2998470"/>
            <a:ext cx="10668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157" name="continuous_token_5"/>
          <p:cNvSpPr/>
          <p:nvPr/>
        </p:nvSpPr>
        <p:spPr>
          <a:xfrm>
            <a:off x="5859780" y="2842260"/>
            <a:ext cx="152400" cy="41910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continuous_token_5_cell_0"/>
          <p:cNvSpPr/>
          <p:nvPr/>
        </p:nvSpPr>
        <p:spPr>
          <a:xfrm>
            <a:off x="5897880" y="2887980"/>
            <a:ext cx="76200" cy="7874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continuous_token_5_cell_1"/>
          <p:cNvSpPr/>
          <p:nvPr/>
        </p:nvSpPr>
        <p:spPr>
          <a:xfrm>
            <a:off x="5897880" y="3012440"/>
            <a:ext cx="76200" cy="7874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continuous_token_5_cell_2"/>
          <p:cNvSpPr/>
          <p:nvPr/>
        </p:nvSpPr>
        <p:spPr>
          <a:xfrm>
            <a:off x="5897880" y="3136900"/>
            <a:ext cx="76200" cy="7874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continuous_token_5_ellipsis"/>
          <p:cNvSpPr txBox="1"/>
          <p:nvPr/>
        </p:nvSpPr>
        <p:spPr>
          <a:xfrm>
            <a:off x="5882640" y="2998470"/>
            <a:ext cx="10668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162" name="continuous_token_6"/>
          <p:cNvSpPr/>
          <p:nvPr/>
        </p:nvSpPr>
        <p:spPr>
          <a:xfrm>
            <a:off x="6134100" y="2842260"/>
            <a:ext cx="152400" cy="41910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continuous_token_6_cell_0"/>
          <p:cNvSpPr/>
          <p:nvPr/>
        </p:nvSpPr>
        <p:spPr>
          <a:xfrm>
            <a:off x="6172200" y="2887980"/>
            <a:ext cx="76200" cy="7874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continuous_token_6_cell_1"/>
          <p:cNvSpPr/>
          <p:nvPr/>
        </p:nvSpPr>
        <p:spPr>
          <a:xfrm>
            <a:off x="6172200" y="3012440"/>
            <a:ext cx="76200" cy="7874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continuous_token_6_cell_2"/>
          <p:cNvSpPr/>
          <p:nvPr/>
        </p:nvSpPr>
        <p:spPr>
          <a:xfrm>
            <a:off x="6172200" y="3136900"/>
            <a:ext cx="76200" cy="7874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continuous_token_6_ellipsis"/>
          <p:cNvSpPr txBox="1"/>
          <p:nvPr/>
        </p:nvSpPr>
        <p:spPr>
          <a:xfrm>
            <a:off x="6156960" y="2998470"/>
            <a:ext cx="10668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167" name="continuous_token_7"/>
          <p:cNvSpPr/>
          <p:nvPr/>
        </p:nvSpPr>
        <p:spPr>
          <a:xfrm>
            <a:off x="6408420" y="2842260"/>
            <a:ext cx="152400" cy="41910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continuous_token_7_cell_0"/>
          <p:cNvSpPr/>
          <p:nvPr/>
        </p:nvSpPr>
        <p:spPr>
          <a:xfrm>
            <a:off x="6446520" y="2887980"/>
            <a:ext cx="76200" cy="7874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continuous_token_7_cell_1"/>
          <p:cNvSpPr/>
          <p:nvPr/>
        </p:nvSpPr>
        <p:spPr>
          <a:xfrm>
            <a:off x="6446520" y="3012440"/>
            <a:ext cx="76200" cy="7874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continuous_token_7_cell_2"/>
          <p:cNvSpPr/>
          <p:nvPr/>
        </p:nvSpPr>
        <p:spPr>
          <a:xfrm>
            <a:off x="6446520" y="3136900"/>
            <a:ext cx="76200" cy="7874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continuous_token_7_ellipsis"/>
          <p:cNvSpPr txBox="1"/>
          <p:nvPr/>
        </p:nvSpPr>
        <p:spPr>
          <a:xfrm>
            <a:off x="6431280" y="2998470"/>
            <a:ext cx="10668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172" name="text_170"/>
          <p:cNvSpPr txBox="1"/>
          <p:nvPr/>
        </p:nvSpPr>
        <p:spPr>
          <a:xfrm>
            <a:off x="3223260" y="3314700"/>
            <a:ext cx="1752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ED7D31"/>
                </a:solidFill>
                <a:latin typeface="Liberation Serif"/>
              </a:defRPr>
            </a:pPr>
            <a:r>
              <a:t>Discrete Prompt Tokens</a:t>
            </a:r>
          </a:p>
        </p:txBody>
      </p:sp>
      <p:sp>
        <p:nvSpPr>
          <p:cNvPr id="173" name="text_171"/>
          <p:cNvSpPr txBox="1"/>
          <p:nvPr/>
        </p:nvSpPr>
        <p:spPr>
          <a:xfrm>
            <a:off x="4930140" y="3314700"/>
            <a:ext cx="20345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3569A6"/>
                </a:solidFill>
                <a:latin typeface="Liberation Serif"/>
              </a:defRPr>
            </a:pPr>
            <a:r>
              <a:t>Continuous Input Tokens</a:t>
            </a:r>
          </a:p>
        </p:txBody>
      </p:sp>
      <p:sp>
        <p:nvSpPr>
          <p:cNvPr id="174" name="rich_172"/>
          <p:cNvSpPr txBox="1"/>
          <p:nvPr/>
        </p:nvSpPr>
        <p:spPr>
          <a:xfrm>
            <a:off x="6652259" y="3299460"/>
            <a:ext cx="289560" cy="198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40" b="0" i="1">
                <a:solidFill>
                  <a:srgbClr val="D62728"/>
                </a:solidFill>
                <a:latin typeface="Liberation Serif"/>
              </a:rPr>
              <a:t>x</a:t>
            </a:r>
            <a:r>
              <a:rPr sz="775" b="0" i="1" baseline="-22000">
                <a:solidFill>
                  <a:srgbClr val="D62728"/>
                </a:solidFill>
                <a:latin typeface="Liberation Serif"/>
              </a:rPr>
              <a:t>e</a:t>
            </a:r>
          </a:p>
        </p:txBody>
      </p:sp>
      <p:sp>
        <p:nvSpPr>
          <p:cNvPr id="175" name="plus_circle_prompt"/>
          <p:cNvSpPr/>
          <p:nvPr/>
        </p:nvSpPr>
        <p:spPr>
          <a:xfrm>
            <a:off x="4838700" y="3352800"/>
            <a:ext cx="160020" cy="160020"/>
          </a:xfrm>
          <a:prstGeom prst="ellipse">
            <a:avLst/>
          </a:prstGeom>
          <a:solidFill>
            <a:srgbClr val="FFFFFF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text_174"/>
          <p:cNvSpPr txBox="1"/>
          <p:nvPr/>
        </p:nvSpPr>
        <p:spPr>
          <a:xfrm>
            <a:off x="4838700" y="3337560"/>
            <a:ext cx="16002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ans"/>
              </a:defRPr>
            </a:pPr>
            <a:r>
              <a:t>+</a:t>
            </a:r>
          </a:p>
        </p:txBody>
      </p:sp>
      <p:sp>
        <p:nvSpPr>
          <p:cNvPr id="177" name="text_175"/>
          <p:cNvSpPr txBox="1"/>
          <p:nvPr/>
        </p:nvSpPr>
        <p:spPr>
          <a:xfrm>
            <a:off x="426720" y="3360420"/>
            <a:ext cx="27432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8A8A8A"/>
                </a:solidFill>
                <a:latin typeface="Liberation Serif"/>
              </a:defRPr>
            </a:pPr>
            <a:r>
              <a:t>Top-k Similarity &amp; Softmax Calculation</a:t>
            </a:r>
          </a:p>
        </p:txBody>
      </p:sp>
      <p:sp>
        <p:nvSpPr>
          <p:cNvPr id="178" name="prompt_calculation_group"/>
          <p:cNvSpPr/>
          <p:nvPr/>
        </p:nvSpPr>
        <p:spPr>
          <a:xfrm>
            <a:off x="312420" y="3528060"/>
            <a:ext cx="6659880" cy="853440"/>
          </a:xfrm>
          <a:prstGeom prst="rect">
            <a:avLst/>
          </a:prstGeom>
          <a:noFill/>
          <a:ln w="8382">
            <a:solidFill>
              <a:srgbClr val="16161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vertical_projection"/>
          <p:cNvSpPr/>
          <p:nvPr/>
        </p:nvSpPr>
        <p:spPr>
          <a:xfrm>
            <a:off x="251460" y="3634740"/>
            <a:ext cx="342900" cy="777240"/>
          </a:xfrm>
          <a:prstGeom prst="roundRect">
            <a:avLst>
              <a:gd name="adj" fmla="val 15555"/>
            </a:avLst>
          </a:prstGeom>
          <a:solidFill>
            <a:srgbClr val="F7C3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text_178"/>
          <p:cNvSpPr txBox="1"/>
          <p:nvPr/>
        </p:nvSpPr>
        <p:spPr>
          <a:xfrm rot="16200000">
            <a:off x="312420" y="3756660"/>
            <a:ext cx="2209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erif"/>
              </a:defRPr>
            </a:pPr>
            <a:r>
              <a:t>Projection</a:t>
            </a:r>
          </a:p>
        </p:txBody>
      </p:sp>
      <p:sp>
        <p:nvSpPr>
          <p:cNvPr id="181" name="vertical_projection_flame_outer"/>
          <p:cNvSpPr/>
          <p:nvPr/>
        </p:nvSpPr>
        <p:spPr>
          <a:xfrm>
            <a:off x="441960" y="4091940"/>
            <a:ext cx="114300" cy="182880"/>
          </a:xfrm>
          <a:custGeom>
            <a:avLst/>
            <a:gdLst/>
            <a:ahLst/>
            <a:cxnLst/>
            <a:rect l="l" t="t" r="r" b="b"/>
            <a:pathLst>
              <a:path w="15" h="24">
                <a:moveTo>
                  <a:pt x="8" y="0"/>
                </a:moveTo>
                <a:lnTo>
                  <a:pt x="5" y="7"/>
                </a:lnTo>
                <a:lnTo>
                  <a:pt x="0" y="11"/>
                </a:lnTo>
                <a:lnTo>
                  <a:pt x="1" y="19"/>
                </a:lnTo>
                <a:lnTo>
                  <a:pt x="8" y="24"/>
                </a:lnTo>
                <a:lnTo>
                  <a:pt x="15" y="18"/>
                </a:lnTo>
                <a:lnTo>
                  <a:pt x="13" y="11"/>
                </a:lnTo>
                <a:lnTo>
                  <a:pt x="10" y="5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vertical_projection_flame_inner"/>
          <p:cNvSpPr/>
          <p:nvPr/>
        </p:nvSpPr>
        <p:spPr>
          <a:xfrm>
            <a:off x="480060" y="4160520"/>
            <a:ext cx="45720" cy="99060"/>
          </a:xfrm>
          <a:custGeom>
            <a:avLst/>
            <a:gdLst/>
            <a:ahLst/>
            <a:cxnLst/>
            <a:rect l="l" t="t" r="r" b="b"/>
            <a:pathLst>
              <a:path w="6" h="13">
                <a:moveTo>
                  <a:pt x="3" y="0"/>
                </a:moveTo>
                <a:lnTo>
                  <a:pt x="0" y="6"/>
                </a:lnTo>
                <a:lnTo>
                  <a:pt x="1" y="11"/>
                </a:lnTo>
                <a:lnTo>
                  <a:pt x="3" y="13"/>
                </a:lnTo>
                <a:lnTo>
                  <a:pt x="6" y="9"/>
                </a:lnTo>
                <a:lnTo>
                  <a:pt x="5" y="5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3" name="project_to_xe"/>
          <p:cNvCxnSpPr/>
          <p:nvPr/>
        </p:nvCxnSpPr>
        <p:spPr>
          <a:xfrm>
            <a:off x="594360" y="3901440"/>
            <a:ext cx="304800" cy="0"/>
          </a:xfrm>
          <a:prstGeom prst="line">
            <a:avLst/>
          </a:prstGeom>
          <a:ln w="9144">
            <a:solidFill>
              <a:srgbClr val="161616"/>
            </a:solidFill>
            <a:prstDash val="dash"/>
            <a:tailEnd type="triangle" w="sm" len="sm"/>
          </a:ln>
        </p:spPr>
      </p:cxnSp>
      <p:sp>
        <p:nvSpPr>
          <p:cNvPr id="184" name="xe_vector"/>
          <p:cNvSpPr/>
          <p:nvPr/>
        </p:nvSpPr>
        <p:spPr>
          <a:xfrm>
            <a:off x="883920" y="3695700"/>
            <a:ext cx="198120" cy="419100"/>
          </a:xfrm>
          <a:prstGeom prst="rect">
            <a:avLst/>
          </a:prstGeom>
          <a:solidFill>
            <a:srgbClr val="8D8D8D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rich_183"/>
          <p:cNvSpPr txBox="1"/>
          <p:nvPr/>
        </p:nvSpPr>
        <p:spPr>
          <a:xfrm>
            <a:off x="861060" y="3589020"/>
            <a:ext cx="2667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19" b="0" i="1">
                <a:solidFill>
                  <a:srgbClr val="161616"/>
                </a:solidFill>
                <a:latin typeface="Liberation Serif"/>
              </a:rPr>
              <a:t>x</a:t>
            </a:r>
            <a:r>
              <a:rPr sz="693" b="0" i="1" baseline="-22000">
                <a:solidFill>
                  <a:srgbClr val="161616"/>
                </a:solidFill>
                <a:latin typeface="Liberation Serif"/>
              </a:rPr>
              <a:t>e</a:t>
            </a:r>
          </a:p>
        </p:txBody>
      </p:sp>
      <p:sp>
        <p:nvSpPr>
          <p:cNvPr id="186" name="dot_product_circle"/>
          <p:cNvSpPr/>
          <p:nvPr/>
        </p:nvSpPr>
        <p:spPr>
          <a:xfrm>
            <a:off x="1150620" y="3787140"/>
            <a:ext cx="213360" cy="213360"/>
          </a:xfrm>
          <a:prstGeom prst="ellipse">
            <a:avLst/>
          </a:prstGeom>
          <a:solidFill>
            <a:srgbClr val="FFFFFF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text_185"/>
          <p:cNvSpPr txBox="1"/>
          <p:nvPr/>
        </p:nvSpPr>
        <p:spPr>
          <a:xfrm>
            <a:off x="1150620" y="3779519"/>
            <a:ext cx="21336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20" b="0" i="0">
                <a:solidFill>
                  <a:srgbClr val="161616"/>
                </a:solidFill>
                <a:latin typeface="Liberation Sans"/>
              </a:defRPr>
            </a:pPr>
            <a:r>
              <a:t>•</a:t>
            </a:r>
          </a:p>
        </p:txBody>
      </p:sp>
      <p:sp>
        <p:nvSpPr>
          <p:cNvPr id="188" name="discrete_p_1"/>
          <p:cNvSpPr/>
          <p:nvPr/>
        </p:nvSpPr>
        <p:spPr>
          <a:xfrm>
            <a:off x="1333500" y="3657600"/>
            <a:ext cx="236219" cy="411480"/>
          </a:xfrm>
          <a:prstGeom prst="rect">
            <a:avLst/>
          </a:prstGeom>
          <a:solidFill>
            <a:srgbClr val="DF7476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text_187"/>
          <p:cNvSpPr txBox="1"/>
          <p:nvPr/>
        </p:nvSpPr>
        <p:spPr>
          <a:xfrm>
            <a:off x="1325880" y="3581400"/>
            <a:ext cx="2514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1">
                <a:solidFill>
                  <a:srgbClr val="161616"/>
                </a:solidFill>
                <a:latin typeface="Liberation Serif"/>
              </a:defRPr>
            </a:pPr>
            <a:r>
              <a:t>p1</a:t>
            </a:r>
          </a:p>
        </p:txBody>
      </p:sp>
      <p:sp>
        <p:nvSpPr>
          <p:cNvPr id="190" name="discrete_p_2"/>
          <p:cNvSpPr/>
          <p:nvPr/>
        </p:nvSpPr>
        <p:spPr>
          <a:xfrm>
            <a:off x="1653540" y="3657600"/>
            <a:ext cx="236219" cy="411480"/>
          </a:xfrm>
          <a:prstGeom prst="rect">
            <a:avLst/>
          </a:prstGeom>
          <a:solidFill>
            <a:srgbClr val="DF7476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text_189"/>
          <p:cNvSpPr txBox="1"/>
          <p:nvPr/>
        </p:nvSpPr>
        <p:spPr>
          <a:xfrm>
            <a:off x="1645920" y="3581400"/>
            <a:ext cx="2514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1">
                <a:solidFill>
                  <a:srgbClr val="161616"/>
                </a:solidFill>
                <a:latin typeface="Liberation Serif"/>
              </a:defRPr>
            </a:pPr>
            <a:r>
              <a:t>p2</a:t>
            </a:r>
          </a:p>
        </p:txBody>
      </p:sp>
      <p:sp>
        <p:nvSpPr>
          <p:cNvPr id="192" name="selected_p_2"/>
          <p:cNvSpPr/>
          <p:nvPr/>
        </p:nvSpPr>
        <p:spPr>
          <a:xfrm>
            <a:off x="1615440" y="3573780"/>
            <a:ext cx="312420" cy="533400"/>
          </a:xfrm>
          <a:prstGeom prst="rect">
            <a:avLst/>
          </a:prstGeom>
          <a:noFill/>
          <a:ln w="8382">
            <a:solidFill>
              <a:srgbClr val="D6272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discrete_p_3"/>
          <p:cNvSpPr/>
          <p:nvPr/>
        </p:nvSpPr>
        <p:spPr>
          <a:xfrm>
            <a:off x="1973580" y="3657600"/>
            <a:ext cx="236219" cy="411480"/>
          </a:xfrm>
          <a:prstGeom prst="rect">
            <a:avLst/>
          </a:prstGeom>
          <a:solidFill>
            <a:srgbClr val="DF7476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text_192"/>
          <p:cNvSpPr txBox="1"/>
          <p:nvPr/>
        </p:nvSpPr>
        <p:spPr>
          <a:xfrm>
            <a:off x="1965960" y="3581400"/>
            <a:ext cx="2514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1">
                <a:solidFill>
                  <a:srgbClr val="161616"/>
                </a:solidFill>
                <a:latin typeface="Liberation Serif"/>
              </a:defRPr>
            </a:pPr>
            <a:r>
              <a:t>p3</a:t>
            </a:r>
          </a:p>
        </p:txBody>
      </p:sp>
      <p:sp>
        <p:nvSpPr>
          <p:cNvPr id="195" name="discrete_p_4"/>
          <p:cNvSpPr/>
          <p:nvPr/>
        </p:nvSpPr>
        <p:spPr>
          <a:xfrm>
            <a:off x="2293620" y="3657600"/>
            <a:ext cx="236219" cy="411480"/>
          </a:xfrm>
          <a:prstGeom prst="rect">
            <a:avLst/>
          </a:prstGeom>
          <a:solidFill>
            <a:srgbClr val="DF7476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text_194"/>
          <p:cNvSpPr txBox="1"/>
          <p:nvPr/>
        </p:nvSpPr>
        <p:spPr>
          <a:xfrm>
            <a:off x="2286000" y="3581400"/>
            <a:ext cx="2514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1">
                <a:solidFill>
                  <a:srgbClr val="161616"/>
                </a:solidFill>
                <a:latin typeface="Liberation Serif"/>
              </a:defRPr>
            </a:pPr>
            <a:r>
              <a:t>p4</a:t>
            </a:r>
          </a:p>
        </p:txBody>
      </p:sp>
      <p:sp>
        <p:nvSpPr>
          <p:cNvPr id="197" name="selected_p_4"/>
          <p:cNvSpPr/>
          <p:nvPr/>
        </p:nvSpPr>
        <p:spPr>
          <a:xfrm>
            <a:off x="2255520" y="3573780"/>
            <a:ext cx="312420" cy="533400"/>
          </a:xfrm>
          <a:prstGeom prst="rect">
            <a:avLst/>
          </a:prstGeom>
          <a:noFill/>
          <a:ln w="8382">
            <a:solidFill>
              <a:srgbClr val="D6272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discrete_p_5"/>
          <p:cNvSpPr/>
          <p:nvPr/>
        </p:nvSpPr>
        <p:spPr>
          <a:xfrm>
            <a:off x="2613660" y="3657600"/>
            <a:ext cx="236219" cy="411480"/>
          </a:xfrm>
          <a:prstGeom prst="rect">
            <a:avLst/>
          </a:prstGeom>
          <a:solidFill>
            <a:srgbClr val="DF7476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text_197"/>
          <p:cNvSpPr txBox="1"/>
          <p:nvPr/>
        </p:nvSpPr>
        <p:spPr>
          <a:xfrm>
            <a:off x="2606040" y="3581400"/>
            <a:ext cx="2514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1">
                <a:solidFill>
                  <a:srgbClr val="161616"/>
                </a:solidFill>
                <a:latin typeface="Liberation Serif"/>
              </a:defRPr>
            </a:pPr>
            <a:r>
              <a:t>p5</a:t>
            </a:r>
          </a:p>
        </p:txBody>
      </p:sp>
      <p:sp>
        <p:nvSpPr>
          <p:cNvPr id="200" name="discrete_p_6"/>
          <p:cNvSpPr/>
          <p:nvPr/>
        </p:nvSpPr>
        <p:spPr>
          <a:xfrm>
            <a:off x="2933700" y="3657600"/>
            <a:ext cx="236219" cy="411480"/>
          </a:xfrm>
          <a:prstGeom prst="rect">
            <a:avLst/>
          </a:prstGeom>
          <a:solidFill>
            <a:srgbClr val="DF7476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text_199"/>
          <p:cNvSpPr txBox="1"/>
          <p:nvPr/>
        </p:nvSpPr>
        <p:spPr>
          <a:xfrm>
            <a:off x="2926080" y="3581400"/>
            <a:ext cx="2514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1">
                <a:solidFill>
                  <a:srgbClr val="161616"/>
                </a:solidFill>
                <a:latin typeface="Liberation Serif"/>
              </a:defRPr>
            </a:pPr>
            <a:r>
              <a:t>p6</a:t>
            </a:r>
          </a:p>
        </p:txBody>
      </p:sp>
      <p:sp>
        <p:nvSpPr>
          <p:cNvPr id="202" name="discrete_p_7"/>
          <p:cNvSpPr/>
          <p:nvPr/>
        </p:nvSpPr>
        <p:spPr>
          <a:xfrm>
            <a:off x="3253740" y="3657600"/>
            <a:ext cx="236219" cy="411480"/>
          </a:xfrm>
          <a:prstGeom prst="rect">
            <a:avLst/>
          </a:prstGeom>
          <a:solidFill>
            <a:srgbClr val="DF7476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text_201"/>
          <p:cNvSpPr txBox="1"/>
          <p:nvPr/>
        </p:nvSpPr>
        <p:spPr>
          <a:xfrm>
            <a:off x="3246120" y="3581400"/>
            <a:ext cx="2514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1">
                <a:solidFill>
                  <a:srgbClr val="161616"/>
                </a:solidFill>
                <a:latin typeface="Liberation Serif"/>
              </a:defRPr>
            </a:pPr>
            <a:r>
              <a:t>p7</a:t>
            </a:r>
          </a:p>
        </p:txBody>
      </p:sp>
      <p:sp>
        <p:nvSpPr>
          <p:cNvPr id="204" name="selected_p_7"/>
          <p:cNvSpPr/>
          <p:nvPr/>
        </p:nvSpPr>
        <p:spPr>
          <a:xfrm>
            <a:off x="3215640" y="3573780"/>
            <a:ext cx="312420" cy="533400"/>
          </a:xfrm>
          <a:prstGeom prst="rect">
            <a:avLst/>
          </a:prstGeom>
          <a:noFill/>
          <a:ln w="8382">
            <a:solidFill>
              <a:srgbClr val="D6272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discrete_p_8"/>
          <p:cNvSpPr/>
          <p:nvPr/>
        </p:nvSpPr>
        <p:spPr>
          <a:xfrm>
            <a:off x="3573780" y="3657600"/>
            <a:ext cx="236219" cy="411480"/>
          </a:xfrm>
          <a:prstGeom prst="rect">
            <a:avLst/>
          </a:prstGeom>
          <a:solidFill>
            <a:srgbClr val="DF7476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text_204"/>
          <p:cNvSpPr txBox="1"/>
          <p:nvPr/>
        </p:nvSpPr>
        <p:spPr>
          <a:xfrm>
            <a:off x="3566160" y="3581400"/>
            <a:ext cx="2514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1">
                <a:solidFill>
                  <a:srgbClr val="161616"/>
                </a:solidFill>
                <a:latin typeface="Liberation Serif"/>
              </a:defRPr>
            </a:pPr>
            <a:r>
              <a:t>p8</a:t>
            </a:r>
          </a:p>
        </p:txBody>
      </p:sp>
      <p:cxnSp>
        <p:nvCxnSpPr>
          <p:cNvPr id="207" name="patchify_to_xp"/>
          <p:cNvCxnSpPr/>
          <p:nvPr/>
        </p:nvCxnSpPr>
        <p:spPr>
          <a:xfrm>
            <a:off x="2773680" y="3901440"/>
            <a:ext cx="929640" cy="0"/>
          </a:xfrm>
          <a:prstGeom prst="line">
            <a:avLst/>
          </a:prstGeom>
          <a:ln w="9144">
            <a:solidFill>
              <a:srgbClr val="161616"/>
            </a:solidFill>
            <a:prstDash val="dash"/>
            <a:tailEnd type="triangle" w="sm" len="sm"/>
          </a:ln>
        </p:spPr>
      </p:cxnSp>
      <p:sp>
        <p:nvSpPr>
          <p:cNvPr id="208" name="patchify_flame_outer"/>
          <p:cNvSpPr/>
          <p:nvPr/>
        </p:nvSpPr>
        <p:spPr>
          <a:xfrm>
            <a:off x="3131820" y="3825240"/>
            <a:ext cx="121920" cy="198120"/>
          </a:xfrm>
          <a:custGeom>
            <a:avLst/>
            <a:gdLst/>
            <a:ahLst/>
            <a:cxnLst/>
            <a:rect l="l" t="t" r="r" b="b"/>
            <a:pathLst>
              <a:path w="16" h="26">
                <a:moveTo>
                  <a:pt x="8" y="0"/>
                </a:moveTo>
                <a:lnTo>
                  <a:pt x="5" y="8"/>
                </a:lnTo>
                <a:lnTo>
                  <a:pt x="0" y="12"/>
                </a:lnTo>
                <a:lnTo>
                  <a:pt x="1" y="21"/>
                </a:lnTo>
                <a:lnTo>
                  <a:pt x="8" y="26"/>
                </a:lnTo>
                <a:lnTo>
                  <a:pt x="16" y="19"/>
                </a:lnTo>
                <a:lnTo>
                  <a:pt x="14" y="12"/>
                </a:lnTo>
                <a:lnTo>
                  <a:pt x="10" y="5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patchify_flame_inner"/>
          <p:cNvSpPr/>
          <p:nvPr/>
        </p:nvSpPr>
        <p:spPr>
          <a:xfrm>
            <a:off x="3162300" y="3893820"/>
            <a:ext cx="53340" cy="106680"/>
          </a:xfrm>
          <a:custGeom>
            <a:avLst/>
            <a:gdLst/>
            <a:ahLst/>
            <a:cxnLst/>
            <a:rect l="l" t="t" r="r" b="b"/>
            <a:pathLst>
              <a:path w="7" h="14">
                <a:moveTo>
                  <a:pt x="4" y="0"/>
                </a:moveTo>
                <a:lnTo>
                  <a:pt x="0" y="7"/>
                </a:lnTo>
                <a:lnTo>
                  <a:pt x="2" y="12"/>
                </a:lnTo>
                <a:lnTo>
                  <a:pt x="4" y="14"/>
                </a:lnTo>
                <a:lnTo>
                  <a:pt x="7" y="10"/>
                </a:lnTo>
                <a:lnTo>
                  <a:pt x="6" y="6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text_208"/>
          <p:cNvSpPr txBox="1"/>
          <p:nvPr/>
        </p:nvSpPr>
        <p:spPr>
          <a:xfrm>
            <a:off x="2842260" y="4076699"/>
            <a:ext cx="67056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161616"/>
                </a:solidFill>
                <a:latin typeface="Liberation Serif"/>
              </a:defRPr>
            </a:pPr>
            <a:r>
              <a:t>Patchify</a:t>
            </a:r>
          </a:p>
        </p:txBody>
      </p:sp>
      <p:cxnSp>
        <p:nvCxnSpPr>
          <p:cNvPr id="211" name="alpha_selection"/>
          <p:cNvCxnSpPr/>
          <p:nvPr/>
        </p:nvCxnSpPr>
        <p:spPr>
          <a:xfrm flipV="1">
            <a:off x="1493520" y="4122419"/>
            <a:ext cx="0" cy="167641"/>
          </a:xfrm>
          <a:prstGeom prst="line">
            <a:avLst/>
          </a:prstGeom>
          <a:ln w="7620">
            <a:solidFill>
              <a:srgbClr val="161616"/>
            </a:solidFill>
            <a:prstDash val="dash"/>
            <a:tailEnd type="triangle" w="sm" len="sm"/>
          </a:ln>
        </p:spPr>
      </p:cxnSp>
      <p:cxnSp>
        <p:nvCxnSpPr>
          <p:cNvPr id="212" name="alpha_selection"/>
          <p:cNvCxnSpPr/>
          <p:nvPr/>
        </p:nvCxnSpPr>
        <p:spPr>
          <a:xfrm flipV="1">
            <a:off x="2133600" y="4122419"/>
            <a:ext cx="0" cy="167641"/>
          </a:xfrm>
          <a:prstGeom prst="line">
            <a:avLst/>
          </a:prstGeom>
          <a:ln w="7620">
            <a:solidFill>
              <a:srgbClr val="161616"/>
            </a:solidFill>
            <a:prstDash val="dash"/>
            <a:tailEnd type="triangle" w="sm" len="sm"/>
          </a:ln>
        </p:spPr>
      </p:cxnSp>
      <p:cxnSp>
        <p:nvCxnSpPr>
          <p:cNvPr id="213" name="alpha_selection"/>
          <p:cNvCxnSpPr/>
          <p:nvPr/>
        </p:nvCxnSpPr>
        <p:spPr>
          <a:xfrm flipV="1">
            <a:off x="2773680" y="4122419"/>
            <a:ext cx="0" cy="167641"/>
          </a:xfrm>
          <a:prstGeom prst="line">
            <a:avLst/>
          </a:prstGeom>
          <a:ln w="7620">
            <a:solidFill>
              <a:srgbClr val="161616"/>
            </a:solidFill>
            <a:prstDash val="dash"/>
            <a:tailEnd type="triangle" w="sm" len="sm"/>
          </a:ln>
        </p:spPr>
      </p:cxnSp>
      <p:sp>
        <p:nvSpPr>
          <p:cNvPr id="214" name="text_212"/>
          <p:cNvSpPr txBox="1"/>
          <p:nvPr/>
        </p:nvSpPr>
        <p:spPr>
          <a:xfrm>
            <a:off x="1348740" y="4114800"/>
            <a:ext cx="41910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1">
                <a:solidFill>
                  <a:srgbClr val="161616"/>
                </a:solidFill>
                <a:latin typeface="Liberation Serif"/>
              </a:defRPr>
            </a:pPr>
            <a:r>
              <a:t>α₁</a:t>
            </a:r>
          </a:p>
        </p:txBody>
      </p:sp>
      <p:sp>
        <p:nvSpPr>
          <p:cNvPr id="215" name="text_213"/>
          <p:cNvSpPr txBox="1"/>
          <p:nvPr/>
        </p:nvSpPr>
        <p:spPr>
          <a:xfrm>
            <a:off x="1988819" y="4114800"/>
            <a:ext cx="41910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1">
                <a:solidFill>
                  <a:srgbClr val="161616"/>
                </a:solidFill>
                <a:latin typeface="Liberation Serif"/>
              </a:defRPr>
            </a:pPr>
            <a:r>
              <a:t>α₂</a:t>
            </a:r>
          </a:p>
        </p:txBody>
      </p:sp>
      <p:sp>
        <p:nvSpPr>
          <p:cNvPr id="216" name="text_214"/>
          <p:cNvSpPr txBox="1"/>
          <p:nvPr/>
        </p:nvSpPr>
        <p:spPr>
          <a:xfrm>
            <a:off x="2628900" y="4114800"/>
            <a:ext cx="41910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1">
                <a:solidFill>
                  <a:srgbClr val="161616"/>
                </a:solidFill>
                <a:latin typeface="Liberation Serif"/>
              </a:defRPr>
            </a:pPr>
            <a:r>
              <a:t>α₃</a:t>
            </a:r>
          </a:p>
        </p:txBody>
      </p:sp>
      <p:sp>
        <p:nvSpPr>
          <p:cNvPr id="217" name="selection_bus"/>
          <p:cNvSpPr/>
          <p:nvPr/>
        </p:nvSpPr>
        <p:spPr>
          <a:xfrm>
            <a:off x="990600" y="4107180"/>
            <a:ext cx="1783080" cy="182880"/>
          </a:xfrm>
          <a:custGeom>
            <a:avLst/>
            <a:gdLst/>
            <a:ahLst/>
            <a:cxnLst/>
            <a:rect l="l" t="t" r="r" b="b"/>
            <a:pathLst>
              <a:path w="234" h="24">
                <a:moveTo>
                  <a:pt x="0" y="0"/>
                </a:moveTo>
                <a:lnTo>
                  <a:pt x="0" y="24"/>
                </a:lnTo>
                <a:lnTo>
                  <a:pt x="234" y="24"/>
                </a:lnTo>
              </a:path>
            </a:pathLst>
          </a:custGeom>
          <a:noFill/>
          <a:ln w="8382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xp_group"/>
          <p:cNvSpPr/>
          <p:nvPr/>
        </p:nvSpPr>
        <p:spPr>
          <a:xfrm>
            <a:off x="3703320" y="3619500"/>
            <a:ext cx="739140" cy="693420"/>
          </a:xfrm>
          <a:prstGeom prst="rect">
            <a:avLst/>
          </a:prstGeom>
          <a:noFill/>
          <a:ln w="8382">
            <a:solidFill>
              <a:srgbClr val="16161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xp_token_0"/>
          <p:cNvSpPr/>
          <p:nvPr/>
        </p:nvSpPr>
        <p:spPr>
          <a:xfrm>
            <a:off x="3771900" y="3680460"/>
            <a:ext cx="175260" cy="60960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xp_token_0_cell_0"/>
          <p:cNvSpPr/>
          <p:nvPr/>
        </p:nvSpPr>
        <p:spPr>
          <a:xfrm>
            <a:off x="3810000" y="3726180"/>
            <a:ext cx="99060" cy="142240"/>
          </a:xfrm>
          <a:prstGeom prst="rect">
            <a:avLst/>
          </a:prstGeom>
          <a:solidFill>
            <a:srgbClr val="B8C8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xp_token_0_cell_1"/>
          <p:cNvSpPr/>
          <p:nvPr/>
        </p:nvSpPr>
        <p:spPr>
          <a:xfrm>
            <a:off x="3810000" y="3914139"/>
            <a:ext cx="99060" cy="142240"/>
          </a:xfrm>
          <a:prstGeom prst="rect">
            <a:avLst/>
          </a:prstGeom>
          <a:solidFill>
            <a:srgbClr val="96ABC7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xp_token_0_cell_2"/>
          <p:cNvSpPr/>
          <p:nvPr/>
        </p:nvSpPr>
        <p:spPr>
          <a:xfrm>
            <a:off x="3810000" y="4102100"/>
            <a:ext cx="99060" cy="142240"/>
          </a:xfrm>
          <a:prstGeom prst="rect">
            <a:avLst/>
          </a:prstGeom>
          <a:solidFill>
            <a:srgbClr val="6F84A1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xp_token_0_ellipsis"/>
          <p:cNvSpPr txBox="1"/>
          <p:nvPr/>
        </p:nvSpPr>
        <p:spPr>
          <a:xfrm>
            <a:off x="3794760" y="3931920"/>
            <a:ext cx="12954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224" name="xp_token_1"/>
          <p:cNvSpPr/>
          <p:nvPr/>
        </p:nvSpPr>
        <p:spPr>
          <a:xfrm>
            <a:off x="4008119" y="3680460"/>
            <a:ext cx="175260" cy="60960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xp_token_1_cell_0"/>
          <p:cNvSpPr/>
          <p:nvPr/>
        </p:nvSpPr>
        <p:spPr>
          <a:xfrm>
            <a:off x="4046220" y="3726180"/>
            <a:ext cx="99060" cy="142240"/>
          </a:xfrm>
          <a:prstGeom prst="rect">
            <a:avLst/>
          </a:prstGeom>
          <a:solidFill>
            <a:srgbClr val="B8C8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xp_token_1_cell_1"/>
          <p:cNvSpPr/>
          <p:nvPr/>
        </p:nvSpPr>
        <p:spPr>
          <a:xfrm>
            <a:off x="4046220" y="3914139"/>
            <a:ext cx="99060" cy="142240"/>
          </a:xfrm>
          <a:prstGeom prst="rect">
            <a:avLst/>
          </a:prstGeom>
          <a:solidFill>
            <a:srgbClr val="96ABC7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xp_token_1_cell_2"/>
          <p:cNvSpPr/>
          <p:nvPr/>
        </p:nvSpPr>
        <p:spPr>
          <a:xfrm>
            <a:off x="4046220" y="4102100"/>
            <a:ext cx="99060" cy="142240"/>
          </a:xfrm>
          <a:prstGeom prst="rect">
            <a:avLst/>
          </a:prstGeom>
          <a:solidFill>
            <a:srgbClr val="6F84A1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xp_token_1_ellipsis"/>
          <p:cNvSpPr txBox="1"/>
          <p:nvPr/>
        </p:nvSpPr>
        <p:spPr>
          <a:xfrm>
            <a:off x="4030980" y="3931920"/>
            <a:ext cx="12954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229" name="xp_token_2"/>
          <p:cNvSpPr/>
          <p:nvPr/>
        </p:nvSpPr>
        <p:spPr>
          <a:xfrm>
            <a:off x="4244340" y="3680460"/>
            <a:ext cx="175260" cy="60960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xp_token_2_cell_0"/>
          <p:cNvSpPr/>
          <p:nvPr/>
        </p:nvSpPr>
        <p:spPr>
          <a:xfrm>
            <a:off x="4282440" y="3726180"/>
            <a:ext cx="99060" cy="142240"/>
          </a:xfrm>
          <a:prstGeom prst="rect">
            <a:avLst/>
          </a:prstGeom>
          <a:solidFill>
            <a:srgbClr val="B8C8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xp_token_2_cell_1"/>
          <p:cNvSpPr/>
          <p:nvPr/>
        </p:nvSpPr>
        <p:spPr>
          <a:xfrm>
            <a:off x="4282440" y="3914139"/>
            <a:ext cx="99060" cy="142240"/>
          </a:xfrm>
          <a:prstGeom prst="rect">
            <a:avLst/>
          </a:prstGeom>
          <a:solidFill>
            <a:srgbClr val="96ABC7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xp_token_2_cell_2"/>
          <p:cNvSpPr/>
          <p:nvPr/>
        </p:nvSpPr>
        <p:spPr>
          <a:xfrm>
            <a:off x="4282440" y="4102100"/>
            <a:ext cx="99060" cy="142240"/>
          </a:xfrm>
          <a:prstGeom prst="rect">
            <a:avLst/>
          </a:prstGeom>
          <a:solidFill>
            <a:srgbClr val="6F84A1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xp_token_2_ellipsis"/>
          <p:cNvSpPr txBox="1"/>
          <p:nvPr/>
        </p:nvSpPr>
        <p:spPr>
          <a:xfrm>
            <a:off x="4267200" y="3931920"/>
            <a:ext cx="12954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234" name="rich_232"/>
          <p:cNvSpPr txBox="1"/>
          <p:nvPr/>
        </p:nvSpPr>
        <p:spPr>
          <a:xfrm>
            <a:off x="3855720" y="4206240"/>
            <a:ext cx="396240" cy="205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40" b="0" i="1">
                <a:solidFill>
                  <a:srgbClr val="D62728"/>
                </a:solidFill>
                <a:latin typeface="Liberation Serif"/>
              </a:rPr>
              <a:t>x</a:t>
            </a:r>
            <a:r>
              <a:rPr sz="775" b="0" i="1" baseline="-22000">
                <a:solidFill>
                  <a:srgbClr val="D62728"/>
                </a:solidFill>
                <a:latin typeface="Liberation Serif"/>
              </a:rPr>
              <a:t>p</a:t>
            </a:r>
          </a:p>
        </p:txBody>
      </p:sp>
      <p:sp>
        <p:nvSpPr>
          <p:cNvPr id="235" name="text_233"/>
          <p:cNvSpPr txBox="1"/>
          <p:nvPr/>
        </p:nvSpPr>
        <p:spPr>
          <a:xfrm>
            <a:off x="4427220" y="3619500"/>
            <a:ext cx="624840" cy="167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8A8A8A"/>
                </a:solidFill>
                <a:latin typeface="Liberation Serif"/>
              </a:defRPr>
            </a:pPr>
            <a:r>
              <a:t>Concat</a:t>
            </a:r>
          </a:p>
        </p:txBody>
      </p:sp>
      <p:cxnSp>
        <p:nvCxnSpPr>
          <p:cNvPr id="236" name="concat_down"/>
          <p:cNvCxnSpPr/>
          <p:nvPr/>
        </p:nvCxnSpPr>
        <p:spPr>
          <a:xfrm>
            <a:off x="4838700" y="3497579"/>
            <a:ext cx="0" cy="373381"/>
          </a:xfrm>
          <a:prstGeom prst="line">
            <a:avLst/>
          </a:prstGeom>
          <a:ln w="9144">
            <a:solidFill>
              <a:srgbClr val="161616"/>
            </a:solidFill>
            <a:tailEnd type="triangle" w="sm" len="sm"/>
          </a:ln>
        </p:spPr>
      </p:cxnSp>
      <p:sp>
        <p:nvSpPr>
          <p:cNvPr id="237" name="text_235"/>
          <p:cNvSpPr txBox="1"/>
          <p:nvPr/>
        </p:nvSpPr>
        <p:spPr>
          <a:xfrm>
            <a:off x="5875020" y="3634740"/>
            <a:ext cx="990599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D62728"/>
                </a:solidFill>
                <a:latin typeface="Liberation Serif"/>
              </a:defRPr>
            </a:pPr>
            <a:r>
              <a:t>Contextual Input</a:t>
            </a:r>
          </a:p>
        </p:txBody>
      </p:sp>
      <p:sp>
        <p:nvSpPr>
          <p:cNvPr id="238" name="context_group"/>
          <p:cNvSpPr/>
          <p:nvPr/>
        </p:nvSpPr>
        <p:spPr>
          <a:xfrm>
            <a:off x="4579620" y="3893819"/>
            <a:ext cx="2278380" cy="373380"/>
          </a:xfrm>
          <a:prstGeom prst="rect">
            <a:avLst/>
          </a:prstGeom>
          <a:noFill/>
          <a:ln w="8382">
            <a:solidFill>
              <a:srgbClr val="16161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context_tokens_0"/>
          <p:cNvSpPr/>
          <p:nvPr/>
        </p:nvSpPr>
        <p:spPr>
          <a:xfrm>
            <a:off x="4625340" y="3931920"/>
            <a:ext cx="236219" cy="281940"/>
          </a:xfrm>
          <a:prstGeom prst="roundRect">
            <a:avLst>
              <a:gd name="adj" fmla="val 50000"/>
            </a:avLst>
          </a:prstGeom>
          <a:solidFill>
            <a:srgbClr val="BFD4EC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context_tokens_0_label"/>
          <p:cNvSpPr txBox="1"/>
          <p:nvPr/>
        </p:nvSpPr>
        <p:spPr>
          <a:xfrm>
            <a:off x="4625340" y="3931920"/>
            <a:ext cx="236219" cy="281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*1</a:t>
            </a:r>
          </a:p>
        </p:txBody>
      </p:sp>
      <p:sp>
        <p:nvSpPr>
          <p:cNvPr id="241" name="context_tokens_1"/>
          <p:cNvSpPr/>
          <p:nvPr/>
        </p:nvSpPr>
        <p:spPr>
          <a:xfrm>
            <a:off x="4892040" y="3931920"/>
            <a:ext cx="236219" cy="2819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context_tokens_1_label"/>
          <p:cNvSpPr txBox="1"/>
          <p:nvPr/>
        </p:nvSpPr>
        <p:spPr>
          <a:xfrm>
            <a:off x="4892040" y="3931920"/>
            <a:ext cx="236219" cy="281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…</a:t>
            </a:r>
          </a:p>
        </p:txBody>
      </p:sp>
      <p:sp>
        <p:nvSpPr>
          <p:cNvPr id="243" name="context_tokens_2"/>
          <p:cNvSpPr/>
          <p:nvPr/>
        </p:nvSpPr>
        <p:spPr>
          <a:xfrm>
            <a:off x="5158740" y="3931920"/>
            <a:ext cx="236219" cy="281940"/>
          </a:xfrm>
          <a:prstGeom prst="roundRect">
            <a:avLst>
              <a:gd name="adj" fmla="val 50000"/>
            </a:avLst>
          </a:prstGeom>
          <a:solidFill>
            <a:srgbClr val="BFD4EC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context_tokens_2_label"/>
          <p:cNvSpPr txBox="1"/>
          <p:nvPr/>
        </p:nvSpPr>
        <p:spPr>
          <a:xfrm>
            <a:off x="5158740" y="3931920"/>
            <a:ext cx="236219" cy="281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*N</a:t>
            </a:r>
          </a:p>
        </p:txBody>
      </p:sp>
      <p:sp>
        <p:nvSpPr>
          <p:cNvPr id="245" name="context_tokens_3"/>
          <p:cNvSpPr/>
          <p:nvPr/>
        </p:nvSpPr>
        <p:spPr>
          <a:xfrm>
            <a:off x="5425440" y="3931920"/>
            <a:ext cx="236219" cy="281940"/>
          </a:xfrm>
          <a:prstGeom prst="roundRect">
            <a:avLst>
              <a:gd name="adj" fmla="val 50000"/>
            </a:avLst>
          </a:prstGeom>
          <a:solidFill>
            <a:srgbClr val="BFD4EC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context_tokens_3_label"/>
          <p:cNvSpPr txBox="1"/>
          <p:nvPr/>
        </p:nvSpPr>
        <p:spPr>
          <a:xfrm>
            <a:off x="5425440" y="3931920"/>
            <a:ext cx="236219" cy="281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*0</a:t>
            </a:r>
          </a:p>
        </p:txBody>
      </p:sp>
      <p:sp>
        <p:nvSpPr>
          <p:cNvPr id="247" name="context_tokens_4"/>
          <p:cNvSpPr/>
          <p:nvPr/>
        </p:nvSpPr>
        <p:spPr>
          <a:xfrm>
            <a:off x="5692140" y="3931920"/>
            <a:ext cx="236219" cy="281940"/>
          </a:xfrm>
          <a:prstGeom prst="roundRect">
            <a:avLst>
              <a:gd name="adj" fmla="val 50000"/>
            </a:avLst>
          </a:prstGeom>
          <a:solidFill>
            <a:srgbClr val="BFD4EC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context_tokens_4_label"/>
          <p:cNvSpPr txBox="1"/>
          <p:nvPr/>
        </p:nvSpPr>
        <p:spPr>
          <a:xfrm>
            <a:off x="5692140" y="3931920"/>
            <a:ext cx="236219" cy="281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*1</a:t>
            </a:r>
          </a:p>
        </p:txBody>
      </p:sp>
      <p:sp>
        <p:nvSpPr>
          <p:cNvPr id="249" name="context_tokens_5"/>
          <p:cNvSpPr/>
          <p:nvPr/>
        </p:nvSpPr>
        <p:spPr>
          <a:xfrm>
            <a:off x="5958840" y="3931920"/>
            <a:ext cx="236219" cy="281940"/>
          </a:xfrm>
          <a:prstGeom prst="roundRect">
            <a:avLst>
              <a:gd name="adj" fmla="val 50000"/>
            </a:avLst>
          </a:prstGeom>
          <a:solidFill>
            <a:srgbClr val="BFD4EC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context_tokens_5_label"/>
          <p:cNvSpPr txBox="1"/>
          <p:nvPr/>
        </p:nvSpPr>
        <p:spPr>
          <a:xfrm>
            <a:off x="5958840" y="3931920"/>
            <a:ext cx="236219" cy="281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*2</a:t>
            </a:r>
          </a:p>
        </p:txBody>
      </p:sp>
      <p:sp>
        <p:nvSpPr>
          <p:cNvPr id="251" name="context_tokens_6"/>
          <p:cNvSpPr/>
          <p:nvPr/>
        </p:nvSpPr>
        <p:spPr>
          <a:xfrm>
            <a:off x="6225540" y="3931920"/>
            <a:ext cx="236219" cy="2819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context_tokens_6_label"/>
          <p:cNvSpPr txBox="1"/>
          <p:nvPr/>
        </p:nvSpPr>
        <p:spPr>
          <a:xfrm>
            <a:off x="6225540" y="3931920"/>
            <a:ext cx="236219" cy="281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…</a:t>
            </a:r>
          </a:p>
        </p:txBody>
      </p:sp>
      <p:sp>
        <p:nvSpPr>
          <p:cNvPr id="253" name="context_tokens_7"/>
          <p:cNvSpPr/>
          <p:nvPr/>
        </p:nvSpPr>
        <p:spPr>
          <a:xfrm>
            <a:off x="6492240" y="3931920"/>
            <a:ext cx="236219" cy="281940"/>
          </a:xfrm>
          <a:prstGeom prst="roundRect">
            <a:avLst>
              <a:gd name="adj" fmla="val 50000"/>
            </a:avLst>
          </a:prstGeom>
          <a:solidFill>
            <a:srgbClr val="BFD4EC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context_tokens_7_label"/>
          <p:cNvSpPr txBox="1"/>
          <p:nvPr/>
        </p:nvSpPr>
        <p:spPr>
          <a:xfrm>
            <a:off x="6492240" y="3931920"/>
            <a:ext cx="236219" cy="281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*L</a:t>
            </a:r>
          </a:p>
        </p:txBody>
      </p:sp>
      <p:sp>
        <p:nvSpPr>
          <p:cNvPr id="255" name="rich_253"/>
          <p:cNvSpPr txBox="1"/>
          <p:nvPr/>
        </p:nvSpPr>
        <p:spPr>
          <a:xfrm>
            <a:off x="6134100" y="4175760"/>
            <a:ext cx="533400" cy="205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40" b="0" i="1">
                <a:solidFill>
                  <a:srgbClr val="D62728"/>
                </a:solidFill>
                <a:latin typeface="Liberation Serif"/>
              </a:rPr>
              <a:t>x</a:t>
            </a:r>
            <a:r>
              <a:rPr sz="775" b="0" i="1" baseline="-22000">
                <a:solidFill>
                  <a:srgbClr val="D62728"/>
                </a:solidFill>
                <a:latin typeface="Liberation Serif"/>
              </a:rPr>
              <a:t>ctx</a:t>
            </a:r>
          </a:p>
        </p:txBody>
      </p:sp>
      <p:sp>
        <p:nvSpPr>
          <p:cNvPr id="256" name="raw_to_norm"/>
          <p:cNvSpPr/>
          <p:nvPr/>
        </p:nvSpPr>
        <p:spPr>
          <a:xfrm>
            <a:off x="114300" y="1981200"/>
            <a:ext cx="198120" cy="1120140"/>
          </a:xfrm>
          <a:custGeom>
            <a:avLst/>
            <a:gdLst/>
            <a:ahLst/>
            <a:cxnLst/>
            <a:rect l="l" t="t" r="r" b="b"/>
            <a:pathLst>
              <a:path w="26" h="147">
                <a:moveTo>
                  <a:pt x="0" y="0"/>
                </a:moveTo>
                <a:lnTo>
                  <a:pt x="0" y="147"/>
                </a:lnTo>
                <a:lnTo>
                  <a:pt x="26" y="147"/>
                </a:lnTo>
              </a:path>
            </a:pathLst>
          </a:custGeom>
          <a:noFill/>
          <a:ln w="7620">
            <a:solidFill>
              <a:srgbClr val="8A8A8A"/>
            </a:solidFill>
            <a:prstDash val="dash"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raw_to_projection"/>
          <p:cNvSpPr/>
          <p:nvPr/>
        </p:nvSpPr>
        <p:spPr>
          <a:xfrm>
            <a:off x="114300" y="1981200"/>
            <a:ext cx="137160" cy="1927860"/>
          </a:xfrm>
          <a:custGeom>
            <a:avLst/>
            <a:gdLst/>
            <a:ahLst/>
            <a:cxnLst/>
            <a:rect l="l" t="t" r="r" b="b"/>
            <a:pathLst>
              <a:path w="18" h="253">
                <a:moveTo>
                  <a:pt x="0" y="0"/>
                </a:moveTo>
                <a:lnTo>
                  <a:pt x="0" y="253"/>
                </a:lnTo>
                <a:lnTo>
                  <a:pt x="18" y="253"/>
                </a:lnTo>
              </a:path>
            </a:pathLst>
          </a:custGeom>
          <a:noFill/>
          <a:ln w="7620">
            <a:solidFill>
              <a:srgbClr val="8A8A8A"/>
            </a:solidFill>
            <a:prstDash val="dash"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8" name="xctx_to_pretrain"/>
          <p:cNvCxnSpPr/>
          <p:nvPr/>
        </p:nvCxnSpPr>
        <p:spPr>
          <a:xfrm>
            <a:off x="5791200" y="4267200"/>
            <a:ext cx="0" cy="655320"/>
          </a:xfrm>
          <a:prstGeom prst="line">
            <a:avLst/>
          </a:prstGeom>
          <a:ln w="7620">
            <a:solidFill>
              <a:srgbClr val="8A8A8A"/>
            </a:solidFill>
            <a:prstDash val="dash"/>
            <a:tailEnd type="triangle" w="sm" len="sm"/>
          </a:ln>
        </p:spPr>
      </p:cxnSp>
      <p:sp>
        <p:nvSpPr>
          <p:cNvPr id="259" name="text_257"/>
          <p:cNvSpPr txBox="1"/>
          <p:nvPr/>
        </p:nvSpPr>
        <p:spPr>
          <a:xfrm>
            <a:off x="2606040" y="4693920"/>
            <a:ext cx="2286000" cy="259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20" b="1" i="0">
                <a:solidFill>
                  <a:srgbClr val="161616"/>
                </a:solidFill>
                <a:latin typeface="Liberation Serif"/>
              </a:defRPr>
            </a:pPr>
            <a:r>
              <a:t>Multi-Task Pretraining</a:t>
            </a:r>
          </a:p>
        </p:txBody>
      </p:sp>
      <p:sp>
        <p:nvSpPr>
          <p:cNvPr id="260" name="text_258"/>
          <p:cNvSpPr txBox="1"/>
          <p:nvPr/>
        </p:nvSpPr>
        <p:spPr>
          <a:xfrm>
            <a:off x="213360" y="5059680"/>
            <a:ext cx="670560" cy="205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Encoder</a:t>
            </a:r>
          </a:p>
        </p:txBody>
      </p:sp>
      <p:sp>
        <p:nvSpPr>
          <p:cNvPr id="261" name="text_259"/>
          <p:cNvSpPr txBox="1"/>
          <p:nvPr/>
        </p:nvSpPr>
        <p:spPr>
          <a:xfrm>
            <a:off x="213360" y="5715000"/>
            <a:ext cx="670560" cy="205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Decoder</a:t>
            </a:r>
          </a:p>
        </p:txBody>
      </p:sp>
      <p:sp>
        <p:nvSpPr>
          <p:cNvPr id="262" name="transformer_layer_0"/>
          <p:cNvSpPr/>
          <p:nvPr/>
        </p:nvSpPr>
        <p:spPr>
          <a:xfrm>
            <a:off x="868680" y="5013960"/>
            <a:ext cx="5623560" cy="251460"/>
          </a:xfrm>
          <a:prstGeom prst="roundRect">
            <a:avLst>
              <a:gd name="adj" fmla="val 18181"/>
            </a:avLst>
          </a:prstGeom>
          <a:solidFill>
            <a:srgbClr val="E2F0D8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train_flame_0_outer"/>
          <p:cNvSpPr/>
          <p:nvPr/>
        </p:nvSpPr>
        <p:spPr>
          <a:xfrm>
            <a:off x="944880" y="5044440"/>
            <a:ext cx="106680" cy="167640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7" y="0"/>
                </a:moveTo>
                <a:lnTo>
                  <a:pt x="4" y="8"/>
                </a:lnTo>
                <a:lnTo>
                  <a:pt x="0" y="11"/>
                </a:lnTo>
                <a:lnTo>
                  <a:pt x="1" y="18"/>
                </a:lnTo>
                <a:lnTo>
                  <a:pt x="7" y="22"/>
                </a:lnTo>
                <a:lnTo>
                  <a:pt x="14" y="17"/>
                </a:lnTo>
                <a:lnTo>
                  <a:pt x="12" y="11"/>
                </a:lnTo>
                <a:lnTo>
                  <a:pt x="8" y="5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train_flame_0_inner"/>
          <p:cNvSpPr/>
          <p:nvPr/>
        </p:nvSpPr>
        <p:spPr>
          <a:xfrm>
            <a:off x="975360" y="5105400"/>
            <a:ext cx="45720" cy="9144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3" y="0"/>
                </a:moveTo>
                <a:lnTo>
                  <a:pt x="0" y="6"/>
                </a:lnTo>
                <a:lnTo>
                  <a:pt x="1" y="11"/>
                </a:lnTo>
                <a:lnTo>
                  <a:pt x="3" y="12"/>
                </a:lnTo>
                <a:lnTo>
                  <a:pt x="6" y="9"/>
                </a:lnTo>
                <a:lnTo>
                  <a:pt x="5" y="5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text_263"/>
          <p:cNvSpPr txBox="1"/>
          <p:nvPr/>
        </p:nvSpPr>
        <p:spPr>
          <a:xfrm>
            <a:off x="2773680" y="5013960"/>
            <a:ext cx="3032760" cy="2514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Multi-Head Attention</a:t>
            </a:r>
          </a:p>
        </p:txBody>
      </p:sp>
      <p:sp>
        <p:nvSpPr>
          <p:cNvPr id="266" name="transformer_layer_1"/>
          <p:cNvSpPr/>
          <p:nvPr/>
        </p:nvSpPr>
        <p:spPr>
          <a:xfrm>
            <a:off x="868680" y="5349240"/>
            <a:ext cx="5623560" cy="251460"/>
          </a:xfrm>
          <a:prstGeom prst="roundRect">
            <a:avLst>
              <a:gd name="adj" fmla="val 18181"/>
            </a:avLst>
          </a:prstGeom>
          <a:solidFill>
            <a:srgbClr val="E7EBF1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train_flame_1_outer"/>
          <p:cNvSpPr/>
          <p:nvPr/>
        </p:nvSpPr>
        <p:spPr>
          <a:xfrm>
            <a:off x="944880" y="5379720"/>
            <a:ext cx="106680" cy="167640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7" y="0"/>
                </a:moveTo>
                <a:lnTo>
                  <a:pt x="4" y="8"/>
                </a:lnTo>
                <a:lnTo>
                  <a:pt x="0" y="11"/>
                </a:lnTo>
                <a:lnTo>
                  <a:pt x="1" y="18"/>
                </a:lnTo>
                <a:lnTo>
                  <a:pt x="7" y="22"/>
                </a:lnTo>
                <a:lnTo>
                  <a:pt x="14" y="17"/>
                </a:lnTo>
                <a:lnTo>
                  <a:pt x="12" y="11"/>
                </a:lnTo>
                <a:lnTo>
                  <a:pt x="8" y="5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train_flame_1_inner"/>
          <p:cNvSpPr/>
          <p:nvPr/>
        </p:nvSpPr>
        <p:spPr>
          <a:xfrm>
            <a:off x="975360" y="5440680"/>
            <a:ext cx="45720" cy="9144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3" y="0"/>
                </a:moveTo>
                <a:lnTo>
                  <a:pt x="0" y="6"/>
                </a:lnTo>
                <a:lnTo>
                  <a:pt x="1" y="11"/>
                </a:lnTo>
                <a:lnTo>
                  <a:pt x="3" y="12"/>
                </a:lnTo>
                <a:lnTo>
                  <a:pt x="6" y="9"/>
                </a:lnTo>
                <a:lnTo>
                  <a:pt x="5" y="5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text_267"/>
          <p:cNvSpPr txBox="1"/>
          <p:nvPr/>
        </p:nvSpPr>
        <p:spPr>
          <a:xfrm>
            <a:off x="2773680" y="5349240"/>
            <a:ext cx="3032760" cy="2514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Feed Forward Network</a:t>
            </a:r>
          </a:p>
        </p:txBody>
      </p:sp>
      <p:sp>
        <p:nvSpPr>
          <p:cNvPr id="270" name="transformer_layer_2"/>
          <p:cNvSpPr/>
          <p:nvPr/>
        </p:nvSpPr>
        <p:spPr>
          <a:xfrm>
            <a:off x="868680" y="5684520"/>
            <a:ext cx="5623560" cy="251460"/>
          </a:xfrm>
          <a:prstGeom prst="roundRect">
            <a:avLst>
              <a:gd name="adj" fmla="val 18181"/>
            </a:avLst>
          </a:prstGeom>
          <a:solidFill>
            <a:srgbClr val="E2F0D8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train_flame_2_outer"/>
          <p:cNvSpPr/>
          <p:nvPr/>
        </p:nvSpPr>
        <p:spPr>
          <a:xfrm>
            <a:off x="944880" y="5715000"/>
            <a:ext cx="106680" cy="167640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7" y="0"/>
                </a:moveTo>
                <a:lnTo>
                  <a:pt x="4" y="8"/>
                </a:lnTo>
                <a:lnTo>
                  <a:pt x="0" y="11"/>
                </a:lnTo>
                <a:lnTo>
                  <a:pt x="1" y="18"/>
                </a:lnTo>
                <a:lnTo>
                  <a:pt x="7" y="22"/>
                </a:lnTo>
                <a:lnTo>
                  <a:pt x="14" y="17"/>
                </a:lnTo>
                <a:lnTo>
                  <a:pt x="12" y="11"/>
                </a:lnTo>
                <a:lnTo>
                  <a:pt x="8" y="5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train_flame_2_inner"/>
          <p:cNvSpPr/>
          <p:nvPr/>
        </p:nvSpPr>
        <p:spPr>
          <a:xfrm>
            <a:off x="975360" y="5775960"/>
            <a:ext cx="45720" cy="9144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3" y="0"/>
                </a:moveTo>
                <a:lnTo>
                  <a:pt x="0" y="6"/>
                </a:lnTo>
                <a:lnTo>
                  <a:pt x="1" y="11"/>
                </a:lnTo>
                <a:lnTo>
                  <a:pt x="3" y="12"/>
                </a:lnTo>
                <a:lnTo>
                  <a:pt x="6" y="9"/>
                </a:lnTo>
                <a:lnTo>
                  <a:pt x="5" y="5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text_271"/>
          <p:cNvSpPr txBox="1"/>
          <p:nvPr/>
        </p:nvSpPr>
        <p:spPr>
          <a:xfrm>
            <a:off x="2773680" y="5684520"/>
            <a:ext cx="3032760" cy="2514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Multi-Head Attention</a:t>
            </a:r>
          </a:p>
        </p:txBody>
      </p:sp>
      <p:sp>
        <p:nvSpPr>
          <p:cNvPr id="274" name="transformer_layer_3"/>
          <p:cNvSpPr/>
          <p:nvPr/>
        </p:nvSpPr>
        <p:spPr>
          <a:xfrm>
            <a:off x="868680" y="6019800"/>
            <a:ext cx="5623560" cy="251460"/>
          </a:xfrm>
          <a:prstGeom prst="roundRect">
            <a:avLst>
              <a:gd name="adj" fmla="val 18181"/>
            </a:avLst>
          </a:prstGeom>
          <a:solidFill>
            <a:srgbClr val="E7EBF1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train_flame_3_outer"/>
          <p:cNvSpPr/>
          <p:nvPr/>
        </p:nvSpPr>
        <p:spPr>
          <a:xfrm>
            <a:off x="944880" y="6050280"/>
            <a:ext cx="106680" cy="167640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7" y="0"/>
                </a:moveTo>
                <a:lnTo>
                  <a:pt x="4" y="8"/>
                </a:lnTo>
                <a:lnTo>
                  <a:pt x="0" y="11"/>
                </a:lnTo>
                <a:lnTo>
                  <a:pt x="1" y="18"/>
                </a:lnTo>
                <a:lnTo>
                  <a:pt x="7" y="22"/>
                </a:lnTo>
                <a:lnTo>
                  <a:pt x="14" y="17"/>
                </a:lnTo>
                <a:lnTo>
                  <a:pt x="12" y="11"/>
                </a:lnTo>
                <a:lnTo>
                  <a:pt x="8" y="5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train_flame_3_inner"/>
          <p:cNvSpPr/>
          <p:nvPr/>
        </p:nvSpPr>
        <p:spPr>
          <a:xfrm>
            <a:off x="975360" y="6111240"/>
            <a:ext cx="45720" cy="9144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3" y="0"/>
                </a:moveTo>
                <a:lnTo>
                  <a:pt x="0" y="6"/>
                </a:lnTo>
                <a:lnTo>
                  <a:pt x="1" y="11"/>
                </a:lnTo>
                <a:lnTo>
                  <a:pt x="3" y="12"/>
                </a:lnTo>
                <a:lnTo>
                  <a:pt x="6" y="9"/>
                </a:lnTo>
                <a:lnTo>
                  <a:pt x="5" y="5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text_275"/>
          <p:cNvSpPr txBox="1"/>
          <p:nvPr/>
        </p:nvSpPr>
        <p:spPr>
          <a:xfrm>
            <a:off x="2773680" y="6019800"/>
            <a:ext cx="3032760" cy="2514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Feed Forward Network</a:t>
            </a:r>
          </a:p>
        </p:txBody>
      </p:sp>
      <p:cxnSp>
        <p:nvCxnSpPr>
          <p:cNvPr id="278" name="encoder_decoder_arrow"/>
          <p:cNvCxnSpPr/>
          <p:nvPr/>
        </p:nvCxnSpPr>
        <p:spPr>
          <a:xfrm>
            <a:off x="3680460" y="5600700"/>
            <a:ext cx="0" cy="76200"/>
          </a:xfrm>
          <a:prstGeom prst="line">
            <a:avLst/>
          </a:prstGeom>
          <a:ln w="9144">
            <a:solidFill>
              <a:srgbClr val="161616"/>
            </a:solidFill>
            <a:tailEnd type="triangle" w="sm" len="sm"/>
          </a:ln>
        </p:spPr>
      </p:cxnSp>
      <p:sp>
        <p:nvSpPr>
          <p:cNvPr id="279" name="text_277"/>
          <p:cNvSpPr txBox="1"/>
          <p:nvPr/>
        </p:nvSpPr>
        <p:spPr>
          <a:xfrm>
            <a:off x="6537959" y="5074920"/>
            <a:ext cx="3429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0" i="0">
                <a:solidFill>
                  <a:srgbClr val="161616"/>
                </a:solidFill>
                <a:latin typeface="Liberation Serif"/>
              </a:defRPr>
            </a:pPr>
            <a:r>
              <a:t>}</a:t>
            </a:r>
          </a:p>
        </p:txBody>
      </p:sp>
      <p:sp>
        <p:nvSpPr>
          <p:cNvPr id="280" name="text_278"/>
          <p:cNvSpPr txBox="1"/>
          <p:nvPr/>
        </p:nvSpPr>
        <p:spPr>
          <a:xfrm>
            <a:off x="6713220" y="5135880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× N</a:t>
            </a:r>
          </a:p>
        </p:txBody>
      </p:sp>
      <p:sp>
        <p:nvSpPr>
          <p:cNvPr id="281" name="text_279"/>
          <p:cNvSpPr txBox="1"/>
          <p:nvPr/>
        </p:nvSpPr>
        <p:spPr>
          <a:xfrm>
            <a:off x="6537959" y="5745480"/>
            <a:ext cx="3429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0" i="0">
                <a:solidFill>
                  <a:srgbClr val="161616"/>
                </a:solidFill>
                <a:latin typeface="Liberation Serif"/>
              </a:defRPr>
            </a:pPr>
            <a:r>
              <a:t>}</a:t>
            </a:r>
          </a:p>
        </p:txBody>
      </p:sp>
      <p:sp>
        <p:nvSpPr>
          <p:cNvPr id="282" name="text_280"/>
          <p:cNvSpPr txBox="1"/>
          <p:nvPr/>
        </p:nvSpPr>
        <p:spPr>
          <a:xfrm>
            <a:off x="6713220" y="5806440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× N</a:t>
            </a:r>
          </a:p>
        </p:txBody>
      </p:sp>
      <p:cxnSp>
        <p:nvCxnSpPr>
          <p:cNvPr id="283" name="branch_recover"/>
          <p:cNvCxnSpPr/>
          <p:nvPr/>
        </p:nvCxnSpPr>
        <p:spPr>
          <a:xfrm flipH="1">
            <a:off x="2034540" y="6271260"/>
            <a:ext cx="1645920" cy="129540"/>
          </a:xfrm>
          <a:prstGeom prst="line">
            <a:avLst/>
          </a:prstGeom>
          <a:ln w="8382">
            <a:solidFill>
              <a:srgbClr val="161616"/>
            </a:solidFill>
            <a:tailEnd type="triangle" w="sm" len="sm"/>
          </a:ln>
        </p:spPr>
      </p:cxnSp>
      <p:cxnSp>
        <p:nvCxnSpPr>
          <p:cNvPr id="284" name="branch_predict"/>
          <p:cNvCxnSpPr/>
          <p:nvPr/>
        </p:nvCxnSpPr>
        <p:spPr>
          <a:xfrm>
            <a:off x="3680460" y="6271260"/>
            <a:ext cx="1752600" cy="129540"/>
          </a:xfrm>
          <a:prstGeom prst="line">
            <a:avLst/>
          </a:prstGeom>
          <a:ln w="8382">
            <a:solidFill>
              <a:srgbClr val="161616"/>
            </a:solidFill>
            <a:tailEnd type="triangle" w="sm" len="sm"/>
          </a:ln>
        </p:spPr>
      </p:cxnSp>
      <p:sp>
        <p:nvSpPr>
          <p:cNvPr id="285" name="text_283"/>
          <p:cNvSpPr txBox="1"/>
          <p:nvPr/>
        </p:nvSpPr>
        <p:spPr>
          <a:xfrm>
            <a:off x="167640" y="6393180"/>
            <a:ext cx="8382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D62728"/>
                </a:solidFill>
                <a:latin typeface="Liberation Serif"/>
              </a:defRPr>
            </a:pPr>
            <a:r>
              <a:t>self-supervised</a:t>
            </a:r>
          </a:p>
        </p:txBody>
      </p:sp>
      <p:sp>
        <p:nvSpPr>
          <p:cNvPr id="286" name="recover_head"/>
          <p:cNvSpPr/>
          <p:nvPr/>
        </p:nvSpPr>
        <p:spPr>
          <a:xfrm>
            <a:off x="1036320" y="6400800"/>
            <a:ext cx="1996439" cy="327660"/>
          </a:xfrm>
          <a:prstGeom prst="roundRect">
            <a:avLst>
              <a:gd name="adj" fmla="val 16279"/>
            </a:avLst>
          </a:prstGeom>
          <a:solidFill>
            <a:srgbClr val="C8E5B5"/>
          </a:solidFill>
          <a:ln w="7620">
            <a:solidFill>
              <a:srgbClr val="75B54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recover_flame_outer"/>
          <p:cNvSpPr/>
          <p:nvPr/>
        </p:nvSpPr>
        <p:spPr>
          <a:xfrm>
            <a:off x="1143000" y="6469380"/>
            <a:ext cx="106680" cy="167640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7" y="0"/>
                </a:moveTo>
                <a:lnTo>
                  <a:pt x="4" y="7"/>
                </a:lnTo>
                <a:lnTo>
                  <a:pt x="0" y="11"/>
                </a:lnTo>
                <a:lnTo>
                  <a:pt x="1" y="17"/>
                </a:lnTo>
                <a:lnTo>
                  <a:pt x="7" y="22"/>
                </a:lnTo>
                <a:lnTo>
                  <a:pt x="14" y="17"/>
                </a:lnTo>
                <a:lnTo>
                  <a:pt x="12" y="11"/>
                </a:lnTo>
                <a:lnTo>
                  <a:pt x="8" y="5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recover_flame_inner"/>
          <p:cNvSpPr/>
          <p:nvPr/>
        </p:nvSpPr>
        <p:spPr>
          <a:xfrm>
            <a:off x="1173480" y="6530340"/>
            <a:ext cx="45720" cy="9144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3" y="0"/>
                </a:moveTo>
                <a:lnTo>
                  <a:pt x="0" y="5"/>
                </a:lnTo>
                <a:lnTo>
                  <a:pt x="1" y="10"/>
                </a:lnTo>
                <a:lnTo>
                  <a:pt x="3" y="12"/>
                </a:lnTo>
                <a:lnTo>
                  <a:pt x="6" y="8"/>
                </a:lnTo>
                <a:lnTo>
                  <a:pt x="5" y="5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text_287"/>
          <p:cNvSpPr txBox="1"/>
          <p:nvPr/>
        </p:nvSpPr>
        <p:spPr>
          <a:xfrm>
            <a:off x="1409700" y="6446520"/>
            <a:ext cx="1257300" cy="236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Recover Head</a:t>
            </a:r>
          </a:p>
        </p:txBody>
      </p:sp>
      <p:sp>
        <p:nvSpPr>
          <p:cNvPr id="290" name="rich_288"/>
          <p:cNvSpPr txBox="1"/>
          <p:nvPr/>
        </p:nvSpPr>
        <p:spPr>
          <a:xfrm>
            <a:off x="3055620" y="6431280"/>
            <a:ext cx="533400" cy="220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40" b="0" i="1">
                <a:solidFill>
                  <a:srgbClr val="D62728"/>
                </a:solidFill>
                <a:latin typeface="Liberation Serif"/>
              </a:rPr>
              <a:t>x</a:t>
            </a:r>
            <a:r>
              <a:rPr sz="775" b="0" i="1" baseline="-22000">
                <a:solidFill>
                  <a:srgbClr val="D62728"/>
                </a:solidFill>
                <a:latin typeface="Liberation Serif"/>
              </a:rPr>
              <a:t>aug</a:t>
            </a:r>
          </a:p>
        </p:txBody>
      </p:sp>
      <p:sp>
        <p:nvSpPr>
          <p:cNvPr id="291" name="prediction_head"/>
          <p:cNvSpPr/>
          <p:nvPr/>
        </p:nvSpPr>
        <p:spPr>
          <a:xfrm>
            <a:off x="4450080" y="6400800"/>
            <a:ext cx="1981199" cy="327660"/>
          </a:xfrm>
          <a:prstGeom prst="roundRect">
            <a:avLst>
              <a:gd name="adj" fmla="val 16279"/>
            </a:avLst>
          </a:prstGeom>
          <a:solidFill>
            <a:srgbClr val="C8E5B5"/>
          </a:solidFill>
          <a:ln w="7620">
            <a:solidFill>
              <a:srgbClr val="75B54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text_290"/>
          <p:cNvSpPr txBox="1"/>
          <p:nvPr/>
        </p:nvSpPr>
        <p:spPr>
          <a:xfrm>
            <a:off x="4770120" y="6446520"/>
            <a:ext cx="1257300" cy="236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Prediction Head</a:t>
            </a:r>
          </a:p>
        </p:txBody>
      </p:sp>
      <p:sp>
        <p:nvSpPr>
          <p:cNvPr id="293" name="prediction_flame_outer"/>
          <p:cNvSpPr/>
          <p:nvPr/>
        </p:nvSpPr>
        <p:spPr>
          <a:xfrm>
            <a:off x="6195060" y="6469380"/>
            <a:ext cx="106680" cy="167640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7" y="0"/>
                </a:moveTo>
                <a:lnTo>
                  <a:pt x="5" y="7"/>
                </a:lnTo>
                <a:lnTo>
                  <a:pt x="0" y="11"/>
                </a:lnTo>
                <a:lnTo>
                  <a:pt x="1" y="17"/>
                </a:lnTo>
                <a:lnTo>
                  <a:pt x="7" y="22"/>
                </a:lnTo>
                <a:lnTo>
                  <a:pt x="14" y="17"/>
                </a:lnTo>
                <a:lnTo>
                  <a:pt x="12" y="11"/>
                </a:lnTo>
                <a:lnTo>
                  <a:pt x="9" y="5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prediction_flame_inner"/>
          <p:cNvSpPr/>
          <p:nvPr/>
        </p:nvSpPr>
        <p:spPr>
          <a:xfrm>
            <a:off x="6225540" y="6530340"/>
            <a:ext cx="45720" cy="9144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3" y="0"/>
                </a:moveTo>
                <a:lnTo>
                  <a:pt x="0" y="5"/>
                </a:lnTo>
                <a:lnTo>
                  <a:pt x="1" y="10"/>
                </a:lnTo>
                <a:lnTo>
                  <a:pt x="3" y="12"/>
                </a:lnTo>
                <a:lnTo>
                  <a:pt x="6" y="8"/>
                </a:lnTo>
                <a:lnTo>
                  <a:pt x="5" y="5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rich_293"/>
          <p:cNvSpPr txBox="1"/>
          <p:nvPr/>
        </p:nvSpPr>
        <p:spPr>
          <a:xfrm>
            <a:off x="4114800" y="6431280"/>
            <a:ext cx="533400" cy="220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40" b="0" i="1">
                <a:solidFill>
                  <a:srgbClr val="D62728"/>
                </a:solidFill>
                <a:latin typeface="Liberation Serif"/>
              </a:rPr>
              <a:t>x</a:t>
            </a:r>
            <a:r>
              <a:rPr sz="775" b="0" i="1" baseline="-22000">
                <a:solidFill>
                  <a:srgbClr val="D62728"/>
                </a:solidFill>
                <a:latin typeface="Liberation Serif"/>
              </a:rPr>
              <a:t>ctx</a:t>
            </a:r>
          </a:p>
        </p:txBody>
      </p:sp>
      <p:sp>
        <p:nvSpPr>
          <p:cNvPr id="296" name="text_294"/>
          <p:cNvSpPr txBox="1"/>
          <p:nvPr/>
        </p:nvSpPr>
        <p:spPr>
          <a:xfrm>
            <a:off x="6461760" y="6393180"/>
            <a:ext cx="624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D62728"/>
                </a:solidFill>
                <a:latin typeface="Liberation Serif"/>
              </a:defRPr>
            </a:pPr>
            <a:r>
              <a:t>supervised</a:t>
            </a:r>
          </a:p>
        </p:txBody>
      </p:sp>
      <p:sp>
        <p:nvSpPr>
          <p:cNvPr id="297" name="recover_beam"/>
          <p:cNvSpPr/>
          <p:nvPr/>
        </p:nvSpPr>
        <p:spPr>
          <a:xfrm>
            <a:off x="922020" y="6728460"/>
            <a:ext cx="2377440" cy="160020"/>
          </a:xfrm>
          <a:custGeom>
            <a:avLst/>
            <a:gdLst/>
            <a:ahLst/>
            <a:cxnLst/>
            <a:rect l="l" t="t" r="r" b="b"/>
            <a:pathLst>
              <a:path w="312" h="21">
                <a:moveTo>
                  <a:pt x="27" y="0"/>
                </a:moveTo>
                <a:lnTo>
                  <a:pt x="264" y="0"/>
                </a:lnTo>
                <a:lnTo>
                  <a:pt x="312" y="21"/>
                </a:lnTo>
                <a:lnTo>
                  <a:pt x="0" y="21"/>
                </a:lnTo>
                <a:close/>
              </a:path>
            </a:pathLst>
          </a:custGeom>
          <a:solidFill>
            <a:srgbClr val="D7E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prediction_beam"/>
          <p:cNvSpPr/>
          <p:nvPr/>
        </p:nvSpPr>
        <p:spPr>
          <a:xfrm>
            <a:off x="4084320" y="6728460"/>
            <a:ext cx="2689860" cy="160020"/>
          </a:xfrm>
          <a:custGeom>
            <a:avLst/>
            <a:gdLst/>
            <a:ahLst/>
            <a:cxnLst/>
            <a:rect l="l" t="t" r="r" b="b"/>
            <a:pathLst>
              <a:path w="353" h="21">
                <a:moveTo>
                  <a:pt x="86" y="0"/>
                </a:moveTo>
                <a:lnTo>
                  <a:pt x="270" y="0"/>
                </a:lnTo>
                <a:lnTo>
                  <a:pt x="353" y="21"/>
                </a:lnTo>
                <a:lnTo>
                  <a:pt x="0" y="21"/>
                </a:lnTo>
                <a:close/>
              </a:path>
            </a:pathLst>
          </a:custGeom>
          <a:solidFill>
            <a:srgbClr val="D7E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recover_multi_frame"/>
          <p:cNvSpPr/>
          <p:nvPr/>
        </p:nvSpPr>
        <p:spPr>
          <a:xfrm>
            <a:off x="259080" y="6880859"/>
            <a:ext cx="1653540" cy="518160"/>
          </a:xfrm>
          <a:prstGeom prst="rect">
            <a:avLst/>
          </a:prstGeom>
          <a:solidFill>
            <a:srgbClr val="FFFFFF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00" name="recover_row_sep"/>
          <p:cNvCxnSpPr/>
          <p:nvPr/>
        </p:nvCxnSpPr>
        <p:spPr>
          <a:xfrm>
            <a:off x="266700" y="7010400"/>
            <a:ext cx="1638300" cy="0"/>
          </a:xfrm>
          <a:prstGeom prst="line">
            <a:avLst/>
          </a:prstGeom>
          <a:ln w="5334">
            <a:solidFill>
              <a:srgbClr val="161616"/>
            </a:solidFill>
          </a:ln>
        </p:spPr>
      </p:cxnSp>
      <p:sp>
        <p:nvSpPr>
          <p:cNvPr id="301" name="recover_wave_0"/>
          <p:cNvSpPr/>
          <p:nvPr/>
        </p:nvSpPr>
        <p:spPr>
          <a:xfrm>
            <a:off x="297180" y="6918960"/>
            <a:ext cx="1577340" cy="76200"/>
          </a:xfrm>
          <a:custGeom>
            <a:avLst/>
            <a:gdLst/>
            <a:ahLst/>
            <a:cxnLst/>
            <a:rect l="l" t="t" r="r" b="b"/>
            <a:pathLst>
              <a:path w="207" h="10">
                <a:moveTo>
                  <a:pt x="0" y="3"/>
                </a:moveTo>
                <a:lnTo>
                  <a:pt x="3" y="6"/>
                </a:lnTo>
                <a:lnTo>
                  <a:pt x="6" y="8"/>
                </a:lnTo>
                <a:lnTo>
                  <a:pt x="9" y="9"/>
                </a:lnTo>
                <a:lnTo>
                  <a:pt x="12" y="2"/>
                </a:lnTo>
                <a:lnTo>
                  <a:pt x="15" y="3"/>
                </a:lnTo>
                <a:lnTo>
                  <a:pt x="18" y="2"/>
                </a:lnTo>
                <a:lnTo>
                  <a:pt x="21" y="9"/>
                </a:lnTo>
                <a:lnTo>
                  <a:pt x="24" y="5"/>
                </a:lnTo>
                <a:lnTo>
                  <a:pt x="27" y="3"/>
                </a:lnTo>
                <a:lnTo>
                  <a:pt x="30" y="1"/>
                </a:lnTo>
                <a:lnTo>
                  <a:pt x="33" y="3"/>
                </a:lnTo>
                <a:lnTo>
                  <a:pt x="36" y="8"/>
                </a:lnTo>
                <a:lnTo>
                  <a:pt x="39" y="5"/>
                </a:lnTo>
                <a:lnTo>
                  <a:pt x="42" y="4"/>
                </a:lnTo>
                <a:lnTo>
                  <a:pt x="45" y="0"/>
                </a:lnTo>
                <a:lnTo>
                  <a:pt x="48" y="7"/>
                </a:lnTo>
                <a:lnTo>
                  <a:pt x="51" y="8"/>
                </a:lnTo>
                <a:lnTo>
                  <a:pt x="54" y="8"/>
                </a:lnTo>
                <a:lnTo>
                  <a:pt x="57" y="3"/>
                </a:lnTo>
                <a:lnTo>
                  <a:pt x="60" y="3"/>
                </a:lnTo>
                <a:lnTo>
                  <a:pt x="63" y="8"/>
                </a:lnTo>
                <a:lnTo>
                  <a:pt x="66" y="8"/>
                </a:lnTo>
                <a:lnTo>
                  <a:pt x="69" y="9"/>
                </a:lnTo>
                <a:lnTo>
                  <a:pt x="72" y="1"/>
                </a:lnTo>
                <a:lnTo>
                  <a:pt x="75" y="4"/>
                </a:lnTo>
                <a:lnTo>
                  <a:pt x="78" y="5"/>
                </a:lnTo>
                <a:lnTo>
                  <a:pt x="81" y="9"/>
                </a:lnTo>
                <a:lnTo>
                  <a:pt x="84" y="5"/>
                </a:lnTo>
                <a:lnTo>
                  <a:pt x="87" y="1"/>
                </a:lnTo>
                <a:lnTo>
                  <a:pt x="90" y="2"/>
                </a:lnTo>
                <a:lnTo>
                  <a:pt x="93" y="4"/>
                </a:lnTo>
                <a:lnTo>
                  <a:pt x="96" y="9"/>
                </a:lnTo>
                <a:lnTo>
                  <a:pt x="99" y="3"/>
                </a:lnTo>
                <a:lnTo>
                  <a:pt x="102" y="3"/>
                </a:lnTo>
                <a:lnTo>
                  <a:pt x="105" y="0"/>
                </a:lnTo>
                <a:lnTo>
                  <a:pt x="108" y="7"/>
                </a:lnTo>
                <a:lnTo>
                  <a:pt x="111" y="8"/>
                </a:lnTo>
                <a:lnTo>
                  <a:pt x="114" y="6"/>
                </a:lnTo>
                <a:lnTo>
                  <a:pt x="117" y="3"/>
                </a:lnTo>
                <a:lnTo>
                  <a:pt x="120" y="3"/>
                </a:lnTo>
                <a:lnTo>
                  <a:pt x="123" y="9"/>
                </a:lnTo>
                <a:lnTo>
                  <a:pt x="126" y="8"/>
                </a:lnTo>
                <a:lnTo>
                  <a:pt x="129" y="8"/>
                </a:lnTo>
                <a:lnTo>
                  <a:pt x="132" y="1"/>
                </a:lnTo>
                <a:lnTo>
                  <a:pt x="135" y="5"/>
                </a:lnTo>
                <a:lnTo>
                  <a:pt x="138" y="7"/>
                </a:lnTo>
                <a:lnTo>
                  <a:pt x="141" y="9"/>
                </a:lnTo>
                <a:lnTo>
                  <a:pt x="144" y="5"/>
                </a:lnTo>
                <a:lnTo>
                  <a:pt x="147" y="0"/>
                </a:lnTo>
                <a:lnTo>
                  <a:pt x="150" y="4"/>
                </a:lnTo>
                <a:lnTo>
                  <a:pt x="153" y="5"/>
                </a:lnTo>
                <a:lnTo>
                  <a:pt x="156" y="9"/>
                </a:lnTo>
                <a:lnTo>
                  <a:pt x="159" y="1"/>
                </a:lnTo>
                <a:lnTo>
                  <a:pt x="162" y="2"/>
                </a:lnTo>
                <a:lnTo>
                  <a:pt x="165" y="2"/>
                </a:lnTo>
                <a:lnTo>
                  <a:pt x="168" y="7"/>
                </a:lnTo>
                <a:lnTo>
                  <a:pt x="171" y="8"/>
                </a:lnTo>
                <a:lnTo>
                  <a:pt x="174" y="3"/>
                </a:lnTo>
                <a:lnTo>
                  <a:pt x="177" y="3"/>
                </a:lnTo>
                <a:lnTo>
                  <a:pt x="180" y="3"/>
                </a:lnTo>
                <a:lnTo>
                  <a:pt x="183" y="10"/>
                </a:lnTo>
                <a:lnTo>
                  <a:pt x="186" y="7"/>
                </a:lnTo>
                <a:lnTo>
                  <a:pt x="189" y="7"/>
                </a:lnTo>
                <a:lnTo>
                  <a:pt x="192" y="2"/>
                </a:lnTo>
                <a:lnTo>
                  <a:pt x="195" y="6"/>
                </a:lnTo>
                <a:lnTo>
                  <a:pt x="198" y="9"/>
                </a:lnTo>
                <a:lnTo>
                  <a:pt x="201" y="8"/>
                </a:lnTo>
                <a:lnTo>
                  <a:pt x="204" y="5"/>
                </a:lnTo>
                <a:lnTo>
                  <a:pt x="207" y="0"/>
                </a:lnTo>
              </a:path>
            </a:pathLst>
          </a:custGeom>
          <a:noFill/>
          <a:ln w="6477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02" name="recover_row_sep"/>
          <p:cNvCxnSpPr/>
          <p:nvPr/>
        </p:nvCxnSpPr>
        <p:spPr>
          <a:xfrm>
            <a:off x="266700" y="7132320"/>
            <a:ext cx="1638300" cy="0"/>
          </a:xfrm>
          <a:prstGeom prst="line">
            <a:avLst/>
          </a:prstGeom>
          <a:ln w="5334">
            <a:solidFill>
              <a:srgbClr val="161616"/>
            </a:solidFill>
          </a:ln>
        </p:spPr>
      </p:cxnSp>
      <p:sp>
        <p:nvSpPr>
          <p:cNvPr id="303" name="recover_wave_1"/>
          <p:cNvSpPr/>
          <p:nvPr/>
        </p:nvSpPr>
        <p:spPr>
          <a:xfrm>
            <a:off x="297180" y="7033260"/>
            <a:ext cx="1577340" cy="91440"/>
          </a:xfrm>
          <a:custGeom>
            <a:avLst/>
            <a:gdLst/>
            <a:ahLst/>
            <a:cxnLst/>
            <a:rect l="l" t="t" r="r" b="b"/>
            <a:pathLst>
              <a:path w="207" h="12">
                <a:moveTo>
                  <a:pt x="0" y="6"/>
                </a:moveTo>
                <a:lnTo>
                  <a:pt x="3" y="10"/>
                </a:lnTo>
                <a:lnTo>
                  <a:pt x="6" y="6"/>
                </a:lnTo>
                <a:lnTo>
                  <a:pt x="9" y="5"/>
                </a:lnTo>
                <a:lnTo>
                  <a:pt x="12" y="0"/>
                </a:lnTo>
                <a:lnTo>
                  <a:pt x="15" y="7"/>
                </a:lnTo>
                <a:lnTo>
                  <a:pt x="18" y="7"/>
                </a:lnTo>
                <a:lnTo>
                  <a:pt x="21" y="7"/>
                </a:lnTo>
                <a:lnTo>
                  <a:pt x="24" y="2"/>
                </a:lnTo>
                <a:lnTo>
                  <a:pt x="27" y="2"/>
                </a:lnTo>
                <a:lnTo>
                  <a:pt x="30" y="7"/>
                </a:lnTo>
                <a:lnTo>
                  <a:pt x="33" y="8"/>
                </a:lnTo>
                <a:lnTo>
                  <a:pt x="36" y="9"/>
                </a:lnTo>
                <a:lnTo>
                  <a:pt x="39" y="2"/>
                </a:lnTo>
                <a:lnTo>
                  <a:pt x="42" y="6"/>
                </a:lnTo>
                <a:lnTo>
                  <a:pt x="45" y="6"/>
                </a:lnTo>
                <a:lnTo>
                  <a:pt x="48" y="12"/>
                </a:lnTo>
                <a:lnTo>
                  <a:pt x="51" y="8"/>
                </a:lnTo>
                <a:lnTo>
                  <a:pt x="54" y="4"/>
                </a:lnTo>
                <a:lnTo>
                  <a:pt x="57" y="5"/>
                </a:lnTo>
                <a:lnTo>
                  <a:pt x="60" y="7"/>
                </a:lnTo>
                <a:lnTo>
                  <a:pt x="63" y="12"/>
                </a:lnTo>
                <a:lnTo>
                  <a:pt x="66" y="5"/>
                </a:lnTo>
                <a:lnTo>
                  <a:pt x="69" y="5"/>
                </a:lnTo>
                <a:lnTo>
                  <a:pt x="72" y="2"/>
                </a:lnTo>
                <a:lnTo>
                  <a:pt x="75" y="8"/>
                </a:lnTo>
                <a:lnTo>
                  <a:pt x="78" y="8"/>
                </a:lnTo>
                <a:lnTo>
                  <a:pt x="81" y="5"/>
                </a:lnTo>
                <a:lnTo>
                  <a:pt x="84" y="2"/>
                </a:lnTo>
                <a:lnTo>
                  <a:pt x="87" y="2"/>
                </a:lnTo>
                <a:lnTo>
                  <a:pt x="90" y="8"/>
                </a:lnTo>
                <a:lnTo>
                  <a:pt x="93" y="7"/>
                </a:lnTo>
                <a:lnTo>
                  <a:pt x="96" y="7"/>
                </a:lnTo>
                <a:lnTo>
                  <a:pt x="99" y="1"/>
                </a:lnTo>
                <a:lnTo>
                  <a:pt x="102" y="6"/>
                </a:lnTo>
                <a:lnTo>
                  <a:pt x="105" y="8"/>
                </a:lnTo>
                <a:lnTo>
                  <a:pt x="108" y="10"/>
                </a:lnTo>
                <a:lnTo>
                  <a:pt x="111" y="7"/>
                </a:lnTo>
                <a:lnTo>
                  <a:pt x="114" y="3"/>
                </a:lnTo>
                <a:lnTo>
                  <a:pt x="117" y="7"/>
                </a:lnTo>
                <a:lnTo>
                  <a:pt x="120" y="8"/>
                </a:lnTo>
                <a:lnTo>
                  <a:pt x="123" y="12"/>
                </a:lnTo>
                <a:lnTo>
                  <a:pt x="126" y="4"/>
                </a:lnTo>
                <a:lnTo>
                  <a:pt x="129" y="5"/>
                </a:lnTo>
                <a:lnTo>
                  <a:pt x="132" y="4"/>
                </a:lnTo>
                <a:lnTo>
                  <a:pt x="135" y="9"/>
                </a:lnTo>
                <a:lnTo>
                  <a:pt x="138" y="8"/>
                </a:lnTo>
                <a:lnTo>
                  <a:pt x="141" y="4"/>
                </a:lnTo>
                <a:lnTo>
                  <a:pt x="144" y="3"/>
                </a:lnTo>
                <a:lnTo>
                  <a:pt x="147" y="2"/>
                </a:lnTo>
                <a:lnTo>
                  <a:pt x="150" y="9"/>
                </a:lnTo>
                <a:lnTo>
                  <a:pt x="153" y="6"/>
                </a:lnTo>
                <a:lnTo>
                  <a:pt x="156" y="5"/>
                </a:lnTo>
                <a:lnTo>
                  <a:pt x="159" y="1"/>
                </a:lnTo>
                <a:lnTo>
                  <a:pt x="162" y="5"/>
                </a:lnTo>
                <a:lnTo>
                  <a:pt x="165" y="9"/>
                </a:lnTo>
                <a:lnTo>
                  <a:pt x="168" y="8"/>
                </a:lnTo>
                <a:lnTo>
                  <a:pt x="171" y="6"/>
                </a:lnTo>
                <a:lnTo>
                  <a:pt x="174" y="2"/>
                </a:lnTo>
                <a:lnTo>
                  <a:pt x="177" y="8"/>
                </a:lnTo>
                <a:lnTo>
                  <a:pt x="180" y="8"/>
                </a:lnTo>
                <a:lnTo>
                  <a:pt x="183" y="11"/>
                </a:lnTo>
                <a:lnTo>
                  <a:pt x="186" y="4"/>
                </a:lnTo>
                <a:lnTo>
                  <a:pt x="189" y="5"/>
                </a:lnTo>
                <a:lnTo>
                  <a:pt x="192" y="6"/>
                </a:lnTo>
                <a:lnTo>
                  <a:pt x="195" y="9"/>
                </a:lnTo>
                <a:lnTo>
                  <a:pt x="198" y="9"/>
                </a:lnTo>
                <a:lnTo>
                  <a:pt x="201" y="2"/>
                </a:lnTo>
                <a:lnTo>
                  <a:pt x="204" y="4"/>
                </a:lnTo>
                <a:lnTo>
                  <a:pt x="207" y="3"/>
                </a:lnTo>
              </a:path>
            </a:pathLst>
          </a:custGeom>
          <a:noFill/>
          <a:ln w="6477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04" name="recover_row_sep"/>
          <p:cNvCxnSpPr/>
          <p:nvPr/>
        </p:nvCxnSpPr>
        <p:spPr>
          <a:xfrm>
            <a:off x="266700" y="7254240"/>
            <a:ext cx="1638300" cy="0"/>
          </a:xfrm>
          <a:prstGeom prst="line">
            <a:avLst/>
          </a:prstGeom>
          <a:ln w="5334">
            <a:solidFill>
              <a:srgbClr val="161616"/>
            </a:solidFill>
          </a:ln>
        </p:spPr>
      </p:cxnSp>
      <p:sp>
        <p:nvSpPr>
          <p:cNvPr id="305" name="recover_wave_2"/>
          <p:cNvSpPr/>
          <p:nvPr/>
        </p:nvSpPr>
        <p:spPr>
          <a:xfrm>
            <a:off x="297180" y="7155180"/>
            <a:ext cx="1577340" cy="83820"/>
          </a:xfrm>
          <a:custGeom>
            <a:avLst/>
            <a:gdLst/>
            <a:ahLst/>
            <a:cxnLst/>
            <a:rect l="l" t="t" r="r" b="b"/>
            <a:pathLst>
              <a:path w="207" h="11">
                <a:moveTo>
                  <a:pt x="0" y="3"/>
                </a:moveTo>
                <a:lnTo>
                  <a:pt x="3" y="4"/>
                </a:lnTo>
                <a:lnTo>
                  <a:pt x="6" y="5"/>
                </a:lnTo>
                <a:lnTo>
                  <a:pt x="9" y="10"/>
                </a:lnTo>
                <a:lnTo>
                  <a:pt x="12" y="4"/>
                </a:lnTo>
                <a:lnTo>
                  <a:pt x="15" y="4"/>
                </a:lnTo>
                <a:lnTo>
                  <a:pt x="18" y="1"/>
                </a:lnTo>
                <a:lnTo>
                  <a:pt x="21" y="7"/>
                </a:lnTo>
                <a:lnTo>
                  <a:pt x="24" y="8"/>
                </a:lnTo>
                <a:lnTo>
                  <a:pt x="27" y="6"/>
                </a:lnTo>
                <a:lnTo>
                  <a:pt x="30" y="3"/>
                </a:lnTo>
                <a:lnTo>
                  <a:pt x="33" y="3"/>
                </a:lnTo>
                <a:lnTo>
                  <a:pt x="36" y="10"/>
                </a:lnTo>
                <a:lnTo>
                  <a:pt x="39" y="8"/>
                </a:lnTo>
                <a:lnTo>
                  <a:pt x="42" y="9"/>
                </a:lnTo>
                <a:lnTo>
                  <a:pt x="45" y="2"/>
                </a:lnTo>
                <a:lnTo>
                  <a:pt x="48" y="6"/>
                </a:lnTo>
                <a:lnTo>
                  <a:pt x="51" y="8"/>
                </a:lnTo>
                <a:lnTo>
                  <a:pt x="54" y="11"/>
                </a:lnTo>
                <a:lnTo>
                  <a:pt x="57" y="7"/>
                </a:lnTo>
                <a:lnTo>
                  <a:pt x="60" y="2"/>
                </a:lnTo>
                <a:lnTo>
                  <a:pt x="63" y="6"/>
                </a:lnTo>
                <a:lnTo>
                  <a:pt x="66" y="6"/>
                </a:lnTo>
                <a:lnTo>
                  <a:pt x="69" y="10"/>
                </a:lnTo>
                <a:lnTo>
                  <a:pt x="72" y="3"/>
                </a:lnTo>
                <a:lnTo>
                  <a:pt x="75" y="3"/>
                </a:lnTo>
                <a:lnTo>
                  <a:pt x="78" y="2"/>
                </a:lnTo>
                <a:lnTo>
                  <a:pt x="81" y="8"/>
                </a:lnTo>
                <a:lnTo>
                  <a:pt x="84" y="8"/>
                </a:lnTo>
                <a:lnTo>
                  <a:pt x="87" y="4"/>
                </a:lnTo>
                <a:lnTo>
                  <a:pt x="90" y="3"/>
                </a:lnTo>
                <a:lnTo>
                  <a:pt x="93" y="3"/>
                </a:lnTo>
                <a:lnTo>
                  <a:pt x="96" y="10"/>
                </a:lnTo>
                <a:lnTo>
                  <a:pt x="99" y="7"/>
                </a:lnTo>
                <a:lnTo>
                  <a:pt x="102" y="7"/>
                </a:lnTo>
                <a:lnTo>
                  <a:pt x="105" y="2"/>
                </a:lnTo>
                <a:lnTo>
                  <a:pt x="108" y="7"/>
                </a:lnTo>
                <a:lnTo>
                  <a:pt x="111" y="10"/>
                </a:lnTo>
                <a:lnTo>
                  <a:pt x="114" y="9"/>
                </a:lnTo>
                <a:lnTo>
                  <a:pt x="117" y="7"/>
                </a:lnTo>
                <a:lnTo>
                  <a:pt x="120" y="2"/>
                </a:lnTo>
                <a:lnTo>
                  <a:pt x="123" y="8"/>
                </a:lnTo>
                <a:lnTo>
                  <a:pt x="126" y="7"/>
                </a:lnTo>
                <a:lnTo>
                  <a:pt x="129" y="10"/>
                </a:lnTo>
                <a:lnTo>
                  <a:pt x="132" y="3"/>
                </a:lnTo>
                <a:lnTo>
                  <a:pt x="135" y="3"/>
                </a:lnTo>
                <a:lnTo>
                  <a:pt x="138" y="4"/>
                </a:lnTo>
                <a:lnTo>
                  <a:pt x="141" y="8"/>
                </a:lnTo>
                <a:lnTo>
                  <a:pt x="144" y="8"/>
                </a:lnTo>
                <a:lnTo>
                  <a:pt x="147" y="2"/>
                </a:lnTo>
                <a:lnTo>
                  <a:pt x="150" y="3"/>
                </a:lnTo>
                <a:lnTo>
                  <a:pt x="153" y="3"/>
                </a:lnTo>
                <a:lnTo>
                  <a:pt x="156" y="10"/>
                </a:lnTo>
                <a:lnTo>
                  <a:pt x="159" y="6"/>
                </a:lnTo>
                <a:lnTo>
                  <a:pt x="162" y="5"/>
                </a:lnTo>
                <a:lnTo>
                  <a:pt x="165" y="3"/>
                </a:lnTo>
                <a:lnTo>
                  <a:pt x="168" y="7"/>
                </a:lnTo>
                <a:lnTo>
                  <a:pt x="171" y="11"/>
                </a:lnTo>
                <a:lnTo>
                  <a:pt x="174" y="8"/>
                </a:lnTo>
                <a:lnTo>
                  <a:pt x="177" y="7"/>
                </a:lnTo>
                <a:lnTo>
                  <a:pt x="180" y="2"/>
                </a:lnTo>
                <a:lnTo>
                  <a:pt x="183" y="9"/>
                </a:lnTo>
                <a:lnTo>
                  <a:pt x="186" y="9"/>
                </a:lnTo>
                <a:lnTo>
                  <a:pt x="189" y="9"/>
                </a:lnTo>
                <a:lnTo>
                  <a:pt x="192" y="3"/>
                </a:lnTo>
                <a:lnTo>
                  <a:pt x="195" y="3"/>
                </a:lnTo>
                <a:lnTo>
                  <a:pt x="198" y="7"/>
                </a:lnTo>
                <a:lnTo>
                  <a:pt x="201" y="7"/>
                </a:lnTo>
                <a:lnTo>
                  <a:pt x="204" y="8"/>
                </a:lnTo>
                <a:lnTo>
                  <a:pt x="207" y="0"/>
                </a:lnTo>
              </a:path>
            </a:pathLst>
          </a:custGeom>
          <a:noFill/>
          <a:ln w="6477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06" name="recover_row_sep"/>
          <p:cNvCxnSpPr/>
          <p:nvPr/>
        </p:nvCxnSpPr>
        <p:spPr>
          <a:xfrm>
            <a:off x="266700" y="7376160"/>
            <a:ext cx="1638300" cy="0"/>
          </a:xfrm>
          <a:prstGeom prst="line">
            <a:avLst/>
          </a:prstGeom>
          <a:ln w="5334">
            <a:solidFill>
              <a:srgbClr val="161616"/>
            </a:solidFill>
          </a:ln>
        </p:spPr>
      </p:cxnSp>
      <p:sp>
        <p:nvSpPr>
          <p:cNvPr id="307" name="recover_wave_3"/>
          <p:cNvSpPr/>
          <p:nvPr/>
        </p:nvSpPr>
        <p:spPr>
          <a:xfrm>
            <a:off x="297180" y="7284720"/>
            <a:ext cx="1577340" cy="83820"/>
          </a:xfrm>
          <a:custGeom>
            <a:avLst/>
            <a:gdLst/>
            <a:ahLst/>
            <a:cxnLst/>
            <a:rect l="l" t="t" r="r" b="b"/>
            <a:pathLst>
              <a:path w="207" h="11">
                <a:moveTo>
                  <a:pt x="0" y="6"/>
                </a:moveTo>
                <a:lnTo>
                  <a:pt x="3" y="6"/>
                </a:lnTo>
                <a:lnTo>
                  <a:pt x="6" y="9"/>
                </a:lnTo>
                <a:lnTo>
                  <a:pt x="9" y="2"/>
                </a:lnTo>
                <a:lnTo>
                  <a:pt x="12" y="4"/>
                </a:lnTo>
                <a:lnTo>
                  <a:pt x="15" y="5"/>
                </a:lnTo>
                <a:lnTo>
                  <a:pt x="18" y="10"/>
                </a:lnTo>
                <a:lnTo>
                  <a:pt x="21" y="8"/>
                </a:lnTo>
                <a:lnTo>
                  <a:pt x="24" y="3"/>
                </a:lnTo>
                <a:lnTo>
                  <a:pt x="27" y="4"/>
                </a:lnTo>
                <a:lnTo>
                  <a:pt x="30" y="5"/>
                </a:lnTo>
                <a:lnTo>
                  <a:pt x="33" y="11"/>
                </a:lnTo>
                <a:lnTo>
                  <a:pt x="36" y="5"/>
                </a:lnTo>
                <a:lnTo>
                  <a:pt x="39" y="4"/>
                </a:lnTo>
                <a:lnTo>
                  <a:pt x="42" y="1"/>
                </a:lnTo>
                <a:lnTo>
                  <a:pt x="45" y="6"/>
                </a:lnTo>
                <a:lnTo>
                  <a:pt x="48" y="7"/>
                </a:lnTo>
                <a:lnTo>
                  <a:pt x="51" y="4"/>
                </a:lnTo>
                <a:lnTo>
                  <a:pt x="54" y="2"/>
                </a:lnTo>
                <a:lnTo>
                  <a:pt x="57" y="0"/>
                </a:lnTo>
                <a:lnTo>
                  <a:pt x="60" y="7"/>
                </a:lnTo>
                <a:lnTo>
                  <a:pt x="63" y="6"/>
                </a:lnTo>
                <a:lnTo>
                  <a:pt x="66" y="7"/>
                </a:lnTo>
                <a:lnTo>
                  <a:pt x="69" y="1"/>
                </a:lnTo>
                <a:lnTo>
                  <a:pt x="72" y="3"/>
                </a:lnTo>
                <a:lnTo>
                  <a:pt x="75" y="7"/>
                </a:lnTo>
                <a:lnTo>
                  <a:pt x="78" y="9"/>
                </a:lnTo>
                <a:lnTo>
                  <a:pt x="81" y="8"/>
                </a:lnTo>
                <a:lnTo>
                  <a:pt x="84" y="2"/>
                </a:lnTo>
                <a:lnTo>
                  <a:pt x="87" y="6"/>
                </a:lnTo>
                <a:lnTo>
                  <a:pt x="90" y="6"/>
                </a:lnTo>
                <a:lnTo>
                  <a:pt x="93" y="11"/>
                </a:lnTo>
                <a:lnTo>
                  <a:pt x="96" y="5"/>
                </a:lnTo>
                <a:lnTo>
                  <a:pt x="99" y="3"/>
                </a:lnTo>
                <a:lnTo>
                  <a:pt x="102" y="3"/>
                </a:lnTo>
                <a:lnTo>
                  <a:pt x="105" y="6"/>
                </a:lnTo>
                <a:lnTo>
                  <a:pt x="108" y="8"/>
                </a:lnTo>
                <a:lnTo>
                  <a:pt x="111" y="3"/>
                </a:lnTo>
                <a:lnTo>
                  <a:pt x="114" y="2"/>
                </a:lnTo>
                <a:lnTo>
                  <a:pt x="117" y="0"/>
                </a:lnTo>
                <a:lnTo>
                  <a:pt x="120" y="8"/>
                </a:lnTo>
                <a:lnTo>
                  <a:pt x="123" y="5"/>
                </a:lnTo>
                <a:lnTo>
                  <a:pt x="126" y="5"/>
                </a:lnTo>
                <a:lnTo>
                  <a:pt x="129" y="0"/>
                </a:lnTo>
                <a:lnTo>
                  <a:pt x="132" y="3"/>
                </a:lnTo>
                <a:lnTo>
                  <a:pt x="135" y="8"/>
                </a:lnTo>
                <a:lnTo>
                  <a:pt x="138" y="7"/>
                </a:lnTo>
                <a:lnTo>
                  <a:pt x="141" y="7"/>
                </a:lnTo>
                <a:lnTo>
                  <a:pt x="144" y="1"/>
                </a:lnTo>
                <a:lnTo>
                  <a:pt x="147" y="7"/>
                </a:lnTo>
                <a:lnTo>
                  <a:pt x="150" y="7"/>
                </a:lnTo>
                <a:lnTo>
                  <a:pt x="153" y="10"/>
                </a:lnTo>
                <a:lnTo>
                  <a:pt x="156" y="4"/>
                </a:lnTo>
                <a:lnTo>
                  <a:pt x="159" y="3"/>
                </a:lnTo>
                <a:lnTo>
                  <a:pt x="162" y="5"/>
                </a:lnTo>
                <a:lnTo>
                  <a:pt x="165" y="7"/>
                </a:lnTo>
                <a:lnTo>
                  <a:pt x="168" y="9"/>
                </a:lnTo>
                <a:lnTo>
                  <a:pt x="171" y="2"/>
                </a:lnTo>
                <a:lnTo>
                  <a:pt x="174" y="3"/>
                </a:lnTo>
                <a:lnTo>
                  <a:pt x="177" y="2"/>
                </a:lnTo>
                <a:lnTo>
                  <a:pt x="180" y="8"/>
                </a:lnTo>
                <a:lnTo>
                  <a:pt x="183" y="5"/>
                </a:lnTo>
                <a:lnTo>
                  <a:pt x="186" y="3"/>
                </a:lnTo>
                <a:lnTo>
                  <a:pt x="189" y="1"/>
                </a:lnTo>
                <a:lnTo>
                  <a:pt x="192" y="3"/>
                </a:lnTo>
                <a:lnTo>
                  <a:pt x="195" y="9"/>
                </a:lnTo>
                <a:lnTo>
                  <a:pt x="198" y="5"/>
                </a:lnTo>
                <a:lnTo>
                  <a:pt x="201" y="5"/>
                </a:lnTo>
                <a:lnTo>
                  <a:pt x="204" y="1"/>
                </a:lnTo>
                <a:lnTo>
                  <a:pt x="207" y="7"/>
                </a:lnTo>
              </a:path>
            </a:pathLst>
          </a:custGeom>
          <a:noFill/>
          <a:ln w="6477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recover_raw_frame"/>
          <p:cNvSpPr/>
          <p:nvPr/>
        </p:nvSpPr>
        <p:spPr>
          <a:xfrm>
            <a:off x="2019300" y="6880859"/>
            <a:ext cx="1539240" cy="518160"/>
          </a:xfrm>
          <a:prstGeom prst="rect">
            <a:avLst/>
          </a:prstGeom>
          <a:solidFill>
            <a:srgbClr val="FFFFFF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recover_raw_wave"/>
          <p:cNvSpPr/>
          <p:nvPr/>
        </p:nvSpPr>
        <p:spPr>
          <a:xfrm>
            <a:off x="2072640" y="6934200"/>
            <a:ext cx="1432560" cy="441960"/>
          </a:xfrm>
          <a:custGeom>
            <a:avLst/>
            <a:gdLst/>
            <a:ahLst/>
            <a:cxnLst/>
            <a:rect l="l" t="t" r="r" b="b"/>
            <a:pathLst>
              <a:path w="188" h="58">
                <a:moveTo>
                  <a:pt x="0" y="10"/>
                </a:moveTo>
                <a:lnTo>
                  <a:pt x="3" y="34"/>
                </a:lnTo>
                <a:lnTo>
                  <a:pt x="6" y="29"/>
                </a:lnTo>
                <a:lnTo>
                  <a:pt x="9" y="30"/>
                </a:lnTo>
                <a:lnTo>
                  <a:pt x="12" y="2"/>
                </a:lnTo>
                <a:lnTo>
                  <a:pt x="15" y="36"/>
                </a:lnTo>
                <a:lnTo>
                  <a:pt x="18" y="45"/>
                </a:lnTo>
                <a:lnTo>
                  <a:pt x="21" y="15"/>
                </a:lnTo>
                <a:lnTo>
                  <a:pt x="24" y="10"/>
                </a:lnTo>
                <a:lnTo>
                  <a:pt x="27" y="23"/>
                </a:lnTo>
                <a:lnTo>
                  <a:pt x="30" y="58"/>
                </a:lnTo>
                <a:lnTo>
                  <a:pt x="33" y="13"/>
                </a:lnTo>
                <a:lnTo>
                  <a:pt x="36" y="8"/>
                </a:lnTo>
                <a:lnTo>
                  <a:pt x="39" y="27"/>
                </a:lnTo>
                <a:lnTo>
                  <a:pt x="42" y="44"/>
                </a:lnTo>
                <a:lnTo>
                  <a:pt x="45" y="29"/>
                </a:lnTo>
                <a:lnTo>
                  <a:pt x="49" y="0"/>
                </a:lnTo>
                <a:lnTo>
                  <a:pt x="52" y="37"/>
                </a:lnTo>
                <a:lnTo>
                  <a:pt x="55" y="30"/>
                </a:lnTo>
                <a:lnTo>
                  <a:pt x="58" y="28"/>
                </a:lnTo>
                <a:lnTo>
                  <a:pt x="61" y="13"/>
                </a:lnTo>
                <a:lnTo>
                  <a:pt x="64" y="31"/>
                </a:lnTo>
                <a:lnTo>
                  <a:pt x="67" y="36"/>
                </a:lnTo>
                <a:lnTo>
                  <a:pt x="70" y="8"/>
                </a:lnTo>
                <a:lnTo>
                  <a:pt x="73" y="32"/>
                </a:lnTo>
                <a:lnTo>
                  <a:pt x="76" y="31"/>
                </a:lnTo>
                <a:lnTo>
                  <a:pt x="79" y="35"/>
                </a:lnTo>
                <a:lnTo>
                  <a:pt x="82" y="2"/>
                </a:lnTo>
                <a:lnTo>
                  <a:pt x="85" y="24"/>
                </a:lnTo>
                <a:lnTo>
                  <a:pt x="88" y="50"/>
                </a:lnTo>
                <a:lnTo>
                  <a:pt x="91" y="23"/>
                </a:lnTo>
                <a:lnTo>
                  <a:pt x="94" y="11"/>
                </a:lnTo>
                <a:lnTo>
                  <a:pt x="97" y="11"/>
                </a:lnTo>
                <a:lnTo>
                  <a:pt x="100" y="57"/>
                </a:lnTo>
                <a:lnTo>
                  <a:pt x="103" y="26"/>
                </a:lnTo>
                <a:lnTo>
                  <a:pt x="106" y="6"/>
                </a:lnTo>
                <a:lnTo>
                  <a:pt x="109" y="20"/>
                </a:lnTo>
                <a:lnTo>
                  <a:pt x="112" y="39"/>
                </a:lnTo>
                <a:lnTo>
                  <a:pt x="115" y="40"/>
                </a:lnTo>
                <a:lnTo>
                  <a:pt x="118" y="1"/>
                </a:lnTo>
                <a:lnTo>
                  <a:pt x="121" y="31"/>
                </a:lnTo>
                <a:lnTo>
                  <a:pt x="124" y="31"/>
                </a:lnTo>
                <a:lnTo>
                  <a:pt x="127" y="29"/>
                </a:lnTo>
                <a:lnTo>
                  <a:pt x="130" y="16"/>
                </a:lnTo>
                <a:lnTo>
                  <a:pt x="133" y="26"/>
                </a:lnTo>
                <a:lnTo>
                  <a:pt x="136" y="41"/>
                </a:lnTo>
                <a:lnTo>
                  <a:pt x="139" y="7"/>
                </a:lnTo>
                <a:lnTo>
                  <a:pt x="143" y="26"/>
                </a:lnTo>
                <a:lnTo>
                  <a:pt x="146" y="32"/>
                </a:lnTo>
                <a:lnTo>
                  <a:pt x="149" y="40"/>
                </a:lnTo>
                <a:lnTo>
                  <a:pt x="152" y="7"/>
                </a:lnTo>
                <a:lnTo>
                  <a:pt x="155" y="11"/>
                </a:lnTo>
                <a:lnTo>
                  <a:pt x="158" y="50"/>
                </a:lnTo>
                <a:lnTo>
                  <a:pt x="161" y="31"/>
                </a:lnTo>
                <a:lnTo>
                  <a:pt x="164" y="16"/>
                </a:lnTo>
                <a:lnTo>
                  <a:pt x="167" y="2"/>
                </a:lnTo>
                <a:lnTo>
                  <a:pt x="170" y="49"/>
                </a:lnTo>
                <a:lnTo>
                  <a:pt x="173" y="38"/>
                </a:lnTo>
                <a:lnTo>
                  <a:pt x="176" y="9"/>
                </a:lnTo>
                <a:lnTo>
                  <a:pt x="179" y="16"/>
                </a:lnTo>
                <a:lnTo>
                  <a:pt x="182" y="30"/>
                </a:lnTo>
                <a:lnTo>
                  <a:pt x="185" y="46"/>
                </a:lnTo>
                <a:lnTo>
                  <a:pt x="188" y="6"/>
                </a:lnTo>
              </a:path>
            </a:pathLst>
          </a:custGeom>
          <a:noFill/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prediction_frame"/>
          <p:cNvSpPr/>
          <p:nvPr/>
        </p:nvSpPr>
        <p:spPr>
          <a:xfrm>
            <a:off x="4046220" y="6880859"/>
            <a:ext cx="2819400" cy="518160"/>
          </a:xfrm>
          <a:prstGeom prst="rect">
            <a:avLst/>
          </a:prstGeom>
          <a:solidFill>
            <a:srgbClr val="FFFFFF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prediction_wave"/>
          <p:cNvSpPr/>
          <p:nvPr/>
        </p:nvSpPr>
        <p:spPr>
          <a:xfrm>
            <a:off x="4130040" y="6873240"/>
            <a:ext cx="2651760" cy="472440"/>
          </a:xfrm>
          <a:custGeom>
            <a:avLst/>
            <a:gdLst/>
            <a:ahLst/>
            <a:cxnLst/>
            <a:rect l="l" t="t" r="r" b="b"/>
            <a:pathLst>
              <a:path w="348" h="62">
                <a:moveTo>
                  <a:pt x="0" y="31"/>
                </a:moveTo>
                <a:lnTo>
                  <a:pt x="3" y="40"/>
                </a:lnTo>
                <a:lnTo>
                  <a:pt x="6" y="48"/>
                </a:lnTo>
                <a:lnTo>
                  <a:pt x="9" y="35"/>
                </a:lnTo>
                <a:lnTo>
                  <a:pt x="12" y="55"/>
                </a:lnTo>
                <a:lnTo>
                  <a:pt x="15" y="32"/>
                </a:lnTo>
                <a:lnTo>
                  <a:pt x="18" y="13"/>
                </a:lnTo>
                <a:lnTo>
                  <a:pt x="21" y="13"/>
                </a:lnTo>
                <a:lnTo>
                  <a:pt x="24" y="26"/>
                </a:lnTo>
                <a:lnTo>
                  <a:pt x="27" y="42"/>
                </a:lnTo>
                <a:lnTo>
                  <a:pt x="30" y="29"/>
                </a:lnTo>
                <a:lnTo>
                  <a:pt x="33" y="55"/>
                </a:lnTo>
                <a:lnTo>
                  <a:pt x="36" y="49"/>
                </a:lnTo>
                <a:lnTo>
                  <a:pt x="39" y="35"/>
                </a:lnTo>
                <a:lnTo>
                  <a:pt x="42" y="13"/>
                </a:lnTo>
                <a:lnTo>
                  <a:pt x="45" y="16"/>
                </a:lnTo>
                <a:lnTo>
                  <a:pt x="48" y="33"/>
                </a:lnTo>
                <a:lnTo>
                  <a:pt x="51" y="19"/>
                </a:lnTo>
                <a:lnTo>
                  <a:pt x="54" y="41"/>
                </a:lnTo>
                <a:lnTo>
                  <a:pt x="57" y="49"/>
                </a:lnTo>
                <a:lnTo>
                  <a:pt x="60" y="57"/>
                </a:lnTo>
                <a:lnTo>
                  <a:pt x="63" y="29"/>
                </a:lnTo>
                <a:lnTo>
                  <a:pt x="66" y="18"/>
                </a:lnTo>
                <a:lnTo>
                  <a:pt x="69" y="29"/>
                </a:lnTo>
                <a:lnTo>
                  <a:pt x="72" y="15"/>
                </a:lnTo>
                <a:lnTo>
                  <a:pt x="75" y="24"/>
                </a:lnTo>
                <a:lnTo>
                  <a:pt x="78" y="30"/>
                </a:lnTo>
                <a:lnTo>
                  <a:pt x="81" y="62"/>
                </a:lnTo>
                <a:lnTo>
                  <a:pt x="84" y="46"/>
                </a:lnTo>
                <a:lnTo>
                  <a:pt x="87" y="31"/>
                </a:lnTo>
                <a:lnTo>
                  <a:pt x="90" y="33"/>
                </a:lnTo>
                <a:lnTo>
                  <a:pt x="93" y="22"/>
                </a:lnTo>
                <a:lnTo>
                  <a:pt x="96" y="19"/>
                </a:lnTo>
                <a:lnTo>
                  <a:pt x="99" y="8"/>
                </a:lnTo>
                <a:lnTo>
                  <a:pt x="102" y="46"/>
                </a:lnTo>
                <a:lnTo>
                  <a:pt x="105" y="49"/>
                </a:lnTo>
                <a:lnTo>
                  <a:pt x="108" y="44"/>
                </a:lnTo>
                <a:lnTo>
                  <a:pt x="111" y="39"/>
                </a:lnTo>
                <a:lnTo>
                  <a:pt x="114" y="35"/>
                </a:lnTo>
                <a:lnTo>
                  <a:pt x="117" y="31"/>
                </a:lnTo>
                <a:lnTo>
                  <a:pt x="120" y="0"/>
                </a:lnTo>
                <a:lnTo>
                  <a:pt x="123" y="24"/>
                </a:lnTo>
                <a:lnTo>
                  <a:pt x="126" y="36"/>
                </a:lnTo>
                <a:lnTo>
                  <a:pt x="129" y="46"/>
                </a:lnTo>
                <a:lnTo>
                  <a:pt x="132" y="41"/>
                </a:lnTo>
                <a:lnTo>
                  <a:pt x="135" y="43"/>
                </a:lnTo>
                <a:lnTo>
                  <a:pt x="138" y="50"/>
                </a:lnTo>
                <a:lnTo>
                  <a:pt x="141" y="14"/>
                </a:lnTo>
                <a:lnTo>
                  <a:pt x="144" y="14"/>
                </a:lnTo>
                <a:lnTo>
                  <a:pt x="147" y="17"/>
                </a:lnTo>
                <a:lnTo>
                  <a:pt x="150" y="39"/>
                </a:lnTo>
                <a:lnTo>
                  <a:pt x="153" y="34"/>
                </a:lnTo>
                <a:lnTo>
                  <a:pt x="156" y="39"/>
                </a:lnTo>
                <a:lnTo>
                  <a:pt x="159" y="59"/>
                </a:lnTo>
                <a:lnTo>
                  <a:pt x="162" y="38"/>
                </a:lnTo>
                <a:lnTo>
                  <a:pt x="165" y="25"/>
                </a:lnTo>
                <a:lnTo>
                  <a:pt x="168" y="8"/>
                </a:lnTo>
                <a:lnTo>
                  <a:pt x="171" y="30"/>
                </a:lnTo>
                <a:lnTo>
                  <a:pt x="174" y="25"/>
                </a:lnTo>
                <a:lnTo>
                  <a:pt x="177" y="27"/>
                </a:lnTo>
                <a:lnTo>
                  <a:pt x="180" y="50"/>
                </a:lnTo>
                <a:lnTo>
                  <a:pt x="183" y="52"/>
                </a:lnTo>
                <a:lnTo>
                  <a:pt x="186" y="47"/>
                </a:lnTo>
                <a:lnTo>
                  <a:pt x="189" y="15"/>
                </a:lnTo>
                <a:lnTo>
                  <a:pt x="192" y="28"/>
                </a:lnTo>
                <a:lnTo>
                  <a:pt x="195" y="21"/>
                </a:lnTo>
                <a:lnTo>
                  <a:pt x="198" y="17"/>
                </a:lnTo>
                <a:lnTo>
                  <a:pt x="201" y="29"/>
                </a:lnTo>
                <a:lnTo>
                  <a:pt x="204" y="46"/>
                </a:lnTo>
                <a:lnTo>
                  <a:pt x="207" y="62"/>
                </a:lnTo>
                <a:lnTo>
                  <a:pt x="210" y="31"/>
                </a:lnTo>
                <a:lnTo>
                  <a:pt x="213" y="35"/>
                </a:lnTo>
                <a:lnTo>
                  <a:pt x="216" y="26"/>
                </a:lnTo>
                <a:lnTo>
                  <a:pt x="219" y="20"/>
                </a:lnTo>
                <a:lnTo>
                  <a:pt x="222" y="11"/>
                </a:lnTo>
                <a:lnTo>
                  <a:pt x="225" y="24"/>
                </a:lnTo>
                <a:lnTo>
                  <a:pt x="228" y="57"/>
                </a:lnTo>
                <a:lnTo>
                  <a:pt x="231" y="42"/>
                </a:lnTo>
                <a:lnTo>
                  <a:pt x="234" y="44"/>
                </a:lnTo>
                <a:lnTo>
                  <a:pt x="237" y="35"/>
                </a:lnTo>
                <a:lnTo>
                  <a:pt x="240" y="36"/>
                </a:lnTo>
                <a:lnTo>
                  <a:pt x="243" y="13"/>
                </a:lnTo>
                <a:lnTo>
                  <a:pt x="246" y="6"/>
                </a:lnTo>
                <a:lnTo>
                  <a:pt x="249" y="37"/>
                </a:lnTo>
                <a:lnTo>
                  <a:pt x="252" y="39"/>
                </a:lnTo>
                <a:lnTo>
                  <a:pt x="255" y="47"/>
                </a:lnTo>
                <a:lnTo>
                  <a:pt x="258" y="37"/>
                </a:lnTo>
                <a:lnTo>
                  <a:pt x="261" y="52"/>
                </a:lnTo>
                <a:lnTo>
                  <a:pt x="264" y="31"/>
                </a:lnTo>
                <a:lnTo>
                  <a:pt x="267" y="8"/>
                </a:lnTo>
                <a:lnTo>
                  <a:pt x="270" y="18"/>
                </a:lnTo>
                <a:lnTo>
                  <a:pt x="273" y="26"/>
                </a:lnTo>
                <a:lnTo>
                  <a:pt x="276" y="42"/>
                </a:lnTo>
                <a:lnTo>
                  <a:pt x="279" y="30"/>
                </a:lnTo>
                <a:lnTo>
                  <a:pt x="282" y="55"/>
                </a:lnTo>
                <a:lnTo>
                  <a:pt x="285" y="50"/>
                </a:lnTo>
                <a:lnTo>
                  <a:pt x="288" y="28"/>
                </a:lnTo>
                <a:lnTo>
                  <a:pt x="291" y="15"/>
                </a:lnTo>
                <a:lnTo>
                  <a:pt x="294" y="15"/>
                </a:lnTo>
                <a:lnTo>
                  <a:pt x="297" y="34"/>
                </a:lnTo>
                <a:lnTo>
                  <a:pt x="300" y="19"/>
                </a:lnTo>
                <a:lnTo>
                  <a:pt x="303" y="42"/>
                </a:lnTo>
                <a:lnTo>
                  <a:pt x="306" y="53"/>
                </a:lnTo>
                <a:lnTo>
                  <a:pt x="309" y="51"/>
                </a:lnTo>
                <a:lnTo>
                  <a:pt x="312" y="29"/>
                </a:lnTo>
                <a:lnTo>
                  <a:pt x="315" y="15"/>
                </a:lnTo>
                <a:lnTo>
                  <a:pt x="318" y="31"/>
                </a:lnTo>
                <a:lnTo>
                  <a:pt x="321" y="13"/>
                </a:lnTo>
                <a:lnTo>
                  <a:pt x="324" y="25"/>
                </a:lnTo>
                <a:lnTo>
                  <a:pt x="327" y="36"/>
                </a:lnTo>
                <a:lnTo>
                  <a:pt x="330" y="59"/>
                </a:lnTo>
                <a:lnTo>
                  <a:pt x="333" y="47"/>
                </a:lnTo>
                <a:lnTo>
                  <a:pt x="336" y="27"/>
                </a:lnTo>
                <a:lnTo>
                  <a:pt x="339" y="36"/>
                </a:lnTo>
                <a:lnTo>
                  <a:pt x="342" y="19"/>
                </a:lnTo>
                <a:lnTo>
                  <a:pt x="345" y="18"/>
                </a:lnTo>
                <a:lnTo>
                  <a:pt x="348" y="12"/>
                </a:lnTo>
              </a:path>
            </a:pathLst>
          </a:custGeom>
          <a:noFill/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prediction_highlight"/>
          <p:cNvSpPr/>
          <p:nvPr/>
        </p:nvSpPr>
        <p:spPr>
          <a:xfrm>
            <a:off x="4130040" y="6880860"/>
            <a:ext cx="1104900" cy="464820"/>
          </a:xfrm>
          <a:custGeom>
            <a:avLst/>
            <a:gdLst/>
            <a:ahLst/>
            <a:cxnLst/>
            <a:rect l="l" t="t" r="r" b="b"/>
            <a:pathLst>
              <a:path w="145" h="61">
                <a:moveTo>
                  <a:pt x="0" y="30"/>
                </a:moveTo>
                <a:lnTo>
                  <a:pt x="3" y="42"/>
                </a:lnTo>
                <a:lnTo>
                  <a:pt x="6" y="32"/>
                </a:lnTo>
                <a:lnTo>
                  <a:pt x="9" y="21"/>
                </a:lnTo>
                <a:lnTo>
                  <a:pt x="12" y="32"/>
                </a:lnTo>
                <a:lnTo>
                  <a:pt x="15" y="49"/>
                </a:lnTo>
                <a:lnTo>
                  <a:pt x="18" y="19"/>
                </a:lnTo>
                <a:lnTo>
                  <a:pt x="21" y="19"/>
                </a:lnTo>
                <a:lnTo>
                  <a:pt x="24" y="58"/>
                </a:lnTo>
                <a:lnTo>
                  <a:pt x="27" y="23"/>
                </a:lnTo>
                <a:lnTo>
                  <a:pt x="30" y="12"/>
                </a:lnTo>
                <a:lnTo>
                  <a:pt x="33" y="55"/>
                </a:lnTo>
                <a:lnTo>
                  <a:pt x="36" y="30"/>
                </a:lnTo>
                <a:lnTo>
                  <a:pt x="39" y="16"/>
                </a:lnTo>
                <a:lnTo>
                  <a:pt x="42" y="41"/>
                </a:lnTo>
                <a:lnTo>
                  <a:pt x="45" y="34"/>
                </a:lnTo>
                <a:lnTo>
                  <a:pt x="48" y="30"/>
                </a:lnTo>
                <a:lnTo>
                  <a:pt x="51" y="24"/>
                </a:lnTo>
                <a:lnTo>
                  <a:pt x="54" y="33"/>
                </a:lnTo>
                <a:lnTo>
                  <a:pt x="57" y="49"/>
                </a:lnTo>
                <a:lnTo>
                  <a:pt x="60" y="10"/>
                </a:lnTo>
                <a:lnTo>
                  <a:pt x="63" y="28"/>
                </a:lnTo>
                <a:lnTo>
                  <a:pt x="66" y="61"/>
                </a:lnTo>
                <a:lnTo>
                  <a:pt x="69" y="8"/>
                </a:lnTo>
                <a:lnTo>
                  <a:pt x="72" y="24"/>
                </a:lnTo>
                <a:lnTo>
                  <a:pt x="76" y="59"/>
                </a:lnTo>
                <a:lnTo>
                  <a:pt x="79" y="15"/>
                </a:lnTo>
                <a:lnTo>
                  <a:pt x="82" y="24"/>
                </a:lnTo>
                <a:lnTo>
                  <a:pt x="85" y="45"/>
                </a:lnTo>
                <a:lnTo>
                  <a:pt x="88" y="29"/>
                </a:lnTo>
                <a:lnTo>
                  <a:pt x="91" y="31"/>
                </a:lnTo>
                <a:lnTo>
                  <a:pt x="94" y="23"/>
                </a:lnTo>
                <a:lnTo>
                  <a:pt x="97" y="40"/>
                </a:lnTo>
                <a:lnTo>
                  <a:pt x="100" y="42"/>
                </a:lnTo>
                <a:lnTo>
                  <a:pt x="103" y="5"/>
                </a:lnTo>
                <a:lnTo>
                  <a:pt x="106" y="44"/>
                </a:lnTo>
                <a:lnTo>
                  <a:pt x="109" y="51"/>
                </a:lnTo>
                <a:lnTo>
                  <a:pt x="112" y="0"/>
                </a:lnTo>
                <a:lnTo>
                  <a:pt x="115" y="40"/>
                </a:lnTo>
                <a:lnTo>
                  <a:pt x="118" y="52"/>
                </a:lnTo>
                <a:lnTo>
                  <a:pt x="121" y="9"/>
                </a:lnTo>
                <a:lnTo>
                  <a:pt x="124" y="33"/>
                </a:lnTo>
                <a:lnTo>
                  <a:pt x="127" y="42"/>
                </a:lnTo>
                <a:lnTo>
                  <a:pt x="130" y="28"/>
                </a:lnTo>
                <a:lnTo>
                  <a:pt x="133" y="28"/>
                </a:lnTo>
                <a:lnTo>
                  <a:pt x="136" y="26"/>
                </a:lnTo>
                <a:lnTo>
                  <a:pt x="139" y="46"/>
                </a:lnTo>
                <a:lnTo>
                  <a:pt x="142" y="29"/>
                </a:lnTo>
                <a:lnTo>
                  <a:pt x="145" y="11"/>
                </a:lnTo>
              </a:path>
            </a:pathLst>
          </a:custGeom>
          <a:noFill/>
          <a:ln w="24384">
            <a:solidFill>
              <a:srgbClr val="80B76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text_311"/>
          <p:cNvSpPr txBox="1"/>
          <p:nvPr/>
        </p:nvSpPr>
        <p:spPr>
          <a:xfrm>
            <a:off x="9029700" y="137160"/>
            <a:ext cx="3962399" cy="259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20" b="1" i="0">
                <a:solidFill>
                  <a:srgbClr val="161616"/>
                </a:solidFill>
                <a:latin typeface="Liberation Serif"/>
              </a:defRPr>
            </a:pPr>
            <a:r>
              <a:t>Spatio-Temporal Metadata Fusion (STMF)</a:t>
            </a:r>
          </a:p>
        </p:txBody>
      </p:sp>
      <p:sp>
        <p:nvSpPr>
          <p:cNvPr id="314" name="stmf_region_bg_0"/>
          <p:cNvSpPr/>
          <p:nvPr/>
        </p:nvSpPr>
        <p:spPr>
          <a:xfrm>
            <a:off x="7452360" y="495299"/>
            <a:ext cx="2628900" cy="327660"/>
          </a:xfrm>
          <a:prstGeom prst="rect">
            <a:avLst/>
          </a:prstGeom>
          <a:solidFill>
            <a:srgbClr val="FFFFFF"/>
          </a:solidFill>
          <a:ln w="5334">
            <a:solidFill>
              <a:srgbClr val="D8D8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stmf_region_wave_0"/>
          <p:cNvSpPr/>
          <p:nvPr/>
        </p:nvSpPr>
        <p:spPr>
          <a:xfrm>
            <a:off x="7498080" y="548640"/>
            <a:ext cx="2537460" cy="220980"/>
          </a:xfrm>
          <a:custGeom>
            <a:avLst/>
            <a:gdLst/>
            <a:ahLst/>
            <a:cxnLst/>
            <a:rect l="l" t="t" r="r" b="b"/>
            <a:pathLst>
              <a:path w="333" h="29">
                <a:moveTo>
                  <a:pt x="0" y="15"/>
                </a:moveTo>
                <a:lnTo>
                  <a:pt x="4" y="22"/>
                </a:lnTo>
                <a:lnTo>
                  <a:pt x="8" y="28"/>
                </a:lnTo>
                <a:lnTo>
                  <a:pt x="12" y="26"/>
                </a:lnTo>
                <a:lnTo>
                  <a:pt x="16" y="18"/>
                </a:lnTo>
                <a:lnTo>
                  <a:pt x="20" y="8"/>
                </a:lnTo>
                <a:lnTo>
                  <a:pt x="24" y="1"/>
                </a:lnTo>
                <a:lnTo>
                  <a:pt x="28" y="3"/>
                </a:lnTo>
                <a:lnTo>
                  <a:pt x="32" y="9"/>
                </a:lnTo>
                <a:lnTo>
                  <a:pt x="36" y="16"/>
                </a:lnTo>
                <a:lnTo>
                  <a:pt x="40" y="19"/>
                </a:lnTo>
                <a:lnTo>
                  <a:pt x="44" y="20"/>
                </a:lnTo>
                <a:lnTo>
                  <a:pt x="48" y="20"/>
                </a:lnTo>
                <a:lnTo>
                  <a:pt x="52" y="21"/>
                </a:lnTo>
                <a:lnTo>
                  <a:pt x="56" y="21"/>
                </a:lnTo>
                <a:lnTo>
                  <a:pt x="60" y="17"/>
                </a:lnTo>
                <a:lnTo>
                  <a:pt x="64" y="10"/>
                </a:lnTo>
                <a:lnTo>
                  <a:pt x="68" y="2"/>
                </a:lnTo>
                <a:lnTo>
                  <a:pt x="72" y="1"/>
                </a:lnTo>
                <a:lnTo>
                  <a:pt x="76" y="7"/>
                </a:lnTo>
                <a:lnTo>
                  <a:pt x="80" y="17"/>
                </a:lnTo>
                <a:lnTo>
                  <a:pt x="84" y="25"/>
                </a:lnTo>
                <a:lnTo>
                  <a:pt x="88" y="27"/>
                </a:lnTo>
                <a:lnTo>
                  <a:pt x="92" y="23"/>
                </a:lnTo>
                <a:lnTo>
                  <a:pt x="96" y="16"/>
                </a:lnTo>
                <a:lnTo>
                  <a:pt x="100" y="12"/>
                </a:lnTo>
                <a:lnTo>
                  <a:pt x="104" y="11"/>
                </a:lnTo>
                <a:lnTo>
                  <a:pt x="108" y="9"/>
                </a:lnTo>
                <a:lnTo>
                  <a:pt x="112" y="7"/>
                </a:lnTo>
                <a:lnTo>
                  <a:pt x="116" y="6"/>
                </a:lnTo>
                <a:lnTo>
                  <a:pt x="120" y="9"/>
                </a:lnTo>
                <a:lnTo>
                  <a:pt x="124" y="16"/>
                </a:lnTo>
                <a:lnTo>
                  <a:pt x="128" y="24"/>
                </a:lnTo>
                <a:lnTo>
                  <a:pt x="132" y="29"/>
                </a:lnTo>
                <a:lnTo>
                  <a:pt x="136" y="26"/>
                </a:lnTo>
                <a:lnTo>
                  <a:pt x="140" y="17"/>
                </a:lnTo>
                <a:lnTo>
                  <a:pt x="144" y="7"/>
                </a:lnTo>
                <a:lnTo>
                  <a:pt x="148" y="3"/>
                </a:lnTo>
                <a:lnTo>
                  <a:pt x="152" y="5"/>
                </a:lnTo>
                <a:lnTo>
                  <a:pt x="156" y="10"/>
                </a:lnTo>
                <a:lnTo>
                  <a:pt x="160" y="14"/>
                </a:lnTo>
                <a:lnTo>
                  <a:pt x="164" y="16"/>
                </a:lnTo>
                <a:lnTo>
                  <a:pt x="169" y="18"/>
                </a:lnTo>
                <a:lnTo>
                  <a:pt x="173" y="21"/>
                </a:lnTo>
                <a:lnTo>
                  <a:pt x="177" y="24"/>
                </a:lnTo>
                <a:lnTo>
                  <a:pt x="181" y="23"/>
                </a:lnTo>
                <a:lnTo>
                  <a:pt x="185" y="17"/>
                </a:lnTo>
                <a:lnTo>
                  <a:pt x="189" y="8"/>
                </a:lnTo>
                <a:lnTo>
                  <a:pt x="193" y="1"/>
                </a:lnTo>
                <a:lnTo>
                  <a:pt x="197" y="1"/>
                </a:lnTo>
                <a:lnTo>
                  <a:pt x="201" y="8"/>
                </a:lnTo>
                <a:lnTo>
                  <a:pt x="205" y="18"/>
                </a:lnTo>
                <a:lnTo>
                  <a:pt x="209" y="24"/>
                </a:lnTo>
                <a:lnTo>
                  <a:pt x="213" y="25"/>
                </a:lnTo>
                <a:lnTo>
                  <a:pt x="217" y="21"/>
                </a:lnTo>
                <a:lnTo>
                  <a:pt x="221" y="17"/>
                </a:lnTo>
                <a:lnTo>
                  <a:pt x="225" y="15"/>
                </a:lnTo>
                <a:lnTo>
                  <a:pt x="229" y="13"/>
                </a:lnTo>
                <a:lnTo>
                  <a:pt x="233" y="10"/>
                </a:lnTo>
                <a:lnTo>
                  <a:pt x="237" y="5"/>
                </a:lnTo>
                <a:lnTo>
                  <a:pt x="241" y="4"/>
                </a:lnTo>
                <a:lnTo>
                  <a:pt x="245" y="8"/>
                </a:lnTo>
                <a:lnTo>
                  <a:pt x="249" y="17"/>
                </a:lnTo>
                <a:lnTo>
                  <a:pt x="253" y="26"/>
                </a:lnTo>
                <a:lnTo>
                  <a:pt x="257" y="29"/>
                </a:lnTo>
                <a:lnTo>
                  <a:pt x="261" y="25"/>
                </a:lnTo>
                <a:lnTo>
                  <a:pt x="265" y="15"/>
                </a:lnTo>
                <a:lnTo>
                  <a:pt x="269" y="8"/>
                </a:lnTo>
                <a:lnTo>
                  <a:pt x="273" y="5"/>
                </a:lnTo>
                <a:lnTo>
                  <a:pt x="277" y="7"/>
                </a:lnTo>
                <a:lnTo>
                  <a:pt x="281" y="10"/>
                </a:lnTo>
                <a:lnTo>
                  <a:pt x="285" y="12"/>
                </a:lnTo>
                <a:lnTo>
                  <a:pt x="289" y="14"/>
                </a:lnTo>
                <a:lnTo>
                  <a:pt x="293" y="17"/>
                </a:lnTo>
                <a:lnTo>
                  <a:pt x="297" y="22"/>
                </a:lnTo>
                <a:lnTo>
                  <a:pt x="301" y="26"/>
                </a:lnTo>
                <a:lnTo>
                  <a:pt x="305" y="25"/>
                </a:lnTo>
                <a:lnTo>
                  <a:pt x="309" y="17"/>
                </a:lnTo>
                <a:lnTo>
                  <a:pt x="313" y="7"/>
                </a:lnTo>
                <a:lnTo>
                  <a:pt x="317" y="0"/>
                </a:lnTo>
                <a:lnTo>
                  <a:pt x="321" y="2"/>
                </a:lnTo>
                <a:lnTo>
                  <a:pt x="325" y="10"/>
                </a:lnTo>
                <a:lnTo>
                  <a:pt x="329" y="18"/>
                </a:lnTo>
                <a:lnTo>
                  <a:pt x="333" y="22"/>
                </a:lnTo>
              </a:path>
            </a:pathLst>
          </a:custGeom>
          <a:noFill/>
          <a:ln w="9144">
            <a:solidFill>
              <a:srgbClr val="80B76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text_314"/>
          <p:cNvSpPr txBox="1"/>
          <p:nvPr/>
        </p:nvSpPr>
        <p:spPr>
          <a:xfrm>
            <a:off x="8176260" y="548640"/>
            <a:ext cx="990599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61616"/>
                </a:solidFill>
                <a:latin typeface="Liberation Serif"/>
              </a:defRPr>
            </a:pPr>
            <a:r>
              <a:t>Region 1</a:t>
            </a:r>
          </a:p>
        </p:txBody>
      </p:sp>
      <p:sp>
        <p:nvSpPr>
          <p:cNvPr id="317" name="stmf_region_bg_1"/>
          <p:cNvSpPr/>
          <p:nvPr/>
        </p:nvSpPr>
        <p:spPr>
          <a:xfrm>
            <a:off x="7719060" y="693420"/>
            <a:ext cx="2628900" cy="327660"/>
          </a:xfrm>
          <a:prstGeom prst="rect">
            <a:avLst/>
          </a:prstGeom>
          <a:solidFill>
            <a:srgbClr val="FFFFFF"/>
          </a:solidFill>
          <a:ln w="5334">
            <a:solidFill>
              <a:srgbClr val="D8D8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stmf_region_wave_1"/>
          <p:cNvSpPr/>
          <p:nvPr/>
        </p:nvSpPr>
        <p:spPr>
          <a:xfrm>
            <a:off x="7764780" y="746760"/>
            <a:ext cx="2537460" cy="213360"/>
          </a:xfrm>
          <a:custGeom>
            <a:avLst/>
            <a:gdLst/>
            <a:ahLst/>
            <a:cxnLst/>
            <a:rect l="l" t="t" r="r" b="b"/>
            <a:pathLst>
              <a:path w="333" h="28">
                <a:moveTo>
                  <a:pt x="0" y="4"/>
                </a:moveTo>
                <a:lnTo>
                  <a:pt x="4" y="0"/>
                </a:lnTo>
                <a:lnTo>
                  <a:pt x="8" y="5"/>
                </a:lnTo>
                <a:lnTo>
                  <a:pt x="12" y="16"/>
                </a:lnTo>
                <a:lnTo>
                  <a:pt x="16" y="24"/>
                </a:lnTo>
                <a:lnTo>
                  <a:pt x="20" y="24"/>
                </a:lnTo>
                <a:lnTo>
                  <a:pt x="24" y="20"/>
                </a:lnTo>
                <a:lnTo>
                  <a:pt x="28" y="17"/>
                </a:lnTo>
                <a:lnTo>
                  <a:pt x="32" y="15"/>
                </a:lnTo>
                <a:lnTo>
                  <a:pt x="36" y="12"/>
                </a:lnTo>
                <a:lnTo>
                  <a:pt x="40" y="6"/>
                </a:lnTo>
                <a:lnTo>
                  <a:pt x="44" y="3"/>
                </a:lnTo>
                <a:lnTo>
                  <a:pt x="48" y="7"/>
                </a:lnTo>
                <a:lnTo>
                  <a:pt x="52" y="17"/>
                </a:lnTo>
                <a:lnTo>
                  <a:pt x="56" y="27"/>
                </a:lnTo>
                <a:lnTo>
                  <a:pt x="60" y="28"/>
                </a:lnTo>
                <a:lnTo>
                  <a:pt x="64" y="21"/>
                </a:lnTo>
                <a:lnTo>
                  <a:pt x="68" y="11"/>
                </a:lnTo>
                <a:lnTo>
                  <a:pt x="72" y="6"/>
                </a:lnTo>
                <a:lnTo>
                  <a:pt x="76" y="7"/>
                </a:lnTo>
                <a:lnTo>
                  <a:pt x="80" y="10"/>
                </a:lnTo>
                <a:lnTo>
                  <a:pt x="84" y="11"/>
                </a:lnTo>
                <a:lnTo>
                  <a:pt x="88" y="13"/>
                </a:lnTo>
                <a:lnTo>
                  <a:pt x="92" y="18"/>
                </a:lnTo>
                <a:lnTo>
                  <a:pt x="96" y="25"/>
                </a:lnTo>
                <a:lnTo>
                  <a:pt x="100" y="26"/>
                </a:lnTo>
                <a:lnTo>
                  <a:pt x="104" y="20"/>
                </a:lnTo>
                <a:lnTo>
                  <a:pt x="108" y="8"/>
                </a:lnTo>
                <a:lnTo>
                  <a:pt x="112" y="1"/>
                </a:lnTo>
                <a:lnTo>
                  <a:pt x="116" y="2"/>
                </a:lnTo>
                <a:lnTo>
                  <a:pt x="120" y="11"/>
                </a:lnTo>
                <a:lnTo>
                  <a:pt x="124" y="19"/>
                </a:lnTo>
                <a:lnTo>
                  <a:pt x="128" y="22"/>
                </a:lnTo>
                <a:lnTo>
                  <a:pt x="132" y="21"/>
                </a:lnTo>
                <a:lnTo>
                  <a:pt x="136" y="20"/>
                </a:lnTo>
                <a:lnTo>
                  <a:pt x="140" y="19"/>
                </a:lnTo>
                <a:lnTo>
                  <a:pt x="144" y="15"/>
                </a:lnTo>
                <a:lnTo>
                  <a:pt x="148" y="9"/>
                </a:lnTo>
                <a:lnTo>
                  <a:pt x="152" y="2"/>
                </a:lnTo>
                <a:lnTo>
                  <a:pt x="156" y="3"/>
                </a:lnTo>
                <a:lnTo>
                  <a:pt x="160" y="12"/>
                </a:lnTo>
                <a:lnTo>
                  <a:pt x="164" y="23"/>
                </a:lnTo>
                <a:lnTo>
                  <a:pt x="169" y="28"/>
                </a:lnTo>
                <a:lnTo>
                  <a:pt x="173" y="24"/>
                </a:lnTo>
                <a:lnTo>
                  <a:pt x="177" y="15"/>
                </a:lnTo>
                <a:lnTo>
                  <a:pt x="181" y="9"/>
                </a:lnTo>
                <a:lnTo>
                  <a:pt x="185" y="8"/>
                </a:lnTo>
                <a:lnTo>
                  <a:pt x="189" y="9"/>
                </a:lnTo>
                <a:lnTo>
                  <a:pt x="193" y="8"/>
                </a:lnTo>
                <a:lnTo>
                  <a:pt x="197" y="9"/>
                </a:lnTo>
                <a:lnTo>
                  <a:pt x="201" y="15"/>
                </a:lnTo>
                <a:lnTo>
                  <a:pt x="205" y="23"/>
                </a:lnTo>
                <a:lnTo>
                  <a:pt x="209" y="28"/>
                </a:lnTo>
                <a:lnTo>
                  <a:pt x="213" y="24"/>
                </a:lnTo>
                <a:lnTo>
                  <a:pt x="217" y="13"/>
                </a:lnTo>
                <a:lnTo>
                  <a:pt x="221" y="4"/>
                </a:lnTo>
                <a:lnTo>
                  <a:pt x="225" y="2"/>
                </a:lnTo>
                <a:lnTo>
                  <a:pt x="229" y="8"/>
                </a:lnTo>
                <a:lnTo>
                  <a:pt x="233" y="15"/>
                </a:lnTo>
                <a:lnTo>
                  <a:pt x="237" y="19"/>
                </a:lnTo>
                <a:lnTo>
                  <a:pt x="241" y="20"/>
                </a:lnTo>
                <a:lnTo>
                  <a:pt x="245" y="21"/>
                </a:lnTo>
                <a:lnTo>
                  <a:pt x="249" y="22"/>
                </a:lnTo>
                <a:lnTo>
                  <a:pt x="253" y="20"/>
                </a:lnTo>
                <a:lnTo>
                  <a:pt x="257" y="12"/>
                </a:lnTo>
                <a:lnTo>
                  <a:pt x="261" y="3"/>
                </a:lnTo>
                <a:lnTo>
                  <a:pt x="265" y="0"/>
                </a:lnTo>
                <a:lnTo>
                  <a:pt x="269" y="7"/>
                </a:lnTo>
                <a:lnTo>
                  <a:pt x="273" y="19"/>
                </a:lnTo>
                <a:lnTo>
                  <a:pt x="277" y="26"/>
                </a:lnTo>
                <a:lnTo>
                  <a:pt x="281" y="25"/>
                </a:lnTo>
                <a:lnTo>
                  <a:pt x="285" y="19"/>
                </a:lnTo>
                <a:lnTo>
                  <a:pt x="289" y="14"/>
                </a:lnTo>
                <a:lnTo>
                  <a:pt x="293" y="11"/>
                </a:lnTo>
                <a:lnTo>
                  <a:pt x="297" y="10"/>
                </a:lnTo>
                <a:lnTo>
                  <a:pt x="301" y="7"/>
                </a:lnTo>
                <a:lnTo>
                  <a:pt x="305" y="6"/>
                </a:lnTo>
                <a:lnTo>
                  <a:pt x="309" y="10"/>
                </a:lnTo>
                <a:lnTo>
                  <a:pt x="313" y="20"/>
                </a:lnTo>
                <a:lnTo>
                  <a:pt x="317" y="28"/>
                </a:lnTo>
                <a:lnTo>
                  <a:pt x="321" y="28"/>
                </a:lnTo>
                <a:lnTo>
                  <a:pt x="325" y="19"/>
                </a:lnTo>
                <a:lnTo>
                  <a:pt x="329" y="8"/>
                </a:lnTo>
                <a:lnTo>
                  <a:pt x="333" y="3"/>
                </a:lnTo>
              </a:path>
            </a:pathLst>
          </a:custGeom>
          <a:noFill/>
          <a:ln w="9144">
            <a:solidFill>
              <a:srgbClr val="ED7D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text_317"/>
          <p:cNvSpPr txBox="1"/>
          <p:nvPr/>
        </p:nvSpPr>
        <p:spPr>
          <a:xfrm>
            <a:off x="8442960" y="746760"/>
            <a:ext cx="990599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61616"/>
                </a:solidFill>
                <a:latin typeface="Liberation Serif"/>
              </a:defRPr>
            </a:pPr>
            <a:r>
              <a:t>Region 2</a:t>
            </a:r>
          </a:p>
        </p:txBody>
      </p:sp>
      <p:sp>
        <p:nvSpPr>
          <p:cNvPr id="320" name="stmf_region_bg_2"/>
          <p:cNvSpPr/>
          <p:nvPr/>
        </p:nvSpPr>
        <p:spPr>
          <a:xfrm>
            <a:off x="7993380" y="899160"/>
            <a:ext cx="2606040" cy="327660"/>
          </a:xfrm>
          <a:prstGeom prst="rect">
            <a:avLst/>
          </a:prstGeom>
          <a:solidFill>
            <a:srgbClr val="FFFFFF"/>
          </a:solidFill>
          <a:ln w="5334">
            <a:solidFill>
              <a:srgbClr val="D8D8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stmf_region_wave_2"/>
          <p:cNvSpPr/>
          <p:nvPr/>
        </p:nvSpPr>
        <p:spPr>
          <a:xfrm>
            <a:off x="8039100" y="952500"/>
            <a:ext cx="2514600" cy="220980"/>
          </a:xfrm>
          <a:custGeom>
            <a:avLst/>
            <a:gdLst/>
            <a:ahLst/>
            <a:cxnLst/>
            <a:rect l="l" t="t" r="r" b="b"/>
            <a:pathLst>
              <a:path w="330" h="29">
                <a:moveTo>
                  <a:pt x="0" y="16"/>
                </a:moveTo>
                <a:lnTo>
                  <a:pt x="4" y="13"/>
                </a:lnTo>
                <a:lnTo>
                  <a:pt x="8" y="7"/>
                </a:lnTo>
                <a:lnTo>
                  <a:pt x="12" y="3"/>
                </a:lnTo>
                <a:lnTo>
                  <a:pt x="16" y="8"/>
                </a:lnTo>
                <a:lnTo>
                  <a:pt x="20" y="21"/>
                </a:lnTo>
                <a:lnTo>
                  <a:pt x="24" y="29"/>
                </a:lnTo>
                <a:lnTo>
                  <a:pt x="28" y="25"/>
                </a:lnTo>
                <a:lnTo>
                  <a:pt x="32" y="14"/>
                </a:lnTo>
                <a:lnTo>
                  <a:pt x="36" y="6"/>
                </a:lnTo>
                <a:lnTo>
                  <a:pt x="40" y="6"/>
                </a:lnTo>
                <a:lnTo>
                  <a:pt x="44" y="10"/>
                </a:lnTo>
                <a:lnTo>
                  <a:pt x="48" y="11"/>
                </a:lnTo>
                <a:lnTo>
                  <a:pt x="52" y="15"/>
                </a:lnTo>
                <a:lnTo>
                  <a:pt x="56" y="21"/>
                </a:lnTo>
                <a:lnTo>
                  <a:pt x="60" y="27"/>
                </a:lnTo>
                <a:lnTo>
                  <a:pt x="64" y="23"/>
                </a:lnTo>
                <a:lnTo>
                  <a:pt x="68" y="11"/>
                </a:lnTo>
                <a:lnTo>
                  <a:pt x="72" y="1"/>
                </a:lnTo>
                <a:lnTo>
                  <a:pt x="76" y="3"/>
                </a:lnTo>
                <a:lnTo>
                  <a:pt x="80" y="13"/>
                </a:lnTo>
                <a:lnTo>
                  <a:pt x="85" y="21"/>
                </a:lnTo>
                <a:lnTo>
                  <a:pt x="89" y="22"/>
                </a:lnTo>
                <a:lnTo>
                  <a:pt x="93" y="20"/>
                </a:lnTo>
                <a:lnTo>
                  <a:pt x="97" y="19"/>
                </a:lnTo>
                <a:lnTo>
                  <a:pt x="101" y="17"/>
                </a:lnTo>
                <a:lnTo>
                  <a:pt x="105" y="9"/>
                </a:lnTo>
                <a:lnTo>
                  <a:pt x="109" y="2"/>
                </a:lnTo>
                <a:lnTo>
                  <a:pt x="113" y="4"/>
                </a:lnTo>
                <a:lnTo>
                  <a:pt x="117" y="16"/>
                </a:lnTo>
                <a:lnTo>
                  <a:pt x="121" y="27"/>
                </a:lnTo>
                <a:lnTo>
                  <a:pt x="125" y="27"/>
                </a:lnTo>
                <a:lnTo>
                  <a:pt x="129" y="18"/>
                </a:lnTo>
                <a:lnTo>
                  <a:pt x="133" y="10"/>
                </a:lnTo>
                <a:lnTo>
                  <a:pt x="137" y="8"/>
                </a:lnTo>
                <a:lnTo>
                  <a:pt x="141" y="9"/>
                </a:lnTo>
                <a:lnTo>
                  <a:pt x="145" y="8"/>
                </a:lnTo>
                <a:lnTo>
                  <a:pt x="149" y="10"/>
                </a:lnTo>
                <a:lnTo>
                  <a:pt x="153" y="18"/>
                </a:lnTo>
                <a:lnTo>
                  <a:pt x="157" y="27"/>
                </a:lnTo>
                <a:lnTo>
                  <a:pt x="161" y="27"/>
                </a:lnTo>
                <a:lnTo>
                  <a:pt x="165" y="16"/>
                </a:lnTo>
                <a:lnTo>
                  <a:pt x="169" y="4"/>
                </a:lnTo>
                <a:lnTo>
                  <a:pt x="173" y="2"/>
                </a:lnTo>
                <a:lnTo>
                  <a:pt x="177" y="9"/>
                </a:lnTo>
                <a:lnTo>
                  <a:pt x="181" y="16"/>
                </a:lnTo>
                <a:lnTo>
                  <a:pt x="185" y="19"/>
                </a:lnTo>
                <a:lnTo>
                  <a:pt x="189" y="20"/>
                </a:lnTo>
                <a:lnTo>
                  <a:pt x="193" y="22"/>
                </a:lnTo>
                <a:lnTo>
                  <a:pt x="197" y="21"/>
                </a:lnTo>
                <a:lnTo>
                  <a:pt x="201" y="13"/>
                </a:lnTo>
                <a:lnTo>
                  <a:pt x="205" y="3"/>
                </a:lnTo>
                <a:lnTo>
                  <a:pt x="209" y="1"/>
                </a:lnTo>
                <a:lnTo>
                  <a:pt x="213" y="10"/>
                </a:lnTo>
                <a:lnTo>
                  <a:pt x="217" y="23"/>
                </a:lnTo>
                <a:lnTo>
                  <a:pt x="221" y="27"/>
                </a:lnTo>
                <a:lnTo>
                  <a:pt x="225" y="22"/>
                </a:lnTo>
                <a:lnTo>
                  <a:pt x="229" y="15"/>
                </a:lnTo>
                <a:lnTo>
                  <a:pt x="233" y="12"/>
                </a:lnTo>
                <a:lnTo>
                  <a:pt x="237" y="10"/>
                </a:lnTo>
                <a:lnTo>
                  <a:pt x="241" y="7"/>
                </a:lnTo>
                <a:lnTo>
                  <a:pt x="245" y="6"/>
                </a:lnTo>
                <a:lnTo>
                  <a:pt x="250" y="13"/>
                </a:lnTo>
                <a:lnTo>
                  <a:pt x="254" y="25"/>
                </a:lnTo>
                <a:lnTo>
                  <a:pt x="258" y="29"/>
                </a:lnTo>
                <a:lnTo>
                  <a:pt x="262" y="21"/>
                </a:lnTo>
                <a:lnTo>
                  <a:pt x="266" y="9"/>
                </a:lnTo>
                <a:lnTo>
                  <a:pt x="270" y="3"/>
                </a:lnTo>
                <a:lnTo>
                  <a:pt x="274" y="7"/>
                </a:lnTo>
                <a:lnTo>
                  <a:pt x="278" y="12"/>
                </a:lnTo>
                <a:lnTo>
                  <a:pt x="282" y="15"/>
                </a:lnTo>
                <a:lnTo>
                  <a:pt x="286" y="18"/>
                </a:lnTo>
                <a:lnTo>
                  <a:pt x="290" y="23"/>
                </a:lnTo>
                <a:lnTo>
                  <a:pt x="294" y="25"/>
                </a:lnTo>
                <a:lnTo>
                  <a:pt x="298" y="18"/>
                </a:lnTo>
                <a:lnTo>
                  <a:pt x="302" y="6"/>
                </a:lnTo>
                <a:lnTo>
                  <a:pt x="306" y="0"/>
                </a:lnTo>
                <a:lnTo>
                  <a:pt x="310" y="6"/>
                </a:lnTo>
                <a:lnTo>
                  <a:pt x="314" y="18"/>
                </a:lnTo>
                <a:lnTo>
                  <a:pt x="318" y="24"/>
                </a:lnTo>
                <a:lnTo>
                  <a:pt x="322" y="23"/>
                </a:lnTo>
                <a:lnTo>
                  <a:pt x="326" y="18"/>
                </a:lnTo>
                <a:lnTo>
                  <a:pt x="330" y="16"/>
                </a:lnTo>
              </a:path>
            </a:pathLst>
          </a:custGeom>
          <a:noFill/>
          <a:ln w="9144">
            <a:solidFill>
              <a:srgbClr val="5AA1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text_320"/>
          <p:cNvSpPr txBox="1"/>
          <p:nvPr/>
        </p:nvSpPr>
        <p:spPr>
          <a:xfrm>
            <a:off x="8717280" y="952500"/>
            <a:ext cx="990599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61616"/>
                </a:solidFill>
                <a:latin typeface="Liberation Serif"/>
              </a:defRPr>
            </a:pPr>
            <a:r>
              <a:t>Region 3</a:t>
            </a:r>
          </a:p>
        </p:txBody>
      </p:sp>
      <p:sp>
        <p:nvSpPr>
          <p:cNvPr id="323" name="region_curve_1"/>
          <p:cNvSpPr/>
          <p:nvPr/>
        </p:nvSpPr>
        <p:spPr>
          <a:xfrm>
            <a:off x="7406640" y="708660"/>
            <a:ext cx="144780" cy="274320"/>
          </a:xfrm>
          <a:custGeom>
            <a:avLst/>
            <a:gdLst/>
            <a:ahLst/>
            <a:cxnLst/>
            <a:rect l="l" t="t" r="r" b="b"/>
            <a:pathLst>
              <a:path w="19" h="36">
                <a:moveTo>
                  <a:pt x="19" y="0"/>
                </a:moveTo>
                <a:lnTo>
                  <a:pt x="0" y="12"/>
                </a:lnTo>
                <a:lnTo>
                  <a:pt x="0" y="29"/>
                </a:lnTo>
                <a:lnTo>
                  <a:pt x="17" y="36"/>
                </a:lnTo>
              </a:path>
            </a:pathLst>
          </a:custGeom>
          <a:noFill/>
          <a:ln w="38100">
            <a:solidFill>
              <a:srgbClr val="A5A5A5"/>
            </a:solidFill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region_curve_2"/>
          <p:cNvSpPr/>
          <p:nvPr/>
        </p:nvSpPr>
        <p:spPr>
          <a:xfrm>
            <a:off x="7597140" y="96774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25" h="40">
                <a:moveTo>
                  <a:pt x="22" y="0"/>
                </a:moveTo>
                <a:lnTo>
                  <a:pt x="0" y="13"/>
                </a:lnTo>
                <a:lnTo>
                  <a:pt x="0" y="31"/>
                </a:lnTo>
                <a:lnTo>
                  <a:pt x="25" y="40"/>
                </a:lnTo>
              </a:path>
            </a:pathLst>
          </a:custGeom>
          <a:noFill/>
          <a:ln w="38100">
            <a:solidFill>
              <a:srgbClr val="A5A5A5"/>
            </a:solidFill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text_323"/>
          <p:cNvSpPr txBox="1"/>
          <p:nvPr/>
        </p:nvSpPr>
        <p:spPr>
          <a:xfrm>
            <a:off x="10515600" y="541020"/>
            <a:ext cx="792480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1">
                <a:solidFill>
                  <a:srgbClr val="161616"/>
                </a:solidFill>
                <a:latin typeface="Liberation Serif"/>
              </a:defRPr>
            </a:pPr>
            <a:r>
              <a:t>Norm &amp;</a:t>
            </a:r>
            <a:br/>
            <a:r>
              <a:t>Patchify</a:t>
            </a:r>
          </a:p>
        </p:txBody>
      </p:sp>
      <p:cxnSp>
        <p:nvCxnSpPr>
          <p:cNvPr id="326" name="stmf_patch_arrow"/>
          <p:cNvCxnSpPr/>
          <p:nvPr/>
        </p:nvCxnSpPr>
        <p:spPr>
          <a:xfrm>
            <a:off x="10439400" y="845819"/>
            <a:ext cx="853440" cy="0"/>
          </a:xfrm>
          <a:prstGeom prst="line">
            <a:avLst/>
          </a:prstGeom>
          <a:ln w="9906">
            <a:solidFill>
              <a:srgbClr val="161616"/>
            </a:solidFill>
            <a:tailEnd type="triangle" w="sm" len="sm"/>
          </a:ln>
        </p:spPr>
      </p:cxnSp>
      <p:sp>
        <p:nvSpPr>
          <p:cNvPr id="327" name="stmf_patch_bg_0_0"/>
          <p:cNvSpPr/>
          <p:nvPr/>
        </p:nvSpPr>
        <p:spPr>
          <a:xfrm>
            <a:off x="11353800" y="53340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stmf_patch_wave_0_0"/>
          <p:cNvSpPr/>
          <p:nvPr/>
        </p:nvSpPr>
        <p:spPr>
          <a:xfrm>
            <a:off x="11376660" y="579120"/>
            <a:ext cx="160020" cy="121920"/>
          </a:xfrm>
          <a:custGeom>
            <a:avLst/>
            <a:gdLst/>
            <a:ahLst/>
            <a:cxnLst/>
            <a:rect l="l" t="t" r="r" b="b"/>
            <a:pathLst>
              <a:path w="21" h="16">
                <a:moveTo>
                  <a:pt x="0" y="6"/>
                </a:moveTo>
                <a:lnTo>
                  <a:pt x="1" y="8"/>
                </a:lnTo>
                <a:lnTo>
                  <a:pt x="2" y="10"/>
                </a:lnTo>
                <a:lnTo>
                  <a:pt x="3" y="12"/>
                </a:lnTo>
                <a:lnTo>
                  <a:pt x="3" y="14"/>
                </a:lnTo>
                <a:lnTo>
                  <a:pt x="4" y="16"/>
                </a:lnTo>
                <a:lnTo>
                  <a:pt x="5" y="16"/>
                </a:lnTo>
                <a:lnTo>
                  <a:pt x="6" y="16"/>
                </a:lnTo>
                <a:lnTo>
                  <a:pt x="7" y="14"/>
                </a:lnTo>
                <a:lnTo>
                  <a:pt x="8" y="12"/>
                </a:lnTo>
                <a:lnTo>
                  <a:pt x="8" y="9"/>
                </a:lnTo>
                <a:lnTo>
                  <a:pt x="9" y="6"/>
                </a:lnTo>
                <a:lnTo>
                  <a:pt x="10" y="3"/>
                </a:lnTo>
                <a:lnTo>
                  <a:pt x="11" y="2"/>
                </a:lnTo>
                <a:lnTo>
                  <a:pt x="12" y="0"/>
                </a:lnTo>
                <a:lnTo>
                  <a:pt x="13" y="0"/>
                </a:lnTo>
                <a:lnTo>
                  <a:pt x="13" y="1"/>
                </a:lnTo>
                <a:lnTo>
                  <a:pt x="14" y="2"/>
                </a:lnTo>
                <a:lnTo>
                  <a:pt x="15" y="3"/>
                </a:lnTo>
                <a:lnTo>
                  <a:pt x="16" y="5"/>
                </a:lnTo>
                <a:lnTo>
                  <a:pt x="17" y="7"/>
                </a:lnTo>
                <a:lnTo>
                  <a:pt x="18" y="8"/>
                </a:lnTo>
                <a:lnTo>
                  <a:pt x="18" y="9"/>
                </a:lnTo>
                <a:lnTo>
                  <a:pt x="19" y="9"/>
                </a:lnTo>
                <a:lnTo>
                  <a:pt x="20" y="9"/>
                </a:lnTo>
                <a:lnTo>
                  <a:pt x="21" y="10"/>
                </a:lnTo>
              </a:path>
            </a:pathLst>
          </a:custGeom>
          <a:noFill/>
          <a:ln w="7620">
            <a:solidFill>
              <a:srgbClr val="80B76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stmf_patch_bg_0_1"/>
          <p:cNvSpPr/>
          <p:nvPr/>
        </p:nvSpPr>
        <p:spPr>
          <a:xfrm>
            <a:off x="11643360" y="53340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stmf_patch_wave_0_1"/>
          <p:cNvSpPr/>
          <p:nvPr/>
        </p:nvSpPr>
        <p:spPr>
          <a:xfrm>
            <a:off x="11666220" y="579120"/>
            <a:ext cx="160020" cy="121920"/>
          </a:xfrm>
          <a:custGeom>
            <a:avLst/>
            <a:gdLst/>
            <a:ahLst/>
            <a:cxnLst/>
            <a:rect l="l" t="t" r="r" b="b"/>
            <a:pathLst>
              <a:path w="21" h="16">
                <a:moveTo>
                  <a:pt x="0" y="0"/>
                </a:moveTo>
                <a:lnTo>
                  <a:pt x="1" y="0"/>
                </a:lnTo>
                <a:lnTo>
                  <a:pt x="2" y="2"/>
                </a:lnTo>
                <a:lnTo>
                  <a:pt x="3" y="4"/>
                </a:lnTo>
                <a:lnTo>
                  <a:pt x="3" y="6"/>
                </a:lnTo>
                <a:lnTo>
                  <a:pt x="4" y="9"/>
                </a:lnTo>
                <a:lnTo>
                  <a:pt x="5" y="12"/>
                </a:lnTo>
                <a:lnTo>
                  <a:pt x="6" y="14"/>
                </a:lnTo>
                <a:lnTo>
                  <a:pt x="7" y="16"/>
                </a:lnTo>
                <a:lnTo>
                  <a:pt x="8" y="16"/>
                </a:lnTo>
                <a:lnTo>
                  <a:pt x="8" y="15"/>
                </a:lnTo>
                <a:lnTo>
                  <a:pt x="9" y="14"/>
                </a:lnTo>
                <a:lnTo>
                  <a:pt x="10" y="12"/>
                </a:lnTo>
                <a:lnTo>
                  <a:pt x="11" y="10"/>
                </a:lnTo>
                <a:lnTo>
                  <a:pt x="12" y="8"/>
                </a:lnTo>
                <a:lnTo>
                  <a:pt x="13" y="6"/>
                </a:lnTo>
                <a:lnTo>
                  <a:pt x="13" y="5"/>
                </a:lnTo>
                <a:lnTo>
                  <a:pt x="14" y="4"/>
                </a:lnTo>
                <a:lnTo>
                  <a:pt x="15" y="4"/>
                </a:lnTo>
                <a:lnTo>
                  <a:pt x="16" y="4"/>
                </a:lnTo>
                <a:lnTo>
                  <a:pt x="17" y="4"/>
                </a:lnTo>
                <a:lnTo>
                  <a:pt x="18" y="4"/>
                </a:lnTo>
                <a:lnTo>
                  <a:pt x="18" y="4"/>
                </a:lnTo>
                <a:lnTo>
                  <a:pt x="19" y="4"/>
                </a:lnTo>
                <a:lnTo>
                  <a:pt x="20" y="4"/>
                </a:lnTo>
                <a:lnTo>
                  <a:pt x="21" y="4"/>
                </a:lnTo>
              </a:path>
            </a:pathLst>
          </a:custGeom>
          <a:noFill/>
          <a:ln w="7620">
            <a:solidFill>
              <a:srgbClr val="80B76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stmf_patch_bg_0_2"/>
          <p:cNvSpPr/>
          <p:nvPr/>
        </p:nvSpPr>
        <p:spPr>
          <a:xfrm>
            <a:off x="11932919" y="53340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stmf_patch_wave_0_2"/>
          <p:cNvSpPr/>
          <p:nvPr/>
        </p:nvSpPr>
        <p:spPr>
          <a:xfrm>
            <a:off x="11955780" y="594360"/>
            <a:ext cx="160020" cy="106680"/>
          </a:xfrm>
          <a:custGeom>
            <a:avLst/>
            <a:gdLst/>
            <a:ahLst/>
            <a:cxnLst/>
            <a:rect l="l" t="t" r="r" b="b"/>
            <a:pathLst>
              <a:path w="21" h="14">
                <a:moveTo>
                  <a:pt x="0" y="0"/>
                </a:moveTo>
                <a:lnTo>
                  <a:pt x="1" y="1"/>
                </a:lnTo>
                <a:lnTo>
                  <a:pt x="2" y="3"/>
                </a:lnTo>
                <a:lnTo>
                  <a:pt x="3" y="6"/>
                </a:lnTo>
                <a:lnTo>
                  <a:pt x="3" y="9"/>
                </a:lnTo>
                <a:lnTo>
                  <a:pt x="4" y="11"/>
                </a:lnTo>
                <a:lnTo>
                  <a:pt x="5" y="13"/>
                </a:lnTo>
                <a:lnTo>
                  <a:pt x="6" y="14"/>
                </a:lnTo>
                <a:lnTo>
                  <a:pt x="7" y="14"/>
                </a:lnTo>
                <a:lnTo>
                  <a:pt x="8" y="13"/>
                </a:lnTo>
                <a:lnTo>
                  <a:pt x="8" y="11"/>
                </a:lnTo>
                <a:lnTo>
                  <a:pt x="9" y="9"/>
                </a:lnTo>
                <a:lnTo>
                  <a:pt x="10" y="6"/>
                </a:lnTo>
                <a:lnTo>
                  <a:pt x="11" y="4"/>
                </a:lnTo>
                <a:lnTo>
                  <a:pt x="12" y="2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5" y="0"/>
                </a:lnTo>
                <a:lnTo>
                  <a:pt x="16" y="1"/>
                </a:lnTo>
                <a:lnTo>
                  <a:pt x="17" y="2"/>
                </a:lnTo>
                <a:lnTo>
                  <a:pt x="18" y="3"/>
                </a:lnTo>
                <a:lnTo>
                  <a:pt x="18" y="3"/>
                </a:lnTo>
                <a:lnTo>
                  <a:pt x="19" y="4"/>
                </a:lnTo>
                <a:lnTo>
                  <a:pt x="20" y="4"/>
                </a:lnTo>
                <a:lnTo>
                  <a:pt x="21" y="5"/>
                </a:lnTo>
              </a:path>
            </a:pathLst>
          </a:custGeom>
          <a:noFill/>
          <a:ln w="7620">
            <a:solidFill>
              <a:srgbClr val="80B76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stmf_patch_bg_0_3"/>
          <p:cNvSpPr/>
          <p:nvPr/>
        </p:nvSpPr>
        <p:spPr>
          <a:xfrm>
            <a:off x="12222480" y="53340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stmf_patch_wave_0_3"/>
          <p:cNvSpPr/>
          <p:nvPr/>
        </p:nvSpPr>
        <p:spPr>
          <a:xfrm>
            <a:off x="12245340" y="579120"/>
            <a:ext cx="160020" cy="121920"/>
          </a:xfrm>
          <a:custGeom>
            <a:avLst/>
            <a:gdLst/>
            <a:ahLst/>
            <a:cxnLst/>
            <a:rect l="l" t="t" r="r" b="b"/>
            <a:pathLst>
              <a:path w="21" h="16">
                <a:moveTo>
                  <a:pt x="0" y="5"/>
                </a:moveTo>
                <a:lnTo>
                  <a:pt x="1" y="7"/>
                </a:lnTo>
                <a:lnTo>
                  <a:pt x="2" y="9"/>
                </a:lnTo>
                <a:lnTo>
                  <a:pt x="3" y="11"/>
                </a:lnTo>
                <a:lnTo>
                  <a:pt x="3" y="14"/>
                </a:lnTo>
                <a:lnTo>
                  <a:pt x="4" y="15"/>
                </a:lnTo>
                <a:lnTo>
                  <a:pt x="5" y="16"/>
                </a:lnTo>
                <a:lnTo>
                  <a:pt x="6" y="16"/>
                </a:lnTo>
                <a:lnTo>
                  <a:pt x="7" y="15"/>
                </a:lnTo>
                <a:lnTo>
                  <a:pt x="8" y="13"/>
                </a:lnTo>
                <a:lnTo>
                  <a:pt x="8" y="10"/>
                </a:lnTo>
                <a:lnTo>
                  <a:pt x="9" y="7"/>
                </a:lnTo>
                <a:lnTo>
                  <a:pt x="10" y="5"/>
                </a:lnTo>
                <a:lnTo>
                  <a:pt x="11" y="2"/>
                </a:lnTo>
                <a:lnTo>
                  <a:pt x="12" y="1"/>
                </a:lnTo>
                <a:lnTo>
                  <a:pt x="13" y="0"/>
                </a:lnTo>
                <a:lnTo>
                  <a:pt x="13" y="1"/>
                </a:lnTo>
                <a:lnTo>
                  <a:pt x="14" y="2"/>
                </a:lnTo>
                <a:lnTo>
                  <a:pt x="15" y="3"/>
                </a:lnTo>
                <a:lnTo>
                  <a:pt x="16" y="4"/>
                </a:lnTo>
                <a:lnTo>
                  <a:pt x="17" y="6"/>
                </a:lnTo>
                <a:lnTo>
                  <a:pt x="18" y="7"/>
                </a:lnTo>
                <a:lnTo>
                  <a:pt x="18" y="8"/>
                </a:lnTo>
                <a:lnTo>
                  <a:pt x="19" y="8"/>
                </a:lnTo>
                <a:lnTo>
                  <a:pt x="20" y="9"/>
                </a:lnTo>
                <a:lnTo>
                  <a:pt x="21" y="9"/>
                </a:lnTo>
              </a:path>
            </a:pathLst>
          </a:custGeom>
          <a:noFill/>
          <a:ln w="7620">
            <a:solidFill>
              <a:srgbClr val="80B76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stmf_patch_bg_0_4"/>
          <p:cNvSpPr/>
          <p:nvPr/>
        </p:nvSpPr>
        <p:spPr>
          <a:xfrm>
            <a:off x="12512040" y="53340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stmf_patch_wave_0_4"/>
          <p:cNvSpPr/>
          <p:nvPr/>
        </p:nvSpPr>
        <p:spPr>
          <a:xfrm>
            <a:off x="12534900" y="586740"/>
            <a:ext cx="160020" cy="114300"/>
          </a:xfrm>
          <a:custGeom>
            <a:avLst/>
            <a:gdLst/>
            <a:ahLst/>
            <a:cxnLst/>
            <a:rect l="l" t="t" r="r" b="b"/>
            <a:pathLst>
              <a:path w="21" h="15">
                <a:moveTo>
                  <a:pt x="0" y="3"/>
                </a:moveTo>
                <a:lnTo>
                  <a:pt x="1" y="5"/>
                </a:lnTo>
                <a:lnTo>
                  <a:pt x="2" y="8"/>
                </a:lnTo>
                <a:lnTo>
                  <a:pt x="3" y="10"/>
                </a:lnTo>
                <a:lnTo>
                  <a:pt x="3" y="12"/>
                </a:lnTo>
                <a:lnTo>
                  <a:pt x="4" y="14"/>
                </a:lnTo>
                <a:lnTo>
                  <a:pt x="5" y="15"/>
                </a:lnTo>
                <a:lnTo>
                  <a:pt x="6" y="15"/>
                </a:lnTo>
                <a:lnTo>
                  <a:pt x="7" y="14"/>
                </a:lnTo>
                <a:lnTo>
                  <a:pt x="8" y="12"/>
                </a:lnTo>
                <a:lnTo>
                  <a:pt x="8" y="9"/>
                </a:lnTo>
                <a:lnTo>
                  <a:pt x="9" y="7"/>
                </a:lnTo>
                <a:lnTo>
                  <a:pt x="10" y="4"/>
                </a:lnTo>
                <a:lnTo>
                  <a:pt x="11" y="2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1"/>
                </a:lnTo>
                <a:lnTo>
                  <a:pt x="15" y="2"/>
                </a:lnTo>
                <a:lnTo>
                  <a:pt x="16" y="3"/>
                </a:lnTo>
                <a:lnTo>
                  <a:pt x="17" y="4"/>
                </a:lnTo>
                <a:lnTo>
                  <a:pt x="18" y="6"/>
                </a:lnTo>
                <a:lnTo>
                  <a:pt x="18" y="6"/>
                </a:lnTo>
                <a:lnTo>
                  <a:pt x="19" y="7"/>
                </a:lnTo>
                <a:lnTo>
                  <a:pt x="20" y="7"/>
                </a:lnTo>
                <a:lnTo>
                  <a:pt x="21" y="8"/>
                </a:lnTo>
              </a:path>
            </a:pathLst>
          </a:custGeom>
          <a:noFill/>
          <a:ln w="7620">
            <a:solidFill>
              <a:srgbClr val="80B76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stmf_patch_bg_0_5"/>
          <p:cNvSpPr/>
          <p:nvPr/>
        </p:nvSpPr>
        <p:spPr>
          <a:xfrm>
            <a:off x="12801600" y="53340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stmf_patch_wave_0_5"/>
          <p:cNvSpPr/>
          <p:nvPr/>
        </p:nvSpPr>
        <p:spPr>
          <a:xfrm>
            <a:off x="12824460" y="571500"/>
            <a:ext cx="160020" cy="121920"/>
          </a:xfrm>
          <a:custGeom>
            <a:avLst/>
            <a:gdLst/>
            <a:ahLst/>
            <a:cxnLst/>
            <a:rect l="l" t="t" r="r" b="b"/>
            <a:pathLst>
              <a:path w="21" h="16">
                <a:moveTo>
                  <a:pt x="0" y="12"/>
                </a:moveTo>
                <a:lnTo>
                  <a:pt x="1" y="13"/>
                </a:lnTo>
                <a:lnTo>
                  <a:pt x="2" y="14"/>
                </a:lnTo>
                <a:lnTo>
                  <a:pt x="3" y="15"/>
                </a:lnTo>
                <a:lnTo>
                  <a:pt x="3" y="16"/>
                </a:lnTo>
                <a:lnTo>
                  <a:pt x="4" y="15"/>
                </a:lnTo>
                <a:lnTo>
                  <a:pt x="5" y="14"/>
                </a:lnTo>
                <a:lnTo>
                  <a:pt x="6" y="11"/>
                </a:lnTo>
                <a:lnTo>
                  <a:pt x="7" y="9"/>
                </a:lnTo>
                <a:lnTo>
                  <a:pt x="8" y="6"/>
                </a:lnTo>
                <a:lnTo>
                  <a:pt x="8" y="3"/>
                </a:lnTo>
                <a:lnTo>
                  <a:pt x="9" y="1"/>
                </a:lnTo>
                <a:lnTo>
                  <a:pt x="10" y="0"/>
                </a:lnTo>
                <a:lnTo>
                  <a:pt x="11" y="0"/>
                </a:lnTo>
                <a:lnTo>
                  <a:pt x="12" y="1"/>
                </a:lnTo>
                <a:lnTo>
                  <a:pt x="13" y="2"/>
                </a:lnTo>
                <a:lnTo>
                  <a:pt x="13" y="5"/>
                </a:lnTo>
                <a:lnTo>
                  <a:pt x="14" y="7"/>
                </a:lnTo>
                <a:lnTo>
                  <a:pt x="15" y="9"/>
                </a:lnTo>
                <a:lnTo>
                  <a:pt x="16" y="11"/>
                </a:lnTo>
                <a:lnTo>
                  <a:pt x="17" y="13"/>
                </a:lnTo>
                <a:lnTo>
                  <a:pt x="18" y="13"/>
                </a:lnTo>
                <a:lnTo>
                  <a:pt x="18" y="14"/>
                </a:lnTo>
                <a:lnTo>
                  <a:pt x="19" y="13"/>
                </a:lnTo>
                <a:lnTo>
                  <a:pt x="20" y="13"/>
                </a:lnTo>
                <a:lnTo>
                  <a:pt x="21" y="12"/>
                </a:lnTo>
              </a:path>
            </a:pathLst>
          </a:custGeom>
          <a:noFill/>
          <a:ln w="7620">
            <a:solidFill>
              <a:srgbClr val="80B76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stmf_patch_bg_0_6"/>
          <p:cNvSpPr/>
          <p:nvPr/>
        </p:nvSpPr>
        <p:spPr>
          <a:xfrm>
            <a:off x="13091160" y="53340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stmf_patch_wave_0_6"/>
          <p:cNvSpPr/>
          <p:nvPr/>
        </p:nvSpPr>
        <p:spPr>
          <a:xfrm>
            <a:off x="13114020" y="571500"/>
            <a:ext cx="160020" cy="129540"/>
          </a:xfrm>
          <a:custGeom>
            <a:avLst/>
            <a:gdLst/>
            <a:ahLst/>
            <a:cxnLst/>
            <a:rect l="l" t="t" r="r" b="b"/>
            <a:pathLst>
              <a:path w="21" h="17">
                <a:moveTo>
                  <a:pt x="0" y="9"/>
                </a:moveTo>
                <a:lnTo>
                  <a:pt x="1" y="11"/>
                </a:lnTo>
                <a:lnTo>
                  <a:pt x="2" y="13"/>
                </a:lnTo>
                <a:lnTo>
                  <a:pt x="3" y="15"/>
                </a:lnTo>
                <a:lnTo>
                  <a:pt x="3" y="16"/>
                </a:lnTo>
                <a:lnTo>
                  <a:pt x="4" y="17"/>
                </a:lnTo>
                <a:lnTo>
                  <a:pt x="5" y="16"/>
                </a:lnTo>
                <a:lnTo>
                  <a:pt x="6" y="15"/>
                </a:lnTo>
                <a:lnTo>
                  <a:pt x="7" y="13"/>
                </a:lnTo>
                <a:lnTo>
                  <a:pt x="8" y="10"/>
                </a:lnTo>
                <a:lnTo>
                  <a:pt x="8" y="7"/>
                </a:lnTo>
                <a:lnTo>
                  <a:pt x="9" y="5"/>
                </a:lnTo>
                <a:lnTo>
                  <a:pt x="10" y="2"/>
                </a:lnTo>
                <a:lnTo>
                  <a:pt x="11" y="1"/>
                </a:lnTo>
                <a:lnTo>
                  <a:pt x="12" y="0"/>
                </a:lnTo>
                <a:lnTo>
                  <a:pt x="13" y="1"/>
                </a:lnTo>
                <a:lnTo>
                  <a:pt x="13" y="2"/>
                </a:lnTo>
                <a:lnTo>
                  <a:pt x="14" y="4"/>
                </a:lnTo>
                <a:lnTo>
                  <a:pt x="15" y="6"/>
                </a:lnTo>
                <a:lnTo>
                  <a:pt x="16" y="8"/>
                </a:lnTo>
                <a:lnTo>
                  <a:pt x="17" y="9"/>
                </a:lnTo>
                <a:lnTo>
                  <a:pt x="18" y="11"/>
                </a:lnTo>
                <a:lnTo>
                  <a:pt x="18" y="11"/>
                </a:lnTo>
                <a:lnTo>
                  <a:pt x="19" y="12"/>
                </a:lnTo>
                <a:lnTo>
                  <a:pt x="20" y="12"/>
                </a:lnTo>
                <a:lnTo>
                  <a:pt x="21" y="12"/>
                </a:lnTo>
              </a:path>
            </a:pathLst>
          </a:custGeom>
          <a:noFill/>
          <a:ln w="7620">
            <a:solidFill>
              <a:srgbClr val="80B76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stmf_patch_bg_1_0"/>
          <p:cNvSpPr/>
          <p:nvPr/>
        </p:nvSpPr>
        <p:spPr>
          <a:xfrm>
            <a:off x="11353800" y="79248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stmf_patch_wave_1_0"/>
          <p:cNvSpPr/>
          <p:nvPr/>
        </p:nvSpPr>
        <p:spPr>
          <a:xfrm>
            <a:off x="11376660" y="830580"/>
            <a:ext cx="160020" cy="114300"/>
          </a:xfrm>
          <a:custGeom>
            <a:avLst/>
            <a:gdLst/>
            <a:ahLst/>
            <a:cxnLst/>
            <a:rect l="l" t="t" r="r" b="b"/>
            <a:pathLst>
              <a:path w="21" h="15">
                <a:moveTo>
                  <a:pt x="0" y="13"/>
                </a:moveTo>
                <a:lnTo>
                  <a:pt x="1" y="14"/>
                </a:lnTo>
                <a:lnTo>
                  <a:pt x="2" y="14"/>
                </a:lnTo>
                <a:lnTo>
                  <a:pt x="3" y="14"/>
                </a:lnTo>
                <a:lnTo>
                  <a:pt x="3" y="13"/>
                </a:lnTo>
                <a:lnTo>
                  <a:pt x="4" y="11"/>
                </a:lnTo>
                <a:lnTo>
                  <a:pt x="5" y="9"/>
                </a:lnTo>
                <a:lnTo>
                  <a:pt x="6" y="7"/>
                </a:lnTo>
                <a:lnTo>
                  <a:pt x="7" y="4"/>
                </a:lnTo>
                <a:lnTo>
                  <a:pt x="8" y="2"/>
                </a:lnTo>
                <a:lnTo>
                  <a:pt x="8" y="1"/>
                </a:lnTo>
                <a:lnTo>
                  <a:pt x="9" y="0"/>
                </a:lnTo>
                <a:lnTo>
                  <a:pt x="10" y="0"/>
                </a:lnTo>
                <a:lnTo>
                  <a:pt x="11" y="1"/>
                </a:lnTo>
                <a:lnTo>
                  <a:pt x="12" y="3"/>
                </a:lnTo>
                <a:lnTo>
                  <a:pt x="13" y="6"/>
                </a:lnTo>
                <a:lnTo>
                  <a:pt x="13" y="9"/>
                </a:lnTo>
                <a:lnTo>
                  <a:pt x="14" y="11"/>
                </a:lnTo>
                <a:lnTo>
                  <a:pt x="15" y="14"/>
                </a:lnTo>
                <a:lnTo>
                  <a:pt x="16" y="15"/>
                </a:lnTo>
                <a:lnTo>
                  <a:pt x="17" y="15"/>
                </a:lnTo>
                <a:lnTo>
                  <a:pt x="18" y="15"/>
                </a:lnTo>
                <a:lnTo>
                  <a:pt x="18" y="14"/>
                </a:lnTo>
                <a:lnTo>
                  <a:pt x="19" y="13"/>
                </a:lnTo>
                <a:lnTo>
                  <a:pt x="20" y="12"/>
                </a:lnTo>
                <a:lnTo>
                  <a:pt x="21" y="10"/>
                </a:lnTo>
              </a:path>
            </a:pathLst>
          </a:custGeom>
          <a:noFill/>
          <a:ln w="7620">
            <a:solidFill>
              <a:srgbClr val="ED7D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stmf_patch_bg_1_1"/>
          <p:cNvSpPr/>
          <p:nvPr/>
        </p:nvSpPr>
        <p:spPr>
          <a:xfrm>
            <a:off x="11643360" y="79248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stmf_patch_wave_1_1"/>
          <p:cNvSpPr/>
          <p:nvPr/>
        </p:nvSpPr>
        <p:spPr>
          <a:xfrm>
            <a:off x="11666220" y="838200"/>
            <a:ext cx="160020" cy="121920"/>
          </a:xfrm>
          <a:custGeom>
            <a:avLst/>
            <a:gdLst/>
            <a:ahLst/>
            <a:cxnLst/>
            <a:rect l="l" t="t" r="r" b="b"/>
            <a:pathLst>
              <a:path w="21" h="16">
                <a:moveTo>
                  <a:pt x="0" y="6"/>
                </a:moveTo>
                <a:lnTo>
                  <a:pt x="1" y="8"/>
                </a:lnTo>
                <a:lnTo>
                  <a:pt x="2" y="10"/>
                </a:lnTo>
                <a:lnTo>
                  <a:pt x="3" y="12"/>
                </a:lnTo>
                <a:lnTo>
                  <a:pt x="3" y="14"/>
                </a:lnTo>
                <a:lnTo>
                  <a:pt x="4" y="16"/>
                </a:lnTo>
                <a:lnTo>
                  <a:pt x="5" y="16"/>
                </a:lnTo>
                <a:lnTo>
                  <a:pt x="6" y="16"/>
                </a:lnTo>
                <a:lnTo>
                  <a:pt x="7" y="14"/>
                </a:lnTo>
                <a:lnTo>
                  <a:pt x="8" y="12"/>
                </a:lnTo>
                <a:lnTo>
                  <a:pt x="8" y="9"/>
                </a:lnTo>
                <a:lnTo>
                  <a:pt x="9" y="6"/>
                </a:lnTo>
                <a:lnTo>
                  <a:pt x="10" y="4"/>
                </a:lnTo>
                <a:lnTo>
                  <a:pt x="11" y="2"/>
                </a:lnTo>
                <a:lnTo>
                  <a:pt x="12" y="0"/>
                </a:lnTo>
                <a:lnTo>
                  <a:pt x="13" y="0"/>
                </a:lnTo>
                <a:lnTo>
                  <a:pt x="13" y="1"/>
                </a:lnTo>
                <a:lnTo>
                  <a:pt x="14" y="2"/>
                </a:lnTo>
                <a:lnTo>
                  <a:pt x="15" y="3"/>
                </a:lnTo>
                <a:lnTo>
                  <a:pt x="16" y="5"/>
                </a:lnTo>
                <a:lnTo>
                  <a:pt x="17" y="6"/>
                </a:lnTo>
                <a:lnTo>
                  <a:pt x="18" y="8"/>
                </a:lnTo>
                <a:lnTo>
                  <a:pt x="18" y="8"/>
                </a:lnTo>
                <a:lnTo>
                  <a:pt x="19" y="9"/>
                </a:lnTo>
                <a:lnTo>
                  <a:pt x="20" y="9"/>
                </a:lnTo>
                <a:lnTo>
                  <a:pt x="21" y="10"/>
                </a:lnTo>
              </a:path>
            </a:pathLst>
          </a:custGeom>
          <a:noFill/>
          <a:ln w="7620">
            <a:solidFill>
              <a:srgbClr val="ED7D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stmf_patch_bg_1_2"/>
          <p:cNvSpPr/>
          <p:nvPr/>
        </p:nvSpPr>
        <p:spPr>
          <a:xfrm>
            <a:off x="11932919" y="79248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stmf_patch_wave_1_2"/>
          <p:cNvSpPr/>
          <p:nvPr/>
        </p:nvSpPr>
        <p:spPr>
          <a:xfrm>
            <a:off x="11955780" y="830580"/>
            <a:ext cx="160020" cy="129540"/>
          </a:xfrm>
          <a:custGeom>
            <a:avLst/>
            <a:gdLst/>
            <a:ahLst/>
            <a:cxnLst/>
            <a:rect l="l" t="t" r="r" b="b"/>
            <a:pathLst>
              <a:path w="21" h="17">
                <a:moveTo>
                  <a:pt x="0" y="9"/>
                </a:moveTo>
                <a:lnTo>
                  <a:pt x="1" y="11"/>
                </a:lnTo>
                <a:lnTo>
                  <a:pt x="2" y="13"/>
                </a:lnTo>
                <a:lnTo>
                  <a:pt x="3" y="15"/>
                </a:lnTo>
                <a:lnTo>
                  <a:pt x="3" y="16"/>
                </a:lnTo>
                <a:lnTo>
                  <a:pt x="4" y="17"/>
                </a:lnTo>
                <a:lnTo>
                  <a:pt x="5" y="16"/>
                </a:lnTo>
                <a:lnTo>
                  <a:pt x="6" y="15"/>
                </a:lnTo>
                <a:lnTo>
                  <a:pt x="7" y="13"/>
                </a:lnTo>
                <a:lnTo>
                  <a:pt x="8" y="10"/>
                </a:lnTo>
                <a:lnTo>
                  <a:pt x="8" y="7"/>
                </a:lnTo>
                <a:lnTo>
                  <a:pt x="9" y="4"/>
                </a:lnTo>
                <a:lnTo>
                  <a:pt x="10" y="2"/>
                </a:lnTo>
                <a:lnTo>
                  <a:pt x="11" y="1"/>
                </a:lnTo>
                <a:lnTo>
                  <a:pt x="12" y="0"/>
                </a:lnTo>
                <a:lnTo>
                  <a:pt x="13" y="1"/>
                </a:lnTo>
                <a:lnTo>
                  <a:pt x="13" y="2"/>
                </a:lnTo>
                <a:lnTo>
                  <a:pt x="14" y="4"/>
                </a:lnTo>
                <a:lnTo>
                  <a:pt x="15" y="6"/>
                </a:lnTo>
                <a:lnTo>
                  <a:pt x="16" y="8"/>
                </a:lnTo>
                <a:lnTo>
                  <a:pt x="17" y="10"/>
                </a:lnTo>
                <a:lnTo>
                  <a:pt x="18" y="11"/>
                </a:lnTo>
                <a:lnTo>
                  <a:pt x="18" y="11"/>
                </a:lnTo>
                <a:lnTo>
                  <a:pt x="19" y="12"/>
                </a:lnTo>
                <a:lnTo>
                  <a:pt x="20" y="12"/>
                </a:lnTo>
                <a:lnTo>
                  <a:pt x="21" y="12"/>
                </a:lnTo>
              </a:path>
            </a:pathLst>
          </a:custGeom>
          <a:noFill/>
          <a:ln w="7620">
            <a:solidFill>
              <a:srgbClr val="ED7D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stmf_patch_bg_1_3"/>
          <p:cNvSpPr/>
          <p:nvPr/>
        </p:nvSpPr>
        <p:spPr>
          <a:xfrm>
            <a:off x="12222480" y="79248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stmf_patch_wave_1_3"/>
          <p:cNvSpPr/>
          <p:nvPr/>
        </p:nvSpPr>
        <p:spPr>
          <a:xfrm>
            <a:off x="12245340" y="838200"/>
            <a:ext cx="160020" cy="121920"/>
          </a:xfrm>
          <a:custGeom>
            <a:avLst/>
            <a:gdLst/>
            <a:ahLst/>
            <a:cxnLst/>
            <a:rect l="l" t="t" r="r" b="b"/>
            <a:pathLst>
              <a:path w="21" h="16">
                <a:moveTo>
                  <a:pt x="0" y="10"/>
                </a:moveTo>
                <a:lnTo>
                  <a:pt x="1" y="10"/>
                </a:lnTo>
                <a:lnTo>
                  <a:pt x="2" y="9"/>
                </a:lnTo>
                <a:lnTo>
                  <a:pt x="3" y="8"/>
                </a:lnTo>
                <a:lnTo>
                  <a:pt x="3" y="7"/>
                </a:lnTo>
                <a:lnTo>
                  <a:pt x="4" y="5"/>
                </a:lnTo>
                <a:lnTo>
                  <a:pt x="5" y="4"/>
                </a:lnTo>
                <a:lnTo>
                  <a:pt x="6" y="2"/>
                </a:lnTo>
                <a:lnTo>
                  <a:pt x="7" y="0"/>
                </a:lnTo>
                <a:lnTo>
                  <a:pt x="8" y="0"/>
                </a:lnTo>
                <a:lnTo>
                  <a:pt x="8" y="0"/>
                </a:lnTo>
                <a:lnTo>
                  <a:pt x="9" y="1"/>
                </a:lnTo>
                <a:lnTo>
                  <a:pt x="10" y="3"/>
                </a:lnTo>
                <a:lnTo>
                  <a:pt x="11" y="5"/>
                </a:lnTo>
                <a:lnTo>
                  <a:pt x="12" y="8"/>
                </a:lnTo>
                <a:lnTo>
                  <a:pt x="13" y="11"/>
                </a:lnTo>
                <a:lnTo>
                  <a:pt x="13" y="14"/>
                </a:lnTo>
                <a:lnTo>
                  <a:pt x="14" y="15"/>
                </a:lnTo>
                <a:lnTo>
                  <a:pt x="15" y="16"/>
                </a:lnTo>
                <a:lnTo>
                  <a:pt x="16" y="16"/>
                </a:lnTo>
                <a:lnTo>
                  <a:pt x="17" y="14"/>
                </a:lnTo>
                <a:lnTo>
                  <a:pt x="18" y="13"/>
                </a:lnTo>
                <a:lnTo>
                  <a:pt x="18" y="10"/>
                </a:lnTo>
                <a:lnTo>
                  <a:pt x="19" y="8"/>
                </a:lnTo>
                <a:lnTo>
                  <a:pt x="20" y="6"/>
                </a:lnTo>
                <a:lnTo>
                  <a:pt x="21" y="5"/>
                </a:lnTo>
              </a:path>
            </a:pathLst>
          </a:custGeom>
          <a:noFill/>
          <a:ln w="7620">
            <a:solidFill>
              <a:srgbClr val="ED7D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stmf_patch_bg_1_4"/>
          <p:cNvSpPr/>
          <p:nvPr/>
        </p:nvSpPr>
        <p:spPr>
          <a:xfrm>
            <a:off x="12512040" y="79248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stmf_patch_wave_1_4"/>
          <p:cNvSpPr/>
          <p:nvPr/>
        </p:nvSpPr>
        <p:spPr>
          <a:xfrm>
            <a:off x="12534900" y="845820"/>
            <a:ext cx="160020" cy="114300"/>
          </a:xfrm>
          <a:custGeom>
            <a:avLst/>
            <a:gdLst/>
            <a:ahLst/>
            <a:cxnLst/>
            <a:rect l="l" t="t" r="r" b="b"/>
            <a:pathLst>
              <a:path w="21" h="15">
                <a:moveTo>
                  <a:pt x="0" y="2"/>
                </a:moveTo>
                <a:lnTo>
                  <a:pt x="1" y="4"/>
                </a:lnTo>
                <a:lnTo>
                  <a:pt x="2" y="6"/>
                </a:lnTo>
                <a:lnTo>
                  <a:pt x="3" y="9"/>
                </a:lnTo>
                <a:lnTo>
                  <a:pt x="3" y="11"/>
                </a:lnTo>
                <a:lnTo>
                  <a:pt x="4" y="13"/>
                </a:lnTo>
                <a:lnTo>
                  <a:pt x="5" y="15"/>
                </a:lnTo>
                <a:lnTo>
                  <a:pt x="6" y="15"/>
                </a:lnTo>
                <a:lnTo>
                  <a:pt x="7" y="15"/>
                </a:lnTo>
                <a:lnTo>
                  <a:pt x="8" y="13"/>
                </a:lnTo>
                <a:lnTo>
                  <a:pt x="8" y="11"/>
                </a:lnTo>
                <a:lnTo>
                  <a:pt x="9" y="8"/>
                </a:lnTo>
                <a:lnTo>
                  <a:pt x="10" y="6"/>
                </a:lnTo>
                <a:lnTo>
                  <a:pt x="11" y="3"/>
                </a:lnTo>
                <a:lnTo>
                  <a:pt x="12" y="1"/>
                </a:lnTo>
                <a:lnTo>
                  <a:pt x="13" y="0"/>
                </a:lnTo>
                <a:lnTo>
                  <a:pt x="13" y="0"/>
                </a:lnTo>
                <a:lnTo>
                  <a:pt x="14" y="1"/>
                </a:lnTo>
                <a:lnTo>
                  <a:pt x="15" y="1"/>
                </a:lnTo>
                <a:lnTo>
                  <a:pt x="16" y="3"/>
                </a:lnTo>
                <a:lnTo>
                  <a:pt x="17" y="4"/>
                </a:lnTo>
                <a:lnTo>
                  <a:pt x="18" y="5"/>
                </a:lnTo>
                <a:lnTo>
                  <a:pt x="18" y="5"/>
                </a:lnTo>
                <a:lnTo>
                  <a:pt x="19" y="6"/>
                </a:lnTo>
                <a:lnTo>
                  <a:pt x="20" y="6"/>
                </a:lnTo>
                <a:lnTo>
                  <a:pt x="21" y="7"/>
                </a:lnTo>
              </a:path>
            </a:pathLst>
          </a:custGeom>
          <a:noFill/>
          <a:ln w="7620">
            <a:solidFill>
              <a:srgbClr val="ED7D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stmf_patch_bg_1_5"/>
          <p:cNvSpPr/>
          <p:nvPr/>
        </p:nvSpPr>
        <p:spPr>
          <a:xfrm>
            <a:off x="12801600" y="79248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stmf_patch_wave_1_5"/>
          <p:cNvSpPr/>
          <p:nvPr/>
        </p:nvSpPr>
        <p:spPr>
          <a:xfrm>
            <a:off x="12824460" y="830580"/>
            <a:ext cx="160020" cy="129540"/>
          </a:xfrm>
          <a:custGeom>
            <a:avLst/>
            <a:gdLst/>
            <a:ahLst/>
            <a:cxnLst/>
            <a:rect l="l" t="t" r="r" b="b"/>
            <a:pathLst>
              <a:path w="21" h="17">
                <a:moveTo>
                  <a:pt x="0" y="12"/>
                </a:moveTo>
                <a:lnTo>
                  <a:pt x="1" y="12"/>
                </a:lnTo>
                <a:lnTo>
                  <a:pt x="2" y="11"/>
                </a:lnTo>
                <a:lnTo>
                  <a:pt x="3" y="11"/>
                </a:lnTo>
                <a:lnTo>
                  <a:pt x="3" y="9"/>
                </a:lnTo>
                <a:lnTo>
                  <a:pt x="4" y="8"/>
                </a:lnTo>
                <a:lnTo>
                  <a:pt x="5" y="6"/>
                </a:lnTo>
                <a:lnTo>
                  <a:pt x="6" y="4"/>
                </a:lnTo>
                <a:lnTo>
                  <a:pt x="7" y="2"/>
                </a:lnTo>
                <a:lnTo>
                  <a:pt x="8" y="1"/>
                </a:lnTo>
                <a:lnTo>
                  <a:pt x="8" y="0"/>
                </a:lnTo>
                <a:lnTo>
                  <a:pt x="9" y="1"/>
                </a:lnTo>
                <a:lnTo>
                  <a:pt x="10" y="3"/>
                </a:lnTo>
                <a:lnTo>
                  <a:pt x="11" y="5"/>
                </a:lnTo>
                <a:lnTo>
                  <a:pt x="12" y="8"/>
                </a:lnTo>
                <a:lnTo>
                  <a:pt x="13" y="11"/>
                </a:lnTo>
                <a:lnTo>
                  <a:pt x="13" y="13"/>
                </a:lnTo>
                <a:lnTo>
                  <a:pt x="14" y="15"/>
                </a:lnTo>
                <a:lnTo>
                  <a:pt x="15" y="16"/>
                </a:lnTo>
                <a:lnTo>
                  <a:pt x="16" y="17"/>
                </a:lnTo>
                <a:lnTo>
                  <a:pt x="17" y="16"/>
                </a:lnTo>
                <a:lnTo>
                  <a:pt x="18" y="14"/>
                </a:lnTo>
                <a:lnTo>
                  <a:pt x="18" y="12"/>
                </a:lnTo>
                <a:lnTo>
                  <a:pt x="19" y="10"/>
                </a:lnTo>
                <a:lnTo>
                  <a:pt x="20" y="9"/>
                </a:lnTo>
                <a:lnTo>
                  <a:pt x="21" y="7"/>
                </a:lnTo>
              </a:path>
            </a:pathLst>
          </a:custGeom>
          <a:noFill/>
          <a:ln w="7620">
            <a:solidFill>
              <a:srgbClr val="ED7D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stmf_patch_bg_1_6"/>
          <p:cNvSpPr/>
          <p:nvPr/>
        </p:nvSpPr>
        <p:spPr>
          <a:xfrm>
            <a:off x="13091160" y="79248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stmf_patch_wave_1_6"/>
          <p:cNvSpPr/>
          <p:nvPr/>
        </p:nvSpPr>
        <p:spPr>
          <a:xfrm>
            <a:off x="13114020" y="830580"/>
            <a:ext cx="160020" cy="106680"/>
          </a:xfrm>
          <a:custGeom>
            <a:avLst/>
            <a:gdLst/>
            <a:ahLst/>
            <a:cxnLst/>
            <a:rect l="l" t="t" r="r" b="b"/>
            <a:pathLst>
              <a:path w="21" h="14">
                <a:moveTo>
                  <a:pt x="0" y="3"/>
                </a:moveTo>
                <a:lnTo>
                  <a:pt x="1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3"/>
                </a:lnTo>
                <a:lnTo>
                  <a:pt x="5" y="5"/>
                </a:lnTo>
                <a:lnTo>
                  <a:pt x="6" y="8"/>
                </a:lnTo>
                <a:lnTo>
                  <a:pt x="7" y="10"/>
                </a:lnTo>
                <a:lnTo>
                  <a:pt x="8" y="12"/>
                </a:lnTo>
                <a:lnTo>
                  <a:pt x="8" y="14"/>
                </a:lnTo>
                <a:lnTo>
                  <a:pt x="9" y="14"/>
                </a:lnTo>
                <a:lnTo>
                  <a:pt x="10" y="14"/>
                </a:lnTo>
                <a:lnTo>
                  <a:pt x="11" y="14"/>
                </a:lnTo>
                <a:lnTo>
                  <a:pt x="12" y="13"/>
                </a:lnTo>
                <a:lnTo>
                  <a:pt x="13" y="12"/>
                </a:lnTo>
                <a:lnTo>
                  <a:pt x="13" y="11"/>
                </a:lnTo>
                <a:lnTo>
                  <a:pt x="14" y="10"/>
                </a:lnTo>
                <a:lnTo>
                  <a:pt x="15" y="10"/>
                </a:lnTo>
                <a:lnTo>
                  <a:pt x="16" y="9"/>
                </a:lnTo>
                <a:lnTo>
                  <a:pt x="17" y="9"/>
                </a:lnTo>
                <a:lnTo>
                  <a:pt x="18" y="8"/>
                </a:lnTo>
                <a:lnTo>
                  <a:pt x="18" y="7"/>
                </a:lnTo>
                <a:lnTo>
                  <a:pt x="19" y="6"/>
                </a:lnTo>
                <a:lnTo>
                  <a:pt x="20" y="5"/>
                </a:lnTo>
                <a:lnTo>
                  <a:pt x="21" y="3"/>
                </a:lnTo>
              </a:path>
            </a:pathLst>
          </a:custGeom>
          <a:noFill/>
          <a:ln w="7620">
            <a:solidFill>
              <a:srgbClr val="ED7D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stmf_patch_bg_2_0"/>
          <p:cNvSpPr/>
          <p:nvPr/>
        </p:nvSpPr>
        <p:spPr>
          <a:xfrm>
            <a:off x="11353800" y="105156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stmf_patch_wave_2_0"/>
          <p:cNvSpPr/>
          <p:nvPr/>
        </p:nvSpPr>
        <p:spPr>
          <a:xfrm>
            <a:off x="11376660" y="1089660"/>
            <a:ext cx="160020" cy="121920"/>
          </a:xfrm>
          <a:custGeom>
            <a:avLst/>
            <a:gdLst/>
            <a:ahLst/>
            <a:cxnLst/>
            <a:rect l="l" t="t" r="r" b="b"/>
            <a:pathLst>
              <a:path w="21" h="16">
                <a:moveTo>
                  <a:pt x="0" y="13"/>
                </a:moveTo>
                <a:lnTo>
                  <a:pt x="1" y="13"/>
                </a:lnTo>
                <a:lnTo>
                  <a:pt x="2" y="13"/>
                </a:lnTo>
                <a:lnTo>
                  <a:pt x="3" y="12"/>
                </a:lnTo>
                <a:lnTo>
                  <a:pt x="3" y="11"/>
                </a:lnTo>
                <a:lnTo>
                  <a:pt x="4" y="9"/>
                </a:lnTo>
                <a:lnTo>
                  <a:pt x="5" y="7"/>
                </a:lnTo>
                <a:lnTo>
                  <a:pt x="6" y="5"/>
                </a:lnTo>
                <a:lnTo>
                  <a:pt x="7" y="3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10" y="1"/>
                </a:lnTo>
                <a:lnTo>
                  <a:pt x="11" y="3"/>
                </a:lnTo>
                <a:lnTo>
                  <a:pt x="12" y="6"/>
                </a:lnTo>
                <a:lnTo>
                  <a:pt x="13" y="8"/>
                </a:lnTo>
                <a:lnTo>
                  <a:pt x="13" y="11"/>
                </a:lnTo>
                <a:lnTo>
                  <a:pt x="14" y="14"/>
                </a:lnTo>
                <a:lnTo>
                  <a:pt x="15" y="15"/>
                </a:lnTo>
                <a:lnTo>
                  <a:pt x="16" y="16"/>
                </a:lnTo>
                <a:lnTo>
                  <a:pt x="17" y="16"/>
                </a:lnTo>
                <a:lnTo>
                  <a:pt x="18" y="15"/>
                </a:lnTo>
                <a:lnTo>
                  <a:pt x="18" y="14"/>
                </a:lnTo>
                <a:lnTo>
                  <a:pt x="19" y="12"/>
                </a:lnTo>
                <a:lnTo>
                  <a:pt x="20" y="10"/>
                </a:lnTo>
                <a:lnTo>
                  <a:pt x="21" y="9"/>
                </a:lnTo>
              </a:path>
            </a:pathLst>
          </a:custGeom>
          <a:noFill/>
          <a:ln w="7620">
            <a:solidFill>
              <a:srgbClr val="5AA1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stmf_patch_bg_2_1"/>
          <p:cNvSpPr/>
          <p:nvPr/>
        </p:nvSpPr>
        <p:spPr>
          <a:xfrm>
            <a:off x="11643360" y="105156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stmf_patch_wave_2_1"/>
          <p:cNvSpPr/>
          <p:nvPr/>
        </p:nvSpPr>
        <p:spPr>
          <a:xfrm>
            <a:off x="11666220" y="1089660"/>
            <a:ext cx="160020" cy="114300"/>
          </a:xfrm>
          <a:custGeom>
            <a:avLst/>
            <a:gdLst/>
            <a:ahLst/>
            <a:cxnLst/>
            <a:rect l="l" t="t" r="r" b="b"/>
            <a:pathLst>
              <a:path w="21" h="15">
                <a:moveTo>
                  <a:pt x="0" y="12"/>
                </a:moveTo>
                <a:lnTo>
                  <a:pt x="1" y="14"/>
                </a:lnTo>
                <a:lnTo>
                  <a:pt x="2" y="14"/>
                </a:lnTo>
                <a:lnTo>
                  <a:pt x="3" y="15"/>
                </a:lnTo>
                <a:lnTo>
                  <a:pt x="3" y="15"/>
                </a:lnTo>
                <a:lnTo>
                  <a:pt x="4" y="14"/>
                </a:lnTo>
                <a:lnTo>
                  <a:pt x="5" y="12"/>
                </a:lnTo>
                <a:lnTo>
                  <a:pt x="6" y="10"/>
                </a:lnTo>
                <a:lnTo>
                  <a:pt x="7" y="7"/>
                </a:lnTo>
                <a:lnTo>
                  <a:pt x="8" y="4"/>
                </a:lnTo>
                <a:lnTo>
                  <a:pt x="8" y="2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2" y="1"/>
                </a:lnTo>
                <a:lnTo>
                  <a:pt x="13" y="4"/>
                </a:lnTo>
                <a:lnTo>
                  <a:pt x="13" y="6"/>
                </a:lnTo>
                <a:lnTo>
                  <a:pt x="14" y="9"/>
                </a:lnTo>
                <a:lnTo>
                  <a:pt x="15" y="11"/>
                </a:lnTo>
                <a:lnTo>
                  <a:pt x="16" y="13"/>
                </a:lnTo>
                <a:lnTo>
                  <a:pt x="17" y="14"/>
                </a:lnTo>
                <a:lnTo>
                  <a:pt x="18" y="14"/>
                </a:lnTo>
                <a:lnTo>
                  <a:pt x="18" y="14"/>
                </a:lnTo>
                <a:lnTo>
                  <a:pt x="19" y="13"/>
                </a:lnTo>
                <a:lnTo>
                  <a:pt x="20" y="13"/>
                </a:lnTo>
                <a:lnTo>
                  <a:pt x="21" y="12"/>
                </a:lnTo>
              </a:path>
            </a:pathLst>
          </a:custGeom>
          <a:noFill/>
          <a:ln w="7620">
            <a:solidFill>
              <a:srgbClr val="5AA1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stmf_patch_bg_2_2"/>
          <p:cNvSpPr/>
          <p:nvPr/>
        </p:nvSpPr>
        <p:spPr>
          <a:xfrm>
            <a:off x="11932919" y="105156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stmf_patch_wave_2_2"/>
          <p:cNvSpPr/>
          <p:nvPr/>
        </p:nvSpPr>
        <p:spPr>
          <a:xfrm>
            <a:off x="11955780" y="1104900"/>
            <a:ext cx="160020" cy="114300"/>
          </a:xfrm>
          <a:custGeom>
            <a:avLst/>
            <a:gdLst/>
            <a:ahLst/>
            <a:cxnLst/>
            <a:rect l="l" t="t" r="r" b="b"/>
            <a:pathLst>
              <a:path w="21" h="15">
                <a:moveTo>
                  <a:pt x="0" y="7"/>
                </a:moveTo>
                <a:lnTo>
                  <a:pt x="1" y="7"/>
                </a:lnTo>
                <a:lnTo>
                  <a:pt x="2" y="6"/>
                </a:lnTo>
                <a:lnTo>
                  <a:pt x="3" y="5"/>
                </a:lnTo>
                <a:lnTo>
                  <a:pt x="3" y="4"/>
                </a:lnTo>
                <a:lnTo>
                  <a:pt x="4" y="3"/>
                </a:lnTo>
                <a:lnTo>
                  <a:pt x="5" y="1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9" y="3"/>
                </a:lnTo>
                <a:lnTo>
                  <a:pt x="10" y="5"/>
                </a:lnTo>
                <a:lnTo>
                  <a:pt x="11" y="8"/>
                </a:lnTo>
                <a:lnTo>
                  <a:pt x="12" y="11"/>
                </a:lnTo>
                <a:lnTo>
                  <a:pt x="13" y="13"/>
                </a:lnTo>
                <a:lnTo>
                  <a:pt x="13" y="15"/>
                </a:lnTo>
                <a:lnTo>
                  <a:pt x="14" y="15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8" y="9"/>
                </a:lnTo>
                <a:lnTo>
                  <a:pt x="18" y="7"/>
                </a:lnTo>
                <a:lnTo>
                  <a:pt x="19" y="4"/>
                </a:lnTo>
                <a:lnTo>
                  <a:pt x="20" y="3"/>
                </a:lnTo>
                <a:lnTo>
                  <a:pt x="21" y="2"/>
                </a:lnTo>
              </a:path>
            </a:pathLst>
          </a:custGeom>
          <a:noFill/>
          <a:ln w="7620">
            <a:solidFill>
              <a:srgbClr val="5AA1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stmf_patch_bg_2_3"/>
          <p:cNvSpPr/>
          <p:nvPr/>
        </p:nvSpPr>
        <p:spPr>
          <a:xfrm>
            <a:off x="12222480" y="105156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stmf_patch_wave_2_3"/>
          <p:cNvSpPr/>
          <p:nvPr/>
        </p:nvSpPr>
        <p:spPr>
          <a:xfrm>
            <a:off x="12245340" y="1104900"/>
            <a:ext cx="160020" cy="114300"/>
          </a:xfrm>
          <a:custGeom>
            <a:avLst/>
            <a:gdLst/>
            <a:ahLst/>
            <a:cxnLst/>
            <a:rect l="l" t="t" r="r" b="b"/>
            <a:pathLst>
              <a:path w="21" h="15">
                <a:moveTo>
                  <a:pt x="0" y="7"/>
                </a:moveTo>
                <a:lnTo>
                  <a:pt x="1" y="6"/>
                </a:lnTo>
                <a:lnTo>
                  <a:pt x="2" y="6"/>
                </a:lnTo>
                <a:lnTo>
                  <a:pt x="3" y="5"/>
                </a:lnTo>
                <a:lnTo>
                  <a:pt x="3" y="4"/>
                </a:lnTo>
                <a:lnTo>
                  <a:pt x="4" y="2"/>
                </a:lnTo>
                <a:lnTo>
                  <a:pt x="5" y="1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9" y="3"/>
                </a:lnTo>
                <a:lnTo>
                  <a:pt x="10" y="6"/>
                </a:lnTo>
                <a:lnTo>
                  <a:pt x="11" y="8"/>
                </a:lnTo>
                <a:lnTo>
                  <a:pt x="12" y="11"/>
                </a:lnTo>
                <a:lnTo>
                  <a:pt x="13" y="13"/>
                </a:lnTo>
                <a:lnTo>
                  <a:pt x="13" y="15"/>
                </a:lnTo>
                <a:lnTo>
                  <a:pt x="14" y="15"/>
                </a:lnTo>
                <a:lnTo>
                  <a:pt x="15" y="15"/>
                </a:lnTo>
                <a:lnTo>
                  <a:pt x="16" y="13"/>
                </a:lnTo>
                <a:lnTo>
                  <a:pt x="17" y="11"/>
                </a:lnTo>
                <a:lnTo>
                  <a:pt x="18" y="8"/>
                </a:lnTo>
                <a:lnTo>
                  <a:pt x="18" y="6"/>
                </a:lnTo>
                <a:lnTo>
                  <a:pt x="19" y="4"/>
                </a:lnTo>
                <a:lnTo>
                  <a:pt x="20" y="2"/>
                </a:lnTo>
                <a:lnTo>
                  <a:pt x="21" y="1"/>
                </a:lnTo>
              </a:path>
            </a:pathLst>
          </a:custGeom>
          <a:noFill/>
          <a:ln w="7620">
            <a:solidFill>
              <a:srgbClr val="5AA1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stmf_patch_bg_2_4"/>
          <p:cNvSpPr/>
          <p:nvPr/>
        </p:nvSpPr>
        <p:spPr>
          <a:xfrm>
            <a:off x="12512040" y="105156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stmf_patch_wave_2_4"/>
          <p:cNvSpPr/>
          <p:nvPr/>
        </p:nvSpPr>
        <p:spPr>
          <a:xfrm>
            <a:off x="12534900" y="1089660"/>
            <a:ext cx="160020" cy="114300"/>
          </a:xfrm>
          <a:custGeom>
            <a:avLst/>
            <a:gdLst/>
            <a:ahLst/>
            <a:cxnLst/>
            <a:rect l="l" t="t" r="r" b="b"/>
            <a:pathLst>
              <a:path w="21" h="15">
                <a:moveTo>
                  <a:pt x="0" y="1"/>
                </a:move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lnTo>
                  <a:pt x="3" y="3"/>
                </a:lnTo>
                <a:lnTo>
                  <a:pt x="4" y="5"/>
                </a:lnTo>
                <a:lnTo>
                  <a:pt x="5" y="8"/>
                </a:lnTo>
                <a:lnTo>
                  <a:pt x="6" y="11"/>
                </a:lnTo>
                <a:lnTo>
                  <a:pt x="7" y="13"/>
                </a:lnTo>
                <a:lnTo>
                  <a:pt x="8" y="15"/>
                </a:lnTo>
                <a:lnTo>
                  <a:pt x="8" y="15"/>
                </a:lnTo>
                <a:lnTo>
                  <a:pt x="9" y="15"/>
                </a:lnTo>
                <a:lnTo>
                  <a:pt x="10" y="15"/>
                </a:lnTo>
                <a:lnTo>
                  <a:pt x="11" y="13"/>
                </a:lnTo>
                <a:lnTo>
                  <a:pt x="12" y="12"/>
                </a:lnTo>
                <a:lnTo>
                  <a:pt x="13" y="11"/>
                </a:lnTo>
                <a:lnTo>
                  <a:pt x="13" y="9"/>
                </a:lnTo>
                <a:lnTo>
                  <a:pt x="14" y="8"/>
                </a:lnTo>
                <a:lnTo>
                  <a:pt x="15" y="8"/>
                </a:lnTo>
                <a:lnTo>
                  <a:pt x="16" y="7"/>
                </a:lnTo>
                <a:lnTo>
                  <a:pt x="17" y="7"/>
                </a:lnTo>
                <a:lnTo>
                  <a:pt x="18" y="6"/>
                </a:lnTo>
                <a:lnTo>
                  <a:pt x="18" y="6"/>
                </a:lnTo>
                <a:lnTo>
                  <a:pt x="19" y="5"/>
                </a:lnTo>
                <a:lnTo>
                  <a:pt x="20" y="4"/>
                </a:lnTo>
                <a:lnTo>
                  <a:pt x="21" y="3"/>
                </a:lnTo>
              </a:path>
            </a:pathLst>
          </a:custGeom>
          <a:noFill/>
          <a:ln w="7620">
            <a:solidFill>
              <a:srgbClr val="5AA1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stmf_patch_bg_2_5"/>
          <p:cNvSpPr/>
          <p:nvPr/>
        </p:nvSpPr>
        <p:spPr>
          <a:xfrm>
            <a:off x="12801600" y="105156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stmf_patch_wave_2_5"/>
          <p:cNvSpPr/>
          <p:nvPr/>
        </p:nvSpPr>
        <p:spPr>
          <a:xfrm>
            <a:off x="12824460" y="1089660"/>
            <a:ext cx="160020" cy="129540"/>
          </a:xfrm>
          <a:custGeom>
            <a:avLst/>
            <a:gdLst/>
            <a:ahLst/>
            <a:cxnLst/>
            <a:rect l="l" t="t" r="r" b="b"/>
            <a:pathLst>
              <a:path w="21" h="17">
                <a:moveTo>
                  <a:pt x="0" y="9"/>
                </a:moveTo>
                <a:lnTo>
                  <a:pt x="1" y="11"/>
                </a:lnTo>
                <a:lnTo>
                  <a:pt x="2" y="13"/>
                </a:lnTo>
                <a:lnTo>
                  <a:pt x="3" y="15"/>
                </a:lnTo>
                <a:lnTo>
                  <a:pt x="3" y="16"/>
                </a:lnTo>
                <a:lnTo>
                  <a:pt x="4" y="17"/>
                </a:lnTo>
                <a:lnTo>
                  <a:pt x="5" y="16"/>
                </a:lnTo>
                <a:lnTo>
                  <a:pt x="6" y="15"/>
                </a:lnTo>
                <a:lnTo>
                  <a:pt x="7" y="13"/>
                </a:lnTo>
                <a:lnTo>
                  <a:pt x="8" y="10"/>
                </a:lnTo>
                <a:lnTo>
                  <a:pt x="8" y="7"/>
                </a:lnTo>
                <a:lnTo>
                  <a:pt x="9" y="4"/>
                </a:lnTo>
                <a:lnTo>
                  <a:pt x="10" y="2"/>
                </a:lnTo>
                <a:lnTo>
                  <a:pt x="11" y="1"/>
                </a:lnTo>
                <a:lnTo>
                  <a:pt x="12" y="0"/>
                </a:lnTo>
                <a:lnTo>
                  <a:pt x="13" y="1"/>
                </a:lnTo>
                <a:lnTo>
                  <a:pt x="13" y="2"/>
                </a:lnTo>
                <a:lnTo>
                  <a:pt x="14" y="4"/>
                </a:lnTo>
                <a:lnTo>
                  <a:pt x="15" y="6"/>
                </a:lnTo>
                <a:lnTo>
                  <a:pt x="16" y="8"/>
                </a:lnTo>
                <a:lnTo>
                  <a:pt x="17" y="10"/>
                </a:lnTo>
                <a:lnTo>
                  <a:pt x="18" y="11"/>
                </a:lnTo>
                <a:lnTo>
                  <a:pt x="18" y="11"/>
                </a:lnTo>
                <a:lnTo>
                  <a:pt x="19" y="12"/>
                </a:lnTo>
                <a:lnTo>
                  <a:pt x="20" y="12"/>
                </a:lnTo>
                <a:lnTo>
                  <a:pt x="21" y="12"/>
                </a:lnTo>
              </a:path>
            </a:pathLst>
          </a:custGeom>
          <a:noFill/>
          <a:ln w="7620">
            <a:solidFill>
              <a:srgbClr val="5AA1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stmf_patch_bg_2_6"/>
          <p:cNvSpPr/>
          <p:nvPr/>
        </p:nvSpPr>
        <p:spPr>
          <a:xfrm>
            <a:off x="13091160" y="1051560"/>
            <a:ext cx="20574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stmf_patch_wave_2_6"/>
          <p:cNvSpPr/>
          <p:nvPr/>
        </p:nvSpPr>
        <p:spPr>
          <a:xfrm>
            <a:off x="13114020" y="1104900"/>
            <a:ext cx="160020" cy="114300"/>
          </a:xfrm>
          <a:custGeom>
            <a:avLst/>
            <a:gdLst/>
            <a:ahLst/>
            <a:cxnLst/>
            <a:rect l="l" t="t" r="r" b="b"/>
            <a:pathLst>
              <a:path w="21" h="15">
                <a:moveTo>
                  <a:pt x="0" y="3"/>
                </a:moveTo>
                <a:lnTo>
                  <a:pt x="1" y="5"/>
                </a:lnTo>
                <a:lnTo>
                  <a:pt x="2" y="8"/>
                </a:lnTo>
                <a:lnTo>
                  <a:pt x="3" y="10"/>
                </a:lnTo>
                <a:lnTo>
                  <a:pt x="3" y="12"/>
                </a:lnTo>
                <a:lnTo>
                  <a:pt x="4" y="14"/>
                </a:lnTo>
                <a:lnTo>
                  <a:pt x="5" y="15"/>
                </a:lnTo>
                <a:lnTo>
                  <a:pt x="6" y="15"/>
                </a:lnTo>
                <a:lnTo>
                  <a:pt x="7" y="14"/>
                </a:lnTo>
                <a:lnTo>
                  <a:pt x="8" y="12"/>
                </a:lnTo>
                <a:lnTo>
                  <a:pt x="8" y="9"/>
                </a:lnTo>
                <a:lnTo>
                  <a:pt x="9" y="7"/>
                </a:lnTo>
                <a:lnTo>
                  <a:pt x="10" y="4"/>
                </a:lnTo>
                <a:lnTo>
                  <a:pt x="11" y="2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1"/>
                </a:lnTo>
                <a:lnTo>
                  <a:pt x="15" y="2"/>
                </a:lnTo>
                <a:lnTo>
                  <a:pt x="16" y="3"/>
                </a:lnTo>
                <a:lnTo>
                  <a:pt x="17" y="5"/>
                </a:lnTo>
                <a:lnTo>
                  <a:pt x="18" y="6"/>
                </a:lnTo>
                <a:lnTo>
                  <a:pt x="18" y="6"/>
                </a:lnTo>
                <a:lnTo>
                  <a:pt x="19" y="7"/>
                </a:lnTo>
                <a:lnTo>
                  <a:pt x="20" y="8"/>
                </a:lnTo>
                <a:lnTo>
                  <a:pt x="21" y="8"/>
                </a:lnTo>
              </a:path>
            </a:pathLst>
          </a:custGeom>
          <a:noFill/>
          <a:ln w="7620">
            <a:solidFill>
              <a:srgbClr val="5AA1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metadata_bg"/>
          <p:cNvSpPr/>
          <p:nvPr/>
        </p:nvSpPr>
        <p:spPr>
          <a:xfrm>
            <a:off x="7414259" y="1341120"/>
            <a:ext cx="19050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clock_icon"/>
          <p:cNvSpPr/>
          <p:nvPr/>
        </p:nvSpPr>
        <p:spPr>
          <a:xfrm>
            <a:off x="7467599" y="1394460"/>
            <a:ext cx="167640" cy="167640"/>
          </a:xfrm>
          <a:prstGeom prst="ellipse">
            <a:avLst/>
          </a:prstGeom>
          <a:noFill/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text_369"/>
          <p:cNvSpPr txBox="1"/>
          <p:nvPr/>
        </p:nvSpPr>
        <p:spPr>
          <a:xfrm>
            <a:off x="7749540" y="1356360"/>
            <a:ext cx="8077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161616"/>
                </a:solidFill>
                <a:latin typeface="Liberation Serif"/>
              </a:defRPr>
            </a:pPr>
            <a:r>
              <a:t>min-of-hour</a:t>
            </a:r>
          </a:p>
        </p:txBody>
      </p:sp>
      <p:sp>
        <p:nvSpPr>
          <p:cNvPr id="372" name="metadata_icon_1"/>
          <p:cNvSpPr/>
          <p:nvPr/>
        </p:nvSpPr>
        <p:spPr>
          <a:xfrm>
            <a:off x="7467599" y="1554480"/>
            <a:ext cx="182880" cy="137160"/>
          </a:xfrm>
          <a:prstGeom prst="roundRect">
            <a:avLst>
              <a:gd name="adj" fmla="val 16666"/>
            </a:avLst>
          </a:prstGeom>
          <a:noFill/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text_371"/>
          <p:cNvSpPr txBox="1"/>
          <p:nvPr/>
        </p:nvSpPr>
        <p:spPr>
          <a:xfrm>
            <a:off x="7749540" y="1508760"/>
            <a:ext cx="8077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161616"/>
                </a:solidFill>
                <a:latin typeface="Liberation Serif"/>
              </a:defRPr>
            </a:pPr>
            <a:r>
              <a:t>hour-of-day</a:t>
            </a:r>
          </a:p>
        </p:txBody>
      </p:sp>
      <p:sp>
        <p:nvSpPr>
          <p:cNvPr id="374" name="metadata_icon_2"/>
          <p:cNvSpPr/>
          <p:nvPr/>
        </p:nvSpPr>
        <p:spPr>
          <a:xfrm>
            <a:off x="7467599" y="1706880"/>
            <a:ext cx="182880" cy="137160"/>
          </a:xfrm>
          <a:prstGeom prst="roundRect">
            <a:avLst>
              <a:gd name="adj" fmla="val 16666"/>
            </a:avLst>
          </a:prstGeom>
          <a:noFill/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text_373"/>
          <p:cNvSpPr txBox="1"/>
          <p:nvPr/>
        </p:nvSpPr>
        <p:spPr>
          <a:xfrm>
            <a:off x="7749540" y="1661160"/>
            <a:ext cx="8077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161616"/>
                </a:solidFill>
                <a:latin typeface="Liberation Serif"/>
              </a:defRPr>
            </a:pPr>
            <a:r>
              <a:t>day-of-week</a:t>
            </a:r>
          </a:p>
        </p:txBody>
      </p:sp>
      <p:sp>
        <p:nvSpPr>
          <p:cNvPr id="376" name="metadata_icon_3"/>
          <p:cNvSpPr/>
          <p:nvPr/>
        </p:nvSpPr>
        <p:spPr>
          <a:xfrm>
            <a:off x="7467599" y="1859280"/>
            <a:ext cx="182880" cy="137160"/>
          </a:xfrm>
          <a:prstGeom prst="roundRect">
            <a:avLst>
              <a:gd name="adj" fmla="val 16666"/>
            </a:avLst>
          </a:prstGeom>
          <a:noFill/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text_375"/>
          <p:cNvSpPr txBox="1"/>
          <p:nvPr/>
        </p:nvSpPr>
        <p:spPr>
          <a:xfrm>
            <a:off x="7749540" y="1813560"/>
            <a:ext cx="8077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161616"/>
                </a:solidFill>
                <a:latin typeface="Liberation Serif"/>
              </a:defRPr>
            </a:pPr>
            <a:r>
              <a:t>day-of-month</a:t>
            </a:r>
          </a:p>
        </p:txBody>
      </p:sp>
      <p:sp>
        <p:nvSpPr>
          <p:cNvPr id="378" name="metadata_icon_4"/>
          <p:cNvSpPr/>
          <p:nvPr/>
        </p:nvSpPr>
        <p:spPr>
          <a:xfrm>
            <a:off x="7467599" y="2011680"/>
            <a:ext cx="182880" cy="137160"/>
          </a:xfrm>
          <a:prstGeom prst="roundRect">
            <a:avLst>
              <a:gd name="adj" fmla="val 16666"/>
            </a:avLst>
          </a:prstGeom>
          <a:noFill/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text_377"/>
          <p:cNvSpPr txBox="1"/>
          <p:nvPr/>
        </p:nvSpPr>
        <p:spPr>
          <a:xfrm>
            <a:off x="7749540" y="1965960"/>
            <a:ext cx="8077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161616"/>
                </a:solidFill>
                <a:latin typeface="Liberation Serif"/>
              </a:defRPr>
            </a:pPr>
            <a:r>
              <a:t>coordinate</a:t>
            </a:r>
          </a:p>
        </p:txBody>
      </p:sp>
      <p:sp>
        <p:nvSpPr>
          <p:cNvPr id="380" name="metadata_matrix_0_0"/>
          <p:cNvSpPr/>
          <p:nvPr/>
        </p:nvSpPr>
        <p:spPr>
          <a:xfrm>
            <a:off x="8602980" y="1386840"/>
            <a:ext cx="129540" cy="129540"/>
          </a:xfrm>
          <a:prstGeom prst="rect">
            <a:avLst/>
          </a:prstGeom>
          <a:solidFill>
            <a:srgbClr val="7474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metadata_matrix_0_1"/>
          <p:cNvSpPr/>
          <p:nvPr/>
        </p:nvSpPr>
        <p:spPr>
          <a:xfrm>
            <a:off x="8740140" y="1386840"/>
            <a:ext cx="129540" cy="129540"/>
          </a:xfrm>
          <a:prstGeom prst="rect">
            <a:avLst/>
          </a:prstGeom>
          <a:solidFill>
            <a:srgbClr val="C6D2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metadata_matrix_0_2"/>
          <p:cNvSpPr/>
          <p:nvPr/>
        </p:nvSpPr>
        <p:spPr>
          <a:xfrm>
            <a:off x="8877300" y="1386840"/>
            <a:ext cx="129540" cy="129540"/>
          </a:xfrm>
          <a:prstGeom prst="rect">
            <a:avLst/>
          </a:prstGeom>
          <a:solidFill>
            <a:srgbClr val="7474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metadata_matrix_0_3"/>
          <p:cNvSpPr/>
          <p:nvPr/>
        </p:nvSpPr>
        <p:spPr>
          <a:xfrm>
            <a:off x="9014460" y="1386840"/>
            <a:ext cx="129540" cy="129540"/>
          </a:xfrm>
          <a:prstGeom prst="rect">
            <a:avLst/>
          </a:prstGeom>
          <a:solidFill>
            <a:srgbClr val="C6D2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metadata_matrix_0_4"/>
          <p:cNvSpPr/>
          <p:nvPr/>
        </p:nvSpPr>
        <p:spPr>
          <a:xfrm>
            <a:off x="9151620" y="1386840"/>
            <a:ext cx="129540" cy="129540"/>
          </a:xfrm>
          <a:prstGeom prst="rect">
            <a:avLst/>
          </a:prstGeom>
          <a:solidFill>
            <a:srgbClr val="7474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metadata_matrix_1_0"/>
          <p:cNvSpPr/>
          <p:nvPr/>
        </p:nvSpPr>
        <p:spPr>
          <a:xfrm>
            <a:off x="8602980" y="1524000"/>
            <a:ext cx="129540" cy="129540"/>
          </a:xfrm>
          <a:prstGeom prst="rect">
            <a:avLst/>
          </a:prstGeom>
          <a:solidFill>
            <a:srgbClr val="7474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metadata_matrix_1_1"/>
          <p:cNvSpPr/>
          <p:nvPr/>
        </p:nvSpPr>
        <p:spPr>
          <a:xfrm>
            <a:off x="8740140" y="1524000"/>
            <a:ext cx="129540" cy="129540"/>
          </a:xfrm>
          <a:prstGeom prst="rect">
            <a:avLst/>
          </a:prstGeom>
          <a:solidFill>
            <a:srgbClr val="C6D2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metadata_matrix_1_2"/>
          <p:cNvSpPr/>
          <p:nvPr/>
        </p:nvSpPr>
        <p:spPr>
          <a:xfrm>
            <a:off x="8877300" y="1524000"/>
            <a:ext cx="129540" cy="129540"/>
          </a:xfrm>
          <a:prstGeom prst="rect">
            <a:avLst/>
          </a:prstGeom>
          <a:solidFill>
            <a:srgbClr val="7474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metadata_matrix_1_3"/>
          <p:cNvSpPr/>
          <p:nvPr/>
        </p:nvSpPr>
        <p:spPr>
          <a:xfrm>
            <a:off x="9014460" y="1524000"/>
            <a:ext cx="129540" cy="129540"/>
          </a:xfrm>
          <a:prstGeom prst="rect">
            <a:avLst/>
          </a:prstGeom>
          <a:solidFill>
            <a:srgbClr val="C6D2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metadata_matrix_1_4"/>
          <p:cNvSpPr/>
          <p:nvPr/>
        </p:nvSpPr>
        <p:spPr>
          <a:xfrm>
            <a:off x="9151620" y="1524000"/>
            <a:ext cx="129540" cy="129540"/>
          </a:xfrm>
          <a:prstGeom prst="rect">
            <a:avLst/>
          </a:prstGeom>
          <a:solidFill>
            <a:srgbClr val="7474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metadata_matrix_2_0"/>
          <p:cNvSpPr/>
          <p:nvPr/>
        </p:nvSpPr>
        <p:spPr>
          <a:xfrm>
            <a:off x="8602980" y="1661160"/>
            <a:ext cx="129540" cy="129540"/>
          </a:xfrm>
          <a:prstGeom prst="rect">
            <a:avLst/>
          </a:prstGeom>
          <a:solidFill>
            <a:srgbClr val="7474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metadata_matrix_2_1"/>
          <p:cNvSpPr/>
          <p:nvPr/>
        </p:nvSpPr>
        <p:spPr>
          <a:xfrm>
            <a:off x="8740140" y="1661160"/>
            <a:ext cx="129540" cy="129540"/>
          </a:xfrm>
          <a:prstGeom prst="rect">
            <a:avLst/>
          </a:prstGeom>
          <a:solidFill>
            <a:srgbClr val="C6D2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metadata_matrix_2_2"/>
          <p:cNvSpPr/>
          <p:nvPr/>
        </p:nvSpPr>
        <p:spPr>
          <a:xfrm>
            <a:off x="8877300" y="1661160"/>
            <a:ext cx="129540" cy="129540"/>
          </a:xfrm>
          <a:prstGeom prst="rect">
            <a:avLst/>
          </a:prstGeom>
          <a:solidFill>
            <a:srgbClr val="7474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metadata_matrix_2_3"/>
          <p:cNvSpPr/>
          <p:nvPr/>
        </p:nvSpPr>
        <p:spPr>
          <a:xfrm>
            <a:off x="9014460" y="1661160"/>
            <a:ext cx="129540" cy="129540"/>
          </a:xfrm>
          <a:prstGeom prst="rect">
            <a:avLst/>
          </a:prstGeom>
          <a:solidFill>
            <a:srgbClr val="C6D2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metadata_matrix_2_4"/>
          <p:cNvSpPr/>
          <p:nvPr/>
        </p:nvSpPr>
        <p:spPr>
          <a:xfrm>
            <a:off x="9151620" y="1661160"/>
            <a:ext cx="129540" cy="129540"/>
          </a:xfrm>
          <a:prstGeom prst="rect">
            <a:avLst/>
          </a:prstGeom>
          <a:solidFill>
            <a:srgbClr val="7474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metadata_matrix_3_0"/>
          <p:cNvSpPr/>
          <p:nvPr/>
        </p:nvSpPr>
        <p:spPr>
          <a:xfrm>
            <a:off x="8602980" y="1798320"/>
            <a:ext cx="129540" cy="129540"/>
          </a:xfrm>
          <a:prstGeom prst="rect">
            <a:avLst/>
          </a:prstGeom>
          <a:solidFill>
            <a:srgbClr val="7474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metadata_matrix_3_1"/>
          <p:cNvSpPr/>
          <p:nvPr/>
        </p:nvSpPr>
        <p:spPr>
          <a:xfrm>
            <a:off x="8740140" y="1798320"/>
            <a:ext cx="129540" cy="129540"/>
          </a:xfrm>
          <a:prstGeom prst="rect">
            <a:avLst/>
          </a:prstGeom>
          <a:solidFill>
            <a:srgbClr val="C6D2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metadata_matrix_3_2"/>
          <p:cNvSpPr/>
          <p:nvPr/>
        </p:nvSpPr>
        <p:spPr>
          <a:xfrm>
            <a:off x="8877300" y="1798320"/>
            <a:ext cx="129540" cy="129540"/>
          </a:xfrm>
          <a:prstGeom prst="rect">
            <a:avLst/>
          </a:prstGeom>
          <a:solidFill>
            <a:srgbClr val="7474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metadata_matrix_3_3"/>
          <p:cNvSpPr/>
          <p:nvPr/>
        </p:nvSpPr>
        <p:spPr>
          <a:xfrm>
            <a:off x="9014460" y="1798320"/>
            <a:ext cx="129540" cy="129540"/>
          </a:xfrm>
          <a:prstGeom prst="rect">
            <a:avLst/>
          </a:prstGeom>
          <a:solidFill>
            <a:srgbClr val="C6D2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metadata_matrix_3_4"/>
          <p:cNvSpPr/>
          <p:nvPr/>
        </p:nvSpPr>
        <p:spPr>
          <a:xfrm>
            <a:off x="9151620" y="1798320"/>
            <a:ext cx="129540" cy="129540"/>
          </a:xfrm>
          <a:prstGeom prst="rect">
            <a:avLst/>
          </a:prstGeom>
          <a:solidFill>
            <a:srgbClr val="7474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metadata_matrix_4_0"/>
          <p:cNvSpPr/>
          <p:nvPr/>
        </p:nvSpPr>
        <p:spPr>
          <a:xfrm>
            <a:off x="8602980" y="1935480"/>
            <a:ext cx="129540" cy="129540"/>
          </a:xfrm>
          <a:prstGeom prst="rect">
            <a:avLst/>
          </a:prstGeom>
          <a:solidFill>
            <a:srgbClr val="7474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metadata_matrix_4_1"/>
          <p:cNvSpPr/>
          <p:nvPr/>
        </p:nvSpPr>
        <p:spPr>
          <a:xfrm>
            <a:off x="8740140" y="1935480"/>
            <a:ext cx="129540" cy="129540"/>
          </a:xfrm>
          <a:prstGeom prst="rect">
            <a:avLst/>
          </a:prstGeom>
          <a:solidFill>
            <a:srgbClr val="C6D2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metadata_matrix_4_2"/>
          <p:cNvSpPr/>
          <p:nvPr/>
        </p:nvSpPr>
        <p:spPr>
          <a:xfrm>
            <a:off x="8877300" y="1935480"/>
            <a:ext cx="129540" cy="129540"/>
          </a:xfrm>
          <a:prstGeom prst="rect">
            <a:avLst/>
          </a:prstGeom>
          <a:solidFill>
            <a:srgbClr val="7474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metadata_matrix_4_3"/>
          <p:cNvSpPr/>
          <p:nvPr/>
        </p:nvSpPr>
        <p:spPr>
          <a:xfrm>
            <a:off x="9014460" y="1935480"/>
            <a:ext cx="129540" cy="129540"/>
          </a:xfrm>
          <a:prstGeom prst="rect">
            <a:avLst/>
          </a:prstGeom>
          <a:solidFill>
            <a:srgbClr val="C6D2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metadata_matrix_4_4"/>
          <p:cNvSpPr/>
          <p:nvPr/>
        </p:nvSpPr>
        <p:spPr>
          <a:xfrm>
            <a:off x="9151620" y="1935480"/>
            <a:ext cx="129540" cy="129540"/>
          </a:xfrm>
          <a:prstGeom prst="rect">
            <a:avLst/>
          </a:prstGeom>
          <a:solidFill>
            <a:srgbClr val="7474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rich_403"/>
          <p:cNvSpPr txBox="1"/>
          <p:nvPr/>
        </p:nvSpPr>
        <p:spPr>
          <a:xfrm>
            <a:off x="9265920" y="1409700"/>
            <a:ext cx="36576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80" b="0" i="1">
                <a:solidFill>
                  <a:srgbClr val="161616"/>
                </a:solidFill>
                <a:latin typeface="Liberation Serif"/>
              </a:rPr>
              <a:t>E</a:t>
            </a:r>
            <a:r>
              <a:rPr sz="734" b="0" i="1" baseline="-22000">
                <a:solidFill>
                  <a:srgbClr val="161616"/>
                </a:solidFill>
                <a:latin typeface="Liberation Serif"/>
              </a:rPr>
              <a:t>c</a:t>
            </a:r>
          </a:p>
        </p:txBody>
      </p:sp>
      <p:sp>
        <p:nvSpPr>
          <p:cNvPr id="406" name="rich_404"/>
          <p:cNvSpPr txBox="1"/>
          <p:nvPr/>
        </p:nvSpPr>
        <p:spPr>
          <a:xfrm>
            <a:off x="9265920" y="1805939"/>
            <a:ext cx="36576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80" b="0" i="1">
                <a:solidFill>
                  <a:srgbClr val="161616"/>
                </a:solidFill>
                <a:latin typeface="Liberation Serif"/>
              </a:rPr>
              <a:t>E</a:t>
            </a:r>
            <a:r>
              <a:rPr sz="734" b="0" i="1" baseline="-22000">
                <a:solidFill>
                  <a:srgbClr val="161616"/>
                </a:solidFill>
                <a:latin typeface="Liberation Serif"/>
              </a:rPr>
              <a:t>n</a:t>
            </a:r>
          </a:p>
        </p:txBody>
      </p:sp>
      <p:sp>
        <p:nvSpPr>
          <p:cNvPr id="407" name="metadata_linear_c"/>
          <p:cNvSpPr/>
          <p:nvPr/>
        </p:nvSpPr>
        <p:spPr>
          <a:xfrm>
            <a:off x="9639300" y="1424940"/>
            <a:ext cx="784860" cy="320040"/>
          </a:xfrm>
          <a:prstGeom prst="roundRect">
            <a:avLst>
              <a:gd name="adj" fmla="val 14285"/>
            </a:avLst>
          </a:prstGeom>
          <a:solidFill>
            <a:srgbClr val="F7C3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metadata_linear_n"/>
          <p:cNvSpPr/>
          <p:nvPr/>
        </p:nvSpPr>
        <p:spPr>
          <a:xfrm>
            <a:off x="9639300" y="1836420"/>
            <a:ext cx="784860" cy="320040"/>
          </a:xfrm>
          <a:prstGeom prst="roundRect">
            <a:avLst>
              <a:gd name="adj" fmla="val 14285"/>
            </a:avLst>
          </a:prstGeom>
          <a:solidFill>
            <a:srgbClr val="F7C3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text_407"/>
          <p:cNvSpPr txBox="1"/>
          <p:nvPr/>
        </p:nvSpPr>
        <p:spPr>
          <a:xfrm>
            <a:off x="9753600" y="1470660"/>
            <a:ext cx="51816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erif"/>
              </a:defRPr>
            </a:pPr>
            <a:r>
              <a:t>Linear</a:t>
            </a:r>
          </a:p>
        </p:txBody>
      </p:sp>
      <p:sp>
        <p:nvSpPr>
          <p:cNvPr id="410" name="text_408"/>
          <p:cNvSpPr txBox="1"/>
          <p:nvPr/>
        </p:nvSpPr>
        <p:spPr>
          <a:xfrm>
            <a:off x="9753600" y="1882139"/>
            <a:ext cx="51816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erif"/>
              </a:defRPr>
            </a:pPr>
            <a:r>
              <a:t>Linear</a:t>
            </a:r>
          </a:p>
        </p:txBody>
      </p:sp>
      <p:sp>
        <p:nvSpPr>
          <p:cNvPr id="411" name="metadata_flame_c_outer"/>
          <p:cNvSpPr/>
          <p:nvPr/>
        </p:nvSpPr>
        <p:spPr>
          <a:xfrm>
            <a:off x="10248900" y="1493520"/>
            <a:ext cx="106680" cy="167640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7" y="0"/>
                </a:moveTo>
                <a:lnTo>
                  <a:pt x="5" y="7"/>
                </a:lnTo>
                <a:lnTo>
                  <a:pt x="0" y="10"/>
                </a:lnTo>
                <a:lnTo>
                  <a:pt x="1" y="18"/>
                </a:lnTo>
                <a:lnTo>
                  <a:pt x="7" y="22"/>
                </a:lnTo>
                <a:lnTo>
                  <a:pt x="14" y="16"/>
                </a:lnTo>
                <a:lnTo>
                  <a:pt x="12" y="10"/>
                </a:lnTo>
                <a:lnTo>
                  <a:pt x="9" y="5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metadata_flame_c_inner"/>
          <p:cNvSpPr/>
          <p:nvPr/>
        </p:nvSpPr>
        <p:spPr>
          <a:xfrm>
            <a:off x="10279380" y="1554480"/>
            <a:ext cx="45720" cy="9144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3" y="0"/>
                </a:moveTo>
                <a:lnTo>
                  <a:pt x="0" y="6"/>
                </a:lnTo>
                <a:lnTo>
                  <a:pt x="1" y="10"/>
                </a:lnTo>
                <a:lnTo>
                  <a:pt x="3" y="12"/>
                </a:lnTo>
                <a:lnTo>
                  <a:pt x="6" y="8"/>
                </a:lnTo>
                <a:lnTo>
                  <a:pt x="5" y="4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metadata_flame_n_outer"/>
          <p:cNvSpPr/>
          <p:nvPr/>
        </p:nvSpPr>
        <p:spPr>
          <a:xfrm>
            <a:off x="10248900" y="1905000"/>
            <a:ext cx="106680" cy="167640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7" y="0"/>
                </a:moveTo>
                <a:lnTo>
                  <a:pt x="5" y="7"/>
                </a:lnTo>
                <a:lnTo>
                  <a:pt x="0" y="10"/>
                </a:lnTo>
                <a:lnTo>
                  <a:pt x="1" y="18"/>
                </a:lnTo>
                <a:lnTo>
                  <a:pt x="7" y="22"/>
                </a:lnTo>
                <a:lnTo>
                  <a:pt x="14" y="16"/>
                </a:lnTo>
                <a:lnTo>
                  <a:pt x="12" y="10"/>
                </a:lnTo>
                <a:lnTo>
                  <a:pt x="9" y="5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metadata_flame_n_inner"/>
          <p:cNvSpPr/>
          <p:nvPr/>
        </p:nvSpPr>
        <p:spPr>
          <a:xfrm>
            <a:off x="10279380" y="1965960"/>
            <a:ext cx="45720" cy="9144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3" y="0"/>
                </a:moveTo>
                <a:lnTo>
                  <a:pt x="0" y="6"/>
                </a:lnTo>
                <a:lnTo>
                  <a:pt x="1" y="10"/>
                </a:lnTo>
                <a:lnTo>
                  <a:pt x="3" y="12"/>
                </a:lnTo>
                <a:lnTo>
                  <a:pt x="6" y="8"/>
                </a:lnTo>
                <a:lnTo>
                  <a:pt x="5" y="4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concat_c"/>
          <p:cNvSpPr/>
          <p:nvPr/>
        </p:nvSpPr>
        <p:spPr>
          <a:xfrm>
            <a:off x="10424160" y="1584960"/>
            <a:ext cx="137160" cy="198120"/>
          </a:xfrm>
          <a:custGeom>
            <a:avLst/>
            <a:gdLst/>
            <a:ahLst/>
            <a:cxnLst/>
            <a:rect l="l" t="t" r="r" b="b"/>
            <a:pathLst>
              <a:path w="18" h="26">
                <a:moveTo>
                  <a:pt x="0" y="0"/>
                </a:moveTo>
                <a:lnTo>
                  <a:pt x="18" y="0"/>
                </a:lnTo>
                <a:lnTo>
                  <a:pt x="18" y="26"/>
                </a:lnTo>
              </a:path>
            </a:pathLst>
          </a:custGeom>
          <a:noFill/>
          <a:ln w="9144">
            <a:solidFill>
              <a:srgbClr val="161616"/>
            </a:solidFill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concat_n"/>
          <p:cNvSpPr/>
          <p:nvPr/>
        </p:nvSpPr>
        <p:spPr>
          <a:xfrm>
            <a:off x="10424160" y="181356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8" h="24">
                <a:moveTo>
                  <a:pt x="0" y="24"/>
                </a:moveTo>
                <a:lnTo>
                  <a:pt x="18" y="24"/>
                </a:lnTo>
                <a:lnTo>
                  <a:pt x="18" y="0"/>
                </a:lnTo>
              </a:path>
            </a:pathLst>
          </a:custGeom>
          <a:noFill/>
          <a:ln w="9144">
            <a:solidFill>
              <a:srgbClr val="161616"/>
            </a:solidFill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concat_box"/>
          <p:cNvSpPr/>
          <p:nvPr/>
        </p:nvSpPr>
        <p:spPr>
          <a:xfrm>
            <a:off x="10485120" y="1600200"/>
            <a:ext cx="20574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text_416"/>
          <p:cNvSpPr txBox="1"/>
          <p:nvPr/>
        </p:nvSpPr>
        <p:spPr>
          <a:xfrm rot="16200000">
            <a:off x="10492740" y="1623060"/>
            <a:ext cx="1905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erif"/>
              </a:defRPr>
            </a:pPr>
            <a:r>
              <a:t>concat</a:t>
            </a:r>
          </a:p>
        </p:txBody>
      </p:sp>
      <p:sp>
        <p:nvSpPr>
          <p:cNvPr id="419" name="rich_417"/>
          <p:cNvSpPr txBox="1"/>
          <p:nvPr/>
        </p:nvSpPr>
        <p:spPr>
          <a:xfrm>
            <a:off x="10713720" y="1630680"/>
            <a:ext cx="41910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161616"/>
                </a:solidFill>
                <a:latin typeface="Liberation Serif"/>
              </a:rPr>
              <a:t>H</a:t>
            </a:r>
            <a:r>
              <a:rPr sz="816" b="0" i="1" baseline="-22000">
                <a:solidFill>
                  <a:srgbClr val="161616"/>
                </a:solidFill>
                <a:latin typeface="Liberation Serif"/>
              </a:rPr>
              <a:t>st</a:t>
            </a:r>
          </a:p>
        </p:txBody>
      </p:sp>
      <p:cxnSp>
        <p:nvCxnSpPr>
          <p:cNvPr id="420" name="hst_to_fused"/>
          <p:cNvCxnSpPr/>
          <p:nvPr/>
        </p:nvCxnSpPr>
        <p:spPr>
          <a:xfrm>
            <a:off x="10690860" y="1805939"/>
            <a:ext cx="320040" cy="0"/>
          </a:xfrm>
          <a:prstGeom prst="line">
            <a:avLst/>
          </a:prstGeom>
          <a:ln w="9144">
            <a:solidFill>
              <a:srgbClr val="161616"/>
            </a:solidFill>
            <a:tailEnd type="triangle" w="sm" len="sm"/>
          </a:ln>
        </p:spPr>
      </p:cxnSp>
      <p:sp>
        <p:nvSpPr>
          <p:cNvPr id="421" name="fusion_columns_top_0"/>
          <p:cNvSpPr/>
          <p:nvPr/>
        </p:nvSpPr>
        <p:spPr>
          <a:xfrm>
            <a:off x="11087100" y="13411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fusion_columns_top_0_cell_0"/>
          <p:cNvSpPr/>
          <p:nvPr/>
        </p:nvSpPr>
        <p:spPr>
          <a:xfrm>
            <a:off x="11125200" y="1386840"/>
            <a:ext cx="60960" cy="71120"/>
          </a:xfrm>
          <a:prstGeom prst="rect">
            <a:avLst/>
          </a:prstGeom>
          <a:solidFill>
            <a:srgbClr val="8752AD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fusion_columns_top_0_cell_1"/>
          <p:cNvSpPr/>
          <p:nvPr/>
        </p:nvSpPr>
        <p:spPr>
          <a:xfrm>
            <a:off x="11125200" y="1503680"/>
            <a:ext cx="60960" cy="71120"/>
          </a:xfrm>
          <a:prstGeom prst="rect">
            <a:avLst/>
          </a:prstGeom>
          <a:solidFill>
            <a:srgbClr val="E59A9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fusion_columns_top_0_cell_2"/>
          <p:cNvSpPr/>
          <p:nvPr/>
        </p:nvSpPr>
        <p:spPr>
          <a:xfrm>
            <a:off x="11125200" y="1620520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fusion_columns_plus_0"/>
          <p:cNvSpPr txBox="1"/>
          <p:nvPr/>
        </p:nvSpPr>
        <p:spPr>
          <a:xfrm>
            <a:off x="11087100" y="1729740"/>
            <a:ext cx="13716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ans"/>
              </a:defRPr>
            </a:pPr>
            <a:r>
              <a:t>+</a:t>
            </a:r>
          </a:p>
        </p:txBody>
      </p:sp>
      <p:sp>
        <p:nvSpPr>
          <p:cNvPr id="426" name="fusion_columns_bottom_0"/>
          <p:cNvSpPr/>
          <p:nvPr/>
        </p:nvSpPr>
        <p:spPr>
          <a:xfrm>
            <a:off x="11087100" y="18364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fusion_columns_bottom_0_cell_0"/>
          <p:cNvSpPr/>
          <p:nvPr/>
        </p:nvSpPr>
        <p:spPr>
          <a:xfrm>
            <a:off x="11125200" y="1882139"/>
            <a:ext cx="60960" cy="7112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fusion_columns_bottom_0_cell_1"/>
          <p:cNvSpPr/>
          <p:nvPr/>
        </p:nvSpPr>
        <p:spPr>
          <a:xfrm>
            <a:off x="11125200" y="1998979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fusion_columns_bottom_0_cell_2"/>
          <p:cNvSpPr/>
          <p:nvPr/>
        </p:nvSpPr>
        <p:spPr>
          <a:xfrm>
            <a:off x="11125200" y="2115820"/>
            <a:ext cx="60960" cy="7112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fusion_columns_bottom_0_ellipsis"/>
          <p:cNvSpPr txBox="1"/>
          <p:nvPr/>
        </p:nvSpPr>
        <p:spPr>
          <a:xfrm>
            <a:off x="11109960" y="1981199"/>
            <a:ext cx="9144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431" name="fusion_columns_top_1"/>
          <p:cNvSpPr/>
          <p:nvPr/>
        </p:nvSpPr>
        <p:spPr>
          <a:xfrm>
            <a:off x="11353800" y="13411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fusion_columns_top_1_cell_0"/>
          <p:cNvSpPr/>
          <p:nvPr/>
        </p:nvSpPr>
        <p:spPr>
          <a:xfrm>
            <a:off x="11391900" y="1386840"/>
            <a:ext cx="60960" cy="71120"/>
          </a:xfrm>
          <a:prstGeom prst="rect">
            <a:avLst/>
          </a:prstGeom>
          <a:solidFill>
            <a:srgbClr val="8752AD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fusion_columns_top_1_cell_1"/>
          <p:cNvSpPr/>
          <p:nvPr/>
        </p:nvSpPr>
        <p:spPr>
          <a:xfrm>
            <a:off x="11391900" y="1503680"/>
            <a:ext cx="60960" cy="71120"/>
          </a:xfrm>
          <a:prstGeom prst="rect">
            <a:avLst/>
          </a:prstGeom>
          <a:solidFill>
            <a:srgbClr val="E59A9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fusion_columns_top_1_cell_2"/>
          <p:cNvSpPr/>
          <p:nvPr/>
        </p:nvSpPr>
        <p:spPr>
          <a:xfrm>
            <a:off x="11391900" y="1620520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fusion_columns_plus_1"/>
          <p:cNvSpPr txBox="1"/>
          <p:nvPr/>
        </p:nvSpPr>
        <p:spPr>
          <a:xfrm>
            <a:off x="11353800" y="1729740"/>
            <a:ext cx="13716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ans"/>
              </a:defRPr>
            </a:pPr>
            <a:r>
              <a:t>+</a:t>
            </a:r>
          </a:p>
        </p:txBody>
      </p:sp>
      <p:sp>
        <p:nvSpPr>
          <p:cNvPr id="436" name="fusion_columns_bottom_1"/>
          <p:cNvSpPr/>
          <p:nvPr/>
        </p:nvSpPr>
        <p:spPr>
          <a:xfrm>
            <a:off x="11353800" y="18364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fusion_columns_bottom_1_cell_0"/>
          <p:cNvSpPr/>
          <p:nvPr/>
        </p:nvSpPr>
        <p:spPr>
          <a:xfrm>
            <a:off x="11391900" y="1882139"/>
            <a:ext cx="60960" cy="7112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fusion_columns_bottom_1_cell_1"/>
          <p:cNvSpPr/>
          <p:nvPr/>
        </p:nvSpPr>
        <p:spPr>
          <a:xfrm>
            <a:off x="11391900" y="1998979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fusion_columns_bottom_1_cell_2"/>
          <p:cNvSpPr/>
          <p:nvPr/>
        </p:nvSpPr>
        <p:spPr>
          <a:xfrm>
            <a:off x="11391900" y="2115820"/>
            <a:ext cx="60960" cy="7112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fusion_columns_bottom_1_ellipsis"/>
          <p:cNvSpPr txBox="1"/>
          <p:nvPr/>
        </p:nvSpPr>
        <p:spPr>
          <a:xfrm>
            <a:off x="11376660" y="1981199"/>
            <a:ext cx="9144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441" name="fusion_columns_top_2"/>
          <p:cNvSpPr/>
          <p:nvPr/>
        </p:nvSpPr>
        <p:spPr>
          <a:xfrm>
            <a:off x="11620500" y="13411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fusion_columns_top_2_cell_0"/>
          <p:cNvSpPr/>
          <p:nvPr/>
        </p:nvSpPr>
        <p:spPr>
          <a:xfrm>
            <a:off x="11658600" y="1386840"/>
            <a:ext cx="60960" cy="71120"/>
          </a:xfrm>
          <a:prstGeom prst="rect">
            <a:avLst/>
          </a:prstGeom>
          <a:solidFill>
            <a:srgbClr val="8752AD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fusion_columns_top_2_cell_1"/>
          <p:cNvSpPr/>
          <p:nvPr/>
        </p:nvSpPr>
        <p:spPr>
          <a:xfrm>
            <a:off x="11658600" y="1503680"/>
            <a:ext cx="60960" cy="71120"/>
          </a:xfrm>
          <a:prstGeom prst="rect">
            <a:avLst/>
          </a:prstGeom>
          <a:solidFill>
            <a:srgbClr val="E59A9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fusion_columns_top_2_cell_2"/>
          <p:cNvSpPr/>
          <p:nvPr/>
        </p:nvSpPr>
        <p:spPr>
          <a:xfrm>
            <a:off x="11658600" y="1620520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fusion_columns_plus_2"/>
          <p:cNvSpPr txBox="1"/>
          <p:nvPr/>
        </p:nvSpPr>
        <p:spPr>
          <a:xfrm>
            <a:off x="11620500" y="1729740"/>
            <a:ext cx="13716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ans"/>
              </a:defRPr>
            </a:pPr>
            <a:r>
              <a:t>+</a:t>
            </a:r>
          </a:p>
        </p:txBody>
      </p:sp>
      <p:sp>
        <p:nvSpPr>
          <p:cNvPr id="446" name="fusion_columns_bottom_2"/>
          <p:cNvSpPr/>
          <p:nvPr/>
        </p:nvSpPr>
        <p:spPr>
          <a:xfrm>
            <a:off x="11620500" y="18364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fusion_columns_bottom_2_cell_0"/>
          <p:cNvSpPr/>
          <p:nvPr/>
        </p:nvSpPr>
        <p:spPr>
          <a:xfrm>
            <a:off x="11658600" y="1882139"/>
            <a:ext cx="60960" cy="7112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fusion_columns_bottom_2_cell_1"/>
          <p:cNvSpPr/>
          <p:nvPr/>
        </p:nvSpPr>
        <p:spPr>
          <a:xfrm>
            <a:off x="11658600" y="1998979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fusion_columns_bottom_2_cell_2"/>
          <p:cNvSpPr/>
          <p:nvPr/>
        </p:nvSpPr>
        <p:spPr>
          <a:xfrm>
            <a:off x="11658600" y="2115820"/>
            <a:ext cx="60960" cy="7112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fusion_columns_bottom_2_ellipsis"/>
          <p:cNvSpPr txBox="1"/>
          <p:nvPr/>
        </p:nvSpPr>
        <p:spPr>
          <a:xfrm>
            <a:off x="11643360" y="1981199"/>
            <a:ext cx="9144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451" name="fusion_columns_top_3"/>
          <p:cNvSpPr/>
          <p:nvPr/>
        </p:nvSpPr>
        <p:spPr>
          <a:xfrm>
            <a:off x="11887200" y="13411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fusion_columns_top_3_cell_0"/>
          <p:cNvSpPr/>
          <p:nvPr/>
        </p:nvSpPr>
        <p:spPr>
          <a:xfrm>
            <a:off x="11925300" y="1386840"/>
            <a:ext cx="60960" cy="71120"/>
          </a:xfrm>
          <a:prstGeom prst="rect">
            <a:avLst/>
          </a:prstGeom>
          <a:solidFill>
            <a:srgbClr val="8752AD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fusion_columns_top_3_cell_1"/>
          <p:cNvSpPr/>
          <p:nvPr/>
        </p:nvSpPr>
        <p:spPr>
          <a:xfrm>
            <a:off x="11925300" y="1503680"/>
            <a:ext cx="60960" cy="71120"/>
          </a:xfrm>
          <a:prstGeom prst="rect">
            <a:avLst/>
          </a:prstGeom>
          <a:solidFill>
            <a:srgbClr val="E59A9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fusion_columns_top_3_cell_2"/>
          <p:cNvSpPr/>
          <p:nvPr/>
        </p:nvSpPr>
        <p:spPr>
          <a:xfrm>
            <a:off x="11925300" y="1620520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fusion_columns_plus_3"/>
          <p:cNvSpPr txBox="1"/>
          <p:nvPr/>
        </p:nvSpPr>
        <p:spPr>
          <a:xfrm>
            <a:off x="11887200" y="1729740"/>
            <a:ext cx="13716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ans"/>
              </a:defRPr>
            </a:pPr>
            <a:r>
              <a:t>+</a:t>
            </a:r>
          </a:p>
        </p:txBody>
      </p:sp>
      <p:sp>
        <p:nvSpPr>
          <p:cNvPr id="456" name="fusion_columns_bottom_3"/>
          <p:cNvSpPr/>
          <p:nvPr/>
        </p:nvSpPr>
        <p:spPr>
          <a:xfrm>
            <a:off x="11887200" y="18364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fusion_columns_bottom_3_cell_0"/>
          <p:cNvSpPr/>
          <p:nvPr/>
        </p:nvSpPr>
        <p:spPr>
          <a:xfrm>
            <a:off x="11925300" y="1882139"/>
            <a:ext cx="60960" cy="7112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fusion_columns_bottom_3_cell_1"/>
          <p:cNvSpPr/>
          <p:nvPr/>
        </p:nvSpPr>
        <p:spPr>
          <a:xfrm>
            <a:off x="11925300" y="1998979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fusion_columns_bottom_3_cell_2"/>
          <p:cNvSpPr/>
          <p:nvPr/>
        </p:nvSpPr>
        <p:spPr>
          <a:xfrm>
            <a:off x="11925300" y="2115820"/>
            <a:ext cx="60960" cy="7112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fusion_columns_bottom_3_ellipsis"/>
          <p:cNvSpPr txBox="1"/>
          <p:nvPr/>
        </p:nvSpPr>
        <p:spPr>
          <a:xfrm>
            <a:off x="11910060" y="1981199"/>
            <a:ext cx="9144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461" name="fusion_columns_top_4"/>
          <p:cNvSpPr/>
          <p:nvPr/>
        </p:nvSpPr>
        <p:spPr>
          <a:xfrm>
            <a:off x="12153900" y="13411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fusion_columns_top_4_cell_0"/>
          <p:cNvSpPr/>
          <p:nvPr/>
        </p:nvSpPr>
        <p:spPr>
          <a:xfrm>
            <a:off x="12192000" y="1386840"/>
            <a:ext cx="60960" cy="71120"/>
          </a:xfrm>
          <a:prstGeom prst="rect">
            <a:avLst/>
          </a:prstGeom>
          <a:solidFill>
            <a:srgbClr val="8752AD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fusion_columns_top_4_cell_1"/>
          <p:cNvSpPr/>
          <p:nvPr/>
        </p:nvSpPr>
        <p:spPr>
          <a:xfrm>
            <a:off x="12192000" y="1503680"/>
            <a:ext cx="60960" cy="71120"/>
          </a:xfrm>
          <a:prstGeom prst="rect">
            <a:avLst/>
          </a:prstGeom>
          <a:solidFill>
            <a:srgbClr val="E59A9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fusion_columns_top_4_cell_2"/>
          <p:cNvSpPr/>
          <p:nvPr/>
        </p:nvSpPr>
        <p:spPr>
          <a:xfrm>
            <a:off x="12192000" y="1620520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fusion_columns_plus_4"/>
          <p:cNvSpPr txBox="1"/>
          <p:nvPr/>
        </p:nvSpPr>
        <p:spPr>
          <a:xfrm>
            <a:off x="12153900" y="1729740"/>
            <a:ext cx="13716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ans"/>
              </a:defRPr>
            </a:pPr>
            <a:r>
              <a:t>+</a:t>
            </a:r>
          </a:p>
        </p:txBody>
      </p:sp>
      <p:sp>
        <p:nvSpPr>
          <p:cNvPr id="466" name="fusion_columns_bottom_4"/>
          <p:cNvSpPr/>
          <p:nvPr/>
        </p:nvSpPr>
        <p:spPr>
          <a:xfrm>
            <a:off x="12153900" y="18364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fusion_columns_bottom_4_cell_0"/>
          <p:cNvSpPr/>
          <p:nvPr/>
        </p:nvSpPr>
        <p:spPr>
          <a:xfrm>
            <a:off x="12192000" y="1882139"/>
            <a:ext cx="60960" cy="7112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fusion_columns_bottom_4_cell_1"/>
          <p:cNvSpPr/>
          <p:nvPr/>
        </p:nvSpPr>
        <p:spPr>
          <a:xfrm>
            <a:off x="12192000" y="1998979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fusion_columns_bottom_4_cell_2"/>
          <p:cNvSpPr/>
          <p:nvPr/>
        </p:nvSpPr>
        <p:spPr>
          <a:xfrm>
            <a:off x="12192000" y="2115820"/>
            <a:ext cx="60960" cy="7112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fusion_columns_bottom_4_ellipsis"/>
          <p:cNvSpPr txBox="1"/>
          <p:nvPr/>
        </p:nvSpPr>
        <p:spPr>
          <a:xfrm>
            <a:off x="12176760" y="1981199"/>
            <a:ext cx="9144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471" name="fusion_columns_top_5"/>
          <p:cNvSpPr/>
          <p:nvPr/>
        </p:nvSpPr>
        <p:spPr>
          <a:xfrm>
            <a:off x="12420600" y="13411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fusion_columns_top_5_cell_0"/>
          <p:cNvSpPr/>
          <p:nvPr/>
        </p:nvSpPr>
        <p:spPr>
          <a:xfrm>
            <a:off x="12458700" y="1386840"/>
            <a:ext cx="60960" cy="71120"/>
          </a:xfrm>
          <a:prstGeom prst="rect">
            <a:avLst/>
          </a:prstGeom>
          <a:solidFill>
            <a:srgbClr val="8752AD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fusion_columns_top_5_cell_1"/>
          <p:cNvSpPr/>
          <p:nvPr/>
        </p:nvSpPr>
        <p:spPr>
          <a:xfrm>
            <a:off x="12458700" y="1503680"/>
            <a:ext cx="60960" cy="71120"/>
          </a:xfrm>
          <a:prstGeom prst="rect">
            <a:avLst/>
          </a:prstGeom>
          <a:solidFill>
            <a:srgbClr val="E59A9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fusion_columns_top_5_cell_2"/>
          <p:cNvSpPr/>
          <p:nvPr/>
        </p:nvSpPr>
        <p:spPr>
          <a:xfrm>
            <a:off x="12458700" y="1620520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fusion_columns_plus_5"/>
          <p:cNvSpPr txBox="1"/>
          <p:nvPr/>
        </p:nvSpPr>
        <p:spPr>
          <a:xfrm>
            <a:off x="12420600" y="1729740"/>
            <a:ext cx="13716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ans"/>
              </a:defRPr>
            </a:pPr>
            <a:r>
              <a:t>+</a:t>
            </a:r>
          </a:p>
        </p:txBody>
      </p:sp>
      <p:sp>
        <p:nvSpPr>
          <p:cNvPr id="476" name="fusion_columns_bottom_5"/>
          <p:cNvSpPr/>
          <p:nvPr/>
        </p:nvSpPr>
        <p:spPr>
          <a:xfrm>
            <a:off x="12420600" y="18364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fusion_columns_bottom_5_cell_0"/>
          <p:cNvSpPr/>
          <p:nvPr/>
        </p:nvSpPr>
        <p:spPr>
          <a:xfrm>
            <a:off x="12458700" y="1882139"/>
            <a:ext cx="60960" cy="7112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fusion_columns_bottom_5_cell_1"/>
          <p:cNvSpPr/>
          <p:nvPr/>
        </p:nvSpPr>
        <p:spPr>
          <a:xfrm>
            <a:off x="12458700" y="1998979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fusion_columns_bottom_5_cell_2"/>
          <p:cNvSpPr/>
          <p:nvPr/>
        </p:nvSpPr>
        <p:spPr>
          <a:xfrm>
            <a:off x="12458700" y="2115820"/>
            <a:ext cx="60960" cy="7112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fusion_columns_bottom_5_ellipsis"/>
          <p:cNvSpPr txBox="1"/>
          <p:nvPr/>
        </p:nvSpPr>
        <p:spPr>
          <a:xfrm>
            <a:off x="12443460" y="1981199"/>
            <a:ext cx="9144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481" name="fusion_columns_top_6"/>
          <p:cNvSpPr/>
          <p:nvPr/>
        </p:nvSpPr>
        <p:spPr>
          <a:xfrm>
            <a:off x="12687300" y="13411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fusion_columns_top_6_cell_0"/>
          <p:cNvSpPr/>
          <p:nvPr/>
        </p:nvSpPr>
        <p:spPr>
          <a:xfrm>
            <a:off x="12725400" y="1386840"/>
            <a:ext cx="60960" cy="71120"/>
          </a:xfrm>
          <a:prstGeom prst="rect">
            <a:avLst/>
          </a:prstGeom>
          <a:solidFill>
            <a:srgbClr val="8752AD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fusion_columns_top_6_cell_1"/>
          <p:cNvSpPr/>
          <p:nvPr/>
        </p:nvSpPr>
        <p:spPr>
          <a:xfrm>
            <a:off x="12725400" y="1503680"/>
            <a:ext cx="60960" cy="71120"/>
          </a:xfrm>
          <a:prstGeom prst="rect">
            <a:avLst/>
          </a:prstGeom>
          <a:solidFill>
            <a:srgbClr val="E59A9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4" name="fusion_columns_top_6_cell_2"/>
          <p:cNvSpPr/>
          <p:nvPr/>
        </p:nvSpPr>
        <p:spPr>
          <a:xfrm>
            <a:off x="12725400" y="1620520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5" name="fusion_columns_plus_6"/>
          <p:cNvSpPr txBox="1"/>
          <p:nvPr/>
        </p:nvSpPr>
        <p:spPr>
          <a:xfrm>
            <a:off x="12687300" y="1729740"/>
            <a:ext cx="13716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ans"/>
              </a:defRPr>
            </a:pPr>
            <a:r>
              <a:t>+</a:t>
            </a:r>
          </a:p>
        </p:txBody>
      </p:sp>
      <p:sp>
        <p:nvSpPr>
          <p:cNvPr id="486" name="fusion_columns_bottom_6"/>
          <p:cNvSpPr/>
          <p:nvPr/>
        </p:nvSpPr>
        <p:spPr>
          <a:xfrm>
            <a:off x="12687300" y="18364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7" name="fusion_columns_bottom_6_cell_0"/>
          <p:cNvSpPr/>
          <p:nvPr/>
        </p:nvSpPr>
        <p:spPr>
          <a:xfrm>
            <a:off x="12725400" y="1882139"/>
            <a:ext cx="60960" cy="7112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8" name="fusion_columns_bottom_6_cell_1"/>
          <p:cNvSpPr/>
          <p:nvPr/>
        </p:nvSpPr>
        <p:spPr>
          <a:xfrm>
            <a:off x="12725400" y="1998979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9" name="fusion_columns_bottom_6_cell_2"/>
          <p:cNvSpPr/>
          <p:nvPr/>
        </p:nvSpPr>
        <p:spPr>
          <a:xfrm>
            <a:off x="12725400" y="2115820"/>
            <a:ext cx="60960" cy="7112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0" name="fusion_columns_bottom_6_ellipsis"/>
          <p:cNvSpPr txBox="1"/>
          <p:nvPr/>
        </p:nvSpPr>
        <p:spPr>
          <a:xfrm>
            <a:off x="12710160" y="1981199"/>
            <a:ext cx="9144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491" name="fusion_columns_top_7"/>
          <p:cNvSpPr/>
          <p:nvPr/>
        </p:nvSpPr>
        <p:spPr>
          <a:xfrm>
            <a:off x="12954000" y="13411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fusion_columns_top_7_cell_0"/>
          <p:cNvSpPr/>
          <p:nvPr/>
        </p:nvSpPr>
        <p:spPr>
          <a:xfrm>
            <a:off x="12992100" y="1386840"/>
            <a:ext cx="60960" cy="71120"/>
          </a:xfrm>
          <a:prstGeom prst="rect">
            <a:avLst/>
          </a:prstGeom>
          <a:solidFill>
            <a:srgbClr val="8752AD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3" name="fusion_columns_top_7_cell_1"/>
          <p:cNvSpPr/>
          <p:nvPr/>
        </p:nvSpPr>
        <p:spPr>
          <a:xfrm>
            <a:off x="12992100" y="1503680"/>
            <a:ext cx="60960" cy="71120"/>
          </a:xfrm>
          <a:prstGeom prst="rect">
            <a:avLst/>
          </a:prstGeom>
          <a:solidFill>
            <a:srgbClr val="E59A9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4" name="fusion_columns_top_7_cell_2"/>
          <p:cNvSpPr/>
          <p:nvPr/>
        </p:nvSpPr>
        <p:spPr>
          <a:xfrm>
            <a:off x="12992100" y="1620520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5" name="fusion_columns_plus_7"/>
          <p:cNvSpPr txBox="1"/>
          <p:nvPr/>
        </p:nvSpPr>
        <p:spPr>
          <a:xfrm>
            <a:off x="12954000" y="1729740"/>
            <a:ext cx="13716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ans"/>
              </a:defRPr>
            </a:pPr>
            <a:r>
              <a:t>+</a:t>
            </a:r>
          </a:p>
        </p:txBody>
      </p:sp>
      <p:sp>
        <p:nvSpPr>
          <p:cNvPr id="496" name="fusion_columns_bottom_7"/>
          <p:cNvSpPr/>
          <p:nvPr/>
        </p:nvSpPr>
        <p:spPr>
          <a:xfrm>
            <a:off x="12954000" y="18364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fusion_columns_bottom_7_cell_0"/>
          <p:cNvSpPr/>
          <p:nvPr/>
        </p:nvSpPr>
        <p:spPr>
          <a:xfrm>
            <a:off x="12992100" y="1882139"/>
            <a:ext cx="60960" cy="7112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8" name="fusion_columns_bottom_7_cell_1"/>
          <p:cNvSpPr/>
          <p:nvPr/>
        </p:nvSpPr>
        <p:spPr>
          <a:xfrm>
            <a:off x="12992100" y="1998979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fusion_columns_bottom_7_cell_2"/>
          <p:cNvSpPr/>
          <p:nvPr/>
        </p:nvSpPr>
        <p:spPr>
          <a:xfrm>
            <a:off x="12992100" y="2115820"/>
            <a:ext cx="60960" cy="7112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0" name="fusion_columns_bottom_7_ellipsis"/>
          <p:cNvSpPr txBox="1"/>
          <p:nvPr/>
        </p:nvSpPr>
        <p:spPr>
          <a:xfrm>
            <a:off x="12976860" y="1981199"/>
            <a:ext cx="9144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501" name="fusion_columns_top_8"/>
          <p:cNvSpPr/>
          <p:nvPr/>
        </p:nvSpPr>
        <p:spPr>
          <a:xfrm>
            <a:off x="13220700" y="13411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2" name="fusion_columns_top_8_cell_0"/>
          <p:cNvSpPr/>
          <p:nvPr/>
        </p:nvSpPr>
        <p:spPr>
          <a:xfrm>
            <a:off x="13258800" y="1386840"/>
            <a:ext cx="60960" cy="71120"/>
          </a:xfrm>
          <a:prstGeom prst="rect">
            <a:avLst/>
          </a:prstGeom>
          <a:solidFill>
            <a:srgbClr val="8752AD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3" name="fusion_columns_top_8_cell_1"/>
          <p:cNvSpPr/>
          <p:nvPr/>
        </p:nvSpPr>
        <p:spPr>
          <a:xfrm>
            <a:off x="13258800" y="1503680"/>
            <a:ext cx="60960" cy="71120"/>
          </a:xfrm>
          <a:prstGeom prst="rect">
            <a:avLst/>
          </a:prstGeom>
          <a:solidFill>
            <a:srgbClr val="E59A9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4" name="fusion_columns_top_8_cell_2"/>
          <p:cNvSpPr/>
          <p:nvPr/>
        </p:nvSpPr>
        <p:spPr>
          <a:xfrm>
            <a:off x="13258800" y="1620520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fusion_columns_plus_8"/>
          <p:cNvSpPr txBox="1"/>
          <p:nvPr/>
        </p:nvSpPr>
        <p:spPr>
          <a:xfrm>
            <a:off x="13220700" y="1729740"/>
            <a:ext cx="13716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ans"/>
              </a:defRPr>
            </a:pPr>
            <a:r>
              <a:t>+</a:t>
            </a:r>
          </a:p>
        </p:txBody>
      </p:sp>
      <p:sp>
        <p:nvSpPr>
          <p:cNvPr id="506" name="fusion_columns_bottom_8"/>
          <p:cNvSpPr/>
          <p:nvPr/>
        </p:nvSpPr>
        <p:spPr>
          <a:xfrm>
            <a:off x="13220700" y="18364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7" name="fusion_columns_bottom_8_cell_0"/>
          <p:cNvSpPr/>
          <p:nvPr/>
        </p:nvSpPr>
        <p:spPr>
          <a:xfrm>
            <a:off x="13258800" y="1882139"/>
            <a:ext cx="60960" cy="7112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fusion_columns_bottom_8_cell_1"/>
          <p:cNvSpPr/>
          <p:nvPr/>
        </p:nvSpPr>
        <p:spPr>
          <a:xfrm>
            <a:off x="13258800" y="1998979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9" name="fusion_columns_bottom_8_cell_2"/>
          <p:cNvSpPr/>
          <p:nvPr/>
        </p:nvSpPr>
        <p:spPr>
          <a:xfrm>
            <a:off x="13258800" y="2115820"/>
            <a:ext cx="60960" cy="7112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fusion_columns_bottom_8_ellipsis"/>
          <p:cNvSpPr txBox="1"/>
          <p:nvPr/>
        </p:nvSpPr>
        <p:spPr>
          <a:xfrm>
            <a:off x="13243560" y="1981199"/>
            <a:ext cx="9144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511" name="fusion_columns_top_9"/>
          <p:cNvSpPr/>
          <p:nvPr/>
        </p:nvSpPr>
        <p:spPr>
          <a:xfrm>
            <a:off x="13487400" y="13411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2" name="fusion_columns_top_9_cell_0"/>
          <p:cNvSpPr/>
          <p:nvPr/>
        </p:nvSpPr>
        <p:spPr>
          <a:xfrm>
            <a:off x="13525500" y="1386840"/>
            <a:ext cx="60960" cy="71120"/>
          </a:xfrm>
          <a:prstGeom prst="rect">
            <a:avLst/>
          </a:prstGeom>
          <a:solidFill>
            <a:srgbClr val="8752AD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fusion_columns_top_9_cell_1"/>
          <p:cNvSpPr/>
          <p:nvPr/>
        </p:nvSpPr>
        <p:spPr>
          <a:xfrm>
            <a:off x="13525500" y="1503680"/>
            <a:ext cx="60960" cy="71120"/>
          </a:xfrm>
          <a:prstGeom prst="rect">
            <a:avLst/>
          </a:prstGeom>
          <a:solidFill>
            <a:srgbClr val="E59A9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4" name="fusion_columns_top_9_cell_2"/>
          <p:cNvSpPr/>
          <p:nvPr/>
        </p:nvSpPr>
        <p:spPr>
          <a:xfrm>
            <a:off x="13525500" y="1620520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5" name="fusion_columns_plus_9"/>
          <p:cNvSpPr txBox="1"/>
          <p:nvPr/>
        </p:nvSpPr>
        <p:spPr>
          <a:xfrm>
            <a:off x="13487400" y="1729740"/>
            <a:ext cx="13716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ans"/>
              </a:defRPr>
            </a:pPr>
            <a:r>
              <a:t>+</a:t>
            </a:r>
          </a:p>
        </p:txBody>
      </p:sp>
      <p:sp>
        <p:nvSpPr>
          <p:cNvPr id="516" name="fusion_columns_bottom_9"/>
          <p:cNvSpPr/>
          <p:nvPr/>
        </p:nvSpPr>
        <p:spPr>
          <a:xfrm>
            <a:off x="13487400" y="18364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7" name="fusion_columns_bottom_9_cell_0"/>
          <p:cNvSpPr/>
          <p:nvPr/>
        </p:nvSpPr>
        <p:spPr>
          <a:xfrm>
            <a:off x="13525500" y="1882139"/>
            <a:ext cx="60960" cy="7112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8" name="fusion_columns_bottom_9_cell_1"/>
          <p:cNvSpPr/>
          <p:nvPr/>
        </p:nvSpPr>
        <p:spPr>
          <a:xfrm>
            <a:off x="13525500" y="1998979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fusion_columns_bottom_9_cell_2"/>
          <p:cNvSpPr/>
          <p:nvPr/>
        </p:nvSpPr>
        <p:spPr>
          <a:xfrm>
            <a:off x="13525500" y="2115820"/>
            <a:ext cx="60960" cy="7112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0" name="fusion_columns_bottom_9_ellipsis"/>
          <p:cNvSpPr txBox="1"/>
          <p:nvPr/>
        </p:nvSpPr>
        <p:spPr>
          <a:xfrm>
            <a:off x="13510260" y="1981199"/>
            <a:ext cx="9144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521" name="fusion_columns_top_10"/>
          <p:cNvSpPr/>
          <p:nvPr/>
        </p:nvSpPr>
        <p:spPr>
          <a:xfrm>
            <a:off x="13754100" y="13411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2" name="fusion_columns_top_10_cell_0"/>
          <p:cNvSpPr/>
          <p:nvPr/>
        </p:nvSpPr>
        <p:spPr>
          <a:xfrm>
            <a:off x="13792200" y="1386840"/>
            <a:ext cx="60960" cy="71120"/>
          </a:xfrm>
          <a:prstGeom prst="rect">
            <a:avLst/>
          </a:prstGeom>
          <a:solidFill>
            <a:srgbClr val="8752AD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fusion_columns_top_10_cell_1"/>
          <p:cNvSpPr/>
          <p:nvPr/>
        </p:nvSpPr>
        <p:spPr>
          <a:xfrm>
            <a:off x="13792200" y="1503680"/>
            <a:ext cx="60960" cy="71120"/>
          </a:xfrm>
          <a:prstGeom prst="rect">
            <a:avLst/>
          </a:prstGeom>
          <a:solidFill>
            <a:srgbClr val="E59A9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4" name="fusion_columns_top_10_cell_2"/>
          <p:cNvSpPr/>
          <p:nvPr/>
        </p:nvSpPr>
        <p:spPr>
          <a:xfrm>
            <a:off x="13792200" y="1620520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5" name="fusion_columns_plus_10"/>
          <p:cNvSpPr txBox="1"/>
          <p:nvPr/>
        </p:nvSpPr>
        <p:spPr>
          <a:xfrm>
            <a:off x="13754100" y="1729740"/>
            <a:ext cx="13716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ans"/>
              </a:defRPr>
            </a:pPr>
            <a:r>
              <a:t>+</a:t>
            </a:r>
          </a:p>
        </p:txBody>
      </p:sp>
      <p:sp>
        <p:nvSpPr>
          <p:cNvPr id="526" name="fusion_columns_bottom_10"/>
          <p:cNvSpPr/>
          <p:nvPr/>
        </p:nvSpPr>
        <p:spPr>
          <a:xfrm>
            <a:off x="13754100" y="1836420"/>
            <a:ext cx="137160" cy="3962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fusion_columns_bottom_10_cell_0"/>
          <p:cNvSpPr/>
          <p:nvPr/>
        </p:nvSpPr>
        <p:spPr>
          <a:xfrm>
            <a:off x="13792200" y="1882139"/>
            <a:ext cx="60960" cy="7112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8" name="fusion_columns_bottom_10_cell_1"/>
          <p:cNvSpPr/>
          <p:nvPr/>
        </p:nvSpPr>
        <p:spPr>
          <a:xfrm>
            <a:off x="13792200" y="1998979"/>
            <a:ext cx="60960" cy="711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9" name="fusion_columns_bottom_10_cell_2"/>
          <p:cNvSpPr/>
          <p:nvPr/>
        </p:nvSpPr>
        <p:spPr>
          <a:xfrm>
            <a:off x="13792200" y="2115820"/>
            <a:ext cx="60960" cy="7112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0" name="fusion_columns_bottom_10_ellipsis"/>
          <p:cNvSpPr txBox="1"/>
          <p:nvPr/>
        </p:nvSpPr>
        <p:spPr>
          <a:xfrm>
            <a:off x="13776960" y="1981199"/>
            <a:ext cx="9144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531" name="temporal_linear"/>
          <p:cNvSpPr/>
          <p:nvPr/>
        </p:nvSpPr>
        <p:spPr>
          <a:xfrm>
            <a:off x="13647419" y="541020"/>
            <a:ext cx="335280" cy="693420"/>
          </a:xfrm>
          <a:prstGeom prst="roundRect">
            <a:avLst>
              <a:gd name="adj" fmla="val 13636"/>
            </a:avLst>
          </a:prstGeom>
          <a:solidFill>
            <a:srgbClr val="F7C3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2" name="text_530"/>
          <p:cNvSpPr txBox="1"/>
          <p:nvPr/>
        </p:nvSpPr>
        <p:spPr>
          <a:xfrm rot="16200000">
            <a:off x="13700760" y="632460"/>
            <a:ext cx="236219" cy="472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61616"/>
                </a:solidFill>
                <a:latin typeface="Liberation Serif"/>
              </a:defRPr>
            </a:pPr>
            <a:r>
              <a:t>Linear</a:t>
            </a:r>
          </a:p>
        </p:txBody>
      </p:sp>
      <p:cxnSp>
        <p:nvCxnSpPr>
          <p:cNvPr id="533" name="linear_frozen_0"/>
          <p:cNvCxnSpPr/>
          <p:nvPr/>
        </p:nvCxnSpPr>
        <p:spPr>
          <a:xfrm>
            <a:off x="13685520" y="1120140"/>
            <a:ext cx="182880" cy="0"/>
          </a:xfrm>
          <a:prstGeom prst="line">
            <a:avLst/>
          </a:prstGeom>
          <a:ln w="13716">
            <a:solidFill>
              <a:srgbClr val="2F99D5"/>
            </a:solidFill>
          </a:ln>
        </p:spPr>
      </p:cxnSp>
      <p:cxnSp>
        <p:nvCxnSpPr>
          <p:cNvPr id="534" name="linear_frozen_branch"/>
          <p:cNvCxnSpPr/>
          <p:nvPr/>
        </p:nvCxnSpPr>
        <p:spPr>
          <a:xfrm flipV="1">
            <a:off x="13717524" y="1106757"/>
            <a:ext cx="21827" cy="13383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535" name="linear_frozen_branch"/>
          <p:cNvCxnSpPr/>
          <p:nvPr/>
        </p:nvCxnSpPr>
        <p:spPr>
          <a:xfrm>
            <a:off x="13717524" y="1120140"/>
            <a:ext cx="21827" cy="13382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536" name="linear_frozen_branch"/>
          <p:cNvCxnSpPr/>
          <p:nvPr/>
        </p:nvCxnSpPr>
        <p:spPr>
          <a:xfrm flipH="1">
            <a:off x="13814568" y="1120140"/>
            <a:ext cx="21828" cy="13382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537" name="linear_frozen_branch"/>
          <p:cNvCxnSpPr/>
          <p:nvPr/>
        </p:nvCxnSpPr>
        <p:spPr>
          <a:xfrm flipH="1" flipV="1">
            <a:off x="13814568" y="1106757"/>
            <a:ext cx="21828" cy="13383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538" name="linear_frozen_1"/>
          <p:cNvCxnSpPr/>
          <p:nvPr/>
        </p:nvCxnSpPr>
        <p:spPr>
          <a:xfrm>
            <a:off x="13731240" y="1040950"/>
            <a:ext cx="91440" cy="158379"/>
          </a:xfrm>
          <a:prstGeom prst="line">
            <a:avLst/>
          </a:prstGeom>
          <a:ln w="13716">
            <a:solidFill>
              <a:srgbClr val="2F99D5"/>
            </a:solidFill>
          </a:ln>
        </p:spPr>
      </p:cxnSp>
      <p:cxnSp>
        <p:nvCxnSpPr>
          <p:cNvPr id="539" name="linear_frozen_branch"/>
          <p:cNvCxnSpPr/>
          <p:nvPr/>
        </p:nvCxnSpPr>
        <p:spPr>
          <a:xfrm>
            <a:off x="13747242" y="1068666"/>
            <a:ext cx="22503" cy="12212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540" name="linear_frozen_branch"/>
          <p:cNvCxnSpPr/>
          <p:nvPr/>
        </p:nvCxnSpPr>
        <p:spPr>
          <a:xfrm flipH="1">
            <a:off x="13746566" y="1068666"/>
            <a:ext cx="676" cy="25595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541" name="linear_frozen_branch"/>
          <p:cNvCxnSpPr/>
          <p:nvPr/>
        </p:nvCxnSpPr>
        <p:spPr>
          <a:xfrm flipH="1" flipV="1">
            <a:off x="13784174" y="1159401"/>
            <a:ext cx="22504" cy="12212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542" name="linear_frozen_branch"/>
          <p:cNvCxnSpPr/>
          <p:nvPr/>
        </p:nvCxnSpPr>
        <p:spPr>
          <a:xfrm flipV="1">
            <a:off x="13806678" y="1146018"/>
            <a:ext cx="675" cy="25595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543" name="linear_frozen_2"/>
          <p:cNvCxnSpPr/>
          <p:nvPr/>
        </p:nvCxnSpPr>
        <p:spPr>
          <a:xfrm flipH="1">
            <a:off x="13731240" y="1040950"/>
            <a:ext cx="91440" cy="158379"/>
          </a:xfrm>
          <a:prstGeom prst="line">
            <a:avLst/>
          </a:prstGeom>
          <a:ln w="13716">
            <a:solidFill>
              <a:srgbClr val="2F99D5"/>
            </a:solidFill>
          </a:ln>
        </p:spPr>
      </p:cxnSp>
      <p:cxnSp>
        <p:nvCxnSpPr>
          <p:cNvPr id="544" name="linear_frozen_branch"/>
          <p:cNvCxnSpPr/>
          <p:nvPr/>
        </p:nvCxnSpPr>
        <p:spPr>
          <a:xfrm>
            <a:off x="13806678" y="1068666"/>
            <a:ext cx="675" cy="25595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545" name="linear_frozen_branch"/>
          <p:cNvCxnSpPr/>
          <p:nvPr/>
        </p:nvCxnSpPr>
        <p:spPr>
          <a:xfrm flipH="1">
            <a:off x="13784174" y="1068666"/>
            <a:ext cx="22504" cy="12212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546" name="linear_frozen_branch"/>
          <p:cNvCxnSpPr/>
          <p:nvPr/>
        </p:nvCxnSpPr>
        <p:spPr>
          <a:xfrm flipH="1" flipV="1">
            <a:off x="13746566" y="1146018"/>
            <a:ext cx="676" cy="25595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547" name="linear_frozen_branch"/>
          <p:cNvCxnSpPr/>
          <p:nvPr/>
        </p:nvCxnSpPr>
        <p:spPr>
          <a:xfrm flipV="1">
            <a:off x="13747242" y="1159401"/>
            <a:ext cx="22503" cy="12212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548" name="patch_to_linear"/>
          <p:cNvCxnSpPr/>
          <p:nvPr/>
        </p:nvCxnSpPr>
        <p:spPr>
          <a:xfrm>
            <a:off x="13243560" y="845819"/>
            <a:ext cx="403859" cy="0"/>
          </a:xfrm>
          <a:prstGeom prst="line">
            <a:avLst/>
          </a:prstGeom>
          <a:ln w="9144">
            <a:solidFill>
              <a:srgbClr val="161616"/>
            </a:solidFill>
            <a:tailEnd type="triangle" w="sm" len="sm"/>
          </a:ln>
        </p:spPr>
      </p:cxnSp>
      <p:sp>
        <p:nvSpPr>
          <p:cNvPr id="549" name="rich_547"/>
          <p:cNvSpPr txBox="1"/>
          <p:nvPr/>
        </p:nvSpPr>
        <p:spPr>
          <a:xfrm>
            <a:off x="14020800" y="579120"/>
            <a:ext cx="342900" cy="198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40" b="0" i="1">
                <a:solidFill>
                  <a:srgbClr val="161616"/>
                </a:solidFill>
                <a:latin typeface="Liberation Serif"/>
              </a:rPr>
              <a:t>H</a:t>
            </a:r>
            <a:r>
              <a:rPr sz="775" b="0" i="1" baseline="-22000">
                <a:solidFill>
                  <a:srgbClr val="161616"/>
                </a:solidFill>
                <a:latin typeface="Liberation Serif"/>
              </a:rPr>
              <a:t>t</a:t>
            </a:r>
          </a:p>
        </p:txBody>
      </p:sp>
      <p:sp>
        <p:nvSpPr>
          <p:cNvPr id="550" name="ht_feedback"/>
          <p:cNvSpPr/>
          <p:nvPr/>
        </p:nvSpPr>
        <p:spPr>
          <a:xfrm>
            <a:off x="13594080" y="845820"/>
            <a:ext cx="868680" cy="1165860"/>
          </a:xfrm>
          <a:custGeom>
            <a:avLst/>
            <a:gdLst/>
            <a:ahLst/>
            <a:cxnLst/>
            <a:rect l="l" t="t" r="r" b="b"/>
            <a:pathLst>
              <a:path w="114" h="153">
                <a:moveTo>
                  <a:pt x="51" y="0"/>
                </a:moveTo>
                <a:lnTo>
                  <a:pt x="114" y="0"/>
                </a:lnTo>
                <a:lnTo>
                  <a:pt x="114" y="153"/>
                </a:lnTo>
                <a:lnTo>
                  <a:pt x="0" y="153"/>
                </a:lnTo>
              </a:path>
            </a:pathLst>
          </a:custGeom>
          <a:noFill/>
          <a:ln w="9144">
            <a:solidFill>
              <a:srgbClr val="161616"/>
            </a:solidFill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1" name="rich_549"/>
          <p:cNvSpPr txBox="1"/>
          <p:nvPr/>
        </p:nvSpPr>
        <p:spPr>
          <a:xfrm>
            <a:off x="12451080" y="2148840"/>
            <a:ext cx="57912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40" b="0" i="1">
                <a:solidFill>
                  <a:srgbClr val="161616"/>
                </a:solidFill>
                <a:latin typeface="Liberation Serif"/>
              </a:rPr>
              <a:t>H</a:t>
            </a:r>
            <a:r>
              <a:rPr sz="775" b="0" i="1" baseline="-22000">
                <a:solidFill>
                  <a:srgbClr val="161616"/>
                </a:solidFill>
                <a:latin typeface="Liberation Serif"/>
              </a:rPr>
              <a:t>fused</a:t>
            </a:r>
          </a:p>
        </p:txBody>
      </p:sp>
      <p:cxnSp>
        <p:nvCxnSpPr>
          <p:cNvPr id="552" name="hfused_to_stf"/>
          <p:cNvCxnSpPr/>
          <p:nvPr/>
        </p:nvCxnSpPr>
        <p:spPr>
          <a:xfrm>
            <a:off x="12687300" y="2171700"/>
            <a:ext cx="0" cy="533400"/>
          </a:xfrm>
          <a:prstGeom prst="line">
            <a:avLst/>
          </a:prstGeom>
          <a:ln w="7620">
            <a:solidFill>
              <a:srgbClr val="8A8A8A"/>
            </a:solidFill>
            <a:prstDash val="dash"/>
            <a:tailEnd type="triangle" w="sm" len="sm"/>
          </a:ln>
        </p:spPr>
      </p:cxnSp>
      <p:sp>
        <p:nvSpPr>
          <p:cNvPr id="553" name="text_551"/>
          <p:cNvSpPr txBox="1"/>
          <p:nvPr/>
        </p:nvSpPr>
        <p:spPr>
          <a:xfrm>
            <a:off x="9509760" y="2438400"/>
            <a:ext cx="2971800" cy="259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20" b="1" i="0">
                <a:solidFill>
                  <a:srgbClr val="161616"/>
                </a:solidFill>
                <a:latin typeface="Liberation Serif"/>
              </a:defRPr>
            </a:pPr>
            <a:r>
              <a:t>Spatio-Temporal Filtering (STF)</a:t>
            </a:r>
          </a:p>
        </p:txBody>
      </p:sp>
      <p:sp>
        <p:nvSpPr>
          <p:cNvPr id="554" name="spatial_container"/>
          <p:cNvSpPr/>
          <p:nvPr/>
        </p:nvSpPr>
        <p:spPr>
          <a:xfrm>
            <a:off x="7360920" y="2735580"/>
            <a:ext cx="3200400" cy="929640"/>
          </a:xfrm>
          <a:prstGeom prst="rect">
            <a:avLst/>
          </a:prstGeom>
          <a:noFill/>
          <a:ln w="8382">
            <a:solidFill>
              <a:srgbClr val="16161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5" name="temporal_container"/>
          <p:cNvSpPr/>
          <p:nvPr/>
        </p:nvSpPr>
        <p:spPr>
          <a:xfrm>
            <a:off x="10614660" y="2735580"/>
            <a:ext cx="1866899" cy="929640"/>
          </a:xfrm>
          <a:prstGeom prst="rect">
            <a:avLst/>
          </a:prstGeom>
          <a:noFill/>
          <a:ln w="8382">
            <a:solidFill>
              <a:srgbClr val="16161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lagged_container"/>
          <p:cNvSpPr/>
          <p:nvPr/>
        </p:nvSpPr>
        <p:spPr>
          <a:xfrm>
            <a:off x="12550140" y="2735580"/>
            <a:ext cx="1958340" cy="929640"/>
          </a:xfrm>
          <a:prstGeom prst="rect">
            <a:avLst/>
          </a:prstGeom>
          <a:noFill/>
          <a:ln w="8382">
            <a:solidFill>
              <a:srgbClr val="16161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7" name="spatial_dynamic"/>
          <p:cNvSpPr/>
          <p:nvPr/>
        </p:nvSpPr>
        <p:spPr>
          <a:xfrm>
            <a:off x="7360920" y="3733799"/>
            <a:ext cx="2141220" cy="693420"/>
          </a:xfrm>
          <a:prstGeom prst="rect">
            <a:avLst/>
          </a:prstGeom>
          <a:noFill/>
          <a:ln w="8382">
            <a:solidFill>
              <a:srgbClr val="16161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8" name="temporal_dynamic"/>
          <p:cNvSpPr/>
          <p:nvPr/>
        </p:nvSpPr>
        <p:spPr>
          <a:xfrm>
            <a:off x="9776460" y="3733799"/>
            <a:ext cx="2186940" cy="693420"/>
          </a:xfrm>
          <a:prstGeom prst="rect">
            <a:avLst/>
          </a:prstGeom>
          <a:noFill/>
          <a:ln w="8382">
            <a:solidFill>
              <a:srgbClr val="16161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9" name="lagged_dynamic"/>
          <p:cNvSpPr/>
          <p:nvPr/>
        </p:nvSpPr>
        <p:spPr>
          <a:xfrm>
            <a:off x="12473940" y="3733799"/>
            <a:ext cx="2034540" cy="693420"/>
          </a:xfrm>
          <a:prstGeom prst="rect">
            <a:avLst/>
          </a:prstGeom>
          <a:noFill/>
          <a:ln w="8382">
            <a:solidFill>
              <a:srgbClr val="16161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60" name="adjacency_graph_edge"/>
          <p:cNvCxnSpPr/>
          <p:nvPr/>
        </p:nvCxnSpPr>
        <p:spPr>
          <a:xfrm flipV="1">
            <a:off x="7528559" y="2880360"/>
            <a:ext cx="152401" cy="396240"/>
          </a:xfrm>
          <a:prstGeom prst="line">
            <a:avLst/>
          </a:prstGeom>
          <a:ln w="9144">
            <a:solidFill>
              <a:srgbClr val="161616"/>
            </a:solidFill>
          </a:ln>
        </p:spPr>
      </p:cxnSp>
      <p:cxnSp>
        <p:nvCxnSpPr>
          <p:cNvPr id="561" name="adjacency_graph_edge"/>
          <p:cNvCxnSpPr/>
          <p:nvPr/>
        </p:nvCxnSpPr>
        <p:spPr>
          <a:xfrm>
            <a:off x="7680960" y="2880360"/>
            <a:ext cx="358139" cy="91440"/>
          </a:xfrm>
          <a:prstGeom prst="line">
            <a:avLst/>
          </a:prstGeom>
          <a:ln w="9144">
            <a:solidFill>
              <a:srgbClr val="161616"/>
            </a:solidFill>
          </a:ln>
        </p:spPr>
      </p:cxnSp>
      <p:cxnSp>
        <p:nvCxnSpPr>
          <p:cNvPr id="562" name="adjacency_graph_edge"/>
          <p:cNvCxnSpPr/>
          <p:nvPr/>
        </p:nvCxnSpPr>
        <p:spPr>
          <a:xfrm>
            <a:off x="7680960" y="2880360"/>
            <a:ext cx="175260" cy="335280"/>
          </a:xfrm>
          <a:prstGeom prst="line">
            <a:avLst/>
          </a:prstGeom>
          <a:ln w="9144">
            <a:solidFill>
              <a:srgbClr val="161616"/>
            </a:solidFill>
          </a:ln>
        </p:spPr>
      </p:cxnSp>
      <p:cxnSp>
        <p:nvCxnSpPr>
          <p:cNvPr id="563" name="adjacency_graph_edge"/>
          <p:cNvCxnSpPr/>
          <p:nvPr/>
        </p:nvCxnSpPr>
        <p:spPr>
          <a:xfrm>
            <a:off x="7680960" y="2880360"/>
            <a:ext cx="38100" cy="541020"/>
          </a:xfrm>
          <a:prstGeom prst="line">
            <a:avLst/>
          </a:prstGeom>
          <a:ln w="9144">
            <a:solidFill>
              <a:srgbClr val="161616"/>
            </a:solidFill>
          </a:ln>
        </p:spPr>
      </p:cxnSp>
      <p:cxnSp>
        <p:nvCxnSpPr>
          <p:cNvPr id="564" name="adjacency_graph_edge"/>
          <p:cNvCxnSpPr/>
          <p:nvPr/>
        </p:nvCxnSpPr>
        <p:spPr>
          <a:xfrm flipH="1">
            <a:off x="7856220" y="2971800"/>
            <a:ext cx="182879" cy="243840"/>
          </a:xfrm>
          <a:prstGeom prst="line">
            <a:avLst/>
          </a:prstGeom>
          <a:ln w="9144">
            <a:solidFill>
              <a:srgbClr val="161616"/>
            </a:solidFill>
          </a:ln>
        </p:spPr>
      </p:cxnSp>
      <p:cxnSp>
        <p:nvCxnSpPr>
          <p:cNvPr id="565" name="adjacency_graph_edge"/>
          <p:cNvCxnSpPr/>
          <p:nvPr/>
        </p:nvCxnSpPr>
        <p:spPr>
          <a:xfrm flipH="1">
            <a:off x="7719060" y="3215640"/>
            <a:ext cx="137160" cy="205740"/>
          </a:xfrm>
          <a:prstGeom prst="line">
            <a:avLst/>
          </a:prstGeom>
          <a:ln w="9144">
            <a:solidFill>
              <a:srgbClr val="161616"/>
            </a:solidFill>
          </a:ln>
        </p:spPr>
      </p:cxnSp>
      <p:cxnSp>
        <p:nvCxnSpPr>
          <p:cNvPr id="566" name="adjacency_graph_edge"/>
          <p:cNvCxnSpPr/>
          <p:nvPr/>
        </p:nvCxnSpPr>
        <p:spPr>
          <a:xfrm>
            <a:off x="7856220" y="3215640"/>
            <a:ext cx="152400" cy="281939"/>
          </a:xfrm>
          <a:prstGeom prst="line">
            <a:avLst/>
          </a:prstGeom>
          <a:ln w="9144">
            <a:solidFill>
              <a:srgbClr val="161616"/>
            </a:solidFill>
          </a:ln>
        </p:spPr>
      </p:cxnSp>
      <p:cxnSp>
        <p:nvCxnSpPr>
          <p:cNvPr id="567" name="adjacency_graph_edge"/>
          <p:cNvCxnSpPr/>
          <p:nvPr/>
        </p:nvCxnSpPr>
        <p:spPr>
          <a:xfrm>
            <a:off x="7719060" y="3421380"/>
            <a:ext cx="289560" cy="76199"/>
          </a:xfrm>
          <a:prstGeom prst="line">
            <a:avLst/>
          </a:prstGeom>
          <a:ln w="9144">
            <a:solidFill>
              <a:srgbClr val="161616"/>
            </a:solidFill>
          </a:ln>
        </p:spPr>
      </p:cxnSp>
      <p:sp>
        <p:nvSpPr>
          <p:cNvPr id="568" name="adjacency_graph_node_0"/>
          <p:cNvSpPr/>
          <p:nvPr/>
        </p:nvSpPr>
        <p:spPr>
          <a:xfrm>
            <a:off x="7482840" y="3230880"/>
            <a:ext cx="91440" cy="91440"/>
          </a:xfrm>
          <a:prstGeom prst="ellipse">
            <a:avLst/>
          </a:prstGeom>
          <a:solidFill>
            <a:srgbClr val="72A7D2"/>
          </a:solidFill>
          <a:ln w="6858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9" name="adjacency_graph_node_1"/>
          <p:cNvSpPr/>
          <p:nvPr/>
        </p:nvSpPr>
        <p:spPr>
          <a:xfrm>
            <a:off x="7635240" y="2834640"/>
            <a:ext cx="91440" cy="91440"/>
          </a:xfrm>
          <a:prstGeom prst="ellipse">
            <a:avLst/>
          </a:prstGeom>
          <a:solidFill>
            <a:srgbClr val="72A7D2"/>
          </a:solidFill>
          <a:ln w="6858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0" name="adjacency_graph_node_2"/>
          <p:cNvSpPr/>
          <p:nvPr/>
        </p:nvSpPr>
        <p:spPr>
          <a:xfrm>
            <a:off x="7993380" y="2926080"/>
            <a:ext cx="91440" cy="91440"/>
          </a:xfrm>
          <a:prstGeom prst="ellipse">
            <a:avLst/>
          </a:prstGeom>
          <a:solidFill>
            <a:srgbClr val="72A7D2"/>
          </a:solidFill>
          <a:ln w="6858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1" name="adjacency_graph_node_3"/>
          <p:cNvSpPr/>
          <p:nvPr/>
        </p:nvSpPr>
        <p:spPr>
          <a:xfrm>
            <a:off x="7810499" y="3169920"/>
            <a:ext cx="91440" cy="91440"/>
          </a:xfrm>
          <a:prstGeom prst="ellipse">
            <a:avLst/>
          </a:prstGeom>
          <a:solidFill>
            <a:srgbClr val="72A7D2"/>
          </a:solidFill>
          <a:ln w="6858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2" name="adjacency_graph_node_4"/>
          <p:cNvSpPr/>
          <p:nvPr/>
        </p:nvSpPr>
        <p:spPr>
          <a:xfrm>
            <a:off x="7673339" y="3375660"/>
            <a:ext cx="91440" cy="91440"/>
          </a:xfrm>
          <a:prstGeom prst="ellipse">
            <a:avLst/>
          </a:prstGeom>
          <a:solidFill>
            <a:srgbClr val="72A7D2"/>
          </a:solidFill>
          <a:ln w="6858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3" name="adjacency_graph_node_5"/>
          <p:cNvSpPr/>
          <p:nvPr/>
        </p:nvSpPr>
        <p:spPr>
          <a:xfrm>
            <a:off x="7962900" y="3451860"/>
            <a:ext cx="91440" cy="91440"/>
          </a:xfrm>
          <a:prstGeom prst="ellipse">
            <a:avLst/>
          </a:prstGeom>
          <a:solidFill>
            <a:srgbClr val="72A7D2"/>
          </a:solidFill>
          <a:ln w="6858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4" name="adjacency_cells_0_0"/>
          <p:cNvSpPr/>
          <p:nvPr/>
        </p:nvSpPr>
        <p:spPr>
          <a:xfrm>
            <a:off x="8016239" y="280416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5" name="adjacency_cells_0_1"/>
          <p:cNvSpPr/>
          <p:nvPr/>
        </p:nvSpPr>
        <p:spPr>
          <a:xfrm>
            <a:off x="8115300" y="280416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6" name="adjacency_cells_0_2"/>
          <p:cNvSpPr/>
          <p:nvPr/>
        </p:nvSpPr>
        <p:spPr>
          <a:xfrm>
            <a:off x="8214359" y="280416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7" name="adjacency_cells_0_3"/>
          <p:cNvSpPr/>
          <p:nvPr/>
        </p:nvSpPr>
        <p:spPr>
          <a:xfrm>
            <a:off x="8313420" y="280416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8" name="adjacency_cells_0_4"/>
          <p:cNvSpPr/>
          <p:nvPr/>
        </p:nvSpPr>
        <p:spPr>
          <a:xfrm>
            <a:off x="8412480" y="280416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9" name="adjacency_cells_0_5"/>
          <p:cNvSpPr/>
          <p:nvPr/>
        </p:nvSpPr>
        <p:spPr>
          <a:xfrm>
            <a:off x="8511540" y="280416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0" name="adjacency_cells_1_0"/>
          <p:cNvSpPr/>
          <p:nvPr/>
        </p:nvSpPr>
        <p:spPr>
          <a:xfrm>
            <a:off x="8016239" y="290322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1" name="adjacency_cells_1_1"/>
          <p:cNvSpPr/>
          <p:nvPr/>
        </p:nvSpPr>
        <p:spPr>
          <a:xfrm>
            <a:off x="8115300" y="290322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2" name="adjacency_cells_1_2"/>
          <p:cNvSpPr/>
          <p:nvPr/>
        </p:nvSpPr>
        <p:spPr>
          <a:xfrm>
            <a:off x="8214359" y="290322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3" name="adjacency_cells_1_3"/>
          <p:cNvSpPr/>
          <p:nvPr/>
        </p:nvSpPr>
        <p:spPr>
          <a:xfrm>
            <a:off x="8313420" y="290322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4" name="adjacency_cells_1_4"/>
          <p:cNvSpPr/>
          <p:nvPr/>
        </p:nvSpPr>
        <p:spPr>
          <a:xfrm>
            <a:off x="8412480" y="290322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5" name="adjacency_cells_1_5"/>
          <p:cNvSpPr/>
          <p:nvPr/>
        </p:nvSpPr>
        <p:spPr>
          <a:xfrm>
            <a:off x="8511540" y="290322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6" name="adjacency_cells_2_0"/>
          <p:cNvSpPr/>
          <p:nvPr/>
        </p:nvSpPr>
        <p:spPr>
          <a:xfrm>
            <a:off x="8016239" y="300228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7" name="adjacency_cells_2_1"/>
          <p:cNvSpPr/>
          <p:nvPr/>
        </p:nvSpPr>
        <p:spPr>
          <a:xfrm>
            <a:off x="8115300" y="300228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8" name="adjacency_cells_2_2"/>
          <p:cNvSpPr/>
          <p:nvPr/>
        </p:nvSpPr>
        <p:spPr>
          <a:xfrm>
            <a:off x="8214359" y="300228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9" name="adjacency_cells_2_3"/>
          <p:cNvSpPr/>
          <p:nvPr/>
        </p:nvSpPr>
        <p:spPr>
          <a:xfrm>
            <a:off x="8313420" y="300228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0" name="adjacency_cells_2_4"/>
          <p:cNvSpPr/>
          <p:nvPr/>
        </p:nvSpPr>
        <p:spPr>
          <a:xfrm>
            <a:off x="8412480" y="300228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1" name="adjacency_cells_2_5"/>
          <p:cNvSpPr/>
          <p:nvPr/>
        </p:nvSpPr>
        <p:spPr>
          <a:xfrm>
            <a:off x="8511540" y="300228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2" name="adjacency_cells_3_0"/>
          <p:cNvSpPr/>
          <p:nvPr/>
        </p:nvSpPr>
        <p:spPr>
          <a:xfrm>
            <a:off x="8016239" y="310134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3" name="adjacency_cells_3_1"/>
          <p:cNvSpPr/>
          <p:nvPr/>
        </p:nvSpPr>
        <p:spPr>
          <a:xfrm>
            <a:off x="8115300" y="310134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4" name="adjacency_cells_3_2"/>
          <p:cNvSpPr/>
          <p:nvPr/>
        </p:nvSpPr>
        <p:spPr>
          <a:xfrm>
            <a:off x="8214359" y="310134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5" name="adjacency_cells_3_3"/>
          <p:cNvSpPr/>
          <p:nvPr/>
        </p:nvSpPr>
        <p:spPr>
          <a:xfrm>
            <a:off x="8313420" y="310134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6" name="adjacency_cells_3_4"/>
          <p:cNvSpPr/>
          <p:nvPr/>
        </p:nvSpPr>
        <p:spPr>
          <a:xfrm>
            <a:off x="8412480" y="310134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7" name="adjacency_cells_3_5"/>
          <p:cNvSpPr/>
          <p:nvPr/>
        </p:nvSpPr>
        <p:spPr>
          <a:xfrm>
            <a:off x="8511540" y="310134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8" name="adjacency_cells_4_0"/>
          <p:cNvSpPr/>
          <p:nvPr/>
        </p:nvSpPr>
        <p:spPr>
          <a:xfrm>
            <a:off x="8016239" y="320040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9" name="adjacency_cells_4_1"/>
          <p:cNvSpPr/>
          <p:nvPr/>
        </p:nvSpPr>
        <p:spPr>
          <a:xfrm>
            <a:off x="8115300" y="320040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0" name="adjacency_cells_4_2"/>
          <p:cNvSpPr/>
          <p:nvPr/>
        </p:nvSpPr>
        <p:spPr>
          <a:xfrm>
            <a:off x="8214359" y="320040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1" name="adjacency_cells_4_3"/>
          <p:cNvSpPr/>
          <p:nvPr/>
        </p:nvSpPr>
        <p:spPr>
          <a:xfrm>
            <a:off x="8313420" y="320040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2" name="adjacency_cells_4_4"/>
          <p:cNvSpPr/>
          <p:nvPr/>
        </p:nvSpPr>
        <p:spPr>
          <a:xfrm>
            <a:off x="8412480" y="320040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3" name="adjacency_cells_4_5"/>
          <p:cNvSpPr/>
          <p:nvPr/>
        </p:nvSpPr>
        <p:spPr>
          <a:xfrm>
            <a:off x="8511540" y="3200400"/>
            <a:ext cx="99060" cy="99060"/>
          </a:xfrm>
          <a:prstGeom prst="rect">
            <a:avLst/>
          </a:prstGeom>
          <a:solidFill>
            <a:srgbClr val="FFFFFF"/>
          </a:solidFill>
          <a:ln w="533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4" name="text_602"/>
          <p:cNvSpPr txBox="1"/>
          <p:nvPr/>
        </p:nvSpPr>
        <p:spPr>
          <a:xfrm>
            <a:off x="8016239" y="280416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605" name="text_603"/>
          <p:cNvSpPr txBox="1"/>
          <p:nvPr/>
        </p:nvSpPr>
        <p:spPr>
          <a:xfrm>
            <a:off x="8115300" y="280416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606" name="text_604"/>
          <p:cNvSpPr txBox="1"/>
          <p:nvPr/>
        </p:nvSpPr>
        <p:spPr>
          <a:xfrm>
            <a:off x="8214359" y="280416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607" name="text_605"/>
          <p:cNvSpPr txBox="1"/>
          <p:nvPr/>
        </p:nvSpPr>
        <p:spPr>
          <a:xfrm>
            <a:off x="8313420" y="280416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608" name="text_606"/>
          <p:cNvSpPr txBox="1"/>
          <p:nvPr/>
        </p:nvSpPr>
        <p:spPr>
          <a:xfrm>
            <a:off x="8412480" y="280416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609" name="text_607"/>
          <p:cNvSpPr txBox="1"/>
          <p:nvPr/>
        </p:nvSpPr>
        <p:spPr>
          <a:xfrm>
            <a:off x="8511540" y="280416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610" name="text_608"/>
          <p:cNvSpPr txBox="1"/>
          <p:nvPr/>
        </p:nvSpPr>
        <p:spPr>
          <a:xfrm>
            <a:off x="8016239" y="290322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611" name="text_609"/>
          <p:cNvSpPr txBox="1"/>
          <p:nvPr/>
        </p:nvSpPr>
        <p:spPr>
          <a:xfrm>
            <a:off x="8115300" y="290322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612" name="text_610"/>
          <p:cNvSpPr txBox="1"/>
          <p:nvPr/>
        </p:nvSpPr>
        <p:spPr>
          <a:xfrm>
            <a:off x="8214359" y="290322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613" name="text_611"/>
          <p:cNvSpPr txBox="1"/>
          <p:nvPr/>
        </p:nvSpPr>
        <p:spPr>
          <a:xfrm>
            <a:off x="8313420" y="290322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614" name="text_612"/>
          <p:cNvSpPr txBox="1"/>
          <p:nvPr/>
        </p:nvSpPr>
        <p:spPr>
          <a:xfrm>
            <a:off x="8412480" y="290322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615" name="text_613"/>
          <p:cNvSpPr txBox="1"/>
          <p:nvPr/>
        </p:nvSpPr>
        <p:spPr>
          <a:xfrm>
            <a:off x="8511540" y="290322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616" name="text_614"/>
          <p:cNvSpPr txBox="1"/>
          <p:nvPr/>
        </p:nvSpPr>
        <p:spPr>
          <a:xfrm>
            <a:off x="8016239" y="300228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617" name="text_615"/>
          <p:cNvSpPr txBox="1"/>
          <p:nvPr/>
        </p:nvSpPr>
        <p:spPr>
          <a:xfrm>
            <a:off x="8115300" y="300228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618" name="text_616"/>
          <p:cNvSpPr txBox="1"/>
          <p:nvPr/>
        </p:nvSpPr>
        <p:spPr>
          <a:xfrm>
            <a:off x="8214359" y="300228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619" name="text_617"/>
          <p:cNvSpPr txBox="1"/>
          <p:nvPr/>
        </p:nvSpPr>
        <p:spPr>
          <a:xfrm>
            <a:off x="8313420" y="300228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620" name="text_618"/>
          <p:cNvSpPr txBox="1"/>
          <p:nvPr/>
        </p:nvSpPr>
        <p:spPr>
          <a:xfrm>
            <a:off x="8412480" y="300228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621" name="text_619"/>
          <p:cNvSpPr txBox="1"/>
          <p:nvPr/>
        </p:nvSpPr>
        <p:spPr>
          <a:xfrm>
            <a:off x="8511540" y="300228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622" name="text_620"/>
          <p:cNvSpPr txBox="1"/>
          <p:nvPr/>
        </p:nvSpPr>
        <p:spPr>
          <a:xfrm>
            <a:off x="8016239" y="310134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623" name="text_621"/>
          <p:cNvSpPr txBox="1"/>
          <p:nvPr/>
        </p:nvSpPr>
        <p:spPr>
          <a:xfrm>
            <a:off x="8115300" y="310134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624" name="text_622"/>
          <p:cNvSpPr txBox="1"/>
          <p:nvPr/>
        </p:nvSpPr>
        <p:spPr>
          <a:xfrm>
            <a:off x="8214359" y="310134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625" name="text_623"/>
          <p:cNvSpPr txBox="1"/>
          <p:nvPr/>
        </p:nvSpPr>
        <p:spPr>
          <a:xfrm>
            <a:off x="8313420" y="310134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626" name="text_624"/>
          <p:cNvSpPr txBox="1"/>
          <p:nvPr/>
        </p:nvSpPr>
        <p:spPr>
          <a:xfrm>
            <a:off x="8412480" y="310134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627" name="text_625"/>
          <p:cNvSpPr txBox="1"/>
          <p:nvPr/>
        </p:nvSpPr>
        <p:spPr>
          <a:xfrm>
            <a:off x="8511540" y="310134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628" name="text_626"/>
          <p:cNvSpPr txBox="1"/>
          <p:nvPr/>
        </p:nvSpPr>
        <p:spPr>
          <a:xfrm>
            <a:off x="8016239" y="320040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629" name="text_627"/>
          <p:cNvSpPr txBox="1"/>
          <p:nvPr/>
        </p:nvSpPr>
        <p:spPr>
          <a:xfrm>
            <a:off x="8115300" y="320040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630" name="text_628"/>
          <p:cNvSpPr txBox="1"/>
          <p:nvPr/>
        </p:nvSpPr>
        <p:spPr>
          <a:xfrm>
            <a:off x="8214359" y="320040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631" name="text_629"/>
          <p:cNvSpPr txBox="1"/>
          <p:nvPr/>
        </p:nvSpPr>
        <p:spPr>
          <a:xfrm>
            <a:off x="8313420" y="320040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632" name="text_630"/>
          <p:cNvSpPr txBox="1"/>
          <p:nvPr/>
        </p:nvSpPr>
        <p:spPr>
          <a:xfrm>
            <a:off x="8412480" y="320040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633" name="text_631"/>
          <p:cNvSpPr txBox="1"/>
          <p:nvPr/>
        </p:nvSpPr>
        <p:spPr>
          <a:xfrm>
            <a:off x="8511540" y="3200400"/>
            <a:ext cx="990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161616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634" name="text_632"/>
          <p:cNvSpPr txBox="1"/>
          <p:nvPr/>
        </p:nvSpPr>
        <p:spPr>
          <a:xfrm>
            <a:off x="7505700" y="3398520"/>
            <a:ext cx="13716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erif"/>
              </a:defRPr>
            </a:pPr>
            <a:r>
              <a:t>Adjacency Matrix</a:t>
            </a:r>
          </a:p>
        </p:txBody>
      </p:sp>
      <p:sp>
        <p:nvSpPr>
          <p:cNvPr id="635" name="multiply_circle_s"/>
          <p:cNvSpPr/>
          <p:nvPr/>
        </p:nvSpPr>
        <p:spPr>
          <a:xfrm>
            <a:off x="8694420" y="3032760"/>
            <a:ext cx="190500" cy="1905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6" name="text_634"/>
          <p:cNvSpPr txBox="1"/>
          <p:nvPr/>
        </p:nvSpPr>
        <p:spPr>
          <a:xfrm>
            <a:off x="8694420" y="3025140"/>
            <a:ext cx="1905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61616"/>
                </a:solidFill>
                <a:latin typeface="Liberation Sans"/>
              </a:defRPr>
            </a:pPr>
            <a:r>
              <a:t>×</a:t>
            </a:r>
          </a:p>
        </p:txBody>
      </p:sp>
      <p:sp>
        <p:nvSpPr>
          <p:cNvPr id="637" name="spatial_affinity_0_0"/>
          <p:cNvSpPr/>
          <p:nvPr/>
        </p:nvSpPr>
        <p:spPr>
          <a:xfrm>
            <a:off x="8915400" y="2781300"/>
            <a:ext cx="129540" cy="129540"/>
          </a:xfrm>
          <a:prstGeom prst="rect">
            <a:avLst/>
          </a:prstGeom>
          <a:solidFill>
            <a:srgbClr val="905BB1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8" name="spatial_affinity_0_1"/>
          <p:cNvSpPr/>
          <p:nvPr/>
        </p:nvSpPr>
        <p:spPr>
          <a:xfrm>
            <a:off x="9052560" y="2781300"/>
            <a:ext cx="129540" cy="129540"/>
          </a:xfrm>
          <a:prstGeom prst="rect">
            <a:avLst/>
          </a:prstGeom>
          <a:solidFill>
            <a:srgbClr val="905BB1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9" name="spatial_affinity_0_2"/>
          <p:cNvSpPr/>
          <p:nvPr/>
        </p:nvSpPr>
        <p:spPr>
          <a:xfrm>
            <a:off x="9189720" y="2781300"/>
            <a:ext cx="129540" cy="129540"/>
          </a:xfrm>
          <a:prstGeom prst="rect">
            <a:avLst/>
          </a:prstGeom>
          <a:solidFill>
            <a:srgbClr val="905BB1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0" name="spatial_affinity_0_3"/>
          <p:cNvSpPr/>
          <p:nvPr/>
        </p:nvSpPr>
        <p:spPr>
          <a:xfrm>
            <a:off x="9326880" y="2781300"/>
            <a:ext cx="129540" cy="129540"/>
          </a:xfrm>
          <a:prstGeom prst="rect">
            <a:avLst/>
          </a:prstGeom>
          <a:solidFill>
            <a:srgbClr val="905BB1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1" name="spatial_affinity_0_4"/>
          <p:cNvSpPr/>
          <p:nvPr/>
        </p:nvSpPr>
        <p:spPr>
          <a:xfrm>
            <a:off x="9464040" y="2781300"/>
            <a:ext cx="129540" cy="129540"/>
          </a:xfrm>
          <a:prstGeom prst="rect">
            <a:avLst/>
          </a:prstGeom>
          <a:solidFill>
            <a:srgbClr val="905BB1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2" name="spatial_affinity_0_5"/>
          <p:cNvSpPr/>
          <p:nvPr/>
        </p:nvSpPr>
        <p:spPr>
          <a:xfrm>
            <a:off x="9601200" y="2781300"/>
            <a:ext cx="129540" cy="129540"/>
          </a:xfrm>
          <a:prstGeom prst="rect">
            <a:avLst/>
          </a:prstGeom>
          <a:solidFill>
            <a:srgbClr val="905BB1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3" name="spatial_affinity_1_0"/>
          <p:cNvSpPr/>
          <p:nvPr/>
        </p:nvSpPr>
        <p:spPr>
          <a:xfrm>
            <a:off x="8915400" y="2918460"/>
            <a:ext cx="129540" cy="129540"/>
          </a:xfrm>
          <a:prstGeom prst="rect">
            <a:avLst/>
          </a:prstGeom>
          <a:solidFill>
            <a:srgbClr val="744192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4" name="spatial_affinity_1_1"/>
          <p:cNvSpPr/>
          <p:nvPr/>
        </p:nvSpPr>
        <p:spPr>
          <a:xfrm>
            <a:off x="9052560" y="2918460"/>
            <a:ext cx="129540" cy="129540"/>
          </a:xfrm>
          <a:prstGeom prst="rect">
            <a:avLst/>
          </a:prstGeom>
          <a:solidFill>
            <a:srgbClr val="905BB1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5" name="spatial_affinity_1_2"/>
          <p:cNvSpPr/>
          <p:nvPr/>
        </p:nvSpPr>
        <p:spPr>
          <a:xfrm>
            <a:off x="9189720" y="2918460"/>
            <a:ext cx="129540" cy="129540"/>
          </a:xfrm>
          <a:prstGeom prst="rect">
            <a:avLst/>
          </a:prstGeom>
          <a:solidFill>
            <a:srgbClr val="744192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6" name="spatial_affinity_1_3"/>
          <p:cNvSpPr/>
          <p:nvPr/>
        </p:nvSpPr>
        <p:spPr>
          <a:xfrm>
            <a:off x="9326880" y="2918460"/>
            <a:ext cx="129540" cy="129540"/>
          </a:xfrm>
          <a:prstGeom prst="rect">
            <a:avLst/>
          </a:prstGeom>
          <a:solidFill>
            <a:srgbClr val="744192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7" name="spatial_affinity_1_4"/>
          <p:cNvSpPr/>
          <p:nvPr/>
        </p:nvSpPr>
        <p:spPr>
          <a:xfrm>
            <a:off x="9464040" y="2918460"/>
            <a:ext cx="129540" cy="129540"/>
          </a:xfrm>
          <a:prstGeom prst="rect">
            <a:avLst/>
          </a:prstGeom>
          <a:solidFill>
            <a:srgbClr val="905BB1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8" name="spatial_affinity_1_5"/>
          <p:cNvSpPr/>
          <p:nvPr/>
        </p:nvSpPr>
        <p:spPr>
          <a:xfrm>
            <a:off x="9601200" y="2918460"/>
            <a:ext cx="129540" cy="129540"/>
          </a:xfrm>
          <a:prstGeom prst="rect">
            <a:avLst/>
          </a:prstGeom>
          <a:solidFill>
            <a:srgbClr val="744192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9" name="spatial_affinity_2_0"/>
          <p:cNvSpPr/>
          <p:nvPr/>
        </p:nvSpPr>
        <p:spPr>
          <a:xfrm>
            <a:off x="8915400" y="3055620"/>
            <a:ext cx="129540" cy="129540"/>
          </a:xfrm>
          <a:prstGeom prst="rect">
            <a:avLst/>
          </a:prstGeom>
          <a:solidFill>
            <a:srgbClr val="B17AC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0" name="spatial_affinity_2_1"/>
          <p:cNvSpPr/>
          <p:nvPr/>
        </p:nvSpPr>
        <p:spPr>
          <a:xfrm>
            <a:off x="9052560" y="3055620"/>
            <a:ext cx="129540" cy="129540"/>
          </a:xfrm>
          <a:prstGeom prst="rect">
            <a:avLst/>
          </a:prstGeom>
          <a:solidFill>
            <a:srgbClr val="744192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1" name="spatial_affinity_2_2"/>
          <p:cNvSpPr/>
          <p:nvPr/>
        </p:nvSpPr>
        <p:spPr>
          <a:xfrm>
            <a:off x="9189720" y="3055620"/>
            <a:ext cx="129540" cy="129540"/>
          </a:xfrm>
          <a:prstGeom prst="rect">
            <a:avLst/>
          </a:prstGeom>
          <a:solidFill>
            <a:srgbClr val="B17AC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2" name="spatial_affinity_2_3"/>
          <p:cNvSpPr/>
          <p:nvPr/>
        </p:nvSpPr>
        <p:spPr>
          <a:xfrm>
            <a:off x="9326880" y="3055620"/>
            <a:ext cx="129540" cy="129540"/>
          </a:xfrm>
          <a:prstGeom prst="rect">
            <a:avLst/>
          </a:prstGeom>
          <a:solidFill>
            <a:srgbClr val="B17AC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3" name="spatial_affinity_2_4"/>
          <p:cNvSpPr/>
          <p:nvPr/>
        </p:nvSpPr>
        <p:spPr>
          <a:xfrm>
            <a:off x="9464040" y="3055620"/>
            <a:ext cx="129540" cy="129540"/>
          </a:xfrm>
          <a:prstGeom prst="rect">
            <a:avLst/>
          </a:prstGeom>
          <a:solidFill>
            <a:srgbClr val="744192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4" name="spatial_affinity_2_5"/>
          <p:cNvSpPr/>
          <p:nvPr/>
        </p:nvSpPr>
        <p:spPr>
          <a:xfrm>
            <a:off x="9601200" y="3055620"/>
            <a:ext cx="129540" cy="129540"/>
          </a:xfrm>
          <a:prstGeom prst="rect">
            <a:avLst/>
          </a:prstGeom>
          <a:solidFill>
            <a:srgbClr val="B17AC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5" name="spatial_affinity_3_0"/>
          <p:cNvSpPr/>
          <p:nvPr/>
        </p:nvSpPr>
        <p:spPr>
          <a:xfrm>
            <a:off x="8915400" y="3192780"/>
            <a:ext cx="129540" cy="129540"/>
          </a:xfrm>
          <a:prstGeom prst="rect">
            <a:avLst/>
          </a:prstGeom>
          <a:solidFill>
            <a:srgbClr val="B17AC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6" name="spatial_affinity_3_1"/>
          <p:cNvSpPr/>
          <p:nvPr/>
        </p:nvSpPr>
        <p:spPr>
          <a:xfrm>
            <a:off x="9052560" y="3192780"/>
            <a:ext cx="129540" cy="129540"/>
          </a:xfrm>
          <a:prstGeom prst="rect">
            <a:avLst/>
          </a:prstGeom>
          <a:solidFill>
            <a:srgbClr val="B17AC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7" name="spatial_affinity_3_2"/>
          <p:cNvSpPr/>
          <p:nvPr/>
        </p:nvSpPr>
        <p:spPr>
          <a:xfrm>
            <a:off x="9189720" y="3192780"/>
            <a:ext cx="129540" cy="129540"/>
          </a:xfrm>
          <a:prstGeom prst="rect">
            <a:avLst/>
          </a:prstGeom>
          <a:solidFill>
            <a:srgbClr val="744192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8" name="spatial_affinity_3_3"/>
          <p:cNvSpPr/>
          <p:nvPr/>
        </p:nvSpPr>
        <p:spPr>
          <a:xfrm>
            <a:off x="9326880" y="3192780"/>
            <a:ext cx="129540" cy="129540"/>
          </a:xfrm>
          <a:prstGeom prst="rect">
            <a:avLst/>
          </a:prstGeom>
          <a:solidFill>
            <a:srgbClr val="905BB1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9" name="spatial_affinity_3_4"/>
          <p:cNvSpPr/>
          <p:nvPr/>
        </p:nvSpPr>
        <p:spPr>
          <a:xfrm>
            <a:off x="9464040" y="3192780"/>
            <a:ext cx="129540" cy="129540"/>
          </a:xfrm>
          <a:prstGeom prst="rect">
            <a:avLst/>
          </a:prstGeom>
          <a:solidFill>
            <a:srgbClr val="905BB1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0" name="spatial_affinity_3_5"/>
          <p:cNvSpPr/>
          <p:nvPr/>
        </p:nvSpPr>
        <p:spPr>
          <a:xfrm>
            <a:off x="9601200" y="3192780"/>
            <a:ext cx="129540" cy="129540"/>
          </a:xfrm>
          <a:prstGeom prst="rect">
            <a:avLst/>
          </a:prstGeom>
          <a:solidFill>
            <a:srgbClr val="744192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1" name="spatial_affinity_4_0"/>
          <p:cNvSpPr/>
          <p:nvPr/>
        </p:nvSpPr>
        <p:spPr>
          <a:xfrm>
            <a:off x="8915400" y="3329940"/>
            <a:ext cx="129540" cy="129540"/>
          </a:xfrm>
          <a:prstGeom prst="rect">
            <a:avLst/>
          </a:prstGeom>
          <a:solidFill>
            <a:srgbClr val="744192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2" name="spatial_affinity_4_1"/>
          <p:cNvSpPr/>
          <p:nvPr/>
        </p:nvSpPr>
        <p:spPr>
          <a:xfrm>
            <a:off x="9052560" y="3329940"/>
            <a:ext cx="129540" cy="129540"/>
          </a:xfrm>
          <a:prstGeom prst="rect">
            <a:avLst/>
          </a:prstGeom>
          <a:solidFill>
            <a:srgbClr val="744192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3" name="spatial_affinity_4_2"/>
          <p:cNvSpPr/>
          <p:nvPr/>
        </p:nvSpPr>
        <p:spPr>
          <a:xfrm>
            <a:off x="9189720" y="3329940"/>
            <a:ext cx="129540" cy="129540"/>
          </a:xfrm>
          <a:prstGeom prst="rect">
            <a:avLst/>
          </a:prstGeom>
          <a:solidFill>
            <a:srgbClr val="744192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4" name="spatial_affinity_4_3"/>
          <p:cNvSpPr/>
          <p:nvPr/>
        </p:nvSpPr>
        <p:spPr>
          <a:xfrm>
            <a:off x="9326880" y="3329940"/>
            <a:ext cx="129540" cy="129540"/>
          </a:xfrm>
          <a:prstGeom prst="rect">
            <a:avLst/>
          </a:prstGeom>
          <a:solidFill>
            <a:srgbClr val="B17AC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5" name="spatial_affinity_4_4"/>
          <p:cNvSpPr/>
          <p:nvPr/>
        </p:nvSpPr>
        <p:spPr>
          <a:xfrm>
            <a:off x="9464040" y="3329940"/>
            <a:ext cx="129540" cy="129540"/>
          </a:xfrm>
          <a:prstGeom prst="rect">
            <a:avLst/>
          </a:prstGeom>
          <a:solidFill>
            <a:srgbClr val="905BB1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6" name="spatial_affinity_4_5"/>
          <p:cNvSpPr/>
          <p:nvPr/>
        </p:nvSpPr>
        <p:spPr>
          <a:xfrm>
            <a:off x="9601200" y="3329940"/>
            <a:ext cx="129540" cy="129540"/>
          </a:xfrm>
          <a:prstGeom prst="rect">
            <a:avLst/>
          </a:prstGeom>
          <a:solidFill>
            <a:srgbClr val="905BB1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7" name="spatial_affinity_flame_outer"/>
          <p:cNvSpPr/>
          <p:nvPr/>
        </p:nvSpPr>
        <p:spPr>
          <a:xfrm>
            <a:off x="9532620" y="3253740"/>
            <a:ext cx="106680" cy="167640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7" y="0"/>
                </a:moveTo>
                <a:lnTo>
                  <a:pt x="5" y="7"/>
                </a:lnTo>
                <a:lnTo>
                  <a:pt x="0" y="11"/>
                </a:lnTo>
                <a:lnTo>
                  <a:pt x="1" y="17"/>
                </a:lnTo>
                <a:lnTo>
                  <a:pt x="7" y="22"/>
                </a:lnTo>
                <a:lnTo>
                  <a:pt x="14" y="17"/>
                </a:lnTo>
                <a:lnTo>
                  <a:pt x="12" y="11"/>
                </a:lnTo>
                <a:lnTo>
                  <a:pt x="9" y="5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8" name="spatial_affinity_flame_inner"/>
          <p:cNvSpPr/>
          <p:nvPr/>
        </p:nvSpPr>
        <p:spPr>
          <a:xfrm>
            <a:off x="9563100" y="3314700"/>
            <a:ext cx="45720" cy="9144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3" y="0"/>
                </a:moveTo>
                <a:lnTo>
                  <a:pt x="0" y="5"/>
                </a:lnTo>
                <a:lnTo>
                  <a:pt x="1" y="10"/>
                </a:lnTo>
                <a:lnTo>
                  <a:pt x="3" y="12"/>
                </a:lnTo>
                <a:lnTo>
                  <a:pt x="6" y="8"/>
                </a:lnTo>
                <a:lnTo>
                  <a:pt x="5" y="5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9" name="text_667"/>
          <p:cNvSpPr txBox="1"/>
          <p:nvPr/>
        </p:nvSpPr>
        <p:spPr>
          <a:xfrm>
            <a:off x="8869680" y="3406140"/>
            <a:ext cx="90678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erif"/>
              </a:defRPr>
            </a:pPr>
            <a:r>
              <a:t>Spatial Affinity</a:t>
            </a:r>
          </a:p>
        </p:txBody>
      </p:sp>
      <p:sp>
        <p:nvSpPr>
          <p:cNvPr id="670" name="rich_668"/>
          <p:cNvSpPr txBox="1"/>
          <p:nvPr/>
        </p:nvSpPr>
        <p:spPr>
          <a:xfrm>
            <a:off x="9662160" y="3086100"/>
            <a:ext cx="3048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161616"/>
                </a:solidFill>
                <a:latin typeface="Liberation Serif"/>
              </a:rPr>
              <a:t>S</a:t>
            </a:r>
            <a:r>
              <a:rPr sz="816" b="0" i="1" baseline="-22000">
                <a:solidFill>
                  <a:srgbClr val="161616"/>
                </a:solidFill>
                <a:latin typeface="Liberation Serif"/>
              </a:rPr>
              <a:t>s</a:t>
            </a:r>
          </a:p>
        </p:txBody>
      </p:sp>
      <p:sp>
        <p:nvSpPr>
          <p:cNvPr id="671" name="spatial_bracket_l"/>
          <p:cNvSpPr/>
          <p:nvPr/>
        </p:nvSpPr>
        <p:spPr>
          <a:xfrm>
            <a:off x="9921240" y="2811780"/>
            <a:ext cx="60960" cy="693420"/>
          </a:xfrm>
          <a:custGeom>
            <a:avLst/>
            <a:gdLst/>
            <a:ahLst/>
            <a:cxnLst/>
            <a:rect l="l" t="t" r="r" b="b"/>
            <a:pathLst>
              <a:path w="8" h="91">
                <a:moveTo>
                  <a:pt x="8" y="0"/>
                </a:moveTo>
                <a:lnTo>
                  <a:pt x="0" y="0"/>
                </a:lnTo>
                <a:lnTo>
                  <a:pt x="0" y="91"/>
                </a:lnTo>
                <a:lnTo>
                  <a:pt x="8" y="91"/>
                </a:lnTo>
              </a:path>
            </a:pathLst>
          </a:custGeom>
          <a:noFill/>
          <a:ln w="990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2" name="spatial_bracket_r"/>
          <p:cNvSpPr/>
          <p:nvPr/>
        </p:nvSpPr>
        <p:spPr>
          <a:xfrm>
            <a:off x="10439400" y="2811780"/>
            <a:ext cx="60960" cy="693420"/>
          </a:xfrm>
          <a:custGeom>
            <a:avLst/>
            <a:gdLst/>
            <a:ahLst/>
            <a:cxnLst/>
            <a:rect l="l" t="t" r="r" b="b"/>
            <a:pathLst>
              <a:path w="8" h="91">
                <a:moveTo>
                  <a:pt x="0" y="0"/>
                </a:moveTo>
                <a:lnTo>
                  <a:pt x="8" y="0"/>
                </a:lnTo>
                <a:lnTo>
                  <a:pt x="8" y="91"/>
                </a:lnTo>
                <a:lnTo>
                  <a:pt x="0" y="91"/>
                </a:lnTo>
              </a:path>
            </a:pathLst>
          </a:custGeom>
          <a:noFill/>
          <a:ln w="990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3" name="spatial_en"/>
          <p:cNvSpPr/>
          <p:nvPr/>
        </p:nvSpPr>
        <p:spPr>
          <a:xfrm>
            <a:off x="9989820" y="2849880"/>
            <a:ext cx="480060" cy="236219"/>
          </a:xfrm>
          <a:prstGeom prst="rect">
            <a:avLst/>
          </a:prstGeom>
          <a:solidFill>
            <a:srgbClr val="FFFFFF"/>
          </a:solidFill>
          <a:ln w="914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4" name="spatial_en_cell_0"/>
          <p:cNvSpPr/>
          <p:nvPr/>
        </p:nvSpPr>
        <p:spPr>
          <a:xfrm>
            <a:off x="10027920" y="2887980"/>
            <a:ext cx="119379" cy="1600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5" name="spatial_en_cell_1"/>
          <p:cNvSpPr/>
          <p:nvPr/>
        </p:nvSpPr>
        <p:spPr>
          <a:xfrm>
            <a:off x="10170160" y="2887980"/>
            <a:ext cx="119379" cy="1600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6" name="spatial_en_cell_2"/>
          <p:cNvSpPr/>
          <p:nvPr/>
        </p:nvSpPr>
        <p:spPr>
          <a:xfrm>
            <a:off x="10312400" y="2887980"/>
            <a:ext cx="119379" cy="1600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7" name="text_675"/>
          <p:cNvSpPr txBox="1"/>
          <p:nvPr/>
        </p:nvSpPr>
        <p:spPr>
          <a:xfrm>
            <a:off x="9997440" y="3124200"/>
            <a:ext cx="4800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erif"/>
              </a:defRPr>
            </a:pPr>
            <a:r>
              <a:t>Eₙ ⊗ Hₛₜ</a:t>
            </a:r>
          </a:p>
        </p:txBody>
      </p:sp>
      <p:sp>
        <p:nvSpPr>
          <p:cNvPr id="678" name="spatial_hst"/>
          <p:cNvSpPr/>
          <p:nvPr/>
        </p:nvSpPr>
        <p:spPr>
          <a:xfrm>
            <a:off x="9989820" y="3299460"/>
            <a:ext cx="480060" cy="236219"/>
          </a:xfrm>
          <a:prstGeom prst="rect">
            <a:avLst/>
          </a:prstGeom>
          <a:solidFill>
            <a:srgbClr val="FFFFFF"/>
          </a:solidFill>
          <a:ln w="914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9" name="spatial_hst_cell_0"/>
          <p:cNvSpPr/>
          <p:nvPr/>
        </p:nvSpPr>
        <p:spPr>
          <a:xfrm>
            <a:off x="10027920" y="3337560"/>
            <a:ext cx="119379" cy="16002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0" name="spatial_hst_cell_1"/>
          <p:cNvSpPr/>
          <p:nvPr/>
        </p:nvSpPr>
        <p:spPr>
          <a:xfrm>
            <a:off x="10170160" y="3337560"/>
            <a:ext cx="119379" cy="1600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1" name="spatial_hst_cell_2"/>
          <p:cNvSpPr/>
          <p:nvPr/>
        </p:nvSpPr>
        <p:spPr>
          <a:xfrm>
            <a:off x="10312400" y="3337560"/>
            <a:ext cx="119379" cy="16002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2" name="temporal_affinity_0_0"/>
          <p:cNvSpPr/>
          <p:nvPr/>
        </p:nvSpPr>
        <p:spPr>
          <a:xfrm>
            <a:off x="10767060" y="2781300"/>
            <a:ext cx="129540" cy="129540"/>
          </a:xfrm>
          <a:prstGeom prst="rect">
            <a:avLst/>
          </a:prstGeom>
          <a:solidFill>
            <a:srgbClr val="E77D80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3" name="temporal_affinity_0_1"/>
          <p:cNvSpPr/>
          <p:nvPr/>
        </p:nvSpPr>
        <p:spPr>
          <a:xfrm>
            <a:off x="10904220" y="2781300"/>
            <a:ext cx="129540" cy="129540"/>
          </a:xfrm>
          <a:prstGeom prst="rect">
            <a:avLst/>
          </a:prstGeom>
          <a:solidFill>
            <a:srgbClr val="EEA3A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4" name="temporal_affinity_0_2"/>
          <p:cNvSpPr/>
          <p:nvPr/>
        </p:nvSpPr>
        <p:spPr>
          <a:xfrm>
            <a:off x="11041380" y="2781300"/>
            <a:ext cx="129540" cy="129540"/>
          </a:xfrm>
          <a:prstGeom prst="rect">
            <a:avLst/>
          </a:prstGeom>
          <a:solidFill>
            <a:srgbClr val="EEA3A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5" name="temporal_affinity_0_3"/>
          <p:cNvSpPr/>
          <p:nvPr/>
        </p:nvSpPr>
        <p:spPr>
          <a:xfrm>
            <a:off x="11178540" y="2781300"/>
            <a:ext cx="129540" cy="129540"/>
          </a:xfrm>
          <a:prstGeom prst="rect">
            <a:avLst/>
          </a:prstGeom>
          <a:solidFill>
            <a:srgbClr val="D96367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6" name="temporal_affinity_0_4"/>
          <p:cNvSpPr/>
          <p:nvPr/>
        </p:nvSpPr>
        <p:spPr>
          <a:xfrm>
            <a:off x="11315700" y="2781300"/>
            <a:ext cx="129540" cy="129540"/>
          </a:xfrm>
          <a:prstGeom prst="rect">
            <a:avLst/>
          </a:prstGeom>
          <a:solidFill>
            <a:srgbClr val="EEA3A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7" name="temporal_affinity_0_5"/>
          <p:cNvSpPr/>
          <p:nvPr/>
        </p:nvSpPr>
        <p:spPr>
          <a:xfrm>
            <a:off x="11452860" y="2781300"/>
            <a:ext cx="129540" cy="129540"/>
          </a:xfrm>
          <a:prstGeom prst="rect">
            <a:avLst/>
          </a:prstGeom>
          <a:solidFill>
            <a:srgbClr val="EEA3A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8" name="temporal_affinity_1_0"/>
          <p:cNvSpPr/>
          <p:nvPr/>
        </p:nvSpPr>
        <p:spPr>
          <a:xfrm>
            <a:off x="10767060" y="2918460"/>
            <a:ext cx="129540" cy="129540"/>
          </a:xfrm>
          <a:prstGeom prst="rect">
            <a:avLst/>
          </a:prstGeom>
          <a:solidFill>
            <a:srgbClr val="E77D80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9" name="temporal_affinity_1_1"/>
          <p:cNvSpPr/>
          <p:nvPr/>
        </p:nvSpPr>
        <p:spPr>
          <a:xfrm>
            <a:off x="10904220" y="2918460"/>
            <a:ext cx="129540" cy="129540"/>
          </a:xfrm>
          <a:prstGeom prst="rect">
            <a:avLst/>
          </a:prstGeom>
          <a:solidFill>
            <a:srgbClr val="D96367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0" name="temporal_affinity_1_2"/>
          <p:cNvSpPr/>
          <p:nvPr/>
        </p:nvSpPr>
        <p:spPr>
          <a:xfrm>
            <a:off x="11041380" y="2918460"/>
            <a:ext cx="129540" cy="129540"/>
          </a:xfrm>
          <a:prstGeom prst="rect">
            <a:avLst/>
          </a:prstGeom>
          <a:solidFill>
            <a:srgbClr val="D96367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1" name="temporal_affinity_1_3"/>
          <p:cNvSpPr/>
          <p:nvPr/>
        </p:nvSpPr>
        <p:spPr>
          <a:xfrm>
            <a:off x="11178540" y="2918460"/>
            <a:ext cx="129540" cy="129540"/>
          </a:xfrm>
          <a:prstGeom prst="rect">
            <a:avLst/>
          </a:prstGeom>
          <a:solidFill>
            <a:srgbClr val="E77D80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2" name="temporal_affinity_1_4"/>
          <p:cNvSpPr/>
          <p:nvPr/>
        </p:nvSpPr>
        <p:spPr>
          <a:xfrm>
            <a:off x="11315700" y="2918460"/>
            <a:ext cx="129540" cy="129540"/>
          </a:xfrm>
          <a:prstGeom prst="rect">
            <a:avLst/>
          </a:prstGeom>
          <a:solidFill>
            <a:srgbClr val="EEA3A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3" name="temporal_affinity_1_5"/>
          <p:cNvSpPr/>
          <p:nvPr/>
        </p:nvSpPr>
        <p:spPr>
          <a:xfrm>
            <a:off x="11452860" y="2918460"/>
            <a:ext cx="129540" cy="129540"/>
          </a:xfrm>
          <a:prstGeom prst="rect">
            <a:avLst/>
          </a:prstGeom>
          <a:solidFill>
            <a:srgbClr val="D96367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4" name="temporal_affinity_2_0"/>
          <p:cNvSpPr/>
          <p:nvPr/>
        </p:nvSpPr>
        <p:spPr>
          <a:xfrm>
            <a:off x="10767060" y="3055620"/>
            <a:ext cx="129540" cy="129540"/>
          </a:xfrm>
          <a:prstGeom prst="rect">
            <a:avLst/>
          </a:prstGeom>
          <a:solidFill>
            <a:srgbClr val="E77D80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5" name="temporal_affinity_2_1"/>
          <p:cNvSpPr/>
          <p:nvPr/>
        </p:nvSpPr>
        <p:spPr>
          <a:xfrm>
            <a:off x="10904220" y="3055620"/>
            <a:ext cx="129540" cy="129540"/>
          </a:xfrm>
          <a:prstGeom prst="rect">
            <a:avLst/>
          </a:prstGeom>
          <a:solidFill>
            <a:srgbClr val="D96367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6" name="temporal_affinity_2_2"/>
          <p:cNvSpPr/>
          <p:nvPr/>
        </p:nvSpPr>
        <p:spPr>
          <a:xfrm>
            <a:off x="11041380" y="3055620"/>
            <a:ext cx="129540" cy="129540"/>
          </a:xfrm>
          <a:prstGeom prst="rect">
            <a:avLst/>
          </a:prstGeom>
          <a:solidFill>
            <a:srgbClr val="EEA3A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7" name="temporal_affinity_2_3"/>
          <p:cNvSpPr/>
          <p:nvPr/>
        </p:nvSpPr>
        <p:spPr>
          <a:xfrm>
            <a:off x="11178540" y="3055620"/>
            <a:ext cx="129540" cy="129540"/>
          </a:xfrm>
          <a:prstGeom prst="rect">
            <a:avLst/>
          </a:prstGeom>
          <a:solidFill>
            <a:srgbClr val="EEA3A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8" name="temporal_affinity_2_4"/>
          <p:cNvSpPr/>
          <p:nvPr/>
        </p:nvSpPr>
        <p:spPr>
          <a:xfrm>
            <a:off x="11315700" y="3055620"/>
            <a:ext cx="129540" cy="129540"/>
          </a:xfrm>
          <a:prstGeom prst="rect">
            <a:avLst/>
          </a:prstGeom>
          <a:solidFill>
            <a:srgbClr val="E77D80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9" name="temporal_affinity_2_5"/>
          <p:cNvSpPr/>
          <p:nvPr/>
        </p:nvSpPr>
        <p:spPr>
          <a:xfrm>
            <a:off x="11452860" y="3055620"/>
            <a:ext cx="129540" cy="129540"/>
          </a:xfrm>
          <a:prstGeom prst="rect">
            <a:avLst/>
          </a:prstGeom>
          <a:solidFill>
            <a:srgbClr val="EEA3A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0" name="temporal_affinity_3_0"/>
          <p:cNvSpPr/>
          <p:nvPr/>
        </p:nvSpPr>
        <p:spPr>
          <a:xfrm>
            <a:off x="10767060" y="3192780"/>
            <a:ext cx="129540" cy="129540"/>
          </a:xfrm>
          <a:prstGeom prst="rect">
            <a:avLst/>
          </a:prstGeom>
          <a:solidFill>
            <a:srgbClr val="D96367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1" name="temporal_affinity_3_1"/>
          <p:cNvSpPr/>
          <p:nvPr/>
        </p:nvSpPr>
        <p:spPr>
          <a:xfrm>
            <a:off x="10904220" y="3192780"/>
            <a:ext cx="129540" cy="129540"/>
          </a:xfrm>
          <a:prstGeom prst="rect">
            <a:avLst/>
          </a:prstGeom>
          <a:solidFill>
            <a:srgbClr val="EEA3A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2" name="temporal_affinity_3_2"/>
          <p:cNvSpPr/>
          <p:nvPr/>
        </p:nvSpPr>
        <p:spPr>
          <a:xfrm>
            <a:off x="11041380" y="3192780"/>
            <a:ext cx="129540" cy="129540"/>
          </a:xfrm>
          <a:prstGeom prst="rect">
            <a:avLst/>
          </a:prstGeom>
          <a:solidFill>
            <a:srgbClr val="EEA3A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3" name="temporal_affinity_3_3"/>
          <p:cNvSpPr/>
          <p:nvPr/>
        </p:nvSpPr>
        <p:spPr>
          <a:xfrm>
            <a:off x="11178540" y="3192780"/>
            <a:ext cx="129540" cy="129540"/>
          </a:xfrm>
          <a:prstGeom prst="rect">
            <a:avLst/>
          </a:prstGeom>
          <a:solidFill>
            <a:srgbClr val="D96367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4" name="temporal_affinity_3_4"/>
          <p:cNvSpPr/>
          <p:nvPr/>
        </p:nvSpPr>
        <p:spPr>
          <a:xfrm>
            <a:off x="11315700" y="3192780"/>
            <a:ext cx="129540" cy="129540"/>
          </a:xfrm>
          <a:prstGeom prst="rect">
            <a:avLst/>
          </a:prstGeom>
          <a:solidFill>
            <a:srgbClr val="EEA3A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5" name="temporal_affinity_3_5"/>
          <p:cNvSpPr/>
          <p:nvPr/>
        </p:nvSpPr>
        <p:spPr>
          <a:xfrm>
            <a:off x="11452860" y="3192780"/>
            <a:ext cx="129540" cy="129540"/>
          </a:xfrm>
          <a:prstGeom prst="rect">
            <a:avLst/>
          </a:prstGeom>
          <a:solidFill>
            <a:srgbClr val="E77D80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6" name="temporal_affinity_4_0"/>
          <p:cNvSpPr/>
          <p:nvPr/>
        </p:nvSpPr>
        <p:spPr>
          <a:xfrm>
            <a:off x="10767060" y="3329940"/>
            <a:ext cx="129540" cy="129540"/>
          </a:xfrm>
          <a:prstGeom prst="rect">
            <a:avLst/>
          </a:prstGeom>
          <a:solidFill>
            <a:srgbClr val="EEA3A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7" name="temporal_affinity_4_1"/>
          <p:cNvSpPr/>
          <p:nvPr/>
        </p:nvSpPr>
        <p:spPr>
          <a:xfrm>
            <a:off x="10904220" y="3329940"/>
            <a:ext cx="129540" cy="129540"/>
          </a:xfrm>
          <a:prstGeom prst="rect">
            <a:avLst/>
          </a:prstGeom>
          <a:solidFill>
            <a:srgbClr val="D96367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8" name="temporal_affinity_4_2"/>
          <p:cNvSpPr/>
          <p:nvPr/>
        </p:nvSpPr>
        <p:spPr>
          <a:xfrm>
            <a:off x="11041380" y="3329940"/>
            <a:ext cx="129540" cy="129540"/>
          </a:xfrm>
          <a:prstGeom prst="rect">
            <a:avLst/>
          </a:prstGeom>
          <a:solidFill>
            <a:srgbClr val="E77D80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9" name="temporal_affinity_4_3"/>
          <p:cNvSpPr/>
          <p:nvPr/>
        </p:nvSpPr>
        <p:spPr>
          <a:xfrm>
            <a:off x="11178540" y="3329940"/>
            <a:ext cx="129540" cy="129540"/>
          </a:xfrm>
          <a:prstGeom prst="rect">
            <a:avLst/>
          </a:prstGeom>
          <a:solidFill>
            <a:srgbClr val="EEA3A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0" name="temporal_affinity_4_4"/>
          <p:cNvSpPr/>
          <p:nvPr/>
        </p:nvSpPr>
        <p:spPr>
          <a:xfrm>
            <a:off x="11315700" y="3329940"/>
            <a:ext cx="129540" cy="129540"/>
          </a:xfrm>
          <a:prstGeom prst="rect">
            <a:avLst/>
          </a:prstGeom>
          <a:solidFill>
            <a:srgbClr val="E77D80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1" name="temporal_affinity_4_5"/>
          <p:cNvSpPr/>
          <p:nvPr/>
        </p:nvSpPr>
        <p:spPr>
          <a:xfrm>
            <a:off x="11452860" y="3329940"/>
            <a:ext cx="129540" cy="129540"/>
          </a:xfrm>
          <a:prstGeom prst="rect">
            <a:avLst/>
          </a:prstGeom>
          <a:solidFill>
            <a:srgbClr val="D96367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2" name="temporal_affinity_flame_outer"/>
          <p:cNvSpPr/>
          <p:nvPr/>
        </p:nvSpPr>
        <p:spPr>
          <a:xfrm>
            <a:off x="11452860" y="3253740"/>
            <a:ext cx="106680" cy="167640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7" y="0"/>
                </a:moveTo>
                <a:lnTo>
                  <a:pt x="5" y="7"/>
                </a:lnTo>
                <a:lnTo>
                  <a:pt x="0" y="11"/>
                </a:lnTo>
                <a:lnTo>
                  <a:pt x="1" y="17"/>
                </a:lnTo>
                <a:lnTo>
                  <a:pt x="7" y="22"/>
                </a:lnTo>
                <a:lnTo>
                  <a:pt x="14" y="17"/>
                </a:lnTo>
                <a:lnTo>
                  <a:pt x="12" y="11"/>
                </a:lnTo>
                <a:lnTo>
                  <a:pt x="9" y="5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3" name="temporal_affinity_flame_inner"/>
          <p:cNvSpPr/>
          <p:nvPr/>
        </p:nvSpPr>
        <p:spPr>
          <a:xfrm>
            <a:off x="11483340" y="3314700"/>
            <a:ext cx="45720" cy="9144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3" y="0"/>
                </a:moveTo>
                <a:lnTo>
                  <a:pt x="0" y="5"/>
                </a:lnTo>
                <a:lnTo>
                  <a:pt x="1" y="10"/>
                </a:lnTo>
                <a:lnTo>
                  <a:pt x="3" y="12"/>
                </a:lnTo>
                <a:lnTo>
                  <a:pt x="6" y="8"/>
                </a:lnTo>
                <a:lnTo>
                  <a:pt x="5" y="5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4" name="text_712"/>
          <p:cNvSpPr txBox="1"/>
          <p:nvPr/>
        </p:nvSpPr>
        <p:spPr>
          <a:xfrm>
            <a:off x="10675620" y="3406140"/>
            <a:ext cx="1143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erif"/>
              </a:defRPr>
            </a:pPr>
            <a:r>
              <a:t>Temporal Affinity</a:t>
            </a:r>
          </a:p>
        </p:txBody>
      </p:sp>
      <p:sp>
        <p:nvSpPr>
          <p:cNvPr id="715" name="rich_713"/>
          <p:cNvSpPr txBox="1"/>
          <p:nvPr/>
        </p:nvSpPr>
        <p:spPr>
          <a:xfrm>
            <a:off x="11620500" y="3086100"/>
            <a:ext cx="3048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161616"/>
                </a:solidFill>
                <a:latin typeface="Liberation Serif"/>
              </a:rPr>
              <a:t>S</a:t>
            </a:r>
            <a:r>
              <a:rPr sz="816" b="0" i="1" baseline="-22000">
                <a:solidFill>
                  <a:srgbClr val="161616"/>
                </a:solidFill>
                <a:latin typeface="Liberation Serif"/>
              </a:rPr>
              <a:t>t</a:t>
            </a:r>
          </a:p>
        </p:txBody>
      </p:sp>
      <p:sp>
        <p:nvSpPr>
          <p:cNvPr id="716" name="temporal_bracket_l"/>
          <p:cNvSpPr/>
          <p:nvPr/>
        </p:nvSpPr>
        <p:spPr>
          <a:xfrm>
            <a:off x="11887200" y="2811780"/>
            <a:ext cx="60960" cy="693420"/>
          </a:xfrm>
          <a:custGeom>
            <a:avLst/>
            <a:gdLst/>
            <a:ahLst/>
            <a:cxnLst/>
            <a:rect l="l" t="t" r="r" b="b"/>
            <a:pathLst>
              <a:path w="8" h="91">
                <a:moveTo>
                  <a:pt x="8" y="0"/>
                </a:moveTo>
                <a:lnTo>
                  <a:pt x="0" y="0"/>
                </a:lnTo>
                <a:lnTo>
                  <a:pt x="0" y="91"/>
                </a:lnTo>
                <a:lnTo>
                  <a:pt x="8" y="91"/>
                </a:lnTo>
              </a:path>
            </a:pathLst>
          </a:custGeom>
          <a:noFill/>
          <a:ln w="990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7" name="temporal_bracket_r"/>
          <p:cNvSpPr/>
          <p:nvPr/>
        </p:nvSpPr>
        <p:spPr>
          <a:xfrm>
            <a:off x="12344400" y="2811780"/>
            <a:ext cx="60960" cy="693420"/>
          </a:xfrm>
          <a:custGeom>
            <a:avLst/>
            <a:gdLst/>
            <a:ahLst/>
            <a:cxnLst/>
            <a:rect l="l" t="t" r="r" b="b"/>
            <a:pathLst>
              <a:path w="8" h="91">
                <a:moveTo>
                  <a:pt x="0" y="0"/>
                </a:moveTo>
                <a:lnTo>
                  <a:pt x="8" y="0"/>
                </a:lnTo>
                <a:lnTo>
                  <a:pt x="8" y="91"/>
                </a:lnTo>
                <a:lnTo>
                  <a:pt x="0" y="91"/>
                </a:lnTo>
              </a:path>
            </a:pathLst>
          </a:custGeom>
          <a:noFill/>
          <a:ln w="990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8" name="temporal_en"/>
          <p:cNvSpPr/>
          <p:nvPr/>
        </p:nvSpPr>
        <p:spPr>
          <a:xfrm>
            <a:off x="11948160" y="2849880"/>
            <a:ext cx="434340" cy="236219"/>
          </a:xfrm>
          <a:prstGeom prst="rect">
            <a:avLst/>
          </a:prstGeom>
          <a:solidFill>
            <a:srgbClr val="FFFFFF"/>
          </a:solidFill>
          <a:ln w="914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9" name="temporal_en_cell_0"/>
          <p:cNvSpPr/>
          <p:nvPr/>
        </p:nvSpPr>
        <p:spPr>
          <a:xfrm>
            <a:off x="11986260" y="2887980"/>
            <a:ext cx="104140" cy="160020"/>
          </a:xfrm>
          <a:prstGeom prst="rect">
            <a:avLst/>
          </a:prstGeom>
          <a:solidFill>
            <a:srgbClr val="8752AD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0" name="temporal_en_cell_1"/>
          <p:cNvSpPr/>
          <p:nvPr/>
        </p:nvSpPr>
        <p:spPr>
          <a:xfrm>
            <a:off x="12113260" y="2887980"/>
            <a:ext cx="104140" cy="160020"/>
          </a:xfrm>
          <a:prstGeom prst="rect">
            <a:avLst/>
          </a:prstGeom>
          <a:solidFill>
            <a:srgbClr val="E39A9C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1" name="temporal_en_cell_2"/>
          <p:cNvSpPr/>
          <p:nvPr/>
        </p:nvSpPr>
        <p:spPr>
          <a:xfrm>
            <a:off x="12240260" y="2887980"/>
            <a:ext cx="104140" cy="160020"/>
          </a:xfrm>
          <a:prstGeom prst="rect">
            <a:avLst/>
          </a:prstGeom>
          <a:solidFill>
            <a:srgbClr val="8752AD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2" name="text_720"/>
          <p:cNvSpPr txBox="1"/>
          <p:nvPr/>
        </p:nvSpPr>
        <p:spPr>
          <a:xfrm>
            <a:off x="11948160" y="3124200"/>
            <a:ext cx="4343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61616"/>
                </a:solidFill>
                <a:latin typeface="Liberation Serif"/>
              </a:defRPr>
            </a:pPr>
            <a:r>
              <a:t>Eₙ ⊗ Hₛₜ</a:t>
            </a:r>
          </a:p>
        </p:txBody>
      </p:sp>
      <p:sp>
        <p:nvSpPr>
          <p:cNvPr id="723" name="temporal_hst"/>
          <p:cNvSpPr/>
          <p:nvPr/>
        </p:nvSpPr>
        <p:spPr>
          <a:xfrm>
            <a:off x="11948160" y="3299460"/>
            <a:ext cx="434340" cy="236219"/>
          </a:xfrm>
          <a:prstGeom prst="rect">
            <a:avLst/>
          </a:prstGeom>
          <a:solidFill>
            <a:srgbClr val="FFFFFF"/>
          </a:solidFill>
          <a:ln w="914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4" name="temporal_hst_cell_0"/>
          <p:cNvSpPr/>
          <p:nvPr/>
        </p:nvSpPr>
        <p:spPr>
          <a:xfrm>
            <a:off x="11986260" y="3337560"/>
            <a:ext cx="104140" cy="16002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5" name="temporal_hst_cell_1"/>
          <p:cNvSpPr/>
          <p:nvPr/>
        </p:nvSpPr>
        <p:spPr>
          <a:xfrm>
            <a:off x="12113260" y="3337560"/>
            <a:ext cx="104140" cy="16002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6" name="temporal_hst_cell_2"/>
          <p:cNvSpPr/>
          <p:nvPr/>
        </p:nvSpPr>
        <p:spPr>
          <a:xfrm>
            <a:off x="12240260" y="3337560"/>
            <a:ext cx="104140" cy="16002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7" name="lagged_affinity_0_0"/>
          <p:cNvSpPr/>
          <p:nvPr/>
        </p:nvSpPr>
        <p:spPr>
          <a:xfrm>
            <a:off x="12656820" y="2781300"/>
            <a:ext cx="129540" cy="129540"/>
          </a:xfrm>
          <a:prstGeom prst="rect">
            <a:avLst/>
          </a:prstGeom>
          <a:solidFill>
            <a:srgbClr val="789BD0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8" name="lagged_affinity_0_1"/>
          <p:cNvSpPr/>
          <p:nvPr/>
        </p:nvSpPr>
        <p:spPr>
          <a:xfrm>
            <a:off x="12793980" y="2781300"/>
            <a:ext cx="129540" cy="129540"/>
          </a:xfrm>
          <a:prstGeom prst="rect">
            <a:avLst/>
          </a:prstGeom>
          <a:solidFill>
            <a:srgbClr val="8FAEDF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9" name="lagged_affinity_0_2"/>
          <p:cNvSpPr/>
          <p:nvPr/>
        </p:nvSpPr>
        <p:spPr>
          <a:xfrm>
            <a:off x="12931140" y="2781300"/>
            <a:ext cx="129540" cy="129540"/>
          </a:xfrm>
          <a:prstGeom prst="rect">
            <a:avLst/>
          </a:prstGeom>
          <a:solidFill>
            <a:srgbClr val="8FAEDF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0" name="lagged_affinity_0_3"/>
          <p:cNvSpPr/>
          <p:nvPr/>
        </p:nvSpPr>
        <p:spPr>
          <a:xfrm>
            <a:off x="13068300" y="2781300"/>
            <a:ext cx="129540" cy="129540"/>
          </a:xfrm>
          <a:prstGeom prst="rect">
            <a:avLst/>
          </a:prstGeom>
          <a:solidFill>
            <a:srgbClr val="789BD0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1" name="lagged_affinity_0_4"/>
          <p:cNvSpPr/>
          <p:nvPr/>
        </p:nvSpPr>
        <p:spPr>
          <a:xfrm>
            <a:off x="13205460" y="2781300"/>
            <a:ext cx="129540" cy="129540"/>
          </a:xfrm>
          <a:prstGeom prst="rect">
            <a:avLst/>
          </a:prstGeom>
          <a:solidFill>
            <a:srgbClr val="8FAEDF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2" name="lagged_affinity_0_5"/>
          <p:cNvSpPr/>
          <p:nvPr/>
        </p:nvSpPr>
        <p:spPr>
          <a:xfrm>
            <a:off x="13342620" y="2781300"/>
            <a:ext cx="129540" cy="129540"/>
          </a:xfrm>
          <a:prstGeom prst="rect">
            <a:avLst/>
          </a:prstGeom>
          <a:solidFill>
            <a:srgbClr val="8FAEDF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3" name="lagged_affinity_1_0"/>
          <p:cNvSpPr/>
          <p:nvPr/>
        </p:nvSpPr>
        <p:spPr>
          <a:xfrm>
            <a:off x="12656820" y="2918460"/>
            <a:ext cx="129540" cy="129540"/>
          </a:xfrm>
          <a:prstGeom prst="rect">
            <a:avLst/>
          </a:prstGeom>
          <a:solidFill>
            <a:srgbClr val="8FAEDF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4" name="lagged_affinity_1_1"/>
          <p:cNvSpPr/>
          <p:nvPr/>
        </p:nvSpPr>
        <p:spPr>
          <a:xfrm>
            <a:off x="12793980" y="2918460"/>
            <a:ext cx="129540" cy="129540"/>
          </a:xfrm>
          <a:prstGeom prst="rect">
            <a:avLst/>
          </a:prstGeom>
          <a:solidFill>
            <a:srgbClr val="8FAEDF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5" name="lagged_affinity_1_2"/>
          <p:cNvSpPr/>
          <p:nvPr/>
        </p:nvSpPr>
        <p:spPr>
          <a:xfrm>
            <a:off x="12931140" y="2918460"/>
            <a:ext cx="129540" cy="129540"/>
          </a:xfrm>
          <a:prstGeom prst="rect">
            <a:avLst/>
          </a:prstGeom>
          <a:solidFill>
            <a:srgbClr val="789BD0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6" name="lagged_affinity_1_3"/>
          <p:cNvSpPr/>
          <p:nvPr/>
        </p:nvSpPr>
        <p:spPr>
          <a:xfrm>
            <a:off x="13068300" y="2918460"/>
            <a:ext cx="129540" cy="129540"/>
          </a:xfrm>
          <a:prstGeom prst="rect">
            <a:avLst/>
          </a:prstGeom>
          <a:solidFill>
            <a:srgbClr val="789BD0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7" name="lagged_affinity_1_4"/>
          <p:cNvSpPr/>
          <p:nvPr/>
        </p:nvSpPr>
        <p:spPr>
          <a:xfrm>
            <a:off x="13205460" y="2918460"/>
            <a:ext cx="129540" cy="129540"/>
          </a:xfrm>
          <a:prstGeom prst="rect">
            <a:avLst/>
          </a:prstGeom>
          <a:solidFill>
            <a:srgbClr val="A7C0E6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8" name="lagged_affinity_1_5"/>
          <p:cNvSpPr/>
          <p:nvPr/>
        </p:nvSpPr>
        <p:spPr>
          <a:xfrm>
            <a:off x="13342620" y="2918460"/>
            <a:ext cx="129540" cy="129540"/>
          </a:xfrm>
          <a:prstGeom prst="rect">
            <a:avLst/>
          </a:prstGeom>
          <a:solidFill>
            <a:srgbClr val="789BD0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9" name="lagged_affinity_2_0"/>
          <p:cNvSpPr/>
          <p:nvPr/>
        </p:nvSpPr>
        <p:spPr>
          <a:xfrm>
            <a:off x="12656820" y="3055620"/>
            <a:ext cx="129540" cy="129540"/>
          </a:xfrm>
          <a:prstGeom prst="rect">
            <a:avLst/>
          </a:prstGeom>
          <a:solidFill>
            <a:srgbClr val="A7C0E6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0" name="lagged_affinity_2_1"/>
          <p:cNvSpPr/>
          <p:nvPr/>
        </p:nvSpPr>
        <p:spPr>
          <a:xfrm>
            <a:off x="12793980" y="3055620"/>
            <a:ext cx="129540" cy="129540"/>
          </a:xfrm>
          <a:prstGeom prst="rect">
            <a:avLst/>
          </a:prstGeom>
          <a:solidFill>
            <a:srgbClr val="A7C0E6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1" name="lagged_affinity_2_2"/>
          <p:cNvSpPr/>
          <p:nvPr/>
        </p:nvSpPr>
        <p:spPr>
          <a:xfrm>
            <a:off x="12931140" y="3055620"/>
            <a:ext cx="129540" cy="129540"/>
          </a:xfrm>
          <a:prstGeom prst="rect">
            <a:avLst/>
          </a:prstGeom>
          <a:solidFill>
            <a:srgbClr val="A7C0E6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2" name="lagged_affinity_2_3"/>
          <p:cNvSpPr/>
          <p:nvPr/>
        </p:nvSpPr>
        <p:spPr>
          <a:xfrm>
            <a:off x="13068300" y="3055620"/>
            <a:ext cx="129540" cy="129540"/>
          </a:xfrm>
          <a:prstGeom prst="rect">
            <a:avLst/>
          </a:prstGeom>
          <a:solidFill>
            <a:srgbClr val="A7C0E6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3" name="lagged_affinity_2_4"/>
          <p:cNvSpPr/>
          <p:nvPr/>
        </p:nvSpPr>
        <p:spPr>
          <a:xfrm>
            <a:off x="13205460" y="3055620"/>
            <a:ext cx="129540" cy="129540"/>
          </a:xfrm>
          <a:prstGeom prst="rect">
            <a:avLst/>
          </a:prstGeom>
          <a:solidFill>
            <a:srgbClr val="789BD0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4" name="lagged_affinity_2_5"/>
          <p:cNvSpPr/>
          <p:nvPr/>
        </p:nvSpPr>
        <p:spPr>
          <a:xfrm>
            <a:off x="13342620" y="3055620"/>
            <a:ext cx="129540" cy="129540"/>
          </a:xfrm>
          <a:prstGeom prst="rect">
            <a:avLst/>
          </a:prstGeom>
          <a:solidFill>
            <a:srgbClr val="789BD0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5" name="lagged_affinity_3_0"/>
          <p:cNvSpPr/>
          <p:nvPr/>
        </p:nvSpPr>
        <p:spPr>
          <a:xfrm>
            <a:off x="12656820" y="3192780"/>
            <a:ext cx="129540" cy="129540"/>
          </a:xfrm>
          <a:prstGeom prst="rect">
            <a:avLst/>
          </a:prstGeom>
          <a:solidFill>
            <a:srgbClr val="A7C0E6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6" name="lagged_affinity_3_1"/>
          <p:cNvSpPr/>
          <p:nvPr/>
        </p:nvSpPr>
        <p:spPr>
          <a:xfrm>
            <a:off x="12793980" y="3192780"/>
            <a:ext cx="129540" cy="129540"/>
          </a:xfrm>
          <a:prstGeom prst="rect">
            <a:avLst/>
          </a:prstGeom>
          <a:solidFill>
            <a:srgbClr val="8FAEDF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7" name="lagged_affinity_3_2"/>
          <p:cNvSpPr/>
          <p:nvPr/>
        </p:nvSpPr>
        <p:spPr>
          <a:xfrm>
            <a:off x="12931140" y="3192780"/>
            <a:ext cx="129540" cy="129540"/>
          </a:xfrm>
          <a:prstGeom prst="rect">
            <a:avLst/>
          </a:prstGeom>
          <a:solidFill>
            <a:srgbClr val="789BD0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8" name="lagged_affinity_3_3"/>
          <p:cNvSpPr/>
          <p:nvPr/>
        </p:nvSpPr>
        <p:spPr>
          <a:xfrm>
            <a:off x="13068300" y="3192780"/>
            <a:ext cx="129540" cy="129540"/>
          </a:xfrm>
          <a:prstGeom prst="rect">
            <a:avLst/>
          </a:prstGeom>
          <a:solidFill>
            <a:srgbClr val="A7C0E6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9" name="lagged_affinity_3_4"/>
          <p:cNvSpPr/>
          <p:nvPr/>
        </p:nvSpPr>
        <p:spPr>
          <a:xfrm>
            <a:off x="13205460" y="3192780"/>
            <a:ext cx="129540" cy="129540"/>
          </a:xfrm>
          <a:prstGeom prst="rect">
            <a:avLst/>
          </a:prstGeom>
          <a:solidFill>
            <a:srgbClr val="A7C0E6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0" name="lagged_affinity_3_5"/>
          <p:cNvSpPr/>
          <p:nvPr/>
        </p:nvSpPr>
        <p:spPr>
          <a:xfrm>
            <a:off x="13342620" y="3192780"/>
            <a:ext cx="129540" cy="129540"/>
          </a:xfrm>
          <a:prstGeom prst="rect">
            <a:avLst/>
          </a:prstGeom>
          <a:solidFill>
            <a:srgbClr val="A7C0E6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1" name="lagged_affinity_4_0"/>
          <p:cNvSpPr/>
          <p:nvPr/>
        </p:nvSpPr>
        <p:spPr>
          <a:xfrm>
            <a:off x="12656820" y="3329940"/>
            <a:ext cx="129540" cy="129540"/>
          </a:xfrm>
          <a:prstGeom prst="rect">
            <a:avLst/>
          </a:prstGeom>
          <a:solidFill>
            <a:srgbClr val="789BD0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2" name="lagged_affinity_4_1"/>
          <p:cNvSpPr/>
          <p:nvPr/>
        </p:nvSpPr>
        <p:spPr>
          <a:xfrm>
            <a:off x="12793980" y="3329940"/>
            <a:ext cx="129540" cy="129540"/>
          </a:xfrm>
          <a:prstGeom prst="rect">
            <a:avLst/>
          </a:prstGeom>
          <a:solidFill>
            <a:srgbClr val="789BD0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3" name="lagged_affinity_4_2"/>
          <p:cNvSpPr/>
          <p:nvPr/>
        </p:nvSpPr>
        <p:spPr>
          <a:xfrm>
            <a:off x="12931140" y="3329940"/>
            <a:ext cx="129540" cy="129540"/>
          </a:xfrm>
          <a:prstGeom prst="rect">
            <a:avLst/>
          </a:prstGeom>
          <a:solidFill>
            <a:srgbClr val="789BD0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4" name="lagged_affinity_4_3"/>
          <p:cNvSpPr/>
          <p:nvPr/>
        </p:nvSpPr>
        <p:spPr>
          <a:xfrm>
            <a:off x="13068300" y="3329940"/>
            <a:ext cx="129540" cy="129540"/>
          </a:xfrm>
          <a:prstGeom prst="rect">
            <a:avLst/>
          </a:prstGeom>
          <a:solidFill>
            <a:srgbClr val="A7C0E6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5" name="lagged_affinity_4_4"/>
          <p:cNvSpPr/>
          <p:nvPr/>
        </p:nvSpPr>
        <p:spPr>
          <a:xfrm>
            <a:off x="13205460" y="3329940"/>
            <a:ext cx="129540" cy="129540"/>
          </a:xfrm>
          <a:prstGeom prst="rect">
            <a:avLst/>
          </a:prstGeom>
          <a:solidFill>
            <a:srgbClr val="789BD0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6" name="lagged_affinity_4_5"/>
          <p:cNvSpPr/>
          <p:nvPr/>
        </p:nvSpPr>
        <p:spPr>
          <a:xfrm>
            <a:off x="13342620" y="3329940"/>
            <a:ext cx="129540" cy="129540"/>
          </a:xfrm>
          <a:prstGeom prst="rect">
            <a:avLst/>
          </a:prstGeom>
          <a:solidFill>
            <a:srgbClr val="A7C0E6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7" name="lagged_affinity_flame_outer"/>
          <p:cNvSpPr/>
          <p:nvPr/>
        </p:nvSpPr>
        <p:spPr>
          <a:xfrm>
            <a:off x="13350240" y="3253740"/>
            <a:ext cx="106680" cy="167640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7" y="0"/>
                </a:moveTo>
                <a:lnTo>
                  <a:pt x="4" y="7"/>
                </a:lnTo>
                <a:lnTo>
                  <a:pt x="0" y="11"/>
                </a:lnTo>
                <a:lnTo>
                  <a:pt x="1" y="17"/>
                </a:lnTo>
                <a:lnTo>
                  <a:pt x="7" y="22"/>
                </a:lnTo>
                <a:lnTo>
                  <a:pt x="14" y="17"/>
                </a:lnTo>
                <a:lnTo>
                  <a:pt x="12" y="11"/>
                </a:lnTo>
                <a:lnTo>
                  <a:pt x="8" y="5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8" name="lagged_affinity_flame_inner"/>
          <p:cNvSpPr/>
          <p:nvPr/>
        </p:nvSpPr>
        <p:spPr>
          <a:xfrm>
            <a:off x="13380720" y="3314700"/>
            <a:ext cx="45720" cy="9144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3" y="0"/>
                </a:moveTo>
                <a:lnTo>
                  <a:pt x="0" y="5"/>
                </a:lnTo>
                <a:lnTo>
                  <a:pt x="1" y="10"/>
                </a:lnTo>
                <a:lnTo>
                  <a:pt x="3" y="12"/>
                </a:lnTo>
                <a:lnTo>
                  <a:pt x="6" y="8"/>
                </a:lnTo>
                <a:lnTo>
                  <a:pt x="5" y="5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9" name="text_757"/>
          <p:cNvSpPr txBox="1"/>
          <p:nvPr/>
        </p:nvSpPr>
        <p:spPr>
          <a:xfrm>
            <a:off x="12565380" y="3406140"/>
            <a:ext cx="12192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erif"/>
              </a:defRPr>
            </a:pPr>
            <a:r>
              <a:t>Time-Lagged Affinity</a:t>
            </a:r>
          </a:p>
        </p:txBody>
      </p:sp>
      <p:sp>
        <p:nvSpPr>
          <p:cNvPr id="760" name="rich_758"/>
          <p:cNvSpPr txBox="1"/>
          <p:nvPr/>
        </p:nvSpPr>
        <p:spPr>
          <a:xfrm>
            <a:off x="13510260" y="3086100"/>
            <a:ext cx="3048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161616"/>
                </a:solidFill>
                <a:latin typeface="Liberation Serif"/>
              </a:rPr>
              <a:t>S</a:t>
            </a:r>
            <a:r>
              <a:rPr sz="816" b="0" i="1" baseline="-22000">
                <a:solidFill>
                  <a:srgbClr val="161616"/>
                </a:solidFill>
                <a:latin typeface="Liberation Serif"/>
              </a:rPr>
              <a:t>d</a:t>
            </a:r>
          </a:p>
        </p:txBody>
      </p:sp>
      <p:sp>
        <p:nvSpPr>
          <p:cNvPr id="761" name="lagged_bracket_l"/>
          <p:cNvSpPr/>
          <p:nvPr/>
        </p:nvSpPr>
        <p:spPr>
          <a:xfrm>
            <a:off x="13731240" y="2811780"/>
            <a:ext cx="60960" cy="693420"/>
          </a:xfrm>
          <a:custGeom>
            <a:avLst/>
            <a:gdLst/>
            <a:ahLst/>
            <a:cxnLst/>
            <a:rect l="l" t="t" r="r" b="b"/>
            <a:pathLst>
              <a:path w="8" h="91">
                <a:moveTo>
                  <a:pt x="8" y="0"/>
                </a:moveTo>
                <a:lnTo>
                  <a:pt x="0" y="0"/>
                </a:lnTo>
                <a:lnTo>
                  <a:pt x="0" y="91"/>
                </a:lnTo>
                <a:lnTo>
                  <a:pt x="8" y="91"/>
                </a:lnTo>
              </a:path>
            </a:pathLst>
          </a:custGeom>
          <a:noFill/>
          <a:ln w="990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2" name="lagged_bracket_r"/>
          <p:cNvSpPr/>
          <p:nvPr/>
        </p:nvSpPr>
        <p:spPr>
          <a:xfrm>
            <a:off x="14401800" y="2811780"/>
            <a:ext cx="60960" cy="693420"/>
          </a:xfrm>
          <a:custGeom>
            <a:avLst/>
            <a:gdLst/>
            <a:ahLst/>
            <a:cxnLst/>
            <a:rect l="l" t="t" r="r" b="b"/>
            <a:pathLst>
              <a:path w="8" h="91">
                <a:moveTo>
                  <a:pt x="0" y="0"/>
                </a:moveTo>
                <a:lnTo>
                  <a:pt x="8" y="0"/>
                </a:lnTo>
                <a:lnTo>
                  <a:pt x="8" y="91"/>
                </a:lnTo>
                <a:lnTo>
                  <a:pt x="0" y="91"/>
                </a:lnTo>
              </a:path>
            </a:pathLst>
          </a:custGeom>
          <a:noFill/>
          <a:ln w="990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3" name="lagged_stack_0"/>
          <p:cNvSpPr/>
          <p:nvPr/>
        </p:nvSpPr>
        <p:spPr>
          <a:xfrm>
            <a:off x="13830300" y="2834640"/>
            <a:ext cx="571500" cy="228600"/>
          </a:xfrm>
          <a:prstGeom prst="rect">
            <a:avLst/>
          </a:prstGeom>
          <a:solidFill>
            <a:srgbClr val="FFFFFF"/>
          </a:solidFill>
          <a:ln w="914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4" name="lagged_stack_0_cell_0"/>
          <p:cNvSpPr/>
          <p:nvPr/>
        </p:nvSpPr>
        <p:spPr>
          <a:xfrm>
            <a:off x="13868400" y="2872740"/>
            <a:ext cx="149860" cy="15240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5" name="lagged_stack_0_cell_1"/>
          <p:cNvSpPr/>
          <p:nvPr/>
        </p:nvSpPr>
        <p:spPr>
          <a:xfrm>
            <a:off x="14041120" y="2872740"/>
            <a:ext cx="149860" cy="15240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6" name="lagged_stack_0_cell_2"/>
          <p:cNvSpPr/>
          <p:nvPr/>
        </p:nvSpPr>
        <p:spPr>
          <a:xfrm>
            <a:off x="14213840" y="2872740"/>
            <a:ext cx="149860" cy="15240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7" name="lagged_stack_1"/>
          <p:cNvSpPr/>
          <p:nvPr/>
        </p:nvSpPr>
        <p:spPr>
          <a:xfrm>
            <a:off x="13883640" y="2872740"/>
            <a:ext cx="571500" cy="228600"/>
          </a:xfrm>
          <a:prstGeom prst="rect">
            <a:avLst/>
          </a:prstGeom>
          <a:solidFill>
            <a:srgbClr val="FFFFFF"/>
          </a:solidFill>
          <a:ln w="914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8" name="lagged_stack_1_cell_0"/>
          <p:cNvSpPr/>
          <p:nvPr/>
        </p:nvSpPr>
        <p:spPr>
          <a:xfrm>
            <a:off x="13921740" y="2910840"/>
            <a:ext cx="149860" cy="15240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9" name="lagged_stack_1_cell_1"/>
          <p:cNvSpPr/>
          <p:nvPr/>
        </p:nvSpPr>
        <p:spPr>
          <a:xfrm>
            <a:off x="14094460" y="2910840"/>
            <a:ext cx="149860" cy="15240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0" name="lagged_stack_1_cell_2"/>
          <p:cNvSpPr/>
          <p:nvPr/>
        </p:nvSpPr>
        <p:spPr>
          <a:xfrm>
            <a:off x="14267179" y="2910840"/>
            <a:ext cx="149860" cy="15240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1" name="lagged_stack_2"/>
          <p:cNvSpPr/>
          <p:nvPr/>
        </p:nvSpPr>
        <p:spPr>
          <a:xfrm>
            <a:off x="13936980" y="2910840"/>
            <a:ext cx="571500" cy="228600"/>
          </a:xfrm>
          <a:prstGeom prst="rect">
            <a:avLst/>
          </a:prstGeom>
          <a:solidFill>
            <a:srgbClr val="FFFFFF"/>
          </a:solidFill>
          <a:ln w="914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2" name="lagged_stack_2_cell_0"/>
          <p:cNvSpPr/>
          <p:nvPr/>
        </p:nvSpPr>
        <p:spPr>
          <a:xfrm>
            <a:off x="13975080" y="2948940"/>
            <a:ext cx="149860" cy="15240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3" name="lagged_stack_2_cell_1"/>
          <p:cNvSpPr/>
          <p:nvPr/>
        </p:nvSpPr>
        <p:spPr>
          <a:xfrm>
            <a:off x="14147800" y="2948940"/>
            <a:ext cx="149860" cy="15240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4" name="lagged_stack_2_cell_2"/>
          <p:cNvSpPr/>
          <p:nvPr/>
        </p:nvSpPr>
        <p:spPr>
          <a:xfrm>
            <a:off x="14320519" y="2948940"/>
            <a:ext cx="149860" cy="15240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5" name="rich_773"/>
          <p:cNvSpPr txBox="1"/>
          <p:nvPr/>
        </p:nvSpPr>
        <p:spPr>
          <a:xfrm>
            <a:off x="13776960" y="3124200"/>
            <a:ext cx="6705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80" b="0" i="1">
                <a:solidFill>
                  <a:srgbClr val="161616"/>
                </a:solidFill>
                <a:latin typeface="Liberation Serif"/>
              </a:rPr>
              <a:t>H</a:t>
            </a:r>
            <a:r>
              <a:rPr sz="719" b="0" i="1" baseline="30000">
                <a:solidFill>
                  <a:srgbClr val="161616"/>
                </a:solidFill>
                <a:latin typeface="Liberation Serif"/>
              </a:rPr>
              <a:t>t−δ</a:t>
            </a:r>
            <a:r>
              <a:rPr sz="719" b="0" i="1" baseline="-22000">
                <a:solidFill>
                  <a:srgbClr val="161616"/>
                </a:solidFill>
                <a:latin typeface="Liberation Serif"/>
              </a:rPr>
              <a:t>st</a:t>
            </a:r>
            <a:r>
              <a:rPr sz="1080" b="0" i="1">
                <a:solidFill>
                  <a:srgbClr val="161616"/>
                </a:solidFill>
                <a:latin typeface="Liberation Serif"/>
              </a:rPr>
              <a:t> ⊗ H</a:t>
            </a:r>
            <a:r>
              <a:rPr sz="719" b="0" i="1" baseline="-22000">
                <a:solidFill>
                  <a:srgbClr val="161616"/>
                </a:solidFill>
                <a:latin typeface="Liberation Serif"/>
              </a:rPr>
              <a:t>st</a:t>
            </a:r>
          </a:p>
        </p:txBody>
      </p:sp>
      <p:sp>
        <p:nvSpPr>
          <p:cNvPr id="776" name="lagged_hst"/>
          <p:cNvSpPr/>
          <p:nvPr/>
        </p:nvSpPr>
        <p:spPr>
          <a:xfrm>
            <a:off x="13807440" y="3329940"/>
            <a:ext cx="579120" cy="220980"/>
          </a:xfrm>
          <a:prstGeom prst="rect">
            <a:avLst/>
          </a:prstGeom>
          <a:solidFill>
            <a:srgbClr val="FFFFFF"/>
          </a:solidFill>
          <a:ln w="914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7" name="lagged_hst_cell_0"/>
          <p:cNvSpPr/>
          <p:nvPr/>
        </p:nvSpPr>
        <p:spPr>
          <a:xfrm>
            <a:off x="13845540" y="3368040"/>
            <a:ext cx="152400" cy="144780"/>
          </a:xfrm>
          <a:prstGeom prst="rect">
            <a:avLst/>
          </a:prstGeom>
          <a:solidFill>
            <a:srgbClr val="F6CA4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8" name="lagged_hst_cell_1"/>
          <p:cNvSpPr/>
          <p:nvPr/>
        </p:nvSpPr>
        <p:spPr>
          <a:xfrm>
            <a:off x="14020800" y="3368040"/>
            <a:ext cx="152400" cy="14478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9" name="lagged_hst_cell_2"/>
          <p:cNvSpPr/>
          <p:nvPr/>
        </p:nvSpPr>
        <p:spPr>
          <a:xfrm>
            <a:off x="14196060" y="3368040"/>
            <a:ext cx="152400" cy="144780"/>
          </a:xfrm>
          <a:prstGeom prst="rect">
            <a:avLst/>
          </a:prstGeom>
          <a:solidFill>
            <a:srgbClr val="91C574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0" name="rich_778"/>
          <p:cNvSpPr txBox="1"/>
          <p:nvPr/>
        </p:nvSpPr>
        <p:spPr>
          <a:xfrm>
            <a:off x="7490460" y="3863339"/>
            <a:ext cx="2590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60" b="0" i="1">
                <a:solidFill>
                  <a:srgbClr val="161616"/>
                </a:solidFill>
                <a:latin typeface="Liberation Serif"/>
              </a:rPr>
              <a:t>N</a:t>
            </a:r>
          </a:p>
        </p:txBody>
      </p:sp>
      <p:sp>
        <p:nvSpPr>
          <p:cNvPr id="781" name="aff_s_frac1_top"/>
          <p:cNvSpPr txBox="1"/>
          <p:nvPr/>
        </p:nvSpPr>
        <p:spPr>
          <a:xfrm>
            <a:off x="7703820" y="3802380"/>
            <a:ext cx="24384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20" b="0" i="1">
                <a:solidFill>
                  <a:srgbClr val="161616"/>
                </a:solidFill>
                <a:latin typeface="Liberation Serif"/>
              </a:defRPr>
            </a:pPr>
            <a:r>
              <a:t>|</a:t>
            </a:r>
          </a:p>
        </p:txBody>
      </p:sp>
      <p:sp>
        <p:nvSpPr>
          <p:cNvPr id="782" name="aff_s_frac1_bar"/>
          <p:cNvSpPr/>
          <p:nvPr/>
        </p:nvSpPr>
        <p:spPr>
          <a:xfrm>
            <a:off x="7749540" y="3970020"/>
            <a:ext cx="152400" cy="53340"/>
          </a:xfrm>
          <a:prstGeom prst="rect">
            <a:avLst/>
          </a:prstGeom>
          <a:solidFill>
            <a:srgbClr val="8752AD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3" name="aff_s_frac1_bottom"/>
          <p:cNvSpPr txBox="1"/>
          <p:nvPr/>
        </p:nvSpPr>
        <p:spPr>
          <a:xfrm>
            <a:off x="7703820" y="4023360"/>
            <a:ext cx="243840" cy="167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1">
                <a:solidFill>
                  <a:srgbClr val="161616"/>
                </a:solidFill>
                <a:latin typeface="Liberation Serif"/>
              </a:defRPr>
            </a:pPr>
            <a:r>
              <a:t>R</a:t>
            </a:r>
          </a:p>
        </p:txBody>
      </p:sp>
      <p:sp>
        <p:nvSpPr>
          <p:cNvPr id="784" name="text_782"/>
          <p:cNvSpPr txBox="1"/>
          <p:nvPr/>
        </p:nvSpPr>
        <p:spPr>
          <a:xfrm>
            <a:off x="7970520" y="3886200"/>
            <a:ext cx="19050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61616"/>
                </a:solidFill>
                <a:latin typeface="Liberation Sans"/>
              </a:defRPr>
            </a:pPr>
            <a:r>
              <a:t>×</a:t>
            </a:r>
          </a:p>
        </p:txBody>
      </p:sp>
      <p:sp>
        <p:nvSpPr>
          <p:cNvPr id="785" name="aff_s_dot"/>
          <p:cNvSpPr/>
          <p:nvPr/>
        </p:nvSpPr>
        <p:spPr>
          <a:xfrm>
            <a:off x="8199120" y="3863339"/>
            <a:ext cx="182880" cy="1828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6" name="text_784"/>
          <p:cNvSpPr txBox="1"/>
          <p:nvPr/>
        </p:nvSpPr>
        <p:spPr>
          <a:xfrm>
            <a:off x="8199120" y="3855720"/>
            <a:ext cx="1828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ans"/>
              </a:defRPr>
            </a:pPr>
            <a:r>
              <a:t>•</a:t>
            </a:r>
          </a:p>
        </p:txBody>
      </p:sp>
      <p:sp>
        <p:nvSpPr>
          <p:cNvPr id="787" name="rich_785"/>
          <p:cNvSpPr txBox="1"/>
          <p:nvPr/>
        </p:nvSpPr>
        <p:spPr>
          <a:xfrm>
            <a:off x="8420100" y="3863339"/>
            <a:ext cx="228600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60" b="0" i="1">
                <a:solidFill>
                  <a:srgbClr val="161616"/>
                </a:solidFill>
                <a:latin typeface="Liberation Serif"/>
              </a:rPr>
              <a:t>R</a:t>
            </a:r>
          </a:p>
        </p:txBody>
      </p:sp>
      <p:sp>
        <p:nvSpPr>
          <p:cNvPr id="788" name="aff_s_frac2_top"/>
          <p:cNvSpPr txBox="1"/>
          <p:nvPr/>
        </p:nvSpPr>
        <p:spPr>
          <a:xfrm>
            <a:off x="8595360" y="3802380"/>
            <a:ext cx="24384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20" b="0" i="1">
                <a:solidFill>
                  <a:srgbClr val="161616"/>
                </a:solidFill>
                <a:latin typeface="Liberation Serif"/>
              </a:defRPr>
            </a:pPr>
            <a:r>
              <a:t>|</a:t>
            </a:r>
          </a:p>
        </p:txBody>
      </p:sp>
      <p:sp>
        <p:nvSpPr>
          <p:cNvPr id="789" name="aff_s_frac2_bar"/>
          <p:cNvSpPr/>
          <p:nvPr/>
        </p:nvSpPr>
        <p:spPr>
          <a:xfrm>
            <a:off x="8641080" y="3970020"/>
            <a:ext cx="152400" cy="53340"/>
          </a:xfrm>
          <a:prstGeom prst="rect">
            <a:avLst/>
          </a:prstGeom>
          <a:solidFill>
            <a:srgbClr val="8752AD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0" name="aff_s_frac2_bottom"/>
          <p:cNvSpPr txBox="1"/>
          <p:nvPr/>
        </p:nvSpPr>
        <p:spPr>
          <a:xfrm>
            <a:off x="8595360" y="4023360"/>
            <a:ext cx="243840" cy="167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1">
                <a:solidFill>
                  <a:srgbClr val="161616"/>
                </a:solidFill>
                <a:latin typeface="Liberation Serif"/>
              </a:defRPr>
            </a:pPr>
            <a:r>
              <a:t>N</a:t>
            </a:r>
          </a:p>
        </p:txBody>
      </p:sp>
      <p:cxnSp>
        <p:nvCxnSpPr>
          <p:cNvPr id="791" name="aff_s_topk_arrow"/>
          <p:cNvCxnSpPr/>
          <p:nvPr/>
        </p:nvCxnSpPr>
        <p:spPr>
          <a:xfrm>
            <a:off x="8945880" y="3939540"/>
            <a:ext cx="175260" cy="0"/>
          </a:xfrm>
          <a:prstGeom prst="line">
            <a:avLst/>
          </a:prstGeom>
          <a:ln w="53340">
            <a:solidFill>
              <a:srgbClr val="D5D5D5"/>
            </a:solidFill>
            <a:tailEnd type="triangle" w="sm" len="sm"/>
          </a:ln>
        </p:spPr>
      </p:cxnSp>
      <p:sp>
        <p:nvSpPr>
          <p:cNvPr id="792" name="text_790"/>
          <p:cNvSpPr txBox="1"/>
          <p:nvPr/>
        </p:nvSpPr>
        <p:spPr>
          <a:xfrm>
            <a:off x="8846820" y="3787140"/>
            <a:ext cx="3429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8A8A8A"/>
                </a:solidFill>
                <a:latin typeface="Liberation Serif"/>
              </a:defRPr>
            </a:pPr>
            <a:r>
              <a:t>top-k</a:t>
            </a:r>
          </a:p>
        </p:txBody>
      </p:sp>
      <p:sp>
        <p:nvSpPr>
          <p:cNvPr id="793" name="aff_s_mask_0_0"/>
          <p:cNvSpPr/>
          <p:nvPr/>
        </p:nvSpPr>
        <p:spPr>
          <a:xfrm>
            <a:off x="8839200" y="38480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4" name="aff_s_mask_0_1"/>
          <p:cNvSpPr/>
          <p:nvPr/>
        </p:nvSpPr>
        <p:spPr>
          <a:xfrm>
            <a:off x="8953500" y="3848099"/>
            <a:ext cx="114300" cy="114300"/>
          </a:xfrm>
          <a:prstGeom prst="rect">
            <a:avLst/>
          </a:prstGeom>
          <a:solidFill>
            <a:srgbClr val="8752AD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5" name="aff_s_mask_0_2"/>
          <p:cNvSpPr/>
          <p:nvPr/>
        </p:nvSpPr>
        <p:spPr>
          <a:xfrm>
            <a:off x="9067800" y="3848099"/>
            <a:ext cx="114300" cy="114300"/>
          </a:xfrm>
          <a:prstGeom prst="rect">
            <a:avLst/>
          </a:prstGeom>
          <a:solidFill>
            <a:srgbClr val="8752AD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6" name="aff_s_mask_0_3"/>
          <p:cNvSpPr/>
          <p:nvPr/>
        </p:nvSpPr>
        <p:spPr>
          <a:xfrm>
            <a:off x="9182100" y="3848099"/>
            <a:ext cx="114300" cy="114300"/>
          </a:xfrm>
          <a:prstGeom prst="rect">
            <a:avLst/>
          </a:prstGeom>
          <a:solidFill>
            <a:srgbClr val="8752AD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7" name="aff_s_mask_0_4"/>
          <p:cNvSpPr/>
          <p:nvPr/>
        </p:nvSpPr>
        <p:spPr>
          <a:xfrm>
            <a:off x="9296400" y="38480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8" name="aff_s_mask_1_0"/>
          <p:cNvSpPr/>
          <p:nvPr/>
        </p:nvSpPr>
        <p:spPr>
          <a:xfrm>
            <a:off x="8839200" y="3962399"/>
            <a:ext cx="114300" cy="114300"/>
          </a:xfrm>
          <a:prstGeom prst="rect">
            <a:avLst/>
          </a:prstGeom>
          <a:solidFill>
            <a:srgbClr val="8752AD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9" name="aff_s_mask_1_1"/>
          <p:cNvSpPr/>
          <p:nvPr/>
        </p:nvSpPr>
        <p:spPr>
          <a:xfrm>
            <a:off x="8953500" y="3962399"/>
            <a:ext cx="114300" cy="114300"/>
          </a:xfrm>
          <a:prstGeom prst="rect">
            <a:avLst/>
          </a:prstGeom>
          <a:solidFill>
            <a:srgbClr val="8752AD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0" name="aff_s_mask_1_2"/>
          <p:cNvSpPr/>
          <p:nvPr/>
        </p:nvSpPr>
        <p:spPr>
          <a:xfrm>
            <a:off x="9067800" y="3962399"/>
            <a:ext cx="114300" cy="114300"/>
          </a:xfrm>
          <a:prstGeom prst="rect">
            <a:avLst/>
          </a:prstGeom>
          <a:solidFill>
            <a:srgbClr val="8752AD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1" name="aff_s_mask_1_3"/>
          <p:cNvSpPr/>
          <p:nvPr/>
        </p:nvSpPr>
        <p:spPr>
          <a:xfrm>
            <a:off x="9182100" y="3962399"/>
            <a:ext cx="114300" cy="114300"/>
          </a:xfrm>
          <a:prstGeom prst="rect">
            <a:avLst/>
          </a:prstGeom>
          <a:solidFill>
            <a:srgbClr val="8752AD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2" name="aff_s_mask_1_4"/>
          <p:cNvSpPr/>
          <p:nvPr/>
        </p:nvSpPr>
        <p:spPr>
          <a:xfrm>
            <a:off x="9296400" y="39623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3" name="aff_s_mask_2_0"/>
          <p:cNvSpPr/>
          <p:nvPr/>
        </p:nvSpPr>
        <p:spPr>
          <a:xfrm>
            <a:off x="8839200" y="40766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4" name="aff_s_mask_2_1"/>
          <p:cNvSpPr/>
          <p:nvPr/>
        </p:nvSpPr>
        <p:spPr>
          <a:xfrm>
            <a:off x="8953500" y="4076699"/>
            <a:ext cx="114300" cy="114300"/>
          </a:xfrm>
          <a:prstGeom prst="rect">
            <a:avLst/>
          </a:prstGeom>
          <a:solidFill>
            <a:srgbClr val="8752AD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5" name="aff_s_mask_2_2"/>
          <p:cNvSpPr/>
          <p:nvPr/>
        </p:nvSpPr>
        <p:spPr>
          <a:xfrm>
            <a:off x="9067800" y="4076699"/>
            <a:ext cx="114300" cy="114300"/>
          </a:xfrm>
          <a:prstGeom prst="rect">
            <a:avLst/>
          </a:prstGeom>
          <a:solidFill>
            <a:srgbClr val="8752AD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6" name="aff_s_mask_2_3"/>
          <p:cNvSpPr/>
          <p:nvPr/>
        </p:nvSpPr>
        <p:spPr>
          <a:xfrm>
            <a:off x="9182100" y="40766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7" name="aff_s_mask_2_4"/>
          <p:cNvSpPr/>
          <p:nvPr/>
        </p:nvSpPr>
        <p:spPr>
          <a:xfrm>
            <a:off x="9296400" y="4076699"/>
            <a:ext cx="114300" cy="114300"/>
          </a:xfrm>
          <a:prstGeom prst="rect">
            <a:avLst/>
          </a:prstGeom>
          <a:solidFill>
            <a:srgbClr val="8752AD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8" name="aff_s_mask_3_0"/>
          <p:cNvSpPr/>
          <p:nvPr/>
        </p:nvSpPr>
        <p:spPr>
          <a:xfrm>
            <a:off x="8839200" y="41909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9" name="aff_s_mask_3_1"/>
          <p:cNvSpPr/>
          <p:nvPr/>
        </p:nvSpPr>
        <p:spPr>
          <a:xfrm>
            <a:off x="8953500" y="41909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0" name="aff_s_mask_3_2"/>
          <p:cNvSpPr/>
          <p:nvPr/>
        </p:nvSpPr>
        <p:spPr>
          <a:xfrm>
            <a:off x="9067800" y="41909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1" name="aff_s_mask_3_3"/>
          <p:cNvSpPr/>
          <p:nvPr/>
        </p:nvSpPr>
        <p:spPr>
          <a:xfrm>
            <a:off x="9182100" y="4190999"/>
            <a:ext cx="114300" cy="114300"/>
          </a:xfrm>
          <a:prstGeom prst="rect">
            <a:avLst/>
          </a:prstGeom>
          <a:solidFill>
            <a:srgbClr val="8752AD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2" name="aff_s_mask_3_4"/>
          <p:cNvSpPr/>
          <p:nvPr/>
        </p:nvSpPr>
        <p:spPr>
          <a:xfrm>
            <a:off x="9296400" y="4190999"/>
            <a:ext cx="114300" cy="114300"/>
          </a:xfrm>
          <a:prstGeom prst="rect">
            <a:avLst/>
          </a:prstGeom>
          <a:solidFill>
            <a:srgbClr val="8752AD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3" name="aff_s_filter_token"/>
          <p:cNvSpPr/>
          <p:nvPr/>
        </p:nvSpPr>
        <p:spPr>
          <a:xfrm>
            <a:off x="7520940" y="4213860"/>
            <a:ext cx="365760" cy="182880"/>
          </a:xfrm>
          <a:prstGeom prst="rect">
            <a:avLst/>
          </a:prstGeom>
          <a:solidFill>
            <a:srgbClr val="FFFFFF"/>
          </a:solidFill>
          <a:ln w="914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4" name="aff_s_filter_token_cell_0"/>
          <p:cNvSpPr/>
          <p:nvPr/>
        </p:nvSpPr>
        <p:spPr>
          <a:xfrm>
            <a:off x="7559039" y="4251960"/>
            <a:ext cx="81279" cy="106680"/>
          </a:xfrm>
          <a:prstGeom prst="rect">
            <a:avLst/>
          </a:prstGeom>
          <a:solidFill>
            <a:srgbClr val="8752AD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5" name="aff_s_filter_token_cell_1"/>
          <p:cNvSpPr/>
          <p:nvPr/>
        </p:nvSpPr>
        <p:spPr>
          <a:xfrm>
            <a:off x="7663179" y="4251960"/>
            <a:ext cx="81279" cy="106680"/>
          </a:xfrm>
          <a:prstGeom prst="rect">
            <a:avLst/>
          </a:prstGeom>
          <a:solidFill>
            <a:srgbClr val="E59999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6" name="aff_s_filter_token_cell_2"/>
          <p:cNvSpPr/>
          <p:nvPr/>
        </p:nvSpPr>
        <p:spPr>
          <a:xfrm>
            <a:off x="7767320" y="4251960"/>
            <a:ext cx="81279" cy="10668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17" name="aff_s_filter_arrow"/>
          <p:cNvCxnSpPr/>
          <p:nvPr/>
        </p:nvCxnSpPr>
        <p:spPr>
          <a:xfrm>
            <a:off x="7924799" y="4305300"/>
            <a:ext cx="175260" cy="0"/>
          </a:xfrm>
          <a:prstGeom prst="line">
            <a:avLst/>
          </a:prstGeom>
          <a:ln w="7620">
            <a:solidFill>
              <a:srgbClr val="8A8A8A"/>
            </a:solidFill>
            <a:headEnd type="triangle" w="sm" len="sm"/>
          </a:ln>
        </p:spPr>
      </p:cxnSp>
      <p:sp>
        <p:nvSpPr>
          <p:cNvPr id="818" name="text_816"/>
          <p:cNvSpPr txBox="1"/>
          <p:nvPr/>
        </p:nvSpPr>
        <p:spPr>
          <a:xfrm>
            <a:off x="8092440" y="4198620"/>
            <a:ext cx="8001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8A8A8A"/>
                </a:solidFill>
                <a:latin typeface="Liberation Serif"/>
              </a:defRPr>
            </a:pPr>
            <a:r>
              <a:t>dynamic filter</a:t>
            </a:r>
          </a:p>
        </p:txBody>
      </p:sp>
      <p:sp>
        <p:nvSpPr>
          <p:cNvPr id="819" name="rich_817"/>
          <p:cNvSpPr txBox="1"/>
          <p:nvPr/>
        </p:nvSpPr>
        <p:spPr>
          <a:xfrm>
            <a:off x="8816340" y="4213860"/>
            <a:ext cx="594360" cy="205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40" b="0" i="1">
                <a:solidFill>
                  <a:srgbClr val="161616"/>
                </a:solidFill>
                <a:latin typeface="Liberation Serif"/>
              </a:rPr>
              <a:t>α</a:t>
            </a:r>
            <a:r>
              <a:rPr sz="780" b="0" i="1" baseline="-22000">
                <a:solidFill>
                  <a:srgbClr val="161616"/>
                </a:solidFill>
                <a:latin typeface="Liberation Serif"/>
              </a:rPr>
              <a:t>s</a:t>
            </a:r>
            <a:r>
              <a:rPr sz="1140" b="0" i="1">
                <a:solidFill>
                  <a:srgbClr val="161616"/>
                </a:solidFill>
                <a:latin typeface="Liberation Serif"/>
              </a:rPr>
              <a:t> M</a:t>
            </a:r>
            <a:r>
              <a:rPr sz="780" b="0" i="1" baseline="-22000">
                <a:solidFill>
                  <a:srgbClr val="161616"/>
                </a:solidFill>
                <a:latin typeface="Liberation Serif"/>
              </a:rPr>
              <a:t>s</a:t>
            </a:r>
          </a:p>
        </p:txBody>
      </p:sp>
      <p:sp>
        <p:nvSpPr>
          <p:cNvPr id="820" name="aff_s_flame_outer"/>
          <p:cNvSpPr/>
          <p:nvPr/>
        </p:nvSpPr>
        <p:spPr>
          <a:xfrm>
            <a:off x="9304020" y="4168140"/>
            <a:ext cx="106680" cy="167640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7" y="0"/>
                </a:moveTo>
                <a:lnTo>
                  <a:pt x="5" y="7"/>
                </a:lnTo>
                <a:lnTo>
                  <a:pt x="0" y="11"/>
                </a:lnTo>
                <a:lnTo>
                  <a:pt x="1" y="17"/>
                </a:lnTo>
                <a:lnTo>
                  <a:pt x="7" y="22"/>
                </a:lnTo>
                <a:lnTo>
                  <a:pt x="14" y="17"/>
                </a:lnTo>
                <a:lnTo>
                  <a:pt x="12" y="11"/>
                </a:lnTo>
                <a:lnTo>
                  <a:pt x="9" y="5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1" name="aff_s_flame_inner"/>
          <p:cNvSpPr/>
          <p:nvPr/>
        </p:nvSpPr>
        <p:spPr>
          <a:xfrm>
            <a:off x="9334500" y="4229100"/>
            <a:ext cx="45720" cy="9144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3" y="0"/>
                </a:moveTo>
                <a:lnTo>
                  <a:pt x="0" y="5"/>
                </a:lnTo>
                <a:lnTo>
                  <a:pt x="1" y="10"/>
                </a:lnTo>
                <a:lnTo>
                  <a:pt x="3" y="12"/>
                </a:lnTo>
                <a:lnTo>
                  <a:pt x="6" y="8"/>
                </a:lnTo>
                <a:lnTo>
                  <a:pt x="5" y="5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2" name="rich_820"/>
          <p:cNvSpPr txBox="1"/>
          <p:nvPr/>
        </p:nvSpPr>
        <p:spPr>
          <a:xfrm>
            <a:off x="9906000" y="3863339"/>
            <a:ext cx="2590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60" b="0" i="1">
                <a:solidFill>
                  <a:srgbClr val="161616"/>
                </a:solidFill>
                <a:latin typeface="Liberation Serif"/>
              </a:rPr>
              <a:t>N</a:t>
            </a:r>
          </a:p>
        </p:txBody>
      </p:sp>
      <p:sp>
        <p:nvSpPr>
          <p:cNvPr id="823" name="aff_t_frac1_top"/>
          <p:cNvSpPr txBox="1"/>
          <p:nvPr/>
        </p:nvSpPr>
        <p:spPr>
          <a:xfrm>
            <a:off x="10119360" y="3802380"/>
            <a:ext cx="24384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20" b="0" i="1">
                <a:solidFill>
                  <a:srgbClr val="161616"/>
                </a:solidFill>
                <a:latin typeface="Liberation Serif"/>
              </a:defRPr>
            </a:pPr>
            <a:r>
              <a:t>|</a:t>
            </a:r>
          </a:p>
        </p:txBody>
      </p:sp>
      <p:sp>
        <p:nvSpPr>
          <p:cNvPr id="824" name="aff_t_frac1_bar"/>
          <p:cNvSpPr/>
          <p:nvPr/>
        </p:nvSpPr>
        <p:spPr>
          <a:xfrm>
            <a:off x="10165080" y="3970020"/>
            <a:ext cx="152400" cy="53340"/>
          </a:xfrm>
          <a:prstGeom prst="rect">
            <a:avLst/>
          </a:prstGeom>
          <a:solidFill>
            <a:srgbClr val="DF7476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5" name="aff_t_frac1_bottom"/>
          <p:cNvSpPr txBox="1"/>
          <p:nvPr/>
        </p:nvSpPr>
        <p:spPr>
          <a:xfrm>
            <a:off x="10119360" y="4023360"/>
            <a:ext cx="243840" cy="167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1">
                <a:solidFill>
                  <a:srgbClr val="161616"/>
                </a:solidFill>
                <a:latin typeface="Liberation Serif"/>
              </a:defRPr>
            </a:pPr>
            <a:r>
              <a:t>R</a:t>
            </a:r>
          </a:p>
        </p:txBody>
      </p:sp>
      <p:sp>
        <p:nvSpPr>
          <p:cNvPr id="826" name="text_824"/>
          <p:cNvSpPr txBox="1"/>
          <p:nvPr/>
        </p:nvSpPr>
        <p:spPr>
          <a:xfrm>
            <a:off x="10386060" y="3886200"/>
            <a:ext cx="19050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61616"/>
                </a:solidFill>
                <a:latin typeface="Liberation Sans"/>
              </a:defRPr>
            </a:pPr>
            <a:r>
              <a:t>×</a:t>
            </a:r>
          </a:p>
        </p:txBody>
      </p:sp>
      <p:sp>
        <p:nvSpPr>
          <p:cNvPr id="827" name="aff_t_dot"/>
          <p:cNvSpPr/>
          <p:nvPr/>
        </p:nvSpPr>
        <p:spPr>
          <a:xfrm>
            <a:off x="10614660" y="3863339"/>
            <a:ext cx="182880" cy="1828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8" name="text_826"/>
          <p:cNvSpPr txBox="1"/>
          <p:nvPr/>
        </p:nvSpPr>
        <p:spPr>
          <a:xfrm>
            <a:off x="10614660" y="3855720"/>
            <a:ext cx="1828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ans"/>
              </a:defRPr>
            </a:pPr>
            <a:r>
              <a:t>•</a:t>
            </a:r>
          </a:p>
        </p:txBody>
      </p:sp>
      <p:sp>
        <p:nvSpPr>
          <p:cNvPr id="829" name="rich_827"/>
          <p:cNvSpPr txBox="1"/>
          <p:nvPr/>
        </p:nvSpPr>
        <p:spPr>
          <a:xfrm>
            <a:off x="10835640" y="3863339"/>
            <a:ext cx="228600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60" b="0" i="1">
                <a:solidFill>
                  <a:srgbClr val="161616"/>
                </a:solidFill>
                <a:latin typeface="Liberation Serif"/>
              </a:rPr>
              <a:t>R</a:t>
            </a:r>
          </a:p>
        </p:txBody>
      </p:sp>
      <p:sp>
        <p:nvSpPr>
          <p:cNvPr id="830" name="aff_t_frac2_top"/>
          <p:cNvSpPr txBox="1"/>
          <p:nvPr/>
        </p:nvSpPr>
        <p:spPr>
          <a:xfrm>
            <a:off x="11010900" y="3802380"/>
            <a:ext cx="24384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20" b="0" i="1">
                <a:solidFill>
                  <a:srgbClr val="161616"/>
                </a:solidFill>
                <a:latin typeface="Liberation Serif"/>
              </a:defRPr>
            </a:pPr>
            <a:r>
              <a:t>|</a:t>
            </a:r>
          </a:p>
        </p:txBody>
      </p:sp>
      <p:sp>
        <p:nvSpPr>
          <p:cNvPr id="831" name="aff_t_frac2_bar"/>
          <p:cNvSpPr/>
          <p:nvPr/>
        </p:nvSpPr>
        <p:spPr>
          <a:xfrm>
            <a:off x="11056620" y="3970020"/>
            <a:ext cx="152400" cy="53340"/>
          </a:xfrm>
          <a:prstGeom prst="rect">
            <a:avLst/>
          </a:prstGeom>
          <a:solidFill>
            <a:srgbClr val="DF7476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2" name="aff_t_frac2_bottom"/>
          <p:cNvSpPr txBox="1"/>
          <p:nvPr/>
        </p:nvSpPr>
        <p:spPr>
          <a:xfrm>
            <a:off x="11010900" y="4023360"/>
            <a:ext cx="243840" cy="167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1">
                <a:solidFill>
                  <a:srgbClr val="161616"/>
                </a:solidFill>
                <a:latin typeface="Liberation Serif"/>
              </a:defRPr>
            </a:pPr>
            <a:r>
              <a:t>N</a:t>
            </a:r>
          </a:p>
        </p:txBody>
      </p:sp>
      <p:cxnSp>
        <p:nvCxnSpPr>
          <p:cNvPr id="833" name="aff_t_topk_arrow"/>
          <p:cNvCxnSpPr/>
          <p:nvPr/>
        </p:nvCxnSpPr>
        <p:spPr>
          <a:xfrm>
            <a:off x="11361420" y="3939540"/>
            <a:ext cx="175260" cy="0"/>
          </a:xfrm>
          <a:prstGeom prst="line">
            <a:avLst/>
          </a:prstGeom>
          <a:ln w="53340">
            <a:solidFill>
              <a:srgbClr val="D5D5D5"/>
            </a:solidFill>
            <a:tailEnd type="triangle" w="sm" len="sm"/>
          </a:ln>
        </p:spPr>
      </p:cxnSp>
      <p:sp>
        <p:nvSpPr>
          <p:cNvPr id="834" name="text_832"/>
          <p:cNvSpPr txBox="1"/>
          <p:nvPr/>
        </p:nvSpPr>
        <p:spPr>
          <a:xfrm>
            <a:off x="11262360" y="3787140"/>
            <a:ext cx="3429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8A8A8A"/>
                </a:solidFill>
                <a:latin typeface="Liberation Serif"/>
              </a:defRPr>
            </a:pPr>
            <a:r>
              <a:t>top-k</a:t>
            </a:r>
          </a:p>
        </p:txBody>
      </p:sp>
      <p:sp>
        <p:nvSpPr>
          <p:cNvPr id="835" name="aff_t_mask_0_0"/>
          <p:cNvSpPr/>
          <p:nvPr/>
        </p:nvSpPr>
        <p:spPr>
          <a:xfrm>
            <a:off x="11292840" y="3848099"/>
            <a:ext cx="114300" cy="114300"/>
          </a:xfrm>
          <a:prstGeom prst="rect">
            <a:avLst/>
          </a:prstGeom>
          <a:solidFill>
            <a:srgbClr val="DF7476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6" name="aff_t_mask_0_1"/>
          <p:cNvSpPr/>
          <p:nvPr/>
        </p:nvSpPr>
        <p:spPr>
          <a:xfrm>
            <a:off x="11407140" y="38480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7" name="aff_t_mask_0_2"/>
          <p:cNvSpPr/>
          <p:nvPr/>
        </p:nvSpPr>
        <p:spPr>
          <a:xfrm>
            <a:off x="11521440" y="38480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8" name="aff_t_mask_0_3"/>
          <p:cNvSpPr/>
          <p:nvPr/>
        </p:nvSpPr>
        <p:spPr>
          <a:xfrm>
            <a:off x="11635740" y="3848099"/>
            <a:ext cx="114300" cy="114300"/>
          </a:xfrm>
          <a:prstGeom prst="rect">
            <a:avLst/>
          </a:prstGeom>
          <a:solidFill>
            <a:srgbClr val="DF7476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9" name="aff_t_mask_0_4"/>
          <p:cNvSpPr/>
          <p:nvPr/>
        </p:nvSpPr>
        <p:spPr>
          <a:xfrm>
            <a:off x="11750040" y="38480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0" name="aff_t_mask_1_0"/>
          <p:cNvSpPr/>
          <p:nvPr/>
        </p:nvSpPr>
        <p:spPr>
          <a:xfrm>
            <a:off x="11292840" y="39623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1" name="aff_t_mask_1_1"/>
          <p:cNvSpPr/>
          <p:nvPr/>
        </p:nvSpPr>
        <p:spPr>
          <a:xfrm>
            <a:off x="11407140" y="3962399"/>
            <a:ext cx="114300" cy="114300"/>
          </a:xfrm>
          <a:prstGeom prst="rect">
            <a:avLst/>
          </a:prstGeom>
          <a:solidFill>
            <a:srgbClr val="DF7476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2" name="aff_t_mask_1_2"/>
          <p:cNvSpPr/>
          <p:nvPr/>
        </p:nvSpPr>
        <p:spPr>
          <a:xfrm>
            <a:off x="11521440" y="39623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3" name="aff_t_mask_1_3"/>
          <p:cNvSpPr/>
          <p:nvPr/>
        </p:nvSpPr>
        <p:spPr>
          <a:xfrm>
            <a:off x="11635740" y="3962399"/>
            <a:ext cx="114300" cy="114300"/>
          </a:xfrm>
          <a:prstGeom prst="rect">
            <a:avLst/>
          </a:prstGeom>
          <a:solidFill>
            <a:srgbClr val="DF7476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4" name="aff_t_mask_1_4"/>
          <p:cNvSpPr/>
          <p:nvPr/>
        </p:nvSpPr>
        <p:spPr>
          <a:xfrm>
            <a:off x="11750040" y="39623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5" name="aff_t_mask_2_0"/>
          <p:cNvSpPr/>
          <p:nvPr/>
        </p:nvSpPr>
        <p:spPr>
          <a:xfrm>
            <a:off x="11292840" y="4076699"/>
            <a:ext cx="114300" cy="114300"/>
          </a:xfrm>
          <a:prstGeom prst="rect">
            <a:avLst/>
          </a:prstGeom>
          <a:solidFill>
            <a:srgbClr val="DF7476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6" name="aff_t_mask_2_1"/>
          <p:cNvSpPr/>
          <p:nvPr/>
        </p:nvSpPr>
        <p:spPr>
          <a:xfrm>
            <a:off x="11407140" y="40766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7" name="aff_t_mask_2_2"/>
          <p:cNvSpPr/>
          <p:nvPr/>
        </p:nvSpPr>
        <p:spPr>
          <a:xfrm>
            <a:off x="11521440" y="4076699"/>
            <a:ext cx="114300" cy="114300"/>
          </a:xfrm>
          <a:prstGeom prst="rect">
            <a:avLst/>
          </a:prstGeom>
          <a:solidFill>
            <a:srgbClr val="DF7476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8" name="aff_t_mask_2_3"/>
          <p:cNvSpPr/>
          <p:nvPr/>
        </p:nvSpPr>
        <p:spPr>
          <a:xfrm>
            <a:off x="11635740" y="4076699"/>
            <a:ext cx="114300" cy="114300"/>
          </a:xfrm>
          <a:prstGeom prst="rect">
            <a:avLst/>
          </a:prstGeom>
          <a:solidFill>
            <a:srgbClr val="DF7476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9" name="aff_t_mask_2_4"/>
          <p:cNvSpPr/>
          <p:nvPr/>
        </p:nvSpPr>
        <p:spPr>
          <a:xfrm>
            <a:off x="11750040" y="4076699"/>
            <a:ext cx="114300" cy="114300"/>
          </a:xfrm>
          <a:prstGeom prst="rect">
            <a:avLst/>
          </a:prstGeom>
          <a:solidFill>
            <a:srgbClr val="DF7476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0" name="aff_t_mask_3_0"/>
          <p:cNvSpPr/>
          <p:nvPr/>
        </p:nvSpPr>
        <p:spPr>
          <a:xfrm>
            <a:off x="11292840" y="4190999"/>
            <a:ext cx="114300" cy="114300"/>
          </a:xfrm>
          <a:prstGeom prst="rect">
            <a:avLst/>
          </a:prstGeom>
          <a:solidFill>
            <a:srgbClr val="DF7476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1" name="aff_t_mask_3_1"/>
          <p:cNvSpPr/>
          <p:nvPr/>
        </p:nvSpPr>
        <p:spPr>
          <a:xfrm>
            <a:off x="11407140" y="4190999"/>
            <a:ext cx="114300" cy="114300"/>
          </a:xfrm>
          <a:prstGeom prst="rect">
            <a:avLst/>
          </a:prstGeom>
          <a:solidFill>
            <a:srgbClr val="DF7476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2" name="aff_t_mask_3_2"/>
          <p:cNvSpPr/>
          <p:nvPr/>
        </p:nvSpPr>
        <p:spPr>
          <a:xfrm>
            <a:off x="11521440" y="41909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3" name="aff_t_mask_3_3"/>
          <p:cNvSpPr/>
          <p:nvPr/>
        </p:nvSpPr>
        <p:spPr>
          <a:xfrm>
            <a:off x="11635740" y="4190999"/>
            <a:ext cx="114300" cy="114300"/>
          </a:xfrm>
          <a:prstGeom prst="rect">
            <a:avLst/>
          </a:prstGeom>
          <a:solidFill>
            <a:srgbClr val="DF7476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4" name="aff_t_mask_3_4"/>
          <p:cNvSpPr/>
          <p:nvPr/>
        </p:nvSpPr>
        <p:spPr>
          <a:xfrm>
            <a:off x="11750040" y="4190999"/>
            <a:ext cx="114300" cy="114300"/>
          </a:xfrm>
          <a:prstGeom prst="rect">
            <a:avLst/>
          </a:prstGeom>
          <a:solidFill>
            <a:srgbClr val="DF7476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5" name="aff_t_filter_token"/>
          <p:cNvSpPr/>
          <p:nvPr/>
        </p:nvSpPr>
        <p:spPr>
          <a:xfrm>
            <a:off x="9936480" y="4213860"/>
            <a:ext cx="365760" cy="182880"/>
          </a:xfrm>
          <a:prstGeom prst="rect">
            <a:avLst/>
          </a:prstGeom>
          <a:solidFill>
            <a:srgbClr val="FFFFFF"/>
          </a:solidFill>
          <a:ln w="914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6" name="aff_t_filter_token_cell_0"/>
          <p:cNvSpPr/>
          <p:nvPr/>
        </p:nvSpPr>
        <p:spPr>
          <a:xfrm>
            <a:off x="9974580" y="4251960"/>
            <a:ext cx="81279" cy="106680"/>
          </a:xfrm>
          <a:prstGeom prst="rect">
            <a:avLst/>
          </a:prstGeom>
          <a:solidFill>
            <a:srgbClr val="8752AD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7" name="aff_t_filter_token_cell_1"/>
          <p:cNvSpPr/>
          <p:nvPr/>
        </p:nvSpPr>
        <p:spPr>
          <a:xfrm>
            <a:off x="10078720" y="4251960"/>
            <a:ext cx="81279" cy="106680"/>
          </a:xfrm>
          <a:prstGeom prst="rect">
            <a:avLst/>
          </a:prstGeom>
          <a:solidFill>
            <a:srgbClr val="E59999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8" name="aff_t_filter_token_cell_2"/>
          <p:cNvSpPr/>
          <p:nvPr/>
        </p:nvSpPr>
        <p:spPr>
          <a:xfrm>
            <a:off x="10182860" y="4251960"/>
            <a:ext cx="81279" cy="10668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59" name="aff_t_filter_arrow"/>
          <p:cNvCxnSpPr/>
          <p:nvPr/>
        </p:nvCxnSpPr>
        <p:spPr>
          <a:xfrm>
            <a:off x="10340340" y="4305300"/>
            <a:ext cx="175260" cy="0"/>
          </a:xfrm>
          <a:prstGeom prst="line">
            <a:avLst/>
          </a:prstGeom>
          <a:ln w="7620">
            <a:solidFill>
              <a:srgbClr val="8A8A8A"/>
            </a:solidFill>
            <a:headEnd type="triangle" w="sm" len="sm"/>
          </a:ln>
        </p:spPr>
      </p:cxnSp>
      <p:sp>
        <p:nvSpPr>
          <p:cNvPr id="860" name="text_858"/>
          <p:cNvSpPr txBox="1"/>
          <p:nvPr/>
        </p:nvSpPr>
        <p:spPr>
          <a:xfrm>
            <a:off x="10507980" y="4198620"/>
            <a:ext cx="8001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8A8A8A"/>
                </a:solidFill>
                <a:latin typeface="Liberation Serif"/>
              </a:defRPr>
            </a:pPr>
            <a:r>
              <a:t>dynamic filter</a:t>
            </a:r>
          </a:p>
        </p:txBody>
      </p:sp>
      <p:sp>
        <p:nvSpPr>
          <p:cNvPr id="861" name="rich_859"/>
          <p:cNvSpPr txBox="1"/>
          <p:nvPr/>
        </p:nvSpPr>
        <p:spPr>
          <a:xfrm>
            <a:off x="11269980" y="4213860"/>
            <a:ext cx="594360" cy="205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40" b="0" i="1">
                <a:solidFill>
                  <a:srgbClr val="161616"/>
                </a:solidFill>
                <a:latin typeface="Liberation Serif"/>
              </a:rPr>
              <a:t>α</a:t>
            </a:r>
            <a:r>
              <a:rPr sz="780" b="0" i="1" baseline="-22000">
                <a:solidFill>
                  <a:srgbClr val="161616"/>
                </a:solidFill>
                <a:latin typeface="Liberation Serif"/>
              </a:rPr>
              <a:t>t</a:t>
            </a:r>
            <a:r>
              <a:rPr sz="1140" b="0" i="1">
                <a:solidFill>
                  <a:srgbClr val="161616"/>
                </a:solidFill>
                <a:latin typeface="Liberation Serif"/>
              </a:rPr>
              <a:t> M</a:t>
            </a:r>
            <a:r>
              <a:rPr sz="780" b="0" i="1" baseline="-22000">
                <a:solidFill>
                  <a:srgbClr val="161616"/>
                </a:solidFill>
                <a:latin typeface="Liberation Serif"/>
              </a:rPr>
              <a:t>t</a:t>
            </a:r>
          </a:p>
        </p:txBody>
      </p:sp>
      <p:sp>
        <p:nvSpPr>
          <p:cNvPr id="862" name="aff_t_flame_outer"/>
          <p:cNvSpPr/>
          <p:nvPr/>
        </p:nvSpPr>
        <p:spPr>
          <a:xfrm>
            <a:off x="11757660" y="4168140"/>
            <a:ext cx="106680" cy="167640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7" y="0"/>
                </a:moveTo>
                <a:lnTo>
                  <a:pt x="5" y="7"/>
                </a:lnTo>
                <a:lnTo>
                  <a:pt x="0" y="11"/>
                </a:lnTo>
                <a:lnTo>
                  <a:pt x="1" y="17"/>
                </a:lnTo>
                <a:lnTo>
                  <a:pt x="7" y="22"/>
                </a:lnTo>
                <a:lnTo>
                  <a:pt x="14" y="17"/>
                </a:lnTo>
                <a:lnTo>
                  <a:pt x="12" y="11"/>
                </a:lnTo>
                <a:lnTo>
                  <a:pt x="9" y="5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3" name="aff_t_flame_inner"/>
          <p:cNvSpPr/>
          <p:nvPr/>
        </p:nvSpPr>
        <p:spPr>
          <a:xfrm>
            <a:off x="11788140" y="4229100"/>
            <a:ext cx="45720" cy="9144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3" y="0"/>
                </a:moveTo>
                <a:lnTo>
                  <a:pt x="0" y="5"/>
                </a:lnTo>
                <a:lnTo>
                  <a:pt x="1" y="10"/>
                </a:lnTo>
                <a:lnTo>
                  <a:pt x="3" y="12"/>
                </a:lnTo>
                <a:lnTo>
                  <a:pt x="6" y="8"/>
                </a:lnTo>
                <a:lnTo>
                  <a:pt x="5" y="5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4" name="rich_862"/>
          <p:cNvSpPr txBox="1"/>
          <p:nvPr/>
        </p:nvSpPr>
        <p:spPr>
          <a:xfrm>
            <a:off x="12603480" y="3863339"/>
            <a:ext cx="2590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60" b="0" i="1">
                <a:solidFill>
                  <a:srgbClr val="161616"/>
                </a:solidFill>
                <a:latin typeface="Liberation Serif"/>
              </a:rPr>
              <a:t>N</a:t>
            </a:r>
          </a:p>
        </p:txBody>
      </p:sp>
      <p:sp>
        <p:nvSpPr>
          <p:cNvPr id="865" name="aff_d_frac1_top"/>
          <p:cNvSpPr txBox="1"/>
          <p:nvPr/>
        </p:nvSpPr>
        <p:spPr>
          <a:xfrm>
            <a:off x="12816840" y="3802380"/>
            <a:ext cx="24384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20" b="0" i="1">
                <a:solidFill>
                  <a:srgbClr val="161616"/>
                </a:solidFill>
                <a:latin typeface="Liberation Serif"/>
              </a:defRPr>
            </a:pPr>
            <a:r>
              <a:t>|</a:t>
            </a:r>
          </a:p>
        </p:txBody>
      </p:sp>
      <p:sp>
        <p:nvSpPr>
          <p:cNvPr id="866" name="aff_d_frac1_bar"/>
          <p:cNvSpPr/>
          <p:nvPr/>
        </p:nvSpPr>
        <p:spPr>
          <a:xfrm>
            <a:off x="12862560" y="3970020"/>
            <a:ext cx="152400" cy="53340"/>
          </a:xfrm>
          <a:prstGeom prst="rect">
            <a:avLst/>
          </a:prstGeom>
          <a:solidFill>
            <a:srgbClr val="8EB0D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7" name="aff_d_frac1_bottom"/>
          <p:cNvSpPr txBox="1"/>
          <p:nvPr/>
        </p:nvSpPr>
        <p:spPr>
          <a:xfrm>
            <a:off x="12816840" y="4023360"/>
            <a:ext cx="243840" cy="167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1">
                <a:solidFill>
                  <a:srgbClr val="161616"/>
                </a:solidFill>
                <a:latin typeface="Liberation Serif"/>
              </a:defRPr>
            </a:pPr>
            <a:r>
              <a:t>R</a:t>
            </a:r>
          </a:p>
        </p:txBody>
      </p:sp>
      <p:sp>
        <p:nvSpPr>
          <p:cNvPr id="868" name="text_866"/>
          <p:cNvSpPr txBox="1"/>
          <p:nvPr/>
        </p:nvSpPr>
        <p:spPr>
          <a:xfrm>
            <a:off x="13083540" y="3886200"/>
            <a:ext cx="19050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61616"/>
                </a:solidFill>
                <a:latin typeface="Liberation Sans"/>
              </a:defRPr>
            </a:pPr>
            <a:r>
              <a:t>×</a:t>
            </a:r>
          </a:p>
        </p:txBody>
      </p:sp>
      <p:sp>
        <p:nvSpPr>
          <p:cNvPr id="869" name="aff_d_dot"/>
          <p:cNvSpPr/>
          <p:nvPr/>
        </p:nvSpPr>
        <p:spPr>
          <a:xfrm>
            <a:off x="13312140" y="3863339"/>
            <a:ext cx="182880" cy="1828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0" name="text_868"/>
          <p:cNvSpPr txBox="1"/>
          <p:nvPr/>
        </p:nvSpPr>
        <p:spPr>
          <a:xfrm>
            <a:off x="13312140" y="3855720"/>
            <a:ext cx="1828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ans"/>
              </a:defRPr>
            </a:pPr>
            <a:r>
              <a:t>•</a:t>
            </a:r>
          </a:p>
        </p:txBody>
      </p:sp>
      <p:sp>
        <p:nvSpPr>
          <p:cNvPr id="871" name="rich_869"/>
          <p:cNvSpPr txBox="1"/>
          <p:nvPr/>
        </p:nvSpPr>
        <p:spPr>
          <a:xfrm>
            <a:off x="13533119" y="3863339"/>
            <a:ext cx="228600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60" b="0" i="1">
                <a:solidFill>
                  <a:srgbClr val="161616"/>
                </a:solidFill>
                <a:latin typeface="Liberation Serif"/>
              </a:rPr>
              <a:t>R</a:t>
            </a:r>
          </a:p>
        </p:txBody>
      </p:sp>
      <p:sp>
        <p:nvSpPr>
          <p:cNvPr id="872" name="aff_d_frac2_top"/>
          <p:cNvSpPr txBox="1"/>
          <p:nvPr/>
        </p:nvSpPr>
        <p:spPr>
          <a:xfrm>
            <a:off x="13708380" y="3802380"/>
            <a:ext cx="24384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20" b="0" i="1">
                <a:solidFill>
                  <a:srgbClr val="161616"/>
                </a:solidFill>
                <a:latin typeface="Liberation Serif"/>
              </a:defRPr>
            </a:pPr>
            <a:r>
              <a:t>|</a:t>
            </a:r>
          </a:p>
        </p:txBody>
      </p:sp>
      <p:sp>
        <p:nvSpPr>
          <p:cNvPr id="873" name="aff_d_frac2_bar"/>
          <p:cNvSpPr/>
          <p:nvPr/>
        </p:nvSpPr>
        <p:spPr>
          <a:xfrm>
            <a:off x="13754100" y="3970020"/>
            <a:ext cx="152400" cy="53340"/>
          </a:xfrm>
          <a:prstGeom prst="rect">
            <a:avLst/>
          </a:prstGeom>
          <a:solidFill>
            <a:srgbClr val="8EB0D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4" name="aff_d_frac2_bottom"/>
          <p:cNvSpPr txBox="1"/>
          <p:nvPr/>
        </p:nvSpPr>
        <p:spPr>
          <a:xfrm>
            <a:off x="13708380" y="4023360"/>
            <a:ext cx="243840" cy="167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1">
                <a:solidFill>
                  <a:srgbClr val="161616"/>
                </a:solidFill>
                <a:latin typeface="Liberation Serif"/>
              </a:defRPr>
            </a:pPr>
            <a:r>
              <a:t>N</a:t>
            </a:r>
          </a:p>
        </p:txBody>
      </p:sp>
      <p:cxnSp>
        <p:nvCxnSpPr>
          <p:cNvPr id="875" name="aff_d_topk_arrow"/>
          <p:cNvCxnSpPr/>
          <p:nvPr/>
        </p:nvCxnSpPr>
        <p:spPr>
          <a:xfrm>
            <a:off x="14058900" y="3939540"/>
            <a:ext cx="175260" cy="0"/>
          </a:xfrm>
          <a:prstGeom prst="line">
            <a:avLst/>
          </a:prstGeom>
          <a:ln w="53340">
            <a:solidFill>
              <a:srgbClr val="D5D5D5"/>
            </a:solidFill>
            <a:tailEnd type="triangle" w="sm" len="sm"/>
          </a:ln>
        </p:spPr>
      </p:cxnSp>
      <p:sp>
        <p:nvSpPr>
          <p:cNvPr id="876" name="text_874"/>
          <p:cNvSpPr txBox="1"/>
          <p:nvPr/>
        </p:nvSpPr>
        <p:spPr>
          <a:xfrm>
            <a:off x="13959840" y="3787140"/>
            <a:ext cx="3429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8A8A8A"/>
                </a:solidFill>
                <a:latin typeface="Liberation Serif"/>
              </a:defRPr>
            </a:pPr>
            <a:r>
              <a:t>top-k</a:t>
            </a:r>
          </a:p>
        </p:txBody>
      </p:sp>
      <p:sp>
        <p:nvSpPr>
          <p:cNvPr id="877" name="aff_d_mask_0_0"/>
          <p:cNvSpPr/>
          <p:nvPr/>
        </p:nvSpPr>
        <p:spPr>
          <a:xfrm>
            <a:off x="13837920" y="3848099"/>
            <a:ext cx="114300" cy="114300"/>
          </a:xfrm>
          <a:prstGeom prst="rect">
            <a:avLst/>
          </a:prstGeom>
          <a:solidFill>
            <a:srgbClr val="8EB0D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8" name="aff_d_mask_0_1"/>
          <p:cNvSpPr/>
          <p:nvPr/>
        </p:nvSpPr>
        <p:spPr>
          <a:xfrm>
            <a:off x="13952220" y="3848099"/>
            <a:ext cx="114300" cy="114300"/>
          </a:xfrm>
          <a:prstGeom prst="rect">
            <a:avLst/>
          </a:prstGeom>
          <a:solidFill>
            <a:srgbClr val="8EB0D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9" name="aff_d_mask_0_2"/>
          <p:cNvSpPr/>
          <p:nvPr/>
        </p:nvSpPr>
        <p:spPr>
          <a:xfrm>
            <a:off x="14066520" y="3848099"/>
            <a:ext cx="114300" cy="114300"/>
          </a:xfrm>
          <a:prstGeom prst="rect">
            <a:avLst/>
          </a:prstGeom>
          <a:solidFill>
            <a:srgbClr val="8EB0D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0" name="aff_d_mask_0_3"/>
          <p:cNvSpPr/>
          <p:nvPr/>
        </p:nvSpPr>
        <p:spPr>
          <a:xfrm>
            <a:off x="14180820" y="38480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1" name="aff_d_mask_0_4"/>
          <p:cNvSpPr/>
          <p:nvPr/>
        </p:nvSpPr>
        <p:spPr>
          <a:xfrm>
            <a:off x="14295120" y="3848099"/>
            <a:ext cx="114300" cy="114300"/>
          </a:xfrm>
          <a:prstGeom prst="rect">
            <a:avLst/>
          </a:prstGeom>
          <a:solidFill>
            <a:srgbClr val="8EB0D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2" name="aff_d_mask_1_0"/>
          <p:cNvSpPr/>
          <p:nvPr/>
        </p:nvSpPr>
        <p:spPr>
          <a:xfrm>
            <a:off x="13837920" y="3962399"/>
            <a:ext cx="114300" cy="114300"/>
          </a:xfrm>
          <a:prstGeom prst="rect">
            <a:avLst/>
          </a:prstGeom>
          <a:solidFill>
            <a:srgbClr val="8EB0D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3" name="aff_d_mask_1_1"/>
          <p:cNvSpPr/>
          <p:nvPr/>
        </p:nvSpPr>
        <p:spPr>
          <a:xfrm>
            <a:off x="13952220" y="3962399"/>
            <a:ext cx="114300" cy="114300"/>
          </a:xfrm>
          <a:prstGeom prst="rect">
            <a:avLst/>
          </a:prstGeom>
          <a:solidFill>
            <a:srgbClr val="8EB0D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4" name="aff_d_mask_1_2"/>
          <p:cNvSpPr/>
          <p:nvPr/>
        </p:nvSpPr>
        <p:spPr>
          <a:xfrm>
            <a:off x="14066520" y="39623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5" name="aff_d_mask_1_3"/>
          <p:cNvSpPr/>
          <p:nvPr/>
        </p:nvSpPr>
        <p:spPr>
          <a:xfrm>
            <a:off x="14180820" y="39623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6" name="aff_d_mask_1_4"/>
          <p:cNvSpPr/>
          <p:nvPr/>
        </p:nvSpPr>
        <p:spPr>
          <a:xfrm>
            <a:off x="14295120" y="3962399"/>
            <a:ext cx="114300" cy="114300"/>
          </a:xfrm>
          <a:prstGeom prst="rect">
            <a:avLst/>
          </a:prstGeom>
          <a:solidFill>
            <a:srgbClr val="8EB0D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7" name="aff_d_mask_2_0"/>
          <p:cNvSpPr/>
          <p:nvPr/>
        </p:nvSpPr>
        <p:spPr>
          <a:xfrm>
            <a:off x="13837920" y="40766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8" name="aff_d_mask_2_1"/>
          <p:cNvSpPr/>
          <p:nvPr/>
        </p:nvSpPr>
        <p:spPr>
          <a:xfrm>
            <a:off x="13952220" y="4076699"/>
            <a:ext cx="114300" cy="114300"/>
          </a:xfrm>
          <a:prstGeom prst="rect">
            <a:avLst/>
          </a:prstGeom>
          <a:solidFill>
            <a:srgbClr val="8EB0D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9" name="aff_d_mask_2_2"/>
          <p:cNvSpPr/>
          <p:nvPr/>
        </p:nvSpPr>
        <p:spPr>
          <a:xfrm>
            <a:off x="14066520" y="40766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0" name="aff_d_mask_2_3"/>
          <p:cNvSpPr/>
          <p:nvPr/>
        </p:nvSpPr>
        <p:spPr>
          <a:xfrm>
            <a:off x="14180820" y="40766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1" name="aff_d_mask_2_4"/>
          <p:cNvSpPr/>
          <p:nvPr/>
        </p:nvSpPr>
        <p:spPr>
          <a:xfrm>
            <a:off x="14295120" y="4076699"/>
            <a:ext cx="114300" cy="114300"/>
          </a:xfrm>
          <a:prstGeom prst="rect">
            <a:avLst/>
          </a:prstGeom>
          <a:solidFill>
            <a:srgbClr val="8EB0D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2" name="aff_d_mask_3_0"/>
          <p:cNvSpPr/>
          <p:nvPr/>
        </p:nvSpPr>
        <p:spPr>
          <a:xfrm>
            <a:off x="13837920" y="4190999"/>
            <a:ext cx="114300" cy="114300"/>
          </a:xfrm>
          <a:prstGeom prst="rect">
            <a:avLst/>
          </a:prstGeom>
          <a:solidFill>
            <a:srgbClr val="8EB0D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3" name="aff_d_mask_3_1"/>
          <p:cNvSpPr/>
          <p:nvPr/>
        </p:nvSpPr>
        <p:spPr>
          <a:xfrm>
            <a:off x="13952220" y="4190999"/>
            <a:ext cx="114300" cy="114300"/>
          </a:xfrm>
          <a:prstGeom prst="rect">
            <a:avLst/>
          </a:prstGeom>
          <a:solidFill>
            <a:srgbClr val="8EB0D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4" name="aff_d_mask_3_2"/>
          <p:cNvSpPr/>
          <p:nvPr/>
        </p:nvSpPr>
        <p:spPr>
          <a:xfrm>
            <a:off x="14066520" y="4190999"/>
            <a:ext cx="114300" cy="114300"/>
          </a:xfrm>
          <a:prstGeom prst="rect">
            <a:avLst/>
          </a:prstGeom>
          <a:solidFill>
            <a:srgbClr val="8EB0D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5" name="aff_d_mask_3_3"/>
          <p:cNvSpPr/>
          <p:nvPr/>
        </p:nvSpPr>
        <p:spPr>
          <a:xfrm>
            <a:off x="14180820" y="4190999"/>
            <a:ext cx="114300" cy="114300"/>
          </a:xfrm>
          <a:prstGeom prst="rect">
            <a:avLst/>
          </a:prstGeom>
          <a:solidFill>
            <a:srgbClr val="8EB0D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6" name="aff_d_mask_3_4"/>
          <p:cNvSpPr/>
          <p:nvPr/>
        </p:nvSpPr>
        <p:spPr>
          <a:xfrm>
            <a:off x="14295120" y="4190999"/>
            <a:ext cx="114300" cy="114300"/>
          </a:xfrm>
          <a:prstGeom prst="rect">
            <a:avLst/>
          </a:prstGeom>
          <a:solidFill>
            <a:srgbClr val="FFFFFF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7" name="aff_d_filter_token"/>
          <p:cNvSpPr/>
          <p:nvPr/>
        </p:nvSpPr>
        <p:spPr>
          <a:xfrm>
            <a:off x="12633960" y="4213860"/>
            <a:ext cx="365760" cy="182880"/>
          </a:xfrm>
          <a:prstGeom prst="rect">
            <a:avLst/>
          </a:prstGeom>
          <a:solidFill>
            <a:srgbClr val="FFFFFF"/>
          </a:solidFill>
          <a:ln w="9144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8" name="aff_d_filter_token_cell_0"/>
          <p:cNvSpPr/>
          <p:nvPr/>
        </p:nvSpPr>
        <p:spPr>
          <a:xfrm>
            <a:off x="12672060" y="4251960"/>
            <a:ext cx="81279" cy="106680"/>
          </a:xfrm>
          <a:prstGeom prst="rect">
            <a:avLst/>
          </a:prstGeom>
          <a:solidFill>
            <a:srgbClr val="8752AD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9" name="aff_d_filter_token_cell_1"/>
          <p:cNvSpPr/>
          <p:nvPr/>
        </p:nvSpPr>
        <p:spPr>
          <a:xfrm>
            <a:off x="12776200" y="4251960"/>
            <a:ext cx="81279" cy="106680"/>
          </a:xfrm>
          <a:prstGeom prst="rect">
            <a:avLst/>
          </a:prstGeom>
          <a:solidFill>
            <a:srgbClr val="E59999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0" name="aff_d_filter_token_cell_2"/>
          <p:cNvSpPr/>
          <p:nvPr/>
        </p:nvSpPr>
        <p:spPr>
          <a:xfrm>
            <a:off x="12880340" y="4251960"/>
            <a:ext cx="81279" cy="106680"/>
          </a:xfrm>
          <a:prstGeom prst="rect">
            <a:avLst/>
          </a:prstGeom>
          <a:solidFill>
            <a:srgbClr val="8EB0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01" name="aff_d_filter_arrow"/>
          <p:cNvCxnSpPr/>
          <p:nvPr/>
        </p:nvCxnSpPr>
        <p:spPr>
          <a:xfrm>
            <a:off x="13037820" y="4305300"/>
            <a:ext cx="175260" cy="0"/>
          </a:xfrm>
          <a:prstGeom prst="line">
            <a:avLst/>
          </a:prstGeom>
          <a:ln w="7620">
            <a:solidFill>
              <a:srgbClr val="8A8A8A"/>
            </a:solidFill>
            <a:headEnd type="triangle" w="sm" len="sm"/>
          </a:ln>
        </p:spPr>
      </p:cxnSp>
      <p:sp>
        <p:nvSpPr>
          <p:cNvPr id="902" name="text_900"/>
          <p:cNvSpPr txBox="1"/>
          <p:nvPr/>
        </p:nvSpPr>
        <p:spPr>
          <a:xfrm>
            <a:off x="13205460" y="4198620"/>
            <a:ext cx="8001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8A8A8A"/>
                </a:solidFill>
                <a:latin typeface="Liberation Serif"/>
              </a:defRPr>
            </a:pPr>
            <a:r>
              <a:t>dynamic filter</a:t>
            </a:r>
          </a:p>
        </p:txBody>
      </p:sp>
      <p:sp>
        <p:nvSpPr>
          <p:cNvPr id="903" name="rich_901"/>
          <p:cNvSpPr txBox="1"/>
          <p:nvPr/>
        </p:nvSpPr>
        <p:spPr>
          <a:xfrm>
            <a:off x="13815060" y="4213860"/>
            <a:ext cx="594360" cy="205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40" b="0" i="1">
                <a:solidFill>
                  <a:srgbClr val="161616"/>
                </a:solidFill>
                <a:latin typeface="Liberation Serif"/>
              </a:rPr>
              <a:t>α</a:t>
            </a:r>
            <a:r>
              <a:rPr sz="780" b="0" i="1" baseline="-22000">
                <a:solidFill>
                  <a:srgbClr val="161616"/>
                </a:solidFill>
                <a:latin typeface="Liberation Serif"/>
              </a:rPr>
              <a:t>d</a:t>
            </a:r>
            <a:r>
              <a:rPr sz="1140" b="0" i="1">
                <a:solidFill>
                  <a:srgbClr val="161616"/>
                </a:solidFill>
                <a:latin typeface="Liberation Serif"/>
              </a:rPr>
              <a:t> M</a:t>
            </a:r>
            <a:r>
              <a:rPr sz="780" b="0" i="1" baseline="-22000">
                <a:solidFill>
                  <a:srgbClr val="161616"/>
                </a:solidFill>
                <a:latin typeface="Liberation Serif"/>
              </a:rPr>
              <a:t>d</a:t>
            </a:r>
          </a:p>
        </p:txBody>
      </p:sp>
      <p:sp>
        <p:nvSpPr>
          <p:cNvPr id="904" name="aff_d_flame_outer"/>
          <p:cNvSpPr/>
          <p:nvPr/>
        </p:nvSpPr>
        <p:spPr>
          <a:xfrm>
            <a:off x="14302740" y="4168140"/>
            <a:ext cx="106680" cy="167640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7" y="0"/>
                </a:moveTo>
                <a:lnTo>
                  <a:pt x="5" y="7"/>
                </a:lnTo>
                <a:lnTo>
                  <a:pt x="0" y="11"/>
                </a:lnTo>
                <a:lnTo>
                  <a:pt x="1" y="17"/>
                </a:lnTo>
                <a:lnTo>
                  <a:pt x="7" y="22"/>
                </a:lnTo>
                <a:lnTo>
                  <a:pt x="14" y="17"/>
                </a:lnTo>
                <a:lnTo>
                  <a:pt x="12" y="11"/>
                </a:lnTo>
                <a:lnTo>
                  <a:pt x="9" y="5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5" name="aff_d_flame_inner"/>
          <p:cNvSpPr/>
          <p:nvPr/>
        </p:nvSpPr>
        <p:spPr>
          <a:xfrm>
            <a:off x="14333220" y="4229100"/>
            <a:ext cx="45720" cy="9144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3" y="0"/>
                </a:moveTo>
                <a:lnTo>
                  <a:pt x="0" y="5"/>
                </a:lnTo>
                <a:lnTo>
                  <a:pt x="1" y="10"/>
                </a:lnTo>
                <a:lnTo>
                  <a:pt x="3" y="12"/>
                </a:lnTo>
                <a:lnTo>
                  <a:pt x="6" y="8"/>
                </a:lnTo>
                <a:lnTo>
                  <a:pt x="5" y="5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6" name="stf_plus_1"/>
          <p:cNvSpPr/>
          <p:nvPr/>
        </p:nvSpPr>
        <p:spPr>
          <a:xfrm>
            <a:off x="9578340" y="4023360"/>
            <a:ext cx="198120" cy="198120"/>
          </a:xfrm>
          <a:prstGeom prst="ellipse">
            <a:avLst/>
          </a:prstGeom>
          <a:solidFill>
            <a:srgbClr val="FFFFFF"/>
          </a:solidFill>
          <a:ln w="7620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7" name="text_905"/>
          <p:cNvSpPr txBox="1"/>
          <p:nvPr/>
        </p:nvSpPr>
        <p:spPr>
          <a:xfrm>
            <a:off x="9578340" y="4008119"/>
            <a:ext cx="198120" cy="198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ans"/>
              </a:defRPr>
            </a:pPr>
            <a:r>
              <a:t>+</a:t>
            </a:r>
          </a:p>
        </p:txBody>
      </p:sp>
      <p:sp>
        <p:nvSpPr>
          <p:cNvPr id="908" name="stf_plus_2"/>
          <p:cNvSpPr/>
          <p:nvPr/>
        </p:nvSpPr>
        <p:spPr>
          <a:xfrm>
            <a:off x="12138660" y="4023360"/>
            <a:ext cx="198120" cy="198120"/>
          </a:xfrm>
          <a:prstGeom prst="ellipse">
            <a:avLst/>
          </a:prstGeom>
          <a:solidFill>
            <a:srgbClr val="FFFFFF"/>
          </a:solidFill>
          <a:ln w="7620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9" name="text_907"/>
          <p:cNvSpPr txBox="1"/>
          <p:nvPr/>
        </p:nvSpPr>
        <p:spPr>
          <a:xfrm>
            <a:off x="12138660" y="4008119"/>
            <a:ext cx="198120" cy="198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ans"/>
              </a:defRPr>
            </a:pPr>
            <a:r>
              <a:t>+</a:t>
            </a:r>
          </a:p>
        </p:txBody>
      </p:sp>
      <p:sp>
        <p:nvSpPr>
          <p:cNvPr id="910" name="text_908"/>
          <p:cNvSpPr txBox="1"/>
          <p:nvPr/>
        </p:nvSpPr>
        <p:spPr>
          <a:xfrm>
            <a:off x="9273540" y="4678680"/>
            <a:ext cx="3657600" cy="259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20" b="1" i="0">
                <a:solidFill>
                  <a:srgbClr val="161616"/>
                </a:solidFill>
                <a:latin typeface="Liberation Serif"/>
              </a:defRPr>
            </a:pPr>
            <a:r>
              <a:t>Hierarchical Domain Alignment (HDA)</a:t>
            </a:r>
          </a:p>
        </p:txBody>
      </p:sp>
      <p:sp>
        <p:nvSpPr>
          <p:cNvPr id="911" name="text_909"/>
          <p:cNvSpPr txBox="1"/>
          <p:nvPr/>
        </p:nvSpPr>
        <p:spPr>
          <a:xfrm>
            <a:off x="7620000" y="4549140"/>
            <a:ext cx="12954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0" b="0" i="1">
                <a:solidFill>
                  <a:srgbClr val="8A8A8A"/>
                </a:solidFill>
                <a:latin typeface="Liberation Serif"/>
              </a:defRPr>
            </a:pPr>
            <a:r>
              <a:t>w/ Position Embedding</a:t>
            </a:r>
          </a:p>
        </p:txBody>
      </p:sp>
      <p:sp>
        <p:nvSpPr>
          <p:cNvPr id="912" name="position_embedding_path"/>
          <p:cNvSpPr/>
          <p:nvPr/>
        </p:nvSpPr>
        <p:spPr>
          <a:xfrm>
            <a:off x="7612380" y="4427220"/>
            <a:ext cx="830580" cy="594360"/>
          </a:xfrm>
          <a:custGeom>
            <a:avLst/>
            <a:gdLst/>
            <a:ahLst/>
            <a:cxnLst/>
            <a:rect l="l" t="t" r="r" b="b"/>
            <a:pathLst>
              <a:path w="109" h="78">
                <a:moveTo>
                  <a:pt x="109" y="0"/>
                </a:moveTo>
                <a:lnTo>
                  <a:pt x="109" y="46"/>
                </a:lnTo>
                <a:lnTo>
                  <a:pt x="0" y="46"/>
                </a:lnTo>
                <a:lnTo>
                  <a:pt x="0" y="78"/>
                </a:lnTo>
              </a:path>
            </a:pathLst>
          </a:custGeom>
          <a:noFill/>
          <a:ln w="7620">
            <a:solidFill>
              <a:srgbClr val="8A8A8A"/>
            </a:solidFill>
            <a:prstDash val="dash"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3" name="hda_projection"/>
          <p:cNvSpPr/>
          <p:nvPr/>
        </p:nvSpPr>
        <p:spPr>
          <a:xfrm>
            <a:off x="7452360" y="5044440"/>
            <a:ext cx="342900" cy="784860"/>
          </a:xfrm>
          <a:prstGeom prst="roundRect">
            <a:avLst>
              <a:gd name="adj" fmla="val 13333"/>
            </a:avLst>
          </a:prstGeom>
          <a:solidFill>
            <a:srgbClr val="D8D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4" name="text_912"/>
          <p:cNvSpPr txBox="1"/>
          <p:nvPr/>
        </p:nvSpPr>
        <p:spPr>
          <a:xfrm rot="16200000">
            <a:off x="7513320" y="5166360"/>
            <a:ext cx="22098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61616"/>
                </a:solidFill>
                <a:latin typeface="Liberation Serif"/>
              </a:defRPr>
            </a:pPr>
            <a:r>
              <a:t>Projection</a:t>
            </a:r>
          </a:p>
        </p:txBody>
      </p:sp>
      <p:cxnSp>
        <p:nvCxnSpPr>
          <p:cNvPr id="915" name="projection_to_xe_hda"/>
          <p:cNvCxnSpPr/>
          <p:nvPr/>
        </p:nvCxnSpPr>
        <p:spPr>
          <a:xfrm>
            <a:off x="7795260" y="5440680"/>
            <a:ext cx="243839" cy="0"/>
          </a:xfrm>
          <a:prstGeom prst="line">
            <a:avLst/>
          </a:prstGeom>
          <a:ln w="9144">
            <a:solidFill>
              <a:srgbClr val="161616"/>
            </a:solidFill>
            <a:tailEnd type="triangle" w="sm" len="sm"/>
          </a:ln>
        </p:spPr>
      </p:cxnSp>
      <p:sp>
        <p:nvSpPr>
          <p:cNvPr id="916" name="hda_xe"/>
          <p:cNvSpPr/>
          <p:nvPr/>
        </p:nvSpPr>
        <p:spPr>
          <a:xfrm>
            <a:off x="8061960" y="5234940"/>
            <a:ext cx="213360" cy="419100"/>
          </a:xfrm>
          <a:prstGeom prst="rect">
            <a:avLst/>
          </a:prstGeom>
          <a:solidFill>
            <a:srgbClr val="BBBBBB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7" name="rich_915"/>
          <p:cNvSpPr txBox="1"/>
          <p:nvPr/>
        </p:nvSpPr>
        <p:spPr>
          <a:xfrm>
            <a:off x="8023860" y="5143500"/>
            <a:ext cx="2895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60" b="0" i="1">
                <a:solidFill>
                  <a:srgbClr val="161616"/>
                </a:solidFill>
                <a:latin typeface="Liberation Serif"/>
              </a:rPr>
              <a:t>x</a:t>
            </a:r>
            <a:r>
              <a:rPr sz="652" b="0" i="1" baseline="-22000">
                <a:solidFill>
                  <a:srgbClr val="161616"/>
                </a:solidFill>
                <a:latin typeface="Liberation Serif"/>
              </a:rPr>
              <a:t>e</a:t>
            </a:r>
          </a:p>
        </p:txBody>
      </p:sp>
      <p:sp>
        <p:nvSpPr>
          <p:cNvPr id="918" name="hda_dot_1"/>
          <p:cNvSpPr/>
          <p:nvPr/>
        </p:nvSpPr>
        <p:spPr>
          <a:xfrm>
            <a:off x="8366760" y="5334000"/>
            <a:ext cx="205740" cy="205740"/>
          </a:xfrm>
          <a:prstGeom prst="ellipse">
            <a:avLst/>
          </a:prstGeom>
          <a:solidFill>
            <a:srgbClr val="FFFFFF"/>
          </a:solidFill>
          <a:ln w="7620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9" name="text_917"/>
          <p:cNvSpPr txBox="1"/>
          <p:nvPr/>
        </p:nvSpPr>
        <p:spPr>
          <a:xfrm>
            <a:off x="8366760" y="5326380"/>
            <a:ext cx="205740" cy="205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40" b="0" i="0">
                <a:solidFill>
                  <a:srgbClr val="161616"/>
                </a:solidFill>
                <a:latin typeface="Liberation Sans"/>
              </a:defRPr>
            </a:pPr>
            <a:r>
              <a:t>•</a:t>
            </a:r>
          </a:p>
        </p:txBody>
      </p:sp>
      <p:sp>
        <p:nvSpPr>
          <p:cNvPr id="920" name="text_918"/>
          <p:cNvSpPr txBox="1"/>
          <p:nvPr/>
        </p:nvSpPr>
        <p:spPr>
          <a:xfrm>
            <a:off x="8671560" y="4968240"/>
            <a:ext cx="16764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3569A6"/>
                </a:solidFill>
                <a:latin typeface="Liberation Serif"/>
              </a:defRPr>
            </a:pPr>
            <a:r>
              <a:t>Layer level Alignment</a:t>
            </a:r>
          </a:p>
        </p:txBody>
      </p:sp>
      <p:sp>
        <p:nvSpPr>
          <p:cNvPr id="921" name="hda_e_1"/>
          <p:cNvSpPr/>
          <p:nvPr/>
        </p:nvSpPr>
        <p:spPr>
          <a:xfrm>
            <a:off x="8648700" y="5219700"/>
            <a:ext cx="228600" cy="441960"/>
          </a:xfrm>
          <a:prstGeom prst="rect">
            <a:avLst/>
          </a:prstGeom>
          <a:solidFill>
            <a:srgbClr val="B6C4D9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2" name="rich_920"/>
          <p:cNvSpPr txBox="1"/>
          <p:nvPr/>
        </p:nvSpPr>
        <p:spPr>
          <a:xfrm>
            <a:off x="8633460" y="5143500"/>
            <a:ext cx="25908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60" b="0" i="1">
                <a:solidFill>
                  <a:srgbClr val="161616"/>
                </a:solidFill>
                <a:latin typeface="Liberation Serif"/>
              </a:rPr>
              <a:t>e</a:t>
            </a:r>
            <a:r>
              <a:rPr sz="652" b="0" i="1" baseline="-22000">
                <a:solidFill>
                  <a:srgbClr val="161616"/>
                </a:solidFill>
                <a:latin typeface="Liberation Serif"/>
              </a:rPr>
              <a:t>1</a:t>
            </a:r>
          </a:p>
        </p:txBody>
      </p:sp>
      <p:sp>
        <p:nvSpPr>
          <p:cNvPr id="923" name="hda_e_2"/>
          <p:cNvSpPr/>
          <p:nvPr/>
        </p:nvSpPr>
        <p:spPr>
          <a:xfrm>
            <a:off x="8999220" y="5219700"/>
            <a:ext cx="228600" cy="441960"/>
          </a:xfrm>
          <a:prstGeom prst="rect">
            <a:avLst/>
          </a:prstGeom>
          <a:solidFill>
            <a:srgbClr val="B6C4D9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4" name="rich_922"/>
          <p:cNvSpPr txBox="1"/>
          <p:nvPr/>
        </p:nvSpPr>
        <p:spPr>
          <a:xfrm>
            <a:off x="8983980" y="5143500"/>
            <a:ext cx="25908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60" b="0" i="1">
                <a:solidFill>
                  <a:srgbClr val="161616"/>
                </a:solidFill>
                <a:latin typeface="Liberation Serif"/>
              </a:rPr>
              <a:t>e</a:t>
            </a:r>
            <a:r>
              <a:rPr sz="652" b="0" i="1" baseline="-22000">
                <a:solidFill>
                  <a:srgbClr val="161616"/>
                </a:solidFill>
                <a:latin typeface="Liberation Serif"/>
              </a:rPr>
              <a:t>2</a:t>
            </a:r>
          </a:p>
        </p:txBody>
      </p:sp>
      <p:sp>
        <p:nvSpPr>
          <p:cNvPr id="925" name="hda_selected_2"/>
          <p:cNvSpPr/>
          <p:nvPr/>
        </p:nvSpPr>
        <p:spPr>
          <a:xfrm>
            <a:off x="8961120" y="5135880"/>
            <a:ext cx="304800" cy="579120"/>
          </a:xfrm>
          <a:prstGeom prst="rect">
            <a:avLst/>
          </a:prstGeom>
          <a:noFill/>
          <a:ln w="9144">
            <a:solidFill>
              <a:srgbClr val="D6272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6" name="hda_e_3"/>
          <p:cNvSpPr/>
          <p:nvPr/>
        </p:nvSpPr>
        <p:spPr>
          <a:xfrm>
            <a:off x="9349740" y="5219700"/>
            <a:ext cx="228600" cy="441960"/>
          </a:xfrm>
          <a:prstGeom prst="rect">
            <a:avLst/>
          </a:prstGeom>
          <a:solidFill>
            <a:srgbClr val="B6C4D9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7" name="rich_925"/>
          <p:cNvSpPr txBox="1"/>
          <p:nvPr/>
        </p:nvSpPr>
        <p:spPr>
          <a:xfrm>
            <a:off x="9334500" y="5143500"/>
            <a:ext cx="25908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60" b="0" i="1">
                <a:solidFill>
                  <a:srgbClr val="161616"/>
                </a:solidFill>
                <a:latin typeface="Liberation Serif"/>
              </a:rPr>
              <a:t>e</a:t>
            </a:r>
            <a:r>
              <a:rPr sz="652" b="0" i="1" baseline="-22000">
                <a:solidFill>
                  <a:srgbClr val="161616"/>
                </a:solidFill>
                <a:latin typeface="Liberation Serif"/>
              </a:rPr>
              <a:t>3</a:t>
            </a:r>
          </a:p>
        </p:txBody>
      </p:sp>
      <p:sp>
        <p:nvSpPr>
          <p:cNvPr id="928" name="hda_e_4"/>
          <p:cNvSpPr/>
          <p:nvPr/>
        </p:nvSpPr>
        <p:spPr>
          <a:xfrm>
            <a:off x="9700260" y="5219700"/>
            <a:ext cx="228600" cy="441960"/>
          </a:xfrm>
          <a:prstGeom prst="rect">
            <a:avLst/>
          </a:prstGeom>
          <a:solidFill>
            <a:srgbClr val="B6C4D9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9" name="rich_927"/>
          <p:cNvSpPr txBox="1"/>
          <p:nvPr/>
        </p:nvSpPr>
        <p:spPr>
          <a:xfrm>
            <a:off x="9685020" y="5143500"/>
            <a:ext cx="25908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60" b="0" i="1">
                <a:solidFill>
                  <a:srgbClr val="161616"/>
                </a:solidFill>
                <a:latin typeface="Liberation Serif"/>
              </a:rPr>
              <a:t>e</a:t>
            </a:r>
            <a:r>
              <a:rPr sz="652" b="0" i="1" baseline="-22000">
                <a:solidFill>
                  <a:srgbClr val="161616"/>
                </a:solidFill>
                <a:latin typeface="Liberation Serif"/>
              </a:rPr>
              <a:t>4</a:t>
            </a:r>
          </a:p>
        </p:txBody>
      </p:sp>
      <p:sp>
        <p:nvSpPr>
          <p:cNvPr id="930" name="hda_selected_4"/>
          <p:cNvSpPr/>
          <p:nvPr/>
        </p:nvSpPr>
        <p:spPr>
          <a:xfrm>
            <a:off x="9662160" y="5135880"/>
            <a:ext cx="304800" cy="579120"/>
          </a:xfrm>
          <a:prstGeom prst="rect">
            <a:avLst/>
          </a:prstGeom>
          <a:noFill/>
          <a:ln w="9144">
            <a:solidFill>
              <a:srgbClr val="D6272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1" name="hda_e_5"/>
          <p:cNvSpPr/>
          <p:nvPr/>
        </p:nvSpPr>
        <p:spPr>
          <a:xfrm>
            <a:off x="10050780" y="5219700"/>
            <a:ext cx="228600" cy="441960"/>
          </a:xfrm>
          <a:prstGeom prst="rect">
            <a:avLst/>
          </a:prstGeom>
          <a:solidFill>
            <a:srgbClr val="B6C4D9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2" name="rich_930"/>
          <p:cNvSpPr txBox="1"/>
          <p:nvPr/>
        </p:nvSpPr>
        <p:spPr>
          <a:xfrm>
            <a:off x="10035540" y="5143500"/>
            <a:ext cx="25908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60" b="0" i="1">
                <a:solidFill>
                  <a:srgbClr val="161616"/>
                </a:solidFill>
                <a:latin typeface="Liberation Serif"/>
              </a:rPr>
              <a:t>e</a:t>
            </a:r>
            <a:r>
              <a:rPr sz="652" b="0" i="1" baseline="-22000">
                <a:solidFill>
                  <a:srgbClr val="161616"/>
                </a:solidFill>
                <a:latin typeface="Liberation Serif"/>
              </a:rPr>
              <a:t>5</a:t>
            </a:r>
          </a:p>
        </p:txBody>
      </p:sp>
      <p:sp>
        <p:nvSpPr>
          <p:cNvPr id="933" name="hda_e_6"/>
          <p:cNvSpPr/>
          <p:nvPr/>
        </p:nvSpPr>
        <p:spPr>
          <a:xfrm>
            <a:off x="10401300" y="5219700"/>
            <a:ext cx="228600" cy="441960"/>
          </a:xfrm>
          <a:prstGeom prst="rect">
            <a:avLst/>
          </a:prstGeom>
          <a:solidFill>
            <a:srgbClr val="B6C4D9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4" name="rich_932"/>
          <p:cNvSpPr txBox="1"/>
          <p:nvPr/>
        </p:nvSpPr>
        <p:spPr>
          <a:xfrm>
            <a:off x="10386060" y="5143500"/>
            <a:ext cx="25908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60" b="0" i="1">
                <a:solidFill>
                  <a:srgbClr val="161616"/>
                </a:solidFill>
                <a:latin typeface="Liberation Serif"/>
              </a:rPr>
              <a:t>e</a:t>
            </a:r>
            <a:r>
              <a:rPr sz="652" b="0" i="1" baseline="-22000">
                <a:solidFill>
                  <a:srgbClr val="161616"/>
                </a:solidFill>
                <a:latin typeface="Liberation Serif"/>
              </a:rPr>
              <a:t>6</a:t>
            </a:r>
          </a:p>
        </p:txBody>
      </p:sp>
      <p:sp>
        <p:nvSpPr>
          <p:cNvPr id="935" name="hda_e_7"/>
          <p:cNvSpPr/>
          <p:nvPr/>
        </p:nvSpPr>
        <p:spPr>
          <a:xfrm>
            <a:off x="10751820" y="5219700"/>
            <a:ext cx="228600" cy="441960"/>
          </a:xfrm>
          <a:prstGeom prst="rect">
            <a:avLst/>
          </a:prstGeom>
          <a:solidFill>
            <a:srgbClr val="B6C4D9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6" name="rich_934"/>
          <p:cNvSpPr txBox="1"/>
          <p:nvPr/>
        </p:nvSpPr>
        <p:spPr>
          <a:xfrm>
            <a:off x="10736580" y="5143500"/>
            <a:ext cx="25908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60" b="0" i="1">
                <a:solidFill>
                  <a:srgbClr val="161616"/>
                </a:solidFill>
                <a:latin typeface="Liberation Serif"/>
              </a:rPr>
              <a:t>e</a:t>
            </a:r>
            <a:r>
              <a:rPr sz="652" b="0" i="1" baseline="-22000">
                <a:solidFill>
                  <a:srgbClr val="161616"/>
                </a:solidFill>
                <a:latin typeface="Liberation Serif"/>
              </a:rPr>
              <a:t>7</a:t>
            </a:r>
          </a:p>
        </p:txBody>
      </p:sp>
      <p:sp>
        <p:nvSpPr>
          <p:cNvPr id="937" name="hda_selected_7"/>
          <p:cNvSpPr/>
          <p:nvPr/>
        </p:nvSpPr>
        <p:spPr>
          <a:xfrm>
            <a:off x="10713720" y="5135880"/>
            <a:ext cx="304800" cy="579120"/>
          </a:xfrm>
          <a:prstGeom prst="rect">
            <a:avLst/>
          </a:prstGeom>
          <a:noFill/>
          <a:ln w="9144">
            <a:solidFill>
              <a:srgbClr val="D6272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8" name="hda_e_8"/>
          <p:cNvSpPr/>
          <p:nvPr/>
        </p:nvSpPr>
        <p:spPr>
          <a:xfrm>
            <a:off x="11102340" y="5219700"/>
            <a:ext cx="228600" cy="441960"/>
          </a:xfrm>
          <a:prstGeom prst="rect">
            <a:avLst/>
          </a:prstGeom>
          <a:solidFill>
            <a:srgbClr val="B6C4D9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9" name="rich_937"/>
          <p:cNvSpPr txBox="1"/>
          <p:nvPr/>
        </p:nvSpPr>
        <p:spPr>
          <a:xfrm>
            <a:off x="11087100" y="5143500"/>
            <a:ext cx="25908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60" b="0" i="1">
                <a:solidFill>
                  <a:srgbClr val="161616"/>
                </a:solidFill>
                <a:latin typeface="Liberation Serif"/>
              </a:rPr>
              <a:t>e</a:t>
            </a:r>
            <a:r>
              <a:rPr sz="652" b="0" i="1" baseline="-22000">
                <a:solidFill>
                  <a:srgbClr val="161616"/>
                </a:solidFill>
                <a:latin typeface="Liberation Serif"/>
              </a:rPr>
              <a:t>8</a:t>
            </a:r>
          </a:p>
        </p:txBody>
      </p:sp>
      <p:cxnSp>
        <p:nvCxnSpPr>
          <p:cNvPr id="940" name="hda_alpha_arrow"/>
          <p:cNvCxnSpPr/>
          <p:nvPr/>
        </p:nvCxnSpPr>
        <p:spPr>
          <a:xfrm flipV="1">
            <a:off x="8999220" y="5684520"/>
            <a:ext cx="0" cy="144780"/>
          </a:xfrm>
          <a:prstGeom prst="line">
            <a:avLst/>
          </a:prstGeom>
          <a:ln w="7620">
            <a:solidFill>
              <a:srgbClr val="161616"/>
            </a:solidFill>
            <a:tailEnd type="triangle" w="sm" len="sm"/>
          </a:ln>
        </p:spPr>
      </p:cxnSp>
      <p:sp>
        <p:nvSpPr>
          <p:cNvPr id="941" name="text_939"/>
          <p:cNvSpPr txBox="1"/>
          <p:nvPr/>
        </p:nvSpPr>
        <p:spPr>
          <a:xfrm>
            <a:off x="8808720" y="5654040"/>
            <a:ext cx="3810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1">
                <a:solidFill>
                  <a:srgbClr val="161616"/>
                </a:solidFill>
                <a:latin typeface="Liberation Serif"/>
              </a:defRPr>
            </a:pPr>
            <a:r>
              <a:t>α₁</a:t>
            </a:r>
          </a:p>
        </p:txBody>
      </p:sp>
      <p:cxnSp>
        <p:nvCxnSpPr>
          <p:cNvPr id="942" name="hda_alpha_arrow"/>
          <p:cNvCxnSpPr/>
          <p:nvPr/>
        </p:nvCxnSpPr>
        <p:spPr>
          <a:xfrm flipV="1">
            <a:off x="9700260" y="5684520"/>
            <a:ext cx="0" cy="144780"/>
          </a:xfrm>
          <a:prstGeom prst="line">
            <a:avLst/>
          </a:prstGeom>
          <a:ln w="7620">
            <a:solidFill>
              <a:srgbClr val="161616"/>
            </a:solidFill>
            <a:tailEnd type="triangle" w="sm" len="sm"/>
          </a:ln>
        </p:spPr>
      </p:cxnSp>
      <p:sp>
        <p:nvSpPr>
          <p:cNvPr id="943" name="text_941"/>
          <p:cNvSpPr txBox="1"/>
          <p:nvPr/>
        </p:nvSpPr>
        <p:spPr>
          <a:xfrm>
            <a:off x="9509760" y="5654040"/>
            <a:ext cx="3810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1">
                <a:solidFill>
                  <a:srgbClr val="161616"/>
                </a:solidFill>
                <a:latin typeface="Liberation Serif"/>
              </a:defRPr>
            </a:pPr>
            <a:r>
              <a:t>α₂</a:t>
            </a:r>
          </a:p>
        </p:txBody>
      </p:sp>
      <p:cxnSp>
        <p:nvCxnSpPr>
          <p:cNvPr id="944" name="hda_alpha_arrow"/>
          <p:cNvCxnSpPr/>
          <p:nvPr/>
        </p:nvCxnSpPr>
        <p:spPr>
          <a:xfrm flipV="1">
            <a:off x="10751820" y="5684520"/>
            <a:ext cx="0" cy="144780"/>
          </a:xfrm>
          <a:prstGeom prst="line">
            <a:avLst/>
          </a:prstGeom>
          <a:ln w="7620">
            <a:solidFill>
              <a:srgbClr val="161616"/>
            </a:solidFill>
            <a:tailEnd type="triangle" w="sm" len="sm"/>
          </a:ln>
        </p:spPr>
      </p:cxnSp>
      <p:sp>
        <p:nvSpPr>
          <p:cNvPr id="945" name="text_943"/>
          <p:cNvSpPr txBox="1"/>
          <p:nvPr/>
        </p:nvSpPr>
        <p:spPr>
          <a:xfrm>
            <a:off x="10561320" y="5654040"/>
            <a:ext cx="3810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1">
                <a:solidFill>
                  <a:srgbClr val="161616"/>
                </a:solidFill>
                <a:latin typeface="Liberation Serif"/>
              </a:defRPr>
            </a:pPr>
            <a:r>
              <a:t>α₃</a:t>
            </a:r>
          </a:p>
        </p:txBody>
      </p:sp>
      <p:sp>
        <p:nvSpPr>
          <p:cNvPr id="946" name="hda_alpha_bus"/>
          <p:cNvSpPr/>
          <p:nvPr/>
        </p:nvSpPr>
        <p:spPr>
          <a:xfrm>
            <a:off x="8176260" y="5654040"/>
            <a:ext cx="2575560" cy="175260"/>
          </a:xfrm>
          <a:custGeom>
            <a:avLst/>
            <a:gdLst/>
            <a:ahLst/>
            <a:cxnLst/>
            <a:rect l="l" t="t" r="r" b="b"/>
            <a:pathLst>
              <a:path w="338" h="23">
                <a:moveTo>
                  <a:pt x="0" y="0"/>
                </a:moveTo>
                <a:lnTo>
                  <a:pt x="0" y="23"/>
                </a:lnTo>
                <a:lnTo>
                  <a:pt x="338" y="23"/>
                </a:lnTo>
              </a:path>
            </a:pathLst>
          </a:custGeom>
          <a:noFill/>
          <a:ln w="8382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7" name="text_945"/>
          <p:cNvSpPr txBox="1"/>
          <p:nvPr/>
        </p:nvSpPr>
        <p:spPr>
          <a:xfrm>
            <a:off x="10896600" y="5669280"/>
            <a:ext cx="44196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161616"/>
                </a:solidFill>
                <a:latin typeface="Liberation Serif"/>
              </a:defRPr>
            </a:pPr>
            <a:r>
              <a:t>Mean</a:t>
            </a:r>
          </a:p>
        </p:txBody>
      </p:sp>
      <p:cxnSp>
        <p:nvCxnSpPr>
          <p:cNvPr id="948" name="hda_frozen_0"/>
          <p:cNvCxnSpPr/>
          <p:nvPr/>
        </p:nvCxnSpPr>
        <p:spPr>
          <a:xfrm>
            <a:off x="10363200" y="5562600"/>
            <a:ext cx="152400" cy="0"/>
          </a:xfrm>
          <a:prstGeom prst="line">
            <a:avLst/>
          </a:prstGeom>
          <a:ln w="13716">
            <a:solidFill>
              <a:srgbClr val="2F99D5"/>
            </a:solidFill>
          </a:ln>
        </p:spPr>
      </p:cxnSp>
      <p:cxnSp>
        <p:nvCxnSpPr>
          <p:cNvPr id="949" name="hda_frozen_branch"/>
          <p:cNvCxnSpPr/>
          <p:nvPr/>
        </p:nvCxnSpPr>
        <p:spPr>
          <a:xfrm flipV="1">
            <a:off x="10389870" y="5551447"/>
            <a:ext cx="18189" cy="11153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950" name="hda_frozen_branch"/>
          <p:cNvCxnSpPr/>
          <p:nvPr/>
        </p:nvCxnSpPr>
        <p:spPr>
          <a:xfrm>
            <a:off x="10389870" y="5562600"/>
            <a:ext cx="18189" cy="11152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951" name="hda_frozen_branch"/>
          <p:cNvCxnSpPr/>
          <p:nvPr/>
        </p:nvCxnSpPr>
        <p:spPr>
          <a:xfrm flipH="1">
            <a:off x="10470740" y="5562600"/>
            <a:ext cx="18190" cy="11152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952" name="hda_frozen_branch"/>
          <p:cNvCxnSpPr/>
          <p:nvPr/>
        </p:nvCxnSpPr>
        <p:spPr>
          <a:xfrm flipH="1" flipV="1">
            <a:off x="10470740" y="5551447"/>
            <a:ext cx="18190" cy="11153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953" name="hda_frozen_1"/>
          <p:cNvCxnSpPr/>
          <p:nvPr/>
        </p:nvCxnSpPr>
        <p:spPr>
          <a:xfrm>
            <a:off x="10401300" y="5496608"/>
            <a:ext cx="76200" cy="131983"/>
          </a:xfrm>
          <a:prstGeom prst="line">
            <a:avLst/>
          </a:prstGeom>
          <a:ln w="13716">
            <a:solidFill>
              <a:srgbClr val="2F99D5"/>
            </a:solidFill>
          </a:ln>
        </p:spPr>
      </p:cxnSp>
      <p:cxnSp>
        <p:nvCxnSpPr>
          <p:cNvPr id="954" name="hda_frozen_branch"/>
          <p:cNvCxnSpPr/>
          <p:nvPr/>
        </p:nvCxnSpPr>
        <p:spPr>
          <a:xfrm>
            <a:off x="10414635" y="5519705"/>
            <a:ext cx="18752" cy="10177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955" name="hda_frozen_branch"/>
          <p:cNvCxnSpPr/>
          <p:nvPr/>
        </p:nvCxnSpPr>
        <p:spPr>
          <a:xfrm flipH="1">
            <a:off x="10414071" y="5519705"/>
            <a:ext cx="564" cy="21329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956" name="hda_frozen_branch"/>
          <p:cNvCxnSpPr/>
          <p:nvPr/>
        </p:nvCxnSpPr>
        <p:spPr>
          <a:xfrm flipH="1" flipV="1">
            <a:off x="10445412" y="5595317"/>
            <a:ext cx="18753" cy="10177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957" name="hda_frozen_branch"/>
          <p:cNvCxnSpPr/>
          <p:nvPr/>
        </p:nvCxnSpPr>
        <p:spPr>
          <a:xfrm flipV="1">
            <a:off x="10464165" y="5584165"/>
            <a:ext cx="563" cy="21329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958" name="hda_frozen_2"/>
          <p:cNvCxnSpPr/>
          <p:nvPr/>
        </p:nvCxnSpPr>
        <p:spPr>
          <a:xfrm flipH="1">
            <a:off x="10401300" y="5496608"/>
            <a:ext cx="76200" cy="131983"/>
          </a:xfrm>
          <a:prstGeom prst="line">
            <a:avLst/>
          </a:prstGeom>
          <a:ln w="13716">
            <a:solidFill>
              <a:srgbClr val="2F99D5"/>
            </a:solidFill>
          </a:ln>
        </p:spPr>
      </p:cxnSp>
      <p:cxnSp>
        <p:nvCxnSpPr>
          <p:cNvPr id="959" name="hda_frozen_branch"/>
          <p:cNvCxnSpPr/>
          <p:nvPr/>
        </p:nvCxnSpPr>
        <p:spPr>
          <a:xfrm>
            <a:off x="10464165" y="5519705"/>
            <a:ext cx="563" cy="21329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960" name="hda_frozen_branch"/>
          <p:cNvCxnSpPr/>
          <p:nvPr/>
        </p:nvCxnSpPr>
        <p:spPr>
          <a:xfrm flipH="1">
            <a:off x="10445412" y="5519705"/>
            <a:ext cx="18753" cy="10177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961" name="hda_frozen_branch"/>
          <p:cNvCxnSpPr/>
          <p:nvPr/>
        </p:nvCxnSpPr>
        <p:spPr>
          <a:xfrm flipH="1" flipV="1">
            <a:off x="10414071" y="5584165"/>
            <a:ext cx="564" cy="21329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962" name="hda_frozen_branch"/>
          <p:cNvCxnSpPr/>
          <p:nvPr/>
        </p:nvCxnSpPr>
        <p:spPr>
          <a:xfrm flipV="1">
            <a:off x="10414635" y="5595317"/>
            <a:ext cx="18752" cy="10177"/>
          </a:xfrm>
          <a:prstGeom prst="line">
            <a:avLst/>
          </a:prstGeom>
          <a:ln w="8382">
            <a:solidFill>
              <a:srgbClr val="2F99D5"/>
            </a:solidFill>
          </a:ln>
        </p:spPr>
      </p:cxnSp>
      <p:cxnSp>
        <p:nvCxnSpPr>
          <p:cNvPr id="963" name="mean_to_eg"/>
          <p:cNvCxnSpPr/>
          <p:nvPr/>
        </p:nvCxnSpPr>
        <p:spPr>
          <a:xfrm>
            <a:off x="11506200" y="5440680"/>
            <a:ext cx="228600" cy="0"/>
          </a:xfrm>
          <a:prstGeom prst="line">
            <a:avLst/>
          </a:prstGeom>
          <a:ln w="9144">
            <a:solidFill>
              <a:srgbClr val="161616"/>
            </a:solidFill>
            <a:tailEnd type="triangle" w="sm" len="sm"/>
          </a:ln>
        </p:spPr>
      </p:cxnSp>
      <p:sp>
        <p:nvSpPr>
          <p:cNvPr id="964" name="hda_eg"/>
          <p:cNvSpPr/>
          <p:nvPr/>
        </p:nvSpPr>
        <p:spPr>
          <a:xfrm>
            <a:off x="11772900" y="5227320"/>
            <a:ext cx="236219" cy="441960"/>
          </a:xfrm>
          <a:prstGeom prst="rect">
            <a:avLst/>
          </a:prstGeom>
          <a:solidFill>
            <a:srgbClr val="F6CA42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5" name="rich_963"/>
          <p:cNvSpPr txBox="1"/>
          <p:nvPr/>
        </p:nvSpPr>
        <p:spPr>
          <a:xfrm>
            <a:off x="11742420" y="5143500"/>
            <a:ext cx="2971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60" b="0" i="1">
                <a:solidFill>
                  <a:srgbClr val="161616"/>
                </a:solidFill>
                <a:latin typeface="Liberation Serif"/>
              </a:rPr>
              <a:t>e</a:t>
            </a:r>
            <a:r>
              <a:rPr sz="652" b="0" i="1" baseline="-22000">
                <a:solidFill>
                  <a:srgbClr val="161616"/>
                </a:solidFill>
                <a:latin typeface="Liberation Serif"/>
              </a:rPr>
              <a:t>g</a:t>
            </a:r>
          </a:p>
        </p:txBody>
      </p:sp>
      <p:sp>
        <p:nvSpPr>
          <p:cNvPr id="966" name="hda_dot_2"/>
          <p:cNvSpPr/>
          <p:nvPr/>
        </p:nvSpPr>
        <p:spPr>
          <a:xfrm>
            <a:off x="12146280" y="5326380"/>
            <a:ext cx="213360" cy="213360"/>
          </a:xfrm>
          <a:prstGeom prst="ellipse">
            <a:avLst/>
          </a:prstGeom>
          <a:solidFill>
            <a:srgbClr val="FFFFFF"/>
          </a:solidFill>
          <a:ln w="7620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7" name="text_965"/>
          <p:cNvSpPr txBox="1"/>
          <p:nvPr/>
        </p:nvSpPr>
        <p:spPr>
          <a:xfrm>
            <a:off x="12146280" y="5318760"/>
            <a:ext cx="21336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40" b="0" i="0">
                <a:solidFill>
                  <a:srgbClr val="161616"/>
                </a:solidFill>
                <a:latin typeface="Liberation Sans"/>
              </a:defRPr>
            </a:pPr>
            <a:r>
              <a:t>•</a:t>
            </a:r>
          </a:p>
        </p:txBody>
      </p:sp>
      <p:sp>
        <p:nvSpPr>
          <p:cNvPr id="968" name="text_966"/>
          <p:cNvSpPr txBox="1"/>
          <p:nvPr/>
        </p:nvSpPr>
        <p:spPr>
          <a:xfrm>
            <a:off x="10828020" y="4968240"/>
            <a:ext cx="17145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ED7D31"/>
                </a:solidFill>
                <a:latin typeface="Liberation Serif"/>
              </a:defRPr>
            </a:pPr>
            <a:r>
              <a:t>Token level Alignment</a:t>
            </a:r>
          </a:p>
        </p:txBody>
      </p:sp>
      <p:sp>
        <p:nvSpPr>
          <p:cNvPr id="969" name="token_alignment_matrix_0_0"/>
          <p:cNvSpPr/>
          <p:nvPr/>
        </p:nvSpPr>
        <p:spPr>
          <a:xfrm>
            <a:off x="12473940" y="5212080"/>
            <a:ext cx="137160" cy="137160"/>
          </a:xfrm>
          <a:prstGeom prst="rect">
            <a:avLst/>
          </a:prstGeom>
          <a:solidFill>
            <a:srgbClr val="FFD85A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0" name="token_alignment_matrix_0_1"/>
          <p:cNvSpPr/>
          <p:nvPr/>
        </p:nvSpPr>
        <p:spPr>
          <a:xfrm>
            <a:off x="12618719" y="5212080"/>
            <a:ext cx="137160" cy="137160"/>
          </a:xfrm>
          <a:prstGeom prst="rect">
            <a:avLst/>
          </a:prstGeom>
          <a:solidFill>
            <a:srgbClr val="FFD85A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1" name="token_alignment_matrix_0_2"/>
          <p:cNvSpPr/>
          <p:nvPr/>
        </p:nvSpPr>
        <p:spPr>
          <a:xfrm>
            <a:off x="12763500" y="5212080"/>
            <a:ext cx="137160" cy="137160"/>
          </a:xfrm>
          <a:prstGeom prst="rect">
            <a:avLst/>
          </a:prstGeom>
          <a:solidFill>
            <a:srgbClr val="EEB91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2" name="token_alignment_matrix_1_0"/>
          <p:cNvSpPr/>
          <p:nvPr/>
        </p:nvSpPr>
        <p:spPr>
          <a:xfrm>
            <a:off x="12473940" y="5356860"/>
            <a:ext cx="137160" cy="137160"/>
          </a:xfrm>
          <a:prstGeom prst="rect">
            <a:avLst/>
          </a:prstGeom>
          <a:solidFill>
            <a:srgbClr val="F6CA42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3" name="token_alignment_matrix_1_1"/>
          <p:cNvSpPr/>
          <p:nvPr/>
        </p:nvSpPr>
        <p:spPr>
          <a:xfrm>
            <a:off x="12618719" y="5356860"/>
            <a:ext cx="137160" cy="137160"/>
          </a:xfrm>
          <a:prstGeom prst="rect">
            <a:avLst/>
          </a:prstGeom>
          <a:solidFill>
            <a:srgbClr val="FFD85A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4" name="token_alignment_matrix_1_2"/>
          <p:cNvSpPr/>
          <p:nvPr/>
        </p:nvSpPr>
        <p:spPr>
          <a:xfrm>
            <a:off x="12763500" y="5356860"/>
            <a:ext cx="137160" cy="137160"/>
          </a:xfrm>
          <a:prstGeom prst="rect">
            <a:avLst/>
          </a:prstGeom>
          <a:solidFill>
            <a:srgbClr val="EEB91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5" name="token_alignment_matrix_2_0"/>
          <p:cNvSpPr/>
          <p:nvPr/>
        </p:nvSpPr>
        <p:spPr>
          <a:xfrm>
            <a:off x="12473940" y="5501640"/>
            <a:ext cx="137160" cy="137160"/>
          </a:xfrm>
          <a:prstGeom prst="rect">
            <a:avLst/>
          </a:prstGeom>
          <a:solidFill>
            <a:srgbClr val="EEB915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6" name="token_alignment_matrix_2_1"/>
          <p:cNvSpPr/>
          <p:nvPr/>
        </p:nvSpPr>
        <p:spPr>
          <a:xfrm>
            <a:off x="12618719" y="5501640"/>
            <a:ext cx="137160" cy="137160"/>
          </a:xfrm>
          <a:prstGeom prst="rect">
            <a:avLst/>
          </a:prstGeom>
          <a:solidFill>
            <a:srgbClr val="F6CA42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7" name="token_alignment_matrix_2_2"/>
          <p:cNvSpPr/>
          <p:nvPr/>
        </p:nvSpPr>
        <p:spPr>
          <a:xfrm>
            <a:off x="12763500" y="5501640"/>
            <a:ext cx="137160" cy="137160"/>
          </a:xfrm>
          <a:prstGeom prst="rect">
            <a:avLst/>
          </a:prstGeom>
          <a:solidFill>
            <a:srgbClr val="FFD85A"/>
          </a:solidFill>
          <a:ln w="685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8" name="token_alignment_flame_outer"/>
          <p:cNvSpPr/>
          <p:nvPr/>
        </p:nvSpPr>
        <p:spPr>
          <a:xfrm>
            <a:off x="12847320" y="5425440"/>
            <a:ext cx="106680" cy="167640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7" y="0"/>
                </a:moveTo>
                <a:lnTo>
                  <a:pt x="4" y="7"/>
                </a:lnTo>
                <a:lnTo>
                  <a:pt x="0" y="10"/>
                </a:lnTo>
                <a:lnTo>
                  <a:pt x="1" y="18"/>
                </a:lnTo>
                <a:lnTo>
                  <a:pt x="7" y="22"/>
                </a:lnTo>
                <a:lnTo>
                  <a:pt x="14" y="16"/>
                </a:lnTo>
                <a:lnTo>
                  <a:pt x="12" y="10"/>
                </a:lnTo>
                <a:lnTo>
                  <a:pt x="8" y="5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9" name="token_alignment_flame_inner"/>
          <p:cNvSpPr/>
          <p:nvPr/>
        </p:nvSpPr>
        <p:spPr>
          <a:xfrm>
            <a:off x="12877800" y="5486400"/>
            <a:ext cx="45720" cy="9144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3" y="0"/>
                </a:moveTo>
                <a:lnTo>
                  <a:pt x="0" y="6"/>
                </a:lnTo>
                <a:lnTo>
                  <a:pt x="1" y="10"/>
                </a:lnTo>
                <a:lnTo>
                  <a:pt x="3" y="12"/>
                </a:lnTo>
                <a:lnTo>
                  <a:pt x="6" y="8"/>
                </a:lnTo>
                <a:lnTo>
                  <a:pt x="5" y="4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0" name="rich_978"/>
          <p:cNvSpPr txBox="1"/>
          <p:nvPr/>
        </p:nvSpPr>
        <p:spPr>
          <a:xfrm>
            <a:off x="11864340" y="5600700"/>
            <a:ext cx="381000" cy="2514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40" b="0" i="1">
                <a:solidFill>
                  <a:srgbClr val="161616"/>
                </a:solidFill>
                <a:latin typeface="Liberation Serif"/>
              </a:rPr>
              <a:t>V</a:t>
            </a:r>
            <a:r>
              <a:rPr sz="775" b="0" i="1" baseline="-22000">
                <a:solidFill>
                  <a:srgbClr val="161616"/>
                </a:solidFill>
                <a:latin typeface="Liberation Serif"/>
              </a:rPr>
              <a:t>u</a:t>
            </a:r>
          </a:p>
        </p:txBody>
      </p:sp>
      <p:sp>
        <p:nvSpPr>
          <p:cNvPr id="981" name="text_979"/>
          <p:cNvSpPr txBox="1"/>
          <p:nvPr/>
        </p:nvSpPr>
        <p:spPr>
          <a:xfrm>
            <a:off x="12176760" y="5669280"/>
            <a:ext cx="1905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40" b="0" i="0">
                <a:solidFill>
                  <a:srgbClr val="161616"/>
                </a:solidFill>
                <a:latin typeface="Liberation Sans"/>
              </a:defRPr>
            </a:pPr>
            <a:r>
              <a:t>×</a:t>
            </a:r>
          </a:p>
        </p:txBody>
      </p:sp>
      <p:sp>
        <p:nvSpPr>
          <p:cNvPr id="982" name="vu_frac_top"/>
          <p:cNvSpPr txBox="1"/>
          <p:nvPr/>
        </p:nvSpPr>
        <p:spPr>
          <a:xfrm>
            <a:off x="12344400" y="5516880"/>
            <a:ext cx="243840" cy="1752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20" b="0" i="1">
                <a:solidFill>
                  <a:srgbClr val="161616"/>
                </a:solidFill>
                <a:latin typeface="Liberation Serif"/>
              </a:defRPr>
            </a:pPr>
            <a:r>
              <a:t>|</a:t>
            </a:r>
          </a:p>
        </p:txBody>
      </p:sp>
      <p:sp>
        <p:nvSpPr>
          <p:cNvPr id="983" name="vu_frac_bar"/>
          <p:cNvSpPr/>
          <p:nvPr/>
        </p:nvSpPr>
        <p:spPr>
          <a:xfrm>
            <a:off x="12390119" y="5684520"/>
            <a:ext cx="152400" cy="53340"/>
          </a:xfrm>
          <a:prstGeom prst="rect">
            <a:avLst/>
          </a:prstGeom>
          <a:solidFill>
            <a:srgbClr val="F6CA42"/>
          </a:solidFill>
          <a:ln w="6096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4" name="vu_frac_bottom"/>
          <p:cNvSpPr txBox="1"/>
          <p:nvPr/>
        </p:nvSpPr>
        <p:spPr>
          <a:xfrm>
            <a:off x="12344400" y="5737860"/>
            <a:ext cx="243840" cy="167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1">
                <a:solidFill>
                  <a:srgbClr val="161616"/>
                </a:solidFill>
                <a:latin typeface="Liberation Serif"/>
              </a:defRPr>
            </a:pPr>
          </a:p>
        </p:txBody>
      </p:sp>
      <p:cxnSp>
        <p:nvCxnSpPr>
          <p:cNvPr id="985" name="alignment_to_prompt"/>
          <p:cNvCxnSpPr/>
          <p:nvPr/>
        </p:nvCxnSpPr>
        <p:spPr>
          <a:xfrm>
            <a:off x="12954000" y="5440680"/>
            <a:ext cx="259080" cy="0"/>
          </a:xfrm>
          <a:prstGeom prst="line">
            <a:avLst/>
          </a:prstGeom>
          <a:ln w="9144">
            <a:solidFill>
              <a:srgbClr val="161616"/>
            </a:solidFill>
            <a:tailEnd type="triangle" w="sm" len="sm"/>
          </a:ln>
        </p:spPr>
      </p:cxnSp>
      <p:sp>
        <p:nvSpPr>
          <p:cNvPr id="986" name="domain_prompt_vtokens"/>
          <p:cNvSpPr/>
          <p:nvPr/>
        </p:nvSpPr>
        <p:spPr>
          <a:xfrm>
            <a:off x="13220700" y="5135880"/>
            <a:ext cx="762000" cy="647700"/>
          </a:xfrm>
          <a:prstGeom prst="rect">
            <a:avLst/>
          </a:prstGeom>
          <a:noFill/>
          <a:ln w="8382">
            <a:solidFill>
              <a:srgbClr val="16161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7" name="domain_prompt_token_0"/>
          <p:cNvSpPr/>
          <p:nvPr/>
        </p:nvSpPr>
        <p:spPr>
          <a:xfrm>
            <a:off x="13296900" y="5204460"/>
            <a:ext cx="167640" cy="51816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8" name="domain_prompt_token_0_cell_0"/>
          <p:cNvSpPr/>
          <p:nvPr/>
        </p:nvSpPr>
        <p:spPr>
          <a:xfrm>
            <a:off x="13335000" y="5250180"/>
            <a:ext cx="91440" cy="111760"/>
          </a:xfrm>
          <a:prstGeom prst="rect">
            <a:avLst/>
          </a:prstGeom>
          <a:solidFill>
            <a:srgbClr val="B8C8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9" name="domain_prompt_token_0_cell_1"/>
          <p:cNvSpPr/>
          <p:nvPr/>
        </p:nvSpPr>
        <p:spPr>
          <a:xfrm>
            <a:off x="13335000" y="5407660"/>
            <a:ext cx="91440" cy="111760"/>
          </a:xfrm>
          <a:prstGeom prst="rect">
            <a:avLst/>
          </a:prstGeom>
          <a:solidFill>
            <a:srgbClr val="B8C8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0" name="domain_prompt_token_0_cell_2"/>
          <p:cNvSpPr/>
          <p:nvPr/>
        </p:nvSpPr>
        <p:spPr>
          <a:xfrm>
            <a:off x="13335000" y="5565140"/>
            <a:ext cx="91440" cy="111760"/>
          </a:xfrm>
          <a:prstGeom prst="rect">
            <a:avLst/>
          </a:prstGeom>
          <a:solidFill>
            <a:srgbClr val="B8C8DF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1" name="domain_prompt_token_0_ellipsis"/>
          <p:cNvSpPr txBox="1"/>
          <p:nvPr/>
        </p:nvSpPr>
        <p:spPr>
          <a:xfrm>
            <a:off x="13319760" y="5410200"/>
            <a:ext cx="12192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992" name="domain_prompt_token_1"/>
          <p:cNvSpPr/>
          <p:nvPr/>
        </p:nvSpPr>
        <p:spPr>
          <a:xfrm>
            <a:off x="13517880" y="5204460"/>
            <a:ext cx="167640" cy="51816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3" name="domain_prompt_token_1_cell_0"/>
          <p:cNvSpPr/>
          <p:nvPr/>
        </p:nvSpPr>
        <p:spPr>
          <a:xfrm>
            <a:off x="13555980" y="5250180"/>
            <a:ext cx="91440" cy="111760"/>
          </a:xfrm>
          <a:prstGeom prst="rect">
            <a:avLst/>
          </a:prstGeom>
          <a:solidFill>
            <a:srgbClr val="9DADC1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4" name="domain_prompt_token_1_cell_1"/>
          <p:cNvSpPr/>
          <p:nvPr/>
        </p:nvSpPr>
        <p:spPr>
          <a:xfrm>
            <a:off x="13555980" y="5407660"/>
            <a:ext cx="91440" cy="111760"/>
          </a:xfrm>
          <a:prstGeom prst="rect">
            <a:avLst/>
          </a:prstGeom>
          <a:solidFill>
            <a:srgbClr val="9DADC1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5" name="domain_prompt_token_1_cell_2"/>
          <p:cNvSpPr/>
          <p:nvPr/>
        </p:nvSpPr>
        <p:spPr>
          <a:xfrm>
            <a:off x="13555980" y="5565140"/>
            <a:ext cx="91440" cy="111760"/>
          </a:xfrm>
          <a:prstGeom prst="rect">
            <a:avLst/>
          </a:prstGeom>
          <a:solidFill>
            <a:srgbClr val="9DADC1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6" name="domain_prompt_token_1_ellipsis"/>
          <p:cNvSpPr txBox="1"/>
          <p:nvPr/>
        </p:nvSpPr>
        <p:spPr>
          <a:xfrm>
            <a:off x="13540740" y="5410200"/>
            <a:ext cx="12192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sp>
        <p:nvSpPr>
          <p:cNvPr id="997" name="domain_prompt_token_2"/>
          <p:cNvSpPr/>
          <p:nvPr/>
        </p:nvSpPr>
        <p:spPr>
          <a:xfrm>
            <a:off x="13738860" y="5204460"/>
            <a:ext cx="167640" cy="51816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8" name="domain_prompt_token_2_cell_0"/>
          <p:cNvSpPr/>
          <p:nvPr/>
        </p:nvSpPr>
        <p:spPr>
          <a:xfrm>
            <a:off x="13776960" y="5250180"/>
            <a:ext cx="91440" cy="111760"/>
          </a:xfrm>
          <a:prstGeom prst="rect">
            <a:avLst/>
          </a:prstGeom>
          <a:solidFill>
            <a:srgbClr val="F4DDA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9" name="domain_prompt_token_2_cell_1"/>
          <p:cNvSpPr/>
          <p:nvPr/>
        </p:nvSpPr>
        <p:spPr>
          <a:xfrm>
            <a:off x="13776960" y="5407660"/>
            <a:ext cx="91440" cy="111760"/>
          </a:xfrm>
          <a:prstGeom prst="rect">
            <a:avLst/>
          </a:prstGeom>
          <a:solidFill>
            <a:srgbClr val="F4DDA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0" name="domain_prompt_token_2_cell_2"/>
          <p:cNvSpPr/>
          <p:nvPr/>
        </p:nvSpPr>
        <p:spPr>
          <a:xfrm>
            <a:off x="13776960" y="5565140"/>
            <a:ext cx="91440" cy="111760"/>
          </a:xfrm>
          <a:prstGeom prst="rect">
            <a:avLst/>
          </a:prstGeom>
          <a:solidFill>
            <a:srgbClr val="F4DDA2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1" name="domain_prompt_token_2_ellipsis"/>
          <p:cNvSpPr txBox="1"/>
          <p:nvPr/>
        </p:nvSpPr>
        <p:spPr>
          <a:xfrm>
            <a:off x="13761719" y="5410200"/>
            <a:ext cx="12192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 i="0">
                <a:solidFill>
                  <a:srgbClr val="161616"/>
                </a:solidFill>
                <a:latin typeface="Liberation Sans"/>
              </a:defRPr>
            </a:pPr>
            <a:r>
              <a:t>⋮</a:t>
            </a:r>
          </a:p>
        </p:txBody>
      </p:sp>
      <p:cxnSp>
        <p:nvCxnSpPr>
          <p:cNvPr id="1002" name="prompt_to_domain_tokens"/>
          <p:cNvCxnSpPr/>
          <p:nvPr/>
        </p:nvCxnSpPr>
        <p:spPr>
          <a:xfrm>
            <a:off x="13982700" y="5455920"/>
            <a:ext cx="266700" cy="0"/>
          </a:xfrm>
          <a:prstGeom prst="line">
            <a:avLst/>
          </a:prstGeom>
          <a:ln w="9144">
            <a:solidFill>
              <a:srgbClr val="161616"/>
            </a:solidFill>
            <a:tailEnd type="triangle" w="sm" len="sm"/>
          </a:ln>
        </p:spPr>
      </p:cxnSp>
      <p:sp>
        <p:nvSpPr>
          <p:cNvPr id="1003" name="st_tokens_box"/>
          <p:cNvSpPr/>
          <p:nvPr/>
        </p:nvSpPr>
        <p:spPr>
          <a:xfrm>
            <a:off x="13045440" y="4861560"/>
            <a:ext cx="1424940" cy="327660"/>
          </a:xfrm>
          <a:prstGeom prst="rect">
            <a:avLst/>
          </a:prstGeom>
          <a:noFill/>
          <a:ln w="8382">
            <a:solidFill>
              <a:srgbClr val="16161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4" name="st_tokens_0"/>
          <p:cNvSpPr/>
          <p:nvPr/>
        </p:nvSpPr>
        <p:spPr>
          <a:xfrm>
            <a:off x="13083540" y="4884420"/>
            <a:ext cx="243840" cy="274320"/>
          </a:xfrm>
          <a:prstGeom prst="roundRect">
            <a:avLst>
              <a:gd name="adj" fmla="val 50000"/>
            </a:avLst>
          </a:prstGeom>
          <a:solidFill>
            <a:srgbClr val="BFD4EC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5" name="st_tokens_0_label"/>
          <p:cNvSpPr txBox="1"/>
          <p:nvPr/>
        </p:nvSpPr>
        <p:spPr>
          <a:xfrm>
            <a:off x="13083540" y="4884420"/>
            <a:ext cx="2438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*0</a:t>
            </a:r>
          </a:p>
        </p:txBody>
      </p:sp>
      <p:sp>
        <p:nvSpPr>
          <p:cNvPr id="1006" name="st_tokens_1"/>
          <p:cNvSpPr/>
          <p:nvPr/>
        </p:nvSpPr>
        <p:spPr>
          <a:xfrm>
            <a:off x="13350240" y="4884420"/>
            <a:ext cx="243840" cy="274320"/>
          </a:xfrm>
          <a:prstGeom prst="roundRect">
            <a:avLst>
              <a:gd name="adj" fmla="val 50000"/>
            </a:avLst>
          </a:prstGeom>
          <a:solidFill>
            <a:srgbClr val="BFD4EC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7" name="st_tokens_1_label"/>
          <p:cNvSpPr txBox="1"/>
          <p:nvPr/>
        </p:nvSpPr>
        <p:spPr>
          <a:xfrm>
            <a:off x="13350240" y="4884420"/>
            <a:ext cx="2438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*1</a:t>
            </a:r>
          </a:p>
        </p:txBody>
      </p:sp>
      <p:sp>
        <p:nvSpPr>
          <p:cNvPr id="1008" name="st_tokens_2"/>
          <p:cNvSpPr/>
          <p:nvPr/>
        </p:nvSpPr>
        <p:spPr>
          <a:xfrm>
            <a:off x="13616940" y="4884420"/>
            <a:ext cx="243840" cy="274320"/>
          </a:xfrm>
          <a:prstGeom prst="roundRect">
            <a:avLst>
              <a:gd name="adj" fmla="val 50000"/>
            </a:avLst>
          </a:prstGeom>
          <a:solidFill>
            <a:srgbClr val="BFD4EC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9" name="st_tokens_2_label"/>
          <p:cNvSpPr txBox="1"/>
          <p:nvPr/>
        </p:nvSpPr>
        <p:spPr>
          <a:xfrm>
            <a:off x="13616940" y="4884420"/>
            <a:ext cx="2438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*2</a:t>
            </a:r>
          </a:p>
        </p:txBody>
      </p:sp>
      <p:sp>
        <p:nvSpPr>
          <p:cNvPr id="1010" name="st_tokens_3"/>
          <p:cNvSpPr/>
          <p:nvPr/>
        </p:nvSpPr>
        <p:spPr>
          <a:xfrm>
            <a:off x="13883640" y="4884420"/>
            <a:ext cx="243840" cy="274320"/>
          </a:xfrm>
          <a:prstGeom prst="roundRect">
            <a:avLst>
              <a:gd name="adj" fmla="val 50000"/>
            </a:avLst>
          </a:prstGeom>
          <a:solidFill>
            <a:srgbClr val="BFD4EC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1" name="st_tokens_3_label"/>
          <p:cNvSpPr txBox="1"/>
          <p:nvPr/>
        </p:nvSpPr>
        <p:spPr>
          <a:xfrm>
            <a:off x="13883640" y="4884420"/>
            <a:ext cx="2438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…</a:t>
            </a:r>
          </a:p>
        </p:txBody>
      </p:sp>
      <p:sp>
        <p:nvSpPr>
          <p:cNvPr id="1012" name="st_tokens_4"/>
          <p:cNvSpPr/>
          <p:nvPr/>
        </p:nvSpPr>
        <p:spPr>
          <a:xfrm>
            <a:off x="14150340" y="4884420"/>
            <a:ext cx="243840" cy="274320"/>
          </a:xfrm>
          <a:prstGeom prst="roundRect">
            <a:avLst>
              <a:gd name="adj" fmla="val 50000"/>
            </a:avLst>
          </a:prstGeom>
          <a:solidFill>
            <a:srgbClr val="BFD4EC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3" name="st_tokens_4_label"/>
          <p:cNvSpPr txBox="1"/>
          <p:nvPr/>
        </p:nvSpPr>
        <p:spPr>
          <a:xfrm>
            <a:off x="14150340" y="4884420"/>
            <a:ext cx="2438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*L</a:t>
            </a:r>
          </a:p>
        </p:txBody>
      </p:sp>
      <p:sp>
        <p:nvSpPr>
          <p:cNvPr id="1014" name="text_1012"/>
          <p:cNvSpPr txBox="1"/>
          <p:nvPr/>
        </p:nvSpPr>
        <p:spPr>
          <a:xfrm>
            <a:off x="12999720" y="5173980"/>
            <a:ext cx="1569720" cy="198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61616"/>
                </a:solidFill>
                <a:latin typeface="Liberation Serif"/>
              </a:defRPr>
            </a:pPr>
            <a:r>
              <a:t>Spatio-Temporal Tokens</a:t>
            </a:r>
          </a:p>
        </p:txBody>
      </p:sp>
      <p:sp>
        <p:nvSpPr>
          <p:cNvPr id="1015" name="domain_tokens_box"/>
          <p:cNvSpPr/>
          <p:nvPr/>
        </p:nvSpPr>
        <p:spPr>
          <a:xfrm>
            <a:off x="13045440" y="5387340"/>
            <a:ext cx="1424940" cy="327660"/>
          </a:xfrm>
          <a:prstGeom prst="rect">
            <a:avLst/>
          </a:prstGeom>
          <a:noFill/>
          <a:ln w="8382">
            <a:solidFill>
              <a:srgbClr val="16161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6" name="domain_tokens_0"/>
          <p:cNvSpPr/>
          <p:nvPr/>
        </p:nvSpPr>
        <p:spPr>
          <a:xfrm>
            <a:off x="13083540" y="5410200"/>
            <a:ext cx="243840" cy="274320"/>
          </a:xfrm>
          <a:prstGeom prst="roundRect">
            <a:avLst>
              <a:gd name="adj" fmla="val 50000"/>
            </a:avLst>
          </a:prstGeom>
          <a:solidFill>
            <a:srgbClr val="BFD4EC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7" name="domain_tokens_0_label"/>
          <p:cNvSpPr txBox="1"/>
          <p:nvPr/>
        </p:nvSpPr>
        <p:spPr>
          <a:xfrm>
            <a:off x="13083540" y="5410200"/>
            <a:ext cx="2438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*0</a:t>
            </a:r>
          </a:p>
        </p:txBody>
      </p:sp>
      <p:sp>
        <p:nvSpPr>
          <p:cNvPr id="1018" name="domain_tokens_1"/>
          <p:cNvSpPr/>
          <p:nvPr/>
        </p:nvSpPr>
        <p:spPr>
          <a:xfrm>
            <a:off x="13350240" y="5410200"/>
            <a:ext cx="243840" cy="274320"/>
          </a:xfrm>
          <a:prstGeom prst="roundRect">
            <a:avLst>
              <a:gd name="adj" fmla="val 50000"/>
            </a:avLst>
          </a:prstGeom>
          <a:solidFill>
            <a:srgbClr val="BFD4EC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9" name="domain_tokens_1_label"/>
          <p:cNvSpPr txBox="1"/>
          <p:nvPr/>
        </p:nvSpPr>
        <p:spPr>
          <a:xfrm>
            <a:off x="13350240" y="5410200"/>
            <a:ext cx="2438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*1</a:t>
            </a:r>
          </a:p>
        </p:txBody>
      </p:sp>
      <p:sp>
        <p:nvSpPr>
          <p:cNvPr id="1020" name="domain_tokens_2"/>
          <p:cNvSpPr/>
          <p:nvPr/>
        </p:nvSpPr>
        <p:spPr>
          <a:xfrm>
            <a:off x="13616940" y="5410200"/>
            <a:ext cx="243840" cy="274320"/>
          </a:xfrm>
          <a:prstGeom prst="roundRect">
            <a:avLst>
              <a:gd name="adj" fmla="val 50000"/>
            </a:avLst>
          </a:prstGeom>
          <a:solidFill>
            <a:srgbClr val="F6DF8B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1" name="domain_tokens_2_label"/>
          <p:cNvSpPr txBox="1"/>
          <p:nvPr/>
        </p:nvSpPr>
        <p:spPr>
          <a:xfrm>
            <a:off x="13616940" y="5410200"/>
            <a:ext cx="2438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*2</a:t>
            </a:r>
          </a:p>
        </p:txBody>
      </p:sp>
      <p:sp>
        <p:nvSpPr>
          <p:cNvPr id="1022" name="domain_tokens_3"/>
          <p:cNvSpPr/>
          <p:nvPr/>
        </p:nvSpPr>
        <p:spPr>
          <a:xfrm>
            <a:off x="13883640" y="5410200"/>
            <a:ext cx="243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3" name="domain_tokens_3_label"/>
          <p:cNvSpPr txBox="1"/>
          <p:nvPr/>
        </p:nvSpPr>
        <p:spPr>
          <a:xfrm>
            <a:off x="13883640" y="5410200"/>
            <a:ext cx="2438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…</a:t>
            </a:r>
          </a:p>
        </p:txBody>
      </p:sp>
      <p:sp>
        <p:nvSpPr>
          <p:cNvPr id="1024" name="domain_tokens_4"/>
          <p:cNvSpPr/>
          <p:nvPr/>
        </p:nvSpPr>
        <p:spPr>
          <a:xfrm>
            <a:off x="14150340" y="5410200"/>
            <a:ext cx="243840" cy="274320"/>
          </a:xfrm>
          <a:prstGeom prst="roundRect">
            <a:avLst>
              <a:gd name="adj" fmla="val 50000"/>
            </a:avLst>
          </a:prstGeom>
          <a:solidFill>
            <a:srgbClr val="F6DF8B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5" name="domain_tokens_4_label"/>
          <p:cNvSpPr txBox="1"/>
          <p:nvPr/>
        </p:nvSpPr>
        <p:spPr>
          <a:xfrm>
            <a:off x="14150340" y="5410200"/>
            <a:ext cx="2438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  <a:r>
              <a:t>*L</a:t>
            </a:r>
          </a:p>
        </p:txBody>
      </p:sp>
      <p:sp>
        <p:nvSpPr>
          <p:cNvPr id="1026" name="text_1024"/>
          <p:cNvSpPr txBox="1"/>
          <p:nvPr/>
        </p:nvSpPr>
        <p:spPr>
          <a:xfrm>
            <a:off x="13053060" y="5707380"/>
            <a:ext cx="1478280" cy="198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61616"/>
                </a:solidFill>
                <a:latin typeface="Liberation Serif"/>
              </a:defRPr>
            </a:pPr>
            <a:r>
              <a:t>Domain Prompt Tokens</a:t>
            </a:r>
          </a:p>
        </p:txBody>
      </p:sp>
      <p:sp>
        <p:nvSpPr>
          <p:cNvPr id="1027" name="hda_to_combined"/>
          <p:cNvSpPr/>
          <p:nvPr/>
        </p:nvSpPr>
        <p:spPr>
          <a:xfrm>
            <a:off x="14432280" y="5029200"/>
            <a:ext cx="121920" cy="1485900"/>
          </a:xfrm>
          <a:custGeom>
            <a:avLst/>
            <a:gdLst/>
            <a:ahLst/>
            <a:cxnLst/>
            <a:rect l="l" t="t" r="r" b="b"/>
            <a:pathLst>
              <a:path w="16" h="195">
                <a:moveTo>
                  <a:pt x="4" y="0"/>
                </a:moveTo>
                <a:lnTo>
                  <a:pt x="16" y="0"/>
                </a:lnTo>
                <a:lnTo>
                  <a:pt x="16" y="195"/>
                </a:lnTo>
                <a:lnTo>
                  <a:pt x="0" y="195"/>
                </a:lnTo>
              </a:path>
            </a:pathLst>
          </a:custGeom>
          <a:noFill/>
          <a:ln w="7620">
            <a:solidFill>
              <a:srgbClr val="8A8A8A"/>
            </a:solidFill>
            <a:prstDash val="dash"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8" name="text_1026"/>
          <p:cNvSpPr txBox="1"/>
          <p:nvPr/>
        </p:nvSpPr>
        <p:spPr>
          <a:xfrm>
            <a:off x="9372600" y="6103620"/>
            <a:ext cx="3276600" cy="259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20" b="1" i="0">
                <a:solidFill>
                  <a:srgbClr val="161616"/>
                </a:solidFill>
                <a:latin typeface="Liberation Serif"/>
              </a:defRPr>
            </a:pPr>
            <a:r>
              <a:t>Continual Memory Replay (CMR)</a:t>
            </a:r>
          </a:p>
        </p:txBody>
      </p:sp>
      <p:sp>
        <p:nvSpPr>
          <p:cNvPr id="1029" name="memory_tokens"/>
          <p:cNvSpPr/>
          <p:nvPr/>
        </p:nvSpPr>
        <p:spPr>
          <a:xfrm>
            <a:off x="7482840" y="6423659"/>
            <a:ext cx="975360" cy="419100"/>
          </a:xfrm>
          <a:prstGeom prst="rect">
            <a:avLst/>
          </a:prstGeom>
          <a:noFill/>
          <a:ln w="8382">
            <a:solidFill>
              <a:srgbClr val="16161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0" name="memory_token_0"/>
          <p:cNvSpPr/>
          <p:nvPr/>
        </p:nvSpPr>
        <p:spPr>
          <a:xfrm>
            <a:off x="7559039" y="6477000"/>
            <a:ext cx="190500" cy="3200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1" name="memory_token_0_cell_0"/>
          <p:cNvSpPr/>
          <p:nvPr/>
        </p:nvSpPr>
        <p:spPr>
          <a:xfrm>
            <a:off x="7597140" y="6522720"/>
            <a:ext cx="114300" cy="60960"/>
          </a:xfrm>
          <a:prstGeom prst="rect">
            <a:avLst/>
          </a:prstGeom>
          <a:solidFill>
            <a:srgbClr val="799BD0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2" name="memory_token_0_cell_1"/>
          <p:cNvSpPr/>
          <p:nvPr/>
        </p:nvSpPr>
        <p:spPr>
          <a:xfrm>
            <a:off x="7597140" y="6606540"/>
            <a:ext cx="114300" cy="60960"/>
          </a:xfrm>
          <a:prstGeom prst="rect">
            <a:avLst/>
          </a:prstGeom>
          <a:solidFill>
            <a:srgbClr val="799BD0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3" name="memory_token_0_cell_2"/>
          <p:cNvSpPr/>
          <p:nvPr/>
        </p:nvSpPr>
        <p:spPr>
          <a:xfrm>
            <a:off x="7597140" y="6690360"/>
            <a:ext cx="114300" cy="60960"/>
          </a:xfrm>
          <a:prstGeom prst="rect">
            <a:avLst/>
          </a:prstGeom>
          <a:solidFill>
            <a:srgbClr val="799BD0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4" name="memory_token_1"/>
          <p:cNvSpPr/>
          <p:nvPr/>
        </p:nvSpPr>
        <p:spPr>
          <a:xfrm>
            <a:off x="7840979" y="6477000"/>
            <a:ext cx="190500" cy="3200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5" name="memory_token_1_cell_0"/>
          <p:cNvSpPr/>
          <p:nvPr/>
        </p:nvSpPr>
        <p:spPr>
          <a:xfrm>
            <a:off x="7879080" y="6522720"/>
            <a:ext cx="114300" cy="60960"/>
          </a:xfrm>
          <a:prstGeom prst="rect">
            <a:avLst/>
          </a:prstGeom>
          <a:solidFill>
            <a:srgbClr val="799BD0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6" name="memory_token_1_cell_1"/>
          <p:cNvSpPr/>
          <p:nvPr/>
        </p:nvSpPr>
        <p:spPr>
          <a:xfrm>
            <a:off x="7879080" y="6606540"/>
            <a:ext cx="114300" cy="60960"/>
          </a:xfrm>
          <a:prstGeom prst="rect">
            <a:avLst/>
          </a:prstGeom>
          <a:solidFill>
            <a:srgbClr val="799BD0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7" name="memory_token_1_cell_2"/>
          <p:cNvSpPr/>
          <p:nvPr/>
        </p:nvSpPr>
        <p:spPr>
          <a:xfrm>
            <a:off x="7879080" y="6690360"/>
            <a:ext cx="114300" cy="60960"/>
          </a:xfrm>
          <a:prstGeom prst="rect">
            <a:avLst/>
          </a:prstGeom>
          <a:solidFill>
            <a:srgbClr val="799BD0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8" name="memory_token_2"/>
          <p:cNvSpPr/>
          <p:nvPr/>
        </p:nvSpPr>
        <p:spPr>
          <a:xfrm>
            <a:off x="8122920" y="6477000"/>
            <a:ext cx="190500" cy="32004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9" name="memory_token_2_cell_0"/>
          <p:cNvSpPr/>
          <p:nvPr/>
        </p:nvSpPr>
        <p:spPr>
          <a:xfrm>
            <a:off x="8161020" y="6522720"/>
            <a:ext cx="114300" cy="60960"/>
          </a:xfrm>
          <a:prstGeom prst="rect">
            <a:avLst/>
          </a:prstGeom>
          <a:solidFill>
            <a:srgbClr val="799BD0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0" name="memory_token_2_cell_1"/>
          <p:cNvSpPr/>
          <p:nvPr/>
        </p:nvSpPr>
        <p:spPr>
          <a:xfrm>
            <a:off x="8161020" y="6606540"/>
            <a:ext cx="114300" cy="60960"/>
          </a:xfrm>
          <a:prstGeom prst="rect">
            <a:avLst/>
          </a:prstGeom>
          <a:solidFill>
            <a:srgbClr val="799BD0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1" name="memory_token_2_cell_2"/>
          <p:cNvSpPr/>
          <p:nvPr/>
        </p:nvSpPr>
        <p:spPr>
          <a:xfrm>
            <a:off x="8161020" y="6690360"/>
            <a:ext cx="114300" cy="60960"/>
          </a:xfrm>
          <a:prstGeom prst="rect">
            <a:avLst/>
          </a:prstGeom>
          <a:solidFill>
            <a:srgbClr val="799BD0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2" name="stream_wave_bg"/>
          <p:cNvSpPr/>
          <p:nvPr/>
        </p:nvSpPr>
        <p:spPr>
          <a:xfrm>
            <a:off x="8564880" y="6461760"/>
            <a:ext cx="2796540" cy="342900"/>
          </a:xfrm>
          <a:prstGeom prst="rect">
            <a:avLst/>
          </a:prstGeom>
          <a:solidFill>
            <a:srgbClr val="FFFFFF"/>
          </a:solidFill>
          <a:ln w="5334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3" name="current_stream_wave"/>
          <p:cNvSpPr/>
          <p:nvPr/>
        </p:nvSpPr>
        <p:spPr>
          <a:xfrm>
            <a:off x="8641080" y="6507480"/>
            <a:ext cx="2651760" cy="243840"/>
          </a:xfrm>
          <a:custGeom>
            <a:avLst/>
            <a:gdLst/>
            <a:ahLst/>
            <a:cxnLst/>
            <a:rect l="l" t="t" r="r" b="b"/>
            <a:pathLst>
              <a:path w="348" h="32">
                <a:moveTo>
                  <a:pt x="0" y="24"/>
                </a:moveTo>
                <a:lnTo>
                  <a:pt x="4" y="26"/>
                </a:lnTo>
                <a:lnTo>
                  <a:pt x="8" y="23"/>
                </a:lnTo>
                <a:lnTo>
                  <a:pt x="12" y="14"/>
                </a:lnTo>
                <a:lnTo>
                  <a:pt x="16" y="4"/>
                </a:lnTo>
                <a:lnTo>
                  <a:pt x="20" y="0"/>
                </a:lnTo>
                <a:lnTo>
                  <a:pt x="24" y="7"/>
                </a:lnTo>
                <a:lnTo>
                  <a:pt x="28" y="18"/>
                </a:lnTo>
                <a:lnTo>
                  <a:pt x="32" y="27"/>
                </a:lnTo>
                <a:lnTo>
                  <a:pt x="36" y="28"/>
                </a:lnTo>
                <a:lnTo>
                  <a:pt x="40" y="23"/>
                </a:lnTo>
                <a:lnTo>
                  <a:pt x="44" y="18"/>
                </a:lnTo>
                <a:lnTo>
                  <a:pt x="48" y="15"/>
                </a:lnTo>
                <a:lnTo>
                  <a:pt x="52" y="13"/>
                </a:lnTo>
                <a:lnTo>
                  <a:pt x="56" y="9"/>
                </a:lnTo>
                <a:lnTo>
                  <a:pt x="60" y="5"/>
                </a:lnTo>
                <a:lnTo>
                  <a:pt x="64" y="6"/>
                </a:lnTo>
                <a:lnTo>
                  <a:pt x="68" y="14"/>
                </a:lnTo>
                <a:lnTo>
                  <a:pt x="72" y="25"/>
                </a:lnTo>
                <a:lnTo>
                  <a:pt x="76" y="32"/>
                </a:lnTo>
                <a:lnTo>
                  <a:pt x="80" y="29"/>
                </a:lnTo>
                <a:lnTo>
                  <a:pt x="84" y="18"/>
                </a:lnTo>
                <a:lnTo>
                  <a:pt x="88" y="8"/>
                </a:lnTo>
                <a:lnTo>
                  <a:pt x="92" y="5"/>
                </a:lnTo>
                <a:lnTo>
                  <a:pt x="96" y="8"/>
                </a:lnTo>
                <a:lnTo>
                  <a:pt x="100" y="12"/>
                </a:lnTo>
                <a:lnTo>
                  <a:pt x="104" y="14"/>
                </a:lnTo>
                <a:lnTo>
                  <a:pt x="108" y="16"/>
                </a:lnTo>
                <a:lnTo>
                  <a:pt x="112" y="21"/>
                </a:lnTo>
                <a:lnTo>
                  <a:pt x="116" y="27"/>
                </a:lnTo>
                <a:lnTo>
                  <a:pt x="120" y="28"/>
                </a:lnTo>
                <a:lnTo>
                  <a:pt x="124" y="22"/>
                </a:lnTo>
                <a:lnTo>
                  <a:pt x="128" y="11"/>
                </a:lnTo>
                <a:lnTo>
                  <a:pt x="132" y="2"/>
                </a:lnTo>
                <a:lnTo>
                  <a:pt x="136" y="1"/>
                </a:lnTo>
                <a:lnTo>
                  <a:pt x="140" y="10"/>
                </a:lnTo>
                <a:lnTo>
                  <a:pt x="144" y="20"/>
                </a:lnTo>
                <a:lnTo>
                  <a:pt x="148" y="25"/>
                </a:lnTo>
                <a:lnTo>
                  <a:pt x="152" y="25"/>
                </a:lnTo>
                <a:lnTo>
                  <a:pt x="156" y="22"/>
                </a:lnTo>
                <a:lnTo>
                  <a:pt x="160" y="20"/>
                </a:lnTo>
                <a:lnTo>
                  <a:pt x="164" y="18"/>
                </a:lnTo>
                <a:lnTo>
                  <a:pt x="168" y="14"/>
                </a:lnTo>
                <a:lnTo>
                  <a:pt x="172" y="7"/>
                </a:lnTo>
                <a:lnTo>
                  <a:pt x="176" y="2"/>
                </a:lnTo>
                <a:lnTo>
                  <a:pt x="180" y="6"/>
                </a:lnTo>
                <a:lnTo>
                  <a:pt x="184" y="17"/>
                </a:lnTo>
                <a:lnTo>
                  <a:pt x="188" y="28"/>
                </a:lnTo>
                <a:lnTo>
                  <a:pt x="192" y="31"/>
                </a:lnTo>
                <a:lnTo>
                  <a:pt x="196" y="26"/>
                </a:lnTo>
                <a:lnTo>
                  <a:pt x="200" y="16"/>
                </a:lnTo>
                <a:lnTo>
                  <a:pt x="204" y="9"/>
                </a:lnTo>
                <a:lnTo>
                  <a:pt x="208" y="8"/>
                </a:lnTo>
                <a:lnTo>
                  <a:pt x="212" y="9"/>
                </a:lnTo>
                <a:lnTo>
                  <a:pt x="216" y="10"/>
                </a:lnTo>
                <a:lnTo>
                  <a:pt x="220" y="11"/>
                </a:lnTo>
                <a:lnTo>
                  <a:pt x="224" y="15"/>
                </a:lnTo>
                <a:lnTo>
                  <a:pt x="228" y="23"/>
                </a:lnTo>
                <a:lnTo>
                  <a:pt x="232" y="29"/>
                </a:lnTo>
                <a:lnTo>
                  <a:pt x="236" y="29"/>
                </a:lnTo>
                <a:lnTo>
                  <a:pt x="240" y="20"/>
                </a:lnTo>
                <a:lnTo>
                  <a:pt x="244" y="8"/>
                </a:lnTo>
                <a:lnTo>
                  <a:pt x="248" y="1"/>
                </a:lnTo>
                <a:lnTo>
                  <a:pt x="252" y="4"/>
                </a:lnTo>
                <a:lnTo>
                  <a:pt x="256" y="12"/>
                </a:lnTo>
                <a:lnTo>
                  <a:pt x="260" y="20"/>
                </a:lnTo>
                <a:lnTo>
                  <a:pt x="264" y="22"/>
                </a:lnTo>
                <a:lnTo>
                  <a:pt x="268" y="22"/>
                </a:lnTo>
                <a:lnTo>
                  <a:pt x="272" y="23"/>
                </a:lnTo>
                <a:lnTo>
                  <a:pt x="276" y="23"/>
                </a:lnTo>
                <a:lnTo>
                  <a:pt x="280" y="20"/>
                </a:lnTo>
                <a:lnTo>
                  <a:pt x="284" y="12"/>
                </a:lnTo>
                <a:lnTo>
                  <a:pt x="288" y="4"/>
                </a:lnTo>
                <a:lnTo>
                  <a:pt x="292" y="1"/>
                </a:lnTo>
                <a:lnTo>
                  <a:pt x="296" y="8"/>
                </a:lnTo>
                <a:lnTo>
                  <a:pt x="300" y="20"/>
                </a:lnTo>
                <a:lnTo>
                  <a:pt x="304" y="29"/>
                </a:lnTo>
                <a:lnTo>
                  <a:pt x="308" y="29"/>
                </a:lnTo>
                <a:lnTo>
                  <a:pt x="312" y="23"/>
                </a:lnTo>
                <a:lnTo>
                  <a:pt x="316" y="16"/>
                </a:lnTo>
                <a:lnTo>
                  <a:pt x="320" y="12"/>
                </a:lnTo>
                <a:lnTo>
                  <a:pt x="324" y="11"/>
                </a:lnTo>
                <a:lnTo>
                  <a:pt x="328" y="9"/>
                </a:lnTo>
                <a:lnTo>
                  <a:pt x="332" y="8"/>
                </a:lnTo>
                <a:lnTo>
                  <a:pt x="336" y="9"/>
                </a:lnTo>
                <a:lnTo>
                  <a:pt x="340" y="16"/>
                </a:lnTo>
                <a:lnTo>
                  <a:pt x="344" y="26"/>
                </a:lnTo>
                <a:lnTo>
                  <a:pt x="348" y="31"/>
                </a:lnTo>
              </a:path>
            </a:pathLst>
          </a:custGeom>
          <a:noFill/>
          <a:ln w="8382">
            <a:solidFill>
              <a:srgbClr val="6DA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4" name="memory_buffer_overlay"/>
          <p:cNvSpPr/>
          <p:nvPr/>
        </p:nvSpPr>
        <p:spPr>
          <a:xfrm>
            <a:off x="8564880" y="6461760"/>
            <a:ext cx="72390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5" name="text_1043"/>
          <p:cNvSpPr txBox="1"/>
          <p:nvPr/>
        </p:nvSpPr>
        <p:spPr>
          <a:xfrm>
            <a:off x="8374380" y="6499860"/>
            <a:ext cx="990599" cy="220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3F6CA8"/>
                </a:solidFill>
                <a:latin typeface="Liberation Serif"/>
              </a:defRPr>
            </a:pPr>
            <a:r>
              <a:t>Mem Buffer</a:t>
            </a:r>
          </a:p>
        </p:txBody>
      </p:sp>
      <p:sp>
        <p:nvSpPr>
          <p:cNvPr id="1046" name="text_1044"/>
          <p:cNvSpPr txBox="1"/>
          <p:nvPr/>
        </p:nvSpPr>
        <p:spPr>
          <a:xfrm>
            <a:off x="9677400" y="6499860"/>
            <a:ext cx="1325880" cy="220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6A9D41"/>
                </a:solidFill>
                <a:latin typeface="Liberation Serif"/>
              </a:defRPr>
            </a:pPr>
            <a:r>
              <a:t>Current Stream</a:t>
            </a:r>
          </a:p>
        </p:txBody>
      </p:sp>
      <p:cxnSp>
        <p:nvCxnSpPr>
          <p:cNvPr id="1047" name="buffer_stream_divider"/>
          <p:cNvCxnSpPr/>
          <p:nvPr/>
        </p:nvCxnSpPr>
        <p:spPr>
          <a:xfrm>
            <a:off x="9288780" y="6461760"/>
            <a:ext cx="0" cy="342900"/>
          </a:xfrm>
          <a:prstGeom prst="line">
            <a:avLst/>
          </a:prstGeom>
          <a:ln w="7620">
            <a:solidFill>
              <a:srgbClr val="161616"/>
            </a:solidFill>
            <a:prstDash val="dash"/>
          </a:ln>
        </p:spPr>
      </p:cxnSp>
      <p:sp>
        <p:nvSpPr>
          <p:cNvPr id="1048" name="data_mixing_tokens"/>
          <p:cNvSpPr/>
          <p:nvPr/>
        </p:nvSpPr>
        <p:spPr>
          <a:xfrm>
            <a:off x="11529060" y="6423659"/>
            <a:ext cx="1661160" cy="419100"/>
          </a:xfrm>
          <a:prstGeom prst="rect">
            <a:avLst/>
          </a:prstGeom>
          <a:noFill/>
          <a:ln w="8382">
            <a:solidFill>
              <a:srgbClr val="16161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9" name="mixing_token_0"/>
          <p:cNvSpPr/>
          <p:nvPr/>
        </p:nvSpPr>
        <p:spPr>
          <a:xfrm>
            <a:off x="11605260" y="6469380"/>
            <a:ext cx="175260" cy="32766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0" name="mixing_token_0_cell_0"/>
          <p:cNvSpPr/>
          <p:nvPr/>
        </p:nvSpPr>
        <p:spPr>
          <a:xfrm>
            <a:off x="11643360" y="6515100"/>
            <a:ext cx="99060" cy="63500"/>
          </a:xfrm>
          <a:prstGeom prst="rect">
            <a:avLst/>
          </a:prstGeom>
          <a:solidFill>
            <a:srgbClr val="799BD0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1" name="mixing_token_0_cell_1"/>
          <p:cNvSpPr/>
          <p:nvPr/>
        </p:nvSpPr>
        <p:spPr>
          <a:xfrm>
            <a:off x="11643360" y="6601460"/>
            <a:ext cx="99060" cy="63500"/>
          </a:xfrm>
          <a:prstGeom prst="rect">
            <a:avLst/>
          </a:prstGeom>
          <a:solidFill>
            <a:srgbClr val="799BD0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2" name="mixing_token_0_cell_2"/>
          <p:cNvSpPr/>
          <p:nvPr/>
        </p:nvSpPr>
        <p:spPr>
          <a:xfrm>
            <a:off x="11643360" y="6687819"/>
            <a:ext cx="99060" cy="63500"/>
          </a:xfrm>
          <a:prstGeom prst="rect">
            <a:avLst/>
          </a:prstGeom>
          <a:solidFill>
            <a:srgbClr val="799BD0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3" name="mixing_token_1"/>
          <p:cNvSpPr/>
          <p:nvPr/>
        </p:nvSpPr>
        <p:spPr>
          <a:xfrm>
            <a:off x="11864340" y="6469380"/>
            <a:ext cx="175260" cy="32766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4" name="mixing_token_1_cell_0"/>
          <p:cNvSpPr/>
          <p:nvPr/>
        </p:nvSpPr>
        <p:spPr>
          <a:xfrm>
            <a:off x="11902440" y="6515100"/>
            <a:ext cx="99060" cy="63500"/>
          </a:xfrm>
          <a:prstGeom prst="rect">
            <a:avLst/>
          </a:prstGeom>
          <a:solidFill>
            <a:srgbClr val="799BD0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5" name="mixing_token_1_cell_1"/>
          <p:cNvSpPr/>
          <p:nvPr/>
        </p:nvSpPr>
        <p:spPr>
          <a:xfrm>
            <a:off x="11902440" y="6601460"/>
            <a:ext cx="99060" cy="63500"/>
          </a:xfrm>
          <a:prstGeom prst="rect">
            <a:avLst/>
          </a:prstGeom>
          <a:solidFill>
            <a:srgbClr val="799BD0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6" name="mixing_token_1_cell_2"/>
          <p:cNvSpPr/>
          <p:nvPr/>
        </p:nvSpPr>
        <p:spPr>
          <a:xfrm>
            <a:off x="11902440" y="6687819"/>
            <a:ext cx="99060" cy="63500"/>
          </a:xfrm>
          <a:prstGeom prst="rect">
            <a:avLst/>
          </a:prstGeom>
          <a:solidFill>
            <a:srgbClr val="799BD0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7" name="mixing_token_2"/>
          <p:cNvSpPr/>
          <p:nvPr/>
        </p:nvSpPr>
        <p:spPr>
          <a:xfrm>
            <a:off x="12123420" y="6469380"/>
            <a:ext cx="175260" cy="32766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8" name="mixing_token_2_cell_0"/>
          <p:cNvSpPr/>
          <p:nvPr/>
        </p:nvSpPr>
        <p:spPr>
          <a:xfrm>
            <a:off x="12161519" y="6515100"/>
            <a:ext cx="99060" cy="63500"/>
          </a:xfrm>
          <a:prstGeom prst="rect">
            <a:avLst/>
          </a:prstGeom>
          <a:solidFill>
            <a:srgbClr val="799BD0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9" name="mixing_token_2_cell_1"/>
          <p:cNvSpPr/>
          <p:nvPr/>
        </p:nvSpPr>
        <p:spPr>
          <a:xfrm>
            <a:off x="12161519" y="6601460"/>
            <a:ext cx="99060" cy="63500"/>
          </a:xfrm>
          <a:prstGeom prst="rect">
            <a:avLst/>
          </a:prstGeom>
          <a:solidFill>
            <a:srgbClr val="799BD0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0" name="mixing_token_2_cell_2"/>
          <p:cNvSpPr/>
          <p:nvPr/>
        </p:nvSpPr>
        <p:spPr>
          <a:xfrm>
            <a:off x="12161519" y="6687819"/>
            <a:ext cx="99060" cy="63500"/>
          </a:xfrm>
          <a:prstGeom prst="rect">
            <a:avLst/>
          </a:prstGeom>
          <a:solidFill>
            <a:srgbClr val="799BD0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1" name="mixing_token_3"/>
          <p:cNvSpPr/>
          <p:nvPr/>
        </p:nvSpPr>
        <p:spPr>
          <a:xfrm>
            <a:off x="12382500" y="6469380"/>
            <a:ext cx="175260" cy="32766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2" name="mixing_token_3_cell_0"/>
          <p:cNvSpPr/>
          <p:nvPr/>
        </p:nvSpPr>
        <p:spPr>
          <a:xfrm>
            <a:off x="12420600" y="6515100"/>
            <a:ext cx="99060" cy="63500"/>
          </a:xfrm>
          <a:prstGeom prst="rect">
            <a:avLst/>
          </a:prstGeom>
          <a:solidFill>
            <a:srgbClr val="92C47E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3" name="mixing_token_3_cell_1"/>
          <p:cNvSpPr/>
          <p:nvPr/>
        </p:nvSpPr>
        <p:spPr>
          <a:xfrm>
            <a:off x="12420600" y="6601460"/>
            <a:ext cx="99060" cy="63500"/>
          </a:xfrm>
          <a:prstGeom prst="rect">
            <a:avLst/>
          </a:prstGeom>
          <a:solidFill>
            <a:srgbClr val="92C47E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4" name="mixing_token_3_cell_2"/>
          <p:cNvSpPr/>
          <p:nvPr/>
        </p:nvSpPr>
        <p:spPr>
          <a:xfrm>
            <a:off x="12420600" y="6687819"/>
            <a:ext cx="99060" cy="63500"/>
          </a:xfrm>
          <a:prstGeom prst="rect">
            <a:avLst/>
          </a:prstGeom>
          <a:solidFill>
            <a:srgbClr val="92C47E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5" name="mixing_token_4"/>
          <p:cNvSpPr/>
          <p:nvPr/>
        </p:nvSpPr>
        <p:spPr>
          <a:xfrm>
            <a:off x="12641580" y="6469380"/>
            <a:ext cx="175260" cy="32766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6" name="mixing_token_4_cell_0"/>
          <p:cNvSpPr/>
          <p:nvPr/>
        </p:nvSpPr>
        <p:spPr>
          <a:xfrm>
            <a:off x="12679680" y="6515100"/>
            <a:ext cx="99060" cy="63500"/>
          </a:xfrm>
          <a:prstGeom prst="rect">
            <a:avLst/>
          </a:prstGeom>
          <a:solidFill>
            <a:srgbClr val="92C47E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7" name="mixing_token_4_cell_1"/>
          <p:cNvSpPr/>
          <p:nvPr/>
        </p:nvSpPr>
        <p:spPr>
          <a:xfrm>
            <a:off x="12679680" y="6601460"/>
            <a:ext cx="99060" cy="63500"/>
          </a:xfrm>
          <a:prstGeom prst="rect">
            <a:avLst/>
          </a:prstGeom>
          <a:solidFill>
            <a:srgbClr val="92C47E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8" name="mixing_token_4_cell_2"/>
          <p:cNvSpPr/>
          <p:nvPr/>
        </p:nvSpPr>
        <p:spPr>
          <a:xfrm>
            <a:off x="12679680" y="6687819"/>
            <a:ext cx="99060" cy="63500"/>
          </a:xfrm>
          <a:prstGeom prst="rect">
            <a:avLst/>
          </a:prstGeom>
          <a:solidFill>
            <a:srgbClr val="92C47E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9" name="mixing_token_5"/>
          <p:cNvSpPr/>
          <p:nvPr/>
        </p:nvSpPr>
        <p:spPr>
          <a:xfrm>
            <a:off x="12900660" y="6469380"/>
            <a:ext cx="175260" cy="327660"/>
          </a:xfrm>
          <a:prstGeom prst="rect">
            <a:avLst/>
          </a:prstGeom>
          <a:solidFill>
            <a:srgbClr val="FFFFFF"/>
          </a:solidFill>
          <a:ln w="10668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0" name="mixing_token_5_cell_0"/>
          <p:cNvSpPr/>
          <p:nvPr/>
        </p:nvSpPr>
        <p:spPr>
          <a:xfrm>
            <a:off x="12938760" y="6515100"/>
            <a:ext cx="99060" cy="63500"/>
          </a:xfrm>
          <a:prstGeom prst="rect">
            <a:avLst/>
          </a:prstGeom>
          <a:solidFill>
            <a:srgbClr val="92C47E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1" name="mixing_token_5_cell_1"/>
          <p:cNvSpPr/>
          <p:nvPr/>
        </p:nvSpPr>
        <p:spPr>
          <a:xfrm>
            <a:off x="12938760" y="6601460"/>
            <a:ext cx="99060" cy="63500"/>
          </a:xfrm>
          <a:prstGeom prst="rect">
            <a:avLst/>
          </a:prstGeom>
          <a:solidFill>
            <a:srgbClr val="92C47E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2" name="mixing_token_5_cell_2"/>
          <p:cNvSpPr/>
          <p:nvPr/>
        </p:nvSpPr>
        <p:spPr>
          <a:xfrm>
            <a:off x="12938760" y="6687819"/>
            <a:ext cx="99060" cy="63500"/>
          </a:xfrm>
          <a:prstGeom prst="rect">
            <a:avLst/>
          </a:prstGeom>
          <a:solidFill>
            <a:srgbClr val="92C47E"/>
          </a:solidFill>
          <a:ln w="6096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3" name="text_1071"/>
          <p:cNvSpPr txBox="1"/>
          <p:nvPr/>
        </p:nvSpPr>
        <p:spPr>
          <a:xfrm>
            <a:off x="12595860" y="6248400"/>
            <a:ext cx="7239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8A8A8A"/>
                </a:solidFill>
                <a:latin typeface="Liberation Serif"/>
              </a:defRPr>
            </a:pPr>
            <a:r>
              <a:t>data mixing</a:t>
            </a:r>
          </a:p>
        </p:txBody>
      </p:sp>
      <p:cxnSp>
        <p:nvCxnSpPr>
          <p:cNvPr id="1074" name="mixing_to_combined"/>
          <p:cNvCxnSpPr/>
          <p:nvPr/>
        </p:nvCxnSpPr>
        <p:spPr>
          <a:xfrm>
            <a:off x="13190219" y="6629400"/>
            <a:ext cx="350521" cy="0"/>
          </a:xfrm>
          <a:prstGeom prst="line">
            <a:avLst/>
          </a:prstGeom>
          <a:ln w="9906">
            <a:solidFill>
              <a:srgbClr val="161616"/>
            </a:solidFill>
            <a:tailEnd type="triangle" w="sm" len="sm"/>
          </a:ln>
        </p:spPr>
      </p:cxnSp>
      <p:sp>
        <p:nvSpPr>
          <p:cNvPr id="1075" name="combined_tokens_box"/>
          <p:cNvSpPr/>
          <p:nvPr/>
        </p:nvSpPr>
        <p:spPr>
          <a:xfrm>
            <a:off x="13533119" y="6423659"/>
            <a:ext cx="929640" cy="419100"/>
          </a:xfrm>
          <a:prstGeom prst="rect">
            <a:avLst/>
          </a:prstGeom>
          <a:noFill/>
          <a:ln w="8382">
            <a:solidFill>
              <a:srgbClr val="16161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6" name="combined_tokens_0"/>
          <p:cNvSpPr/>
          <p:nvPr/>
        </p:nvSpPr>
        <p:spPr>
          <a:xfrm>
            <a:off x="13586460" y="6477000"/>
            <a:ext cx="114300" cy="281940"/>
          </a:xfrm>
          <a:prstGeom prst="roundRect">
            <a:avLst>
              <a:gd name="adj" fmla="val 50000"/>
            </a:avLst>
          </a:prstGeom>
          <a:solidFill>
            <a:srgbClr val="B7CCE5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7" name="combined_tokens_0_label"/>
          <p:cNvSpPr txBox="1"/>
          <p:nvPr/>
        </p:nvSpPr>
        <p:spPr>
          <a:xfrm>
            <a:off x="13586460" y="6477000"/>
            <a:ext cx="114300" cy="281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</a:p>
        </p:txBody>
      </p:sp>
      <p:sp>
        <p:nvSpPr>
          <p:cNvPr id="1078" name="combined_tokens_1"/>
          <p:cNvSpPr/>
          <p:nvPr/>
        </p:nvSpPr>
        <p:spPr>
          <a:xfrm>
            <a:off x="13716000" y="6477000"/>
            <a:ext cx="114300" cy="281940"/>
          </a:xfrm>
          <a:prstGeom prst="roundRect">
            <a:avLst>
              <a:gd name="adj" fmla="val 50000"/>
            </a:avLst>
          </a:prstGeom>
          <a:solidFill>
            <a:srgbClr val="B7CCE5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9" name="combined_tokens_1_label"/>
          <p:cNvSpPr txBox="1"/>
          <p:nvPr/>
        </p:nvSpPr>
        <p:spPr>
          <a:xfrm>
            <a:off x="13716000" y="6477000"/>
            <a:ext cx="114300" cy="281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</a:p>
        </p:txBody>
      </p:sp>
      <p:sp>
        <p:nvSpPr>
          <p:cNvPr id="1080" name="combined_tokens_2"/>
          <p:cNvSpPr/>
          <p:nvPr/>
        </p:nvSpPr>
        <p:spPr>
          <a:xfrm>
            <a:off x="13845540" y="6477000"/>
            <a:ext cx="114300" cy="281940"/>
          </a:xfrm>
          <a:prstGeom prst="roundRect">
            <a:avLst>
              <a:gd name="adj" fmla="val 50000"/>
            </a:avLst>
          </a:prstGeom>
          <a:solidFill>
            <a:srgbClr val="F6DF8B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1" name="combined_tokens_2_label"/>
          <p:cNvSpPr txBox="1"/>
          <p:nvPr/>
        </p:nvSpPr>
        <p:spPr>
          <a:xfrm>
            <a:off x="13845540" y="6477000"/>
            <a:ext cx="114300" cy="281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</a:p>
        </p:txBody>
      </p:sp>
      <p:sp>
        <p:nvSpPr>
          <p:cNvPr id="1082" name="combined_tokens_3"/>
          <p:cNvSpPr/>
          <p:nvPr/>
        </p:nvSpPr>
        <p:spPr>
          <a:xfrm>
            <a:off x="13975080" y="6477000"/>
            <a:ext cx="114300" cy="281940"/>
          </a:xfrm>
          <a:prstGeom prst="roundRect">
            <a:avLst>
              <a:gd name="adj" fmla="val 50000"/>
            </a:avLst>
          </a:prstGeom>
          <a:solidFill>
            <a:srgbClr val="F6DF8B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3" name="combined_tokens_3_label"/>
          <p:cNvSpPr txBox="1"/>
          <p:nvPr/>
        </p:nvSpPr>
        <p:spPr>
          <a:xfrm>
            <a:off x="13975080" y="6477000"/>
            <a:ext cx="114300" cy="281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</a:p>
        </p:txBody>
      </p:sp>
      <p:sp>
        <p:nvSpPr>
          <p:cNvPr id="1084" name="combined_tokens_4"/>
          <p:cNvSpPr/>
          <p:nvPr/>
        </p:nvSpPr>
        <p:spPr>
          <a:xfrm>
            <a:off x="14104619" y="6477000"/>
            <a:ext cx="114300" cy="281940"/>
          </a:xfrm>
          <a:prstGeom prst="roundRect">
            <a:avLst>
              <a:gd name="adj" fmla="val 50000"/>
            </a:avLst>
          </a:prstGeom>
          <a:solidFill>
            <a:srgbClr val="BADCB0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5" name="combined_tokens_4_label"/>
          <p:cNvSpPr txBox="1"/>
          <p:nvPr/>
        </p:nvSpPr>
        <p:spPr>
          <a:xfrm>
            <a:off x="14104619" y="6477000"/>
            <a:ext cx="114300" cy="281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</a:p>
        </p:txBody>
      </p:sp>
      <p:sp>
        <p:nvSpPr>
          <p:cNvPr id="1086" name="combined_tokens_5"/>
          <p:cNvSpPr/>
          <p:nvPr/>
        </p:nvSpPr>
        <p:spPr>
          <a:xfrm>
            <a:off x="14234160" y="6477000"/>
            <a:ext cx="114300" cy="281940"/>
          </a:xfrm>
          <a:prstGeom prst="roundRect">
            <a:avLst>
              <a:gd name="adj" fmla="val 50000"/>
            </a:avLst>
          </a:prstGeom>
          <a:solidFill>
            <a:srgbClr val="BADCB0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7" name="combined_tokens_5_label"/>
          <p:cNvSpPr txBox="1"/>
          <p:nvPr/>
        </p:nvSpPr>
        <p:spPr>
          <a:xfrm>
            <a:off x="14234160" y="6477000"/>
            <a:ext cx="114300" cy="281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</a:p>
        </p:txBody>
      </p:sp>
      <p:sp>
        <p:nvSpPr>
          <p:cNvPr id="1088" name="combined_tokens_6"/>
          <p:cNvSpPr/>
          <p:nvPr/>
        </p:nvSpPr>
        <p:spPr>
          <a:xfrm>
            <a:off x="14363700" y="6477000"/>
            <a:ext cx="114300" cy="281940"/>
          </a:xfrm>
          <a:prstGeom prst="roundRect">
            <a:avLst>
              <a:gd name="adj" fmla="val 50000"/>
            </a:avLst>
          </a:prstGeom>
          <a:solidFill>
            <a:srgbClr val="B7CCE5"/>
          </a:solidFill>
          <a:ln w="9144">
            <a:solidFill>
              <a:srgbClr val="405C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9" name="combined_tokens_6_label"/>
          <p:cNvSpPr txBox="1"/>
          <p:nvPr/>
        </p:nvSpPr>
        <p:spPr>
          <a:xfrm>
            <a:off x="14363700" y="6477000"/>
            <a:ext cx="114300" cy="281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61616"/>
                </a:solidFill>
                <a:latin typeface="Liberation Serif"/>
              </a:defRPr>
            </a:pPr>
          </a:p>
        </p:txBody>
      </p:sp>
      <p:sp>
        <p:nvSpPr>
          <p:cNvPr id="1090" name="text_1088"/>
          <p:cNvSpPr txBox="1"/>
          <p:nvPr/>
        </p:nvSpPr>
        <p:spPr>
          <a:xfrm>
            <a:off x="13510260" y="6842760"/>
            <a:ext cx="998219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61616"/>
                </a:solidFill>
                <a:latin typeface="Liberation Serif"/>
              </a:defRPr>
            </a:pPr>
            <a:r>
              <a:t>Combined Tokens</a:t>
            </a:r>
          </a:p>
        </p:txBody>
      </p:sp>
      <p:sp>
        <p:nvSpPr>
          <p:cNvPr id="1091" name="memory_replay_arc"/>
          <p:cNvSpPr/>
          <p:nvPr/>
        </p:nvSpPr>
        <p:spPr>
          <a:xfrm>
            <a:off x="7680960" y="6355080"/>
            <a:ext cx="1607820" cy="106680"/>
          </a:xfrm>
          <a:custGeom>
            <a:avLst/>
            <a:gdLst/>
            <a:ahLst/>
            <a:cxnLst/>
            <a:rect l="l" t="t" r="r" b="b"/>
            <a:pathLst>
              <a:path w="211" h="14">
                <a:moveTo>
                  <a:pt x="0" y="9"/>
                </a:moveTo>
                <a:lnTo>
                  <a:pt x="0" y="0"/>
                </a:lnTo>
                <a:lnTo>
                  <a:pt x="129" y="0"/>
                </a:lnTo>
                <a:lnTo>
                  <a:pt x="211" y="14"/>
                </a:lnTo>
              </a:path>
            </a:pathLst>
          </a:custGeom>
          <a:noFill/>
          <a:ln w="7620">
            <a:solidFill>
              <a:srgbClr val="8A8A8A"/>
            </a:solidFill>
            <a:prstDash val="dash"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2" name="stream_to_mix_arc"/>
          <p:cNvSpPr/>
          <p:nvPr/>
        </p:nvSpPr>
        <p:spPr>
          <a:xfrm>
            <a:off x="10629900" y="6804660"/>
            <a:ext cx="1729740" cy="129540"/>
          </a:xfrm>
          <a:custGeom>
            <a:avLst/>
            <a:gdLst/>
            <a:ahLst/>
            <a:cxnLst/>
            <a:rect l="l" t="t" r="r" b="b"/>
            <a:pathLst>
              <a:path w="227" h="17">
                <a:moveTo>
                  <a:pt x="0" y="0"/>
                </a:moveTo>
                <a:lnTo>
                  <a:pt x="0" y="17"/>
                </a:lnTo>
                <a:lnTo>
                  <a:pt x="227" y="5"/>
                </a:lnTo>
              </a:path>
            </a:pathLst>
          </a:custGeom>
          <a:noFill/>
          <a:ln w="7620">
            <a:solidFill>
              <a:srgbClr val="8A8A8A"/>
            </a:solidFill>
            <a:prstDash val="dash"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3" name="cmr_encoder"/>
          <p:cNvSpPr/>
          <p:nvPr/>
        </p:nvSpPr>
        <p:spPr>
          <a:xfrm>
            <a:off x="12649200" y="7010400"/>
            <a:ext cx="1760220" cy="342900"/>
          </a:xfrm>
          <a:prstGeom prst="roundRect">
            <a:avLst>
              <a:gd name="adj" fmla="val 17777"/>
            </a:avLst>
          </a:prstGeom>
          <a:solidFill>
            <a:srgbClr val="D8EBD0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4" name="text_1092"/>
          <p:cNvSpPr txBox="1"/>
          <p:nvPr/>
        </p:nvSpPr>
        <p:spPr>
          <a:xfrm>
            <a:off x="12816840" y="7071360"/>
            <a:ext cx="1333500" cy="220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erif"/>
              </a:defRPr>
            </a:pPr>
            <a:r>
              <a:t>Transformer Encoder</a:t>
            </a:r>
          </a:p>
        </p:txBody>
      </p:sp>
      <p:sp>
        <p:nvSpPr>
          <p:cNvPr id="1095" name="cmr_encoder_flame_outer"/>
          <p:cNvSpPr/>
          <p:nvPr/>
        </p:nvSpPr>
        <p:spPr>
          <a:xfrm>
            <a:off x="14211300" y="7094220"/>
            <a:ext cx="106680" cy="167640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7" y="0"/>
                </a:moveTo>
                <a:lnTo>
                  <a:pt x="5" y="7"/>
                </a:lnTo>
                <a:lnTo>
                  <a:pt x="0" y="11"/>
                </a:lnTo>
                <a:lnTo>
                  <a:pt x="1" y="17"/>
                </a:lnTo>
                <a:lnTo>
                  <a:pt x="7" y="22"/>
                </a:lnTo>
                <a:lnTo>
                  <a:pt x="14" y="17"/>
                </a:lnTo>
                <a:lnTo>
                  <a:pt x="12" y="11"/>
                </a:lnTo>
                <a:lnTo>
                  <a:pt x="9" y="5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6" name="cmr_encoder_flame_inner"/>
          <p:cNvSpPr/>
          <p:nvPr/>
        </p:nvSpPr>
        <p:spPr>
          <a:xfrm>
            <a:off x="14241780" y="7155180"/>
            <a:ext cx="45720" cy="9144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3" y="0"/>
                </a:moveTo>
                <a:lnTo>
                  <a:pt x="0" y="5"/>
                </a:lnTo>
                <a:lnTo>
                  <a:pt x="1" y="10"/>
                </a:lnTo>
                <a:lnTo>
                  <a:pt x="3" y="12"/>
                </a:lnTo>
                <a:lnTo>
                  <a:pt x="6" y="8"/>
                </a:lnTo>
                <a:lnTo>
                  <a:pt x="5" y="5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7" name="cmr_decoder"/>
          <p:cNvSpPr/>
          <p:nvPr/>
        </p:nvSpPr>
        <p:spPr>
          <a:xfrm>
            <a:off x="10355580" y="7010400"/>
            <a:ext cx="2034540" cy="342900"/>
          </a:xfrm>
          <a:prstGeom prst="roundRect">
            <a:avLst>
              <a:gd name="adj" fmla="val 17777"/>
            </a:avLst>
          </a:prstGeom>
          <a:solidFill>
            <a:srgbClr val="D8EBD0"/>
          </a:solidFill>
          <a:ln w="7620">
            <a:solidFill>
              <a:srgbClr val="1616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8" name="text_1096"/>
          <p:cNvSpPr txBox="1"/>
          <p:nvPr/>
        </p:nvSpPr>
        <p:spPr>
          <a:xfrm>
            <a:off x="10515600" y="7071360"/>
            <a:ext cx="1569720" cy="220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erif"/>
              </a:defRPr>
            </a:pPr>
            <a:r>
              <a:t>Transformer Decoder</a:t>
            </a:r>
          </a:p>
        </p:txBody>
      </p:sp>
      <p:sp>
        <p:nvSpPr>
          <p:cNvPr id="1099" name="cmr_decoder_flame_outer"/>
          <p:cNvSpPr/>
          <p:nvPr/>
        </p:nvSpPr>
        <p:spPr>
          <a:xfrm>
            <a:off x="12199620" y="7094220"/>
            <a:ext cx="106680" cy="167640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7" y="0"/>
                </a:moveTo>
                <a:lnTo>
                  <a:pt x="5" y="7"/>
                </a:lnTo>
                <a:lnTo>
                  <a:pt x="0" y="11"/>
                </a:lnTo>
                <a:lnTo>
                  <a:pt x="1" y="17"/>
                </a:lnTo>
                <a:lnTo>
                  <a:pt x="7" y="22"/>
                </a:lnTo>
                <a:lnTo>
                  <a:pt x="14" y="17"/>
                </a:lnTo>
                <a:lnTo>
                  <a:pt x="12" y="11"/>
                </a:lnTo>
                <a:lnTo>
                  <a:pt x="9" y="5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0" name="cmr_decoder_flame_inner"/>
          <p:cNvSpPr/>
          <p:nvPr/>
        </p:nvSpPr>
        <p:spPr>
          <a:xfrm>
            <a:off x="12230100" y="7155180"/>
            <a:ext cx="45720" cy="9144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3" y="0"/>
                </a:moveTo>
                <a:lnTo>
                  <a:pt x="0" y="5"/>
                </a:lnTo>
                <a:lnTo>
                  <a:pt x="1" y="10"/>
                </a:lnTo>
                <a:lnTo>
                  <a:pt x="3" y="12"/>
                </a:lnTo>
                <a:lnTo>
                  <a:pt x="6" y="8"/>
                </a:lnTo>
                <a:lnTo>
                  <a:pt x="5" y="5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1" name="cmr_prediction"/>
          <p:cNvSpPr/>
          <p:nvPr/>
        </p:nvSpPr>
        <p:spPr>
          <a:xfrm>
            <a:off x="8229600" y="7010400"/>
            <a:ext cx="1661160" cy="342900"/>
          </a:xfrm>
          <a:prstGeom prst="roundRect">
            <a:avLst>
              <a:gd name="adj" fmla="val 17777"/>
            </a:avLst>
          </a:prstGeom>
          <a:solidFill>
            <a:srgbClr val="C8E5B5"/>
          </a:solidFill>
          <a:ln w="7620">
            <a:solidFill>
              <a:srgbClr val="75B54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2" name="text_1100"/>
          <p:cNvSpPr txBox="1"/>
          <p:nvPr/>
        </p:nvSpPr>
        <p:spPr>
          <a:xfrm>
            <a:off x="8404860" y="7071360"/>
            <a:ext cx="1203960" cy="220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erif"/>
              </a:defRPr>
            </a:pPr>
            <a:r>
              <a:t>Prediction Head</a:t>
            </a:r>
          </a:p>
        </p:txBody>
      </p:sp>
      <p:sp>
        <p:nvSpPr>
          <p:cNvPr id="1103" name="cmr_prediction_flame_outer"/>
          <p:cNvSpPr/>
          <p:nvPr/>
        </p:nvSpPr>
        <p:spPr>
          <a:xfrm>
            <a:off x="9692640" y="7094220"/>
            <a:ext cx="106680" cy="167640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7" y="0"/>
                </a:moveTo>
                <a:lnTo>
                  <a:pt x="4" y="7"/>
                </a:lnTo>
                <a:lnTo>
                  <a:pt x="0" y="11"/>
                </a:lnTo>
                <a:lnTo>
                  <a:pt x="1" y="17"/>
                </a:lnTo>
                <a:lnTo>
                  <a:pt x="7" y="22"/>
                </a:lnTo>
                <a:lnTo>
                  <a:pt x="14" y="17"/>
                </a:lnTo>
                <a:lnTo>
                  <a:pt x="12" y="11"/>
                </a:lnTo>
                <a:lnTo>
                  <a:pt x="8" y="5"/>
                </a:lnTo>
                <a:close/>
              </a:path>
            </a:pathLst>
          </a:custGeom>
          <a:solidFill>
            <a:srgbClr val="FF6634"/>
          </a:solidFill>
          <a:ln w="4572">
            <a:solidFill>
              <a:srgbClr val="DF5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4" name="cmr_prediction_flame_inner"/>
          <p:cNvSpPr/>
          <p:nvPr/>
        </p:nvSpPr>
        <p:spPr>
          <a:xfrm>
            <a:off x="9723120" y="7155180"/>
            <a:ext cx="45720" cy="9144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3" y="0"/>
                </a:moveTo>
                <a:lnTo>
                  <a:pt x="0" y="5"/>
                </a:lnTo>
                <a:lnTo>
                  <a:pt x="1" y="10"/>
                </a:lnTo>
                <a:lnTo>
                  <a:pt x="3" y="12"/>
                </a:lnTo>
                <a:lnTo>
                  <a:pt x="6" y="8"/>
                </a:lnTo>
                <a:lnTo>
                  <a:pt x="5" y="5"/>
                </a:lnTo>
                <a:close/>
              </a:path>
            </a:pathLst>
          </a:custGeom>
          <a:solidFill>
            <a:srgbClr val="FFD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5" name="combined_to_encoder"/>
          <p:cNvSpPr/>
          <p:nvPr/>
        </p:nvSpPr>
        <p:spPr>
          <a:xfrm>
            <a:off x="14409420" y="6629400"/>
            <a:ext cx="144780" cy="556260"/>
          </a:xfrm>
          <a:custGeom>
            <a:avLst/>
            <a:gdLst/>
            <a:ahLst/>
            <a:cxnLst/>
            <a:rect l="l" t="t" r="r" b="b"/>
            <a:pathLst>
              <a:path w="19" h="73">
                <a:moveTo>
                  <a:pt x="7" y="0"/>
                </a:moveTo>
                <a:lnTo>
                  <a:pt x="19" y="0"/>
                </a:lnTo>
                <a:lnTo>
                  <a:pt x="19" y="73"/>
                </a:lnTo>
                <a:lnTo>
                  <a:pt x="0" y="73"/>
                </a:lnTo>
              </a:path>
            </a:pathLst>
          </a:custGeom>
          <a:noFill/>
          <a:ln w="7620">
            <a:solidFill>
              <a:srgbClr val="8A8A8A"/>
            </a:solidFill>
            <a:prstDash val="dash"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06" name="encoder_to_decoder"/>
          <p:cNvCxnSpPr/>
          <p:nvPr/>
        </p:nvCxnSpPr>
        <p:spPr>
          <a:xfrm flipH="1">
            <a:off x="12390119" y="7185660"/>
            <a:ext cx="259081" cy="0"/>
          </a:xfrm>
          <a:prstGeom prst="line">
            <a:avLst/>
          </a:prstGeom>
          <a:ln w="9906">
            <a:solidFill>
              <a:srgbClr val="161616"/>
            </a:solidFill>
            <a:tailEnd type="triangle" w="sm" len="sm"/>
          </a:ln>
        </p:spPr>
      </p:cxnSp>
      <p:cxnSp>
        <p:nvCxnSpPr>
          <p:cNvPr id="1107" name="decoder_to_prediction"/>
          <p:cNvCxnSpPr/>
          <p:nvPr/>
        </p:nvCxnSpPr>
        <p:spPr>
          <a:xfrm flipH="1">
            <a:off x="9890760" y="7185660"/>
            <a:ext cx="464820" cy="0"/>
          </a:xfrm>
          <a:prstGeom prst="line">
            <a:avLst/>
          </a:prstGeom>
          <a:ln w="9906">
            <a:solidFill>
              <a:srgbClr val="161616"/>
            </a:solidFill>
            <a:tailEnd type="triangle" w="sm" len="sm"/>
          </a:ln>
        </p:spPr>
      </p:cxnSp>
      <p:cxnSp>
        <p:nvCxnSpPr>
          <p:cNvPr id="1108" name="prediction_to_future"/>
          <p:cNvCxnSpPr/>
          <p:nvPr/>
        </p:nvCxnSpPr>
        <p:spPr>
          <a:xfrm flipH="1">
            <a:off x="7917180" y="7185660"/>
            <a:ext cx="312420" cy="0"/>
          </a:xfrm>
          <a:prstGeom prst="line">
            <a:avLst/>
          </a:prstGeom>
          <a:ln w="9906">
            <a:solidFill>
              <a:srgbClr val="161616"/>
            </a:solidFill>
            <a:tailEnd type="triangle" w="sm" len="sm"/>
          </a:ln>
        </p:spPr>
      </p:cxnSp>
      <p:sp>
        <p:nvSpPr>
          <p:cNvPr id="1109" name="text_1107"/>
          <p:cNvSpPr txBox="1"/>
          <p:nvPr/>
        </p:nvSpPr>
        <p:spPr>
          <a:xfrm>
            <a:off x="7421880" y="6979920"/>
            <a:ext cx="510540" cy="4038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61616"/>
                </a:solidFill>
                <a:latin typeface="Liberation Serif"/>
              </a:defRPr>
            </a:pPr>
            <a:r>
              <a:t>Future</a:t>
            </a:r>
            <a:br/>
            <a:r>
              <a:t>Value</a:t>
            </a:r>
          </a:p>
        </p:txBody>
      </p:sp>
      <p:sp>
        <p:nvSpPr>
          <p:cNvPr id="1110" name="text_1108"/>
          <p:cNvSpPr txBox="1"/>
          <p:nvPr/>
        </p:nvSpPr>
        <p:spPr>
          <a:xfrm>
            <a:off x="1493520" y="7604760"/>
            <a:ext cx="4190999" cy="259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61616"/>
                </a:solidFill>
                <a:latin typeface="Liberation Serif"/>
              </a:defRPr>
            </a:pPr>
            <a:r>
              <a:t>Stage 1: Universal Temporal Pretraining (UTP)</a:t>
            </a:r>
          </a:p>
        </p:txBody>
      </p:sp>
      <p:sp>
        <p:nvSpPr>
          <p:cNvPr id="1111" name="text_1109"/>
          <p:cNvSpPr txBox="1"/>
          <p:nvPr/>
        </p:nvSpPr>
        <p:spPr>
          <a:xfrm>
            <a:off x="9044940" y="7604760"/>
            <a:ext cx="4572000" cy="259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61616"/>
                </a:solidFill>
                <a:latin typeface="Liberation Serif"/>
              </a:defRPr>
            </a:pPr>
            <a:r>
              <a:t>Stage 2: Spatio-Temporal Adaptation (STA)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Learning to Factorize Spatio-Temporal Foundation Model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4630398" cy="78714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