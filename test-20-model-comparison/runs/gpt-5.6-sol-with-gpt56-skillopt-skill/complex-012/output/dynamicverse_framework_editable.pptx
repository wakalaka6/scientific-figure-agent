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425082" cy="9144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white canvas"/>
          <p:cNvSpPr/>
          <p:nvPr/>
        </p:nvSpPr>
        <p:spPr>
          <a:xfrm>
            <a:off x="0" y="0"/>
            <a:ext cx="12425082" cy="9144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stage 1 title"/>
          <p:cNvSpPr txBox="1"/>
          <p:nvPr/>
        </p:nvSpPr>
        <p:spPr>
          <a:xfrm>
            <a:off x="336176" y="20170"/>
            <a:ext cx="11698941" cy="29583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936"/>
              </a:lnSpc>
              <a:spcBef>
                <a:spcPts val="0"/>
              </a:spcBef>
              <a:spcAft>
                <a:spcPts val="0"/>
              </a:spcAft>
            </a:pPr>
            <a:r>
              <a:rPr sz="1641" b="1" i="0" u="none">
                <a:solidFill>
                  <a:srgbClr val="235F95"/>
                </a:solidFill>
                <a:latin typeface="Liberation Sans"/>
              </a:rPr>
              <a:t>Stage 1 : Generating Metric-scale Camera, Video Depth, Object Category, Object Mask and Size</a:t>
            </a:r>
          </a:p>
        </p:txBody>
      </p:sp>
      <p:sp>
        <p:nvSpPr>
          <p:cNvPr id="4" name="soft shadow"/>
          <p:cNvSpPr/>
          <p:nvPr/>
        </p:nvSpPr>
        <p:spPr>
          <a:xfrm>
            <a:off x="302558" y="524435"/>
            <a:ext cx="3025588" cy="3697941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aw data panel"/>
          <p:cNvSpPr/>
          <p:nvPr/>
        </p:nvSpPr>
        <p:spPr>
          <a:xfrm>
            <a:off x="268941" y="484094"/>
            <a:ext cx="3025588" cy="3697941"/>
          </a:xfrm>
          <a:prstGeom prst="roundRect">
            <a:avLst/>
          </a:prstGeom>
          <a:solidFill>
            <a:srgbClr val="FFFFFF"/>
          </a:solidFill>
          <a:ln w="33617">
            <a:solidFill>
              <a:srgbClr val="B8B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soft shadow"/>
          <p:cNvSpPr/>
          <p:nvPr/>
        </p:nvSpPr>
        <p:spPr>
          <a:xfrm>
            <a:off x="3516405" y="524435"/>
            <a:ext cx="2622176" cy="3711388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model panel"/>
          <p:cNvSpPr/>
          <p:nvPr/>
        </p:nvSpPr>
        <p:spPr>
          <a:xfrm>
            <a:off x="3482788" y="484094"/>
            <a:ext cx="2622176" cy="3711388"/>
          </a:xfrm>
          <a:prstGeom prst="roundRect">
            <a:avLst/>
          </a:prstGeom>
          <a:solidFill>
            <a:srgbClr val="FFF8F8"/>
          </a:solidFill>
          <a:ln w="33617">
            <a:solidFill>
              <a:srgbClr val="F6A4A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soft shadow"/>
          <p:cNvSpPr/>
          <p:nvPr/>
        </p:nvSpPr>
        <p:spPr>
          <a:xfrm>
            <a:off x="6353735" y="531158"/>
            <a:ext cx="2716305" cy="2205317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filter panel"/>
          <p:cNvSpPr/>
          <p:nvPr/>
        </p:nvSpPr>
        <p:spPr>
          <a:xfrm>
            <a:off x="6320117" y="490817"/>
            <a:ext cx="2716305" cy="2205317"/>
          </a:xfrm>
          <a:prstGeom prst="roundRect">
            <a:avLst/>
          </a:prstGeom>
          <a:solidFill>
            <a:srgbClr val="FBFFFB"/>
          </a:solidFill>
          <a:ln w="33617">
            <a:solidFill>
              <a:srgbClr val="709E6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soft shadow"/>
          <p:cNvSpPr/>
          <p:nvPr/>
        </p:nvSpPr>
        <p:spPr>
          <a:xfrm>
            <a:off x="6367182" y="2985247"/>
            <a:ext cx="2709582" cy="1237129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overy panel"/>
          <p:cNvSpPr/>
          <p:nvPr/>
        </p:nvSpPr>
        <p:spPr>
          <a:xfrm>
            <a:off x="6333564" y="2944905"/>
            <a:ext cx="2709582" cy="1237129"/>
          </a:xfrm>
          <a:prstGeom prst="roundRect">
            <a:avLst/>
          </a:prstGeom>
          <a:solidFill>
            <a:srgbClr val="FBFEFF"/>
          </a:solidFill>
          <a:ln w="33617">
            <a:solidFill>
              <a:srgbClr val="7EB0D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soft shadow"/>
          <p:cNvSpPr/>
          <p:nvPr/>
        </p:nvSpPr>
        <p:spPr>
          <a:xfrm>
            <a:off x="9312088" y="517711"/>
            <a:ext cx="3018864" cy="3664323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bundle panel"/>
          <p:cNvSpPr/>
          <p:nvPr/>
        </p:nvSpPr>
        <p:spPr>
          <a:xfrm>
            <a:off x="9278470" y="477370"/>
            <a:ext cx="3018864" cy="3664323"/>
          </a:xfrm>
          <a:prstGeom prst="roundRect">
            <a:avLst/>
          </a:prstGeom>
          <a:solidFill>
            <a:srgbClr val="FFFFFF"/>
          </a:solidFill>
          <a:ln w="26894">
            <a:solidFill>
              <a:srgbClr val="E7B72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bundle inner card"/>
          <p:cNvSpPr/>
          <p:nvPr/>
        </p:nvSpPr>
        <p:spPr>
          <a:xfrm>
            <a:off x="9352429" y="571500"/>
            <a:ext cx="2864223" cy="3489511"/>
          </a:xfrm>
          <a:prstGeom prst="roundRect">
            <a:avLst/>
          </a:prstGeom>
          <a:solidFill>
            <a:srgbClr val="F8F5F3"/>
          </a:solidFill>
          <a:ln w="13447">
            <a:solidFill>
              <a:srgbClr val="B8B8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aw to models"/>
          <p:cNvSpPr/>
          <p:nvPr/>
        </p:nvSpPr>
        <p:spPr>
          <a:xfrm>
            <a:off x="3267378" y="2144637"/>
            <a:ext cx="228582" cy="336150"/>
          </a:xfrm>
          <a:custGeom>
            <a:avLst/>
            <a:gdLst/>
            <a:ahLst/>
            <a:cxnLst/>
            <a:rect l="l" t="t" r="r" b="b"/>
            <a:pathLst>
              <a:path w="34" h="50">
                <a:moveTo>
                  <a:pt x="0" y="12"/>
                </a:moveTo>
                <a:lnTo>
                  <a:pt x="19" y="12"/>
                </a:lnTo>
                <a:lnTo>
                  <a:pt x="19" y="0"/>
                </a:lnTo>
                <a:lnTo>
                  <a:pt x="34" y="25"/>
                </a:lnTo>
                <a:lnTo>
                  <a:pt x="19" y="50"/>
                </a:lnTo>
                <a:lnTo>
                  <a:pt x="19" y="38"/>
                </a:lnTo>
                <a:lnTo>
                  <a:pt x="0" y="38"/>
                </a:lnTo>
                <a:close/>
              </a:path>
            </a:pathLst>
          </a:custGeom>
          <a:solidFill>
            <a:srgbClr val="A8A8A8"/>
          </a:solidFill>
          <a:ln w="6723">
            <a:solidFill>
              <a:srgbClr val="A8A8A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models to filters"/>
          <p:cNvSpPr/>
          <p:nvPr/>
        </p:nvSpPr>
        <p:spPr>
          <a:xfrm>
            <a:off x="6097761" y="1472337"/>
            <a:ext cx="242028" cy="356319"/>
          </a:xfrm>
          <a:custGeom>
            <a:avLst/>
            <a:gdLst/>
            <a:ahLst/>
            <a:cxnLst/>
            <a:rect l="l" t="t" r="r" b="b"/>
            <a:pathLst>
              <a:path w="36" h="53">
                <a:moveTo>
                  <a:pt x="0" y="13"/>
                </a:moveTo>
                <a:lnTo>
                  <a:pt x="20" y="13"/>
                </a:lnTo>
                <a:lnTo>
                  <a:pt x="20" y="0"/>
                </a:lnTo>
                <a:lnTo>
                  <a:pt x="36" y="27"/>
                </a:lnTo>
                <a:lnTo>
                  <a:pt x="20" y="53"/>
                </a:lnTo>
                <a:lnTo>
                  <a:pt x="2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DE150E"/>
          </a:solidFill>
          <a:ln w="6723">
            <a:solidFill>
              <a:srgbClr val="DE150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models to recovery"/>
          <p:cNvSpPr/>
          <p:nvPr/>
        </p:nvSpPr>
        <p:spPr>
          <a:xfrm>
            <a:off x="6097761" y="3186702"/>
            <a:ext cx="242028" cy="356319"/>
          </a:xfrm>
          <a:custGeom>
            <a:avLst/>
            <a:gdLst/>
            <a:ahLst/>
            <a:cxnLst/>
            <a:rect l="l" t="t" r="r" b="b"/>
            <a:pathLst>
              <a:path w="36" h="53">
                <a:moveTo>
                  <a:pt x="0" y="13"/>
                </a:moveTo>
                <a:lnTo>
                  <a:pt x="20" y="13"/>
                </a:lnTo>
                <a:lnTo>
                  <a:pt x="20" y="0"/>
                </a:lnTo>
                <a:lnTo>
                  <a:pt x="36" y="26"/>
                </a:lnTo>
                <a:lnTo>
                  <a:pt x="20" y="53"/>
                </a:lnTo>
                <a:lnTo>
                  <a:pt x="20" y="40"/>
                </a:lnTo>
                <a:lnTo>
                  <a:pt x="0" y="40"/>
                </a:lnTo>
                <a:close/>
              </a:path>
            </a:pathLst>
          </a:custGeom>
          <a:solidFill>
            <a:srgbClr val="E61913"/>
          </a:solidFill>
          <a:ln w="6723">
            <a:solidFill>
              <a:srgbClr val="E6191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filter to bundle"/>
          <p:cNvSpPr/>
          <p:nvPr/>
        </p:nvSpPr>
        <p:spPr>
          <a:xfrm>
            <a:off x="9035712" y="1472337"/>
            <a:ext cx="255474" cy="356319"/>
          </a:xfrm>
          <a:custGeom>
            <a:avLst/>
            <a:gdLst/>
            <a:ahLst/>
            <a:cxnLst/>
            <a:rect l="l" t="t" r="r" b="b"/>
            <a:pathLst>
              <a:path w="38" h="53">
                <a:moveTo>
                  <a:pt x="0" y="13"/>
                </a:moveTo>
                <a:lnTo>
                  <a:pt x="21" y="13"/>
                </a:lnTo>
                <a:lnTo>
                  <a:pt x="21" y="0"/>
                </a:lnTo>
                <a:lnTo>
                  <a:pt x="38" y="27"/>
                </a:lnTo>
                <a:lnTo>
                  <a:pt x="21" y="53"/>
                </a:lnTo>
                <a:lnTo>
                  <a:pt x="21" y="40"/>
                </a:lnTo>
                <a:lnTo>
                  <a:pt x="0" y="40"/>
                </a:lnTo>
                <a:close/>
              </a:path>
            </a:pathLst>
          </a:custGeom>
          <a:solidFill>
            <a:srgbClr val="398436"/>
          </a:solidFill>
          <a:ln w="6723">
            <a:solidFill>
              <a:srgbClr val="39843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overy to bundle"/>
          <p:cNvSpPr/>
          <p:nvPr/>
        </p:nvSpPr>
        <p:spPr>
          <a:xfrm>
            <a:off x="9035712" y="3179979"/>
            <a:ext cx="262197" cy="363042"/>
          </a:xfrm>
          <a:custGeom>
            <a:avLst/>
            <a:gdLst/>
            <a:ahLst/>
            <a:cxnLst/>
            <a:rect l="l" t="t" r="r" b="b"/>
            <a:pathLst>
              <a:path w="39" h="54">
                <a:moveTo>
                  <a:pt x="0" y="13"/>
                </a:moveTo>
                <a:lnTo>
                  <a:pt x="22" y="13"/>
                </a:lnTo>
                <a:lnTo>
                  <a:pt x="22" y="0"/>
                </a:lnTo>
                <a:lnTo>
                  <a:pt x="39" y="27"/>
                </a:lnTo>
                <a:lnTo>
                  <a:pt x="22" y="54"/>
                </a:lnTo>
                <a:lnTo>
                  <a:pt x="22" y="41"/>
                </a:lnTo>
                <a:lnTo>
                  <a:pt x="0" y="41"/>
                </a:lnTo>
                <a:close/>
              </a:path>
            </a:pathLst>
          </a:custGeom>
          <a:solidFill>
            <a:srgbClr val="4387BD"/>
          </a:solidFill>
          <a:ln w="6723">
            <a:solidFill>
              <a:srgbClr val="4387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"/>
          <p:cNvSpPr/>
          <p:nvPr/>
        </p:nvSpPr>
        <p:spPr>
          <a:xfrm>
            <a:off x="887505" y="336176"/>
            <a:ext cx="1795182" cy="23532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"/>
          <p:cNvSpPr/>
          <p:nvPr/>
        </p:nvSpPr>
        <p:spPr>
          <a:xfrm>
            <a:off x="921123" y="389964"/>
            <a:ext cx="181535" cy="168088"/>
          </a:xfrm>
          <a:prstGeom prst="rect">
            <a:avLst/>
          </a:prstGeom>
          <a:solidFill>
            <a:srgbClr val="FFFFFF"/>
          </a:solidFill>
          <a:ln w="20170">
            <a:solidFill>
              <a:srgbClr val="2222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ellipse"/>
          <p:cNvSpPr/>
          <p:nvPr/>
        </p:nvSpPr>
        <p:spPr>
          <a:xfrm>
            <a:off x="921123" y="356347"/>
            <a:ext cx="181535" cy="73958"/>
          </a:xfrm>
          <a:prstGeom prst="ellipse">
            <a:avLst/>
          </a:prstGeom>
          <a:solidFill>
            <a:srgbClr val="FFFFFF"/>
          </a:solidFill>
          <a:ln w="20170">
            <a:solidFill>
              <a:srgbClr val="2222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ellipse"/>
          <p:cNvSpPr/>
          <p:nvPr/>
        </p:nvSpPr>
        <p:spPr>
          <a:xfrm>
            <a:off x="921123" y="423582"/>
            <a:ext cx="181535" cy="67235"/>
          </a:xfrm>
          <a:prstGeom prst="ellipse">
            <a:avLst/>
          </a:prstGeom>
          <a:solidFill>
            <a:srgbClr val="FFFFFF"/>
          </a:solidFill>
          <a:ln w="13447">
            <a:solidFill>
              <a:srgbClr val="2222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ellipse"/>
          <p:cNvSpPr/>
          <p:nvPr/>
        </p:nvSpPr>
        <p:spPr>
          <a:xfrm>
            <a:off x="921123" y="490817"/>
            <a:ext cx="181535" cy="67235"/>
          </a:xfrm>
          <a:prstGeom prst="ellipse">
            <a:avLst/>
          </a:prstGeom>
          <a:solidFill>
            <a:srgbClr val="FFFFFF"/>
          </a:solidFill>
          <a:ln w="13447">
            <a:solidFill>
              <a:srgbClr val="2222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"/>
          <p:cNvSpPr txBox="1"/>
          <p:nvPr/>
        </p:nvSpPr>
        <p:spPr>
          <a:xfrm>
            <a:off x="1183341" y="349623"/>
            <a:ext cx="1546411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99"/>
              </a:lnSpc>
              <a:spcBef>
                <a:spcPts val="0"/>
              </a:spcBef>
              <a:spcAft>
                <a:spcPts val="0"/>
              </a:spcAft>
            </a:pPr>
            <a:r>
              <a:rPr sz="1270" b="1" i="0" u="none">
                <a:solidFill>
                  <a:srgbClr val="111111"/>
                </a:solidFill>
                <a:latin typeface="Liberation Serif"/>
              </a:rPr>
              <a:t>Raw Data Collection</a:t>
            </a:r>
          </a:p>
        </p:txBody>
      </p:sp>
      <p:sp>
        <p:nvSpPr>
          <p:cNvPr id="26" name="rectangle"/>
          <p:cNvSpPr/>
          <p:nvPr/>
        </p:nvSpPr>
        <p:spPr>
          <a:xfrm>
            <a:off x="3590364" y="329452"/>
            <a:ext cx="2218764" cy="25549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ellipse"/>
          <p:cNvSpPr/>
          <p:nvPr/>
        </p:nvSpPr>
        <p:spPr>
          <a:xfrm>
            <a:off x="3671047" y="336176"/>
            <a:ext cx="147917" cy="121023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ellipse"/>
          <p:cNvSpPr/>
          <p:nvPr/>
        </p:nvSpPr>
        <p:spPr>
          <a:xfrm>
            <a:off x="3637429" y="356347"/>
            <a:ext cx="47064" cy="4706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ellipse"/>
          <p:cNvSpPr/>
          <p:nvPr/>
        </p:nvSpPr>
        <p:spPr>
          <a:xfrm>
            <a:off x="3818964" y="356347"/>
            <a:ext cx="47064" cy="47064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"/>
          <p:cNvSpPr/>
          <p:nvPr/>
        </p:nvSpPr>
        <p:spPr>
          <a:xfrm>
            <a:off x="3691217" y="443752"/>
            <a:ext cx="107576" cy="87405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" name="line"/>
          <p:cNvCxnSpPr/>
          <p:nvPr/>
        </p:nvCxnSpPr>
        <p:spPr>
          <a:xfrm>
            <a:off x="3637429" y="531158"/>
            <a:ext cx="215153" cy="0"/>
          </a:xfrm>
          <a:prstGeom prst="line">
            <a:avLst/>
          </a:prstGeom>
          <a:ln w="26894">
            <a:solidFill>
              <a:srgbClr val="000000"/>
            </a:solidFill>
          </a:ln>
        </p:spPr>
      </p:cxnSp>
      <p:cxnSp>
        <p:nvCxnSpPr>
          <p:cNvPr id="32" name="line"/>
          <p:cNvCxnSpPr/>
          <p:nvPr/>
        </p:nvCxnSpPr>
        <p:spPr>
          <a:xfrm flipH="1">
            <a:off x="3637429" y="531158"/>
            <a:ext cx="20171" cy="40342"/>
          </a:xfrm>
          <a:prstGeom prst="line">
            <a:avLst/>
          </a:prstGeom>
          <a:ln w="20170">
            <a:solidFill>
              <a:srgbClr val="000000"/>
            </a:solidFill>
          </a:ln>
        </p:spPr>
      </p:cxnSp>
      <p:cxnSp>
        <p:nvCxnSpPr>
          <p:cNvPr id="33" name="line"/>
          <p:cNvCxnSpPr/>
          <p:nvPr/>
        </p:nvCxnSpPr>
        <p:spPr>
          <a:xfrm>
            <a:off x="3832411" y="531158"/>
            <a:ext cx="20171" cy="40342"/>
          </a:xfrm>
          <a:prstGeom prst="line">
            <a:avLst/>
          </a:prstGeom>
          <a:ln w="20170">
            <a:solidFill>
              <a:srgbClr val="000000"/>
            </a:solidFill>
          </a:ln>
        </p:spPr>
      </p:cxnSp>
      <p:sp>
        <p:nvSpPr>
          <p:cNvPr id="34" name="ellipse"/>
          <p:cNvSpPr/>
          <p:nvPr/>
        </p:nvSpPr>
        <p:spPr>
          <a:xfrm>
            <a:off x="3711388" y="376517"/>
            <a:ext cx="20170" cy="201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ellipse"/>
          <p:cNvSpPr/>
          <p:nvPr/>
        </p:nvSpPr>
        <p:spPr>
          <a:xfrm>
            <a:off x="3765176" y="376517"/>
            <a:ext cx="20170" cy="2017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"/>
          <p:cNvSpPr txBox="1"/>
          <p:nvPr/>
        </p:nvSpPr>
        <p:spPr>
          <a:xfrm>
            <a:off x="3899647" y="349623"/>
            <a:ext cx="1936376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sz="1217" b="1" i="0" u="none">
                <a:solidFill>
                  <a:srgbClr val="111111"/>
                </a:solidFill>
                <a:latin typeface="Liberation Serif"/>
              </a:rPr>
              <a:t>Powerful Foundation Models</a:t>
            </a:r>
          </a:p>
        </p:txBody>
      </p:sp>
      <p:sp>
        <p:nvSpPr>
          <p:cNvPr id="37" name="rectangle"/>
          <p:cNvSpPr/>
          <p:nvPr/>
        </p:nvSpPr>
        <p:spPr>
          <a:xfrm>
            <a:off x="6750423" y="322729"/>
            <a:ext cx="1842247" cy="2689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polygon"/>
          <p:cNvSpPr/>
          <p:nvPr/>
        </p:nvSpPr>
        <p:spPr>
          <a:xfrm>
            <a:off x="6837291" y="336150"/>
            <a:ext cx="194967" cy="208413"/>
          </a:xfrm>
          <a:custGeom>
            <a:avLst/>
            <a:gdLst/>
            <a:ahLst/>
            <a:cxnLst/>
            <a:rect l="l" t="t" r="r" b="b"/>
            <a:pathLst>
              <a:path w="29" h="31">
                <a:moveTo>
                  <a:pt x="0" y="0"/>
                </a:moveTo>
                <a:lnTo>
                  <a:pt x="29" y="0"/>
                </a:lnTo>
                <a:lnTo>
                  <a:pt x="18" y="12"/>
                </a:lnTo>
                <a:lnTo>
                  <a:pt x="18" y="31"/>
                </a:lnTo>
                <a:lnTo>
                  <a:pt x="11" y="25"/>
                </a:lnTo>
                <a:lnTo>
                  <a:pt x="11" y="12"/>
                </a:lnTo>
                <a:close/>
              </a:path>
            </a:pathLst>
          </a:custGeom>
          <a:solidFill>
            <a:srgbClr val="000000"/>
          </a:solidFill>
          <a:ln w="6723">
            <a:solidFill>
              <a:srgbClr val="000000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9" name="line"/>
          <p:cNvCxnSpPr/>
          <p:nvPr/>
        </p:nvCxnSpPr>
        <p:spPr>
          <a:xfrm>
            <a:off x="6851276" y="322729"/>
            <a:ext cx="188259" cy="201706"/>
          </a:xfrm>
          <a:prstGeom prst="line">
            <a:avLst/>
          </a:prstGeom>
          <a:ln w="26894">
            <a:solidFill>
              <a:srgbClr val="000000"/>
            </a:solidFill>
          </a:ln>
        </p:spPr>
      </p:cxnSp>
      <p:sp>
        <p:nvSpPr>
          <p:cNvPr id="40" name="text"/>
          <p:cNvSpPr txBox="1"/>
          <p:nvPr/>
        </p:nvSpPr>
        <p:spPr>
          <a:xfrm>
            <a:off x="7086600" y="349623"/>
            <a:ext cx="1647264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sz="1217" b="1" i="0" u="none">
                <a:solidFill>
                  <a:srgbClr val="111111"/>
                </a:solidFill>
                <a:latin typeface="Liberation Serif"/>
              </a:rPr>
              <a:t>Data Filter Strategy</a:t>
            </a:r>
          </a:p>
        </p:txBody>
      </p:sp>
      <p:sp>
        <p:nvSpPr>
          <p:cNvPr id="41" name="rectangle"/>
          <p:cNvSpPr/>
          <p:nvPr/>
        </p:nvSpPr>
        <p:spPr>
          <a:xfrm>
            <a:off x="6696635" y="2783541"/>
            <a:ext cx="2023782" cy="26894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polygon"/>
          <p:cNvSpPr/>
          <p:nvPr/>
        </p:nvSpPr>
        <p:spPr>
          <a:xfrm>
            <a:off x="6736446" y="2830383"/>
            <a:ext cx="174798" cy="208413"/>
          </a:xfrm>
          <a:custGeom>
            <a:avLst/>
            <a:gdLst/>
            <a:ahLst/>
            <a:cxnLst/>
            <a:rect l="l" t="t" r="r" b="b"/>
            <a:pathLst>
              <a:path w="26" h="31">
                <a:moveTo>
                  <a:pt x="0" y="9"/>
                </a:moveTo>
                <a:lnTo>
                  <a:pt x="15" y="0"/>
                </a:lnTo>
                <a:lnTo>
                  <a:pt x="26" y="10"/>
                </a:lnTo>
                <a:lnTo>
                  <a:pt x="24" y="30"/>
                </a:lnTo>
                <a:lnTo>
                  <a:pt x="4" y="31"/>
                </a:lnTo>
                <a:close/>
              </a:path>
            </a:pathLst>
          </a:custGeom>
          <a:solidFill>
            <a:srgbClr val="FFFFFF"/>
          </a:solidFill>
          <a:ln w="13447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3" name="line"/>
          <p:cNvCxnSpPr/>
          <p:nvPr/>
        </p:nvCxnSpPr>
        <p:spPr>
          <a:xfrm>
            <a:off x="6757147" y="2891117"/>
            <a:ext cx="20170" cy="127747"/>
          </a:xfrm>
          <a:prstGeom prst="line">
            <a:avLst/>
          </a:prstGeom>
          <a:ln w="6723">
            <a:solidFill>
              <a:srgbClr val="111111"/>
            </a:solidFill>
          </a:ln>
        </p:spPr>
      </p:cxnSp>
      <p:cxnSp>
        <p:nvCxnSpPr>
          <p:cNvPr id="44" name="line"/>
          <p:cNvCxnSpPr/>
          <p:nvPr/>
        </p:nvCxnSpPr>
        <p:spPr>
          <a:xfrm>
            <a:off x="6790764" y="2877670"/>
            <a:ext cx="20171" cy="131109"/>
          </a:xfrm>
          <a:prstGeom prst="line">
            <a:avLst/>
          </a:prstGeom>
          <a:ln w="6723">
            <a:solidFill>
              <a:srgbClr val="111111"/>
            </a:solidFill>
          </a:ln>
        </p:spPr>
      </p:cxnSp>
      <p:cxnSp>
        <p:nvCxnSpPr>
          <p:cNvPr id="45" name="line"/>
          <p:cNvCxnSpPr/>
          <p:nvPr/>
        </p:nvCxnSpPr>
        <p:spPr>
          <a:xfrm>
            <a:off x="6824382" y="2864223"/>
            <a:ext cx="20170" cy="134471"/>
          </a:xfrm>
          <a:prstGeom prst="line">
            <a:avLst/>
          </a:prstGeom>
          <a:ln w="6723">
            <a:solidFill>
              <a:srgbClr val="111111"/>
            </a:solidFill>
          </a:ln>
        </p:spPr>
      </p:cxnSp>
      <p:cxnSp>
        <p:nvCxnSpPr>
          <p:cNvPr id="46" name="line"/>
          <p:cNvCxnSpPr/>
          <p:nvPr/>
        </p:nvCxnSpPr>
        <p:spPr>
          <a:xfrm>
            <a:off x="6858000" y="2850776"/>
            <a:ext cx="20170" cy="137832"/>
          </a:xfrm>
          <a:prstGeom prst="line">
            <a:avLst/>
          </a:prstGeom>
          <a:ln w="6723">
            <a:solidFill>
              <a:srgbClr val="111111"/>
            </a:solidFill>
          </a:ln>
        </p:spPr>
      </p:cxnSp>
      <p:sp>
        <p:nvSpPr>
          <p:cNvPr id="47" name="text"/>
          <p:cNvSpPr txBox="1"/>
          <p:nvPr/>
        </p:nvSpPr>
        <p:spPr>
          <a:xfrm>
            <a:off x="6918511" y="2796988"/>
            <a:ext cx="1795182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sz="1217" b="1" i="0" u="none">
                <a:solidFill>
                  <a:srgbClr val="111111"/>
                </a:solidFill>
                <a:latin typeface="Liberation Serif"/>
              </a:rPr>
              <a:t>Moving Object Recovery</a:t>
            </a:r>
          </a:p>
        </p:txBody>
      </p:sp>
      <p:sp>
        <p:nvSpPr>
          <p:cNvPr id="48" name="rectangle"/>
          <p:cNvSpPr/>
          <p:nvPr/>
        </p:nvSpPr>
        <p:spPr>
          <a:xfrm>
            <a:off x="9560858" y="309282"/>
            <a:ext cx="2507876" cy="28911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ellipse"/>
          <p:cNvSpPr/>
          <p:nvPr/>
        </p:nvSpPr>
        <p:spPr>
          <a:xfrm>
            <a:off x="9695329" y="242047"/>
            <a:ext cx="53788" cy="53788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50" name="line"/>
          <p:cNvCxnSpPr/>
          <p:nvPr/>
        </p:nvCxnSpPr>
        <p:spPr>
          <a:xfrm>
            <a:off x="9722223" y="295835"/>
            <a:ext cx="0" cy="114300"/>
          </a:xfrm>
          <a:prstGeom prst="line">
            <a:avLst/>
          </a:prstGeom>
          <a:ln w="13447">
            <a:solidFill>
              <a:srgbClr val="000000"/>
            </a:solidFill>
          </a:ln>
        </p:spPr>
      </p:cxnSp>
      <p:cxnSp>
        <p:nvCxnSpPr>
          <p:cNvPr id="51" name="line"/>
          <p:cNvCxnSpPr/>
          <p:nvPr/>
        </p:nvCxnSpPr>
        <p:spPr>
          <a:xfrm flipH="1">
            <a:off x="9594476" y="349623"/>
            <a:ext cx="127747" cy="107577"/>
          </a:xfrm>
          <a:prstGeom prst="line">
            <a:avLst/>
          </a:prstGeom>
          <a:ln w="13447">
            <a:solidFill>
              <a:srgbClr val="000000"/>
            </a:solidFill>
          </a:ln>
        </p:spPr>
      </p:cxnSp>
      <p:cxnSp>
        <p:nvCxnSpPr>
          <p:cNvPr id="52" name="line"/>
          <p:cNvCxnSpPr/>
          <p:nvPr/>
        </p:nvCxnSpPr>
        <p:spPr>
          <a:xfrm>
            <a:off x="9722223" y="349623"/>
            <a:ext cx="127747" cy="107577"/>
          </a:xfrm>
          <a:prstGeom prst="line">
            <a:avLst/>
          </a:prstGeom>
          <a:ln w="13447">
            <a:solidFill>
              <a:srgbClr val="000000"/>
            </a:solidFill>
          </a:ln>
        </p:spPr>
      </p:cxnSp>
      <p:sp>
        <p:nvSpPr>
          <p:cNvPr id="53" name="rectangle"/>
          <p:cNvSpPr/>
          <p:nvPr/>
        </p:nvSpPr>
        <p:spPr>
          <a:xfrm rot="1440000">
            <a:off x="9554135" y="443752"/>
            <a:ext cx="73958" cy="107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"/>
          <p:cNvSpPr/>
          <p:nvPr/>
        </p:nvSpPr>
        <p:spPr>
          <a:xfrm>
            <a:off x="9688605" y="443752"/>
            <a:ext cx="73958" cy="107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"/>
          <p:cNvSpPr/>
          <p:nvPr/>
        </p:nvSpPr>
        <p:spPr>
          <a:xfrm rot="20160000">
            <a:off x="9823076" y="443752"/>
            <a:ext cx="73958" cy="107576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"/>
          <p:cNvSpPr txBox="1"/>
          <p:nvPr/>
        </p:nvSpPr>
        <p:spPr>
          <a:xfrm>
            <a:off x="9930652" y="349623"/>
            <a:ext cx="2178423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sz="1217" b="1" i="0" u="none">
                <a:solidFill>
                  <a:srgbClr val="111111"/>
                </a:solidFill>
                <a:latin typeface="Liberation Serif"/>
              </a:rPr>
              <a:t>Dynamic Bundle Adjustment</a:t>
            </a:r>
          </a:p>
        </p:txBody>
      </p:sp>
      <p:sp>
        <p:nvSpPr>
          <p:cNvPr id="57" name="raw montage base"/>
          <p:cNvSpPr/>
          <p:nvPr/>
        </p:nvSpPr>
        <p:spPr>
          <a:xfrm>
            <a:off x="322729" y="1586752"/>
            <a:ext cx="2884394" cy="443752"/>
          </a:xfrm>
          <a:prstGeom prst="ellipse">
            <a:avLst/>
          </a:prstGeom>
          <a:solidFill>
            <a:srgbClr val="DEDE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58" name="raw 2D montage" descr="raw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223" y="611841"/>
            <a:ext cx="2507876" cy="1371600"/>
          </a:xfrm>
          <a:prstGeom prst="rect">
            <a:avLst/>
          </a:prstGeom>
        </p:spPr>
      </p:pic>
      <p:sp>
        <p:nvSpPr>
          <p:cNvPr id="59" name="rectangle"/>
          <p:cNvSpPr/>
          <p:nvPr/>
        </p:nvSpPr>
        <p:spPr>
          <a:xfrm>
            <a:off x="457200" y="2151529"/>
            <a:ext cx="215152" cy="208429"/>
          </a:xfrm>
          <a:prstGeom prst="rect">
            <a:avLst/>
          </a:prstGeom>
          <a:solidFill>
            <a:srgbClr val="FFFFFF"/>
          </a:solidFill>
          <a:ln w="26894">
            <a:solidFill>
              <a:srgbClr val="9B9B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ellipse"/>
          <p:cNvSpPr/>
          <p:nvPr/>
        </p:nvSpPr>
        <p:spPr>
          <a:xfrm>
            <a:off x="490817" y="2185147"/>
            <a:ext cx="40341" cy="40341"/>
          </a:xfrm>
          <a:prstGeom prst="ellipse">
            <a:avLst/>
          </a:prstGeom>
          <a:solidFill>
            <a:srgbClr val="9B9B9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polygon"/>
          <p:cNvSpPr/>
          <p:nvPr/>
        </p:nvSpPr>
        <p:spPr>
          <a:xfrm>
            <a:off x="484056" y="2238759"/>
            <a:ext cx="174798" cy="94122"/>
          </a:xfrm>
          <a:custGeom>
            <a:avLst/>
            <a:gdLst/>
            <a:ahLst/>
            <a:cxnLst/>
            <a:rect l="l" t="t" r="r" b="b"/>
            <a:pathLst>
              <a:path w="26" h="14">
                <a:moveTo>
                  <a:pt x="0" y="13"/>
                </a:moveTo>
                <a:lnTo>
                  <a:pt x="9" y="3"/>
                </a:lnTo>
                <a:lnTo>
                  <a:pt x="15" y="8"/>
                </a:lnTo>
                <a:lnTo>
                  <a:pt x="21" y="0"/>
                </a:lnTo>
                <a:lnTo>
                  <a:pt x="26" y="14"/>
                </a:lnTo>
                <a:close/>
              </a:path>
            </a:pathLst>
          </a:custGeom>
          <a:noFill/>
          <a:ln w="20170">
            <a:solidFill>
              <a:srgbClr val="9B9B9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"/>
          <p:cNvSpPr txBox="1"/>
          <p:nvPr/>
        </p:nvSpPr>
        <p:spPr>
          <a:xfrm>
            <a:off x="759758" y="2064123"/>
            <a:ext cx="2319617" cy="41013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Raw 2D video datasets with GT</a:t>
            </a:r>
          </a:p>
          <a:p>
            <a:pPr algn="l">
              <a:lnSpc>
                <a:spcPts val="1429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instance mask &amp; semantic label</a:t>
            </a:r>
          </a:p>
        </p:txBody>
      </p:sp>
      <p:pic>
        <p:nvPicPr>
          <p:cNvPr id="63" name="raw 3D montage" descr="raw_3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964" y="2783541"/>
            <a:ext cx="2810435" cy="921123"/>
          </a:xfrm>
          <a:prstGeom prst="rect">
            <a:avLst/>
          </a:prstGeom>
        </p:spPr>
      </p:pic>
      <p:cxnSp>
        <p:nvCxnSpPr>
          <p:cNvPr id="64" name="line"/>
          <p:cNvCxnSpPr/>
          <p:nvPr/>
        </p:nvCxnSpPr>
        <p:spPr>
          <a:xfrm>
            <a:off x="800100" y="3818964"/>
            <a:ext cx="242047" cy="0"/>
          </a:xfrm>
          <a:prstGeom prst="line">
            <a:avLst/>
          </a:prstGeom>
          <a:ln w="20170">
            <a:solidFill>
              <a:srgbClr val="777777"/>
            </a:solidFill>
          </a:ln>
        </p:spPr>
      </p:cxnSp>
      <p:sp>
        <p:nvSpPr>
          <p:cNvPr id="65" name="ellipse"/>
          <p:cNvSpPr/>
          <p:nvPr/>
        </p:nvSpPr>
        <p:spPr>
          <a:xfrm>
            <a:off x="833717" y="3792070"/>
            <a:ext cx="53788" cy="5378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6" name="line"/>
          <p:cNvCxnSpPr/>
          <p:nvPr/>
        </p:nvCxnSpPr>
        <p:spPr>
          <a:xfrm>
            <a:off x="800100" y="3906370"/>
            <a:ext cx="242047" cy="0"/>
          </a:xfrm>
          <a:prstGeom prst="line">
            <a:avLst/>
          </a:prstGeom>
          <a:ln w="20170">
            <a:solidFill>
              <a:srgbClr val="777777"/>
            </a:solidFill>
          </a:ln>
        </p:spPr>
      </p:cxnSp>
      <p:sp>
        <p:nvSpPr>
          <p:cNvPr id="67" name="ellipse"/>
          <p:cNvSpPr/>
          <p:nvPr/>
        </p:nvSpPr>
        <p:spPr>
          <a:xfrm>
            <a:off x="921123" y="3879476"/>
            <a:ext cx="53788" cy="5378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8" name="line"/>
          <p:cNvCxnSpPr/>
          <p:nvPr/>
        </p:nvCxnSpPr>
        <p:spPr>
          <a:xfrm>
            <a:off x="800100" y="3993776"/>
            <a:ext cx="242047" cy="0"/>
          </a:xfrm>
          <a:prstGeom prst="line">
            <a:avLst/>
          </a:prstGeom>
          <a:ln w="20170">
            <a:solidFill>
              <a:srgbClr val="777777"/>
            </a:solidFill>
          </a:ln>
        </p:spPr>
      </p:cxnSp>
      <p:sp>
        <p:nvSpPr>
          <p:cNvPr id="69" name="ellipse"/>
          <p:cNvSpPr/>
          <p:nvPr/>
        </p:nvSpPr>
        <p:spPr>
          <a:xfrm>
            <a:off x="874058" y="3966882"/>
            <a:ext cx="53788" cy="53788"/>
          </a:xfrm>
          <a:prstGeom prst="ellipse">
            <a:avLst/>
          </a:prstGeom>
          <a:solidFill>
            <a:srgbClr val="77777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"/>
          <p:cNvSpPr txBox="1"/>
          <p:nvPr/>
        </p:nvSpPr>
        <p:spPr>
          <a:xfrm>
            <a:off x="1102658" y="3704664"/>
            <a:ext cx="1963270" cy="40341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376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Raw dynamic 3D datasets</a:t>
            </a:r>
          </a:p>
          <a:p>
            <a:pPr algn="l">
              <a:lnSpc>
                <a:spcPts val="1376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with GT camera &amp; depth</a:t>
            </a:r>
          </a:p>
        </p:txBody>
      </p:sp>
      <p:pic>
        <p:nvPicPr>
          <p:cNvPr id="71" name="UniDepth-V2 image" descr="model_unidep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44152" y="665629"/>
            <a:ext cx="1109382" cy="632011"/>
          </a:xfrm>
          <a:prstGeom prst="rect">
            <a:avLst/>
          </a:prstGeom>
        </p:spPr>
      </p:pic>
      <p:sp>
        <p:nvSpPr>
          <p:cNvPr id="72" name="UniDepth-V2 image border"/>
          <p:cNvSpPr/>
          <p:nvPr/>
        </p:nvSpPr>
        <p:spPr>
          <a:xfrm>
            <a:off x="3644152" y="665629"/>
            <a:ext cx="1109382" cy="632011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UniDepth-V2"/>
          <p:cNvSpPr txBox="1"/>
          <p:nvPr/>
        </p:nvSpPr>
        <p:spPr>
          <a:xfrm>
            <a:off x="3563470" y="1324535"/>
            <a:ext cx="1270747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UniDepth-V2</a:t>
            </a:r>
          </a:p>
        </p:txBody>
      </p:sp>
      <p:pic>
        <p:nvPicPr>
          <p:cNvPr id="74" name="SegAnyMo image" descr="model_segany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7664" y="665629"/>
            <a:ext cx="1122829" cy="632011"/>
          </a:xfrm>
          <a:prstGeom prst="rect">
            <a:avLst/>
          </a:prstGeom>
        </p:spPr>
      </p:pic>
      <p:sp>
        <p:nvSpPr>
          <p:cNvPr id="75" name="SegAnyMo image border"/>
          <p:cNvSpPr/>
          <p:nvPr/>
        </p:nvSpPr>
        <p:spPr>
          <a:xfrm>
            <a:off x="4847664" y="665629"/>
            <a:ext cx="1122829" cy="632011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6" name="SegAnyMo"/>
          <p:cNvSpPr txBox="1"/>
          <p:nvPr/>
        </p:nvSpPr>
        <p:spPr>
          <a:xfrm>
            <a:off x="4766982" y="1324535"/>
            <a:ext cx="1284194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SegAnyMo</a:t>
            </a:r>
          </a:p>
        </p:txBody>
      </p:sp>
      <p:pic>
        <p:nvPicPr>
          <p:cNvPr id="77" name="UniMatch image" descr="model_unimat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4152" y="1546411"/>
            <a:ext cx="1109382" cy="638735"/>
          </a:xfrm>
          <a:prstGeom prst="rect">
            <a:avLst/>
          </a:prstGeom>
        </p:spPr>
      </p:pic>
      <p:sp>
        <p:nvSpPr>
          <p:cNvPr id="78" name="UniMatch image border"/>
          <p:cNvSpPr/>
          <p:nvPr/>
        </p:nvSpPr>
        <p:spPr>
          <a:xfrm>
            <a:off x="3644152" y="1546411"/>
            <a:ext cx="1109382" cy="638735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9" name="UniMatch"/>
          <p:cNvSpPr txBox="1"/>
          <p:nvPr/>
        </p:nvSpPr>
        <p:spPr>
          <a:xfrm>
            <a:off x="3563470" y="2205317"/>
            <a:ext cx="1270747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UniMatch</a:t>
            </a:r>
          </a:p>
        </p:txBody>
      </p:sp>
      <p:pic>
        <p:nvPicPr>
          <p:cNvPr id="80" name="CoTracker-V3 image" descr="model_cotra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47664" y="1546411"/>
            <a:ext cx="1122829" cy="638735"/>
          </a:xfrm>
          <a:prstGeom prst="rect">
            <a:avLst/>
          </a:prstGeom>
        </p:spPr>
      </p:pic>
      <p:sp>
        <p:nvSpPr>
          <p:cNvPr id="81" name="CoTracker-V3 image border"/>
          <p:cNvSpPr/>
          <p:nvPr/>
        </p:nvSpPr>
        <p:spPr>
          <a:xfrm>
            <a:off x="4847664" y="1546411"/>
            <a:ext cx="1122829" cy="638735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CoTracker-V3"/>
          <p:cNvSpPr txBox="1"/>
          <p:nvPr/>
        </p:nvSpPr>
        <p:spPr>
          <a:xfrm>
            <a:off x="4766982" y="2205317"/>
            <a:ext cx="1284194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CoTracker-V3</a:t>
            </a:r>
          </a:p>
        </p:txBody>
      </p:sp>
      <p:pic>
        <p:nvPicPr>
          <p:cNvPr id="83" name="SAM2 &amp; Variants image" descr="model_sa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44152" y="2433917"/>
            <a:ext cx="1116105" cy="632011"/>
          </a:xfrm>
          <a:prstGeom prst="rect">
            <a:avLst/>
          </a:prstGeom>
        </p:spPr>
      </p:pic>
      <p:sp>
        <p:nvSpPr>
          <p:cNvPr id="84" name="SAM2 &amp; Variants image border"/>
          <p:cNvSpPr/>
          <p:nvPr/>
        </p:nvSpPr>
        <p:spPr>
          <a:xfrm>
            <a:off x="3644152" y="2433917"/>
            <a:ext cx="1116105" cy="632011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SAM2 &amp; Variants"/>
          <p:cNvSpPr txBox="1"/>
          <p:nvPr/>
        </p:nvSpPr>
        <p:spPr>
          <a:xfrm>
            <a:off x="3563470" y="3079376"/>
            <a:ext cx="1277470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SAM2 &amp; Variants</a:t>
            </a:r>
          </a:p>
        </p:txBody>
      </p:sp>
      <p:pic>
        <p:nvPicPr>
          <p:cNvPr id="86" name="VGGT image" descr="model_vgg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47664" y="2433917"/>
            <a:ext cx="1129552" cy="632011"/>
          </a:xfrm>
          <a:prstGeom prst="rect">
            <a:avLst/>
          </a:prstGeom>
        </p:spPr>
      </p:pic>
      <p:sp>
        <p:nvSpPr>
          <p:cNvPr id="87" name="VGGT image border"/>
          <p:cNvSpPr/>
          <p:nvPr/>
        </p:nvSpPr>
        <p:spPr>
          <a:xfrm>
            <a:off x="4847664" y="2433917"/>
            <a:ext cx="1129552" cy="632011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8" name="VGGT"/>
          <p:cNvSpPr txBox="1"/>
          <p:nvPr/>
        </p:nvSpPr>
        <p:spPr>
          <a:xfrm>
            <a:off x="4766982" y="3079376"/>
            <a:ext cx="1290917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VGGT</a:t>
            </a:r>
          </a:p>
        </p:txBody>
      </p:sp>
      <p:pic>
        <p:nvPicPr>
          <p:cNvPr id="89" name="Epipolar Errors image" descr="model_epi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4152" y="3314700"/>
            <a:ext cx="1116105" cy="618564"/>
          </a:xfrm>
          <a:prstGeom prst="rect">
            <a:avLst/>
          </a:prstGeom>
        </p:spPr>
      </p:pic>
      <p:sp>
        <p:nvSpPr>
          <p:cNvPr id="90" name="Epipolar Errors image border"/>
          <p:cNvSpPr/>
          <p:nvPr/>
        </p:nvSpPr>
        <p:spPr>
          <a:xfrm>
            <a:off x="3644152" y="3314700"/>
            <a:ext cx="1116105" cy="618564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1" name="Epipolar Errors"/>
          <p:cNvSpPr txBox="1"/>
          <p:nvPr/>
        </p:nvSpPr>
        <p:spPr>
          <a:xfrm>
            <a:off x="3563470" y="3946711"/>
            <a:ext cx="1277470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Epipolar Errors</a:t>
            </a:r>
          </a:p>
        </p:txBody>
      </p:sp>
      <p:pic>
        <p:nvPicPr>
          <p:cNvPr id="92" name="Language Models image" descr="model_llm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47664" y="3314700"/>
            <a:ext cx="1129552" cy="618564"/>
          </a:xfrm>
          <a:prstGeom prst="rect">
            <a:avLst/>
          </a:prstGeom>
        </p:spPr>
      </p:pic>
      <p:sp>
        <p:nvSpPr>
          <p:cNvPr id="93" name="Language Models image border"/>
          <p:cNvSpPr/>
          <p:nvPr/>
        </p:nvSpPr>
        <p:spPr>
          <a:xfrm>
            <a:off x="4847664" y="3314700"/>
            <a:ext cx="1129552" cy="618564"/>
          </a:xfrm>
          <a:prstGeom prst="roundRect">
            <a:avLst/>
          </a:prstGeom>
          <a:noFill/>
          <a:ln w="8068">
            <a:solidFill>
              <a:srgbClr val="C5C5C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Language Models"/>
          <p:cNvSpPr txBox="1"/>
          <p:nvPr/>
        </p:nvSpPr>
        <p:spPr>
          <a:xfrm>
            <a:off x="4766982" y="3946711"/>
            <a:ext cx="1290917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Language Models</a:t>
            </a:r>
          </a:p>
        </p:txBody>
      </p:sp>
      <p:sp>
        <p:nvSpPr>
          <p:cNvPr id="95" name="ellipse"/>
          <p:cNvSpPr/>
          <p:nvPr/>
        </p:nvSpPr>
        <p:spPr>
          <a:xfrm>
            <a:off x="6528547" y="692523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"/>
          <p:cNvSpPr txBox="1"/>
          <p:nvPr/>
        </p:nvSpPr>
        <p:spPr>
          <a:xfrm>
            <a:off x="6528547" y="679076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97" name="text"/>
          <p:cNvSpPr txBox="1"/>
          <p:nvPr/>
        </p:nvSpPr>
        <p:spPr>
          <a:xfrm>
            <a:off x="6837829" y="685800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>
                <a:solidFill>
                  <a:srgbClr val="111111"/>
                </a:solidFill>
                <a:latin typeface="Liberation Serif"/>
              </a:rPr>
              <a:t>Proximal Depth Verification</a:t>
            </a:r>
          </a:p>
        </p:txBody>
      </p:sp>
      <p:sp>
        <p:nvSpPr>
          <p:cNvPr id="98" name="ellipse"/>
          <p:cNvSpPr/>
          <p:nvPr/>
        </p:nvSpPr>
        <p:spPr>
          <a:xfrm>
            <a:off x="6528547" y="1021976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9" name="text"/>
          <p:cNvSpPr txBox="1"/>
          <p:nvPr/>
        </p:nvSpPr>
        <p:spPr>
          <a:xfrm>
            <a:off x="6528547" y="1008529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2</a:t>
            </a:r>
          </a:p>
        </p:txBody>
      </p:sp>
      <p:sp>
        <p:nvSpPr>
          <p:cNvPr id="100" name="text"/>
          <p:cNvSpPr txBox="1"/>
          <p:nvPr/>
        </p:nvSpPr>
        <p:spPr>
          <a:xfrm>
            <a:off x="6837829" y="1015252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>
                <a:solidFill>
                  <a:srgbClr val="111111"/>
                </a:solidFill>
                <a:latin typeface="Liberation Serif"/>
              </a:rPr>
              <a:t>Dynamic Object Coverage</a:t>
            </a:r>
          </a:p>
        </p:txBody>
      </p:sp>
      <p:sp>
        <p:nvSpPr>
          <p:cNvPr id="101" name="ellipse"/>
          <p:cNvSpPr/>
          <p:nvPr/>
        </p:nvSpPr>
        <p:spPr>
          <a:xfrm>
            <a:off x="6528547" y="1351429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2" name="text"/>
          <p:cNvSpPr txBox="1"/>
          <p:nvPr/>
        </p:nvSpPr>
        <p:spPr>
          <a:xfrm>
            <a:off x="6528547" y="1337982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3</a:t>
            </a:r>
          </a:p>
        </p:txBody>
      </p:sp>
      <p:sp>
        <p:nvSpPr>
          <p:cNvPr id="103" name="text"/>
          <p:cNvSpPr txBox="1"/>
          <p:nvPr/>
        </p:nvSpPr>
        <p:spPr>
          <a:xfrm>
            <a:off x="6837829" y="1344705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>
                <a:solidFill>
                  <a:srgbClr val="111111"/>
                </a:solidFill>
                <a:latin typeface="Liberation Serif"/>
              </a:rPr>
              <a:t>Focal-Length Stability</a:t>
            </a:r>
          </a:p>
        </p:txBody>
      </p:sp>
      <p:sp>
        <p:nvSpPr>
          <p:cNvPr id="104" name="ellipse"/>
          <p:cNvSpPr/>
          <p:nvPr/>
        </p:nvSpPr>
        <p:spPr>
          <a:xfrm>
            <a:off x="6528547" y="1680882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"/>
          <p:cNvSpPr txBox="1"/>
          <p:nvPr/>
        </p:nvSpPr>
        <p:spPr>
          <a:xfrm>
            <a:off x="6528547" y="1667435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4</a:t>
            </a:r>
          </a:p>
        </p:txBody>
      </p:sp>
      <p:sp>
        <p:nvSpPr>
          <p:cNvPr id="106" name="text"/>
          <p:cNvSpPr txBox="1"/>
          <p:nvPr/>
        </p:nvSpPr>
        <p:spPr>
          <a:xfrm>
            <a:off x="6837829" y="1674158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>
                <a:solidFill>
                  <a:srgbClr val="111111"/>
                </a:solidFill>
                <a:latin typeface="Liberation Serif"/>
              </a:rPr>
              <a:t>Video Blur Degree</a:t>
            </a:r>
          </a:p>
        </p:txBody>
      </p:sp>
      <p:sp>
        <p:nvSpPr>
          <p:cNvPr id="107" name="ellipse"/>
          <p:cNvSpPr/>
          <p:nvPr/>
        </p:nvSpPr>
        <p:spPr>
          <a:xfrm>
            <a:off x="6528547" y="2010335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text"/>
          <p:cNvSpPr txBox="1"/>
          <p:nvPr/>
        </p:nvSpPr>
        <p:spPr>
          <a:xfrm>
            <a:off x="6528547" y="1996888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5</a:t>
            </a:r>
          </a:p>
        </p:txBody>
      </p:sp>
      <p:sp>
        <p:nvSpPr>
          <p:cNvPr id="109" name="text"/>
          <p:cNvSpPr txBox="1"/>
          <p:nvPr/>
        </p:nvSpPr>
        <p:spPr>
          <a:xfrm>
            <a:off x="6837829" y="2003611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>
                <a:solidFill>
                  <a:srgbClr val="111111"/>
                </a:solidFill>
                <a:latin typeface="Liberation Serif"/>
              </a:rPr>
              <a:t>Camera Motion Smoothness</a:t>
            </a:r>
          </a:p>
        </p:txBody>
      </p:sp>
      <p:sp>
        <p:nvSpPr>
          <p:cNvPr id="110" name="ellipse"/>
          <p:cNvSpPr/>
          <p:nvPr/>
        </p:nvSpPr>
        <p:spPr>
          <a:xfrm>
            <a:off x="6528547" y="2339788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text"/>
          <p:cNvSpPr txBox="1"/>
          <p:nvPr/>
        </p:nvSpPr>
        <p:spPr>
          <a:xfrm>
            <a:off x="6528547" y="2326341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6</a:t>
            </a:r>
          </a:p>
        </p:txBody>
      </p:sp>
      <p:sp>
        <p:nvSpPr>
          <p:cNvPr id="112" name="text"/>
          <p:cNvSpPr txBox="1"/>
          <p:nvPr/>
        </p:nvSpPr>
        <p:spPr>
          <a:xfrm>
            <a:off x="6837829" y="2333064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311"/>
              </a:lnSpc>
              <a:spcBef>
                <a:spcPts val="0"/>
              </a:spcBef>
              <a:spcAft>
                <a:spcPts val="0"/>
              </a:spcAft>
            </a:pPr>
            <a:r>
              <a:rPr sz="1111" b="1" i="0" u="none">
                <a:solidFill>
                  <a:srgbClr val="111111"/>
                </a:solidFill>
                <a:latin typeface="Liberation Serif"/>
              </a:rPr>
              <a:t>VLM Judgement</a:t>
            </a:r>
          </a:p>
        </p:txBody>
      </p:sp>
      <p:sp>
        <p:nvSpPr>
          <p:cNvPr id="113" name="polygon"/>
          <p:cNvSpPr/>
          <p:nvPr/>
        </p:nvSpPr>
        <p:spPr>
          <a:xfrm>
            <a:off x="8497872" y="1371492"/>
            <a:ext cx="194967" cy="302535"/>
          </a:xfrm>
          <a:custGeom>
            <a:avLst/>
            <a:gdLst/>
            <a:ahLst/>
            <a:cxnLst/>
            <a:rect l="l" t="t" r="r" b="b"/>
            <a:pathLst>
              <a:path w="29" h="45">
                <a:moveTo>
                  <a:pt x="14" y="0"/>
                </a:moveTo>
                <a:lnTo>
                  <a:pt x="0" y="34"/>
                </a:lnTo>
                <a:lnTo>
                  <a:pt x="9" y="34"/>
                </a:lnTo>
                <a:lnTo>
                  <a:pt x="5" y="45"/>
                </a:lnTo>
                <a:lnTo>
                  <a:pt x="24" y="45"/>
                </a:lnTo>
                <a:lnTo>
                  <a:pt x="20" y="34"/>
                </a:lnTo>
                <a:lnTo>
                  <a:pt x="29" y="34"/>
                </a:lnTo>
                <a:close/>
              </a:path>
            </a:pathLst>
          </a:custGeom>
          <a:solidFill>
            <a:srgbClr val="FFFFFF"/>
          </a:solidFill>
          <a:ln w="26894">
            <a:solidFill>
              <a:srgbClr val="4D8B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polygon"/>
          <p:cNvSpPr/>
          <p:nvPr/>
        </p:nvSpPr>
        <p:spPr>
          <a:xfrm>
            <a:off x="8645778" y="1284093"/>
            <a:ext cx="242028" cy="376488"/>
          </a:xfrm>
          <a:custGeom>
            <a:avLst/>
            <a:gdLst/>
            <a:ahLst/>
            <a:cxnLst/>
            <a:rect l="l" t="t" r="r" b="b"/>
            <a:pathLst>
              <a:path w="36" h="56">
                <a:moveTo>
                  <a:pt x="18" y="0"/>
                </a:moveTo>
                <a:lnTo>
                  <a:pt x="0" y="43"/>
                </a:lnTo>
                <a:lnTo>
                  <a:pt x="11" y="43"/>
                </a:lnTo>
                <a:lnTo>
                  <a:pt x="6" y="56"/>
                </a:lnTo>
                <a:lnTo>
                  <a:pt x="30" y="56"/>
                </a:lnTo>
                <a:lnTo>
                  <a:pt x="25" y="43"/>
                </a:lnTo>
                <a:lnTo>
                  <a:pt x="36" y="43"/>
                </a:lnTo>
                <a:close/>
              </a:path>
            </a:pathLst>
          </a:custGeom>
          <a:solidFill>
            <a:srgbClr val="FFFFFF"/>
          </a:solidFill>
          <a:ln w="26894">
            <a:solidFill>
              <a:srgbClr val="4D8B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5" name="polygon"/>
          <p:cNvSpPr/>
          <p:nvPr/>
        </p:nvSpPr>
        <p:spPr>
          <a:xfrm>
            <a:off x="8827299" y="1351323"/>
            <a:ext cx="201690" cy="315981"/>
          </a:xfrm>
          <a:custGeom>
            <a:avLst/>
            <a:gdLst/>
            <a:ahLst/>
            <a:cxnLst/>
            <a:rect l="l" t="t" r="r" b="b"/>
            <a:pathLst>
              <a:path w="30" h="47">
                <a:moveTo>
                  <a:pt x="15" y="0"/>
                </a:moveTo>
                <a:lnTo>
                  <a:pt x="0" y="36"/>
                </a:lnTo>
                <a:lnTo>
                  <a:pt x="9" y="36"/>
                </a:lnTo>
                <a:lnTo>
                  <a:pt x="5" y="47"/>
                </a:lnTo>
                <a:lnTo>
                  <a:pt x="25" y="47"/>
                </a:lnTo>
                <a:lnTo>
                  <a:pt x="21" y="36"/>
                </a:lnTo>
                <a:lnTo>
                  <a:pt x="30" y="36"/>
                </a:lnTo>
                <a:close/>
              </a:path>
            </a:pathLst>
          </a:custGeom>
          <a:solidFill>
            <a:srgbClr val="FFFFFF"/>
          </a:solidFill>
          <a:ln w="26894">
            <a:solidFill>
              <a:srgbClr val="4D8B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"/>
          <p:cNvSpPr txBox="1"/>
          <p:nvPr/>
        </p:nvSpPr>
        <p:spPr>
          <a:xfrm>
            <a:off x="8491817" y="1647264"/>
            <a:ext cx="510988" cy="2823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4D8B3E"/>
                </a:solidFill>
                <a:latin typeface="Liberation Sans"/>
              </a:rPr>
              <a:t>Random</a:t>
            </a:r>
          </a:p>
          <a:p>
            <a:pPr algn="ctr">
              <a:lnSpc>
                <a:spcPts val="1005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 u="none">
                <a:solidFill>
                  <a:srgbClr val="4D8B3E"/>
                </a:solidFill>
                <a:latin typeface="Liberation Sans"/>
              </a:rPr>
              <a:t>forest</a:t>
            </a:r>
          </a:p>
        </p:txBody>
      </p:sp>
      <p:sp>
        <p:nvSpPr>
          <p:cNvPr id="117" name="ellipse"/>
          <p:cNvSpPr/>
          <p:nvPr/>
        </p:nvSpPr>
        <p:spPr>
          <a:xfrm>
            <a:off x="6541994" y="3166782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"/>
          <p:cNvSpPr txBox="1"/>
          <p:nvPr/>
        </p:nvSpPr>
        <p:spPr>
          <a:xfrm>
            <a:off x="6541994" y="3153335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1</a:t>
            </a:r>
          </a:p>
        </p:txBody>
      </p:sp>
      <p:sp>
        <p:nvSpPr>
          <p:cNvPr id="119" name="text"/>
          <p:cNvSpPr txBox="1"/>
          <p:nvPr/>
        </p:nvSpPr>
        <p:spPr>
          <a:xfrm>
            <a:off x="6851276" y="3160058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8" b="1" i="0" u="none">
                <a:solidFill>
                  <a:srgbClr val="111111"/>
                </a:solidFill>
                <a:latin typeface="Liberation Serif"/>
              </a:rPr>
              <a:t>VLM-based object recognition</a:t>
            </a:r>
          </a:p>
        </p:txBody>
      </p:sp>
      <p:sp>
        <p:nvSpPr>
          <p:cNvPr id="120" name="ellipse"/>
          <p:cNvSpPr/>
          <p:nvPr/>
        </p:nvSpPr>
        <p:spPr>
          <a:xfrm>
            <a:off x="6541994" y="3482788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"/>
          <p:cNvSpPr txBox="1"/>
          <p:nvPr/>
        </p:nvSpPr>
        <p:spPr>
          <a:xfrm>
            <a:off x="6541994" y="3469341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2</a:t>
            </a:r>
          </a:p>
        </p:txBody>
      </p:sp>
      <p:sp>
        <p:nvSpPr>
          <p:cNvPr id="122" name="text"/>
          <p:cNvSpPr txBox="1"/>
          <p:nvPr/>
        </p:nvSpPr>
        <p:spPr>
          <a:xfrm>
            <a:off x="6851276" y="3476064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8" b="1" i="0" u="none">
                <a:solidFill>
                  <a:srgbClr val="111111"/>
                </a:solidFill>
                <a:latin typeface="Liberation Serif"/>
              </a:rPr>
              <a:t>Semantic-based Segmentation</a:t>
            </a:r>
          </a:p>
        </p:txBody>
      </p:sp>
      <p:sp>
        <p:nvSpPr>
          <p:cNvPr id="123" name="ellipse"/>
          <p:cNvSpPr/>
          <p:nvPr/>
        </p:nvSpPr>
        <p:spPr>
          <a:xfrm>
            <a:off x="6541994" y="3798794"/>
            <a:ext cx="228600" cy="228600"/>
          </a:xfrm>
          <a:prstGeom prst="ellipse">
            <a:avLst/>
          </a:prstGeom>
          <a:solidFill>
            <a:srgbClr val="FFFFFF"/>
          </a:solidFill>
          <a:ln w="20170">
            <a:solidFill>
              <a:srgbClr val="11111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text"/>
          <p:cNvSpPr txBox="1"/>
          <p:nvPr/>
        </p:nvSpPr>
        <p:spPr>
          <a:xfrm>
            <a:off x="6541994" y="3785347"/>
            <a:ext cx="228600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61"/>
              </a:lnSpc>
              <a:spcBef>
                <a:spcPts val="0"/>
              </a:spcBef>
              <a:spcAft>
                <a:spcPts val="0"/>
              </a:spcAft>
            </a:pPr>
            <a:r>
              <a:rPr sz="1323" b="0" i="0" u="none">
                <a:solidFill>
                  <a:srgbClr val="111111"/>
                </a:solidFill>
                <a:latin typeface="Liberation Serif"/>
              </a:rPr>
              <a:t>3</a:t>
            </a:r>
          </a:p>
        </p:txBody>
      </p:sp>
      <p:sp>
        <p:nvSpPr>
          <p:cNvPr id="125" name="text"/>
          <p:cNvSpPr txBox="1"/>
          <p:nvPr/>
        </p:nvSpPr>
        <p:spPr>
          <a:xfrm>
            <a:off x="6851276" y="3792070"/>
            <a:ext cx="2117911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8" b="1" i="0" u="none">
                <a:solidFill>
                  <a:srgbClr val="111111"/>
                </a:solidFill>
                <a:latin typeface="Liberation Serif"/>
              </a:rPr>
              <a:t>Physical-aware Size Extraction</a:t>
            </a:r>
          </a:p>
        </p:txBody>
      </p:sp>
      <p:sp>
        <p:nvSpPr>
          <p:cNvPr id="126" name="soft shadow"/>
          <p:cNvSpPr/>
          <p:nvPr/>
        </p:nvSpPr>
        <p:spPr>
          <a:xfrm>
            <a:off x="9554135" y="753035"/>
            <a:ext cx="2514600" cy="430305"/>
          </a:xfrm>
          <a:prstGeom prst="roundRect">
            <a:avLst/>
          </a:prstGeom>
          <a:solidFill>
            <a:srgbClr val="777777">
              <a:alpha val="1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Dynamic Masking"/>
          <p:cNvSpPr/>
          <p:nvPr/>
        </p:nvSpPr>
        <p:spPr>
          <a:xfrm>
            <a:off x="9527241" y="719417"/>
            <a:ext cx="2514600" cy="430305"/>
          </a:xfrm>
          <a:prstGeom prst="roundRect">
            <a:avLst/>
          </a:prstGeom>
          <a:solidFill>
            <a:srgbClr val="F9A9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8" name="text"/>
          <p:cNvSpPr txBox="1"/>
          <p:nvPr/>
        </p:nvSpPr>
        <p:spPr>
          <a:xfrm>
            <a:off x="9614647" y="719417"/>
            <a:ext cx="2339788" cy="43030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Dynamic Masking</a:t>
            </a:r>
          </a:p>
        </p:txBody>
      </p:sp>
      <p:cxnSp>
        <p:nvCxnSpPr>
          <p:cNvPr id="129" name="bundle step 1-shaft"/>
          <p:cNvCxnSpPr/>
          <p:nvPr/>
        </p:nvCxnSpPr>
        <p:spPr>
          <a:xfrm>
            <a:off x="10784541" y="1149723"/>
            <a:ext cx="0" cy="87406"/>
          </a:xfrm>
          <a:prstGeom prst="line">
            <a:avLst/>
          </a:prstGeom>
          <a:ln w="26894">
            <a:solidFill>
              <a:srgbClr val="ABABAB"/>
            </a:solidFill>
          </a:ln>
        </p:spPr>
      </p:cxnSp>
      <p:sp>
        <p:nvSpPr>
          <p:cNvPr id="130" name="bundle step 1-head"/>
          <p:cNvSpPr/>
          <p:nvPr/>
        </p:nvSpPr>
        <p:spPr>
          <a:xfrm>
            <a:off x="10743354" y="1230309"/>
            <a:ext cx="80676" cy="806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12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ABABAB"/>
          </a:solidFill>
          <a:ln w="4034">
            <a:solidFill>
              <a:srgbClr val="ABAB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soft shadow"/>
          <p:cNvSpPr/>
          <p:nvPr/>
        </p:nvSpPr>
        <p:spPr>
          <a:xfrm>
            <a:off x="9554135" y="1344705"/>
            <a:ext cx="2514600" cy="510988"/>
          </a:xfrm>
          <a:prstGeom prst="roundRect">
            <a:avLst/>
          </a:prstGeom>
          <a:solidFill>
            <a:srgbClr val="777777">
              <a:alpha val="1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Coarse Camera Initialization"/>
          <p:cNvSpPr/>
          <p:nvPr/>
        </p:nvSpPr>
        <p:spPr>
          <a:xfrm>
            <a:off x="9527241" y="1311088"/>
            <a:ext cx="2514600" cy="510988"/>
          </a:xfrm>
          <a:prstGeom prst="roundRect">
            <a:avLst/>
          </a:prstGeom>
          <a:solidFill>
            <a:srgbClr val="DC982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"/>
          <p:cNvSpPr txBox="1"/>
          <p:nvPr/>
        </p:nvSpPr>
        <p:spPr>
          <a:xfrm>
            <a:off x="9614647" y="1311088"/>
            <a:ext cx="2339788" cy="5109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Coarse Camera Initialization</a:t>
            </a:r>
          </a:p>
        </p:txBody>
      </p:sp>
      <p:cxnSp>
        <p:nvCxnSpPr>
          <p:cNvPr id="134" name="bundle step 2-shaft"/>
          <p:cNvCxnSpPr/>
          <p:nvPr/>
        </p:nvCxnSpPr>
        <p:spPr>
          <a:xfrm>
            <a:off x="10784541" y="1822076"/>
            <a:ext cx="0" cy="100853"/>
          </a:xfrm>
          <a:prstGeom prst="line">
            <a:avLst/>
          </a:prstGeom>
          <a:ln w="26894">
            <a:solidFill>
              <a:srgbClr val="ABABAB"/>
            </a:solidFill>
          </a:ln>
        </p:spPr>
      </p:cxnSp>
      <p:sp>
        <p:nvSpPr>
          <p:cNvPr id="135" name="bundle step 2-head"/>
          <p:cNvSpPr/>
          <p:nvPr/>
        </p:nvSpPr>
        <p:spPr>
          <a:xfrm>
            <a:off x="10743354" y="1916055"/>
            <a:ext cx="80676" cy="806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12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ABABAB"/>
          </a:solidFill>
          <a:ln w="4034">
            <a:solidFill>
              <a:srgbClr val="ABAB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soft shadow"/>
          <p:cNvSpPr/>
          <p:nvPr/>
        </p:nvSpPr>
        <p:spPr>
          <a:xfrm>
            <a:off x="9554135" y="2030505"/>
            <a:ext cx="2514600" cy="510988"/>
          </a:xfrm>
          <a:prstGeom prst="roundRect">
            <a:avLst/>
          </a:prstGeom>
          <a:solidFill>
            <a:srgbClr val="777777">
              <a:alpha val="1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7" name="Static Area&#10;Bundle Adjustment"/>
          <p:cNvSpPr/>
          <p:nvPr/>
        </p:nvSpPr>
        <p:spPr>
          <a:xfrm>
            <a:off x="9527241" y="1996888"/>
            <a:ext cx="2514600" cy="510988"/>
          </a:xfrm>
          <a:prstGeom prst="roundRect">
            <a:avLst/>
          </a:prstGeom>
          <a:solidFill>
            <a:srgbClr val="C8790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text"/>
          <p:cNvSpPr txBox="1"/>
          <p:nvPr/>
        </p:nvSpPr>
        <p:spPr>
          <a:xfrm>
            <a:off x="9614647" y="1996888"/>
            <a:ext cx="2339788" cy="5109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Static Area</a:t>
            </a:r>
          </a:p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Bundle Adjustment</a:t>
            </a:r>
          </a:p>
        </p:txBody>
      </p:sp>
      <p:cxnSp>
        <p:nvCxnSpPr>
          <p:cNvPr id="139" name="bundle step 3-shaft"/>
          <p:cNvCxnSpPr/>
          <p:nvPr/>
        </p:nvCxnSpPr>
        <p:spPr>
          <a:xfrm>
            <a:off x="10784541" y="2507876"/>
            <a:ext cx="0" cy="107576"/>
          </a:xfrm>
          <a:prstGeom prst="line">
            <a:avLst/>
          </a:prstGeom>
          <a:ln w="26894">
            <a:solidFill>
              <a:srgbClr val="ABABAB"/>
            </a:solidFill>
          </a:ln>
        </p:spPr>
      </p:cxnSp>
      <p:sp>
        <p:nvSpPr>
          <p:cNvPr id="140" name="bundle step 3-head"/>
          <p:cNvSpPr/>
          <p:nvPr/>
        </p:nvSpPr>
        <p:spPr>
          <a:xfrm>
            <a:off x="10743354" y="2608524"/>
            <a:ext cx="80676" cy="806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12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ABABAB"/>
          </a:solidFill>
          <a:ln w="4034">
            <a:solidFill>
              <a:srgbClr val="ABAB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soft shadow"/>
          <p:cNvSpPr/>
          <p:nvPr/>
        </p:nvSpPr>
        <p:spPr>
          <a:xfrm>
            <a:off x="9554135" y="2723029"/>
            <a:ext cx="2514600" cy="510988"/>
          </a:xfrm>
          <a:prstGeom prst="roundRect">
            <a:avLst/>
          </a:prstGeom>
          <a:solidFill>
            <a:srgbClr val="777777">
              <a:alpha val="1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Non-Rigid&#10;Bundle Adjustment"/>
          <p:cNvSpPr/>
          <p:nvPr/>
        </p:nvSpPr>
        <p:spPr>
          <a:xfrm>
            <a:off x="9527241" y="2689411"/>
            <a:ext cx="2514600" cy="510988"/>
          </a:xfrm>
          <a:prstGeom prst="roundRect">
            <a:avLst/>
          </a:prstGeom>
          <a:solidFill>
            <a:srgbClr val="A8612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text"/>
          <p:cNvSpPr txBox="1"/>
          <p:nvPr/>
        </p:nvSpPr>
        <p:spPr>
          <a:xfrm>
            <a:off x="9614647" y="2689411"/>
            <a:ext cx="2339788" cy="510988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Non-Rigid</a:t>
            </a:r>
          </a:p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Bundle Adjustment</a:t>
            </a:r>
          </a:p>
        </p:txBody>
      </p:sp>
      <p:cxnSp>
        <p:nvCxnSpPr>
          <p:cNvPr id="144" name="bundle step 4-shaft"/>
          <p:cNvCxnSpPr/>
          <p:nvPr/>
        </p:nvCxnSpPr>
        <p:spPr>
          <a:xfrm>
            <a:off x="10784541" y="3200400"/>
            <a:ext cx="0" cy="80682"/>
          </a:xfrm>
          <a:prstGeom prst="line">
            <a:avLst/>
          </a:prstGeom>
          <a:ln w="26894">
            <a:solidFill>
              <a:srgbClr val="ABABAB"/>
            </a:solidFill>
          </a:ln>
        </p:spPr>
      </p:cxnSp>
      <p:sp>
        <p:nvSpPr>
          <p:cNvPr id="145" name="bundle step 4-head"/>
          <p:cNvSpPr/>
          <p:nvPr/>
        </p:nvSpPr>
        <p:spPr>
          <a:xfrm>
            <a:off x="10743354" y="3274101"/>
            <a:ext cx="80676" cy="80676"/>
          </a:xfrm>
          <a:custGeom>
            <a:avLst/>
            <a:gdLst/>
            <a:ahLst/>
            <a:cxnLst/>
            <a:rect l="l" t="t" r="r" b="b"/>
            <a:pathLst>
              <a:path w="12" h="12">
                <a:moveTo>
                  <a:pt x="6" y="12"/>
                </a:moveTo>
                <a:lnTo>
                  <a:pt x="0" y="0"/>
                </a:lnTo>
                <a:lnTo>
                  <a:pt x="12" y="0"/>
                </a:lnTo>
                <a:close/>
              </a:path>
            </a:pathLst>
          </a:custGeom>
          <a:solidFill>
            <a:srgbClr val="ABABAB"/>
          </a:solidFill>
          <a:ln w="4034">
            <a:solidFill>
              <a:srgbClr val="ABABA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6" name="soft shadow"/>
          <p:cNvSpPr/>
          <p:nvPr/>
        </p:nvSpPr>
        <p:spPr>
          <a:xfrm>
            <a:off x="9554135" y="3388658"/>
            <a:ext cx="2514600" cy="504264"/>
          </a:xfrm>
          <a:prstGeom prst="roundRect">
            <a:avLst/>
          </a:prstGeom>
          <a:solidFill>
            <a:srgbClr val="777777">
              <a:alpha val="17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7" name="Sliding Window&#10;Global Refinement"/>
          <p:cNvSpPr/>
          <p:nvPr/>
        </p:nvSpPr>
        <p:spPr>
          <a:xfrm>
            <a:off x="9527241" y="3355041"/>
            <a:ext cx="2514600" cy="504264"/>
          </a:xfrm>
          <a:prstGeom prst="roundRect">
            <a:avLst/>
          </a:prstGeom>
          <a:solidFill>
            <a:srgbClr val="5B4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8" name="text"/>
          <p:cNvSpPr txBox="1"/>
          <p:nvPr/>
        </p:nvSpPr>
        <p:spPr>
          <a:xfrm>
            <a:off x="9614647" y="3355041"/>
            <a:ext cx="2339788" cy="50426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Sliding Window</a:t>
            </a:r>
          </a:p>
          <a:p>
            <a:pPr algn="ctr">
              <a:lnSpc>
                <a:spcPts val="1535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FFFFFF"/>
                </a:solidFill>
                <a:latin typeface="Liberation Sans"/>
              </a:rPr>
              <a:t>Global Refinement</a:t>
            </a:r>
          </a:p>
        </p:txBody>
      </p:sp>
      <p:cxnSp>
        <p:nvCxnSpPr>
          <p:cNvPr id="149" name="stage divider"/>
          <p:cNvCxnSpPr/>
          <p:nvPr/>
        </p:nvCxnSpPr>
        <p:spPr>
          <a:xfrm>
            <a:off x="60511" y="4511488"/>
            <a:ext cx="12297336" cy="0"/>
          </a:xfrm>
          <a:prstGeom prst="line">
            <a:avLst/>
          </a:prstGeom>
          <a:ln w="60511">
            <a:solidFill>
              <a:srgbClr val="777777"/>
            </a:solidFill>
            <a:prstDash val="dash"/>
          </a:ln>
        </p:spPr>
      </p:cxnSp>
      <p:sp>
        <p:nvSpPr>
          <p:cNvPr id="150" name="stage 2 title"/>
          <p:cNvSpPr txBox="1"/>
          <p:nvPr/>
        </p:nvSpPr>
        <p:spPr>
          <a:xfrm>
            <a:off x="342900" y="4645958"/>
            <a:ext cx="9917205" cy="2891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811"/>
              </a:lnSpc>
              <a:spcBef>
                <a:spcPts val="0"/>
              </a:spcBef>
              <a:spcAft>
                <a:spcPts val="0"/>
              </a:spcAft>
            </a:pPr>
            <a:r>
              <a:rPr sz="1535" b="1" i="0" u="none">
                <a:solidFill>
                  <a:srgbClr val="2E7B24"/>
                </a:solidFill>
                <a:latin typeface="Liberation Sans"/>
              </a:rPr>
              <a:t>Stage 2 : Generating Fine-grained Captions For Moving Objects, Cameras and Dynamic Scenes</a:t>
            </a:r>
          </a:p>
        </p:txBody>
      </p:sp>
      <p:sp>
        <p:nvSpPr>
          <p:cNvPr id="151" name="soft shadow"/>
          <p:cNvSpPr/>
          <p:nvPr/>
        </p:nvSpPr>
        <p:spPr>
          <a:xfrm>
            <a:off x="302558" y="5103158"/>
            <a:ext cx="5096435" cy="4061011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2" name="moving object caption panel"/>
          <p:cNvSpPr/>
          <p:nvPr/>
        </p:nvSpPr>
        <p:spPr>
          <a:xfrm>
            <a:off x="268941" y="5062817"/>
            <a:ext cx="5096435" cy="4061011"/>
          </a:xfrm>
          <a:prstGeom prst="roundRect">
            <a:avLst/>
          </a:prstGeom>
          <a:solidFill>
            <a:srgbClr val="FFFFFF"/>
          </a:solidFill>
          <a:ln w="33617">
            <a:solidFill>
              <a:srgbClr val="A6A6A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soft shadow"/>
          <p:cNvSpPr/>
          <p:nvPr/>
        </p:nvSpPr>
        <p:spPr>
          <a:xfrm>
            <a:off x="5520017" y="5103158"/>
            <a:ext cx="4511488" cy="4061011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4" name="dynamic scene caption panel"/>
          <p:cNvSpPr/>
          <p:nvPr/>
        </p:nvSpPr>
        <p:spPr>
          <a:xfrm>
            <a:off x="5486400" y="5062817"/>
            <a:ext cx="4511488" cy="4061011"/>
          </a:xfrm>
          <a:prstGeom prst="roundRect">
            <a:avLst/>
          </a:prstGeom>
          <a:solidFill>
            <a:srgbClr val="FFFFFF"/>
          </a:solidFill>
          <a:ln w="33617">
            <a:solidFill>
              <a:srgbClr val="909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5" name="soft shadow"/>
          <p:cNvSpPr/>
          <p:nvPr/>
        </p:nvSpPr>
        <p:spPr>
          <a:xfrm>
            <a:off x="10186147" y="5103158"/>
            <a:ext cx="2198594" cy="4061011"/>
          </a:xfrm>
          <a:prstGeom prst="roundRect">
            <a:avLst/>
          </a:prstGeom>
          <a:solidFill>
            <a:srgbClr val="777777">
              <a:alpha val="2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camera caption panel"/>
          <p:cNvSpPr/>
          <p:nvPr/>
        </p:nvSpPr>
        <p:spPr>
          <a:xfrm>
            <a:off x="10152529" y="5062817"/>
            <a:ext cx="2198594" cy="4061011"/>
          </a:xfrm>
          <a:prstGeom prst="roundRect">
            <a:avLst/>
          </a:prstGeom>
          <a:solidFill>
            <a:srgbClr val="FFFAFF"/>
          </a:solidFill>
          <a:ln w="33617">
            <a:solidFill>
              <a:srgbClr val="DFC0D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7" name="object caption to scene"/>
          <p:cNvSpPr/>
          <p:nvPr/>
        </p:nvSpPr>
        <p:spPr>
          <a:xfrm>
            <a:off x="5358231" y="6696108"/>
            <a:ext cx="168075" cy="369765"/>
          </a:xfrm>
          <a:custGeom>
            <a:avLst/>
            <a:gdLst/>
            <a:ahLst/>
            <a:cxnLst/>
            <a:rect l="l" t="t" r="r" b="b"/>
            <a:pathLst>
              <a:path w="25" h="55">
                <a:moveTo>
                  <a:pt x="0" y="13"/>
                </a:moveTo>
                <a:lnTo>
                  <a:pt x="14" y="13"/>
                </a:lnTo>
                <a:lnTo>
                  <a:pt x="14" y="0"/>
                </a:lnTo>
                <a:lnTo>
                  <a:pt x="25" y="28"/>
                </a:lnTo>
                <a:lnTo>
                  <a:pt x="14" y="55"/>
                </a:lnTo>
                <a:lnTo>
                  <a:pt x="14" y="42"/>
                </a:lnTo>
                <a:lnTo>
                  <a:pt x="0" y="42"/>
                </a:lnTo>
                <a:close/>
              </a:path>
            </a:pathLst>
          </a:custGeom>
          <a:solidFill>
            <a:srgbClr val="B6B6B6"/>
          </a:solidFill>
          <a:ln w="6723">
            <a:solidFill>
              <a:srgbClr val="B6B6B6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8" name="scene caption to camera"/>
          <p:cNvSpPr/>
          <p:nvPr/>
        </p:nvSpPr>
        <p:spPr>
          <a:xfrm>
            <a:off x="9990378" y="6696108"/>
            <a:ext cx="174798" cy="369765"/>
          </a:xfrm>
          <a:custGeom>
            <a:avLst/>
            <a:gdLst/>
            <a:ahLst/>
            <a:cxnLst/>
            <a:rect l="l" t="t" r="r" b="b"/>
            <a:pathLst>
              <a:path w="26" h="55">
                <a:moveTo>
                  <a:pt x="0" y="13"/>
                </a:moveTo>
                <a:lnTo>
                  <a:pt x="15" y="13"/>
                </a:lnTo>
                <a:lnTo>
                  <a:pt x="15" y="0"/>
                </a:lnTo>
                <a:lnTo>
                  <a:pt x="26" y="28"/>
                </a:lnTo>
                <a:lnTo>
                  <a:pt x="15" y="55"/>
                </a:lnTo>
                <a:lnTo>
                  <a:pt x="15" y="42"/>
                </a:lnTo>
                <a:lnTo>
                  <a:pt x="0" y="42"/>
                </a:lnTo>
                <a:close/>
              </a:path>
            </a:pathLst>
          </a:custGeom>
          <a:solidFill>
            <a:srgbClr val="9B9EC0"/>
          </a:solidFill>
          <a:ln w="6723">
            <a:solidFill>
              <a:srgbClr val="9B9EC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"/>
          <p:cNvSpPr/>
          <p:nvPr/>
        </p:nvSpPr>
        <p:spPr>
          <a:xfrm>
            <a:off x="1815352" y="4840941"/>
            <a:ext cx="2333064" cy="336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60" name="DAM badge" descr="dam_bad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0" y="4840941"/>
            <a:ext cx="316005" cy="309282"/>
          </a:xfrm>
          <a:prstGeom prst="rect">
            <a:avLst/>
          </a:prstGeom>
        </p:spPr>
      </p:pic>
      <p:sp>
        <p:nvSpPr>
          <p:cNvPr id="161" name="text"/>
          <p:cNvSpPr txBox="1"/>
          <p:nvPr/>
        </p:nvSpPr>
        <p:spPr>
          <a:xfrm>
            <a:off x="2164976" y="4914900"/>
            <a:ext cx="2151529" cy="23532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sz="1217" b="1" i="0" u="none">
                <a:solidFill>
                  <a:srgbClr val="111111"/>
                </a:solidFill>
                <a:latin typeface="Liberation Serif"/>
              </a:rPr>
              <a:t>Moving Object Caption</a:t>
            </a:r>
          </a:p>
        </p:txBody>
      </p:sp>
      <p:sp>
        <p:nvSpPr>
          <p:cNvPr id="162" name="rectangle"/>
          <p:cNvSpPr/>
          <p:nvPr/>
        </p:nvSpPr>
        <p:spPr>
          <a:xfrm>
            <a:off x="6730252" y="4840941"/>
            <a:ext cx="2413747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polygon"/>
          <p:cNvSpPr/>
          <p:nvPr/>
        </p:nvSpPr>
        <p:spPr>
          <a:xfrm>
            <a:off x="6864183" y="4800222"/>
            <a:ext cx="161352" cy="107568"/>
          </a:xfrm>
          <a:custGeom>
            <a:avLst/>
            <a:gdLst/>
            <a:ahLst/>
            <a:cxnLst/>
            <a:rect l="l" t="t" r="r" b="b"/>
            <a:pathLst>
              <a:path w="24" h="16">
                <a:moveTo>
                  <a:pt x="3" y="0"/>
                </a:moveTo>
                <a:lnTo>
                  <a:pt x="19" y="4"/>
                </a:lnTo>
                <a:lnTo>
                  <a:pt x="24" y="14"/>
                </a:lnTo>
                <a:lnTo>
                  <a:pt x="15" y="16"/>
                </a:lnTo>
                <a:lnTo>
                  <a:pt x="11" y="9"/>
                </a:lnTo>
                <a:lnTo>
                  <a:pt x="0" y="8"/>
                </a:lnTo>
                <a:close/>
              </a:path>
            </a:pathLst>
          </a:custGeom>
          <a:solidFill>
            <a:srgbClr val="6E42CF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polygon"/>
          <p:cNvSpPr/>
          <p:nvPr/>
        </p:nvSpPr>
        <p:spPr>
          <a:xfrm>
            <a:off x="6971751" y="4880898"/>
            <a:ext cx="121014" cy="181521"/>
          </a:xfrm>
          <a:custGeom>
            <a:avLst/>
            <a:gdLst/>
            <a:ahLst/>
            <a:cxnLst/>
            <a:rect l="l" t="t" r="r" b="b"/>
            <a:pathLst>
              <a:path w="18" h="27">
                <a:moveTo>
                  <a:pt x="8" y="0"/>
                </a:moveTo>
                <a:lnTo>
                  <a:pt x="18" y="13"/>
                </a:lnTo>
                <a:lnTo>
                  <a:pt x="14" y="27"/>
                </a:lnTo>
                <a:lnTo>
                  <a:pt x="5" y="22"/>
                </a:lnTo>
                <a:lnTo>
                  <a:pt x="7" y="13"/>
                </a:lnTo>
                <a:lnTo>
                  <a:pt x="0" y="6"/>
                </a:lnTo>
                <a:close/>
              </a:path>
            </a:pathLst>
          </a:custGeom>
          <a:solidFill>
            <a:srgbClr val="2452D2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polygon"/>
          <p:cNvSpPr/>
          <p:nvPr/>
        </p:nvSpPr>
        <p:spPr>
          <a:xfrm>
            <a:off x="6857460" y="5008635"/>
            <a:ext cx="188244" cy="127737"/>
          </a:xfrm>
          <a:custGeom>
            <a:avLst/>
            <a:gdLst/>
            <a:ahLst/>
            <a:cxnLst/>
            <a:rect l="l" t="t" r="r" b="b"/>
            <a:pathLst>
              <a:path w="28" h="19">
                <a:moveTo>
                  <a:pt x="28" y="9"/>
                </a:moveTo>
                <a:lnTo>
                  <a:pt x="14" y="19"/>
                </a:lnTo>
                <a:lnTo>
                  <a:pt x="0" y="15"/>
                </a:lnTo>
                <a:lnTo>
                  <a:pt x="4" y="6"/>
                </a:lnTo>
                <a:lnTo>
                  <a:pt x="13" y="7"/>
                </a:lnTo>
                <a:lnTo>
                  <a:pt x="21" y="0"/>
                </a:lnTo>
                <a:close/>
              </a:path>
            </a:pathLst>
          </a:custGeom>
          <a:solidFill>
            <a:srgbClr val="F05270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6" name="polygon"/>
          <p:cNvSpPr/>
          <p:nvPr/>
        </p:nvSpPr>
        <p:spPr>
          <a:xfrm>
            <a:off x="6776784" y="4914513"/>
            <a:ext cx="134460" cy="194967"/>
          </a:xfrm>
          <a:custGeom>
            <a:avLst/>
            <a:gdLst/>
            <a:ahLst/>
            <a:cxnLst/>
            <a:rect l="l" t="t" r="r" b="b"/>
            <a:pathLst>
              <a:path w="20" h="29">
                <a:moveTo>
                  <a:pt x="12" y="29"/>
                </a:moveTo>
                <a:lnTo>
                  <a:pt x="0" y="15"/>
                </a:lnTo>
                <a:lnTo>
                  <a:pt x="4" y="0"/>
                </a:lnTo>
                <a:lnTo>
                  <a:pt x="13" y="4"/>
                </a:lnTo>
                <a:lnTo>
                  <a:pt x="12" y="13"/>
                </a:lnTo>
                <a:lnTo>
                  <a:pt x="20" y="20"/>
                </a:lnTo>
                <a:close/>
              </a:path>
            </a:pathLst>
          </a:custGeom>
          <a:solidFill>
            <a:srgbClr val="FFA43A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7" name="text"/>
          <p:cNvSpPr txBox="1"/>
          <p:nvPr/>
        </p:nvSpPr>
        <p:spPr>
          <a:xfrm>
            <a:off x="6837829" y="4867835"/>
            <a:ext cx="201705" cy="208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6"/>
              </a:lnSpc>
              <a:spcBef>
                <a:spcPts val="0"/>
              </a:spcBef>
              <a:spcAft>
                <a:spcPts val="0"/>
              </a:spcAft>
            </a:pPr>
            <a:r>
              <a:rPr sz="1429" b="1" i="0" u="none">
                <a:solidFill>
                  <a:srgbClr val="FFFFFF"/>
                </a:solidFill>
                <a:latin typeface="Liberation Sans"/>
              </a:rPr>
              <a:t>S</a:t>
            </a:r>
          </a:p>
        </p:txBody>
      </p:sp>
      <p:sp>
        <p:nvSpPr>
          <p:cNvPr id="168" name="text"/>
          <p:cNvSpPr txBox="1"/>
          <p:nvPr/>
        </p:nvSpPr>
        <p:spPr>
          <a:xfrm>
            <a:off x="7140388" y="4901452"/>
            <a:ext cx="2117911" cy="25549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sz="1217" b="1" i="0" u="none">
                <a:solidFill>
                  <a:srgbClr val="111111"/>
                </a:solidFill>
                <a:latin typeface="Liberation Serif"/>
              </a:rPr>
              <a:t>Dynamic Scene Caption</a:t>
            </a:r>
          </a:p>
        </p:txBody>
      </p:sp>
      <p:sp>
        <p:nvSpPr>
          <p:cNvPr id="169" name="rectangle"/>
          <p:cNvSpPr/>
          <p:nvPr/>
        </p:nvSpPr>
        <p:spPr>
          <a:xfrm>
            <a:off x="10206317" y="4840941"/>
            <a:ext cx="2043952" cy="342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polygon"/>
          <p:cNvSpPr/>
          <p:nvPr/>
        </p:nvSpPr>
        <p:spPr>
          <a:xfrm>
            <a:off x="10299636" y="4820391"/>
            <a:ext cx="161352" cy="107568"/>
          </a:xfrm>
          <a:custGeom>
            <a:avLst/>
            <a:gdLst/>
            <a:ahLst/>
            <a:cxnLst/>
            <a:rect l="l" t="t" r="r" b="b"/>
            <a:pathLst>
              <a:path w="24" h="16">
                <a:moveTo>
                  <a:pt x="3" y="0"/>
                </a:moveTo>
                <a:lnTo>
                  <a:pt x="19" y="4"/>
                </a:lnTo>
                <a:lnTo>
                  <a:pt x="24" y="14"/>
                </a:lnTo>
                <a:lnTo>
                  <a:pt x="15" y="16"/>
                </a:lnTo>
                <a:lnTo>
                  <a:pt x="11" y="9"/>
                </a:lnTo>
                <a:lnTo>
                  <a:pt x="0" y="8"/>
                </a:lnTo>
                <a:close/>
              </a:path>
            </a:pathLst>
          </a:custGeom>
          <a:solidFill>
            <a:srgbClr val="6E42CF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polygon"/>
          <p:cNvSpPr/>
          <p:nvPr/>
        </p:nvSpPr>
        <p:spPr>
          <a:xfrm>
            <a:off x="10407204" y="4901067"/>
            <a:ext cx="121014" cy="181521"/>
          </a:xfrm>
          <a:custGeom>
            <a:avLst/>
            <a:gdLst/>
            <a:ahLst/>
            <a:cxnLst/>
            <a:rect l="l" t="t" r="r" b="b"/>
            <a:pathLst>
              <a:path w="18" h="27">
                <a:moveTo>
                  <a:pt x="8" y="0"/>
                </a:moveTo>
                <a:lnTo>
                  <a:pt x="18" y="13"/>
                </a:lnTo>
                <a:lnTo>
                  <a:pt x="14" y="27"/>
                </a:lnTo>
                <a:lnTo>
                  <a:pt x="5" y="22"/>
                </a:lnTo>
                <a:lnTo>
                  <a:pt x="7" y="13"/>
                </a:lnTo>
                <a:lnTo>
                  <a:pt x="0" y="6"/>
                </a:lnTo>
                <a:close/>
              </a:path>
            </a:pathLst>
          </a:custGeom>
          <a:solidFill>
            <a:srgbClr val="2452D2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polygon"/>
          <p:cNvSpPr/>
          <p:nvPr/>
        </p:nvSpPr>
        <p:spPr>
          <a:xfrm>
            <a:off x="10292913" y="5028804"/>
            <a:ext cx="188244" cy="127737"/>
          </a:xfrm>
          <a:custGeom>
            <a:avLst/>
            <a:gdLst/>
            <a:ahLst/>
            <a:cxnLst/>
            <a:rect l="l" t="t" r="r" b="b"/>
            <a:pathLst>
              <a:path w="28" h="19">
                <a:moveTo>
                  <a:pt x="28" y="9"/>
                </a:moveTo>
                <a:lnTo>
                  <a:pt x="14" y="19"/>
                </a:lnTo>
                <a:lnTo>
                  <a:pt x="0" y="15"/>
                </a:lnTo>
                <a:lnTo>
                  <a:pt x="4" y="6"/>
                </a:lnTo>
                <a:lnTo>
                  <a:pt x="13" y="7"/>
                </a:lnTo>
                <a:lnTo>
                  <a:pt x="21" y="0"/>
                </a:lnTo>
                <a:close/>
              </a:path>
            </a:pathLst>
          </a:custGeom>
          <a:solidFill>
            <a:srgbClr val="F05270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3" name="polygon"/>
          <p:cNvSpPr/>
          <p:nvPr/>
        </p:nvSpPr>
        <p:spPr>
          <a:xfrm>
            <a:off x="10212237" y="4934682"/>
            <a:ext cx="134460" cy="194967"/>
          </a:xfrm>
          <a:custGeom>
            <a:avLst/>
            <a:gdLst/>
            <a:ahLst/>
            <a:cxnLst/>
            <a:rect l="l" t="t" r="r" b="b"/>
            <a:pathLst>
              <a:path w="20" h="29">
                <a:moveTo>
                  <a:pt x="12" y="29"/>
                </a:moveTo>
                <a:lnTo>
                  <a:pt x="0" y="15"/>
                </a:lnTo>
                <a:lnTo>
                  <a:pt x="4" y="0"/>
                </a:lnTo>
                <a:lnTo>
                  <a:pt x="13" y="4"/>
                </a:lnTo>
                <a:lnTo>
                  <a:pt x="12" y="13"/>
                </a:lnTo>
                <a:lnTo>
                  <a:pt x="20" y="20"/>
                </a:lnTo>
                <a:close/>
              </a:path>
            </a:pathLst>
          </a:custGeom>
          <a:solidFill>
            <a:srgbClr val="FFA43A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" name="text"/>
          <p:cNvSpPr txBox="1"/>
          <p:nvPr/>
        </p:nvSpPr>
        <p:spPr>
          <a:xfrm>
            <a:off x="10273552" y="4888005"/>
            <a:ext cx="201705" cy="208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6"/>
              </a:lnSpc>
              <a:spcBef>
                <a:spcPts val="0"/>
              </a:spcBef>
              <a:spcAft>
                <a:spcPts val="0"/>
              </a:spcAft>
            </a:pPr>
            <a:r>
              <a:rPr sz="1429" b="1" i="0" u="none">
                <a:solidFill>
                  <a:srgbClr val="FFFFFF"/>
                </a:solidFill>
                <a:latin typeface="Liberation Sans"/>
              </a:rPr>
              <a:t>S</a:t>
            </a:r>
          </a:p>
        </p:txBody>
      </p:sp>
      <p:sp>
        <p:nvSpPr>
          <p:cNvPr id="175" name="text"/>
          <p:cNvSpPr txBox="1"/>
          <p:nvPr/>
        </p:nvSpPr>
        <p:spPr>
          <a:xfrm>
            <a:off x="10508876" y="4968688"/>
            <a:ext cx="1775011" cy="21515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436"/>
              </a:lnSpc>
              <a:spcBef>
                <a:spcPts val="0"/>
              </a:spcBef>
              <a:spcAft>
                <a:spcPts val="0"/>
              </a:spcAft>
            </a:pPr>
            <a:r>
              <a:rPr sz="1217" b="1" i="0" u="none">
                <a:solidFill>
                  <a:srgbClr val="111111"/>
                </a:solidFill>
                <a:latin typeface="Liberation Serif"/>
              </a:rPr>
              <a:t>Camera Motion Caption</a:t>
            </a:r>
          </a:p>
        </p:txBody>
      </p:sp>
      <p:pic>
        <p:nvPicPr>
          <p:cNvPr id="176" name="raw video frames" descr="raw_video_frames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0647" y="5204011"/>
            <a:ext cx="907676" cy="1391770"/>
          </a:xfrm>
          <a:prstGeom prst="rect">
            <a:avLst/>
          </a:prstGeom>
        </p:spPr>
      </p:pic>
      <p:sp>
        <p:nvSpPr>
          <p:cNvPr id="177" name="rectangle"/>
          <p:cNvSpPr/>
          <p:nvPr/>
        </p:nvSpPr>
        <p:spPr>
          <a:xfrm>
            <a:off x="484094" y="6676464"/>
            <a:ext cx="147917" cy="121023"/>
          </a:xfrm>
          <a:prstGeom prst="round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polygon"/>
          <p:cNvSpPr/>
          <p:nvPr/>
        </p:nvSpPr>
        <p:spPr>
          <a:xfrm>
            <a:off x="537840" y="6702831"/>
            <a:ext cx="53784" cy="67230"/>
          </a:xfrm>
          <a:custGeom>
            <a:avLst/>
            <a:gdLst/>
            <a:ahLst/>
            <a:cxnLst/>
            <a:rect l="l" t="t" r="r" b="b"/>
            <a:pathLst>
              <a:path w="8" h="10">
                <a:moveTo>
                  <a:pt x="0" y="0"/>
                </a:moveTo>
                <a:lnTo>
                  <a:pt x="0" y="10"/>
                </a:lnTo>
                <a:lnTo>
                  <a:pt x="8" y="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"/>
          <p:cNvSpPr/>
          <p:nvPr/>
        </p:nvSpPr>
        <p:spPr>
          <a:xfrm>
            <a:off x="497541" y="6649570"/>
            <a:ext cx="26894" cy="2017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"/>
          <p:cNvSpPr/>
          <p:nvPr/>
        </p:nvSpPr>
        <p:spPr>
          <a:xfrm>
            <a:off x="537882" y="6649570"/>
            <a:ext cx="26894" cy="2017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"/>
          <p:cNvSpPr/>
          <p:nvPr/>
        </p:nvSpPr>
        <p:spPr>
          <a:xfrm>
            <a:off x="578223" y="6649570"/>
            <a:ext cx="26894" cy="20170"/>
          </a:xfrm>
          <a:prstGeom prst="rect">
            <a:avLst/>
          </a:prstGeom>
          <a:solidFill>
            <a:srgbClr val="44444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2" name="text"/>
          <p:cNvSpPr txBox="1"/>
          <p:nvPr/>
        </p:nvSpPr>
        <p:spPr>
          <a:xfrm>
            <a:off x="658905" y="6642847"/>
            <a:ext cx="779929" cy="1748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8" b="1" i="0" u="none">
                <a:solidFill>
                  <a:srgbClr val="111111"/>
                </a:solidFill>
                <a:latin typeface="Liberation Serif"/>
              </a:rPr>
              <a:t>Raw Videos</a:t>
            </a:r>
          </a:p>
        </p:txBody>
      </p:sp>
      <p:pic>
        <p:nvPicPr>
          <p:cNvPr id="183" name="instance mask frames" descr="mask_video_frames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647" y="6931958"/>
            <a:ext cx="874058" cy="1250576"/>
          </a:xfrm>
          <a:prstGeom prst="rect">
            <a:avLst/>
          </a:prstGeom>
        </p:spPr>
      </p:pic>
      <p:sp>
        <p:nvSpPr>
          <p:cNvPr id="184" name="polygon"/>
          <p:cNvSpPr/>
          <p:nvPr/>
        </p:nvSpPr>
        <p:spPr>
          <a:xfrm>
            <a:off x="443718" y="8202060"/>
            <a:ext cx="127737" cy="161352"/>
          </a:xfrm>
          <a:custGeom>
            <a:avLst/>
            <a:gdLst/>
            <a:ahLst/>
            <a:cxnLst/>
            <a:rect l="l" t="t" r="r" b="b"/>
            <a:pathLst>
              <a:path w="19" h="24">
                <a:moveTo>
                  <a:pt x="0" y="6"/>
                </a:moveTo>
                <a:lnTo>
                  <a:pt x="12" y="0"/>
                </a:lnTo>
                <a:lnTo>
                  <a:pt x="19" y="7"/>
                </a:lnTo>
                <a:lnTo>
                  <a:pt x="17" y="23"/>
                </a:lnTo>
                <a:lnTo>
                  <a:pt x="2" y="24"/>
                </a:lnTo>
                <a:close/>
              </a:path>
            </a:pathLst>
          </a:custGeom>
          <a:solidFill>
            <a:srgbClr val="FFFFFF"/>
          </a:solidFill>
          <a:ln w="13447">
            <a:solidFill>
              <a:srgbClr val="EF9A52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85" name="line"/>
          <p:cNvCxnSpPr/>
          <p:nvPr/>
        </p:nvCxnSpPr>
        <p:spPr>
          <a:xfrm>
            <a:off x="457200" y="8249770"/>
            <a:ext cx="20170" cy="100853"/>
          </a:xfrm>
          <a:prstGeom prst="line">
            <a:avLst/>
          </a:prstGeom>
          <a:ln w="6723">
            <a:solidFill>
              <a:srgbClr val="EF9A52"/>
            </a:solidFill>
          </a:ln>
        </p:spPr>
      </p:cxnSp>
      <p:cxnSp>
        <p:nvCxnSpPr>
          <p:cNvPr id="186" name="line"/>
          <p:cNvCxnSpPr/>
          <p:nvPr/>
        </p:nvCxnSpPr>
        <p:spPr>
          <a:xfrm>
            <a:off x="490817" y="8236323"/>
            <a:ext cx="20171" cy="107577"/>
          </a:xfrm>
          <a:prstGeom prst="line">
            <a:avLst/>
          </a:prstGeom>
          <a:ln w="6723">
            <a:solidFill>
              <a:srgbClr val="EF9A52"/>
            </a:solidFill>
          </a:ln>
        </p:spPr>
      </p:cxnSp>
      <p:cxnSp>
        <p:nvCxnSpPr>
          <p:cNvPr id="187" name="line"/>
          <p:cNvCxnSpPr/>
          <p:nvPr/>
        </p:nvCxnSpPr>
        <p:spPr>
          <a:xfrm>
            <a:off x="524435" y="8222876"/>
            <a:ext cx="20170" cy="114300"/>
          </a:xfrm>
          <a:prstGeom prst="line">
            <a:avLst/>
          </a:prstGeom>
          <a:ln w="6723">
            <a:solidFill>
              <a:srgbClr val="EF9A52"/>
            </a:solidFill>
          </a:ln>
        </p:spPr>
      </p:cxnSp>
      <p:sp>
        <p:nvSpPr>
          <p:cNvPr id="188" name="text"/>
          <p:cNvSpPr txBox="1"/>
          <p:nvPr/>
        </p:nvSpPr>
        <p:spPr>
          <a:xfrm>
            <a:off x="591670" y="8162364"/>
            <a:ext cx="914400" cy="19498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155"/>
              </a:lnSpc>
              <a:spcBef>
                <a:spcPts val="0"/>
              </a:spcBef>
              <a:spcAft>
                <a:spcPts val="0"/>
              </a:spcAft>
            </a:pPr>
            <a:r>
              <a:rPr sz="979" b="1" i="0" u="none">
                <a:solidFill>
                  <a:srgbClr val="111111"/>
                </a:solidFill>
                <a:latin typeface="Liberation Serif"/>
              </a:rPr>
              <a:t>Instance Masks</a:t>
            </a:r>
          </a:p>
        </p:txBody>
      </p:sp>
      <p:sp>
        <p:nvSpPr>
          <p:cNvPr id="189" name="text"/>
          <p:cNvSpPr txBox="1"/>
          <p:nvPr/>
        </p:nvSpPr>
        <p:spPr>
          <a:xfrm>
            <a:off x="416858" y="8552329"/>
            <a:ext cx="1062317" cy="242047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8" b="0" i="0" u="none">
                <a:solidFill>
                  <a:srgbClr val="111111"/>
                </a:solidFill>
                <a:latin typeface="DejaVu Sans Condensed"/>
              </a:rPr>
              <a:t>“A Young Boy”</a:t>
            </a:r>
          </a:p>
        </p:txBody>
      </p:sp>
      <p:sp>
        <p:nvSpPr>
          <p:cNvPr id="190" name="rectangle"/>
          <p:cNvSpPr/>
          <p:nvPr/>
        </p:nvSpPr>
        <p:spPr>
          <a:xfrm>
            <a:off x="423582" y="8888505"/>
            <a:ext cx="154641" cy="161364"/>
          </a:xfrm>
          <a:prstGeom prst="rect">
            <a:avLst/>
          </a:prstGeom>
          <a:solidFill>
            <a:srgbClr val="FFFFFF"/>
          </a:solidFill>
          <a:ln w="20170">
            <a:solidFill>
              <a:srgbClr val="68A66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1" name="text"/>
          <p:cNvSpPr txBox="1"/>
          <p:nvPr/>
        </p:nvSpPr>
        <p:spPr>
          <a:xfrm>
            <a:off x="437029" y="8895229"/>
            <a:ext cx="127747" cy="1479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124"/>
              </a:lnSpc>
              <a:spcBef>
                <a:spcPts val="0"/>
              </a:spcBef>
              <a:spcAft>
                <a:spcPts val="0"/>
              </a:spcAft>
            </a:pPr>
            <a:r>
              <a:rPr sz="952" b="1" i="0" u="none">
                <a:solidFill>
                  <a:srgbClr val="68A66C"/>
                </a:solidFill>
                <a:latin typeface="Liberation Serif"/>
              </a:rPr>
              <a:t>T</a:t>
            </a:r>
          </a:p>
        </p:txBody>
      </p:sp>
      <p:sp>
        <p:nvSpPr>
          <p:cNvPr id="192" name="text"/>
          <p:cNvSpPr txBox="1"/>
          <p:nvPr/>
        </p:nvSpPr>
        <p:spPr>
          <a:xfrm>
            <a:off x="611841" y="8861611"/>
            <a:ext cx="974911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ts val="1249"/>
              </a:lnSpc>
              <a:spcBef>
                <a:spcPts val="0"/>
              </a:spcBef>
              <a:spcAft>
                <a:spcPts val="0"/>
              </a:spcAft>
            </a:pPr>
            <a:r>
              <a:rPr sz="1058" b="1" i="0" u="none">
                <a:solidFill>
                  <a:srgbClr val="111111"/>
                </a:solidFill>
                <a:latin typeface="Liberation Serif"/>
              </a:rPr>
              <a:t>Instance Label</a:t>
            </a:r>
          </a:p>
        </p:txBody>
      </p:sp>
      <p:sp>
        <p:nvSpPr>
          <p:cNvPr id="193" name="object prompt"/>
          <p:cNvSpPr/>
          <p:nvPr/>
        </p:nvSpPr>
        <p:spPr>
          <a:xfrm>
            <a:off x="1512794" y="5204011"/>
            <a:ext cx="3704664" cy="52443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4" name="rich text"/>
          <p:cNvSpPr txBox="1"/>
          <p:nvPr/>
        </p:nvSpPr>
        <p:spPr>
          <a:xfrm>
            <a:off x="1553135" y="5251076"/>
            <a:ext cx="3597088" cy="4504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89" b="1" i="0" u="none">
                <a:solidFill>
                  <a:srgbClr val="111111"/>
                </a:solidFill>
                <a:latin typeface="DejaVu Sans Condensed"/>
              </a:rPr>
              <a:t>Prompt: </a:t>
            </a:r>
            <a:r>
              <a:rPr sz="889" b="0" i="1" u="none">
                <a:solidFill>
                  <a:srgbClr val="111111"/>
                </a:solidFill>
                <a:latin typeface="DejaVu Sans Condensed"/>
              </a:rPr>
              <a:t>Given the &lt;raw video&gt; ▣, </a:t>
            </a:r>
            <a:r>
              <a:rPr sz="889" b="0" i="1" u="none">
                <a:solidFill>
                  <a:srgbClr val="ED8A39"/>
                </a:solidFill>
                <a:latin typeface="DejaVu Sans Condensed"/>
              </a:rPr>
              <a:t>&lt;moving instance mask&gt; ▨</a:t>
            </a:r>
            <a:r>
              <a:rPr sz="889" b="0" i="1" u="none">
                <a:solidFill>
                  <a:srgbClr val="111111"/>
                </a:solidFill>
                <a:latin typeface="DejaVu Sans Condensed"/>
              </a:rPr>
              <a:t> and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89" b="0" i="0" u="none">
                <a:solidFill>
                  <a:srgbClr val="69A77A"/>
                </a:solidFill>
                <a:latin typeface="DejaVu Sans Condensed"/>
              </a:rPr>
              <a:t>&lt;instance label&gt; T</a:t>
            </a:r>
            <a:r>
              <a:rPr sz="889" b="0" i="0" u="none">
                <a:solidFill>
                  <a:srgbClr val="111111"/>
                </a:solidFill>
                <a:latin typeface="DejaVu Sans Condensed"/>
              </a:rPr>
              <a:t>. Provide a description of the moving instance.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89" b="0" i="0" u="none">
                <a:solidFill>
                  <a:srgbClr val="111111"/>
                </a:solidFill>
                <a:latin typeface="DejaVu Sans Condensed"/>
              </a:rPr>
              <a:t>Focus on its action and attributes (e.g., color, shape, material).</a:t>
            </a:r>
          </a:p>
        </p:txBody>
      </p:sp>
      <p:sp>
        <p:nvSpPr>
          <p:cNvPr id="195" name="object response section"/>
          <p:cNvSpPr/>
          <p:nvPr/>
        </p:nvSpPr>
        <p:spPr>
          <a:xfrm>
            <a:off x="1512794" y="5748617"/>
            <a:ext cx="3704664" cy="1237129"/>
          </a:xfrm>
          <a:prstGeom prst="roundRect">
            <a:avLst/>
          </a:prstGeom>
          <a:solidFill>
            <a:srgbClr val="E0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6" name="text"/>
          <p:cNvSpPr txBox="1"/>
          <p:nvPr/>
        </p:nvSpPr>
        <p:spPr>
          <a:xfrm>
            <a:off x="1519517" y="5741894"/>
            <a:ext cx="3684494" cy="1748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Response (object-level)</a:t>
            </a:r>
          </a:p>
        </p:txBody>
      </p:sp>
      <p:sp>
        <p:nvSpPr>
          <p:cNvPr id="197" name="object response box"/>
          <p:cNvSpPr/>
          <p:nvPr/>
        </p:nvSpPr>
        <p:spPr>
          <a:xfrm>
            <a:off x="1586752" y="5903258"/>
            <a:ext cx="3563470" cy="1015252"/>
          </a:xfrm>
          <a:prstGeom prst="roundRect">
            <a:avLst/>
          </a:prstGeom>
          <a:solidFill>
            <a:srgbClr val="FFFFFF"/>
          </a:solidFill>
          <a:ln w="8740">
            <a:solidFill>
              <a:srgbClr val="D0D0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8" name="polygon"/>
          <p:cNvSpPr/>
          <p:nvPr/>
        </p:nvSpPr>
        <p:spPr>
          <a:xfrm>
            <a:off x="4847283" y="5714550"/>
            <a:ext cx="161352" cy="107568"/>
          </a:xfrm>
          <a:custGeom>
            <a:avLst/>
            <a:gdLst/>
            <a:ahLst/>
            <a:cxnLst/>
            <a:rect l="l" t="t" r="r" b="b"/>
            <a:pathLst>
              <a:path w="24" h="16">
                <a:moveTo>
                  <a:pt x="3" y="0"/>
                </a:moveTo>
                <a:lnTo>
                  <a:pt x="19" y="4"/>
                </a:lnTo>
                <a:lnTo>
                  <a:pt x="24" y="14"/>
                </a:lnTo>
                <a:lnTo>
                  <a:pt x="15" y="16"/>
                </a:lnTo>
                <a:lnTo>
                  <a:pt x="11" y="9"/>
                </a:lnTo>
                <a:lnTo>
                  <a:pt x="0" y="8"/>
                </a:lnTo>
                <a:close/>
              </a:path>
            </a:pathLst>
          </a:custGeom>
          <a:solidFill>
            <a:srgbClr val="6E42CF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9" name="polygon"/>
          <p:cNvSpPr/>
          <p:nvPr/>
        </p:nvSpPr>
        <p:spPr>
          <a:xfrm>
            <a:off x="4954851" y="5795226"/>
            <a:ext cx="121014" cy="181521"/>
          </a:xfrm>
          <a:custGeom>
            <a:avLst/>
            <a:gdLst/>
            <a:ahLst/>
            <a:cxnLst/>
            <a:rect l="l" t="t" r="r" b="b"/>
            <a:pathLst>
              <a:path w="18" h="27">
                <a:moveTo>
                  <a:pt x="8" y="0"/>
                </a:moveTo>
                <a:lnTo>
                  <a:pt x="18" y="13"/>
                </a:lnTo>
                <a:lnTo>
                  <a:pt x="14" y="27"/>
                </a:lnTo>
                <a:lnTo>
                  <a:pt x="5" y="22"/>
                </a:lnTo>
                <a:lnTo>
                  <a:pt x="7" y="13"/>
                </a:lnTo>
                <a:lnTo>
                  <a:pt x="0" y="6"/>
                </a:lnTo>
                <a:close/>
              </a:path>
            </a:pathLst>
          </a:custGeom>
          <a:solidFill>
            <a:srgbClr val="2452D2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polygon"/>
          <p:cNvSpPr/>
          <p:nvPr/>
        </p:nvSpPr>
        <p:spPr>
          <a:xfrm>
            <a:off x="4840560" y="5922963"/>
            <a:ext cx="188244" cy="127737"/>
          </a:xfrm>
          <a:custGeom>
            <a:avLst/>
            <a:gdLst/>
            <a:ahLst/>
            <a:cxnLst/>
            <a:rect l="l" t="t" r="r" b="b"/>
            <a:pathLst>
              <a:path w="28" h="19">
                <a:moveTo>
                  <a:pt x="28" y="9"/>
                </a:moveTo>
                <a:lnTo>
                  <a:pt x="14" y="19"/>
                </a:lnTo>
                <a:lnTo>
                  <a:pt x="0" y="15"/>
                </a:lnTo>
                <a:lnTo>
                  <a:pt x="4" y="6"/>
                </a:lnTo>
                <a:lnTo>
                  <a:pt x="13" y="7"/>
                </a:lnTo>
                <a:lnTo>
                  <a:pt x="21" y="0"/>
                </a:lnTo>
                <a:close/>
              </a:path>
            </a:pathLst>
          </a:custGeom>
          <a:solidFill>
            <a:srgbClr val="F05270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1" name="polygon"/>
          <p:cNvSpPr/>
          <p:nvPr/>
        </p:nvSpPr>
        <p:spPr>
          <a:xfrm>
            <a:off x="4759884" y="5828841"/>
            <a:ext cx="134460" cy="194967"/>
          </a:xfrm>
          <a:custGeom>
            <a:avLst/>
            <a:gdLst/>
            <a:ahLst/>
            <a:cxnLst/>
            <a:rect l="l" t="t" r="r" b="b"/>
            <a:pathLst>
              <a:path w="20" h="29">
                <a:moveTo>
                  <a:pt x="12" y="29"/>
                </a:moveTo>
                <a:lnTo>
                  <a:pt x="0" y="15"/>
                </a:lnTo>
                <a:lnTo>
                  <a:pt x="4" y="0"/>
                </a:lnTo>
                <a:lnTo>
                  <a:pt x="13" y="4"/>
                </a:lnTo>
                <a:lnTo>
                  <a:pt x="12" y="13"/>
                </a:lnTo>
                <a:lnTo>
                  <a:pt x="20" y="20"/>
                </a:lnTo>
                <a:close/>
              </a:path>
            </a:pathLst>
          </a:custGeom>
          <a:solidFill>
            <a:srgbClr val="FFA43A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2" name="text"/>
          <p:cNvSpPr txBox="1"/>
          <p:nvPr/>
        </p:nvSpPr>
        <p:spPr>
          <a:xfrm>
            <a:off x="4820770" y="5782235"/>
            <a:ext cx="201705" cy="208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6"/>
              </a:lnSpc>
              <a:spcBef>
                <a:spcPts val="0"/>
              </a:spcBef>
              <a:spcAft>
                <a:spcPts val="0"/>
              </a:spcAft>
            </a:pPr>
            <a:r>
              <a:rPr sz="1429" b="1" i="0" u="none">
                <a:solidFill>
                  <a:srgbClr val="FFFFFF"/>
                </a:solidFill>
                <a:latin typeface="Liberation Sans"/>
              </a:rPr>
              <a:t>S</a:t>
            </a:r>
          </a:p>
        </p:txBody>
      </p:sp>
      <p:sp>
        <p:nvSpPr>
          <p:cNvPr id="203" name="rich text"/>
          <p:cNvSpPr txBox="1"/>
          <p:nvPr/>
        </p:nvSpPr>
        <p:spPr>
          <a:xfrm>
            <a:off x="1627094" y="5943600"/>
            <a:ext cx="3469341" cy="93457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&lt;think&gt; </a:t>
            </a: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Alright, let's break down the attributes </a:t>
            </a: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step by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step:</a:t>
            </a: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 First, observe the boy's action: stand, crouch, ... .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Then, see the boy's </a:t>
            </a: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attire:</a:t>
            </a: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 light green shirt, ... . Next,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note the </a:t>
            </a: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shape and movement:</a:t>
            </a: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 agile, ... . Then, consider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the </a:t>
            </a: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material</a:t>
            </a: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 of the clothing: lightweight, ... . Finally,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take into account the </a:t>
            </a: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setting</a:t>
            </a: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 and the boy's </a:t>
            </a: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engagement:</a:t>
            </a:r>
          </a:p>
          <a:p>
            <a:pPr algn="l">
              <a:lnSpc>
                <a:spcPts val="1032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indoor trampoline park, ... . </a:t>
            </a:r>
            <a:r>
              <a:rPr sz="868" b="0" i="0" u="none">
                <a:solidFill>
                  <a:srgbClr val="4B9ED0"/>
                </a:solidFill>
                <a:latin typeface="DejaVu Sans Condensed"/>
              </a:rPr>
              <a:t>&lt;/think&gt;. </a:t>
            </a:r>
            <a:r>
              <a:rPr sz="868" b="0" i="0" u="none">
                <a:solidFill>
                  <a:srgbClr val="D71812"/>
                </a:solidFill>
                <a:latin typeface="DejaVu Sans Condensed"/>
              </a:rPr>
              <a:t>&lt;answer&gt; {...}&lt;/answer&gt;</a:t>
            </a:r>
          </a:p>
        </p:txBody>
      </p:sp>
      <p:sp>
        <p:nvSpPr>
          <p:cNvPr id="204" name="object rephrase section"/>
          <p:cNvSpPr/>
          <p:nvPr/>
        </p:nvSpPr>
        <p:spPr>
          <a:xfrm>
            <a:off x="1512794" y="7086600"/>
            <a:ext cx="3711388" cy="1969994"/>
          </a:xfrm>
          <a:prstGeom prst="roundRect">
            <a:avLst/>
          </a:prstGeom>
          <a:solidFill>
            <a:srgbClr val="EA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5" name="text"/>
          <p:cNvSpPr txBox="1"/>
          <p:nvPr/>
        </p:nvSpPr>
        <p:spPr>
          <a:xfrm>
            <a:off x="1546411" y="7093323"/>
            <a:ext cx="3630705" cy="22187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LLM-rephrased</a:t>
            </a:r>
          </a:p>
        </p:txBody>
      </p:sp>
      <p:sp>
        <p:nvSpPr>
          <p:cNvPr id="206" name="ellipse"/>
          <p:cNvSpPr/>
          <p:nvPr/>
        </p:nvSpPr>
        <p:spPr>
          <a:xfrm>
            <a:off x="4874558" y="7160558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7" name="ellipse"/>
          <p:cNvSpPr/>
          <p:nvPr/>
        </p:nvSpPr>
        <p:spPr>
          <a:xfrm>
            <a:off x="4844302" y="7212963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8" name="ellipse"/>
          <p:cNvSpPr/>
          <p:nvPr/>
        </p:nvSpPr>
        <p:spPr>
          <a:xfrm>
            <a:off x="4783791" y="7212963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9" name="ellipse"/>
          <p:cNvSpPr/>
          <p:nvPr/>
        </p:nvSpPr>
        <p:spPr>
          <a:xfrm>
            <a:off x="4753535" y="7160558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ellipse"/>
          <p:cNvSpPr/>
          <p:nvPr/>
        </p:nvSpPr>
        <p:spPr>
          <a:xfrm>
            <a:off x="4783791" y="7108154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1" name="ellipse"/>
          <p:cNvSpPr/>
          <p:nvPr/>
        </p:nvSpPr>
        <p:spPr>
          <a:xfrm>
            <a:off x="4844302" y="7108154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2" name="object rephrase box"/>
          <p:cNvSpPr/>
          <p:nvPr/>
        </p:nvSpPr>
        <p:spPr>
          <a:xfrm>
            <a:off x="1627094" y="7328647"/>
            <a:ext cx="3502958" cy="1660711"/>
          </a:xfrm>
          <a:prstGeom prst="roundRect">
            <a:avLst/>
          </a:prstGeom>
          <a:solidFill>
            <a:srgbClr val="FFFFFF"/>
          </a:solidFill>
          <a:ln w="8068">
            <a:solidFill>
              <a:srgbClr val="B9B9B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3" name="rich text"/>
          <p:cNvSpPr txBox="1"/>
          <p:nvPr/>
        </p:nvSpPr>
        <p:spPr>
          <a:xfrm>
            <a:off x="1701052" y="7395882"/>
            <a:ext cx="3348317" cy="15396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D71812"/>
                </a:solidFill>
                <a:latin typeface="DejaVu Sans Condensed"/>
              </a:rPr>
              <a:t>&lt;answer&gt; </a:t>
            </a: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{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   A young boy in a vibrant green vest with red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trim and dark pants performs a dynamic sequence.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Beginning in profile, they turn, extending arms and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balancing on ready legs. Fluidly shifting from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standing to a focused crouch, their movements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display agility and control. The energetic sequence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concludes with them seated, relaxed yet purposeful,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embodying athleticism and grace throughout the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transitions.</a:t>
            </a:r>
          </a:p>
          <a:p>
            <a:pPr algn="l">
              <a:lnSpc>
                <a:spcPts val="1085"/>
              </a:lnSpc>
              <a:spcBef>
                <a:spcPts val="0"/>
              </a:spcBef>
              <a:spcAft>
                <a:spcPts val="0"/>
              </a:spcAft>
            </a:pPr>
            <a:r>
              <a:rPr sz="873" b="0" i="0" u="none">
                <a:solidFill>
                  <a:srgbClr val="111111"/>
                </a:solidFill>
                <a:latin typeface="DejaVu Sans Condensed"/>
              </a:rPr>
              <a:t>} </a:t>
            </a:r>
            <a:r>
              <a:rPr sz="873" b="0" i="0" u="none">
                <a:solidFill>
                  <a:srgbClr val="D71812"/>
                </a:solidFill>
                <a:latin typeface="DejaVu Sans Condensed"/>
              </a:rPr>
              <a:t>&lt;/answer&gt;</a:t>
            </a:r>
          </a:p>
        </p:txBody>
      </p:sp>
      <p:sp>
        <p:nvSpPr>
          <p:cNvPr id="214" name="scene prompt"/>
          <p:cNvSpPr/>
          <p:nvPr/>
        </p:nvSpPr>
        <p:spPr>
          <a:xfrm>
            <a:off x="5560358" y="5197288"/>
            <a:ext cx="4323229" cy="645458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5" name="rich text"/>
          <p:cNvSpPr txBox="1"/>
          <p:nvPr/>
        </p:nvSpPr>
        <p:spPr>
          <a:xfrm>
            <a:off x="5620870" y="5237629"/>
            <a:ext cx="4202205" cy="564776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8" b="1" i="0" u="none">
                <a:solidFill>
                  <a:srgbClr val="111111"/>
                </a:solidFill>
                <a:latin typeface="DejaVu Sans Condensed"/>
              </a:rPr>
              <a:t>Prompt: </a:t>
            </a:r>
            <a:r>
              <a:rPr sz="868" b="0" i="1" u="none">
                <a:solidFill>
                  <a:srgbClr val="111111"/>
                </a:solidFill>
                <a:latin typeface="DejaVu Sans Condensed"/>
              </a:rPr>
              <a:t>Given the &lt;raw video&gt; ▣, </a:t>
            </a:r>
            <a:r>
              <a:rPr sz="868" b="0" i="1" u="none">
                <a:solidFill>
                  <a:srgbClr val="F39A2C"/>
                </a:solidFill>
                <a:latin typeface="DejaVu Sans Condensed"/>
              </a:rPr>
              <a:t>&lt;moving instance masks&gt; ▨</a:t>
            </a:r>
            <a:r>
              <a:rPr sz="868" b="0" i="1" u="none">
                <a:solidFill>
                  <a:srgbClr val="111111"/>
                </a:solidFill>
                <a:latin typeface="DejaVu Sans Condensed"/>
              </a:rPr>
              <a:t>, </a:t>
            </a:r>
            <a:r>
              <a:rPr sz="868" b="0" i="1" u="none">
                <a:solidFill>
                  <a:srgbClr val="5F9F76"/>
                </a:solidFill>
                <a:latin typeface="DejaVu Sans Condensed"/>
              </a:rPr>
              <a:t>&lt;instance label&gt; T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1" u="none">
                <a:solidFill>
                  <a:srgbClr val="111111"/>
                </a:solidFill>
                <a:latin typeface="DejaVu Sans Condensed"/>
              </a:rPr>
              <a:t>and </a:t>
            </a:r>
            <a:r>
              <a:rPr sz="868" b="0" i="1" u="none">
                <a:solidFill>
                  <a:srgbClr val="F39A2C"/>
                </a:solidFill>
                <a:latin typeface="DejaVu Sans Condensed"/>
              </a:rPr>
              <a:t>&lt;moving instance caption&gt; ▤</a:t>
            </a: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. Provide a description of the dynamic scene.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68" b="0" i="0" u="none">
                <a:solidFill>
                  <a:srgbClr val="111111"/>
                </a:solidFill>
                <a:latin typeface="DejaVu Sans Condensed"/>
              </a:rPr>
              <a:t>Focus on the scene type, instance-scene interaction, instance's motion pattern, etc.</a:t>
            </a:r>
          </a:p>
        </p:txBody>
      </p:sp>
      <p:sp>
        <p:nvSpPr>
          <p:cNvPr id="216" name="scene response section"/>
          <p:cNvSpPr/>
          <p:nvPr/>
        </p:nvSpPr>
        <p:spPr>
          <a:xfrm>
            <a:off x="5560358" y="5862917"/>
            <a:ext cx="4323229" cy="1290917"/>
          </a:xfrm>
          <a:prstGeom prst="roundRect">
            <a:avLst/>
          </a:prstGeom>
          <a:solidFill>
            <a:srgbClr val="E2F2F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7" name="text"/>
          <p:cNvSpPr txBox="1"/>
          <p:nvPr/>
        </p:nvSpPr>
        <p:spPr>
          <a:xfrm>
            <a:off x="5580529" y="5856194"/>
            <a:ext cx="4262717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Response (scene-level)</a:t>
            </a:r>
          </a:p>
        </p:txBody>
      </p:sp>
      <p:sp>
        <p:nvSpPr>
          <p:cNvPr id="218" name="polygon"/>
          <p:cNvSpPr/>
          <p:nvPr/>
        </p:nvSpPr>
        <p:spPr>
          <a:xfrm>
            <a:off x="9607167" y="5875902"/>
            <a:ext cx="161352" cy="107568"/>
          </a:xfrm>
          <a:custGeom>
            <a:avLst/>
            <a:gdLst/>
            <a:ahLst/>
            <a:cxnLst/>
            <a:rect l="l" t="t" r="r" b="b"/>
            <a:pathLst>
              <a:path w="24" h="16">
                <a:moveTo>
                  <a:pt x="3" y="0"/>
                </a:moveTo>
                <a:lnTo>
                  <a:pt x="19" y="4"/>
                </a:lnTo>
                <a:lnTo>
                  <a:pt x="24" y="14"/>
                </a:lnTo>
                <a:lnTo>
                  <a:pt x="15" y="16"/>
                </a:lnTo>
                <a:lnTo>
                  <a:pt x="11" y="9"/>
                </a:lnTo>
                <a:lnTo>
                  <a:pt x="0" y="8"/>
                </a:lnTo>
                <a:close/>
              </a:path>
            </a:pathLst>
          </a:custGeom>
          <a:solidFill>
            <a:srgbClr val="6E42CF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polygon"/>
          <p:cNvSpPr/>
          <p:nvPr/>
        </p:nvSpPr>
        <p:spPr>
          <a:xfrm>
            <a:off x="9714735" y="5956578"/>
            <a:ext cx="121014" cy="181521"/>
          </a:xfrm>
          <a:custGeom>
            <a:avLst/>
            <a:gdLst/>
            <a:ahLst/>
            <a:cxnLst/>
            <a:rect l="l" t="t" r="r" b="b"/>
            <a:pathLst>
              <a:path w="18" h="27">
                <a:moveTo>
                  <a:pt x="8" y="0"/>
                </a:moveTo>
                <a:lnTo>
                  <a:pt x="18" y="13"/>
                </a:lnTo>
                <a:lnTo>
                  <a:pt x="14" y="27"/>
                </a:lnTo>
                <a:lnTo>
                  <a:pt x="5" y="22"/>
                </a:lnTo>
                <a:lnTo>
                  <a:pt x="7" y="13"/>
                </a:lnTo>
                <a:lnTo>
                  <a:pt x="0" y="6"/>
                </a:lnTo>
                <a:close/>
              </a:path>
            </a:pathLst>
          </a:custGeom>
          <a:solidFill>
            <a:srgbClr val="2452D2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0" name="polygon"/>
          <p:cNvSpPr/>
          <p:nvPr/>
        </p:nvSpPr>
        <p:spPr>
          <a:xfrm>
            <a:off x="9600444" y="6084315"/>
            <a:ext cx="188244" cy="127737"/>
          </a:xfrm>
          <a:custGeom>
            <a:avLst/>
            <a:gdLst/>
            <a:ahLst/>
            <a:cxnLst/>
            <a:rect l="l" t="t" r="r" b="b"/>
            <a:pathLst>
              <a:path w="28" h="19">
                <a:moveTo>
                  <a:pt x="28" y="9"/>
                </a:moveTo>
                <a:lnTo>
                  <a:pt x="14" y="19"/>
                </a:lnTo>
                <a:lnTo>
                  <a:pt x="0" y="15"/>
                </a:lnTo>
                <a:lnTo>
                  <a:pt x="4" y="6"/>
                </a:lnTo>
                <a:lnTo>
                  <a:pt x="13" y="7"/>
                </a:lnTo>
                <a:lnTo>
                  <a:pt x="21" y="0"/>
                </a:lnTo>
                <a:close/>
              </a:path>
            </a:pathLst>
          </a:custGeom>
          <a:solidFill>
            <a:srgbClr val="F05270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polygon"/>
          <p:cNvSpPr/>
          <p:nvPr/>
        </p:nvSpPr>
        <p:spPr>
          <a:xfrm>
            <a:off x="9519768" y="5990193"/>
            <a:ext cx="134460" cy="194967"/>
          </a:xfrm>
          <a:custGeom>
            <a:avLst/>
            <a:gdLst/>
            <a:ahLst/>
            <a:cxnLst/>
            <a:rect l="l" t="t" r="r" b="b"/>
            <a:pathLst>
              <a:path w="20" h="29">
                <a:moveTo>
                  <a:pt x="12" y="29"/>
                </a:moveTo>
                <a:lnTo>
                  <a:pt x="0" y="15"/>
                </a:lnTo>
                <a:lnTo>
                  <a:pt x="4" y="0"/>
                </a:lnTo>
                <a:lnTo>
                  <a:pt x="13" y="4"/>
                </a:lnTo>
                <a:lnTo>
                  <a:pt x="12" y="13"/>
                </a:lnTo>
                <a:lnTo>
                  <a:pt x="20" y="20"/>
                </a:lnTo>
                <a:close/>
              </a:path>
            </a:pathLst>
          </a:custGeom>
          <a:solidFill>
            <a:srgbClr val="FFA43A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2" name="text"/>
          <p:cNvSpPr txBox="1"/>
          <p:nvPr/>
        </p:nvSpPr>
        <p:spPr>
          <a:xfrm>
            <a:off x="9581029" y="5943600"/>
            <a:ext cx="201705" cy="208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6"/>
              </a:lnSpc>
              <a:spcBef>
                <a:spcPts val="0"/>
              </a:spcBef>
              <a:spcAft>
                <a:spcPts val="0"/>
              </a:spcAft>
            </a:pPr>
            <a:r>
              <a:rPr sz="1429" b="1" i="0" u="none">
                <a:solidFill>
                  <a:srgbClr val="FFFFFF"/>
                </a:solidFill>
                <a:latin typeface="Liberation Sans"/>
              </a:rPr>
              <a:t>S</a:t>
            </a:r>
          </a:p>
        </p:txBody>
      </p:sp>
      <p:sp>
        <p:nvSpPr>
          <p:cNvPr id="223" name="scene response box"/>
          <p:cNvSpPr/>
          <p:nvPr/>
        </p:nvSpPr>
        <p:spPr>
          <a:xfrm>
            <a:off x="5641041" y="6051176"/>
            <a:ext cx="4161864" cy="1035423"/>
          </a:xfrm>
          <a:prstGeom prst="roundRect">
            <a:avLst/>
          </a:prstGeom>
          <a:solidFill>
            <a:srgbClr val="FFFFFF"/>
          </a:solidFill>
          <a:ln w="8068">
            <a:solidFill>
              <a:srgbClr val="C4C4C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rich text"/>
          <p:cNvSpPr txBox="1"/>
          <p:nvPr/>
        </p:nvSpPr>
        <p:spPr>
          <a:xfrm>
            <a:off x="5681382" y="6091517"/>
            <a:ext cx="4081182" cy="95474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&lt;think&gt; </a:t>
            </a: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Alright, let's break down the attributes </a:t>
            </a: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step by step: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First, identify the </a:t>
            </a: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scene type:</a:t>
            </a: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 an indoor trampoline park, ... .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Then, note the </a:t>
            </a: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primary interactive entities:</a:t>
            </a: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 a young boy, ... .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Next, observe the instance's </a:t>
            </a: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motion patterns:</a:t>
            </a: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 jumps, spins, ...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Then consider the </a:t>
            </a: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static background components:</a:t>
            </a: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 Padded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Walls, ... . Finally, take into account the </a:t>
            </a: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spatial relationships and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interactions among different moving instances and the scene:</a:t>
            </a: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 the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boy actively interacts on the trampoline by jumping and</a:t>
            </a:r>
          </a:p>
          <a:p>
            <a:pPr algn="l">
              <a:lnSpc>
                <a:spcPts val="900"/>
              </a:lnSpc>
              <a:spcBef>
                <a:spcPts val="0"/>
              </a:spcBef>
              <a:spcAft>
                <a:spcPts val="0"/>
              </a:spcAft>
            </a:pPr>
            <a:r>
              <a:rPr sz="825" b="0" i="0" u="none">
                <a:solidFill>
                  <a:srgbClr val="111111"/>
                </a:solidFill>
                <a:latin typeface="DejaVu Sans Condensed"/>
              </a:rPr>
              <a:t>performing various acrobatic actions. </a:t>
            </a:r>
            <a:r>
              <a:rPr sz="825" b="0" i="0" u="none">
                <a:solidFill>
                  <a:srgbClr val="4B9ED0"/>
                </a:solidFill>
                <a:latin typeface="DejaVu Sans Condensed"/>
              </a:rPr>
              <a:t>&lt;/think&gt;. </a:t>
            </a:r>
            <a:r>
              <a:rPr sz="825" b="0" i="0" u="none">
                <a:solidFill>
                  <a:srgbClr val="D71812"/>
                </a:solidFill>
                <a:latin typeface="DejaVu Sans Condensed"/>
              </a:rPr>
              <a:t>&lt;answer&gt; {...}&lt;/answer&gt;</a:t>
            </a:r>
          </a:p>
        </p:txBody>
      </p:sp>
      <p:sp>
        <p:nvSpPr>
          <p:cNvPr id="225" name="scene rephrase section"/>
          <p:cNvSpPr/>
          <p:nvPr/>
        </p:nvSpPr>
        <p:spPr>
          <a:xfrm>
            <a:off x="5560358" y="7274858"/>
            <a:ext cx="4323229" cy="1788458"/>
          </a:xfrm>
          <a:prstGeom prst="roundRect">
            <a:avLst/>
          </a:prstGeom>
          <a:solidFill>
            <a:srgbClr val="EAF8F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text"/>
          <p:cNvSpPr txBox="1"/>
          <p:nvPr/>
        </p:nvSpPr>
        <p:spPr>
          <a:xfrm>
            <a:off x="5587252" y="7281582"/>
            <a:ext cx="4269441" cy="20842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LLM-rephrased</a:t>
            </a:r>
          </a:p>
        </p:txBody>
      </p:sp>
      <p:sp>
        <p:nvSpPr>
          <p:cNvPr id="227" name="ellipse"/>
          <p:cNvSpPr/>
          <p:nvPr/>
        </p:nvSpPr>
        <p:spPr>
          <a:xfrm>
            <a:off x="9708776" y="7368988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ellipse"/>
          <p:cNvSpPr/>
          <p:nvPr/>
        </p:nvSpPr>
        <p:spPr>
          <a:xfrm>
            <a:off x="9678520" y="7421392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9" name="ellipse"/>
          <p:cNvSpPr/>
          <p:nvPr/>
        </p:nvSpPr>
        <p:spPr>
          <a:xfrm>
            <a:off x="9618008" y="7421392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0" name="ellipse"/>
          <p:cNvSpPr/>
          <p:nvPr/>
        </p:nvSpPr>
        <p:spPr>
          <a:xfrm>
            <a:off x="9587752" y="7368988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1" name="ellipse"/>
          <p:cNvSpPr/>
          <p:nvPr/>
        </p:nvSpPr>
        <p:spPr>
          <a:xfrm>
            <a:off x="9618008" y="7316583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ellipse"/>
          <p:cNvSpPr/>
          <p:nvPr/>
        </p:nvSpPr>
        <p:spPr>
          <a:xfrm>
            <a:off x="9678520" y="7316583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scene rephrase box"/>
          <p:cNvSpPr/>
          <p:nvPr/>
        </p:nvSpPr>
        <p:spPr>
          <a:xfrm>
            <a:off x="5681382" y="7543800"/>
            <a:ext cx="4108076" cy="1438835"/>
          </a:xfrm>
          <a:prstGeom prst="roundRect">
            <a:avLst/>
          </a:prstGeom>
          <a:solidFill>
            <a:srgbClr val="FFFFFF"/>
          </a:solidFill>
          <a:ln w="8068">
            <a:solidFill>
              <a:srgbClr val="BABA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4" name="rich text"/>
          <p:cNvSpPr txBox="1"/>
          <p:nvPr/>
        </p:nvSpPr>
        <p:spPr>
          <a:xfrm>
            <a:off x="5775511" y="7611035"/>
            <a:ext cx="3926541" cy="1317811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D71812"/>
                </a:solidFill>
                <a:latin typeface="DejaVu Sans Condensed"/>
              </a:rPr>
              <a:t>&lt;answer&gt; </a:t>
            </a: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{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   Inside a vibrant indoor trampoline park, a young boy in a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turquoise shirt dynamically jumps, spins, and flips. Brightly lit,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the park features multiple trampolines with blue padding and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colorful play structures like orange and red climbing frames.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Other children in white and pink shirts enjoy the lively,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energetic atmosphere as the boy's joyful acrobatics highlight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the scene's playful activity and vibrant setting.</a:t>
            </a:r>
          </a:p>
          <a:p>
            <a:pPr algn="l">
              <a:lnSpc>
                <a:spcPts val="1058"/>
              </a:lnSpc>
              <a:spcBef>
                <a:spcPts val="0"/>
              </a:spcBef>
              <a:spcAft>
                <a:spcPts val="0"/>
              </a:spcAft>
            </a:pPr>
            <a:r>
              <a:rPr sz="836" b="0" i="0" u="none">
                <a:solidFill>
                  <a:srgbClr val="111111"/>
                </a:solidFill>
                <a:latin typeface="DejaVu Sans Condensed"/>
              </a:rPr>
              <a:t>} </a:t>
            </a:r>
            <a:r>
              <a:rPr sz="836" b="0" i="0" u="none">
                <a:solidFill>
                  <a:srgbClr val="D71812"/>
                </a:solidFill>
                <a:latin typeface="DejaVu Sans Condensed"/>
              </a:rPr>
              <a:t>&lt;/answer&gt;</a:t>
            </a:r>
          </a:p>
        </p:txBody>
      </p:sp>
      <p:sp>
        <p:nvSpPr>
          <p:cNvPr id="235" name="camera prompt"/>
          <p:cNvSpPr/>
          <p:nvPr/>
        </p:nvSpPr>
        <p:spPr>
          <a:xfrm>
            <a:off x="10233211" y="5210735"/>
            <a:ext cx="2003611" cy="109593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rich text"/>
          <p:cNvSpPr txBox="1"/>
          <p:nvPr/>
        </p:nvSpPr>
        <p:spPr>
          <a:xfrm>
            <a:off x="10280276" y="5257800"/>
            <a:ext cx="1896035" cy="10085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15" b="1" i="0" u="none">
                <a:solidFill>
                  <a:srgbClr val="111111"/>
                </a:solidFill>
                <a:latin typeface="DejaVu Sans Condensed"/>
              </a:rPr>
              <a:t>Prompt: </a:t>
            </a: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Given the &lt;raw video&gt; ▣,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5F9F76"/>
                </a:solidFill>
                <a:latin typeface="DejaVu Sans Condensed"/>
              </a:rPr>
              <a:t>&lt;instance label&gt; T</a:t>
            </a: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, </a:t>
            </a:r>
            <a:r>
              <a:rPr sz="815" b="0" i="0" u="none">
                <a:solidFill>
                  <a:srgbClr val="F39A2C"/>
                </a:solidFill>
                <a:latin typeface="DejaVu Sans Condensed"/>
              </a:rPr>
              <a:t>&lt;moving instance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F39A2C"/>
                </a:solidFill>
                <a:latin typeface="DejaVu Sans Condensed"/>
              </a:rPr>
              <a:t>caption&gt; ▤</a:t>
            </a: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, and </a:t>
            </a:r>
            <a:r>
              <a:rPr sz="815" b="0" i="0" u="none">
                <a:solidFill>
                  <a:srgbClr val="9090C2"/>
                </a:solidFill>
                <a:latin typeface="DejaVu Sans Condensed"/>
              </a:rPr>
              <a:t>&lt;dynamic scene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9090C2"/>
                </a:solidFill>
                <a:latin typeface="DejaVu Sans Condensed"/>
              </a:rPr>
              <a:t>caption&gt; ▤</a:t>
            </a: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. Provide a description of</a:t>
            </a:r>
          </a:p>
          <a:p>
            <a:pPr algn="l">
              <a:lnSpc>
                <a:spcPts val="1164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the camera motion.</a:t>
            </a:r>
          </a:p>
        </p:txBody>
      </p:sp>
      <p:sp>
        <p:nvSpPr>
          <p:cNvPr id="237" name="camera response section"/>
          <p:cNvSpPr/>
          <p:nvPr/>
        </p:nvSpPr>
        <p:spPr>
          <a:xfrm>
            <a:off x="10246658" y="6394076"/>
            <a:ext cx="1976717" cy="1102658"/>
          </a:xfrm>
          <a:prstGeom prst="roundRect">
            <a:avLst/>
          </a:prstGeom>
          <a:solidFill>
            <a:srgbClr val="F8E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8" name="text"/>
          <p:cNvSpPr txBox="1"/>
          <p:nvPr/>
        </p:nvSpPr>
        <p:spPr>
          <a:xfrm>
            <a:off x="10273552" y="6380629"/>
            <a:ext cx="192292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Response</a:t>
            </a:r>
          </a:p>
        </p:txBody>
      </p:sp>
      <p:sp>
        <p:nvSpPr>
          <p:cNvPr id="239" name="polygon"/>
          <p:cNvSpPr/>
          <p:nvPr/>
        </p:nvSpPr>
        <p:spPr>
          <a:xfrm>
            <a:off x="11973663" y="6366681"/>
            <a:ext cx="161352" cy="107568"/>
          </a:xfrm>
          <a:custGeom>
            <a:avLst/>
            <a:gdLst/>
            <a:ahLst/>
            <a:cxnLst/>
            <a:rect l="l" t="t" r="r" b="b"/>
            <a:pathLst>
              <a:path w="24" h="16">
                <a:moveTo>
                  <a:pt x="3" y="0"/>
                </a:moveTo>
                <a:lnTo>
                  <a:pt x="19" y="4"/>
                </a:lnTo>
                <a:lnTo>
                  <a:pt x="24" y="14"/>
                </a:lnTo>
                <a:lnTo>
                  <a:pt x="15" y="16"/>
                </a:lnTo>
                <a:lnTo>
                  <a:pt x="11" y="9"/>
                </a:lnTo>
                <a:lnTo>
                  <a:pt x="0" y="8"/>
                </a:lnTo>
                <a:close/>
              </a:path>
            </a:pathLst>
          </a:custGeom>
          <a:solidFill>
            <a:srgbClr val="6E42CF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0" name="polygon"/>
          <p:cNvSpPr/>
          <p:nvPr/>
        </p:nvSpPr>
        <p:spPr>
          <a:xfrm>
            <a:off x="12081231" y="6447357"/>
            <a:ext cx="121014" cy="181521"/>
          </a:xfrm>
          <a:custGeom>
            <a:avLst/>
            <a:gdLst/>
            <a:ahLst/>
            <a:cxnLst/>
            <a:rect l="l" t="t" r="r" b="b"/>
            <a:pathLst>
              <a:path w="18" h="27">
                <a:moveTo>
                  <a:pt x="8" y="0"/>
                </a:moveTo>
                <a:lnTo>
                  <a:pt x="18" y="13"/>
                </a:lnTo>
                <a:lnTo>
                  <a:pt x="14" y="27"/>
                </a:lnTo>
                <a:lnTo>
                  <a:pt x="5" y="22"/>
                </a:lnTo>
                <a:lnTo>
                  <a:pt x="7" y="13"/>
                </a:lnTo>
                <a:lnTo>
                  <a:pt x="0" y="6"/>
                </a:lnTo>
                <a:close/>
              </a:path>
            </a:pathLst>
          </a:custGeom>
          <a:solidFill>
            <a:srgbClr val="2452D2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1" name="polygon"/>
          <p:cNvSpPr/>
          <p:nvPr/>
        </p:nvSpPr>
        <p:spPr>
          <a:xfrm>
            <a:off x="11966940" y="6575094"/>
            <a:ext cx="188244" cy="127737"/>
          </a:xfrm>
          <a:custGeom>
            <a:avLst/>
            <a:gdLst/>
            <a:ahLst/>
            <a:cxnLst/>
            <a:rect l="l" t="t" r="r" b="b"/>
            <a:pathLst>
              <a:path w="28" h="19">
                <a:moveTo>
                  <a:pt x="28" y="9"/>
                </a:moveTo>
                <a:lnTo>
                  <a:pt x="14" y="19"/>
                </a:lnTo>
                <a:lnTo>
                  <a:pt x="0" y="15"/>
                </a:lnTo>
                <a:lnTo>
                  <a:pt x="4" y="6"/>
                </a:lnTo>
                <a:lnTo>
                  <a:pt x="13" y="7"/>
                </a:lnTo>
                <a:lnTo>
                  <a:pt x="21" y="0"/>
                </a:lnTo>
                <a:close/>
              </a:path>
            </a:pathLst>
          </a:custGeom>
          <a:solidFill>
            <a:srgbClr val="F05270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polygon"/>
          <p:cNvSpPr/>
          <p:nvPr/>
        </p:nvSpPr>
        <p:spPr>
          <a:xfrm>
            <a:off x="11886264" y="6480972"/>
            <a:ext cx="134460" cy="194967"/>
          </a:xfrm>
          <a:custGeom>
            <a:avLst/>
            <a:gdLst/>
            <a:ahLst/>
            <a:cxnLst/>
            <a:rect l="l" t="t" r="r" b="b"/>
            <a:pathLst>
              <a:path w="20" h="29">
                <a:moveTo>
                  <a:pt x="12" y="29"/>
                </a:moveTo>
                <a:lnTo>
                  <a:pt x="0" y="15"/>
                </a:lnTo>
                <a:lnTo>
                  <a:pt x="4" y="0"/>
                </a:lnTo>
                <a:lnTo>
                  <a:pt x="13" y="4"/>
                </a:lnTo>
                <a:lnTo>
                  <a:pt x="12" y="13"/>
                </a:lnTo>
                <a:lnTo>
                  <a:pt x="20" y="20"/>
                </a:lnTo>
                <a:close/>
              </a:path>
            </a:pathLst>
          </a:custGeom>
          <a:solidFill>
            <a:srgbClr val="FFA43A"/>
          </a:solidFill>
          <a:ln w="672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3" name="text"/>
          <p:cNvSpPr txBox="1"/>
          <p:nvPr/>
        </p:nvSpPr>
        <p:spPr>
          <a:xfrm>
            <a:off x="11947711" y="6434417"/>
            <a:ext cx="201705" cy="20842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1686"/>
              </a:lnSpc>
              <a:spcBef>
                <a:spcPts val="0"/>
              </a:spcBef>
              <a:spcAft>
                <a:spcPts val="0"/>
              </a:spcAft>
            </a:pPr>
            <a:r>
              <a:rPr sz="1429" b="1" i="0" u="none">
                <a:solidFill>
                  <a:srgbClr val="FFFFFF"/>
                </a:solidFill>
                <a:latin typeface="Liberation Sans"/>
              </a:rPr>
              <a:t>S</a:t>
            </a:r>
          </a:p>
        </p:txBody>
      </p:sp>
      <p:sp>
        <p:nvSpPr>
          <p:cNvPr id="244" name="camera response box"/>
          <p:cNvSpPr/>
          <p:nvPr/>
        </p:nvSpPr>
        <p:spPr>
          <a:xfrm>
            <a:off x="10320617" y="6602505"/>
            <a:ext cx="1822076" cy="820270"/>
          </a:xfrm>
          <a:prstGeom prst="roundRect">
            <a:avLst/>
          </a:prstGeom>
          <a:solidFill>
            <a:srgbClr val="FFFFFF"/>
          </a:solidFill>
          <a:ln w="8068">
            <a:solidFill>
              <a:srgbClr val="B7B7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5" name="rich text"/>
          <p:cNvSpPr txBox="1"/>
          <p:nvPr/>
        </p:nvSpPr>
        <p:spPr>
          <a:xfrm>
            <a:off x="10414747" y="6656294"/>
            <a:ext cx="1640541" cy="73958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D71812"/>
                </a:solidFill>
                <a:latin typeface="DejaVu Sans Condensed"/>
              </a:rPr>
              <a:t>&lt;answer&gt; </a:t>
            </a: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{</a:t>
            </a:r>
          </a:p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      The camera smoothly</a:t>
            </a:r>
          </a:p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   pans right, tracking the</a:t>
            </a:r>
          </a:p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   subject from the side with</a:t>
            </a:r>
          </a:p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   minimal shaking.</a:t>
            </a:r>
          </a:p>
          <a:p>
            <a:pPr algn="l">
              <a:lnSpc>
                <a:spcPts val="979"/>
              </a:lnSpc>
              <a:spcBef>
                <a:spcPts val="0"/>
              </a:spcBef>
              <a:spcAft>
                <a:spcPts val="0"/>
              </a:spcAft>
            </a:pPr>
            <a:r>
              <a:rPr sz="815" b="0" i="0" u="none">
                <a:solidFill>
                  <a:srgbClr val="111111"/>
                </a:solidFill>
                <a:latin typeface="DejaVu Sans Condensed"/>
              </a:rPr>
              <a:t>   } </a:t>
            </a:r>
            <a:r>
              <a:rPr sz="815" b="0" i="0" u="none">
                <a:solidFill>
                  <a:srgbClr val="D71812"/>
                </a:solidFill>
                <a:latin typeface="DejaVu Sans Condensed"/>
              </a:rPr>
              <a:t>&lt;/answer&gt;</a:t>
            </a:r>
          </a:p>
        </p:txBody>
      </p:sp>
      <p:sp>
        <p:nvSpPr>
          <p:cNvPr id="246" name="camera aligned section"/>
          <p:cNvSpPr/>
          <p:nvPr/>
        </p:nvSpPr>
        <p:spPr>
          <a:xfrm>
            <a:off x="10246658" y="7577417"/>
            <a:ext cx="1976717" cy="1479176"/>
          </a:xfrm>
          <a:prstGeom prst="roundRect">
            <a:avLst/>
          </a:prstGeom>
          <a:solidFill>
            <a:srgbClr val="F8E5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text"/>
          <p:cNvSpPr txBox="1"/>
          <p:nvPr/>
        </p:nvSpPr>
        <p:spPr>
          <a:xfrm>
            <a:off x="10273552" y="7570694"/>
            <a:ext cx="1922929" cy="22860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ts val="1374"/>
              </a:lnSpc>
              <a:spcBef>
                <a:spcPts val="0"/>
              </a:spcBef>
              <a:spcAft>
                <a:spcPts val="0"/>
              </a:spcAft>
            </a:pPr>
            <a:r>
              <a:rPr sz="1164" b="1" i="0" u="none">
                <a:solidFill>
                  <a:srgbClr val="111111"/>
                </a:solidFill>
                <a:latin typeface="Liberation Serif"/>
              </a:rPr>
              <a:t>LLM-aligned</a:t>
            </a:r>
          </a:p>
        </p:txBody>
      </p:sp>
      <p:sp>
        <p:nvSpPr>
          <p:cNvPr id="248" name="ellipse"/>
          <p:cNvSpPr/>
          <p:nvPr/>
        </p:nvSpPr>
        <p:spPr>
          <a:xfrm>
            <a:off x="12028394" y="7651376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9" name="ellipse"/>
          <p:cNvSpPr/>
          <p:nvPr/>
        </p:nvSpPr>
        <p:spPr>
          <a:xfrm>
            <a:off x="11998138" y="7703781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0" name="ellipse"/>
          <p:cNvSpPr/>
          <p:nvPr/>
        </p:nvSpPr>
        <p:spPr>
          <a:xfrm>
            <a:off x="11937626" y="7703781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1" name="ellipse"/>
          <p:cNvSpPr/>
          <p:nvPr/>
        </p:nvSpPr>
        <p:spPr>
          <a:xfrm>
            <a:off x="11907370" y="7651376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2" name="ellipse"/>
          <p:cNvSpPr/>
          <p:nvPr/>
        </p:nvSpPr>
        <p:spPr>
          <a:xfrm>
            <a:off x="11937626" y="7598971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3" name="ellipse"/>
          <p:cNvSpPr/>
          <p:nvPr/>
        </p:nvSpPr>
        <p:spPr>
          <a:xfrm>
            <a:off x="11998138" y="7598971"/>
            <a:ext cx="107576" cy="67235"/>
          </a:xfrm>
          <a:prstGeom prst="ellipse">
            <a:avLst/>
          </a:prstGeom>
          <a:noFill/>
          <a:ln w="20170">
            <a:solidFill>
              <a:srgbClr val="63B9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4" name="camera aligned box"/>
          <p:cNvSpPr/>
          <p:nvPr/>
        </p:nvSpPr>
        <p:spPr>
          <a:xfrm>
            <a:off x="10320617" y="7812741"/>
            <a:ext cx="1822076" cy="1176617"/>
          </a:xfrm>
          <a:prstGeom prst="roundRect">
            <a:avLst/>
          </a:prstGeom>
          <a:solidFill>
            <a:srgbClr val="FFFFFF"/>
          </a:solidFill>
          <a:ln w="8068">
            <a:solidFill>
              <a:srgbClr val="B7B7B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rich text"/>
          <p:cNvSpPr txBox="1"/>
          <p:nvPr/>
        </p:nvSpPr>
        <p:spPr>
          <a:xfrm>
            <a:off x="10408023" y="7879976"/>
            <a:ext cx="1653988" cy="106231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 u="none">
                <a:solidFill>
                  <a:srgbClr val="D71812"/>
                </a:solidFill>
                <a:latin typeface="DejaVu Sans Condensed"/>
              </a:rPr>
              <a:t>&lt;answer&gt; </a:t>
            </a:r>
            <a:r>
              <a:rPr sz="804" b="0" i="0" u="none">
                <a:solidFill>
                  <a:srgbClr val="111111"/>
                </a:solidFill>
                <a:latin typeface="DejaVu Sans Condensed"/>
              </a:rPr>
              <a:t>{</a:t>
            </a:r>
          </a:p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 u="none">
                <a:solidFill>
                  <a:srgbClr val="111111"/>
                </a:solidFill>
                <a:latin typeface="DejaVu Sans Condensed"/>
              </a:rPr>
              <a:t>      The camera smoothly pans</a:t>
            </a:r>
          </a:p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 u="none">
                <a:solidFill>
                  <a:srgbClr val="111111"/>
                </a:solidFill>
                <a:latin typeface="DejaVu Sans Condensed"/>
              </a:rPr>
              <a:t>   right, tracking </a:t>
            </a:r>
            <a:r>
              <a:rPr sz="804" b="0" i="0" u="sng">
                <a:solidFill>
                  <a:srgbClr val="111111"/>
                </a:solidFill>
                <a:latin typeface="DejaVu Sans Condensed"/>
              </a:rPr>
              <a:t>the young boy</a:t>
            </a:r>
          </a:p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 u="none">
                <a:solidFill>
                  <a:srgbClr val="111111"/>
                </a:solidFill>
                <a:latin typeface="DejaVu Sans Condensed"/>
              </a:rPr>
              <a:t>   in the </a:t>
            </a:r>
            <a:r>
              <a:rPr sz="804" b="0" i="0" u="sng">
                <a:solidFill>
                  <a:srgbClr val="111111"/>
                </a:solidFill>
                <a:latin typeface="DejaVu Sans Condensed"/>
              </a:rPr>
              <a:t>indoor trampoline</a:t>
            </a:r>
          </a:p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 u="none">
                <a:solidFill>
                  <a:srgbClr val="111111"/>
                </a:solidFill>
                <a:latin typeface="DejaVu Sans Condensed"/>
              </a:rPr>
              <a:t>   </a:t>
            </a:r>
            <a:r>
              <a:rPr sz="804" b="0" i="0" u="sng">
                <a:solidFill>
                  <a:srgbClr val="111111"/>
                </a:solidFill>
                <a:latin typeface="DejaVu Sans Condensed"/>
              </a:rPr>
              <a:t>park</a:t>
            </a:r>
            <a:r>
              <a:rPr sz="804" b="0" i="0" u="none">
                <a:solidFill>
                  <a:srgbClr val="111111"/>
                </a:solidFill>
                <a:latin typeface="DejaVu Sans Condensed"/>
              </a:rPr>
              <a:t> with minimal shaking.</a:t>
            </a:r>
          </a:p>
          <a:p>
            <a:pPr algn="l">
              <a:lnSpc>
                <a:spcPts val="1111"/>
              </a:lnSpc>
              <a:spcBef>
                <a:spcPts val="0"/>
              </a:spcBef>
              <a:spcAft>
                <a:spcPts val="0"/>
              </a:spcAft>
            </a:pPr>
            <a:r>
              <a:rPr sz="804" b="0" i="0" u="none">
                <a:solidFill>
                  <a:srgbClr val="111111"/>
                </a:solidFill>
                <a:latin typeface="DejaVu Sans Condensed"/>
              </a:rPr>
              <a:t>   } </a:t>
            </a:r>
            <a:r>
              <a:rPr sz="804" b="0" i="0" u="none">
                <a:solidFill>
                  <a:srgbClr val="D71812"/>
                </a:solidFill>
                <a:latin typeface="DejaVu Sans Condensed"/>
              </a:rPr>
              <a:t>&lt;/answer&gt;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DynamicVerse A Physically-Aware Multimodal Framework for 4D World Modeling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425082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DynamicVerse physically-aware multimodal framework — editable rebuild</dc:title>
  <dc:subject>Reconstructed from reference diagram with native PowerPoint objects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