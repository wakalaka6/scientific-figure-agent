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909375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4630400" cy="90937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eft_panel"/>
          <p:cNvSpPr/>
          <p:nvPr/>
        </p:nvSpPr>
        <p:spPr>
          <a:xfrm>
            <a:off x="75844" y="159273"/>
            <a:ext cx="4770617" cy="893447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iddle_panel"/>
          <p:cNvSpPr/>
          <p:nvPr/>
        </p:nvSpPr>
        <p:spPr>
          <a:xfrm>
            <a:off x="5149840" y="128935"/>
            <a:ext cx="4649266" cy="8433906"/>
          </a:xfrm>
          <a:prstGeom prst="rect">
            <a:avLst/>
          </a:prstGeom>
          <a:solidFill>
            <a:srgbClr val="FB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_panel"/>
          <p:cNvSpPr/>
          <p:nvPr/>
        </p:nvSpPr>
        <p:spPr>
          <a:xfrm>
            <a:off x="10087315" y="121351"/>
            <a:ext cx="4543084" cy="8972401"/>
          </a:xfrm>
          <a:prstGeom prst="rect">
            <a:avLst/>
          </a:prstGeom>
          <a:solidFill>
            <a:srgbClr val="F1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_strip_1"/>
          <p:cNvSpPr/>
          <p:nvPr/>
        </p:nvSpPr>
        <p:spPr>
          <a:xfrm>
            <a:off x="75844" y="2904843"/>
            <a:ext cx="4770617" cy="310962"/>
          </a:xfrm>
          <a:prstGeom prst="rect">
            <a:avLst/>
          </a:prstGeom>
          <a:solidFill>
            <a:srgbClr val="FFF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_strip_2"/>
          <p:cNvSpPr/>
          <p:nvPr/>
        </p:nvSpPr>
        <p:spPr>
          <a:xfrm>
            <a:off x="75844" y="5574569"/>
            <a:ext cx="4770617" cy="318546"/>
          </a:xfrm>
          <a:prstGeom prst="rect">
            <a:avLst/>
          </a:prstGeom>
          <a:solidFill>
            <a:srgbClr val="FFF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ft_strip_3"/>
          <p:cNvSpPr/>
          <p:nvPr/>
        </p:nvSpPr>
        <p:spPr>
          <a:xfrm>
            <a:off x="75844" y="8244294"/>
            <a:ext cx="4770617" cy="318546"/>
          </a:xfrm>
          <a:prstGeom prst="rect">
            <a:avLst/>
          </a:prstGeom>
          <a:solidFill>
            <a:srgbClr val="FFF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iddle_strip_1"/>
          <p:cNvSpPr/>
          <p:nvPr/>
        </p:nvSpPr>
        <p:spPr>
          <a:xfrm>
            <a:off x="5149840" y="2866921"/>
            <a:ext cx="4649266" cy="280624"/>
          </a:xfrm>
          <a:prstGeom prst="rect">
            <a:avLst/>
          </a:prstGeom>
          <a:solidFill>
            <a:srgbClr val="F0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iddle_strip_2"/>
          <p:cNvSpPr/>
          <p:nvPr/>
        </p:nvSpPr>
        <p:spPr>
          <a:xfrm>
            <a:off x="5149840" y="5475971"/>
            <a:ext cx="4649266" cy="318546"/>
          </a:xfrm>
          <a:prstGeom prst="rect">
            <a:avLst/>
          </a:prstGeom>
          <a:solidFill>
            <a:srgbClr val="F0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left_call_path_segment_1"/>
          <p:cNvCxnSpPr/>
          <p:nvPr/>
        </p:nvCxnSpPr>
        <p:spPr>
          <a:xfrm>
            <a:off x="4679604" y="3071701"/>
            <a:ext cx="197196" cy="0"/>
          </a:xfrm>
          <a:prstGeom prst="line">
            <a:avLst/>
          </a:prstGeom>
          <a:ln w="45506">
            <a:solidFill>
              <a:srgbClr val="C88E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eft_call_path_segment_2"/>
          <p:cNvCxnSpPr/>
          <p:nvPr/>
        </p:nvCxnSpPr>
        <p:spPr>
          <a:xfrm flipV="1">
            <a:off x="4876800" y="310962"/>
            <a:ext cx="0" cy="2760739"/>
          </a:xfrm>
          <a:prstGeom prst="line">
            <a:avLst/>
          </a:prstGeom>
          <a:ln w="45506">
            <a:solidFill>
              <a:srgbClr val="C88E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eft_call_path_segment_3"/>
          <p:cNvCxnSpPr/>
          <p:nvPr/>
        </p:nvCxnSpPr>
        <p:spPr>
          <a:xfrm>
            <a:off x="4876800" y="310962"/>
            <a:ext cx="341300" cy="0"/>
          </a:xfrm>
          <a:prstGeom prst="line">
            <a:avLst/>
          </a:prstGeom>
          <a:ln w="45506">
            <a:solidFill>
              <a:srgbClr val="C88E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left_call_arrowhead"/>
          <p:cNvSpPr/>
          <p:nvPr/>
        </p:nvSpPr>
        <p:spPr>
          <a:xfrm>
            <a:off x="5036073" y="212364"/>
            <a:ext cx="182027" cy="197196"/>
          </a:xfrm>
          <a:custGeom>
            <a:avLst/>
            <a:gdLst/>
            <a:ahLst/>
            <a:cxnLst/>
            <a:rect l="l" t="t" r="r" b="b"/>
            <a:pathLst>
              <a:path w="182027" h="197196">
                <a:moveTo>
                  <a:pt x="182027" y="98598"/>
                </a:moveTo>
                <a:lnTo>
                  <a:pt x="0" y="0"/>
                </a:lnTo>
                <a:lnTo>
                  <a:pt x="0" y="197196"/>
                </a:lnTo>
                <a:close/>
              </a:path>
            </a:pathLst>
          </a:custGeom>
          <a:solidFill>
            <a:srgbClr val="C88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middle_return_path_segment_1"/>
          <p:cNvCxnSpPr/>
          <p:nvPr/>
        </p:nvCxnSpPr>
        <p:spPr>
          <a:xfrm flipH="1">
            <a:off x="5165009" y="7083874"/>
            <a:ext cx="197195" cy="0"/>
          </a:xfrm>
          <a:prstGeom prst="line">
            <a:avLst/>
          </a:prstGeom>
          <a:ln w="45506">
            <a:solidFill>
              <a:srgbClr val="C88E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middle_return_path_segment_2"/>
          <p:cNvCxnSpPr/>
          <p:nvPr/>
        </p:nvCxnSpPr>
        <p:spPr>
          <a:xfrm flipV="1">
            <a:off x="5165009" y="4307966"/>
            <a:ext cx="0" cy="2775908"/>
          </a:xfrm>
          <a:prstGeom prst="line">
            <a:avLst/>
          </a:prstGeom>
          <a:ln w="45506">
            <a:solidFill>
              <a:srgbClr val="C88E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middle_return_path_segment_3"/>
          <p:cNvCxnSpPr/>
          <p:nvPr/>
        </p:nvCxnSpPr>
        <p:spPr>
          <a:xfrm flipH="1">
            <a:off x="4141108" y="4307966"/>
            <a:ext cx="1023901" cy="0"/>
          </a:xfrm>
          <a:prstGeom prst="line">
            <a:avLst/>
          </a:prstGeom>
          <a:ln w="45506">
            <a:solidFill>
              <a:srgbClr val="C88E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iddle_return_arrowhead"/>
          <p:cNvSpPr/>
          <p:nvPr/>
        </p:nvSpPr>
        <p:spPr>
          <a:xfrm>
            <a:off x="4141108" y="4209368"/>
            <a:ext cx="182027" cy="197196"/>
          </a:xfrm>
          <a:custGeom>
            <a:avLst/>
            <a:gdLst/>
            <a:ahLst/>
            <a:cxnLst/>
            <a:rect l="l" t="t" r="r" b="b"/>
            <a:pathLst>
              <a:path w="182027" h="197196">
                <a:moveTo>
                  <a:pt x="0" y="98598"/>
                </a:moveTo>
                <a:lnTo>
                  <a:pt x="182027" y="0"/>
                </a:lnTo>
                <a:lnTo>
                  <a:pt x="182027" y="197196"/>
                </a:lnTo>
                <a:close/>
              </a:path>
            </a:pathLst>
          </a:custGeom>
          <a:solidFill>
            <a:srgbClr val="C88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middle_call_path_segment_1"/>
          <p:cNvCxnSpPr/>
          <p:nvPr/>
        </p:nvCxnSpPr>
        <p:spPr>
          <a:xfrm>
            <a:off x="9586742" y="3041363"/>
            <a:ext cx="250286" cy="0"/>
          </a:xfrm>
          <a:prstGeom prst="line">
            <a:avLst/>
          </a:prstGeom>
          <a:ln w="45506">
            <a:solidFill>
              <a:srgbClr val="7D42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middle_call_path_segment_2"/>
          <p:cNvCxnSpPr/>
          <p:nvPr/>
        </p:nvCxnSpPr>
        <p:spPr>
          <a:xfrm flipV="1">
            <a:off x="9837028" y="295793"/>
            <a:ext cx="0" cy="2745570"/>
          </a:xfrm>
          <a:prstGeom prst="line">
            <a:avLst/>
          </a:prstGeom>
          <a:ln w="45506">
            <a:solidFill>
              <a:srgbClr val="7D42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middle_call_path_segment_3"/>
          <p:cNvCxnSpPr/>
          <p:nvPr/>
        </p:nvCxnSpPr>
        <p:spPr>
          <a:xfrm>
            <a:off x="9837028" y="295793"/>
            <a:ext cx="326132" cy="0"/>
          </a:xfrm>
          <a:prstGeom prst="line">
            <a:avLst/>
          </a:prstGeom>
          <a:ln w="45506">
            <a:solidFill>
              <a:srgbClr val="7D42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iddle_call_arrowhead"/>
          <p:cNvSpPr/>
          <p:nvPr/>
        </p:nvSpPr>
        <p:spPr>
          <a:xfrm>
            <a:off x="9981133" y="197195"/>
            <a:ext cx="182027" cy="197196"/>
          </a:xfrm>
          <a:custGeom>
            <a:avLst/>
            <a:gdLst/>
            <a:ahLst/>
            <a:cxnLst/>
            <a:rect l="l" t="t" r="r" b="b"/>
            <a:pathLst>
              <a:path w="182027" h="197196">
                <a:moveTo>
                  <a:pt x="182027" y="98598"/>
                </a:moveTo>
                <a:lnTo>
                  <a:pt x="0" y="0"/>
                </a:lnTo>
                <a:lnTo>
                  <a:pt x="0" y="197196"/>
                </a:lnTo>
                <a:close/>
              </a:path>
            </a:pathLst>
          </a:custGeom>
          <a:solidFill>
            <a:srgbClr val="7D42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right_return_path_segment_1"/>
          <p:cNvCxnSpPr/>
          <p:nvPr/>
        </p:nvCxnSpPr>
        <p:spPr>
          <a:xfrm flipH="1">
            <a:off x="10132822" y="7470681"/>
            <a:ext cx="182027" cy="0"/>
          </a:xfrm>
          <a:prstGeom prst="line">
            <a:avLst/>
          </a:prstGeom>
          <a:ln w="45506">
            <a:solidFill>
              <a:srgbClr val="7D42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ight_return_path_segment_2"/>
          <p:cNvCxnSpPr/>
          <p:nvPr/>
        </p:nvCxnSpPr>
        <p:spPr>
          <a:xfrm flipV="1">
            <a:off x="10132822" y="4247290"/>
            <a:ext cx="0" cy="3223391"/>
          </a:xfrm>
          <a:prstGeom prst="line">
            <a:avLst/>
          </a:prstGeom>
          <a:ln w="45506">
            <a:solidFill>
              <a:srgbClr val="7D42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ight_return_path_segment_3"/>
          <p:cNvCxnSpPr/>
          <p:nvPr/>
        </p:nvCxnSpPr>
        <p:spPr>
          <a:xfrm flipH="1">
            <a:off x="9131675" y="4247290"/>
            <a:ext cx="1001147" cy="0"/>
          </a:xfrm>
          <a:prstGeom prst="line">
            <a:avLst/>
          </a:prstGeom>
          <a:ln w="45506">
            <a:solidFill>
              <a:srgbClr val="7D42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_return_arrowhead"/>
          <p:cNvSpPr/>
          <p:nvPr/>
        </p:nvSpPr>
        <p:spPr>
          <a:xfrm>
            <a:off x="9131675" y="4148693"/>
            <a:ext cx="182027" cy="197195"/>
          </a:xfrm>
          <a:custGeom>
            <a:avLst/>
            <a:gdLst/>
            <a:ahLst/>
            <a:cxnLst/>
            <a:rect l="l" t="t" r="r" b="b"/>
            <a:pathLst>
              <a:path w="182027" h="197195">
                <a:moveTo>
                  <a:pt x="0" y="98597"/>
                </a:moveTo>
                <a:lnTo>
                  <a:pt x="182027" y="0"/>
                </a:lnTo>
                <a:lnTo>
                  <a:pt x="182027" y="197195"/>
                </a:lnTo>
                <a:close/>
              </a:path>
            </a:pathLst>
          </a:custGeom>
          <a:solidFill>
            <a:srgbClr val="7D42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frame_left_o0" descr="frame_left_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49" y="508158"/>
            <a:ext cx="3246143" cy="2138814"/>
          </a:xfrm>
          <a:prstGeom prst="rect">
            <a:avLst/>
          </a:prstGeom>
          <a:effectLst/>
        </p:spPr>
      </p:pic>
      <p:pic>
        <p:nvPicPr>
          <p:cNvPr id="28" name="frame_left_o14" descr="frame_left_o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3" y="3238559"/>
            <a:ext cx="3284065" cy="2100892"/>
          </a:xfrm>
          <a:prstGeom prst="rect">
            <a:avLst/>
          </a:prstGeom>
          <a:effectLst/>
        </p:spPr>
      </p:pic>
      <p:pic>
        <p:nvPicPr>
          <p:cNvPr id="29" name="frame_left_o31" descr="frame_left_o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289" y="5915869"/>
            <a:ext cx="3223390" cy="2085723"/>
          </a:xfrm>
          <a:prstGeom prst="rect">
            <a:avLst/>
          </a:prstGeom>
          <a:effectLst/>
        </p:spPr>
      </p:pic>
      <p:pic>
        <p:nvPicPr>
          <p:cNvPr id="30" name="frame_middle_o0" descr="frame_middle_o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531" y="470235"/>
            <a:ext cx="3246143" cy="2078138"/>
          </a:xfrm>
          <a:prstGeom prst="rect">
            <a:avLst/>
          </a:prstGeom>
          <a:effectLst/>
        </p:spPr>
      </p:pic>
      <p:pic>
        <p:nvPicPr>
          <p:cNvPr id="31" name="frame_middle_o9" descr="frame_middle_o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116" y="3094454"/>
            <a:ext cx="3238559" cy="2108476"/>
          </a:xfrm>
          <a:prstGeom prst="rect">
            <a:avLst/>
          </a:prstGeom>
          <a:effectLst/>
        </p:spPr>
      </p:pic>
      <p:pic>
        <p:nvPicPr>
          <p:cNvPr id="32" name="frame_middle_o14" descr="frame_middle_o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5531" y="5915869"/>
            <a:ext cx="3246143" cy="2085723"/>
          </a:xfrm>
          <a:prstGeom prst="rect">
            <a:avLst/>
          </a:prstGeom>
          <a:effectLst/>
        </p:spPr>
      </p:pic>
      <p:pic>
        <p:nvPicPr>
          <p:cNvPr id="33" name="frame_right_o0" descr="frame_right_o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3007" y="447482"/>
            <a:ext cx="3215805" cy="2078138"/>
          </a:xfrm>
          <a:prstGeom prst="rect">
            <a:avLst/>
          </a:prstGeom>
          <a:effectLst/>
        </p:spPr>
      </p:pic>
      <p:pic>
        <p:nvPicPr>
          <p:cNvPr id="34" name="frame_right_o1" descr="frame_right_o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3007" y="3109623"/>
            <a:ext cx="3215805" cy="2093307"/>
          </a:xfrm>
          <a:prstGeom prst="rect">
            <a:avLst/>
          </a:prstGeom>
          <a:effectLst/>
        </p:spPr>
      </p:pic>
      <p:pic>
        <p:nvPicPr>
          <p:cNvPr id="35" name="frame_right_o9" descr="frame_right_o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3007" y="6348182"/>
            <a:ext cx="3215805" cy="2085723"/>
          </a:xfrm>
          <a:prstGeom prst="rect">
            <a:avLst/>
          </a:prstGeom>
          <a:effectLst/>
        </p:spPr>
      </p:pic>
      <p:sp>
        <p:nvSpPr>
          <p:cNvPr id="36" name="left_title"/>
          <p:cNvSpPr txBox="1"/>
          <p:nvPr/>
        </p:nvSpPr>
        <p:spPr>
          <a:xfrm>
            <a:off x="106182" y="182026"/>
            <a:ext cx="4702357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717171"/>
                </a:solidFill>
                <a:latin typeface="DejaVu Sans Mono"/>
              </a:rPr>
              <a:t>Task:  “Thaw the steak in the microwave”</a:t>
            </a:r>
          </a:p>
        </p:txBody>
      </p:sp>
      <p:sp>
        <p:nvSpPr>
          <p:cNvPr id="37" name="middle_title"/>
          <p:cNvSpPr txBox="1"/>
          <p:nvPr/>
        </p:nvSpPr>
        <p:spPr>
          <a:xfrm>
            <a:off x="5225684" y="182026"/>
            <a:ext cx="4550668" cy="28001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3" b="0" i="0">
                <a:solidFill>
                  <a:srgbClr val="C88E12"/>
                </a:solidFill>
                <a:latin typeface="DejaVu Sans Mono"/>
              </a:rPr>
              <a:t>Task: </a:t>
            </a:r>
            <a:r>
              <a:rPr sz="1457" b="1" i="0">
                <a:solidFill>
                  <a:srgbClr val="C88E12"/>
                </a:solidFill>
                <a:latin typeface="DejaVu Sans Mono"/>
              </a:rPr>
              <a:t>“Open microwave door”</a:t>
            </a:r>
          </a:p>
        </p:txBody>
      </p:sp>
      <p:sp>
        <p:nvSpPr>
          <p:cNvPr id="38" name="right_title"/>
          <p:cNvSpPr txBox="1"/>
          <p:nvPr/>
        </p:nvSpPr>
        <p:spPr>
          <a:xfrm>
            <a:off x="10231420" y="182026"/>
            <a:ext cx="4323135" cy="28001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3" b="0" i="0">
                <a:solidFill>
                  <a:srgbClr val="7D4209"/>
                </a:solidFill>
                <a:latin typeface="DejaVu Sans Mono"/>
              </a:rPr>
              <a:t>Task: </a:t>
            </a:r>
            <a:r>
              <a:rPr sz="1457" b="1" i="0">
                <a:solidFill>
                  <a:srgbClr val="7D4209"/>
                </a:solidFill>
                <a:latin typeface="DejaVu Sans Mono"/>
              </a:rPr>
              <a:t>“Grasp door handle”</a:t>
            </a:r>
          </a:p>
        </p:txBody>
      </p:sp>
      <p:sp>
        <p:nvSpPr>
          <p:cNvPr id="39" name="left_o0_desc"/>
          <p:cNvSpPr txBox="1"/>
          <p:nvPr/>
        </p:nvSpPr>
        <p:spPr>
          <a:xfrm>
            <a:off x="106182" y="2654556"/>
            <a:ext cx="4702357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717171"/>
                </a:solidFill>
                <a:latin typeface="DejaVu Sans Mono"/>
              </a:rPr>
              <a:t>The gripper is in front of microwave...</a:t>
            </a:r>
          </a:p>
        </p:txBody>
      </p:sp>
      <p:sp>
        <p:nvSpPr>
          <p:cNvPr id="40" name="left_o0_next"/>
          <p:cNvSpPr txBox="1"/>
          <p:nvPr/>
        </p:nvSpPr>
        <p:spPr>
          <a:xfrm>
            <a:off x="106182" y="2942765"/>
            <a:ext cx="4702357" cy="26278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7" b="0" i="0">
                <a:solidFill>
                  <a:srgbClr val="C88E12"/>
                </a:solidFill>
                <a:latin typeface="DejaVu Sans Mono"/>
              </a:rPr>
              <a:t>The robot needs to: </a:t>
            </a:r>
            <a:r>
              <a:rPr sz="1457" b="1" i="0">
                <a:solidFill>
                  <a:srgbClr val="C88E12"/>
                </a:solidFill>
                <a:latin typeface="DejaVu Sans Mono"/>
              </a:rPr>
              <a:t>“Open microwave door”</a:t>
            </a:r>
          </a:p>
        </p:txBody>
      </p:sp>
      <p:sp>
        <p:nvSpPr>
          <p:cNvPr id="41" name="left_o14_desc"/>
          <p:cNvSpPr txBox="1"/>
          <p:nvPr/>
        </p:nvSpPr>
        <p:spPr>
          <a:xfrm>
            <a:off x="106182" y="5354620"/>
            <a:ext cx="4702357" cy="26924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3" b="0" i="0">
                <a:solidFill>
                  <a:srgbClr val="717171"/>
                </a:solidFill>
                <a:latin typeface="DejaVu Sans Mono"/>
              </a:rPr>
              <a:t>The robot opened the microwave door.</a:t>
            </a:r>
          </a:p>
        </p:txBody>
      </p:sp>
      <p:sp>
        <p:nvSpPr>
          <p:cNvPr id="42" name="left_o14_next"/>
          <p:cNvSpPr txBox="1"/>
          <p:nvPr/>
        </p:nvSpPr>
        <p:spPr>
          <a:xfrm>
            <a:off x="106182" y="5627660"/>
            <a:ext cx="4702357" cy="25309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3" b="0" i="0">
                <a:solidFill>
                  <a:srgbClr val="C88E12"/>
                </a:solidFill>
                <a:latin typeface="DejaVu Sans Mono"/>
              </a:rPr>
              <a:t>The robot needs to: </a:t>
            </a:r>
            <a:r>
              <a:rPr sz="1403" b="1" i="0">
                <a:solidFill>
                  <a:srgbClr val="C88E12"/>
                </a:solidFill>
                <a:latin typeface="DejaVu Sans Mono"/>
              </a:rPr>
              <a:t>“Put steak in microwave”</a:t>
            </a:r>
          </a:p>
        </p:txBody>
      </p:sp>
      <p:sp>
        <p:nvSpPr>
          <p:cNvPr id="43" name="left_o31_desc"/>
          <p:cNvSpPr txBox="1"/>
          <p:nvPr/>
        </p:nvSpPr>
        <p:spPr>
          <a:xfrm>
            <a:off x="106182" y="8024345"/>
            <a:ext cx="4702357" cy="26924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3" b="0" i="0">
                <a:solidFill>
                  <a:srgbClr val="717171"/>
                </a:solidFill>
                <a:latin typeface="DejaVu Sans Mono"/>
              </a:rPr>
              <a:t>The robot put the steak in the microwave.</a:t>
            </a:r>
          </a:p>
        </p:txBody>
      </p:sp>
      <p:sp>
        <p:nvSpPr>
          <p:cNvPr id="44" name="left_o31_next"/>
          <p:cNvSpPr txBox="1"/>
          <p:nvPr/>
        </p:nvSpPr>
        <p:spPr>
          <a:xfrm>
            <a:off x="106182" y="8297386"/>
            <a:ext cx="4702357" cy="25847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3" b="0" i="0">
                <a:solidFill>
                  <a:srgbClr val="C88E12"/>
                </a:solidFill>
                <a:latin typeface="DejaVu Sans Mono"/>
              </a:rPr>
              <a:t>The robot needs to: </a:t>
            </a:r>
            <a:r>
              <a:rPr sz="1433" b="1" i="0">
                <a:solidFill>
                  <a:srgbClr val="C88E12"/>
                </a:solidFill>
                <a:latin typeface="DejaVu Sans Mono"/>
              </a:rPr>
              <a:t>“Close microwave door”</a:t>
            </a:r>
          </a:p>
        </p:txBody>
      </p:sp>
      <p:sp>
        <p:nvSpPr>
          <p:cNvPr id="45" name="middle_o0_desc"/>
          <p:cNvSpPr txBox="1"/>
          <p:nvPr/>
        </p:nvSpPr>
        <p:spPr>
          <a:xfrm>
            <a:off x="5225684" y="2639387"/>
            <a:ext cx="4550668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C88E12"/>
                </a:solidFill>
                <a:latin typeface="DejaVu Sans Mono"/>
              </a:rPr>
              <a:t>The gripper is in front of microwave...</a:t>
            </a:r>
          </a:p>
        </p:txBody>
      </p:sp>
      <p:sp>
        <p:nvSpPr>
          <p:cNvPr id="46" name="middle_o0_next"/>
          <p:cNvSpPr txBox="1"/>
          <p:nvPr/>
        </p:nvSpPr>
        <p:spPr>
          <a:xfrm>
            <a:off x="5225684" y="2889674"/>
            <a:ext cx="4550668" cy="25847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3" b="0" i="0">
                <a:solidFill>
                  <a:srgbClr val="7D4209"/>
                </a:solidFill>
                <a:latin typeface="DejaVu Sans Mono"/>
              </a:rPr>
              <a:t>The robot needs to: </a:t>
            </a:r>
            <a:r>
              <a:rPr sz="1433" b="1" i="0">
                <a:solidFill>
                  <a:srgbClr val="7D4209"/>
                </a:solidFill>
                <a:latin typeface="DejaVu Sans Mono"/>
              </a:rPr>
              <a:t>“Grasp door handle”</a:t>
            </a:r>
          </a:p>
        </p:txBody>
      </p:sp>
      <p:sp>
        <p:nvSpPr>
          <p:cNvPr id="47" name="middle_o9_desc"/>
          <p:cNvSpPr txBox="1"/>
          <p:nvPr/>
        </p:nvSpPr>
        <p:spPr>
          <a:xfrm>
            <a:off x="5225684" y="5240853"/>
            <a:ext cx="4550668" cy="24770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3" b="0" i="0">
                <a:solidFill>
                  <a:srgbClr val="C88E12"/>
                </a:solidFill>
                <a:latin typeface="DejaVu Sans Mono"/>
              </a:rPr>
              <a:t>The robot fully grasped the door handle.</a:t>
            </a:r>
          </a:p>
        </p:txBody>
      </p:sp>
      <p:sp>
        <p:nvSpPr>
          <p:cNvPr id="48" name="middle_o9_next"/>
          <p:cNvSpPr txBox="1"/>
          <p:nvPr/>
        </p:nvSpPr>
        <p:spPr>
          <a:xfrm>
            <a:off x="5225684" y="5506309"/>
            <a:ext cx="4550668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7D4209"/>
                </a:solidFill>
                <a:latin typeface="DejaVu Sans Mono"/>
              </a:rPr>
              <a:t>The robot needs to: </a:t>
            </a:r>
            <a:r>
              <a:rPr sz="1463" b="1" i="0">
                <a:solidFill>
                  <a:srgbClr val="7D4209"/>
                </a:solidFill>
                <a:latin typeface="DejaVu Sans Mono"/>
              </a:rPr>
              <a:t>“Pull door open”</a:t>
            </a:r>
          </a:p>
        </p:txBody>
      </p:sp>
      <p:sp>
        <p:nvSpPr>
          <p:cNvPr id="49" name="middle_o14_desc"/>
          <p:cNvSpPr txBox="1"/>
          <p:nvPr/>
        </p:nvSpPr>
        <p:spPr>
          <a:xfrm>
            <a:off x="5225684" y="8039514"/>
            <a:ext cx="4550668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C88E12"/>
                </a:solidFill>
                <a:latin typeface="DejaVu Sans Mono"/>
              </a:rPr>
              <a:t>The robot opened the microwave door.</a:t>
            </a:r>
          </a:p>
        </p:txBody>
      </p:sp>
      <p:sp>
        <p:nvSpPr>
          <p:cNvPr id="50" name="middle_complete"/>
          <p:cNvSpPr txBox="1"/>
          <p:nvPr/>
        </p:nvSpPr>
        <p:spPr>
          <a:xfrm>
            <a:off x="5225684" y="8282217"/>
            <a:ext cx="3033779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C88E12"/>
                </a:solidFill>
                <a:latin typeface="DejaVu Sans Mono"/>
              </a:rPr>
              <a:t>Task is complete.</a:t>
            </a:r>
          </a:p>
        </p:txBody>
      </p:sp>
      <p:sp>
        <p:nvSpPr>
          <p:cNvPr id="51" name="right_o0_desc"/>
          <p:cNvSpPr txBox="1"/>
          <p:nvPr/>
        </p:nvSpPr>
        <p:spPr>
          <a:xfrm>
            <a:off x="10231420" y="2571127"/>
            <a:ext cx="4323135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7D4209"/>
                </a:solidFill>
                <a:latin typeface="DejaVu Sans Mono"/>
              </a:rPr>
              <a:t>The gripper is in front of microwave...</a:t>
            </a:r>
          </a:p>
        </p:txBody>
      </p:sp>
      <p:sp>
        <p:nvSpPr>
          <p:cNvPr id="52" name="right_o0_progress"/>
          <p:cNvSpPr txBox="1"/>
          <p:nvPr/>
        </p:nvSpPr>
        <p:spPr>
          <a:xfrm>
            <a:off x="10231420" y="2813830"/>
            <a:ext cx="3792223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7D4209"/>
                </a:solidFill>
                <a:latin typeface="DejaVu Sans Mono"/>
              </a:rPr>
              <a:t>Task progress: </a:t>
            </a:r>
            <a:r>
              <a:rPr sz="1463" b="1" i="0">
                <a:solidFill>
                  <a:srgbClr val="7D4209"/>
                </a:solidFill>
                <a:latin typeface="DejaVu Sans Mono"/>
              </a:rPr>
              <a:t>0%</a:t>
            </a:r>
          </a:p>
        </p:txBody>
      </p:sp>
      <p:sp>
        <p:nvSpPr>
          <p:cNvPr id="53" name="right_o1_desc"/>
          <p:cNvSpPr txBox="1"/>
          <p:nvPr/>
        </p:nvSpPr>
        <p:spPr>
          <a:xfrm>
            <a:off x="10231420" y="5248437"/>
            <a:ext cx="4323135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7D4209"/>
                </a:solidFill>
                <a:latin typeface="DejaVu Sans Mono"/>
              </a:rPr>
              <a:t>The gripper moved closer to the door...</a:t>
            </a:r>
          </a:p>
        </p:txBody>
      </p:sp>
      <p:sp>
        <p:nvSpPr>
          <p:cNvPr id="54" name="right_o1_progress"/>
          <p:cNvSpPr txBox="1"/>
          <p:nvPr/>
        </p:nvSpPr>
        <p:spPr>
          <a:xfrm>
            <a:off x="10231420" y="5491140"/>
            <a:ext cx="3792223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7D4209"/>
                </a:solidFill>
                <a:latin typeface="DejaVu Sans Mono"/>
              </a:rPr>
              <a:t>Task progress: </a:t>
            </a:r>
            <a:r>
              <a:rPr sz="1463" b="1" i="0">
                <a:solidFill>
                  <a:srgbClr val="7D4209"/>
                </a:solidFill>
                <a:latin typeface="DejaVu Sans Mono"/>
              </a:rPr>
              <a:t>40%</a:t>
            </a:r>
          </a:p>
        </p:txBody>
      </p:sp>
      <p:sp>
        <p:nvSpPr>
          <p:cNvPr id="55" name="right_o9_desc"/>
          <p:cNvSpPr txBox="1"/>
          <p:nvPr/>
        </p:nvSpPr>
        <p:spPr>
          <a:xfrm>
            <a:off x="10231420" y="8471828"/>
            <a:ext cx="4323135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7D4209"/>
                </a:solidFill>
                <a:latin typeface="DejaVu Sans Mono"/>
              </a:rPr>
              <a:t>The robot fully grasped the door...</a:t>
            </a:r>
          </a:p>
        </p:txBody>
      </p:sp>
      <p:sp>
        <p:nvSpPr>
          <p:cNvPr id="56" name="right_o9_progress"/>
          <p:cNvSpPr txBox="1"/>
          <p:nvPr/>
        </p:nvSpPr>
        <p:spPr>
          <a:xfrm>
            <a:off x="10231420" y="8714530"/>
            <a:ext cx="3943912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7D4209"/>
                </a:solidFill>
                <a:latin typeface="DejaVu Sans Mono"/>
              </a:rPr>
              <a:t>Task progress: </a:t>
            </a:r>
            <a:r>
              <a:rPr sz="1463" b="1" i="0">
                <a:solidFill>
                  <a:srgbClr val="7D4209"/>
                </a:solidFill>
                <a:latin typeface="DejaVu Sans Mono"/>
              </a:rPr>
              <a:t>100%</a:t>
            </a:r>
          </a:p>
        </p:txBody>
      </p:sp>
      <p:sp>
        <p:nvSpPr>
          <p:cNvPr id="57" name="right_complete"/>
          <p:cNvSpPr txBox="1"/>
          <p:nvPr/>
        </p:nvSpPr>
        <p:spPr>
          <a:xfrm>
            <a:off x="10231420" y="8957232"/>
            <a:ext cx="3033779" cy="2638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7D4209"/>
                </a:solidFill>
                <a:latin typeface="DejaVu Sans Mono"/>
              </a:rPr>
              <a:t>Task is complete.</a:t>
            </a:r>
          </a:p>
        </p:txBody>
      </p:sp>
      <p:sp>
        <p:nvSpPr>
          <p:cNvPr id="58" name="left_label_o0_open"/>
          <p:cNvSpPr txBox="1"/>
          <p:nvPr/>
        </p:nvSpPr>
        <p:spPr>
          <a:xfrm>
            <a:off x="432313" y="1418291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17171"/>
                </a:solidFill>
                <a:latin typeface="DejaVu Serif"/>
              </a:rPr>
              <a:t>[</a:t>
            </a:r>
          </a:p>
        </p:txBody>
      </p:sp>
      <p:sp>
        <p:nvSpPr>
          <p:cNvPr id="59" name="left_label_o0_o"/>
          <p:cNvSpPr txBox="1"/>
          <p:nvPr/>
        </p:nvSpPr>
        <p:spPr>
          <a:xfrm>
            <a:off x="530911" y="1433460"/>
            <a:ext cx="212364" cy="3261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1" b="0" i="1">
                <a:solidFill>
                  <a:srgbClr val="717171"/>
                </a:solidFill>
                <a:latin typeface="DejaVu Serif"/>
              </a:rPr>
              <a:t>o</a:t>
            </a:r>
          </a:p>
        </p:txBody>
      </p:sp>
      <p:sp>
        <p:nvSpPr>
          <p:cNvPr id="60" name="left_label_o0_sub"/>
          <p:cNvSpPr txBox="1"/>
          <p:nvPr/>
        </p:nvSpPr>
        <p:spPr>
          <a:xfrm>
            <a:off x="667431" y="1577565"/>
            <a:ext cx="227533" cy="19719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4" b="0" i="0">
                <a:solidFill>
                  <a:srgbClr val="717171"/>
                </a:solidFill>
                <a:latin typeface="DejaVu Serif"/>
              </a:rPr>
              <a:t>0</a:t>
            </a:r>
          </a:p>
        </p:txBody>
      </p:sp>
      <p:sp>
        <p:nvSpPr>
          <p:cNvPr id="61" name="left_label_o0_close"/>
          <p:cNvSpPr txBox="1"/>
          <p:nvPr/>
        </p:nvSpPr>
        <p:spPr>
          <a:xfrm>
            <a:off x="781198" y="1418291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17171"/>
                </a:solidFill>
                <a:latin typeface="DejaVu Serif"/>
              </a:rPr>
              <a:t>]</a:t>
            </a:r>
          </a:p>
        </p:txBody>
      </p:sp>
      <p:sp>
        <p:nvSpPr>
          <p:cNvPr id="62" name="left_label_o14_open"/>
          <p:cNvSpPr txBox="1"/>
          <p:nvPr/>
        </p:nvSpPr>
        <p:spPr>
          <a:xfrm>
            <a:off x="356469" y="4103186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17171"/>
                </a:solidFill>
                <a:latin typeface="DejaVu Serif"/>
              </a:rPr>
              <a:t>[</a:t>
            </a:r>
          </a:p>
        </p:txBody>
      </p:sp>
      <p:sp>
        <p:nvSpPr>
          <p:cNvPr id="63" name="left_label_o14_o"/>
          <p:cNvSpPr txBox="1"/>
          <p:nvPr/>
        </p:nvSpPr>
        <p:spPr>
          <a:xfrm>
            <a:off x="455066" y="4118355"/>
            <a:ext cx="212364" cy="3261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1" b="0" i="1">
                <a:solidFill>
                  <a:srgbClr val="717171"/>
                </a:solidFill>
                <a:latin typeface="DejaVu Serif"/>
              </a:rPr>
              <a:t>o</a:t>
            </a:r>
          </a:p>
        </p:txBody>
      </p:sp>
      <p:sp>
        <p:nvSpPr>
          <p:cNvPr id="64" name="left_label_o14_sub"/>
          <p:cNvSpPr txBox="1"/>
          <p:nvPr/>
        </p:nvSpPr>
        <p:spPr>
          <a:xfrm>
            <a:off x="591586" y="4262459"/>
            <a:ext cx="227533" cy="19719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4" b="0" i="0">
                <a:solidFill>
                  <a:srgbClr val="717171"/>
                </a:solidFill>
                <a:latin typeface="DejaVu Serif"/>
              </a:rPr>
              <a:t>14</a:t>
            </a:r>
          </a:p>
        </p:txBody>
      </p:sp>
      <p:sp>
        <p:nvSpPr>
          <p:cNvPr id="65" name="left_label_o14_close"/>
          <p:cNvSpPr txBox="1"/>
          <p:nvPr/>
        </p:nvSpPr>
        <p:spPr>
          <a:xfrm>
            <a:off x="773613" y="4103186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17171"/>
                </a:solidFill>
                <a:latin typeface="DejaVu Serif"/>
              </a:rPr>
              <a:t>]</a:t>
            </a:r>
          </a:p>
        </p:txBody>
      </p:sp>
      <p:sp>
        <p:nvSpPr>
          <p:cNvPr id="66" name="left_label_o31_open"/>
          <p:cNvSpPr txBox="1"/>
          <p:nvPr/>
        </p:nvSpPr>
        <p:spPr>
          <a:xfrm>
            <a:off x="280624" y="6856340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17171"/>
                </a:solidFill>
                <a:latin typeface="DejaVu Serif"/>
              </a:rPr>
              <a:t>[</a:t>
            </a:r>
          </a:p>
        </p:txBody>
      </p:sp>
      <p:sp>
        <p:nvSpPr>
          <p:cNvPr id="67" name="left_label_o31_o"/>
          <p:cNvSpPr txBox="1"/>
          <p:nvPr/>
        </p:nvSpPr>
        <p:spPr>
          <a:xfrm>
            <a:off x="379222" y="6871509"/>
            <a:ext cx="212364" cy="3261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1" b="0" i="1">
                <a:solidFill>
                  <a:srgbClr val="717171"/>
                </a:solidFill>
                <a:latin typeface="DejaVu Serif"/>
              </a:rPr>
              <a:t>o</a:t>
            </a:r>
          </a:p>
        </p:txBody>
      </p:sp>
      <p:sp>
        <p:nvSpPr>
          <p:cNvPr id="68" name="left_label_o31_sub"/>
          <p:cNvSpPr txBox="1"/>
          <p:nvPr/>
        </p:nvSpPr>
        <p:spPr>
          <a:xfrm>
            <a:off x="515742" y="7015614"/>
            <a:ext cx="227533" cy="19719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4" b="0" i="0">
                <a:solidFill>
                  <a:srgbClr val="717171"/>
                </a:solidFill>
                <a:latin typeface="DejaVu Serif"/>
              </a:rPr>
              <a:t>31</a:t>
            </a:r>
          </a:p>
        </p:txBody>
      </p:sp>
      <p:sp>
        <p:nvSpPr>
          <p:cNvPr id="69" name="left_label_o31_close"/>
          <p:cNvSpPr txBox="1"/>
          <p:nvPr/>
        </p:nvSpPr>
        <p:spPr>
          <a:xfrm>
            <a:off x="697769" y="6856340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17171"/>
                </a:solidFill>
                <a:latin typeface="DejaVu Serif"/>
              </a:rPr>
              <a:t>]</a:t>
            </a:r>
          </a:p>
        </p:txBody>
      </p:sp>
      <p:sp>
        <p:nvSpPr>
          <p:cNvPr id="70" name="middle_label_o0_open"/>
          <p:cNvSpPr txBox="1"/>
          <p:nvPr/>
        </p:nvSpPr>
        <p:spPr>
          <a:xfrm>
            <a:off x="5468386" y="1418291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C88E12"/>
                </a:solidFill>
                <a:latin typeface="DejaVu Serif"/>
              </a:rPr>
              <a:t>[</a:t>
            </a:r>
          </a:p>
        </p:txBody>
      </p:sp>
      <p:sp>
        <p:nvSpPr>
          <p:cNvPr id="71" name="middle_label_o0_o"/>
          <p:cNvSpPr txBox="1"/>
          <p:nvPr/>
        </p:nvSpPr>
        <p:spPr>
          <a:xfrm>
            <a:off x="5566984" y="1433460"/>
            <a:ext cx="212364" cy="3261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1" b="0" i="1">
                <a:solidFill>
                  <a:srgbClr val="C88E12"/>
                </a:solidFill>
                <a:latin typeface="DejaVu Serif"/>
              </a:rPr>
              <a:t>o</a:t>
            </a:r>
          </a:p>
        </p:txBody>
      </p:sp>
      <p:sp>
        <p:nvSpPr>
          <p:cNvPr id="72" name="middle_label_o0_sub"/>
          <p:cNvSpPr txBox="1"/>
          <p:nvPr/>
        </p:nvSpPr>
        <p:spPr>
          <a:xfrm>
            <a:off x="5703504" y="1577565"/>
            <a:ext cx="227533" cy="19719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4" b="0" i="0">
                <a:solidFill>
                  <a:srgbClr val="C88E12"/>
                </a:solidFill>
                <a:latin typeface="DejaVu Serif"/>
              </a:rPr>
              <a:t>0</a:t>
            </a:r>
          </a:p>
        </p:txBody>
      </p:sp>
      <p:sp>
        <p:nvSpPr>
          <p:cNvPr id="73" name="middle_label_o0_close"/>
          <p:cNvSpPr txBox="1"/>
          <p:nvPr/>
        </p:nvSpPr>
        <p:spPr>
          <a:xfrm>
            <a:off x="5817271" y="1418291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C88E12"/>
                </a:solidFill>
                <a:latin typeface="DejaVu Serif"/>
              </a:rPr>
              <a:t>]</a:t>
            </a:r>
          </a:p>
        </p:txBody>
      </p:sp>
      <p:sp>
        <p:nvSpPr>
          <p:cNvPr id="74" name="middle_label_o9_open"/>
          <p:cNvSpPr txBox="1"/>
          <p:nvPr/>
        </p:nvSpPr>
        <p:spPr>
          <a:xfrm>
            <a:off x="5460802" y="4034926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C88E12"/>
                </a:solidFill>
                <a:latin typeface="DejaVu Serif"/>
              </a:rPr>
              <a:t>[</a:t>
            </a:r>
          </a:p>
        </p:txBody>
      </p:sp>
      <p:sp>
        <p:nvSpPr>
          <p:cNvPr id="75" name="middle_label_o9_o"/>
          <p:cNvSpPr txBox="1"/>
          <p:nvPr/>
        </p:nvSpPr>
        <p:spPr>
          <a:xfrm>
            <a:off x="5559400" y="4050095"/>
            <a:ext cx="212364" cy="3261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1" b="0" i="1">
                <a:solidFill>
                  <a:srgbClr val="C88E12"/>
                </a:solidFill>
                <a:latin typeface="DejaVu Serif"/>
              </a:rPr>
              <a:t>o</a:t>
            </a:r>
          </a:p>
        </p:txBody>
      </p:sp>
      <p:sp>
        <p:nvSpPr>
          <p:cNvPr id="76" name="middle_label_o9_sub"/>
          <p:cNvSpPr txBox="1"/>
          <p:nvPr/>
        </p:nvSpPr>
        <p:spPr>
          <a:xfrm>
            <a:off x="5695920" y="4194199"/>
            <a:ext cx="227533" cy="19719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4" b="0" i="0">
                <a:solidFill>
                  <a:srgbClr val="C88E12"/>
                </a:solidFill>
                <a:latin typeface="DejaVu Serif"/>
              </a:rPr>
              <a:t>9</a:t>
            </a:r>
          </a:p>
        </p:txBody>
      </p:sp>
      <p:sp>
        <p:nvSpPr>
          <p:cNvPr id="77" name="middle_label_o9_close"/>
          <p:cNvSpPr txBox="1"/>
          <p:nvPr/>
        </p:nvSpPr>
        <p:spPr>
          <a:xfrm>
            <a:off x="5809687" y="4034926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C88E12"/>
                </a:solidFill>
                <a:latin typeface="DejaVu Serif"/>
              </a:rPr>
              <a:t>]</a:t>
            </a:r>
          </a:p>
        </p:txBody>
      </p:sp>
      <p:sp>
        <p:nvSpPr>
          <p:cNvPr id="78" name="middle_label_o14_open"/>
          <p:cNvSpPr txBox="1"/>
          <p:nvPr/>
        </p:nvSpPr>
        <p:spPr>
          <a:xfrm>
            <a:off x="5354620" y="6932185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C88E12"/>
                </a:solidFill>
                <a:latin typeface="DejaVu Serif"/>
              </a:rPr>
              <a:t>[</a:t>
            </a:r>
          </a:p>
        </p:txBody>
      </p:sp>
      <p:sp>
        <p:nvSpPr>
          <p:cNvPr id="79" name="middle_label_o14_o"/>
          <p:cNvSpPr txBox="1"/>
          <p:nvPr/>
        </p:nvSpPr>
        <p:spPr>
          <a:xfrm>
            <a:off x="5453218" y="6947354"/>
            <a:ext cx="212364" cy="3261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1" b="0" i="1">
                <a:solidFill>
                  <a:srgbClr val="C88E12"/>
                </a:solidFill>
                <a:latin typeface="DejaVu Serif"/>
              </a:rPr>
              <a:t>o</a:t>
            </a:r>
          </a:p>
        </p:txBody>
      </p:sp>
      <p:sp>
        <p:nvSpPr>
          <p:cNvPr id="80" name="middle_label_o14_sub"/>
          <p:cNvSpPr txBox="1"/>
          <p:nvPr/>
        </p:nvSpPr>
        <p:spPr>
          <a:xfrm>
            <a:off x="5589738" y="7091458"/>
            <a:ext cx="227533" cy="19719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4" b="0" i="0">
                <a:solidFill>
                  <a:srgbClr val="C88E12"/>
                </a:solidFill>
                <a:latin typeface="DejaVu Serif"/>
              </a:rPr>
              <a:t>14</a:t>
            </a:r>
          </a:p>
        </p:txBody>
      </p:sp>
      <p:sp>
        <p:nvSpPr>
          <p:cNvPr id="81" name="middle_label_o14_close"/>
          <p:cNvSpPr txBox="1"/>
          <p:nvPr/>
        </p:nvSpPr>
        <p:spPr>
          <a:xfrm>
            <a:off x="5771764" y="6932185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C88E12"/>
                </a:solidFill>
                <a:latin typeface="DejaVu Serif"/>
              </a:rPr>
              <a:t>]</a:t>
            </a:r>
          </a:p>
        </p:txBody>
      </p:sp>
      <p:sp>
        <p:nvSpPr>
          <p:cNvPr id="82" name="right_label_o0_open"/>
          <p:cNvSpPr txBox="1"/>
          <p:nvPr/>
        </p:nvSpPr>
        <p:spPr>
          <a:xfrm>
            <a:off x="10367940" y="1350031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D4209"/>
                </a:solidFill>
                <a:latin typeface="DejaVu Serif"/>
              </a:rPr>
              <a:t>[</a:t>
            </a:r>
          </a:p>
        </p:txBody>
      </p:sp>
      <p:sp>
        <p:nvSpPr>
          <p:cNvPr id="83" name="right_label_o0_o"/>
          <p:cNvSpPr txBox="1"/>
          <p:nvPr/>
        </p:nvSpPr>
        <p:spPr>
          <a:xfrm>
            <a:off x="10466538" y="1365200"/>
            <a:ext cx="212364" cy="3261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1" b="0" i="1">
                <a:solidFill>
                  <a:srgbClr val="7D4209"/>
                </a:solidFill>
                <a:latin typeface="DejaVu Serif"/>
              </a:rPr>
              <a:t>o</a:t>
            </a:r>
          </a:p>
        </p:txBody>
      </p:sp>
      <p:sp>
        <p:nvSpPr>
          <p:cNvPr id="84" name="right_label_o0_sub"/>
          <p:cNvSpPr txBox="1"/>
          <p:nvPr/>
        </p:nvSpPr>
        <p:spPr>
          <a:xfrm>
            <a:off x="10603058" y="1509305"/>
            <a:ext cx="227533" cy="19719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4" b="0" i="0">
                <a:solidFill>
                  <a:srgbClr val="7D4209"/>
                </a:solidFill>
                <a:latin typeface="DejaVu Serif"/>
              </a:rPr>
              <a:t>0</a:t>
            </a:r>
          </a:p>
        </p:txBody>
      </p:sp>
      <p:sp>
        <p:nvSpPr>
          <p:cNvPr id="85" name="right_label_o0_close"/>
          <p:cNvSpPr txBox="1"/>
          <p:nvPr/>
        </p:nvSpPr>
        <p:spPr>
          <a:xfrm>
            <a:off x="10716824" y="1350031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D4209"/>
                </a:solidFill>
                <a:latin typeface="DejaVu Serif"/>
              </a:rPr>
              <a:t>]</a:t>
            </a:r>
          </a:p>
        </p:txBody>
      </p:sp>
      <p:sp>
        <p:nvSpPr>
          <p:cNvPr id="86" name="right_label_o1_open"/>
          <p:cNvSpPr txBox="1"/>
          <p:nvPr/>
        </p:nvSpPr>
        <p:spPr>
          <a:xfrm>
            <a:off x="10367940" y="3951497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D4209"/>
                </a:solidFill>
                <a:latin typeface="DejaVu Serif"/>
              </a:rPr>
              <a:t>[</a:t>
            </a:r>
          </a:p>
        </p:txBody>
      </p:sp>
      <p:sp>
        <p:nvSpPr>
          <p:cNvPr id="87" name="right_label_o1_o"/>
          <p:cNvSpPr txBox="1"/>
          <p:nvPr/>
        </p:nvSpPr>
        <p:spPr>
          <a:xfrm>
            <a:off x="10466538" y="3966666"/>
            <a:ext cx="212364" cy="3261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1" b="0" i="1">
                <a:solidFill>
                  <a:srgbClr val="7D4209"/>
                </a:solidFill>
                <a:latin typeface="DejaVu Serif"/>
              </a:rPr>
              <a:t>o</a:t>
            </a:r>
          </a:p>
        </p:txBody>
      </p:sp>
      <p:sp>
        <p:nvSpPr>
          <p:cNvPr id="88" name="right_label_o1_sub"/>
          <p:cNvSpPr txBox="1"/>
          <p:nvPr/>
        </p:nvSpPr>
        <p:spPr>
          <a:xfrm>
            <a:off x="10603058" y="4110770"/>
            <a:ext cx="227533" cy="19719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4" b="0" i="0">
                <a:solidFill>
                  <a:srgbClr val="7D4209"/>
                </a:solidFill>
                <a:latin typeface="DejaVu Serif"/>
              </a:rPr>
              <a:t>1</a:t>
            </a:r>
          </a:p>
        </p:txBody>
      </p:sp>
      <p:sp>
        <p:nvSpPr>
          <p:cNvPr id="89" name="right_label_o1_close"/>
          <p:cNvSpPr txBox="1"/>
          <p:nvPr/>
        </p:nvSpPr>
        <p:spPr>
          <a:xfrm>
            <a:off x="10716824" y="3951497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D4209"/>
                </a:solidFill>
                <a:latin typeface="DejaVu Serif"/>
              </a:rPr>
              <a:t>]</a:t>
            </a:r>
          </a:p>
        </p:txBody>
      </p:sp>
      <p:sp>
        <p:nvSpPr>
          <p:cNvPr id="90" name="right_label_o9_open"/>
          <p:cNvSpPr txBox="1"/>
          <p:nvPr/>
        </p:nvSpPr>
        <p:spPr>
          <a:xfrm>
            <a:off x="10390693" y="7273485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D4209"/>
                </a:solidFill>
                <a:latin typeface="DejaVu Serif"/>
              </a:rPr>
              <a:t>[</a:t>
            </a:r>
          </a:p>
        </p:txBody>
      </p:sp>
      <p:sp>
        <p:nvSpPr>
          <p:cNvPr id="91" name="right_label_o9_o"/>
          <p:cNvSpPr txBox="1"/>
          <p:nvPr/>
        </p:nvSpPr>
        <p:spPr>
          <a:xfrm>
            <a:off x="10489291" y="7288654"/>
            <a:ext cx="212364" cy="3261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1" b="0" i="1">
                <a:solidFill>
                  <a:srgbClr val="7D4209"/>
                </a:solidFill>
                <a:latin typeface="DejaVu Serif"/>
              </a:rPr>
              <a:t>o</a:t>
            </a:r>
          </a:p>
        </p:txBody>
      </p:sp>
      <p:sp>
        <p:nvSpPr>
          <p:cNvPr id="92" name="right_label_o9_sub"/>
          <p:cNvSpPr txBox="1"/>
          <p:nvPr/>
        </p:nvSpPr>
        <p:spPr>
          <a:xfrm>
            <a:off x="10625811" y="7432758"/>
            <a:ext cx="227533" cy="19719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4" b="0" i="0">
                <a:solidFill>
                  <a:srgbClr val="7D4209"/>
                </a:solidFill>
                <a:latin typeface="DejaVu Serif"/>
              </a:rPr>
              <a:t>9</a:t>
            </a:r>
          </a:p>
        </p:txBody>
      </p:sp>
      <p:sp>
        <p:nvSpPr>
          <p:cNvPr id="93" name="right_label_o9_close"/>
          <p:cNvSpPr txBox="1"/>
          <p:nvPr/>
        </p:nvSpPr>
        <p:spPr>
          <a:xfrm>
            <a:off x="10739578" y="7273485"/>
            <a:ext cx="151688" cy="364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0" i="0">
                <a:solidFill>
                  <a:srgbClr val="7D4209"/>
                </a:solidFill>
                <a:latin typeface="DejaVu Serif"/>
              </a:rPr>
              <a:t>]</a:t>
            </a:r>
          </a:p>
        </p:txBody>
      </p:sp>
      <p:sp>
        <p:nvSpPr>
          <p:cNvPr id="94" name="left_phi_box"/>
          <p:cNvSpPr/>
          <p:nvPr/>
        </p:nvSpPr>
        <p:spPr>
          <a:xfrm>
            <a:off x="4618928" y="1387953"/>
            <a:ext cx="500573" cy="500573"/>
          </a:xfrm>
          <a:prstGeom prst="rect">
            <a:avLst/>
          </a:prstGeom>
          <a:solidFill>
            <a:srgbClr val="FFFFFF"/>
          </a:solidFill>
          <a:ln w="30337">
            <a:solidFill>
              <a:srgbClr val="C88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left_phi_symbol"/>
          <p:cNvSpPr txBox="1"/>
          <p:nvPr/>
        </p:nvSpPr>
        <p:spPr>
          <a:xfrm>
            <a:off x="4725111" y="1418291"/>
            <a:ext cx="303377" cy="4171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8" b="0" i="1">
                <a:solidFill>
                  <a:srgbClr val="C88E12"/>
                </a:solidFill>
                <a:latin typeface="DejaVu Serif"/>
              </a:rPr>
              <a:t>φ</a:t>
            </a:r>
          </a:p>
        </p:txBody>
      </p:sp>
      <p:sp>
        <p:nvSpPr>
          <p:cNvPr id="96" name="middle_psi_box"/>
          <p:cNvSpPr/>
          <p:nvPr/>
        </p:nvSpPr>
        <p:spPr>
          <a:xfrm>
            <a:off x="4907137" y="5923453"/>
            <a:ext cx="500573" cy="500573"/>
          </a:xfrm>
          <a:prstGeom prst="rect">
            <a:avLst/>
          </a:prstGeom>
          <a:solidFill>
            <a:srgbClr val="FFFFFF"/>
          </a:solidFill>
          <a:ln w="30337">
            <a:solidFill>
              <a:srgbClr val="C88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middle_psi_symbol"/>
          <p:cNvSpPr txBox="1"/>
          <p:nvPr/>
        </p:nvSpPr>
        <p:spPr>
          <a:xfrm>
            <a:off x="5013320" y="5953791"/>
            <a:ext cx="303377" cy="4171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8" b="0" i="1">
                <a:solidFill>
                  <a:srgbClr val="C88E12"/>
                </a:solidFill>
                <a:latin typeface="DejaVu Serif"/>
              </a:rPr>
              <a:t>ψ</a:t>
            </a:r>
          </a:p>
        </p:txBody>
      </p:sp>
      <p:sp>
        <p:nvSpPr>
          <p:cNvPr id="98" name="middle_phi_box"/>
          <p:cNvSpPr/>
          <p:nvPr/>
        </p:nvSpPr>
        <p:spPr>
          <a:xfrm>
            <a:off x="9563988" y="1403122"/>
            <a:ext cx="500573" cy="500573"/>
          </a:xfrm>
          <a:prstGeom prst="rect">
            <a:avLst/>
          </a:prstGeom>
          <a:solidFill>
            <a:srgbClr val="FFFFFF"/>
          </a:solidFill>
          <a:ln w="30337">
            <a:solidFill>
              <a:srgbClr val="7D42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middle_phi_symbol"/>
          <p:cNvSpPr txBox="1"/>
          <p:nvPr/>
        </p:nvSpPr>
        <p:spPr>
          <a:xfrm>
            <a:off x="9670171" y="1433460"/>
            <a:ext cx="303377" cy="4171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8" b="0" i="1">
                <a:solidFill>
                  <a:srgbClr val="7D4209"/>
                </a:solidFill>
                <a:latin typeface="DejaVu Serif"/>
              </a:rPr>
              <a:t>φ</a:t>
            </a:r>
          </a:p>
        </p:txBody>
      </p:sp>
      <p:sp>
        <p:nvSpPr>
          <p:cNvPr id="100" name="right_psi_box"/>
          <p:cNvSpPr/>
          <p:nvPr/>
        </p:nvSpPr>
        <p:spPr>
          <a:xfrm>
            <a:off x="9890120" y="6204078"/>
            <a:ext cx="500573" cy="500573"/>
          </a:xfrm>
          <a:prstGeom prst="rect">
            <a:avLst/>
          </a:prstGeom>
          <a:solidFill>
            <a:srgbClr val="FFFFFF"/>
          </a:solidFill>
          <a:ln w="30337">
            <a:solidFill>
              <a:srgbClr val="7D42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ight_psi_symbol"/>
          <p:cNvSpPr txBox="1"/>
          <p:nvPr/>
        </p:nvSpPr>
        <p:spPr>
          <a:xfrm>
            <a:off x="9996302" y="6234416"/>
            <a:ext cx="303377" cy="4171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8" b="0" i="1">
                <a:solidFill>
                  <a:srgbClr val="7D4209"/>
                </a:solidFill>
                <a:latin typeface="DejaVu Serif"/>
              </a:rPr>
              <a:t>ψ</a:t>
            </a:r>
          </a:p>
        </p:txBody>
      </p:sp>
      <p:sp>
        <p:nvSpPr>
          <p:cNvPr id="102" name="left_ellipsis_dot"/>
          <p:cNvSpPr/>
          <p:nvPr/>
        </p:nvSpPr>
        <p:spPr>
          <a:xfrm>
            <a:off x="2085723" y="8653855"/>
            <a:ext cx="75844" cy="75844"/>
          </a:xfrm>
          <a:prstGeom prst="ellipse">
            <a:avLst/>
          </a:prstGeom>
          <a:solidFill>
            <a:srgbClr val="71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left_ellipsis_dot"/>
          <p:cNvSpPr/>
          <p:nvPr/>
        </p:nvSpPr>
        <p:spPr>
          <a:xfrm>
            <a:off x="2207074" y="8653855"/>
            <a:ext cx="75844" cy="75844"/>
          </a:xfrm>
          <a:prstGeom prst="ellipse">
            <a:avLst/>
          </a:prstGeom>
          <a:solidFill>
            <a:srgbClr val="71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left_ellipsis_dot"/>
          <p:cNvSpPr/>
          <p:nvPr/>
        </p:nvSpPr>
        <p:spPr>
          <a:xfrm>
            <a:off x="2328425" y="8653855"/>
            <a:ext cx="75844" cy="75844"/>
          </a:xfrm>
          <a:prstGeom prst="ellipse">
            <a:avLst/>
          </a:prstGeom>
          <a:solidFill>
            <a:srgbClr val="71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left_ellipsis_dot"/>
          <p:cNvSpPr/>
          <p:nvPr/>
        </p:nvSpPr>
        <p:spPr>
          <a:xfrm>
            <a:off x="2085723" y="8904141"/>
            <a:ext cx="75844" cy="75844"/>
          </a:xfrm>
          <a:prstGeom prst="ellipse">
            <a:avLst/>
          </a:prstGeom>
          <a:solidFill>
            <a:srgbClr val="71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left_ellipsis_dot"/>
          <p:cNvSpPr/>
          <p:nvPr/>
        </p:nvSpPr>
        <p:spPr>
          <a:xfrm>
            <a:off x="2207074" y="8904141"/>
            <a:ext cx="75844" cy="75844"/>
          </a:xfrm>
          <a:prstGeom prst="ellipse">
            <a:avLst/>
          </a:prstGeom>
          <a:solidFill>
            <a:srgbClr val="71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left_ellipsis_dot"/>
          <p:cNvSpPr/>
          <p:nvPr/>
        </p:nvSpPr>
        <p:spPr>
          <a:xfrm>
            <a:off x="2328425" y="8904141"/>
            <a:ext cx="75844" cy="75844"/>
          </a:xfrm>
          <a:prstGeom prst="ellipse">
            <a:avLst/>
          </a:prstGeom>
          <a:solidFill>
            <a:srgbClr val="71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ight_ellipsis_dot"/>
          <p:cNvSpPr/>
          <p:nvPr/>
        </p:nvSpPr>
        <p:spPr>
          <a:xfrm>
            <a:off x="12355065" y="5855193"/>
            <a:ext cx="75844" cy="75844"/>
          </a:xfrm>
          <a:prstGeom prst="ellipse">
            <a:avLst/>
          </a:prstGeom>
          <a:solidFill>
            <a:srgbClr val="7D42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ight_ellipsis_dot"/>
          <p:cNvSpPr/>
          <p:nvPr/>
        </p:nvSpPr>
        <p:spPr>
          <a:xfrm>
            <a:off x="12476416" y="5855193"/>
            <a:ext cx="75844" cy="75844"/>
          </a:xfrm>
          <a:prstGeom prst="ellipse">
            <a:avLst/>
          </a:prstGeom>
          <a:solidFill>
            <a:srgbClr val="7D42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ight_ellipsis_dot"/>
          <p:cNvSpPr/>
          <p:nvPr/>
        </p:nvSpPr>
        <p:spPr>
          <a:xfrm>
            <a:off x="12597767" y="5855193"/>
            <a:ext cx="75844" cy="75844"/>
          </a:xfrm>
          <a:prstGeom prst="ellipse">
            <a:avLst/>
          </a:prstGeom>
          <a:solidFill>
            <a:srgbClr val="7D42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ight_ellipsis_dot"/>
          <p:cNvSpPr/>
          <p:nvPr/>
        </p:nvSpPr>
        <p:spPr>
          <a:xfrm>
            <a:off x="12355065" y="6105480"/>
            <a:ext cx="75844" cy="75844"/>
          </a:xfrm>
          <a:prstGeom prst="ellipse">
            <a:avLst/>
          </a:prstGeom>
          <a:solidFill>
            <a:srgbClr val="7D42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ight_ellipsis_dot"/>
          <p:cNvSpPr/>
          <p:nvPr/>
        </p:nvSpPr>
        <p:spPr>
          <a:xfrm>
            <a:off x="12476416" y="6105480"/>
            <a:ext cx="75844" cy="75844"/>
          </a:xfrm>
          <a:prstGeom prst="ellipse">
            <a:avLst/>
          </a:prstGeom>
          <a:solidFill>
            <a:srgbClr val="7D42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ight_ellipsis_dot"/>
          <p:cNvSpPr/>
          <p:nvPr/>
        </p:nvSpPr>
        <p:spPr>
          <a:xfrm>
            <a:off x="12597767" y="6105480"/>
            <a:ext cx="75844" cy="75844"/>
          </a:xfrm>
          <a:prstGeom prst="ellipse">
            <a:avLst/>
          </a:prstGeom>
          <a:solidFill>
            <a:srgbClr val="7D42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ROVER Recursive Reasoning Over Videos with Vision-Language Models for Embodied Task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0937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