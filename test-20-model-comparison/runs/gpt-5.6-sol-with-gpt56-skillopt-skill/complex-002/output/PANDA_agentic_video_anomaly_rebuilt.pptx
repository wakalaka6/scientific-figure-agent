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173200" cy="924402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nvas_001"/>
          <p:cNvSpPr/>
          <p:nvPr/>
        </p:nvSpPr>
        <p:spPr>
          <a:xfrm>
            <a:off x="0" y="0"/>
            <a:ext cx="14173199" cy="924402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workflow_row_1_002"/>
          <p:cNvSpPr/>
          <p:nvPr/>
        </p:nvSpPr>
        <p:spPr>
          <a:xfrm>
            <a:off x="2566972" y="1755195"/>
            <a:ext cx="7942257" cy="2215933"/>
          </a:xfrm>
          <a:prstGeom prst="roundRect">
            <a:avLst/>
          </a:prstGeom>
          <a:solidFill>
            <a:srgbClr val="FA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asoning_row_1_003"/>
          <p:cNvSpPr/>
          <p:nvPr/>
        </p:nvSpPr>
        <p:spPr>
          <a:xfrm>
            <a:off x="10721316" y="1769821"/>
            <a:ext cx="3378750" cy="2208620"/>
          </a:xfrm>
          <a:prstGeom prst="roundRect">
            <a:avLst/>
          </a:prstGeom>
          <a:solidFill>
            <a:srgbClr val="E1E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workflow_row_2_004"/>
          <p:cNvSpPr/>
          <p:nvPr/>
        </p:nvSpPr>
        <p:spPr>
          <a:xfrm>
            <a:off x="2566972" y="4168588"/>
            <a:ext cx="7942257" cy="2391453"/>
          </a:xfrm>
          <a:prstGeom prst="roundRect">
            <a:avLst/>
          </a:prstGeom>
          <a:solidFill>
            <a:srgbClr val="FA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asoning_row_2_005"/>
          <p:cNvSpPr/>
          <p:nvPr/>
        </p:nvSpPr>
        <p:spPr>
          <a:xfrm>
            <a:off x="10721316" y="4175901"/>
            <a:ext cx="3378750" cy="2384139"/>
          </a:xfrm>
          <a:prstGeom prst="roundRect">
            <a:avLst/>
          </a:prstGeom>
          <a:solidFill>
            <a:srgbClr val="E1E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workflow_row_3_006"/>
          <p:cNvSpPr/>
          <p:nvPr/>
        </p:nvSpPr>
        <p:spPr>
          <a:xfrm>
            <a:off x="2566972" y="6779440"/>
            <a:ext cx="7942257" cy="2464586"/>
          </a:xfrm>
          <a:prstGeom prst="roundRect">
            <a:avLst/>
          </a:prstGeom>
          <a:solidFill>
            <a:srgbClr val="FAE4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asoning_row_3_007"/>
          <p:cNvSpPr/>
          <p:nvPr/>
        </p:nvSpPr>
        <p:spPr>
          <a:xfrm>
            <a:off x="10721316" y="6779440"/>
            <a:ext cx="3378750" cy="2464586"/>
          </a:xfrm>
          <a:prstGeom prst="roundRect">
            <a:avLst/>
          </a:prstGeom>
          <a:solidFill>
            <a:srgbClr val="E1E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_8_008"/>
          <p:cNvSpPr/>
          <p:nvPr/>
        </p:nvSpPr>
        <p:spPr>
          <a:xfrm>
            <a:off x="146266" y="2084294"/>
            <a:ext cx="2267126" cy="1821014"/>
          </a:xfrm>
          <a:prstGeom prst="roundRect">
            <a:avLst/>
          </a:prstGeom>
          <a:solidFill>
            <a:srgbClr val="F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line_9_009"/>
          <p:cNvCxnSpPr/>
          <p:nvPr/>
        </p:nvCxnSpPr>
        <p:spPr>
          <a:xfrm>
            <a:off x="212086" y="3744416"/>
            <a:ext cx="95073" cy="95073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line_10_010"/>
          <p:cNvCxnSpPr/>
          <p:nvPr/>
        </p:nvCxnSpPr>
        <p:spPr>
          <a:xfrm>
            <a:off x="212086" y="3649343"/>
            <a:ext cx="190146" cy="190146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line_11_011"/>
          <p:cNvCxnSpPr/>
          <p:nvPr/>
        </p:nvCxnSpPr>
        <p:spPr>
          <a:xfrm>
            <a:off x="212086" y="3554269"/>
            <a:ext cx="285219" cy="285220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line_12_012"/>
          <p:cNvCxnSpPr/>
          <p:nvPr/>
        </p:nvCxnSpPr>
        <p:spPr>
          <a:xfrm>
            <a:off x="212086" y="3459196"/>
            <a:ext cx="380292" cy="380293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line_13_013"/>
          <p:cNvCxnSpPr/>
          <p:nvPr/>
        </p:nvCxnSpPr>
        <p:spPr>
          <a:xfrm>
            <a:off x="212086" y="3364123"/>
            <a:ext cx="475365" cy="475366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line_14_014"/>
          <p:cNvCxnSpPr/>
          <p:nvPr/>
        </p:nvCxnSpPr>
        <p:spPr>
          <a:xfrm>
            <a:off x="212086" y="3269050"/>
            <a:ext cx="570438" cy="570439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line_15_015"/>
          <p:cNvCxnSpPr/>
          <p:nvPr/>
        </p:nvCxnSpPr>
        <p:spPr>
          <a:xfrm>
            <a:off x="212086" y="3173977"/>
            <a:ext cx="665511" cy="665512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line_16_016"/>
          <p:cNvCxnSpPr/>
          <p:nvPr/>
        </p:nvCxnSpPr>
        <p:spPr>
          <a:xfrm>
            <a:off x="212086" y="3078904"/>
            <a:ext cx="760584" cy="760585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line_17_017"/>
          <p:cNvCxnSpPr/>
          <p:nvPr/>
        </p:nvCxnSpPr>
        <p:spPr>
          <a:xfrm>
            <a:off x="212086" y="2983831"/>
            <a:ext cx="855657" cy="855658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line_18_018"/>
          <p:cNvCxnSpPr/>
          <p:nvPr/>
        </p:nvCxnSpPr>
        <p:spPr>
          <a:xfrm>
            <a:off x="212086" y="2888758"/>
            <a:ext cx="950730" cy="950731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line_19_019"/>
          <p:cNvCxnSpPr/>
          <p:nvPr/>
        </p:nvCxnSpPr>
        <p:spPr>
          <a:xfrm>
            <a:off x="212086" y="2793685"/>
            <a:ext cx="1045803" cy="1045804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line_20_020"/>
          <p:cNvCxnSpPr/>
          <p:nvPr/>
        </p:nvCxnSpPr>
        <p:spPr>
          <a:xfrm>
            <a:off x="212086" y="2698612"/>
            <a:ext cx="1140876" cy="1140877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line_21_021"/>
          <p:cNvCxnSpPr/>
          <p:nvPr/>
        </p:nvCxnSpPr>
        <p:spPr>
          <a:xfrm>
            <a:off x="212086" y="2603539"/>
            <a:ext cx="1235949" cy="1235950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line_22_022"/>
          <p:cNvCxnSpPr/>
          <p:nvPr/>
        </p:nvCxnSpPr>
        <p:spPr>
          <a:xfrm>
            <a:off x="212086" y="2508466"/>
            <a:ext cx="1331022" cy="1331023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line_23_023"/>
          <p:cNvCxnSpPr/>
          <p:nvPr/>
        </p:nvCxnSpPr>
        <p:spPr>
          <a:xfrm>
            <a:off x="212086" y="2413393"/>
            <a:ext cx="1426096" cy="1426096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line_24_024"/>
          <p:cNvCxnSpPr/>
          <p:nvPr/>
        </p:nvCxnSpPr>
        <p:spPr>
          <a:xfrm>
            <a:off x="212086" y="2318320"/>
            <a:ext cx="1521169" cy="1521169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line_25_025"/>
          <p:cNvCxnSpPr/>
          <p:nvPr/>
        </p:nvCxnSpPr>
        <p:spPr>
          <a:xfrm>
            <a:off x="212086" y="2223247"/>
            <a:ext cx="1616242" cy="1616242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line_26_026"/>
          <p:cNvCxnSpPr/>
          <p:nvPr/>
        </p:nvCxnSpPr>
        <p:spPr>
          <a:xfrm>
            <a:off x="234026" y="2150113"/>
            <a:ext cx="1689375" cy="1689376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line_27_027"/>
          <p:cNvCxnSpPr/>
          <p:nvPr/>
        </p:nvCxnSpPr>
        <p:spPr>
          <a:xfrm>
            <a:off x="329099" y="2150113"/>
            <a:ext cx="1689375" cy="1689376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line_28_028"/>
          <p:cNvCxnSpPr/>
          <p:nvPr/>
        </p:nvCxnSpPr>
        <p:spPr>
          <a:xfrm>
            <a:off x="424172" y="2150113"/>
            <a:ext cx="1689375" cy="1689376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line_29_029"/>
          <p:cNvCxnSpPr/>
          <p:nvPr/>
        </p:nvCxnSpPr>
        <p:spPr>
          <a:xfrm>
            <a:off x="519245" y="2150113"/>
            <a:ext cx="1689375" cy="1689376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line_30_030"/>
          <p:cNvCxnSpPr/>
          <p:nvPr/>
        </p:nvCxnSpPr>
        <p:spPr>
          <a:xfrm>
            <a:off x="614318" y="2150113"/>
            <a:ext cx="1689375" cy="1689376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line_31_031"/>
          <p:cNvCxnSpPr/>
          <p:nvPr/>
        </p:nvCxnSpPr>
        <p:spPr>
          <a:xfrm>
            <a:off x="709391" y="2150113"/>
            <a:ext cx="1638182" cy="1638182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line_32_032"/>
          <p:cNvCxnSpPr/>
          <p:nvPr/>
        </p:nvCxnSpPr>
        <p:spPr>
          <a:xfrm>
            <a:off x="804464" y="2150113"/>
            <a:ext cx="1543109" cy="1543109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line_33_033"/>
          <p:cNvCxnSpPr/>
          <p:nvPr/>
        </p:nvCxnSpPr>
        <p:spPr>
          <a:xfrm>
            <a:off x="899537" y="2150113"/>
            <a:ext cx="1448036" cy="1448036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line_34_034"/>
          <p:cNvCxnSpPr/>
          <p:nvPr/>
        </p:nvCxnSpPr>
        <p:spPr>
          <a:xfrm>
            <a:off x="994610" y="2150113"/>
            <a:ext cx="1352963" cy="1352963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line_35_035"/>
          <p:cNvCxnSpPr/>
          <p:nvPr/>
        </p:nvCxnSpPr>
        <p:spPr>
          <a:xfrm>
            <a:off x="1089683" y="2150113"/>
            <a:ext cx="1257890" cy="1257890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line_36_036"/>
          <p:cNvCxnSpPr/>
          <p:nvPr/>
        </p:nvCxnSpPr>
        <p:spPr>
          <a:xfrm>
            <a:off x="1184756" y="2150113"/>
            <a:ext cx="1162817" cy="1162817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line_37_037"/>
          <p:cNvCxnSpPr/>
          <p:nvPr/>
        </p:nvCxnSpPr>
        <p:spPr>
          <a:xfrm>
            <a:off x="1279829" y="2150113"/>
            <a:ext cx="1067744" cy="1067744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line_38_038"/>
          <p:cNvCxnSpPr/>
          <p:nvPr/>
        </p:nvCxnSpPr>
        <p:spPr>
          <a:xfrm>
            <a:off x="1374902" y="2150113"/>
            <a:ext cx="972671" cy="972671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line_39_039"/>
          <p:cNvCxnSpPr/>
          <p:nvPr/>
        </p:nvCxnSpPr>
        <p:spPr>
          <a:xfrm>
            <a:off x="1469975" y="2150113"/>
            <a:ext cx="877598" cy="877598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line_40_040"/>
          <p:cNvCxnSpPr/>
          <p:nvPr/>
        </p:nvCxnSpPr>
        <p:spPr>
          <a:xfrm>
            <a:off x="1565048" y="2150113"/>
            <a:ext cx="782525" cy="782525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line_41_041"/>
          <p:cNvCxnSpPr/>
          <p:nvPr/>
        </p:nvCxnSpPr>
        <p:spPr>
          <a:xfrm>
            <a:off x="1660121" y="2150113"/>
            <a:ext cx="687452" cy="687452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line_42_042"/>
          <p:cNvCxnSpPr/>
          <p:nvPr/>
        </p:nvCxnSpPr>
        <p:spPr>
          <a:xfrm>
            <a:off x="1755195" y="2150113"/>
            <a:ext cx="592378" cy="592379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line_43_043"/>
          <p:cNvCxnSpPr/>
          <p:nvPr/>
        </p:nvCxnSpPr>
        <p:spPr>
          <a:xfrm>
            <a:off x="1850268" y="2150113"/>
            <a:ext cx="497305" cy="497306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line_44_044"/>
          <p:cNvCxnSpPr/>
          <p:nvPr/>
        </p:nvCxnSpPr>
        <p:spPr>
          <a:xfrm>
            <a:off x="1945341" y="2150113"/>
            <a:ext cx="402232" cy="402233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line_45_045"/>
          <p:cNvCxnSpPr/>
          <p:nvPr/>
        </p:nvCxnSpPr>
        <p:spPr>
          <a:xfrm>
            <a:off x="2040414" y="2150113"/>
            <a:ext cx="307159" cy="307160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line_46_046"/>
          <p:cNvCxnSpPr/>
          <p:nvPr/>
        </p:nvCxnSpPr>
        <p:spPr>
          <a:xfrm>
            <a:off x="2135487" y="2150113"/>
            <a:ext cx="212086" cy="212086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line_47_047"/>
          <p:cNvCxnSpPr/>
          <p:nvPr/>
        </p:nvCxnSpPr>
        <p:spPr>
          <a:xfrm>
            <a:off x="2230560" y="2150113"/>
            <a:ext cx="117013" cy="117013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line_48_048"/>
          <p:cNvCxnSpPr/>
          <p:nvPr/>
        </p:nvCxnSpPr>
        <p:spPr>
          <a:xfrm>
            <a:off x="2325633" y="2150113"/>
            <a:ext cx="21940" cy="21940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_49_049"/>
          <p:cNvSpPr/>
          <p:nvPr/>
        </p:nvSpPr>
        <p:spPr>
          <a:xfrm>
            <a:off x="146266" y="2084294"/>
            <a:ext cx="2267126" cy="1821014"/>
          </a:xfrm>
          <a:prstGeom prst="roundRect">
            <a:avLst/>
          </a:prstGeom>
          <a:noFill/>
          <a:ln w="29253">
            <a:solidFill>
              <a:srgbClr val="A7AAA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_50_050"/>
          <p:cNvSpPr/>
          <p:nvPr/>
        </p:nvSpPr>
        <p:spPr>
          <a:xfrm>
            <a:off x="138952" y="4278287"/>
            <a:ext cx="2369513" cy="4965739"/>
          </a:xfrm>
          <a:prstGeom prst="roundRect">
            <a:avLst/>
          </a:prstGeom>
          <a:solidFill>
            <a:srgbClr val="FCF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" name="line_51_051"/>
          <p:cNvCxnSpPr/>
          <p:nvPr/>
        </p:nvCxnSpPr>
        <p:spPr>
          <a:xfrm>
            <a:off x="204772" y="9083134"/>
            <a:ext cx="95073" cy="95073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line_52_052"/>
          <p:cNvCxnSpPr/>
          <p:nvPr/>
        </p:nvCxnSpPr>
        <p:spPr>
          <a:xfrm>
            <a:off x="204772" y="8988061"/>
            <a:ext cx="190146" cy="190146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line_53_053"/>
          <p:cNvCxnSpPr/>
          <p:nvPr/>
        </p:nvCxnSpPr>
        <p:spPr>
          <a:xfrm>
            <a:off x="204772" y="8892988"/>
            <a:ext cx="285219" cy="285219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line_54_054"/>
          <p:cNvCxnSpPr/>
          <p:nvPr/>
        </p:nvCxnSpPr>
        <p:spPr>
          <a:xfrm>
            <a:off x="204772" y="8797915"/>
            <a:ext cx="380293" cy="380292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line_55_055"/>
          <p:cNvCxnSpPr/>
          <p:nvPr/>
        </p:nvCxnSpPr>
        <p:spPr>
          <a:xfrm>
            <a:off x="204772" y="8702842"/>
            <a:ext cx="475366" cy="475365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line_56_056"/>
          <p:cNvCxnSpPr/>
          <p:nvPr/>
        </p:nvCxnSpPr>
        <p:spPr>
          <a:xfrm>
            <a:off x="204772" y="8607769"/>
            <a:ext cx="570439" cy="570438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line_57_057"/>
          <p:cNvCxnSpPr/>
          <p:nvPr/>
        </p:nvCxnSpPr>
        <p:spPr>
          <a:xfrm>
            <a:off x="204772" y="8512695"/>
            <a:ext cx="665512" cy="665512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line_58_058"/>
          <p:cNvCxnSpPr/>
          <p:nvPr/>
        </p:nvCxnSpPr>
        <p:spPr>
          <a:xfrm>
            <a:off x="204772" y="8417622"/>
            <a:ext cx="760585" cy="760585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line_59_059"/>
          <p:cNvCxnSpPr/>
          <p:nvPr/>
        </p:nvCxnSpPr>
        <p:spPr>
          <a:xfrm>
            <a:off x="204772" y="8322549"/>
            <a:ext cx="855658" cy="855658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line_60_060"/>
          <p:cNvCxnSpPr/>
          <p:nvPr/>
        </p:nvCxnSpPr>
        <p:spPr>
          <a:xfrm>
            <a:off x="204772" y="8227476"/>
            <a:ext cx="950731" cy="950731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line_61_061"/>
          <p:cNvCxnSpPr/>
          <p:nvPr/>
        </p:nvCxnSpPr>
        <p:spPr>
          <a:xfrm>
            <a:off x="204772" y="8132403"/>
            <a:ext cx="1045804" cy="1045804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line_62_062"/>
          <p:cNvCxnSpPr/>
          <p:nvPr/>
        </p:nvCxnSpPr>
        <p:spPr>
          <a:xfrm>
            <a:off x="204772" y="8037330"/>
            <a:ext cx="1140877" cy="1140877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line_63_063"/>
          <p:cNvCxnSpPr/>
          <p:nvPr/>
        </p:nvCxnSpPr>
        <p:spPr>
          <a:xfrm>
            <a:off x="204772" y="7942257"/>
            <a:ext cx="1235950" cy="1235950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line_64_064"/>
          <p:cNvCxnSpPr/>
          <p:nvPr/>
        </p:nvCxnSpPr>
        <p:spPr>
          <a:xfrm>
            <a:off x="204772" y="7847184"/>
            <a:ext cx="1331023" cy="1331023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line_65_065"/>
          <p:cNvCxnSpPr/>
          <p:nvPr/>
        </p:nvCxnSpPr>
        <p:spPr>
          <a:xfrm>
            <a:off x="204772" y="7752111"/>
            <a:ext cx="1426096" cy="1426096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line_66_066"/>
          <p:cNvCxnSpPr/>
          <p:nvPr/>
        </p:nvCxnSpPr>
        <p:spPr>
          <a:xfrm>
            <a:off x="204772" y="7657038"/>
            <a:ext cx="1521169" cy="1521169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line_67_067"/>
          <p:cNvCxnSpPr/>
          <p:nvPr/>
        </p:nvCxnSpPr>
        <p:spPr>
          <a:xfrm>
            <a:off x="204772" y="7561965"/>
            <a:ext cx="1616242" cy="1616242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line_68_068"/>
          <p:cNvCxnSpPr/>
          <p:nvPr/>
        </p:nvCxnSpPr>
        <p:spPr>
          <a:xfrm>
            <a:off x="204772" y="7466892"/>
            <a:ext cx="1711315" cy="1711315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line_69_069"/>
          <p:cNvCxnSpPr/>
          <p:nvPr/>
        </p:nvCxnSpPr>
        <p:spPr>
          <a:xfrm>
            <a:off x="204772" y="7371819"/>
            <a:ext cx="1806388" cy="1806388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line_70_070"/>
          <p:cNvCxnSpPr/>
          <p:nvPr/>
        </p:nvCxnSpPr>
        <p:spPr>
          <a:xfrm>
            <a:off x="204772" y="7276746"/>
            <a:ext cx="1901462" cy="1901461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line_71_071"/>
          <p:cNvCxnSpPr/>
          <p:nvPr/>
        </p:nvCxnSpPr>
        <p:spPr>
          <a:xfrm>
            <a:off x="204772" y="7181673"/>
            <a:ext cx="1996535" cy="1996534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line_72_072"/>
          <p:cNvCxnSpPr/>
          <p:nvPr/>
        </p:nvCxnSpPr>
        <p:spPr>
          <a:xfrm>
            <a:off x="204772" y="7086599"/>
            <a:ext cx="2091608" cy="2091608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line_73_073"/>
          <p:cNvCxnSpPr/>
          <p:nvPr/>
        </p:nvCxnSpPr>
        <p:spPr>
          <a:xfrm>
            <a:off x="204772" y="6991526"/>
            <a:ext cx="2186681" cy="2186681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line_74_074"/>
          <p:cNvCxnSpPr/>
          <p:nvPr/>
        </p:nvCxnSpPr>
        <p:spPr>
          <a:xfrm>
            <a:off x="204772" y="6896453"/>
            <a:ext cx="2237874" cy="2237874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line_75_075"/>
          <p:cNvCxnSpPr/>
          <p:nvPr/>
        </p:nvCxnSpPr>
        <p:spPr>
          <a:xfrm>
            <a:off x="204772" y="6801380"/>
            <a:ext cx="2237874" cy="2237874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line_76_076"/>
          <p:cNvCxnSpPr/>
          <p:nvPr/>
        </p:nvCxnSpPr>
        <p:spPr>
          <a:xfrm>
            <a:off x="204772" y="6706307"/>
            <a:ext cx="2237874" cy="2237874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line_77_077"/>
          <p:cNvCxnSpPr/>
          <p:nvPr/>
        </p:nvCxnSpPr>
        <p:spPr>
          <a:xfrm>
            <a:off x="204772" y="6611234"/>
            <a:ext cx="2237874" cy="2237874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line_78_078"/>
          <p:cNvCxnSpPr/>
          <p:nvPr/>
        </p:nvCxnSpPr>
        <p:spPr>
          <a:xfrm>
            <a:off x="204772" y="6516161"/>
            <a:ext cx="2237874" cy="2237874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line_79_079"/>
          <p:cNvCxnSpPr/>
          <p:nvPr/>
        </p:nvCxnSpPr>
        <p:spPr>
          <a:xfrm>
            <a:off x="204772" y="6421088"/>
            <a:ext cx="2237874" cy="2237874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line_80_080"/>
          <p:cNvCxnSpPr/>
          <p:nvPr/>
        </p:nvCxnSpPr>
        <p:spPr>
          <a:xfrm>
            <a:off x="204772" y="6326015"/>
            <a:ext cx="2237874" cy="2237874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line_81_081"/>
          <p:cNvCxnSpPr/>
          <p:nvPr/>
        </p:nvCxnSpPr>
        <p:spPr>
          <a:xfrm>
            <a:off x="204772" y="6230942"/>
            <a:ext cx="2237874" cy="2237874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line_82_082"/>
          <p:cNvCxnSpPr/>
          <p:nvPr/>
        </p:nvCxnSpPr>
        <p:spPr>
          <a:xfrm>
            <a:off x="204772" y="6135869"/>
            <a:ext cx="2237874" cy="2237874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line_83_083"/>
          <p:cNvCxnSpPr/>
          <p:nvPr/>
        </p:nvCxnSpPr>
        <p:spPr>
          <a:xfrm>
            <a:off x="204772" y="6040796"/>
            <a:ext cx="2237874" cy="2237873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line_84_084"/>
          <p:cNvCxnSpPr/>
          <p:nvPr/>
        </p:nvCxnSpPr>
        <p:spPr>
          <a:xfrm>
            <a:off x="204772" y="5945723"/>
            <a:ext cx="2237874" cy="2237873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line_85_085"/>
          <p:cNvCxnSpPr/>
          <p:nvPr/>
        </p:nvCxnSpPr>
        <p:spPr>
          <a:xfrm>
            <a:off x="204772" y="5850650"/>
            <a:ext cx="2237874" cy="2237873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line_86_086"/>
          <p:cNvCxnSpPr/>
          <p:nvPr/>
        </p:nvCxnSpPr>
        <p:spPr>
          <a:xfrm>
            <a:off x="204772" y="5755577"/>
            <a:ext cx="2237874" cy="2237873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line_87_087"/>
          <p:cNvCxnSpPr/>
          <p:nvPr/>
        </p:nvCxnSpPr>
        <p:spPr>
          <a:xfrm>
            <a:off x="204772" y="5660504"/>
            <a:ext cx="2237874" cy="2237873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line_88_088"/>
          <p:cNvCxnSpPr/>
          <p:nvPr/>
        </p:nvCxnSpPr>
        <p:spPr>
          <a:xfrm>
            <a:off x="204772" y="5565430"/>
            <a:ext cx="2237874" cy="2237874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line_89_089"/>
          <p:cNvCxnSpPr/>
          <p:nvPr/>
        </p:nvCxnSpPr>
        <p:spPr>
          <a:xfrm>
            <a:off x="204772" y="5470357"/>
            <a:ext cx="2237874" cy="2237874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line_90_090"/>
          <p:cNvCxnSpPr/>
          <p:nvPr/>
        </p:nvCxnSpPr>
        <p:spPr>
          <a:xfrm>
            <a:off x="204772" y="5375284"/>
            <a:ext cx="2237874" cy="2237874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line_91_091"/>
          <p:cNvCxnSpPr/>
          <p:nvPr/>
        </p:nvCxnSpPr>
        <p:spPr>
          <a:xfrm>
            <a:off x="204772" y="5280211"/>
            <a:ext cx="2237874" cy="2237874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line_92_092"/>
          <p:cNvCxnSpPr/>
          <p:nvPr/>
        </p:nvCxnSpPr>
        <p:spPr>
          <a:xfrm>
            <a:off x="204772" y="5185138"/>
            <a:ext cx="2237874" cy="2237874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line_93_093"/>
          <p:cNvCxnSpPr/>
          <p:nvPr/>
        </p:nvCxnSpPr>
        <p:spPr>
          <a:xfrm>
            <a:off x="204772" y="5090065"/>
            <a:ext cx="2237874" cy="2237874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line_94_094"/>
          <p:cNvCxnSpPr/>
          <p:nvPr/>
        </p:nvCxnSpPr>
        <p:spPr>
          <a:xfrm>
            <a:off x="204772" y="4994992"/>
            <a:ext cx="2237874" cy="2237874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line_95_095"/>
          <p:cNvCxnSpPr/>
          <p:nvPr/>
        </p:nvCxnSpPr>
        <p:spPr>
          <a:xfrm>
            <a:off x="204772" y="4899919"/>
            <a:ext cx="2237874" cy="2237874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line_96_096"/>
          <p:cNvCxnSpPr/>
          <p:nvPr/>
        </p:nvCxnSpPr>
        <p:spPr>
          <a:xfrm>
            <a:off x="204772" y="4804846"/>
            <a:ext cx="2237874" cy="2237874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line_97_097"/>
          <p:cNvCxnSpPr/>
          <p:nvPr/>
        </p:nvCxnSpPr>
        <p:spPr>
          <a:xfrm>
            <a:off x="204772" y="4709773"/>
            <a:ext cx="2237874" cy="2237874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line_98_098"/>
          <p:cNvCxnSpPr/>
          <p:nvPr/>
        </p:nvCxnSpPr>
        <p:spPr>
          <a:xfrm>
            <a:off x="204772" y="4614700"/>
            <a:ext cx="2237874" cy="2237873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line_99_099"/>
          <p:cNvCxnSpPr/>
          <p:nvPr/>
        </p:nvCxnSpPr>
        <p:spPr>
          <a:xfrm>
            <a:off x="204772" y="4519627"/>
            <a:ext cx="2237874" cy="2237873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line_100_100"/>
          <p:cNvCxnSpPr/>
          <p:nvPr/>
        </p:nvCxnSpPr>
        <p:spPr>
          <a:xfrm>
            <a:off x="204772" y="4424554"/>
            <a:ext cx="2237874" cy="2237873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line_101_101"/>
          <p:cNvCxnSpPr/>
          <p:nvPr/>
        </p:nvCxnSpPr>
        <p:spPr>
          <a:xfrm>
            <a:off x="219399" y="4344107"/>
            <a:ext cx="2223247" cy="2223247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line_102_102"/>
          <p:cNvCxnSpPr/>
          <p:nvPr/>
        </p:nvCxnSpPr>
        <p:spPr>
          <a:xfrm>
            <a:off x="314472" y="4344107"/>
            <a:ext cx="2128174" cy="2128174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line_103_103"/>
          <p:cNvCxnSpPr/>
          <p:nvPr/>
        </p:nvCxnSpPr>
        <p:spPr>
          <a:xfrm>
            <a:off x="409545" y="4344107"/>
            <a:ext cx="2033101" cy="2033101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line_104_104"/>
          <p:cNvCxnSpPr/>
          <p:nvPr/>
        </p:nvCxnSpPr>
        <p:spPr>
          <a:xfrm>
            <a:off x="504618" y="4344107"/>
            <a:ext cx="1938028" cy="1938028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line_105_105"/>
          <p:cNvCxnSpPr/>
          <p:nvPr/>
        </p:nvCxnSpPr>
        <p:spPr>
          <a:xfrm>
            <a:off x="599691" y="4344107"/>
            <a:ext cx="1842955" cy="1842955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line_106_106"/>
          <p:cNvCxnSpPr/>
          <p:nvPr/>
        </p:nvCxnSpPr>
        <p:spPr>
          <a:xfrm>
            <a:off x="694764" y="4344107"/>
            <a:ext cx="1747882" cy="1747882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line_107_107"/>
          <p:cNvCxnSpPr/>
          <p:nvPr/>
        </p:nvCxnSpPr>
        <p:spPr>
          <a:xfrm>
            <a:off x="789837" y="4344107"/>
            <a:ext cx="1652809" cy="1652809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line_108_108"/>
          <p:cNvCxnSpPr/>
          <p:nvPr/>
        </p:nvCxnSpPr>
        <p:spPr>
          <a:xfrm>
            <a:off x="884910" y="4344107"/>
            <a:ext cx="1557736" cy="1557736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line_109_109"/>
          <p:cNvCxnSpPr/>
          <p:nvPr/>
        </p:nvCxnSpPr>
        <p:spPr>
          <a:xfrm>
            <a:off x="979983" y="4344107"/>
            <a:ext cx="1462663" cy="1462663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line_110_110"/>
          <p:cNvCxnSpPr/>
          <p:nvPr/>
        </p:nvCxnSpPr>
        <p:spPr>
          <a:xfrm>
            <a:off x="1075056" y="4344107"/>
            <a:ext cx="1367590" cy="1367590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line_111_111"/>
          <p:cNvCxnSpPr/>
          <p:nvPr/>
        </p:nvCxnSpPr>
        <p:spPr>
          <a:xfrm>
            <a:off x="1170130" y="4344107"/>
            <a:ext cx="1272516" cy="1272517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line_112_112"/>
          <p:cNvCxnSpPr/>
          <p:nvPr/>
        </p:nvCxnSpPr>
        <p:spPr>
          <a:xfrm>
            <a:off x="1265203" y="4344107"/>
            <a:ext cx="1177443" cy="1177444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line_113_113"/>
          <p:cNvCxnSpPr/>
          <p:nvPr/>
        </p:nvCxnSpPr>
        <p:spPr>
          <a:xfrm>
            <a:off x="1360276" y="4344107"/>
            <a:ext cx="1082370" cy="1082371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line_114_114"/>
          <p:cNvCxnSpPr/>
          <p:nvPr/>
        </p:nvCxnSpPr>
        <p:spPr>
          <a:xfrm>
            <a:off x="1455349" y="4344107"/>
            <a:ext cx="987297" cy="987297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line_115_115"/>
          <p:cNvCxnSpPr/>
          <p:nvPr/>
        </p:nvCxnSpPr>
        <p:spPr>
          <a:xfrm>
            <a:off x="1550422" y="4344107"/>
            <a:ext cx="892224" cy="892224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line_116_116"/>
          <p:cNvCxnSpPr/>
          <p:nvPr/>
        </p:nvCxnSpPr>
        <p:spPr>
          <a:xfrm>
            <a:off x="1645495" y="4344107"/>
            <a:ext cx="797151" cy="797151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line_117_117"/>
          <p:cNvCxnSpPr/>
          <p:nvPr/>
        </p:nvCxnSpPr>
        <p:spPr>
          <a:xfrm>
            <a:off x="1740568" y="4344107"/>
            <a:ext cx="702078" cy="702078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line_118_118"/>
          <p:cNvCxnSpPr/>
          <p:nvPr/>
        </p:nvCxnSpPr>
        <p:spPr>
          <a:xfrm>
            <a:off x="1835641" y="4344107"/>
            <a:ext cx="607005" cy="607005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line_119_119"/>
          <p:cNvCxnSpPr/>
          <p:nvPr/>
        </p:nvCxnSpPr>
        <p:spPr>
          <a:xfrm>
            <a:off x="1930714" y="4344107"/>
            <a:ext cx="511932" cy="511932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line_120_120"/>
          <p:cNvCxnSpPr/>
          <p:nvPr/>
        </p:nvCxnSpPr>
        <p:spPr>
          <a:xfrm>
            <a:off x="2025787" y="4344107"/>
            <a:ext cx="416859" cy="416859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line_121_121"/>
          <p:cNvCxnSpPr/>
          <p:nvPr/>
        </p:nvCxnSpPr>
        <p:spPr>
          <a:xfrm>
            <a:off x="2120860" y="4344107"/>
            <a:ext cx="321786" cy="321786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line_122_122"/>
          <p:cNvCxnSpPr/>
          <p:nvPr/>
        </p:nvCxnSpPr>
        <p:spPr>
          <a:xfrm>
            <a:off x="2215933" y="4344107"/>
            <a:ext cx="226713" cy="226713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line_123_123"/>
          <p:cNvCxnSpPr/>
          <p:nvPr/>
        </p:nvCxnSpPr>
        <p:spPr>
          <a:xfrm>
            <a:off x="2311006" y="4344107"/>
            <a:ext cx="131640" cy="131640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line_124_124"/>
          <p:cNvCxnSpPr/>
          <p:nvPr/>
        </p:nvCxnSpPr>
        <p:spPr>
          <a:xfrm>
            <a:off x="2406079" y="4344107"/>
            <a:ext cx="36567" cy="36567"/>
          </a:xfrm>
          <a:prstGeom prst="line">
            <a:avLst/>
          </a:prstGeom>
          <a:ln w="14626">
            <a:solidFill>
              <a:srgbClr val="D9EA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_125_125"/>
          <p:cNvSpPr/>
          <p:nvPr/>
        </p:nvSpPr>
        <p:spPr>
          <a:xfrm>
            <a:off x="138952" y="4278287"/>
            <a:ext cx="2369513" cy="4965739"/>
          </a:xfrm>
          <a:prstGeom prst="roundRect">
            <a:avLst/>
          </a:prstGeom>
          <a:noFill/>
          <a:ln w="29253">
            <a:solidFill>
              <a:srgbClr val="A7AAA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request_input_bus_126"/>
          <p:cNvCxnSpPr/>
          <p:nvPr/>
        </p:nvCxnSpPr>
        <p:spPr>
          <a:xfrm>
            <a:off x="73133" y="716704"/>
            <a:ext cx="13975740" cy="0"/>
          </a:xfrm>
          <a:prstGeom prst="line">
            <a:avLst/>
          </a:prstGeom>
          <a:ln w="14626">
            <a:solidFill>
              <a:srgbClr val="47A1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video_to_perception_127_segment_1"/>
          <p:cNvCxnSpPr/>
          <p:nvPr/>
        </p:nvCxnSpPr>
        <p:spPr>
          <a:xfrm>
            <a:off x="2574286" y="1674748"/>
            <a:ext cx="0" cy="329099"/>
          </a:xfrm>
          <a:prstGeom prst="line">
            <a:avLst/>
          </a:prstGeom>
          <a:ln w="21939">
            <a:solidFill>
              <a:srgbClr val="47A1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video_to_perception_127_segment_2"/>
          <p:cNvCxnSpPr/>
          <p:nvPr/>
        </p:nvCxnSpPr>
        <p:spPr>
          <a:xfrm>
            <a:off x="2574286" y="2003847"/>
            <a:ext cx="190146" cy="0"/>
          </a:xfrm>
          <a:prstGeom prst="line">
            <a:avLst/>
          </a:prstGeom>
          <a:ln w="21939">
            <a:solidFill>
              <a:srgbClr val="47A1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perception_to_planning_128"/>
          <p:cNvCxnSpPr/>
          <p:nvPr/>
        </p:nvCxnSpPr>
        <p:spPr>
          <a:xfrm>
            <a:off x="3876055" y="2018474"/>
            <a:ext cx="936104" cy="0"/>
          </a:xfrm>
          <a:prstGeom prst="line">
            <a:avLst/>
          </a:prstGeom>
          <a:ln w="21939">
            <a:solidFill>
              <a:srgbClr val="47A1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result1_to_short_memory_129_segment_1"/>
          <p:cNvCxnSpPr/>
          <p:nvPr/>
        </p:nvCxnSpPr>
        <p:spPr>
          <a:xfrm>
            <a:off x="12410691" y="3824862"/>
            <a:ext cx="0" cy="197459"/>
          </a:xfrm>
          <a:prstGeom prst="line">
            <a:avLst/>
          </a:prstGeom>
          <a:ln w="29253">
            <a:solidFill>
              <a:srgbClr val="F47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result1_to_short_memory_129_segment_2"/>
          <p:cNvCxnSpPr/>
          <p:nvPr/>
        </p:nvCxnSpPr>
        <p:spPr>
          <a:xfrm flipH="1">
            <a:off x="11006535" y="4022321"/>
            <a:ext cx="1404156" cy="0"/>
          </a:xfrm>
          <a:prstGeom prst="line">
            <a:avLst/>
          </a:prstGeom>
          <a:ln w="29253">
            <a:solidFill>
              <a:srgbClr val="F47A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hort_memory_to_reflection1_130_segment_1"/>
          <p:cNvCxnSpPr/>
          <p:nvPr/>
        </p:nvCxnSpPr>
        <p:spPr>
          <a:xfrm flipH="1">
            <a:off x="4234408" y="4022321"/>
            <a:ext cx="5931096" cy="0"/>
          </a:xfrm>
          <a:prstGeom prst="line">
            <a:avLst/>
          </a:prstGeom>
          <a:ln w="29253">
            <a:solidFill>
              <a:srgbClr val="F47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hort_memory_to_reflection1_130_segment_2"/>
          <p:cNvCxnSpPr/>
          <p:nvPr/>
        </p:nvCxnSpPr>
        <p:spPr>
          <a:xfrm>
            <a:off x="4234408" y="4022321"/>
            <a:ext cx="0" cy="146267"/>
          </a:xfrm>
          <a:prstGeom prst="line">
            <a:avLst/>
          </a:prstGeom>
          <a:ln w="29253">
            <a:solidFill>
              <a:srgbClr val="F47A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result2_to_long_memory_131_segment_1"/>
          <p:cNvCxnSpPr/>
          <p:nvPr/>
        </p:nvCxnSpPr>
        <p:spPr>
          <a:xfrm>
            <a:off x="12410691" y="6421088"/>
            <a:ext cx="0" cy="248653"/>
          </a:xfrm>
          <a:prstGeom prst="line">
            <a:avLst/>
          </a:prstGeom>
          <a:ln w="29253">
            <a:solidFill>
              <a:srgbClr val="F47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result2_to_long_memory_131_segment_2"/>
          <p:cNvCxnSpPr/>
          <p:nvPr/>
        </p:nvCxnSpPr>
        <p:spPr>
          <a:xfrm flipH="1">
            <a:off x="11006535" y="6669741"/>
            <a:ext cx="1404156" cy="0"/>
          </a:xfrm>
          <a:prstGeom prst="line">
            <a:avLst/>
          </a:prstGeom>
          <a:ln w="29253">
            <a:solidFill>
              <a:srgbClr val="F47A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long_memory_to_reflection2_132_segment_1"/>
          <p:cNvCxnSpPr/>
          <p:nvPr/>
        </p:nvCxnSpPr>
        <p:spPr>
          <a:xfrm flipH="1">
            <a:off x="4234408" y="6669741"/>
            <a:ext cx="5931096" cy="0"/>
          </a:xfrm>
          <a:prstGeom prst="line">
            <a:avLst/>
          </a:prstGeom>
          <a:ln w="29253">
            <a:solidFill>
              <a:srgbClr val="F47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long_memory_to_reflection2_132_segment_2"/>
          <p:cNvCxnSpPr/>
          <p:nvPr/>
        </p:nvCxnSpPr>
        <p:spPr>
          <a:xfrm>
            <a:off x="4234408" y="6669741"/>
            <a:ext cx="0" cy="117013"/>
          </a:xfrm>
          <a:prstGeom prst="line">
            <a:avLst/>
          </a:prstGeom>
          <a:ln w="29253">
            <a:solidFill>
              <a:srgbClr val="F47A2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orange_block_arrow_133"/>
          <p:cNvSpPr/>
          <p:nvPr/>
        </p:nvSpPr>
        <p:spPr>
          <a:xfrm>
            <a:off x="2486526" y="2844878"/>
            <a:ext cx="292520" cy="255955"/>
          </a:xfrm>
          <a:custGeom>
            <a:avLst/>
            <a:gdLst/>
            <a:ahLst/>
            <a:cxnLst/>
            <a:rect l="l" t="t" r="r" b="b"/>
            <a:pathLst>
              <a:path w="40" h="35">
                <a:moveTo>
                  <a:pt x="0" y="8"/>
                </a:moveTo>
                <a:lnTo>
                  <a:pt x="22" y="8"/>
                </a:lnTo>
                <a:lnTo>
                  <a:pt x="22" y="0"/>
                </a:lnTo>
                <a:lnTo>
                  <a:pt x="40" y="18"/>
                </a:lnTo>
                <a:lnTo>
                  <a:pt x="22" y="35"/>
                </a:lnTo>
                <a:lnTo>
                  <a:pt x="22" y="27"/>
                </a:lnTo>
                <a:lnTo>
                  <a:pt x="0" y="27"/>
                </a:lnTo>
                <a:close/>
              </a:path>
            </a:pathLst>
          </a:custGeom>
          <a:solidFill>
            <a:srgbClr val="F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range_block_arrow_134"/>
          <p:cNvSpPr/>
          <p:nvPr/>
        </p:nvSpPr>
        <p:spPr>
          <a:xfrm>
            <a:off x="10509230" y="2859505"/>
            <a:ext cx="226703" cy="248642"/>
          </a:xfrm>
          <a:custGeom>
            <a:avLst/>
            <a:gdLst/>
            <a:ahLst/>
            <a:cxnLst/>
            <a:rect l="l" t="t" r="r" b="b"/>
            <a:pathLst>
              <a:path w="31" h="34">
                <a:moveTo>
                  <a:pt x="0" y="8"/>
                </a:moveTo>
                <a:lnTo>
                  <a:pt x="17" y="8"/>
                </a:lnTo>
                <a:lnTo>
                  <a:pt x="17" y="0"/>
                </a:lnTo>
                <a:lnTo>
                  <a:pt x="31" y="17"/>
                </a:lnTo>
                <a:lnTo>
                  <a:pt x="17" y="34"/>
                </a:lnTo>
                <a:lnTo>
                  <a:pt x="17" y="26"/>
                </a:lnTo>
                <a:lnTo>
                  <a:pt x="0" y="26"/>
                </a:lnTo>
                <a:close/>
              </a:path>
            </a:pathLst>
          </a:custGeom>
          <a:solidFill>
            <a:srgbClr val="F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range_block_arrow_135"/>
          <p:cNvSpPr/>
          <p:nvPr/>
        </p:nvSpPr>
        <p:spPr>
          <a:xfrm>
            <a:off x="2486526" y="5294838"/>
            <a:ext cx="292520" cy="255955"/>
          </a:xfrm>
          <a:custGeom>
            <a:avLst/>
            <a:gdLst/>
            <a:ahLst/>
            <a:cxnLst/>
            <a:rect l="l" t="t" r="r" b="b"/>
            <a:pathLst>
              <a:path w="40" h="35">
                <a:moveTo>
                  <a:pt x="0" y="8"/>
                </a:moveTo>
                <a:lnTo>
                  <a:pt x="22" y="8"/>
                </a:lnTo>
                <a:lnTo>
                  <a:pt x="22" y="0"/>
                </a:lnTo>
                <a:lnTo>
                  <a:pt x="40" y="18"/>
                </a:lnTo>
                <a:lnTo>
                  <a:pt x="22" y="35"/>
                </a:lnTo>
                <a:lnTo>
                  <a:pt x="22" y="27"/>
                </a:lnTo>
                <a:lnTo>
                  <a:pt x="0" y="27"/>
                </a:lnTo>
                <a:close/>
              </a:path>
            </a:pathLst>
          </a:custGeom>
          <a:solidFill>
            <a:srgbClr val="F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range_block_arrow_136"/>
          <p:cNvSpPr/>
          <p:nvPr/>
        </p:nvSpPr>
        <p:spPr>
          <a:xfrm>
            <a:off x="10509230" y="5302151"/>
            <a:ext cx="226703" cy="248642"/>
          </a:xfrm>
          <a:custGeom>
            <a:avLst/>
            <a:gdLst/>
            <a:ahLst/>
            <a:cxnLst/>
            <a:rect l="l" t="t" r="r" b="b"/>
            <a:pathLst>
              <a:path w="31" h="34">
                <a:moveTo>
                  <a:pt x="0" y="8"/>
                </a:moveTo>
                <a:lnTo>
                  <a:pt x="17" y="8"/>
                </a:lnTo>
                <a:lnTo>
                  <a:pt x="17" y="0"/>
                </a:lnTo>
                <a:lnTo>
                  <a:pt x="31" y="17"/>
                </a:lnTo>
                <a:lnTo>
                  <a:pt x="17" y="34"/>
                </a:lnTo>
                <a:lnTo>
                  <a:pt x="17" y="26"/>
                </a:lnTo>
                <a:lnTo>
                  <a:pt x="0" y="26"/>
                </a:lnTo>
                <a:close/>
              </a:path>
            </a:pathLst>
          </a:custGeom>
          <a:solidFill>
            <a:srgbClr val="F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range_block_arrow_137"/>
          <p:cNvSpPr/>
          <p:nvPr/>
        </p:nvSpPr>
        <p:spPr>
          <a:xfrm>
            <a:off x="2486526" y="7927630"/>
            <a:ext cx="292520" cy="255955"/>
          </a:xfrm>
          <a:custGeom>
            <a:avLst/>
            <a:gdLst/>
            <a:ahLst/>
            <a:cxnLst/>
            <a:rect l="l" t="t" r="r" b="b"/>
            <a:pathLst>
              <a:path w="40" h="35">
                <a:moveTo>
                  <a:pt x="0" y="8"/>
                </a:moveTo>
                <a:lnTo>
                  <a:pt x="22" y="8"/>
                </a:lnTo>
                <a:lnTo>
                  <a:pt x="22" y="0"/>
                </a:lnTo>
                <a:lnTo>
                  <a:pt x="40" y="18"/>
                </a:lnTo>
                <a:lnTo>
                  <a:pt x="22" y="35"/>
                </a:lnTo>
                <a:lnTo>
                  <a:pt x="22" y="27"/>
                </a:lnTo>
                <a:lnTo>
                  <a:pt x="0" y="27"/>
                </a:lnTo>
                <a:close/>
              </a:path>
            </a:pathLst>
          </a:custGeom>
          <a:solidFill>
            <a:srgbClr val="F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range_block_arrow_138"/>
          <p:cNvSpPr/>
          <p:nvPr/>
        </p:nvSpPr>
        <p:spPr>
          <a:xfrm>
            <a:off x="10509230" y="7934944"/>
            <a:ext cx="226703" cy="248642"/>
          </a:xfrm>
          <a:custGeom>
            <a:avLst/>
            <a:gdLst/>
            <a:ahLst/>
            <a:cxnLst/>
            <a:rect l="l" t="t" r="r" b="b"/>
            <a:pathLst>
              <a:path w="31" h="34">
                <a:moveTo>
                  <a:pt x="0" y="8"/>
                </a:moveTo>
                <a:lnTo>
                  <a:pt x="17" y="8"/>
                </a:lnTo>
                <a:lnTo>
                  <a:pt x="17" y="0"/>
                </a:lnTo>
                <a:lnTo>
                  <a:pt x="31" y="17"/>
                </a:lnTo>
                <a:lnTo>
                  <a:pt x="17" y="34"/>
                </a:lnTo>
                <a:lnTo>
                  <a:pt x="17" y="26"/>
                </a:lnTo>
                <a:lnTo>
                  <a:pt x="0" y="26"/>
                </a:lnTo>
                <a:close/>
              </a:path>
            </a:pathLst>
          </a:custGeom>
          <a:solidFill>
            <a:srgbClr val="F4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quest_bubble_tail_139"/>
          <p:cNvSpPr/>
          <p:nvPr/>
        </p:nvSpPr>
        <p:spPr>
          <a:xfrm>
            <a:off x="1799074" y="212086"/>
            <a:ext cx="292520" cy="175512"/>
          </a:xfrm>
          <a:custGeom>
            <a:avLst/>
            <a:gdLst/>
            <a:ahLst/>
            <a:cxnLst/>
            <a:rect l="l" t="t" r="r" b="b"/>
            <a:pathLst>
              <a:path w="40" h="24">
                <a:moveTo>
                  <a:pt x="40" y="0"/>
                </a:moveTo>
                <a:lnTo>
                  <a:pt x="0" y="11"/>
                </a:lnTo>
                <a:lnTo>
                  <a:pt x="40" y="24"/>
                </a:lnTo>
                <a:close/>
              </a:path>
            </a:pathLst>
          </a:custGeom>
          <a:solidFill>
            <a:srgbClr val="DDE9F4"/>
          </a:solidFill>
          <a:ln w="12432">
            <a:solidFill>
              <a:srgbClr val="287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quest_bubble_140"/>
          <p:cNvSpPr/>
          <p:nvPr/>
        </p:nvSpPr>
        <p:spPr>
          <a:xfrm>
            <a:off x="2084294" y="131639"/>
            <a:ext cx="9872972" cy="482678"/>
          </a:xfrm>
          <a:prstGeom prst="roundRect">
            <a:avLst/>
          </a:prstGeom>
          <a:solidFill>
            <a:srgbClr val="DDE9F4"/>
          </a:solidFill>
          <a:ln w="12432">
            <a:solidFill>
              <a:srgbClr val="287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7" name="requester_avatar_141" descr="ava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902" y="36566"/>
            <a:ext cx="468052" cy="680138"/>
          </a:xfrm>
          <a:prstGeom prst="rect">
            <a:avLst/>
          </a:prstGeom>
        </p:spPr>
      </p:pic>
      <p:sp>
        <p:nvSpPr>
          <p:cNvPr id="148" name="request_text_142"/>
          <p:cNvSpPr txBox="1"/>
          <p:nvPr/>
        </p:nvSpPr>
        <p:spPr>
          <a:xfrm>
            <a:off x="2215933" y="182832"/>
            <a:ext cx="9580439" cy="3949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111111"/>
                </a:solidFill>
                <a:latin typeface="Liberation Sans"/>
              </a:rPr>
              <a:t>Please help me detect the following types of abnormal events: Abuse, Arrest, Arson, Assault, Burglary, Explosion, Fighting, Road Accidents,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111111"/>
                </a:solidFill>
                <a:latin typeface="Liberation Sans"/>
              </a:rPr>
              <a:t>Robbery, Shooting, Shoplifting, Stealing, Vandalism.</a:t>
            </a:r>
          </a:p>
        </p:txBody>
      </p:sp>
      <p:sp>
        <p:nvSpPr>
          <p:cNvPr id="149" name="ellipse_143_143"/>
          <p:cNvSpPr/>
          <p:nvPr/>
        </p:nvSpPr>
        <p:spPr>
          <a:xfrm>
            <a:off x="329099" y="928790"/>
            <a:ext cx="117013" cy="117013"/>
          </a:xfrm>
          <a:prstGeom prst="ellipse">
            <a:avLst/>
          </a:prstGeom>
          <a:solidFill>
            <a:srgbClr val="59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ellipse_144_144"/>
          <p:cNvSpPr/>
          <p:nvPr/>
        </p:nvSpPr>
        <p:spPr>
          <a:xfrm>
            <a:off x="446112" y="892224"/>
            <a:ext cx="197459" cy="197459"/>
          </a:xfrm>
          <a:prstGeom prst="ellipse">
            <a:avLst/>
          </a:prstGeom>
          <a:solidFill>
            <a:srgbClr val="59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ellipse_145_145"/>
          <p:cNvSpPr/>
          <p:nvPr/>
        </p:nvSpPr>
        <p:spPr>
          <a:xfrm>
            <a:off x="497305" y="943417"/>
            <a:ext cx="36566" cy="36566"/>
          </a:xfrm>
          <a:prstGeom prst="ellipse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ellipse_146_146"/>
          <p:cNvSpPr/>
          <p:nvPr/>
        </p:nvSpPr>
        <p:spPr>
          <a:xfrm>
            <a:off x="555811" y="1001923"/>
            <a:ext cx="36566" cy="36566"/>
          </a:xfrm>
          <a:prstGeom prst="ellipse">
            <a:avLst/>
          </a:prstGeom>
          <a:solidFill>
            <a:srgbClr val="DCE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_147_147"/>
          <p:cNvSpPr/>
          <p:nvPr/>
        </p:nvSpPr>
        <p:spPr>
          <a:xfrm>
            <a:off x="277905" y="1104310"/>
            <a:ext cx="526558" cy="329099"/>
          </a:xfrm>
          <a:prstGeom prst="roundRect">
            <a:avLst/>
          </a:prstGeom>
          <a:solidFill>
            <a:srgbClr val="AE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_148_148"/>
          <p:cNvSpPr/>
          <p:nvPr/>
        </p:nvSpPr>
        <p:spPr>
          <a:xfrm>
            <a:off x="329099" y="1155503"/>
            <a:ext cx="292532" cy="65819"/>
          </a:xfrm>
          <a:prstGeom prst="rect">
            <a:avLst/>
          </a:prstGeom>
          <a:solidFill>
            <a:srgbClr val="DDE5EC"/>
          </a:solidFill>
          <a:ln w="7313">
            <a:solidFill>
              <a:srgbClr val="78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_149_149"/>
          <p:cNvSpPr/>
          <p:nvPr/>
        </p:nvSpPr>
        <p:spPr>
          <a:xfrm>
            <a:off x="329099" y="1250576"/>
            <a:ext cx="292532" cy="131639"/>
          </a:xfrm>
          <a:prstGeom prst="rect">
            <a:avLst/>
          </a:prstGeom>
          <a:solidFill>
            <a:srgbClr val="D7E3ED"/>
          </a:solidFill>
          <a:ln w="7313">
            <a:solidFill>
              <a:srgbClr val="788A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polygon_150_150"/>
          <p:cNvSpPr/>
          <p:nvPr/>
        </p:nvSpPr>
        <p:spPr>
          <a:xfrm>
            <a:off x="804464" y="1096996"/>
            <a:ext cx="146260" cy="321772"/>
          </a:xfrm>
          <a:custGeom>
            <a:avLst/>
            <a:gdLst/>
            <a:ahLst/>
            <a:cxnLst/>
            <a:rect l="l" t="t" r="r" b="b"/>
            <a:pathLst>
              <a:path w="20" h="44">
                <a:moveTo>
                  <a:pt x="0" y="8"/>
                </a:moveTo>
                <a:lnTo>
                  <a:pt x="20" y="0"/>
                </a:lnTo>
                <a:lnTo>
                  <a:pt x="20" y="44"/>
                </a:lnTo>
                <a:lnTo>
                  <a:pt x="0" y="36"/>
                </a:lnTo>
                <a:close/>
              </a:path>
            </a:pathLst>
          </a:custGeom>
          <a:solidFill>
            <a:srgbClr val="5962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ellipse_151_151"/>
          <p:cNvSpPr/>
          <p:nvPr/>
        </p:nvSpPr>
        <p:spPr>
          <a:xfrm>
            <a:off x="672824" y="1148190"/>
            <a:ext cx="58506" cy="58506"/>
          </a:xfrm>
          <a:prstGeom prst="ellipse">
            <a:avLst/>
          </a:prstGeom>
          <a:solidFill>
            <a:srgbClr val="E7E0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ellipse_152_152"/>
          <p:cNvSpPr/>
          <p:nvPr/>
        </p:nvSpPr>
        <p:spPr>
          <a:xfrm>
            <a:off x="672824" y="1235949"/>
            <a:ext cx="58506" cy="58506"/>
          </a:xfrm>
          <a:prstGeom prst="ellipse">
            <a:avLst/>
          </a:prstGeom>
          <a:solidFill>
            <a:srgbClr val="F16B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ellipse_153_153"/>
          <p:cNvSpPr/>
          <p:nvPr/>
        </p:nvSpPr>
        <p:spPr>
          <a:xfrm>
            <a:off x="672824" y="1323709"/>
            <a:ext cx="58506" cy="58506"/>
          </a:xfrm>
          <a:prstGeom prst="ellipse">
            <a:avLst/>
          </a:prstGeom>
          <a:solidFill>
            <a:srgbClr val="63B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_154_154"/>
          <p:cNvSpPr txBox="1"/>
          <p:nvPr/>
        </p:nvSpPr>
        <p:spPr>
          <a:xfrm>
            <a:off x="1031177" y="1140876"/>
            <a:ext cx="219399" cy="2193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6" b="0" i="0">
                <a:solidFill>
                  <a:srgbClr val="111111"/>
                </a:solidFill>
                <a:latin typeface="Liberation Sans"/>
              </a:rPr>
              <a:t>...</a:t>
            </a:r>
          </a:p>
        </p:txBody>
      </p:sp>
      <p:sp>
        <p:nvSpPr>
          <p:cNvPr id="161" name="rect_155_155"/>
          <p:cNvSpPr/>
          <p:nvPr/>
        </p:nvSpPr>
        <p:spPr>
          <a:xfrm>
            <a:off x="1272516" y="789837"/>
            <a:ext cx="12644717" cy="892224"/>
          </a:xfrm>
          <a:prstGeom prst="roundRect">
            <a:avLst/>
          </a:prstGeom>
          <a:solidFill>
            <a:srgbClr val="111111"/>
          </a:solidFill>
          <a:ln w="7313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_156_156"/>
          <p:cNvSpPr/>
          <p:nvPr/>
        </p:nvSpPr>
        <p:spPr>
          <a:xfrm>
            <a:off x="1323709" y="921477"/>
            <a:ext cx="12542331" cy="63625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3" name="video_frame_01_157" descr="frame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4902" y="921477"/>
            <a:ext cx="1140876" cy="636258"/>
          </a:xfrm>
          <a:prstGeom prst="rect">
            <a:avLst/>
          </a:prstGeom>
        </p:spPr>
      </p:pic>
      <p:sp>
        <p:nvSpPr>
          <p:cNvPr id="164" name="rect_158_158"/>
          <p:cNvSpPr/>
          <p:nvPr/>
        </p:nvSpPr>
        <p:spPr>
          <a:xfrm>
            <a:off x="2515779" y="921477"/>
            <a:ext cx="95073" cy="63625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5" name="video_frame_02_159" descr="frame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0852" y="921477"/>
            <a:ext cx="1155503" cy="636258"/>
          </a:xfrm>
          <a:prstGeom prst="rect">
            <a:avLst/>
          </a:prstGeom>
        </p:spPr>
      </p:pic>
      <p:sp>
        <p:nvSpPr>
          <p:cNvPr id="166" name="rect_160_160"/>
          <p:cNvSpPr/>
          <p:nvPr/>
        </p:nvSpPr>
        <p:spPr>
          <a:xfrm>
            <a:off x="3766356" y="921477"/>
            <a:ext cx="95073" cy="63625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7" name="video_frame_03_161" descr="frame_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1429" y="921477"/>
            <a:ext cx="1155503" cy="636258"/>
          </a:xfrm>
          <a:prstGeom prst="rect">
            <a:avLst/>
          </a:prstGeom>
        </p:spPr>
      </p:pic>
      <p:sp>
        <p:nvSpPr>
          <p:cNvPr id="168" name="rect_162_162"/>
          <p:cNvSpPr/>
          <p:nvPr/>
        </p:nvSpPr>
        <p:spPr>
          <a:xfrm>
            <a:off x="5016932" y="921477"/>
            <a:ext cx="95073" cy="63625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9" name="video_frame_04_163" descr="frame_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2005" y="921477"/>
            <a:ext cx="1162816" cy="636258"/>
          </a:xfrm>
          <a:prstGeom prst="rect">
            <a:avLst/>
          </a:prstGeom>
        </p:spPr>
      </p:pic>
      <p:sp>
        <p:nvSpPr>
          <p:cNvPr id="170" name="rect_164_164"/>
          <p:cNvSpPr/>
          <p:nvPr/>
        </p:nvSpPr>
        <p:spPr>
          <a:xfrm>
            <a:off x="6274822" y="921477"/>
            <a:ext cx="95073" cy="63625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1" name="video_frame_05_165" descr="frame_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62582" y="921477"/>
            <a:ext cx="1170130" cy="636258"/>
          </a:xfrm>
          <a:prstGeom prst="rect">
            <a:avLst/>
          </a:prstGeom>
        </p:spPr>
      </p:pic>
      <p:sp>
        <p:nvSpPr>
          <p:cNvPr id="172" name="rect_166_166"/>
          <p:cNvSpPr/>
          <p:nvPr/>
        </p:nvSpPr>
        <p:spPr>
          <a:xfrm>
            <a:off x="7532712" y="921477"/>
            <a:ext cx="95073" cy="63625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3" name="video_frame_06_167" descr="frame_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13158" y="921477"/>
            <a:ext cx="1170130" cy="636258"/>
          </a:xfrm>
          <a:prstGeom prst="rect">
            <a:avLst/>
          </a:prstGeom>
        </p:spPr>
      </p:pic>
      <p:sp>
        <p:nvSpPr>
          <p:cNvPr id="174" name="rect_168_168"/>
          <p:cNvSpPr/>
          <p:nvPr/>
        </p:nvSpPr>
        <p:spPr>
          <a:xfrm>
            <a:off x="8783288" y="921477"/>
            <a:ext cx="95073" cy="63625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5" name="video_frame_07_169" descr="frame_0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71048" y="921477"/>
            <a:ext cx="1162816" cy="636258"/>
          </a:xfrm>
          <a:prstGeom prst="rect">
            <a:avLst/>
          </a:prstGeom>
        </p:spPr>
      </p:pic>
      <p:sp>
        <p:nvSpPr>
          <p:cNvPr id="176" name="rect_170_170"/>
          <p:cNvSpPr/>
          <p:nvPr/>
        </p:nvSpPr>
        <p:spPr>
          <a:xfrm>
            <a:off x="10033865" y="921477"/>
            <a:ext cx="95073" cy="63625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7" name="video_frame_08_171" descr="frame_0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21624" y="921477"/>
            <a:ext cx="1170130" cy="636258"/>
          </a:xfrm>
          <a:prstGeom prst="rect">
            <a:avLst/>
          </a:prstGeom>
        </p:spPr>
      </p:pic>
      <p:sp>
        <p:nvSpPr>
          <p:cNvPr id="178" name="rect_172_172"/>
          <p:cNvSpPr/>
          <p:nvPr/>
        </p:nvSpPr>
        <p:spPr>
          <a:xfrm>
            <a:off x="11291754" y="921477"/>
            <a:ext cx="95073" cy="63625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9" name="video_frame_09_173" descr="frame_0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72201" y="921477"/>
            <a:ext cx="1177443" cy="636258"/>
          </a:xfrm>
          <a:prstGeom prst="rect">
            <a:avLst/>
          </a:prstGeom>
        </p:spPr>
      </p:pic>
      <p:sp>
        <p:nvSpPr>
          <p:cNvPr id="180" name="rect_174_174"/>
          <p:cNvSpPr/>
          <p:nvPr/>
        </p:nvSpPr>
        <p:spPr>
          <a:xfrm>
            <a:off x="12549644" y="921477"/>
            <a:ext cx="95073" cy="636258"/>
          </a:xfrm>
          <a:prstGeom prst="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1" name="video_frame_10_175" descr="frame_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630091" y="921477"/>
            <a:ext cx="1184756" cy="636258"/>
          </a:xfrm>
          <a:prstGeom prst="rect">
            <a:avLst/>
          </a:prstGeom>
        </p:spPr>
      </p:pic>
      <p:sp>
        <p:nvSpPr>
          <p:cNvPr id="182" name="rect_176_176"/>
          <p:cNvSpPr/>
          <p:nvPr/>
        </p:nvSpPr>
        <p:spPr>
          <a:xfrm>
            <a:off x="1272516" y="789837"/>
            <a:ext cx="12644717" cy="138952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_177_177"/>
          <p:cNvSpPr/>
          <p:nvPr/>
        </p:nvSpPr>
        <p:spPr>
          <a:xfrm>
            <a:off x="1272516" y="1550422"/>
            <a:ext cx="12644717" cy="131639"/>
          </a:xfrm>
          <a:prstGeom prst="roundRect">
            <a:avLst/>
          </a:prstGeom>
          <a:solidFill>
            <a:srgbClr val="1111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_178_178"/>
          <p:cNvSpPr/>
          <p:nvPr/>
        </p:nvSpPr>
        <p:spPr>
          <a:xfrm>
            <a:off x="1331022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_179_179"/>
          <p:cNvSpPr/>
          <p:nvPr/>
        </p:nvSpPr>
        <p:spPr>
          <a:xfrm>
            <a:off x="1331022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_180_180"/>
          <p:cNvSpPr/>
          <p:nvPr/>
        </p:nvSpPr>
        <p:spPr>
          <a:xfrm>
            <a:off x="1543108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_181_181"/>
          <p:cNvSpPr/>
          <p:nvPr/>
        </p:nvSpPr>
        <p:spPr>
          <a:xfrm>
            <a:off x="1543108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_182_182"/>
          <p:cNvSpPr/>
          <p:nvPr/>
        </p:nvSpPr>
        <p:spPr>
          <a:xfrm>
            <a:off x="1755195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_183_183"/>
          <p:cNvSpPr/>
          <p:nvPr/>
        </p:nvSpPr>
        <p:spPr>
          <a:xfrm>
            <a:off x="1755195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_184_184"/>
          <p:cNvSpPr/>
          <p:nvPr/>
        </p:nvSpPr>
        <p:spPr>
          <a:xfrm>
            <a:off x="1967281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_185_185"/>
          <p:cNvSpPr/>
          <p:nvPr/>
        </p:nvSpPr>
        <p:spPr>
          <a:xfrm>
            <a:off x="1967281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_186_186"/>
          <p:cNvSpPr/>
          <p:nvPr/>
        </p:nvSpPr>
        <p:spPr>
          <a:xfrm>
            <a:off x="2179367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_187_187"/>
          <p:cNvSpPr/>
          <p:nvPr/>
        </p:nvSpPr>
        <p:spPr>
          <a:xfrm>
            <a:off x="2179367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_188_188"/>
          <p:cNvSpPr/>
          <p:nvPr/>
        </p:nvSpPr>
        <p:spPr>
          <a:xfrm>
            <a:off x="2391453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_189_189"/>
          <p:cNvSpPr/>
          <p:nvPr/>
        </p:nvSpPr>
        <p:spPr>
          <a:xfrm>
            <a:off x="2391453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_190_190"/>
          <p:cNvSpPr/>
          <p:nvPr/>
        </p:nvSpPr>
        <p:spPr>
          <a:xfrm>
            <a:off x="2603539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_191_191"/>
          <p:cNvSpPr/>
          <p:nvPr/>
        </p:nvSpPr>
        <p:spPr>
          <a:xfrm>
            <a:off x="2603539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_192_192"/>
          <p:cNvSpPr/>
          <p:nvPr/>
        </p:nvSpPr>
        <p:spPr>
          <a:xfrm>
            <a:off x="2815625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_193_193"/>
          <p:cNvSpPr/>
          <p:nvPr/>
        </p:nvSpPr>
        <p:spPr>
          <a:xfrm>
            <a:off x="2815625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_194_194"/>
          <p:cNvSpPr/>
          <p:nvPr/>
        </p:nvSpPr>
        <p:spPr>
          <a:xfrm>
            <a:off x="3027711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_195_195"/>
          <p:cNvSpPr/>
          <p:nvPr/>
        </p:nvSpPr>
        <p:spPr>
          <a:xfrm>
            <a:off x="3027711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_196_196"/>
          <p:cNvSpPr/>
          <p:nvPr/>
        </p:nvSpPr>
        <p:spPr>
          <a:xfrm>
            <a:off x="3239797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_197_197"/>
          <p:cNvSpPr/>
          <p:nvPr/>
        </p:nvSpPr>
        <p:spPr>
          <a:xfrm>
            <a:off x="3239797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_198_198"/>
          <p:cNvSpPr/>
          <p:nvPr/>
        </p:nvSpPr>
        <p:spPr>
          <a:xfrm>
            <a:off x="3451883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_199_199"/>
          <p:cNvSpPr/>
          <p:nvPr/>
        </p:nvSpPr>
        <p:spPr>
          <a:xfrm>
            <a:off x="3451883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_200_200"/>
          <p:cNvSpPr/>
          <p:nvPr/>
        </p:nvSpPr>
        <p:spPr>
          <a:xfrm>
            <a:off x="3663969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_201_201"/>
          <p:cNvSpPr/>
          <p:nvPr/>
        </p:nvSpPr>
        <p:spPr>
          <a:xfrm>
            <a:off x="3663969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_202_202"/>
          <p:cNvSpPr/>
          <p:nvPr/>
        </p:nvSpPr>
        <p:spPr>
          <a:xfrm>
            <a:off x="3876055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_203_203"/>
          <p:cNvSpPr/>
          <p:nvPr/>
        </p:nvSpPr>
        <p:spPr>
          <a:xfrm>
            <a:off x="3876055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_204_204"/>
          <p:cNvSpPr/>
          <p:nvPr/>
        </p:nvSpPr>
        <p:spPr>
          <a:xfrm>
            <a:off x="4088141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_205_205"/>
          <p:cNvSpPr/>
          <p:nvPr/>
        </p:nvSpPr>
        <p:spPr>
          <a:xfrm>
            <a:off x="4088141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_206_206"/>
          <p:cNvSpPr/>
          <p:nvPr/>
        </p:nvSpPr>
        <p:spPr>
          <a:xfrm>
            <a:off x="4300227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_207_207"/>
          <p:cNvSpPr/>
          <p:nvPr/>
        </p:nvSpPr>
        <p:spPr>
          <a:xfrm>
            <a:off x="4300227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_208_208"/>
          <p:cNvSpPr/>
          <p:nvPr/>
        </p:nvSpPr>
        <p:spPr>
          <a:xfrm>
            <a:off x="4512313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_209_209"/>
          <p:cNvSpPr/>
          <p:nvPr/>
        </p:nvSpPr>
        <p:spPr>
          <a:xfrm>
            <a:off x="4512313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_210_210"/>
          <p:cNvSpPr/>
          <p:nvPr/>
        </p:nvSpPr>
        <p:spPr>
          <a:xfrm>
            <a:off x="4724399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_211_211"/>
          <p:cNvSpPr/>
          <p:nvPr/>
        </p:nvSpPr>
        <p:spPr>
          <a:xfrm>
            <a:off x="4724399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_212_212"/>
          <p:cNvSpPr/>
          <p:nvPr/>
        </p:nvSpPr>
        <p:spPr>
          <a:xfrm>
            <a:off x="4936486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_213_213"/>
          <p:cNvSpPr/>
          <p:nvPr/>
        </p:nvSpPr>
        <p:spPr>
          <a:xfrm>
            <a:off x="4936486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_214_214"/>
          <p:cNvSpPr/>
          <p:nvPr/>
        </p:nvSpPr>
        <p:spPr>
          <a:xfrm>
            <a:off x="5148572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_215_215"/>
          <p:cNvSpPr/>
          <p:nvPr/>
        </p:nvSpPr>
        <p:spPr>
          <a:xfrm>
            <a:off x="5148572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_216_216"/>
          <p:cNvSpPr/>
          <p:nvPr/>
        </p:nvSpPr>
        <p:spPr>
          <a:xfrm>
            <a:off x="5360658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_217_217"/>
          <p:cNvSpPr/>
          <p:nvPr/>
        </p:nvSpPr>
        <p:spPr>
          <a:xfrm>
            <a:off x="5360658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_218_218"/>
          <p:cNvSpPr/>
          <p:nvPr/>
        </p:nvSpPr>
        <p:spPr>
          <a:xfrm>
            <a:off x="5572744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_219_219"/>
          <p:cNvSpPr/>
          <p:nvPr/>
        </p:nvSpPr>
        <p:spPr>
          <a:xfrm>
            <a:off x="5572744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_220_220"/>
          <p:cNvSpPr/>
          <p:nvPr/>
        </p:nvSpPr>
        <p:spPr>
          <a:xfrm>
            <a:off x="5784830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_221_221"/>
          <p:cNvSpPr/>
          <p:nvPr/>
        </p:nvSpPr>
        <p:spPr>
          <a:xfrm>
            <a:off x="5784830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_222_222"/>
          <p:cNvSpPr/>
          <p:nvPr/>
        </p:nvSpPr>
        <p:spPr>
          <a:xfrm>
            <a:off x="5996916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_223_223"/>
          <p:cNvSpPr/>
          <p:nvPr/>
        </p:nvSpPr>
        <p:spPr>
          <a:xfrm>
            <a:off x="5996916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_224_224"/>
          <p:cNvSpPr/>
          <p:nvPr/>
        </p:nvSpPr>
        <p:spPr>
          <a:xfrm>
            <a:off x="6209002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_225_225"/>
          <p:cNvSpPr/>
          <p:nvPr/>
        </p:nvSpPr>
        <p:spPr>
          <a:xfrm>
            <a:off x="6209002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_226_226"/>
          <p:cNvSpPr/>
          <p:nvPr/>
        </p:nvSpPr>
        <p:spPr>
          <a:xfrm>
            <a:off x="6421088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_227_227"/>
          <p:cNvSpPr/>
          <p:nvPr/>
        </p:nvSpPr>
        <p:spPr>
          <a:xfrm>
            <a:off x="6421088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_228_228"/>
          <p:cNvSpPr/>
          <p:nvPr/>
        </p:nvSpPr>
        <p:spPr>
          <a:xfrm>
            <a:off x="6633174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_229_229"/>
          <p:cNvSpPr/>
          <p:nvPr/>
        </p:nvSpPr>
        <p:spPr>
          <a:xfrm>
            <a:off x="6633174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_230_230"/>
          <p:cNvSpPr/>
          <p:nvPr/>
        </p:nvSpPr>
        <p:spPr>
          <a:xfrm>
            <a:off x="6845260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_231_231"/>
          <p:cNvSpPr/>
          <p:nvPr/>
        </p:nvSpPr>
        <p:spPr>
          <a:xfrm>
            <a:off x="6845260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_232_232"/>
          <p:cNvSpPr/>
          <p:nvPr/>
        </p:nvSpPr>
        <p:spPr>
          <a:xfrm>
            <a:off x="7057346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_233_233"/>
          <p:cNvSpPr/>
          <p:nvPr/>
        </p:nvSpPr>
        <p:spPr>
          <a:xfrm>
            <a:off x="7057346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_234_234"/>
          <p:cNvSpPr/>
          <p:nvPr/>
        </p:nvSpPr>
        <p:spPr>
          <a:xfrm>
            <a:off x="7269432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_235_235"/>
          <p:cNvSpPr/>
          <p:nvPr/>
        </p:nvSpPr>
        <p:spPr>
          <a:xfrm>
            <a:off x="7269432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_236_236"/>
          <p:cNvSpPr/>
          <p:nvPr/>
        </p:nvSpPr>
        <p:spPr>
          <a:xfrm>
            <a:off x="7481518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_237_237"/>
          <p:cNvSpPr/>
          <p:nvPr/>
        </p:nvSpPr>
        <p:spPr>
          <a:xfrm>
            <a:off x="7481518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_238_238"/>
          <p:cNvSpPr/>
          <p:nvPr/>
        </p:nvSpPr>
        <p:spPr>
          <a:xfrm>
            <a:off x="7693604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_239_239"/>
          <p:cNvSpPr/>
          <p:nvPr/>
        </p:nvSpPr>
        <p:spPr>
          <a:xfrm>
            <a:off x="7693604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_240_240"/>
          <p:cNvSpPr/>
          <p:nvPr/>
        </p:nvSpPr>
        <p:spPr>
          <a:xfrm>
            <a:off x="7905691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_241_241"/>
          <p:cNvSpPr/>
          <p:nvPr/>
        </p:nvSpPr>
        <p:spPr>
          <a:xfrm>
            <a:off x="7905691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_242_242"/>
          <p:cNvSpPr/>
          <p:nvPr/>
        </p:nvSpPr>
        <p:spPr>
          <a:xfrm>
            <a:off x="8117777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ect_243_243"/>
          <p:cNvSpPr/>
          <p:nvPr/>
        </p:nvSpPr>
        <p:spPr>
          <a:xfrm>
            <a:off x="8117777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rect_244_244"/>
          <p:cNvSpPr/>
          <p:nvPr/>
        </p:nvSpPr>
        <p:spPr>
          <a:xfrm>
            <a:off x="8329863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_245_245"/>
          <p:cNvSpPr/>
          <p:nvPr/>
        </p:nvSpPr>
        <p:spPr>
          <a:xfrm>
            <a:off x="8329863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_246_246"/>
          <p:cNvSpPr/>
          <p:nvPr/>
        </p:nvSpPr>
        <p:spPr>
          <a:xfrm>
            <a:off x="8541949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ect_247_247"/>
          <p:cNvSpPr/>
          <p:nvPr/>
        </p:nvSpPr>
        <p:spPr>
          <a:xfrm>
            <a:off x="8541949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rect_248_248"/>
          <p:cNvSpPr/>
          <p:nvPr/>
        </p:nvSpPr>
        <p:spPr>
          <a:xfrm>
            <a:off x="8754035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rect_249_249"/>
          <p:cNvSpPr/>
          <p:nvPr/>
        </p:nvSpPr>
        <p:spPr>
          <a:xfrm>
            <a:off x="8754035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_250_250"/>
          <p:cNvSpPr/>
          <p:nvPr/>
        </p:nvSpPr>
        <p:spPr>
          <a:xfrm>
            <a:off x="8966121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rect_251_251"/>
          <p:cNvSpPr/>
          <p:nvPr/>
        </p:nvSpPr>
        <p:spPr>
          <a:xfrm>
            <a:off x="8966121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_252_252"/>
          <p:cNvSpPr/>
          <p:nvPr/>
        </p:nvSpPr>
        <p:spPr>
          <a:xfrm>
            <a:off x="9178207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rect_253_253"/>
          <p:cNvSpPr/>
          <p:nvPr/>
        </p:nvSpPr>
        <p:spPr>
          <a:xfrm>
            <a:off x="9178207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rect_254_254"/>
          <p:cNvSpPr/>
          <p:nvPr/>
        </p:nvSpPr>
        <p:spPr>
          <a:xfrm>
            <a:off x="9390293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rect_255_255"/>
          <p:cNvSpPr/>
          <p:nvPr/>
        </p:nvSpPr>
        <p:spPr>
          <a:xfrm>
            <a:off x="9390293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rect_256_256"/>
          <p:cNvSpPr/>
          <p:nvPr/>
        </p:nvSpPr>
        <p:spPr>
          <a:xfrm>
            <a:off x="9602379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rect_257_257"/>
          <p:cNvSpPr/>
          <p:nvPr/>
        </p:nvSpPr>
        <p:spPr>
          <a:xfrm>
            <a:off x="9602379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rect_258_258"/>
          <p:cNvSpPr/>
          <p:nvPr/>
        </p:nvSpPr>
        <p:spPr>
          <a:xfrm>
            <a:off x="9814465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rect_259_259"/>
          <p:cNvSpPr/>
          <p:nvPr/>
        </p:nvSpPr>
        <p:spPr>
          <a:xfrm>
            <a:off x="9814465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_260_260"/>
          <p:cNvSpPr/>
          <p:nvPr/>
        </p:nvSpPr>
        <p:spPr>
          <a:xfrm>
            <a:off x="10026551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_261_261"/>
          <p:cNvSpPr/>
          <p:nvPr/>
        </p:nvSpPr>
        <p:spPr>
          <a:xfrm>
            <a:off x="10026551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_262_262"/>
          <p:cNvSpPr/>
          <p:nvPr/>
        </p:nvSpPr>
        <p:spPr>
          <a:xfrm>
            <a:off x="10238637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_263_263"/>
          <p:cNvSpPr/>
          <p:nvPr/>
        </p:nvSpPr>
        <p:spPr>
          <a:xfrm>
            <a:off x="10238637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rect_264_264"/>
          <p:cNvSpPr/>
          <p:nvPr/>
        </p:nvSpPr>
        <p:spPr>
          <a:xfrm>
            <a:off x="10450723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_265_265"/>
          <p:cNvSpPr/>
          <p:nvPr/>
        </p:nvSpPr>
        <p:spPr>
          <a:xfrm>
            <a:off x="10450723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rect_266_266"/>
          <p:cNvSpPr/>
          <p:nvPr/>
        </p:nvSpPr>
        <p:spPr>
          <a:xfrm>
            <a:off x="10662809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_267_267"/>
          <p:cNvSpPr/>
          <p:nvPr/>
        </p:nvSpPr>
        <p:spPr>
          <a:xfrm>
            <a:off x="10662809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_268_268"/>
          <p:cNvSpPr/>
          <p:nvPr/>
        </p:nvSpPr>
        <p:spPr>
          <a:xfrm>
            <a:off x="10874895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rect_269_269"/>
          <p:cNvSpPr/>
          <p:nvPr/>
        </p:nvSpPr>
        <p:spPr>
          <a:xfrm>
            <a:off x="10874895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rect_270_270"/>
          <p:cNvSpPr/>
          <p:nvPr/>
        </p:nvSpPr>
        <p:spPr>
          <a:xfrm>
            <a:off x="11086982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_271_271"/>
          <p:cNvSpPr/>
          <p:nvPr/>
        </p:nvSpPr>
        <p:spPr>
          <a:xfrm>
            <a:off x="11086982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_272_272"/>
          <p:cNvSpPr/>
          <p:nvPr/>
        </p:nvSpPr>
        <p:spPr>
          <a:xfrm>
            <a:off x="11299068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rect_273_273"/>
          <p:cNvSpPr/>
          <p:nvPr/>
        </p:nvSpPr>
        <p:spPr>
          <a:xfrm>
            <a:off x="11299068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rect_274_274"/>
          <p:cNvSpPr/>
          <p:nvPr/>
        </p:nvSpPr>
        <p:spPr>
          <a:xfrm>
            <a:off x="11511154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_275_275"/>
          <p:cNvSpPr/>
          <p:nvPr/>
        </p:nvSpPr>
        <p:spPr>
          <a:xfrm>
            <a:off x="11511154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_276_276"/>
          <p:cNvSpPr/>
          <p:nvPr/>
        </p:nvSpPr>
        <p:spPr>
          <a:xfrm>
            <a:off x="11723240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rect_277_277"/>
          <p:cNvSpPr/>
          <p:nvPr/>
        </p:nvSpPr>
        <p:spPr>
          <a:xfrm>
            <a:off x="11723240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ect_278_278"/>
          <p:cNvSpPr/>
          <p:nvPr/>
        </p:nvSpPr>
        <p:spPr>
          <a:xfrm>
            <a:off x="11935326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_279_279"/>
          <p:cNvSpPr/>
          <p:nvPr/>
        </p:nvSpPr>
        <p:spPr>
          <a:xfrm>
            <a:off x="11935326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_280_280"/>
          <p:cNvSpPr/>
          <p:nvPr/>
        </p:nvSpPr>
        <p:spPr>
          <a:xfrm>
            <a:off x="12147412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rect_281_281"/>
          <p:cNvSpPr/>
          <p:nvPr/>
        </p:nvSpPr>
        <p:spPr>
          <a:xfrm>
            <a:off x="12147412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rect_282_282"/>
          <p:cNvSpPr/>
          <p:nvPr/>
        </p:nvSpPr>
        <p:spPr>
          <a:xfrm>
            <a:off x="12359498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_283_283"/>
          <p:cNvSpPr/>
          <p:nvPr/>
        </p:nvSpPr>
        <p:spPr>
          <a:xfrm>
            <a:off x="12359498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rect_284_284"/>
          <p:cNvSpPr/>
          <p:nvPr/>
        </p:nvSpPr>
        <p:spPr>
          <a:xfrm>
            <a:off x="12571584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rect_285_285"/>
          <p:cNvSpPr/>
          <p:nvPr/>
        </p:nvSpPr>
        <p:spPr>
          <a:xfrm>
            <a:off x="12571584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rect_286_286"/>
          <p:cNvSpPr/>
          <p:nvPr/>
        </p:nvSpPr>
        <p:spPr>
          <a:xfrm>
            <a:off x="12783670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_287_287"/>
          <p:cNvSpPr/>
          <p:nvPr/>
        </p:nvSpPr>
        <p:spPr>
          <a:xfrm>
            <a:off x="12783670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rect_288_288"/>
          <p:cNvSpPr/>
          <p:nvPr/>
        </p:nvSpPr>
        <p:spPr>
          <a:xfrm>
            <a:off x="12995756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_289_289"/>
          <p:cNvSpPr/>
          <p:nvPr/>
        </p:nvSpPr>
        <p:spPr>
          <a:xfrm>
            <a:off x="12995756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_290_290"/>
          <p:cNvSpPr/>
          <p:nvPr/>
        </p:nvSpPr>
        <p:spPr>
          <a:xfrm>
            <a:off x="13207842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_291_291"/>
          <p:cNvSpPr/>
          <p:nvPr/>
        </p:nvSpPr>
        <p:spPr>
          <a:xfrm>
            <a:off x="13207842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rect_292_292"/>
          <p:cNvSpPr/>
          <p:nvPr/>
        </p:nvSpPr>
        <p:spPr>
          <a:xfrm>
            <a:off x="13419928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rect_293_293"/>
          <p:cNvSpPr/>
          <p:nvPr/>
        </p:nvSpPr>
        <p:spPr>
          <a:xfrm>
            <a:off x="13419928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_294_294"/>
          <p:cNvSpPr/>
          <p:nvPr/>
        </p:nvSpPr>
        <p:spPr>
          <a:xfrm>
            <a:off x="13632014" y="819091"/>
            <a:ext cx="124326" cy="8044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rect_295_295"/>
          <p:cNvSpPr/>
          <p:nvPr/>
        </p:nvSpPr>
        <p:spPr>
          <a:xfrm>
            <a:off x="13632014" y="1579675"/>
            <a:ext cx="124326" cy="73133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text_296_296"/>
          <p:cNvSpPr txBox="1"/>
          <p:nvPr/>
        </p:nvSpPr>
        <p:spPr>
          <a:xfrm>
            <a:off x="336412" y="2201307"/>
            <a:ext cx="1872208" cy="2559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4" b="1" i="0">
                <a:solidFill>
                  <a:srgbClr val="111111"/>
                </a:solidFill>
                <a:latin typeface="Liberation Sans"/>
              </a:rPr>
              <a:t>Anomaly Knowledge</a:t>
            </a:r>
          </a:p>
        </p:txBody>
      </p:sp>
      <p:sp>
        <p:nvSpPr>
          <p:cNvPr id="303" name="rect_297_297"/>
          <p:cNvSpPr/>
          <p:nvPr/>
        </p:nvSpPr>
        <p:spPr>
          <a:xfrm>
            <a:off x="296189" y="2545032"/>
            <a:ext cx="171131" cy="223787"/>
          </a:xfrm>
          <a:prstGeom prst="rect">
            <a:avLst/>
          </a:prstGeom>
          <a:solidFill>
            <a:srgbClr val="F8FDFF"/>
          </a:solidFill>
          <a:ln w="14626">
            <a:solidFill>
              <a:srgbClr val="387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4" name="line_298_298"/>
          <p:cNvCxnSpPr/>
          <p:nvPr/>
        </p:nvCxnSpPr>
        <p:spPr>
          <a:xfrm>
            <a:off x="329099" y="2597688"/>
            <a:ext cx="105311" cy="0"/>
          </a:xfrm>
          <a:prstGeom prst="line">
            <a:avLst/>
          </a:prstGeom>
          <a:ln w="14626">
            <a:solidFill>
              <a:srgbClr val="E84C3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5" name="line_299_299"/>
          <p:cNvCxnSpPr/>
          <p:nvPr/>
        </p:nvCxnSpPr>
        <p:spPr>
          <a:xfrm>
            <a:off x="329099" y="2637180"/>
            <a:ext cx="111893" cy="0"/>
          </a:xfrm>
          <a:prstGeom prst="line">
            <a:avLst/>
          </a:prstGeom>
          <a:ln w="7313">
            <a:solidFill>
              <a:srgbClr val="6DB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line_300_300"/>
          <p:cNvCxnSpPr/>
          <p:nvPr/>
        </p:nvCxnSpPr>
        <p:spPr>
          <a:xfrm>
            <a:off x="329099" y="2676672"/>
            <a:ext cx="111893" cy="0"/>
          </a:xfrm>
          <a:prstGeom prst="line">
            <a:avLst/>
          </a:prstGeom>
          <a:ln w="7313">
            <a:solidFill>
              <a:srgbClr val="6DB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line_301_301"/>
          <p:cNvCxnSpPr/>
          <p:nvPr/>
        </p:nvCxnSpPr>
        <p:spPr>
          <a:xfrm>
            <a:off x="329099" y="2716164"/>
            <a:ext cx="111893" cy="0"/>
          </a:xfrm>
          <a:prstGeom prst="line">
            <a:avLst/>
          </a:prstGeom>
          <a:ln w="7313">
            <a:solidFill>
              <a:srgbClr val="6DB7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rect_302_302"/>
          <p:cNvSpPr/>
          <p:nvPr/>
        </p:nvSpPr>
        <p:spPr>
          <a:xfrm>
            <a:off x="408082" y="2637180"/>
            <a:ext cx="131639" cy="164549"/>
          </a:xfrm>
          <a:prstGeom prst="rect">
            <a:avLst/>
          </a:prstGeom>
          <a:solidFill>
            <a:srgbClr val="F0E9C5"/>
          </a:solidFill>
          <a:ln w="10969">
            <a:solidFill>
              <a:srgbClr val="3952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9" name="line_303_303"/>
          <p:cNvCxnSpPr/>
          <p:nvPr/>
        </p:nvCxnSpPr>
        <p:spPr>
          <a:xfrm>
            <a:off x="434410" y="2670090"/>
            <a:ext cx="78984" cy="0"/>
          </a:xfrm>
          <a:prstGeom prst="line">
            <a:avLst/>
          </a:prstGeom>
          <a:ln w="7313">
            <a:solidFill>
              <a:srgbClr val="6575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line_304_304"/>
          <p:cNvCxnSpPr/>
          <p:nvPr/>
        </p:nvCxnSpPr>
        <p:spPr>
          <a:xfrm>
            <a:off x="434410" y="2709582"/>
            <a:ext cx="78984" cy="0"/>
          </a:xfrm>
          <a:prstGeom prst="line">
            <a:avLst/>
          </a:prstGeom>
          <a:ln w="7313">
            <a:solidFill>
              <a:srgbClr val="6575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line_305_305"/>
          <p:cNvCxnSpPr/>
          <p:nvPr/>
        </p:nvCxnSpPr>
        <p:spPr>
          <a:xfrm>
            <a:off x="434410" y="2749074"/>
            <a:ext cx="78984" cy="0"/>
          </a:xfrm>
          <a:prstGeom prst="line">
            <a:avLst/>
          </a:prstGeom>
          <a:ln w="7313">
            <a:solidFill>
              <a:srgbClr val="6575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2" name="text_306_306"/>
          <p:cNvSpPr txBox="1"/>
          <p:nvPr/>
        </p:nvSpPr>
        <p:spPr>
          <a:xfrm>
            <a:off x="694764" y="2603539"/>
            <a:ext cx="1572362" cy="2413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6" b="0" i="0">
                <a:solidFill>
                  <a:srgbClr val="111111"/>
                </a:solidFill>
                <a:latin typeface="Liberation Sans"/>
              </a:rPr>
              <a:t>Event Type</a:t>
            </a:r>
          </a:p>
        </p:txBody>
      </p:sp>
      <p:sp>
        <p:nvSpPr>
          <p:cNvPr id="313" name="rect_307_307"/>
          <p:cNvSpPr/>
          <p:nvPr/>
        </p:nvSpPr>
        <p:spPr>
          <a:xfrm>
            <a:off x="277905" y="2989682"/>
            <a:ext cx="201481" cy="215377"/>
          </a:xfrm>
          <a:prstGeom prst="rect">
            <a:avLst/>
          </a:prstGeom>
          <a:solidFill>
            <a:srgbClr val="B8DCEB"/>
          </a:solidFill>
          <a:ln w="14626">
            <a:solidFill>
              <a:srgbClr val="3A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rect_308_308"/>
          <p:cNvSpPr/>
          <p:nvPr/>
        </p:nvSpPr>
        <p:spPr>
          <a:xfrm>
            <a:off x="340434" y="2961891"/>
            <a:ext cx="215377" cy="250115"/>
          </a:xfrm>
          <a:prstGeom prst="rect">
            <a:avLst/>
          </a:prstGeom>
          <a:solidFill>
            <a:srgbClr val="A7D09C"/>
          </a:solidFill>
          <a:ln w="14626">
            <a:solidFill>
              <a:srgbClr val="497A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5" name="line_309_309"/>
          <p:cNvCxnSpPr/>
          <p:nvPr/>
        </p:nvCxnSpPr>
        <p:spPr>
          <a:xfrm>
            <a:off x="375172" y="3017472"/>
            <a:ext cx="145901" cy="0"/>
          </a:xfrm>
          <a:prstGeom prst="line">
            <a:avLst/>
          </a:prstGeom>
          <a:ln w="7313">
            <a:solidFill>
              <a:srgbClr val="376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line_310_310"/>
          <p:cNvCxnSpPr/>
          <p:nvPr/>
        </p:nvCxnSpPr>
        <p:spPr>
          <a:xfrm>
            <a:off x="375172" y="3059158"/>
            <a:ext cx="145901" cy="0"/>
          </a:xfrm>
          <a:prstGeom prst="line">
            <a:avLst/>
          </a:prstGeom>
          <a:ln w="7313">
            <a:solidFill>
              <a:srgbClr val="376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line_311_311"/>
          <p:cNvCxnSpPr/>
          <p:nvPr/>
        </p:nvCxnSpPr>
        <p:spPr>
          <a:xfrm>
            <a:off x="375172" y="3100844"/>
            <a:ext cx="145901" cy="0"/>
          </a:xfrm>
          <a:prstGeom prst="line">
            <a:avLst/>
          </a:prstGeom>
          <a:ln w="7313">
            <a:solidFill>
              <a:srgbClr val="376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line_312_312"/>
          <p:cNvCxnSpPr/>
          <p:nvPr/>
        </p:nvCxnSpPr>
        <p:spPr>
          <a:xfrm>
            <a:off x="375172" y="3142530"/>
            <a:ext cx="145901" cy="0"/>
          </a:xfrm>
          <a:prstGeom prst="line">
            <a:avLst/>
          </a:prstGeom>
          <a:ln w="7313">
            <a:solidFill>
              <a:srgbClr val="376B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9" name="text_313_313"/>
          <p:cNvSpPr txBox="1"/>
          <p:nvPr/>
        </p:nvSpPr>
        <p:spPr>
          <a:xfrm>
            <a:off x="694764" y="3035024"/>
            <a:ext cx="1572362" cy="2413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6" b="0" i="0">
                <a:solidFill>
                  <a:srgbClr val="111111"/>
                </a:solidFill>
                <a:latin typeface="Liberation Sans"/>
              </a:rPr>
              <a:t>Anomaly Rules</a:t>
            </a:r>
          </a:p>
        </p:txBody>
      </p:sp>
      <p:sp>
        <p:nvSpPr>
          <p:cNvPr id="320" name="rect_314_314"/>
          <p:cNvSpPr/>
          <p:nvPr/>
        </p:nvSpPr>
        <p:spPr>
          <a:xfrm>
            <a:off x="319226" y="3478942"/>
            <a:ext cx="215377" cy="236219"/>
          </a:xfrm>
          <a:prstGeom prst="rect">
            <a:avLst/>
          </a:prstGeom>
          <a:solidFill>
            <a:srgbClr val="F0B619"/>
          </a:solidFill>
          <a:ln w="14626">
            <a:solidFill>
              <a:srgbClr val="263D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rect_315_315"/>
          <p:cNvSpPr/>
          <p:nvPr/>
        </p:nvSpPr>
        <p:spPr>
          <a:xfrm>
            <a:off x="353964" y="3520628"/>
            <a:ext cx="27790" cy="34738"/>
          </a:xfrm>
          <a:prstGeom prst="rect">
            <a:avLst/>
          </a:prstGeom>
          <a:solidFill>
            <a:srgbClr val="18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rect_316_316"/>
          <p:cNvSpPr/>
          <p:nvPr/>
        </p:nvSpPr>
        <p:spPr>
          <a:xfrm>
            <a:off x="353964" y="3583157"/>
            <a:ext cx="27790" cy="34738"/>
          </a:xfrm>
          <a:prstGeom prst="rect">
            <a:avLst/>
          </a:prstGeom>
          <a:solidFill>
            <a:srgbClr val="18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rect_317_317"/>
          <p:cNvSpPr/>
          <p:nvPr/>
        </p:nvSpPr>
        <p:spPr>
          <a:xfrm>
            <a:off x="353964" y="3645686"/>
            <a:ext cx="27790" cy="34738"/>
          </a:xfrm>
          <a:prstGeom prst="rect">
            <a:avLst/>
          </a:prstGeom>
          <a:solidFill>
            <a:srgbClr val="18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rect_318_318"/>
          <p:cNvSpPr/>
          <p:nvPr/>
        </p:nvSpPr>
        <p:spPr>
          <a:xfrm>
            <a:off x="416493" y="3520628"/>
            <a:ext cx="27790" cy="34738"/>
          </a:xfrm>
          <a:prstGeom prst="rect">
            <a:avLst/>
          </a:prstGeom>
          <a:solidFill>
            <a:srgbClr val="18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5" name="rect_319_319"/>
          <p:cNvSpPr/>
          <p:nvPr/>
        </p:nvSpPr>
        <p:spPr>
          <a:xfrm>
            <a:off x="416493" y="3583157"/>
            <a:ext cx="27790" cy="34738"/>
          </a:xfrm>
          <a:prstGeom prst="rect">
            <a:avLst/>
          </a:prstGeom>
          <a:solidFill>
            <a:srgbClr val="18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6" name="rect_320_320"/>
          <p:cNvSpPr/>
          <p:nvPr/>
        </p:nvSpPr>
        <p:spPr>
          <a:xfrm>
            <a:off x="416493" y="3645686"/>
            <a:ext cx="27790" cy="34738"/>
          </a:xfrm>
          <a:prstGeom prst="rect">
            <a:avLst/>
          </a:prstGeom>
          <a:solidFill>
            <a:srgbClr val="18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7" name="rect_321_321"/>
          <p:cNvSpPr/>
          <p:nvPr/>
        </p:nvSpPr>
        <p:spPr>
          <a:xfrm>
            <a:off x="479021" y="3520628"/>
            <a:ext cx="27790" cy="34738"/>
          </a:xfrm>
          <a:prstGeom prst="rect">
            <a:avLst/>
          </a:prstGeom>
          <a:solidFill>
            <a:srgbClr val="18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8" name="rect_322_322"/>
          <p:cNvSpPr/>
          <p:nvPr/>
        </p:nvSpPr>
        <p:spPr>
          <a:xfrm>
            <a:off x="479021" y="3583157"/>
            <a:ext cx="27790" cy="34738"/>
          </a:xfrm>
          <a:prstGeom prst="rect">
            <a:avLst/>
          </a:prstGeom>
          <a:solidFill>
            <a:srgbClr val="18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9" name="rect_323_323"/>
          <p:cNvSpPr/>
          <p:nvPr/>
        </p:nvSpPr>
        <p:spPr>
          <a:xfrm>
            <a:off x="479021" y="3645686"/>
            <a:ext cx="27790" cy="34738"/>
          </a:xfrm>
          <a:prstGeom prst="rect">
            <a:avLst/>
          </a:prstGeom>
          <a:solidFill>
            <a:srgbClr val="18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0" name="rect_324_324"/>
          <p:cNvSpPr/>
          <p:nvPr/>
        </p:nvSpPr>
        <p:spPr>
          <a:xfrm>
            <a:off x="402597" y="3638738"/>
            <a:ext cx="55581" cy="76424"/>
          </a:xfrm>
          <a:prstGeom prst="rect">
            <a:avLst/>
          </a:prstGeom>
          <a:solidFill>
            <a:srgbClr val="183B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1" name="text_325_325"/>
          <p:cNvSpPr txBox="1"/>
          <p:nvPr/>
        </p:nvSpPr>
        <p:spPr>
          <a:xfrm>
            <a:off x="694764" y="3481136"/>
            <a:ext cx="1572362" cy="2413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6" b="0" i="0">
                <a:solidFill>
                  <a:srgbClr val="111111"/>
                </a:solidFill>
                <a:latin typeface="Liberation Sans"/>
              </a:rPr>
              <a:t>Applicable Scenes</a:t>
            </a:r>
          </a:p>
        </p:txBody>
      </p:sp>
      <p:sp>
        <p:nvSpPr>
          <p:cNvPr id="332" name="text_326_326"/>
          <p:cNvSpPr txBox="1"/>
          <p:nvPr/>
        </p:nvSpPr>
        <p:spPr>
          <a:xfrm>
            <a:off x="585065" y="4409927"/>
            <a:ext cx="1462662" cy="25596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1" i="0">
                <a:solidFill>
                  <a:srgbClr val="111111"/>
                </a:solidFill>
                <a:latin typeface="Liberation Sans"/>
              </a:rPr>
              <a:t>Toolkit</a:t>
            </a:r>
          </a:p>
        </p:txBody>
      </p:sp>
      <p:sp>
        <p:nvSpPr>
          <p:cNvPr id="333" name="rect_327_327"/>
          <p:cNvSpPr/>
          <p:nvPr/>
        </p:nvSpPr>
        <p:spPr>
          <a:xfrm>
            <a:off x="226712" y="4804846"/>
            <a:ext cx="307159" cy="234026"/>
          </a:xfrm>
          <a:prstGeom prst="rect">
            <a:avLst/>
          </a:prstGeom>
          <a:solidFill>
            <a:srgbClr val="F8FBFF"/>
          </a:solidFill>
          <a:ln w="14626">
            <a:solidFill>
              <a:srgbClr val="4A83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4" name="rect_328_328"/>
          <p:cNvSpPr/>
          <p:nvPr/>
        </p:nvSpPr>
        <p:spPr>
          <a:xfrm>
            <a:off x="263279" y="4841413"/>
            <a:ext cx="234026" cy="160892"/>
          </a:xfrm>
          <a:prstGeom prst="rect">
            <a:avLst/>
          </a:prstGeom>
          <a:solidFill>
            <a:srgbClr val="45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5" name="ellipse_329_329"/>
          <p:cNvSpPr/>
          <p:nvPr/>
        </p:nvSpPr>
        <p:spPr>
          <a:xfrm>
            <a:off x="299845" y="4863352"/>
            <a:ext cx="43879" cy="43879"/>
          </a:xfrm>
          <a:prstGeom prst="ellipse">
            <a:avLst/>
          </a:prstGeom>
          <a:solidFill>
            <a:srgbClr val="7CC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6" name="polygon_330_330"/>
          <p:cNvSpPr/>
          <p:nvPr/>
        </p:nvSpPr>
        <p:spPr>
          <a:xfrm>
            <a:off x="270592" y="4877979"/>
            <a:ext cx="219390" cy="124321"/>
          </a:xfrm>
          <a:custGeom>
            <a:avLst/>
            <a:gdLst/>
            <a:ahLst/>
            <a:cxnLst/>
            <a:rect l="l" t="t" r="r" b="b"/>
            <a:pathLst>
              <a:path w="30" h="17">
                <a:moveTo>
                  <a:pt x="0" y="16"/>
                </a:moveTo>
                <a:lnTo>
                  <a:pt x="12" y="4"/>
                </a:lnTo>
                <a:lnTo>
                  <a:pt x="19" y="11"/>
                </a:lnTo>
                <a:lnTo>
                  <a:pt x="30" y="0"/>
                </a:lnTo>
                <a:lnTo>
                  <a:pt x="30" y="17"/>
                </a:lnTo>
                <a:lnTo>
                  <a:pt x="0" y="17"/>
                </a:lnTo>
                <a:close/>
              </a:path>
            </a:pathLst>
          </a:custGeom>
          <a:solidFill>
            <a:srgbClr val="39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text_331_331"/>
          <p:cNvSpPr txBox="1"/>
          <p:nvPr/>
        </p:nvSpPr>
        <p:spPr>
          <a:xfrm>
            <a:off x="650884" y="4834099"/>
            <a:ext cx="1740568" cy="263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111111"/>
                </a:solidFill>
                <a:latin typeface="Liberation Sans"/>
              </a:rPr>
              <a:t>Image Denoise</a:t>
            </a:r>
          </a:p>
        </p:txBody>
      </p:sp>
      <p:sp>
        <p:nvSpPr>
          <p:cNvPr id="338" name="rect_332_332"/>
          <p:cNvSpPr/>
          <p:nvPr/>
        </p:nvSpPr>
        <p:spPr>
          <a:xfrm>
            <a:off x="226712" y="5309465"/>
            <a:ext cx="307159" cy="234026"/>
          </a:xfrm>
          <a:prstGeom prst="rect">
            <a:avLst/>
          </a:prstGeom>
          <a:solidFill>
            <a:srgbClr val="F8FBFF"/>
          </a:solidFill>
          <a:ln w="14626">
            <a:solidFill>
              <a:srgbClr val="4A83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rect_333_333"/>
          <p:cNvSpPr/>
          <p:nvPr/>
        </p:nvSpPr>
        <p:spPr>
          <a:xfrm>
            <a:off x="263279" y="5346031"/>
            <a:ext cx="234026" cy="160892"/>
          </a:xfrm>
          <a:prstGeom prst="rect">
            <a:avLst/>
          </a:prstGeom>
          <a:solidFill>
            <a:srgbClr val="45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ellipse_334_334"/>
          <p:cNvSpPr/>
          <p:nvPr/>
        </p:nvSpPr>
        <p:spPr>
          <a:xfrm>
            <a:off x="299845" y="5367971"/>
            <a:ext cx="43879" cy="43879"/>
          </a:xfrm>
          <a:prstGeom prst="ellipse">
            <a:avLst/>
          </a:prstGeom>
          <a:solidFill>
            <a:srgbClr val="7CC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polygon_335_335"/>
          <p:cNvSpPr/>
          <p:nvPr/>
        </p:nvSpPr>
        <p:spPr>
          <a:xfrm>
            <a:off x="270592" y="5382598"/>
            <a:ext cx="219390" cy="124321"/>
          </a:xfrm>
          <a:custGeom>
            <a:avLst/>
            <a:gdLst/>
            <a:ahLst/>
            <a:cxnLst/>
            <a:rect l="l" t="t" r="r" b="b"/>
            <a:pathLst>
              <a:path w="30" h="17">
                <a:moveTo>
                  <a:pt x="0" y="16"/>
                </a:moveTo>
                <a:lnTo>
                  <a:pt x="12" y="4"/>
                </a:lnTo>
                <a:lnTo>
                  <a:pt x="19" y="11"/>
                </a:lnTo>
                <a:lnTo>
                  <a:pt x="30" y="0"/>
                </a:lnTo>
                <a:lnTo>
                  <a:pt x="30" y="17"/>
                </a:lnTo>
                <a:lnTo>
                  <a:pt x="0" y="17"/>
                </a:lnTo>
                <a:close/>
              </a:path>
            </a:pathLst>
          </a:custGeom>
          <a:solidFill>
            <a:srgbClr val="39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text_336_336"/>
          <p:cNvSpPr txBox="1"/>
          <p:nvPr/>
        </p:nvSpPr>
        <p:spPr>
          <a:xfrm>
            <a:off x="650884" y="5338718"/>
            <a:ext cx="1740568" cy="263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111111"/>
                </a:solidFill>
                <a:latin typeface="Liberation Sans"/>
              </a:rPr>
              <a:t>Brightness Enhance</a:t>
            </a:r>
          </a:p>
        </p:txBody>
      </p:sp>
      <p:sp>
        <p:nvSpPr>
          <p:cNvPr id="343" name="rect_337_337"/>
          <p:cNvSpPr/>
          <p:nvPr/>
        </p:nvSpPr>
        <p:spPr>
          <a:xfrm>
            <a:off x="226712" y="5814083"/>
            <a:ext cx="197459" cy="168206"/>
          </a:xfrm>
          <a:prstGeom prst="rect">
            <a:avLst/>
          </a:prstGeom>
          <a:solidFill>
            <a:srgbClr val="F8FBFF"/>
          </a:solidFill>
          <a:ln w="7313">
            <a:solidFill>
              <a:srgbClr val="56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rect_338_338"/>
          <p:cNvSpPr/>
          <p:nvPr/>
        </p:nvSpPr>
        <p:spPr>
          <a:xfrm>
            <a:off x="277905" y="5865276"/>
            <a:ext cx="197459" cy="168206"/>
          </a:xfrm>
          <a:prstGeom prst="rect">
            <a:avLst/>
          </a:prstGeom>
          <a:solidFill>
            <a:srgbClr val="F8FBFF"/>
          </a:solidFill>
          <a:ln w="7313">
            <a:solidFill>
              <a:srgbClr val="56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_339_339"/>
          <p:cNvSpPr/>
          <p:nvPr/>
        </p:nvSpPr>
        <p:spPr>
          <a:xfrm>
            <a:off x="329099" y="5916469"/>
            <a:ext cx="197459" cy="168206"/>
          </a:xfrm>
          <a:prstGeom prst="rect">
            <a:avLst/>
          </a:prstGeom>
          <a:solidFill>
            <a:srgbClr val="F8FBFF"/>
          </a:solidFill>
          <a:ln w="7313">
            <a:solidFill>
              <a:srgbClr val="567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text_340_340"/>
          <p:cNvSpPr txBox="1"/>
          <p:nvPr/>
        </p:nvSpPr>
        <p:spPr>
          <a:xfrm>
            <a:off x="650884" y="5843336"/>
            <a:ext cx="1740568" cy="263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111111"/>
                </a:solidFill>
                <a:latin typeface="Liberation Sans"/>
              </a:rPr>
              <a:t>Image Super-resolution</a:t>
            </a:r>
          </a:p>
        </p:txBody>
      </p:sp>
      <p:sp>
        <p:nvSpPr>
          <p:cNvPr id="347" name="rect_341_341"/>
          <p:cNvSpPr/>
          <p:nvPr/>
        </p:nvSpPr>
        <p:spPr>
          <a:xfrm>
            <a:off x="226712" y="6318702"/>
            <a:ext cx="307159" cy="234026"/>
          </a:xfrm>
          <a:prstGeom prst="rect">
            <a:avLst/>
          </a:prstGeom>
          <a:solidFill>
            <a:srgbClr val="F8FBFF"/>
          </a:solidFill>
          <a:ln w="14626">
            <a:solidFill>
              <a:srgbClr val="4A83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rect_342_342"/>
          <p:cNvSpPr/>
          <p:nvPr/>
        </p:nvSpPr>
        <p:spPr>
          <a:xfrm>
            <a:off x="263279" y="6355268"/>
            <a:ext cx="234026" cy="160892"/>
          </a:xfrm>
          <a:prstGeom prst="rect">
            <a:avLst/>
          </a:prstGeom>
          <a:solidFill>
            <a:srgbClr val="66B6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ellipse_343_343"/>
          <p:cNvSpPr/>
          <p:nvPr/>
        </p:nvSpPr>
        <p:spPr>
          <a:xfrm>
            <a:off x="299845" y="6377208"/>
            <a:ext cx="43879" cy="43879"/>
          </a:xfrm>
          <a:prstGeom prst="ellipse">
            <a:avLst/>
          </a:prstGeom>
          <a:solidFill>
            <a:srgbClr val="7CC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polygon_344_344"/>
          <p:cNvSpPr/>
          <p:nvPr/>
        </p:nvSpPr>
        <p:spPr>
          <a:xfrm>
            <a:off x="270592" y="6391835"/>
            <a:ext cx="219390" cy="124321"/>
          </a:xfrm>
          <a:custGeom>
            <a:avLst/>
            <a:gdLst/>
            <a:ahLst/>
            <a:cxnLst/>
            <a:rect l="l" t="t" r="r" b="b"/>
            <a:pathLst>
              <a:path w="30" h="17">
                <a:moveTo>
                  <a:pt x="0" y="16"/>
                </a:moveTo>
                <a:lnTo>
                  <a:pt x="12" y="4"/>
                </a:lnTo>
                <a:lnTo>
                  <a:pt x="19" y="11"/>
                </a:lnTo>
                <a:lnTo>
                  <a:pt x="30" y="0"/>
                </a:lnTo>
                <a:lnTo>
                  <a:pt x="30" y="17"/>
                </a:lnTo>
                <a:lnTo>
                  <a:pt x="0" y="17"/>
                </a:lnTo>
                <a:close/>
              </a:path>
            </a:pathLst>
          </a:custGeom>
          <a:solidFill>
            <a:srgbClr val="39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1" name="rect_345_345"/>
          <p:cNvSpPr/>
          <p:nvPr/>
        </p:nvSpPr>
        <p:spPr>
          <a:xfrm>
            <a:off x="358352" y="6384521"/>
            <a:ext cx="102386" cy="102386"/>
          </a:xfrm>
          <a:prstGeom prst="rect">
            <a:avLst/>
          </a:prstGeom>
          <a:noFill/>
          <a:ln w="14626">
            <a:solidFill>
              <a:srgbClr val="FF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_346_346"/>
          <p:cNvSpPr txBox="1"/>
          <p:nvPr/>
        </p:nvSpPr>
        <p:spPr>
          <a:xfrm>
            <a:off x="650884" y="6347955"/>
            <a:ext cx="1740568" cy="263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111111"/>
                </a:solidFill>
                <a:latin typeface="Liberation Sans"/>
              </a:rPr>
              <a:t>Object Detection</a:t>
            </a:r>
          </a:p>
        </p:txBody>
      </p:sp>
      <p:sp>
        <p:nvSpPr>
          <p:cNvPr id="353" name="rect_347_347"/>
          <p:cNvSpPr/>
          <p:nvPr/>
        </p:nvSpPr>
        <p:spPr>
          <a:xfrm>
            <a:off x="255965" y="6823320"/>
            <a:ext cx="226712" cy="277905"/>
          </a:xfrm>
          <a:prstGeom prst="rect">
            <a:avLst/>
          </a:prstGeom>
          <a:solidFill>
            <a:srgbClr val="F8EFF9"/>
          </a:solidFill>
          <a:ln w="14626">
            <a:solidFill>
              <a:srgbClr val="6554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4" name="ellipse_348_348"/>
          <p:cNvSpPr/>
          <p:nvPr/>
        </p:nvSpPr>
        <p:spPr>
          <a:xfrm>
            <a:off x="307159" y="6881827"/>
            <a:ext cx="131639" cy="131639"/>
          </a:xfrm>
          <a:prstGeom prst="ellipse">
            <a:avLst/>
          </a:prstGeom>
          <a:solidFill>
            <a:srgbClr val="E98ED3"/>
          </a:solidFill>
          <a:ln w="14626">
            <a:solidFill>
              <a:srgbClr val="7651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5" name="line_349_349"/>
          <p:cNvCxnSpPr/>
          <p:nvPr/>
        </p:nvCxnSpPr>
        <p:spPr>
          <a:xfrm>
            <a:off x="424172" y="7006153"/>
            <a:ext cx="65819" cy="80446"/>
          </a:xfrm>
          <a:prstGeom prst="line">
            <a:avLst/>
          </a:prstGeom>
          <a:ln w="29253">
            <a:solidFill>
              <a:srgbClr val="7651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6" name="text_350_350"/>
          <p:cNvSpPr txBox="1"/>
          <p:nvPr/>
        </p:nvSpPr>
        <p:spPr>
          <a:xfrm>
            <a:off x="650884" y="6852573"/>
            <a:ext cx="1740568" cy="263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111111"/>
                </a:solidFill>
                <a:latin typeface="Liberation Sans"/>
              </a:rPr>
              <a:t>Image Retrive</a:t>
            </a:r>
          </a:p>
        </p:txBody>
      </p:sp>
      <p:sp>
        <p:nvSpPr>
          <p:cNvPr id="357" name="rect_351_351"/>
          <p:cNvSpPr/>
          <p:nvPr/>
        </p:nvSpPr>
        <p:spPr>
          <a:xfrm>
            <a:off x="226712" y="7327939"/>
            <a:ext cx="307159" cy="234026"/>
          </a:xfrm>
          <a:prstGeom prst="rect">
            <a:avLst/>
          </a:prstGeom>
          <a:solidFill>
            <a:srgbClr val="F8FBFF"/>
          </a:solidFill>
          <a:ln w="14626">
            <a:solidFill>
              <a:srgbClr val="4A83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8" name="rect_352_352"/>
          <p:cNvSpPr/>
          <p:nvPr/>
        </p:nvSpPr>
        <p:spPr>
          <a:xfrm>
            <a:off x="263279" y="7364505"/>
            <a:ext cx="234026" cy="160892"/>
          </a:xfrm>
          <a:prstGeom prst="rect">
            <a:avLst/>
          </a:prstGeom>
          <a:solidFill>
            <a:srgbClr val="DDEA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9" name="ellipse_353_353"/>
          <p:cNvSpPr/>
          <p:nvPr/>
        </p:nvSpPr>
        <p:spPr>
          <a:xfrm>
            <a:off x="299845" y="7386445"/>
            <a:ext cx="43879" cy="43879"/>
          </a:xfrm>
          <a:prstGeom prst="ellipse">
            <a:avLst/>
          </a:prstGeom>
          <a:solidFill>
            <a:srgbClr val="7CC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polygon_354_354"/>
          <p:cNvSpPr/>
          <p:nvPr/>
        </p:nvSpPr>
        <p:spPr>
          <a:xfrm>
            <a:off x="270592" y="7401072"/>
            <a:ext cx="219390" cy="124321"/>
          </a:xfrm>
          <a:custGeom>
            <a:avLst/>
            <a:gdLst/>
            <a:ahLst/>
            <a:cxnLst/>
            <a:rect l="l" t="t" r="r" b="b"/>
            <a:pathLst>
              <a:path w="30" h="17">
                <a:moveTo>
                  <a:pt x="0" y="16"/>
                </a:moveTo>
                <a:lnTo>
                  <a:pt x="12" y="4"/>
                </a:lnTo>
                <a:lnTo>
                  <a:pt x="19" y="11"/>
                </a:lnTo>
                <a:lnTo>
                  <a:pt x="30" y="0"/>
                </a:lnTo>
                <a:lnTo>
                  <a:pt x="30" y="17"/>
                </a:lnTo>
                <a:lnTo>
                  <a:pt x="0" y="17"/>
                </a:lnTo>
                <a:close/>
              </a:path>
            </a:pathLst>
          </a:custGeom>
          <a:solidFill>
            <a:srgbClr val="39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text_355_355"/>
          <p:cNvSpPr txBox="1"/>
          <p:nvPr/>
        </p:nvSpPr>
        <p:spPr>
          <a:xfrm>
            <a:off x="650884" y="7357192"/>
            <a:ext cx="1740568" cy="263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111111"/>
                </a:solidFill>
                <a:latin typeface="Liberation Sans"/>
              </a:rPr>
              <a:t>Image Deblur</a:t>
            </a:r>
          </a:p>
        </p:txBody>
      </p:sp>
      <p:sp>
        <p:nvSpPr>
          <p:cNvPr id="362" name="rect_356_356"/>
          <p:cNvSpPr/>
          <p:nvPr/>
        </p:nvSpPr>
        <p:spPr>
          <a:xfrm>
            <a:off x="226712" y="7832557"/>
            <a:ext cx="307159" cy="234026"/>
          </a:xfrm>
          <a:prstGeom prst="rect">
            <a:avLst/>
          </a:prstGeom>
          <a:solidFill>
            <a:srgbClr val="F8FBFF"/>
          </a:solidFill>
          <a:ln w="14626">
            <a:solidFill>
              <a:srgbClr val="4A83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rect_357_357"/>
          <p:cNvSpPr/>
          <p:nvPr/>
        </p:nvSpPr>
        <p:spPr>
          <a:xfrm>
            <a:off x="263279" y="7869124"/>
            <a:ext cx="234026" cy="160892"/>
          </a:xfrm>
          <a:prstGeom prst="rect">
            <a:avLst/>
          </a:prstGeom>
          <a:solidFill>
            <a:srgbClr val="E5C4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ellipse_358_358"/>
          <p:cNvSpPr/>
          <p:nvPr/>
        </p:nvSpPr>
        <p:spPr>
          <a:xfrm>
            <a:off x="299845" y="7891064"/>
            <a:ext cx="43879" cy="43879"/>
          </a:xfrm>
          <a:prstGeom prst="ellipse">
            <a:avLst/>
          </a:prstGeom>
          <a:solidFill>
            <a:srgbClr val="7CC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5" name="polygon_359_359"/>
          <p:cNvSpPr/>
          <p:nvPr/>
        </p:nvSpPr>
        <p:spPr>
          <a:xfrm>
            <a:off x="270592" y="7905691"/>
            <a:ext cx="219390" cy="124321"/>
          </a:xfrm>
          <a:custGeom>
            <a:avLst/>
            <a:gdLst/>
            <a:ahLst/>
            <a:cxnLst/>
            <a:rect l="l" t="t" r="r" b="b"/>
            <a:pathLst>
              <a:path w="30" h="17">
                <a:moveTo>
                  <a:pt x="0" y="16"/>
                </a:moveTo>
                <a:lnTo>
                  <a:pt x="12" y="4"/>
                </a:lnTo>
                <a:lnTo>
                  <a:pt x="19" y="11"/>
                </a:lnTo>
                <a:lnTo>
                  <a:pt x="30" y="0"/>
                </a:lnTo>
                <a:lnTo>
                  <a:pt x="30" y="17"/>
                </a:lnTo>
                <a:lnTo>
                  <a:pt x="0" y="17"/>
                </a:lnTo>
                <a:close/>
              </a:path>
            </a:pathLst>
          </a:custGeom>
          <a:solidFill>
            <a:srgbClr val="395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6" name="text_360_360"/>
          <p:cNvSpPr txBox="1"/>
          <p:nvPr/>
        </p:nvSpPr>
        <p:spPr>
          <a:xfrm>
            <a:off x="650884" y="7861811"/>
            <a:ext cx="1740568" cy="263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111111"/>
                </a:solidFill>
                <a:latin typeface="Liberation Sans"/>
              </a:rPr>
              <a:t>Image Zoom</a:t>
            </a:r>
          </a:p>
        </p:txBody>
      </p:sp>
      <p:sp>
        <p:nvSpPr>
          <p:cNvPr id="367" name="ellipse_361_361"/>
          <p:cNvSpPr/>
          <p:nvPr/>
        </p:nvSpPr>
        <p:spPr>
          <a:xfrm>
            <a:off x="248652" y="8351803"/>
            <a:ext cx="226712" cy="226712"/>
          </a:xfrm>
          <a:prstGeom prst="ellipse">
            <a:avLst/>
          </a:prstGeom>
          <a:solidFill>
            <a:srgbClr val="E8F5F9"/>
          </a:solidFill>
          <a:ln w="21939">
            <a:solidFill>
              <a:srgbClr val="466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8" name="line_362_362"/>
          <p:cNvCxnSpPr/>
          <p:nvPr/>
        </p:nvCxnSpPr>
        <p:spPr>
          <a:xfrm>
            <a:off x="431485" y="8549262"/>
            <a:ext cx="102386" cy="95073"/>
          </a:xfrm>
          <a:prstGeom prst="line">
            <a:avLst/>
          </a:prstGeom>
          <a:ln w="43879">
            <a:solidFill>
              <a:srgbClr val="27A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line_363_363"/>
          <p:cNvCxnSpPr/>
          <p:nvPr/>
        </p:nvCxnSpPr>
        <p:spPr>
          <a:xfrm>
            <a:off x="314472" y="8351803"/>
            <a:ext cx="0" cy="226712"/>
          </a:xfrm>
          <a:prstGeom prst="line">
            <a:avLst/>
          </a:prstGeom>
          <a:ln w="7313">
            <a:solidFill>
              <a:srgbClr val="6AA2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0" name="line_364_364"/>
          <p:cNvCxnSpPr/>
          <p:nvPr/>
        </p:nvCxnSpPr>
        <p:spPr>
          <a:xfrm>
            <a:off x="248652" y="8461502"/>
            <a:ext cx="226713" cy="0"/>
          </a:xfrm>
          <a:prstGeom prst="line">
            <a:avLst/>
          </a:prstGeom>
          <a:ln w="7313">
            <a:solidFill>
              <a:srgbClr val="6AA2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1" name="text_365_365"/>
          <p:cNvSpPr txBox="1"/>
          <p:nvPr/>
        </p:nvSpPr>
        <p:spPr>
          <a:xfrm>
            <a:off x="650884" y="8366429"/>
            <a:ext cx="1740568" cy="26327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111111"/>
                </a:solidFill>
                <a:latin typeface="Liberation Sans"/>
              </a:rPr>
              <a:t>Web Search</a:t>
            </a:r>
          </a:p>
        </p:txBody>
      </p:sp>
      <p:sp>
        <p:nvSpPr>
          <p:cNvPr id="372" name="text_366_366"/>
          <p:cNvSpPr txBox="1"/>
          <p:nvPr/>
        </p:nvSpPr>
        <p:spPr>
          <a:xfrm>
            <a:off x="255965" y="8907614"/>
            <a:ext cx="585065" cy="2193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0" i="0">
                <a:solidFill>
                  <a:srgbClr val="111111"/>
                </a:solidFill>
                <a:latin typeface="Liberation Sans"/>
              </a:rPr>
              <a:t>...</a:t>
            </a:r>
          </a:p>
        </p:txBody>
      </p:sp>
      <p:sp>
        <p:nvSpPr>
          <p:cNvPr id="373" name="text_367_367"/>
          <p:cNvSpPr txBox="1"/>
          <p:nvPr/>
        </p:nvSpPr>
        <p:spPr>
          <a:xfrm>
            <a:off x="2435333" y="3115471"/>
            <a:ext cx="351039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1" i="0">
                <a:solidFill>
                  <a:srgbClr val="111111"/>
                </a:solidFill>
                <a:latin typeface="Liberation Sans"/>
              </a:rPr>
              <a:t>RAG</a:t>
            </a:r>
          </a:p>
        </p:txBody>
      </p:sp>
      <p:pic>
        <p:nvPicPr>
          <p:cNvPr id="374" name="panda_perception_368" descr="panda_observe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713239" y="1652808"/>
            <a:ext cx="672824" cy="731331"/>
          </a:xfrm>
          <a:prstGeom prst="rect">
            <a:avLst/>
          </a:prstGeom>
        </p:spPr>
      </p:pic>
      <p:sp>
        <p:nvSpPr>
          <p:cNvPr id="375" name="rect_369_369"/>
          <p:cNvSpPr/>
          <p:nvPr/>
        </p:nvSpPr>
        <p:spPr>
          <a:xfrm>
            <a:off x="4687833" y="1873670"/>
            <a:ext cx="322517" cy="157967"/>
          </a:xfrm>
          <a:prstGeom prst="roundRect">
            <a:avLst/>
          </a:prstGeom>
          <a:solidFill>
            <a:srgbClr val="D7EAF2"/>
          </a:solidFill>
          <a:ln w="21939">
            <a:solidFill>
              <a:srgbClr val="466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rect_370_370"/>
          <p:cNvSpPr/>
          <p:nvPr/>
        </p:nvSpPr>
        <p:spPr>
          <a:xfrm>
            <a:off x="4720743" y="1913162"/>
            <a:ext cx="111893" cy="72401"/>
          </a:xfrm>
          <a:prstGeom prst="roundRect">
            <a:avLst/>
          </a:prstGeom>
          <a:solidFill>
            <a:srgbClr val="F6F7F8"/>
          </a:solidFill>
          <a:ln w="7313">
            <a:solidFill>
              <a:srgbClr val="759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rect_371_371"/>
          <p:cNvSpPr/>
          <p:nvPr/>
        </p:nvSpPr>
        <p:spPr>
          <a:xfrm>
            <a:off x="4865546" y="1913162"/>
            <a:ext cx="111893" cy="72401"/>
          </a:xfrm>
          <a:prstGeom prst="roundRect">
            <a:avLst/>
          </a:prstGeom>
          <a:solidFill>
            <a:srgbClr val="F6F7F8"/>
          </a:solidFill>
          <a:ln w="7313">
            <a:solidFill>
              <a:srgbClr val="759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8" name="line_372_372"/>
          <p:cNvCxnSpPr/>
          <p:nvPr/>
        </p:nvCxnSpPr>
        <p:spPr>
          <a:xfrm flipV="1">
            <a:off x="4714161" y="1840760"/>
            <a:ext cx="32910" cy="32910"/>
          </a:xfrm>
          <a:prstGeom prst="line">
            <a:avLst/>
          </a:prstGeom>
          <a:ln w="14626">
            <a:solidFill>
              <a:srgbClr val="4662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9" name="line_373_373"/>
          <p:cNvCxnSpPr/>
          <p:nvPr/>
        </p:nvCxnSpPr>
        <p:spPr>
          <a:xfrm flipH="1" flipV="1">
            <a:off x="4951112" y="1840760"/>
            <a:ext cx="32910" cy="32910"/>
          </a:xfrm>
          <a:prstGeom prst="line">
            <a:avLst/>
          </a:prstGeom>
          <a:ln w="14626">
            <a:solidFill>
              <a:srgbClr val="4662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0" name="text_374_374"/>
          <p:cNvSpPr txBox="1"/>
          <p:nvPr/>
        </p:nvSpPr>
        <p:spPr>
          <a:xfrm>
            <a:off x="4124708" y="2076980"/>
            <a:ext cx="1572362" cy="2193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111111"/>
                </a:solidFill>
                <a:latin typeface="Liberation Sans"/>
              </a:rPr>
              <a:t>VLM Perception</a:t>
            </a:r>
          </a:p>
        </p:txBody>
      </p:sp>
      <p:sp>
        <p:nvSpPr>
          <p:cNvPr id="381" name="rect_375_375"/>
          <p:cNvSpPr/>
          <p:nvPr/>
        </p:nvSpPr>
        <p:spPr>
          <a:xfrm>
            <a:off x="8783288" y="1831984"/>
            <a:ext cx="223787" cy="243533"/>
          </a:xfrm>
          <a:prstGeom prst="roundRect">
            <a:avLst/>
          </a:prstGeom>
          <a:solidFill>
            <a:srgbClr val="F7F7F7"/>
          </a:solidFill>
          <a:ln w="14626">
            <a:solidFill>
              <a:srgbClr val="33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rect_376_376"/>
          <p:cNvSpPr/>
          <p:nvPr/>
        </p:nvSpPr>
        <p:spPr>
          <a:xfrm>
            <a:off x="8835944" y="1799074"/>
            <a:ext cx="118475" cy="59237"/>
          </a:xfrm>
          <a:prstGeom prst="roundRect">
            <a:avLst/>
          </a:prstGeom>
          <a:solidFill>
            <a:srgbClr val="F1C85B"/>
          </a:solidFill>
          <a:ln w="10969">
            <a:solidFill>
              <a:srgbClr val="33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ellipse_377_377"/>
          <p:cNvSpPr/>
          <p:nvPr/>
        </p:nvSpPr>
        <p:spPr>
          <a:xfrm>
            <a:off x="8849108" y="1812238"/>
            <a:ext cx="19745" cy="19745"/>
          </a:xfrm>
          <a:prstGeom prst="ellipse">
            <a:avLst/>
          </a:prstGeom>
          <a:solidFill>
            <a:srgbClr val="5C9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ellipse_378_378"/>
          <p:cNvSpPr/>
          <p:nvPr/>
        </p:nvSpPr>
        <p:spPr>
          <a:xfrm>
            <a:off x="8895182" y="1812238"/>
            <a:ext cx="19745" cy="19745"/>
          </a:xfrm>
          <a:prstGeom prst="ellipse">
            <a:avLst/>
          </a:prstGeom>
          <a:solidFill>
            <a:srgbClr val="F3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ellipse_379_379"/>
          <p:cNvSpPr/>
          <p:nvPr/>
        </p:nvSpPr>
        <p:spPr>
          <a:xfrm>
            <a:off x="8941256" y="1812238"/>
            <a:ext cx="19745" cy="19745"/>
          </a:xfrm>
          <a:prstGeom prst="ellipse">
            <a:avLst/>
          </a:prstGeom>
          <a:solidFill>
            <a:srgbClr val="5C9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rect_380_380"/>
          <p:cNvSpPr/>
          <p:nvPr/>
        </p:nvSpPr>
        <p:spPr>
          <a:xfrm>
            <a:off x="8822780" y="1897804"/>
            <a:ext cx="26327" cy="26327"/>
          </a:xfrm>
          <a:prstGeom prst="rect">
            <a:avLst/>
          </a:prstGeom>
          <a:solidFill>
            <a:srgbClr val="76B4E8"/>
          </a:solidFill>
          <a:ln w="5850">
            <a:solidFill>
              <a:srgbClr val="33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7" name="line_381_381"/>
          <p:cNvCxnSpPr/>
          <p:nvPr/>
        </p:nvCxnSpPr>
        <p:spPr>
          <a:xfrm>
            <a:off x="8868854" y="1910968"/>
            <a:ext cx="105312" cy="0"/>
          </a:xfrm>
          <a:prstGeom prst="line">
            <a:avLst/>
          </a:prstGeom>
          <a:ln w="7313">
            <a:solidFill>
              <a:srgbClr val="334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8" name="rect_382_382"/>
          <p:cNvSpPr/>
          <p:nvPr/>
        </p:nvSpPr>
        <p:spPr>
          <a:xfrm>
            <a:off x="8822780" y="1950460"/>
            <a:ext cx="26327" cy="26327"/>
          </a:xfrm>
          <a:prstGeom prst="rect">
            <a:avLst/>
          </a:prstGeom>
          <a:solidFill>
            <a:srgbClr val="76B4E8"/>
          </a:solidFill>
          <a:ln w="5850">
            <a:solidFill>
              <a:srgbClr val="33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9" name="line_383_383"/>
          <p:cNvCxnSpPr/>
          <p:nvPr/>
        </p:nvCxnSpPr>
        <p:spPr>
          <a:xfrm>
            <a:off x="8868854" y="1963624"/>
            <a:ext cx="105312" cy="0"/>
          </a:xfrm>
          <a:prstGeom prst="line">
            <a:avLst/>
          </a:prstGeom>
          <a:ln w="7313">
            <a:solidFill>
              <a:srgbClr val="334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0" name="rect_384_384"/>
          <p:cNvSpPr/>
          <p:nvPr/>
        </p:nvSpPr>
        <p:spPr>
          <a:xfrm>
            <a:off x="8822780" y="2003116"/>
            <a:ext cx="26327" cy="26327"/>
          </a:xfrm>
          <a:prstGeom prst="rect">
            <a:avLst/>
          </a:prstGeom>
          <a:solidFill>
            <a:srgbClr val="76B4E8"/>
          </a:solidFill>
          <a:ln w="5850">
            <a:solidFill>
              <a:srgbClr val="33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1" name="line_385_385"/>
          <p:cNvCxnSpPr/>
          <p:nvPr/>
        </p:nvCxnSpPr>
        <p:spPr>
          <a:xfrm>
            <a:off x="8868854" y="2016280"/>
            <a:ext cx="105312" cy="0"/>
          </a:xfrm>
          <a:prstGeom prst="line">
            <a:avLst/>
          </a:prstGeom>
          <a:ln w="7313">
            <a:solidFill>
              <a:srgbClr val="334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2" name="text_386_386"/>
          <p:cNvSpPr txBox="1"/>
          <p:nvPr/>
        </p:nvSpPr>
        <p:spPr>
          <a:xfrm>
            <a:off x="8117777" y="2076980"/>
            <a:ext cx="1901461" cy="2193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111111"/>
                </a:solidFill>
                <a:latin typeface="Liberation Sans"/>
              </a:rPr>
              <a:t>MLLM Planning</a:t>
            </a:r>
          </a:p>
        </p:txBody>
      </p:sp>
      <p:sp>
        <p:nvSpPr>
          <p:cNvPr id="393" name="ellipse_387_387"/>
          <p:cNvSpPr/>
          <p:nvPr/>
        </p:nvSpPr>
        <p:spPr>
          <a:xfrm>
            <a:off x="12286365" y="1813701"/>
            <a:ext cx="307159" cy="307159"/>
          </a:xfrm>
          <a:prstGeom prst="ellipse">
            <a:avLst/>
          </a:prstGeom>
          <a:solidFill>
            <a:srgbClr val="4CB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4" name="ellipse_388_388"/>
          <p:cNvSpPr/>
          <p:nvPr/>
        </p:nvSpPr>
        <p:spPr>
          <a:xfrm>
            <a:off x="12330245" y="1857581"/>
            <a:ext cx="219399" cy="219399"/>
          </a:xfrm>
          <a:prstGeom prst="ellipse">
            <a:avLst/>
          </a:prstGeom>
          <a:solidFill>
            <a:srgbClr val="234C71"/>
          </a:solidFill>
          <a:ln w="14626">
            <a:solidFill>
              <a:srgbClr val="F6D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5" name="line_389_389_segment_1"/>
          <p:cNvCxnSpPr/>
          <p:nvPr/>
        </p:nvCxnSpPr>
        <p:spPr>
          <a:xfrm flipV="1">
            <a:off x="12315618" y="1821014"/>
            <a:ext cx="73133" cy="51194"/>
          </a:xfrm>
          <a:prstGeom prst="line">
            <a:avLst/>
          </a:prstGeom>
          <a:ln w="21939">
            <a:solidFill>
              <a:srgbClr val="F47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line_389_389_segment_2"/>
          <p:cNvCxnSpPr/>
          <p:nvPr/>
        </p:nvCxnSpPr>
        <p:spPr>
          <a:xfrm>
            <a:off x="12388751" y="1821014"/>
            <a:ext cx="73133" cy="7314"/>
          </a:xfrm>
          <a:prstGeom prst="line">
            <a:avLst/>
          </a:prstGeom>
          <a:ln w="21939">
            <a:solidFill>
              <a:srgbClr val="F47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7" name="line_390_390_segment_1"/>
          <p:cNvCxnSpPr/>
          <p:nvPr/>
        </p:nvCxnSpPr>
        <p:spPr>
          <a:xfrm>
            <a:off x="12337558" y="2018474"/>
            <a:ext cx="65820" cy="51193"/>
          </a:xfrm>
          <a:prstGeom prst="line">
            <a:avLst/>
          </a:prstGeom>
          <a:ln w="14626">
            <a:solidFill>
              <a:srgbClr val="EE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8" name="line_390_390_segment_2"/>
          <p:cNvCxnSpPr/>
          <p:nvPr/>
        </p:nvCxnSpPr>
        <p:spPr>
          <a:xfrm flipV="1">
            <a:off x="12403378" y="2062354"/>
            <a:ext cx="87760" cy="7313"/>
          </a:xfrm>
          <a:prstGeom prst="line">
            <a:avLst/>
          </a:prstGeom>
          <a:ln w="14626">
            <a:solidFill>
              <a:srgbClr val="EE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" name="line_391_391_segment_1"/>
          <p:cNvCxnSpPr/>
          <p:nvPr/>
        </p:nvCxnSpPr>
        <p:spPr>
          <a:xfrm flipV="1">
            <a:off x="12374125" y="1916087"/>
            <a:ext cx="43879" cy="29254"/>
          </a:xfrm>
          <a:prstGeom prst="line">
            <a:avLst/>
          </a:prstGeom>
          <a:ln w="10969">
            <a:solidFill>
              <a:srgbClr val="EE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0" name="line_391_391_segment_2"/>
          <p:cNvCxnSpPr/>
          <p:nvPr/>
        </p:nvCxnSpPr>
        <p:spPr>
          <a:xfrm>
            <a:off x="12418004" y="1916087"/>
            <a:ext cx="51194" cy="21940"/>
          </a:xfrm>
          <a:prstGeom prst="line">
            <a:avLst/>
          </a:prstGeom>
          <a:ln w="10969">
            <a:solidFill>
              <a:srgbClr val="EE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1" name="line_391_391_segment_3"/>
          <p:cNvCxnSpPr/>
          <p:nvPr/>
        </p:nvCxnSpPr>
        <p:spPr>
          <a:xfrm flipV="1">
            <a:off x="12469198" y="1916087"/>
            <a:ext cx="43880" cy="21940"/>
          </a:xfrm>
          <a:prstGeom prst="line">
            <a:avLst/>
          </a:prstGeom>
          <a:ln w="10969">
            <a:solidFill>
              <a:srgbClr val="EE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2" name="text_392_392"/>
          <p:cNvSpPr txBox="1"/>
          <p:nvPr/>
        </p:nvSpPr>
        <p:spPr>
          <a:xfrm>
            <a:off x="11613540" y="2142800"/>
            <a:ext cx="1645495" cy="2193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111111"/>
                </a:solidFill>
                <a:latin typeface="Liberation Sans"/>
              </a:rPr>
              <a:t>VLM Reasoning</a:t>
            </a:r>
          </a:p>
        </p:txBody>
      </p:sp>
      <p:sp>
        <p:nvSpPr>
          <p:cNvPr id="403" name="environment_info_box_393"/>
          <p:cNvSpPr/>
          <p:nvPr/>
        </p:nvSpPr>
        <p:spPr>
          <a:xfrm>
            <a:off x="2939951" y="2398766"/>
            <a:ext cx="4197841" cy="1411469"/>
          </a:xfrm>
          <a:prstGeom prst="roundRect">
            <a:avLst/>
          </a:prstGeom>
          <a:solidFill>
            <a:srgbClr val="D7D8DB"/>
          </a:solidFill>
          <a:ln w="29253">
            <a:solidFill>
              <a:srgbClr val="A7AAA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strategy_plan_box_394"/>
          <p:cNvSpPr/>
          <p:nvPr/>
        </p:nvSpPr>
        <p:spPr>
          <a:xfrm>
            <a:off x="7342565" y="2398766"/>
            <a:ext cx="3093531" cy="1411469"/>
          </a:xfrm>
          <a:prstGeom prst="roundRect">
            <a:avLst/>
          </a:prstGeom>
          <a:solidFill>
            <a:srgbClr val="F1F1F1"/>
          </a:solidFill>
          <a:ln w="29253">
            <a:solidFill>
              <a:srgbClr val="A7AAA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text_395_395"/>
          <p:cNvSpPr txBox="1"/>
          <p:nvPr/>
        </p:nvSpPr>
        <p:spPr>
          <a:xfrm>
            <a:off x="2961891" y="2420706"/>
            <a:ext cx="4168588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111111"/>
                </a:solidFill>
                <a:latin typeface="Liberation Sans"/>
              </a:rPr>
              <a:t>Environmental Information</a:t>
            </a:r>
          </a:p>
        </p:txBody>
      </p:sp>
      <p:sp>
        <p:nvSpPr>
          <p:cNvPr id="406" name="text_396_396"/>
          <p:cNvSpPr txBox="1"/>
          <p:nvPr/>
        </p:nvSpPr>
        <p:spPr>
          <a:xfrm>
            <a:off x="3064278" y="2683985"/>
            <a:ext cx="2340260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1" i="0">
                <a:solidFill>
                  <a:srgbClr val="111111"/>
                </a:solidFill>
                <a:latin typeface="Liberation Sans"/>
              </a:rPr>
              <a:t>Scene Overview</a:t>
            </a:r>
          </a:p>
        </p:txBody>
      </p:sp>
      <p:sp>
        <p:nvSpPr>
          <p:cNvPr id="407" name="text_397_397"/>
          <p:cNvSpPr txBox="1"/>
          <p:nvPr/>
        </p:nvSpPr>
        <p:spPr>
          <a:xfrm>
            <a:off x="3064278" y="2874131"/>
            <a:ext cx="2340260" cy="197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11111"/>
                </a:solidFill>
                <a:latin typeface="Liberation Sans"/>
              </a:rPr>
              <a:t>•  The video depicts a  store with...</a:t>
            </a:r>
          </a:p>
        </p:txBody>
      </p:sp>
      <p:sp>
        <p:nvSpPr>
          <p:cNvPr id="408" name="text_398_398"/>
          <p:cNvSpPr txBox="1"/>
          <p:nvPr/>
        </p:nvSpPr>
        <p:spPr>
          <a:xfrm>
            <a:off x="3064278" y="3078904"/>
            <a:ext cx="2340260" cy="197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1" i="0">
                <a:solidFill>
                  <a:srgbClr val="111111"/>
                </a:solidFill>
                <a:latin typeface="Liberation Sans"/>
              </a:rPr>
              <a:t>Weather Condition</a:t>
            </a:r>
          </a:p>
        </p:txBody>
      </p:sp>
      <p:sp>
        <p:nvSpPr>
          <p:cNvPr id="409" name="text_399_399"/>
          <p:cNvSpPr txBox="1"/>
          <p:nvPr/>
        </p:nvSpPr>
        <p:spPr>
          <a:xfrm>
            <a:off x="3064278" y="3269050"/>
            <a:ext cx="2340260" cy="197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11111"/>
                </a:solidFill>
                <a:latin typeface="Liberation Sans"/>
              </a:rPr>
              <a:t>•  Daytime, bright light</a:t>
            </a:r>
          </a:p>
        </p:txBody>
      </p:sp>
      <p:sp>
        <p:nvSpPr>
          <p:cNvPr id="410" name="text_400_400"/>
          <p:cNvSpPr txBox="1"/>
          <p:nvPr/>
        </p:nvSpPr>
        <p:spPr>
          <a:xfrm>
            <a:off x="3064278" y="3473823"/>
            <a:ext cx="2340260" cy="197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1" i="0">
                <a:solidFill>
                  <a:srgbClr val="111111"/>
                </a:solidFill>
                <a:latin typeface="Liberation Sans"/>
              </a:rPr>
              <a:t>Video Quality</a:t>
            </a:r>
          </a:p>
        </p:txBody>
      </p:sp>
      <p:sp>
        <p:nvSpPr>
          <p:cNvPr id="411" name="text_401_401"/>
          <p:cNvSpPr txBox="1"/>
          <p:nvPr/>
        </p:nvSpPr>
        <p:spPr>
          <a:xfrm>
            <a:off x="3064278" y="3605463"/>
            <a:ext cx="3949188" cy="197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111111"/>
                </a:solidFill>
                <a:latin typeface="Liberation Sans"/>
              </a:rPr>
              <a:t>•  The overall quality of the video is low and blurry.</a:t>
            </a:r>
          </a:p>
        </p:txBody>
      </p:sp>
      <p:sp>
        <p:nvSpPr>
          <p:cNvPr id="412" name="text_402_402"/>
          <p:cNvSpPr txBox="1"/>
          <p:nvPr/>
        </p:nvSpPr>
        <p:spPr>
          <a:xfrm>
            <a:off x="5521551" y="2683985"/>
            <a:ext cx="1499229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1" i="0">
                <a:solidFill>
                  <a:srgbClr val="111111"/>
                </a:solidFill>
                <a:latin typeface="Liberation Sans"/>
              </a:rPr>
              <a:t>Potential Anomalies</a:t>
            </a:r>
          </a:p>
        </p:txBody>
      </p:sp>
      <p:sp>
        <p:nvSpPr>
          <p:cNvPr id="413" name="text_403_403"/>
          <p:cNvSpPr txBox="1"/>
          <p:nvPr/>
        </p:nvSpPr>
        <p:spPr>
          <a:xfrm>
            <a:off x="5521551" y="2881445"/>
            <a:ext cx="1389529" cy="63625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11111"/>
                </a:solidFill>
                <a:latin typeface="Liberation Sans"/>
              </a:rPr>
              <a:t>•  Burglary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11111"/>
                </a:solidFill>
                <a:latin typeface="Liberation Sans"/>
              </a:rPr>
              <a:t>•  Shoplifting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11111"/>
                </a:solidFill>
                <a:latin typeface="Liberation Sans"/>
              </a:rPr>
              <a:t>•  Stealing</a:t>
            </a:r>
          </a:p>
        </p:txBody>
      </p:sp>
      <p:sp>
        <p:nvSpPr>
          <p:cNvPr id="414" name="text_404_404"/>
          <p:cNvSpPr txBox="1"/>
          <p:nvPr/>
        </p:nvSpPr>
        <p:spPr>
          <a:xfrm>
            <a:off x="7371819" y="2420706"/>
            <a:ext cx="3035024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111111"/>
                </a:solidFill>
                <a:latin typeface="Liberation Sans"/>
              </a:rPr>
              <a:t>Detection Strategy Planning</a:t>
            </a:r>
          </a:p>
        </p:txBody>
      </p:sp>
      <p:sp>
        <p:nvSpPr>
          <p:cNvPr id="415" name="text_405_405"/>
          <p:cNvSpPr txBox="1"/>
          <p:nvPr/>
        </p:nvSpPr>
        <p:spPr>
          <a:xfrm>
            <a:off x="7459578" y="2683985"/>
            <a:ext cx="2705925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1" i="0">
                <a:solidFill>
                  <a:srgbClr val="111111"/>
                </a:solidFill>
                <a:latin typeface="Liberation Sans"/>
              </a:rPr>
              <a:t>Preprocessing</a:t>
            </a:r>
          </a:p>
        </p:txBody>
      </p:sp>
      <p:sp>
        <p:nvSpPr>
          <p:cNvPr id="416" name="text_406_406"/>
          <p:cNvSpPr txBox="1"/>
          <p:nvPr/>
        </p:nvSpPr>
        <p:spPr>
          <a:xfrm>
            <a:off x="7459578" y="2881445"/>
            <a:ext cx="2705925" cy="197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4" b="0" i="0">
                <a:solidFill>
                  <a:srgbClr val="111111"/>
                </a:solidFill>
                <a:latin typeface="Liberation Sans"/>
              </a:rPr>
              <a:t>•  Image Deblur</a:t>
            </a:r>
          </a:p>
        </p:txBody>
      </p:sp>
      <p:sp>
        <p:nvSpPr>
          <p:cNvPr id="417" name="text_407_407"/>
          <p:cNvSpPr txBox="1"/>
          <p:nvPr/>
        </p:nvSpPr>
        <p:spPr>
          <a:xfrm>
            <a:off x="7459578" y="3078904"/>
            <a:ext cx="2705925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1" i="0">
                <a:solidFill>
                  <a:srgbClr val="111111"/>
                </a:solidFill>
                <a:latin typeface="Liberation Sans"/>
              </a:rPr>
              <a:t>Anomaly Rules</a:t>
            </a:r>
          </a:p>
        </p:txBody>
      </p:sp>
      <p:sp>
        <p:nvSpPr>
          <p:cNvPr id="418" name="text_408_408"/>
          <p:cNvSpPr txBox="1"/>
          <p:nvPr/>
        </p:nvSpPr>
        <p:spPr>
          <a:xfrm>
            <a:off x="7459578" y="3276364"/>
            <a:ext cx="2866818" cy="197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111111"/>
                </a:solidFill>
                <a:latin typeface="Liberation Sans"/>
              </a:rPr>
              <a:t>•  Companion distracts clerk while theft ...</a:t>
            </a:r>
          </a:p>
        </p:txBody>
      </p:sp>
      <p:sp>
        <p:nvSpPr>
          <p:cNvPr id="419" name="text_409_409"/>
          <p:cNvSpPr txBox="1"/>
          <p:nvPr/>
        </p:nvSpPr>
        <p:spPr>
          <a:xfrm>
            <a:off x="7459578" y="3466510"/>
            <a:ext cx="2705925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1" i="0">
                <a:solidFill>
                  <a:srgbClr val="111111"/>
                </a:solidFill>
                <a:latin typeface="Liberation Sans"/>
              </a:rPr>
              <a:t>Heuristic Prompt</a:t>
            </a:r>
          </a:p>
        </p:txBody>
      </p:sp>
      <p:sp>
        <p:nvSpPr>
          <p:cNvPr id="420" name="text_410_410"/>
          <p:cNvSpPr txBox="1"/>
          <p:nvPr/>
        </p:nvSpPr>
        <p:spPr>
          <a:xfrm>
            <a:off x="7459578" y="3605463"/>
            <a:ext cx="2852191" cy="197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111111"/>
                </a:solidFill>
                <a:latin typeface="Liberation Sans"/>
              </a:rPr>
              <a:t>•  Observe customer interactions with ...</a:t>
            </a:r>
          </a:p>
        </p:txBody>
      </p:sp>
      <p:sp>
        <p:nvSpPr>
          <p:cNvPr id="421" name="rect_411_411"/>
          <p:cNvSpPr/>
          <p:nvPr/>
        </p:nvSpPr>
        <p:spPr>
          <a:xfrm>
            <a:off x="10911462" y="2398766"/>
            <a:ext cx="2961891" cy="248652"/>
          </a:xfrm>
          <a:prstGeom prst="rect">
            <a:avLst/>
          </a:prstGeom>
          <a:solidFill>
            <a:srgbClr val="F1F1F1"/>
          </a:solidFill>
          <a:ln w="21939">
            <a:solidFill>
              <a:srgbClr val="BFC2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2" name="rect_412_412"/>
          <p:cNvSpPr/>
          <p:nvPr/>
        </p:nvSpPr>
        <p:spPr>
          <a:xfrm>
            <a:off x="10911462" y="2705925"/>
            <a:ext cx="2961891" cy="1133563"/>
          </a:xfrm>
          <a:prstGeom prst="rect">
            <a:avLst/>
          </a:prstGeom>
          <a:solidFill>
            <a:srgbClr val="F8E4D8"/>
          </a:solidFill>
          <a:ln w="21939">
            <a:solidFill>
              <a:srgbClr val="BFC2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3" name="text_413_413"/>
          <p:cNvSpPr txBox="1"/>
          <p:nvPr/>
        </p:nvSpPr>
        <p:spPr>
          <a:xfrm>
            <a:off x="10933402" y="2428019"/>
            <a:ext cx="2918011" cy="19745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1" i="0">
                <a:solidFill>
                  <a:srgbClr val="111111"/>
                </a:solidFill>
                <a:latin typeface="Liberation Sans"/>
              </a:rPr>
              <a:t>Reasoning Results</a:t>
            </a:r>
          </a:p>
        </p:txBody>
      </p:sp>
      <p:sp>
        <p:nvSpPr>
          <p:cNvPr id="424" name="richtext_414_414"/>
          <p:cNvSpPr txBox="1"/>
          <p:nvPr/>
        </p:nvSpPr>
        <p:spPr>
          <a:xfrm>
            <a:off x="11006535" y="2742492"/>
            <a:ext cx="2742492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5" b="0">
                <a:solidFill>
                  <a:srgbClr val="111111"/>
                </a:solidFill>
                <a:latin typeface="Liberation Sans"/>
              </a:rPr>
              <a:t>Status: </a:t>
            </a:r>
            <a:r>
              <a:rPr sz="1065" b="0">
                <a:solidFill>
                  <a:srgbClr val="BFC2C4"/>
                </a:solidFill>
                <a:latin typeface="Liberation Sans"/>
              </a:rPr>
              <a:t>Normal / Abnormal / </a:t>
            </a:r>
            <a:r>
              <a:rPr sz="1065" b="0">
                <a:solidFill>
                  <a:srgbClr val="47A1DC"/>
                </a:solidFill>
                <a:latin typeface="Liberation Sans"/>
              </a:rPr>
              <a:t>Insufficient</a:t>
            </a:r>
          </a:p>
        </p:txBody>
      </p:sp>
      <p:sp>
        <p:nvSpPr>
          <p:cNvPr id="425" name="text_415_415"/>
          <p:cNvSpPr txBox="1"/>
          <p:nvPr/>
        </p:nvSpPr>
        <p:spPr>
          <a:xfrm>
            <a:off x="11006535" y="2939951"/>
            <a:ext cx="2632792" cy="1828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111111"/>
                </a:solidFill>
                <a:latin typeface="Liberation Sans"/>
              </a:rPr>
              <a:t>Score: 0.5</a:t>
            </a:r>
          </a:p>
        </p:txBody>
      </p:sp>
      <p:sp>
        <p:nvSpPr>
          <p:cNvPr id="426" name="text_416_416"/>
          <p:cNvSpPr txBox="1"/>
          <p:nvPr/>
        </p:nvSpPr>
        <p:spPr>
          <a:xfrm>
            <a:off x="11006535" y="3130097"/>
            <a:ext cx="585065" cy="1828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111111"/>
                </a:solidFill>
                <a:latin typeface="Liberation Sans"/>
              </a:rPr>
              <a:t>Reason:</a:t>
            </a:r>
          </a:p>
        </p:txBody>
      </p:sp>
      <p:sp>
        <p:nvSpPr>
          <p:cNvPr id="427" name="text_417_417"/>
          <p:cNvSpPr txBox="1"/>
          <p:nvPr/>
        </p:nvSpPr>
        <p:spPr>
          <a:xfrm>
            <a:off x="11591600" y="3130097"/>
            <a:ext cx="2150113" cy="1828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47A1DC"/>
                </a:solidFill>
                <a:latin typeface="Liberation Sans"/>
              </a:rPr>
              <a:t>The video shows two individuals</a:t>
            </a:r>
          </a:p>
        </p:txBody>
      </p:sp>
      <p:sp>
        <p:nvSpPr>
          <p:cNvPr id="428" name="text_418_418"/>
          <p:cNvSpPr txBox="1"/>
          <p:nvPr/>
        </p:nvSpPr>
        <p:spPr>
          <a:xfrm>
            <a:off x="11006535" y="3298304"/>
            <a:ext cx="2735178" cy="5046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47A1DC"/>
                </a:solidFill>
                <a:latin typeface="Liberation Sans"/>
              </a:rPr>
              <a:t>browsing items in a store. The scene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47A1DC"/>
                </a:solidFill>
                <a:latin typeface="Liberation Sans"/>
              </a:rPr>
              <a:t>lacks sufficient detail to confidently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47A1DC"/>
                </a:solidFill>
                <a:latin typeface="Liberation Sans"/>
              </a:rPr>
              <a:t>classify it as normal or abnormal.</a:t>
            </a:r>
          </a:p>
        </p:txBody>
      </p:sp>
      <p:cxnSp>
        <p:nvCxnSpPr>
          <p:cNvPr id="429" name="reflection1_to_tools_419"/>
          <p:cNvCxnSpPr/>
          <p:nvPr/>
        </p:nvCxnSpPr>
        <p:spPr>
          <a:xfrm>
            <a:off x="4870666" y="4497687"/>
            <a:ext cx="753271" cy="0"/>
          </a:xfrm>
          <a:prstGeom prst="line">
            <a:avLst/>
          </a:prstGeom>
          <a:ln w="21939">
            <a:solidFill>
              <a:srgbClr val="47A1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0" name="tools1_to_replan_420"/>
          <p:cNvCxnSpPr/>
          <p:nvPr/>
        </p:nvCxnSpPr>
        <p:spPr>
          <a:xfrm>
            <a:off x="7605845" y="4497687"/>
            <a:ext cx="760584" cy="0"/>
          </a:xfrm>
          <a:prstGeom prst="line">
            <a:avLst/>
          </a:prstGeom>
          <a:ln w="21939">
            <a:solidFill>
              <a:srgbClr val="47A1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1" name="reflection2_to_tools_421"/>
          <p:cNvCxnSpPr/>
          <p:nvPr/>
        </p:nvCxnSpPr>
        <p:spPr>
          <a:xfrm>
            <a:off x="4856039" y="7130479"/>
            <a:ext cx="753271" cy="0"/>
          </a:xfrm>
          <a:prstGeom prst="line">
            <a:avLst/>
          </a:prstGeom>
          <a:ln w="21939">
            <a:solidFill>
              <a:srgbClr val="47A1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tools2_to_replan_422"/>
          <p:cNvCxnSpPr/>
          <p:nvPr/>
        </p:nvCxnSpPr>
        <p:spPr>
          <a:xfrm>
            <a:off x="7605845" y="7130479"/>
            <a:ext cx="760584" cy="0"/>
          </a:xfrm>
          <a:prstGeom prst="line">
            <a:avLst/>
          </a:prstGeom>
          <a:ln w="21939">
            <a:solidFill>
              <a:srgbClr val="47A1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3" name="Short&#10;CoM_memory_circle_423"/>
          <p:cNvSpPr/>
          <p:nvPr/>
        </p:nvSpPr>
        <p:spPr>
          <a:xfrm>
            <a:off x="10150878" y="3598149"/>
            <a:ext cx="862970" cy="848344"/>
          </a:xfrm>
          <a:prstGeom prst="ellipse">
            <a:avLst/>
          </a:prstGeom>
          <a:solidFill>
            <a:srgbClr val="FFFFFF"/>
          </a:solidFill>
          <a:ln w="65819">
            <a:solidFill>
              <a:srgbClr val="F4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4" name="ellipse_424_424"/>
          <p:cNvSpPr/>
          <p:nvPr/>
        </p:nvSpPr>
        <p:spPr>
          <a:xfrm>
            <a:off x="10443410" y="3773669"/>
            <a:ext cx="160892" cy="182832"/>
          </a:xfrm>
          <a:prstGeom prst="ellipse">
            <a:avLst/>
          </a:prstGeom>
          <a:solidFill>
            <a:srgbClr val="F1DC58"/>
          </a:solidFill>
          <a:ln w="7313">
            <a:solidFill>
              <a:srgbClr val="755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5" name="ellipse_425_425"/>
          <p:cNvSpPr/>
          <p:nvPr/>
        </p:nvSpPr>
        <p:spPr>
          <a:xfrm>
            <a:off x="10560423" y="3773669"/>
            <a:ext cx="160892" cy="182832"/>
          </a:xfrm>
          <a:prstGeom prst="ellipse">
            <a:avLst/>
          </a:prstGeom>
          <a:solidFill>
            <a:srgbClr val="F28EB1"/>
          </a:solidFill>
          <a:ln w="7313">
            <a:solidFill>
              <a:srgbClr val="755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6" name="line_426_426_segment_1"/>
          <p:cNvCxnSpPr/>
          <p:nvPr/>
        </p:nvCxnSpPr>
        <p:spPr>
          <a:xfrm flipH="1">
            <a:off x="10509230" y="3788295"/>
            <a:ext cx="14626" cy="95074"/>
          </a:xfrm>
          <a:prstGeom prst="line">
            <a:avLst/>
          </a:prstGeom>
          <a:ln w="7313">
            <a:solidFill>
              <a:srgbClr val="755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7" name="line_426_426_segment_2"/>
          <p:cNvCxnSpPr/>
          <p:nvPr/>
        </p:nvCxnSpPr>
        <p:spPr>
          <a:xfrm>
            <a:off x="10509230" y="3883369"/>
            <a:ext cx="51193" cy="58506"/>
          </a:xfrm>
          <a:prstGeom prst="line">
            <a:avLst/>
          </a:prstGeom>
          <a:ln w="7313">
            <a:solidFill>
              <a:srgbClr val="755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8" name="line_427_427_segment_1"/>
          <p:cNvCxnSpPr/>
          <p:nvPr/>
        </p:nvCxnSpPr>
        <p:spPr>
          <a:xfrm>
            <a:off x="10633556" y="3788295"/>
            <a:ext cx="21940" cy="95074"/>
          </a:xfrm>
          <a:prstGeom prst="line">
            <a:avLst/>
          </a:prstGeom>
          <a:ln w="7313">
            <a:solidFill>
              <a:srgbClr val="755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9" name="line_427_427_segment_2"/>
          <p:cNvCxnSpPr/>
          <p:nvPr/>
        </p:nvCxnSpPr>
        <p:spPr>
          <a:xfrm flipH="1">
            <a:off x="10604303" y="3883369"/>
            <a:ext cx="51193" cy="58506"/>
          </a:xfrm>
          <a:prstGeom prst="line">
            <a:avLst/>
          </a:prstGeom>
          <a:ln w="7313">
            <a:solidFill>
              <a:srgbClr val="755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" name="text_428_428"/>
          <p:cNvSpPr txBox="1"/>
          <p:nvPr/>
        </p:nvSpPr>
        <p:spPr>
          <a:xfrm>
            <a:off x="10238637" y="3971128"/>
            <a:ext cx="687451" cy="3949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1" i="0">
                <a:solidFill>
                  <a:srgbClr val="111111"/>
                </a:solidFill>
                <a:latin typeface="Liberation Sans"/>
              </a:rPr>
              <a:t>Short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1" i="0">
                <a:solidFill>
                  <a:srgbClr val="111111"/>
                </a:solidFill>
                <a:latin typeface="Liberation Sans"/>
              </a:rPr>
              <a:t>CoM</a:t>
            </a:r>
          </a:p>
        </p:txBody>
      </p:sp>
      <p:sp>
        <p:nvSpPr>
          <p:cNvPr id="441" name="Long&#10;CoM_memory_circle_429"/>
          <p:cNvSpPr/>
          <p:nvPr/>
        </p:nvSpPr>
        <p:spPr>
          <a:xfrm>
            <a:off x="10150878" y="6245569"/>
            <a:ext cx="862970" cy="848344"/>
          </a:xfrm>
          <a:prstGeom prst="ellipse">
            <a:avLst/>
          </a:prstGeom>
          <a:solidFill>
            <a:srgbClr val="FFFFFF"/>
          </a:solidFill>
          <a:ln w="65819">
            <a:solidFill>
              <a:srgbClr val="F4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ellipse_430_430"/>
          <p:cNvSpPr/>
          <p:nvPr/>
        </p:nvSpPr>
        <p:spPr>
          <a:xfrm>
            <a:off x="10443410" y="6421088"/>
            <a:ext cx="160892" cy="182832"/>
          </a:xfrm>
          <a:prstGeom prst="ellipse">
            <a:avLst/>
          </a:prstGeom>
          <a:solidFill>
            <a:srgbClr val="F1DC58"/>
          </a:solidFill>
          <a:ln w="7313">
            <a:solidFill>
              <a:srgbClr val="755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ellipse_431_431"/>
          <p:cNvSpPr/>
          <p:nvPr/>
        </p:nvSpPr>
        <p:spPr>
          <a:xfrm>
            <a:off x="10560423" y="6421088"/>
            <a:ext cx="160892" cy="182832"/>
          </a:xfrm>
          <a:prstGeom prst="ellipse">
            <a:avLst/>
          </a:prstGeom>
          <a:solidFill>
            <a:srgbClr val="F28EB1"/>
          </a:solidFill>
          <a:ln w="7313">
            <a:solidFill>
              <a:srgbClr val="755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4" name="line_432_432_segment_1"/>
          <p:cNvCxnSpPr/>
          <p:nvPr/>
        </p:nvCxnSpPr>
        <p:spPr>
          <a:xfrm flipH="1">
            <a:off x="10509230" y="6435715"/>
            <a:ext cx="14626" cy="95073"/>
          </a:xfrm>
          <a:prstGeom prst="line">
            <a:avLst/>
          </a:prstGeom>
          <a:ln w="7313">
            <a:solidFill>
              <a:srgbClr val="755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5" name="line_432_432_segment_2"/>
          <p:cNvCxnSpPr/>
          <p:nvPr/>
        </p:nvCxnSpPr>
        <p:spPr>
          <a:xfrm>
            <a:off x="10509230" y="6530788"/>
            <a:ext cx="51193" cy="58506"/>
          </a:xfrm>
          <a:prstGeom prst="line">
            <a:avLst/>
          </a:prstGeom>
          <a:ln w="7313">
            <a:solidFill>
              <a:srgbClr val="755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6" name="line_433_433_segment_1"/>
          <p:cNvCxnSpPr/>
          <p:nvPr/>
        </p:nvCxnSpPr>
        <p:spPr>
          <a:xfrm>
            <a:off x="10633556" y="6435715"/>
            <a:ext cx="21940" cy="95073"/>
          </a:xfrm>
          <a:prstGeom prst="line">
            <a:avLst/>
          </a:prstGeom>
          <a:ln w="7313">
            <a:solidFill>
              <a:srgbClr val="755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7" name="line_433_433_segment_2"/>
          <p:cNvCxnSpPr/>
          <p:nvPr/>
        </p:nvCxnSpPr>
        <p:spPr>
          <a:xfrm flipH="1">
            <a:off x="10604303" y="6530788"/>
            <a:ext cx="51193" cy="58506"/>
          </a:xfrm>
          <a:prstGeom prst="line">
            <a:avLst/>
          </a:prstGeom>
          <a:ln w="7313">
            <a:solidFill>
              <a:srgbClr val="755D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8" name="text_434_434"/>
          <p:cNvSpPr txBox="1"/>
          <p:nvPr/>
        </p:nvSpPr>
        <p:spPr>
          <a:xfrm>
            <a:off x="10238637" y="6618547"/>
            <a:ext cx="687451" cy="3949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1" i="0">
                <a:solidFill>
                  <a:srgbClr val="111111"/>
                </a:solidFill>
                <a:latin typeface="Liberation Sans"/>
              </a:rPr>
              <a:t>Long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82" b="1" i="0">
                <a:solidFill>
                  <a:srgbClr val="111111"/>
                </a:solidFill>
                <a:latin typeface="Liberation Sans"/>
              </a:rPr>
              <a:t>CoM</a:t>
            </a:r>
          </a:p>
        </p:txBody>
      </p:sp>
      <p:sp>
        <p:nvSpPr>
          <p:cNvPr id="449" name="rect_435_435"/>
          <p:cNvSpPr/>
          <p:nvPr/>
        </p:nvSpPr>
        <p:spPr>
          <a:xfrm>
            <a:off x="5689757" y="4153961"/>
            <a:ext cx="2076980" cy="204772"/>
          </a:xfrm>
          <a:prstGeom prst="rect">
            <a:avLst/>
          </a:prstGeom>
          <a:solidFill>
            <a:srgbClr val="F2A16A"/>
          </a:solidFill>
          <a:ln w="7313">
            <a:solidFill>
              <a:srgbClr val="C967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0" name="rect_436_436"/>
          <p:cNvSpPr/>
          <p:nvPr/>
        </p:nvSpPr>
        <p:spPr>
          <a:xfrm>
            <a:off x="5697070" y="4161274"/>
            <a:ext cx="2062354" cy="58506"/>
          </a:xfrm>
          <a:prstGeom prst="rect">
            <a:avLst/>
          </a:prstGeom>
          <a:solidFill>
            <a:srgbClr val="FA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1" name="rect_437_437"/>
          <p:cNvSpPr/>
          <p:nvPr/>
        </p:nvSpPr>
        <p:spPr>
          <a:xfrm>
            <a:off x="5697070" y="4300227"/>
            <a:ext cx="2062354" cy="51193"/>
          </a:xfrm>
          <a:prstGeom prst="rect">
            <a:avLst/>
          </a:prstGeom>
          <a:solidFill>
            <a:srgbClr val="E96F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2" name="text_438_438"/>
          <p:cNvSpPr txBox="1"/>
          <p:nvPr/>
        </p:nvSpPr>
        <p:spPr>
          <a:xfrm>
            <a:off x="5689757" y="4168588"/>
            <a:ext cx="2076980" cy="1755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4" b="1" i="0">
                <a:solidFill>
                  <a:srgbClr val="111111"/>
                </a:solidFill>
                <a:latin typeface="Liberation Serif"/>
              </a:rPr>
              <a:t>First round of reflection</a:t>
            </a:r>
          </a:p>
        </p:txBody>
      </p:sp>
      <p:sp>
        <p:nvSpPr>
          <p:cNvPr id="453" name="rect_439_439"/>
          <p:cNvSpPr/>
          <p:nvPr/>
        </p:nvSpPr>
        <p:spPr>
          <a:xfrm>
            <a:off x="5689757" y="6786754"/>
            <a:ext cx="2076980" cy="204772"/>
          </a:xfrm>
          <a:prstGeom prst="rect">
            <a:avLst/>
          </a:prstGeom>
          <a:solidFill>
            <a:srgbClr val="F2A16A"/>
          </a:solidFill>
          <a:ln w="7313">
            <a:solidFill>
              <a:srgbClr val="C967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4" name="rect_440_440"/>
          <p:cNvSpPr/>
          <p:nvPr/>
        </p:nvSpPr>
        <p:spPr>
          <a:xfrm>
            <a:off x="5697070" y="6794067"/>
            <a:ext cx="2062354" cy="58506"/>
          </a:xfrm>
          <a:prstGeom prst="rect">
            <a:avLst/>
          </a:prstGeom>
          <a:solidFill>
            <a:srgbClr val="FAD1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rect_441_441"/>
          <p:cNvSpPr/>
          <p:nvPr/>
        </p:nvSpPr>
        <p:spPr>
          <a:xfrm>
            <a:off x="5697070" y="6933020"/>
            <a:ext cx="2062354" cy="51193"/>
          </a:xfrm>
          <a:prstGeom prst="rect">
            <a:avLst/>
          </a:prstGeom>
          <a:solidFill>
            <a:srgbClr val="E96F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6" name="text_442_442"/>
          <p:cNvSpPr txBox="1"/>
          <p:nvPr/>
        </p:nvSpPr>
        <p:spPr>
          <a:xfrm>
            <a:off x="5689757" y="6801380"/>
            <a:ext cx="2076980" cy="1755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94" b="1" i="0">
                <a:solidFill>
                  <a:srgbClr val="111111"/>
                </a:solidFill>
                <a:latin typeface="Liberation Serif"/>
              </a:rPr>
              <a:t>Second round of reflection</a:t>
            </a:r>
          </a:p>
        </p:txBody>
      </p:sp>
      <p:pic>
        <p:nvPicPr>
          <p:cNvPr id="457" name="panda_reflection_1_443" descr="panda_reflect_1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91299" y="3919935"/>
            <a:ext cx="643571" cy="819091"/>
          </a:xfrm>
          <a:prstGeom prst="rect">
            <a:avLst/>
          </a:prstGeom>
        </p:spPr>
      </p:pic>
      <p:pic>
        <p:nvPicPr>
          <p:cNvPr id="458" name="panda_reflection_2_444" descr="panda_reflect_2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691299" y="6633174"/>
            <a:ext cx="643571" cy="789837"/>
          </a:xfrm>
          <a:prstGeom prst="rect">
            <a:avLst/>
          </a:prstGeom>
        </p:spPr>
      </p:pic>
      <p:sp>
        <p:nvSpPr>
          <p:cNvPr id="459" name="ellipse_445_445"/>
          <p:cNvSpPr/>
          <p:nvPr/>
        </p:nvSpPr>
        <p:spPr>
          <a:xfrm>
            <a:off x="3349497" y="3824862"/>
            <a:ext cx="1499229" cy="394918"/>
          </a:xfrm>
          <a:prstGeom prst="ellipse">
            <a:avLst/>
          </a:prstGeom>
          <a:solidFill>
            <a:srgbClr val="FFFFFF"/>
          </a:solidFill>
          <a:ln w="10969">
            <a:solidFill>
              <a:srgbClr val="F4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ellipse_446_446"/>
          <p:cNvSpPr/>
          <p:nvPr/>
        </p:nvSpPr>
        <p:spPr>
          <a:xfrm>
            <a:off x="3239797" y="4095455"/>
            <a:ext cx="58506" cy="58506"/>
          </a:xfrm>
          <a:prstGeom prst="ellipse">
            <a:avLst/>
          </a:prstGeom>
          <a:solidFill>
            <a:srgbClr val="FFFFFF"/>
          </a:solidFill>
          <a:ln w="8775">
            <a:solidFill>
              <a:srgbClr val="F4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1" name="ellipse_447_447"/>
          <p:cNvSpPr/>
          <p:nvPr/>
        </p:nvSpPr>
        <p:spPr>
          <a:xfrm>
            <a:off x="3144724" y="4168588"/>
            <a:ext cx="36566" cy="36566"/>
          </a:xfrm>
          <a:prstGeom prst="ellipse">
            <a:avLst/>
          </a:prstGeom>
          <a:solidFill>
            <a:srgbClr val="FFFFFF"/>
          </a:solidFill>
          <a:ln w="8775">
            <a:solidFill>
              <a:srgbClr val="F4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text_448_448"/>
          <p:cNvSpPr txBox="1"/>
          <p:nvPr/>
        </p:nvSpPr>
        <p:spPr>
          <a:xfrm>
            <a:off x="3466510" y="3883369"/>
            <a:ext cx="1279829" cy="2925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1" i="0">
                <a:solidFill>
                  <a:srgbClr val="111111"/>
                </a:solidFill>
                <a:latin typeface="Liberation Sans"/>
              </a:rPr>
              <a:t>Recalling past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1" i="0">
                <a:solidFill>
                  <a:srgbClr val="111111"/>
                </a:solidFill>
                <a:latin typeface="Liberation Sans"/>
              </a:rPr>
              <a:t>experience ...</a:t>
            </a:r>
          </a:p>
        </p:txBody>
      </p:sp>
      <p:sp>
        <p:nvSpPr>
          <p:cNvPr id="463" name="ellipse_449_449"/>
          <p:cNvSpPr/>
          <p:nvPr/>
        </p:nvSpPr>
        <p:spPr>
          <a:xfrm>
            <a:off x="3349497" y="6538101"/>
            <a:ext cx="1499229" cy="394918"/>
          </a:xfrm>
          <a:prstGeom prst="ellipse">
            <a:avLst/>
          </a:prstGeom>
          <a:solidFill>
            <a:srgbClr val="FFFFFF"/>
          </a:solidFill>
          <a:ln w="10969">
            <a:solidFill>
              <a:srgbClr val="F4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4" name="ellipse_450_450"/>
          <p:cNvSpPr/>
          <p:nvPr/>
        </p:nvSpPr>
        <p:spPr>
          <a:xfrm>
            <a:off x="3239797" y="6808694"/>
            <a:ext cx="58506" cy="58506"/>
          </a:xfrm>
          <a:prstGeom prst="ellipse">
            <a:avLst/>
          </a:prstGeom>
          <a:solidFill>
            <a:srgbClr val="FFFFFF"/>
          </a:solidFill>
          <a:ln w="8775">
            <a:solidFill>
              <a:srgbClr val="F4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5" name="ellipse_451_451"/>
          <p:cNvSpPr/>
          <p:nvPr/>
        </p:nvSpPr>
        <p:spPr>
          <a:xfrm>
            <a:off x="3144724" y="6881827"/>
            <a:ext cx="36566" cy="36566"/>
          </a:xfrm>
          <a:prstGeom prst="ellipse">
            <a:avLst/>
          </a:prstGeom>
          <a:solidFill>
            <a:srgbClr val="FFFFFF"/>
          </a:solidFill>
          <a:ln w="8775">
            <a:solidFill>
              <a:srgbClr val="F47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6" name="text_452_452"/>
          <p:cNvSpPr txBox="1"/>
          <p:nvPr/>
        </p:nvSpPr>
        <p:spPr>
          <a:xfrm>
            <a:off x="3466510" y="6596608"/>
            <a:ext cx="1279829" cy="2925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1" i="0">
                <a:solidFill>
                  <a:srgbClr val="111111"/>
                </a:solidFill>
                <a:latin typeface="Liberation Sans"/>
              </a:rPr>
              <a:t>Recalling past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1" i="0">
                <a:solidFill>
                  <a:srgbClr val="111111"/>
                </a:solidFill>
                <a:latin typeface="Liberation Sans"/>
              </a:rPr>
              <a:t>experience ...</a:t>
            </a:r>
          </a:p>
        </p:txBody>
      </p:sp>
      <p:sp>
        <p:nvSpPr>
          <p:cNvPr id="467" name="ellipse_453_453"/>
          <p:cNvSpPr/>
          <p:nvPr/>
        </p:nvSpPr>
        <p:spPr>
          <a:xfrm>
            <a:off x="3963815" y="4314854"/>
            <a:ext cx="210623" cy="175519"/>
          </a:xfrm>
          <a:prstGeom prst="ellipse">
            <a:avLst/>
          </a:prstGeom>
          <a:solidFill>
            <a:srgbClr val="09A9E8"/>
          </a:solidFill>
          <a:ln w="10969">
            <a:solidFill>
              <a:srgbClr val="31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8" name="polygon_454_454"/>
          <p:cNvSpPr/>
          <p:nvPr/>
        </p:nvSpPr>
        <p:spPr>
          <a:xfrm>
            <a:off x="3981367" y="4455270"/>
            <a:ext cx="73130" cy="58504"/>
          </a:xfrm>
          <a:custGeom>
            <a:avLst/>
            <a:gdLst/>
            <a:ahLst/>
            <a:cxnLst/>
            <a:rect l="l" t="t" r="r" b="b"/>
            <a:pathLst>
              <a:path w="10" h="8">
                <a:moveTo>
                  <a:pt x="2" y="0"/>
                </a:moveTo>
                <a:lnTo>
                  <a:pt x="0" y="8"/>
                </a:lnTo>
                <a:lnTo>
                  <a:pt x="10" y="2"/>
                </a:lnTo>
                <a:close/>
              </a:path>
            </a:pathLst>
          </a:custGeom>
          <a:solidFill>
            <a:srgbClr val="09A9E8"/>
          </a:solidFill>
          <a:ln w="7313">
            <a:solidFill>
              <a:srgbClr val="31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9" name="ellipse_455_455"/>
          <p:cNvSpPr/>
          <p:nvPr/>
        </p:nvSpPr>
        <p:spPr>
          <a:xfrm>
            <a:off x="4121783" y="4408464"/>
            <a:ext cx="198922" cy="181370"/>
          </a:xfrm>
          <a:prstGeom prst="ellipse">
            <a:avLst/>
          </a:prstGeom>
          <a:solidFill>
            <a:srgbClr val="FFF5D6"/>
          </a:solidFill>
          <a:ln w="10969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0" name="polygon_456_456"/>
          <p:cNvSpPr/>
          <p:nvPr/>
        </p:nvSpPr>
        <p:spPr>
          <a:xfrm>
            <a:off x="4268049" y="4513776"/>
            <a:ext cx="43878" cy="65817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0" y="4"/>
                </a:moveTo>
                <a:lnTo>
                  <a:pt x="6" y="9"/>
                </a:lnTo>
                <a:lnTo>
                  <a:pt x="5" y="0"/>
                </a:lnTo>
                <a:close/>
              </a:path>
            </a:pathLst>
          </a:custGeom>
          <a:solidFill>
            <a:srgbClr val="FFF5D6"/>
          </a:solidFill>
          <a:ln w="7313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1" name="text_457_457"/>
          <p:cNvSpPr txBox="1"/>
          <p:nvPr/>
        </p:nvSpPr>
        <p:spPr>
          <a:xfrm>
            <a:off x="4010620" y="4326555"/>
            <a:ext cx="105311" cy="1287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1" i="0">
                <a:solidFill>
                  <a:srgbClr val="A61525"/>
                </a:solidFill>
                <a:latin typeface="Liberation Sans"/>
              </a:rPr>
              <a:t>?</a:t>
            </a:r>
          </a:p>
        </p:txBody>
      </p:sp>
      <p:sp>
        <p:nvSpPr>
          <p:cNvPr id="472" name="text_458_458"/>
          <p:cNvSpPr txBox="1"/>
          <p:nvPr/>
        </p:nvSpPr>
        <p:spPr>
          <a:xfrm>
            <a:off x="4168588" y="4414315"/>
            <a:ext cx="99461" cy="1287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1" i="0">
                <a:solidFill>
                  <a:srgbClr val="416776"/>
                </a:solidFill>
                <a:latin typeface="Liberation Sans"/>
              </a:rPr>
              <a:t>a</a:t>
            </a:r>
          </a:p>
        </p:txBody>
      </p:sp>
      <p:sp>
        <p:nvSpPr>
          <p:cNvPr id="473" name="text_459_459"/>
          <p:cNvSpPr txBox="1"/>
          <p:nvPr/>
        </p:nvSpPr>
        <p:spPr>
          <a:xfrm>
            <a:off x="3371437" y="4614700"/>
            <a:ext cx="1682061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111111"/>
                </a:solidFill>
                <a:latin typeface="Liberation Sans"/>
              </a:rPr>
              <a:t>MLLM Reflection</a:t>
            </a:r>
          </a:p>
        </p:txBody>
      </p:sp>
      <p:cxnSp>
        <p:nvCxnSpPr>
          <p:cNvPr id="474" name="line_460_460"/>
          <p:cNvCxnSpPr/>
          <p:nvPr/>
        </p:nvCxnSpPr>
        <p:spPr>
          <a:xfrm flipV="1">
            <a:off x="6446685" y="4370435"/>
            <a:ext cx="210623" cy="210624"/>
          </a:xfrm>
          <a:prstGeom prst="line">
            <a:avLst/>
          </a:prstGeom>
          <a:ln w="43879">
            <a:solidFill>
              <a:srgbClr val="238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line_461_461"/>
          <p:cNvCxnSpPr/>
          <p:nvPr/>
        </p:nvCxnSpPr>
        <p:spPr>
          <a:xfrm>
            <a:off x="6479595" y="4357271"/>
            <a:ext cx="210623" cy="210624"/>
          </a:xfrm>
          <a:prstGeom prst="line">
            <a:avLst/>
          </a:prstGeom>
          <a:ln w="43879">
            <a:solidFill>
              <a:srgbClr val="F3B9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6" name="ellipse_462_462"/>
          <p:cNvSpPr/>
          <p:nvPr/>
        </p:nvSpPr>
        <p:spPr>
          <a:xfrm>
            <a:off x="6420357" y="4548149"/>
            <a:ext cx="59237" cy="59237"/>
          </a:xfrm>
          <a:prstGeom prst="ellipse">
            <a:avLst/>
          </a:prstGeom>
          <a:solidFill>
            <a:srgbClr val="DCECF7"/>
          </a:solidFill>
          <a:ln w="14626">
            <a:solidFill>
              <a:srgbClr val="31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ellipse_463_463"/>
          <p:cNvSpPr/>
          <p:nvPr/>
        </p:nvSpPr>
        <p:spPr>
          <a:xfrm>
            <a:off x="6644144" y="4344107"/>
            <a:ext cx="59237" cy="59237"/>
          </a:xfrm>
          <a:prstGeom prst="ellipse">
            <a:avLst/>
          </a:prstGeom>
          <a:solidFill>
            <a:srgbClr val="DCECF7"/>
          </a:solidFill>
          <a:ln w="14626">
            <a:solidFill>
              <a:srgbClr val="31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8" name="rect_464_464"/>
          <p:cNvSpPr/>
          <p:nvPr/>
        </p:nvSpPr>
        <p:spPr>
          <a:xfrm>
            <a:off x="6598070" y="4521821"/>
            <a:ext cx="111893" cy="52655"/>
          </a:xfrm>
          <a:prstGeom prst="roundRect">
            <a:avLst/>
          </a:prstGeom>
          <a:solidFill>
            <a:srgbClr val="DCECF7"/>
          </a:solidFill>
          <a:ln w="10969">
            <a:solidFill>
              <a:srgbClr val="31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9" name="text_465_465"/>
          <p:cNvSpPr txBox="1"/>
          <p:nvPr/>
        </p:nvSpPr>
        <p:spPr>
          <a:xfrm>
            <a:off x="5945723" y="4614700"/>
            <a:ext cx="1389529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111111"/>
                </a:solidFill>
                <a:latin typeface="Liberation Sans"/>
              </a:rPr>
              <a:t>Tool Invoke</a:t>
            </a:r>
          </a:p>
        </p:txBody>
      </p:sp>
      <p:sp>
        <p:nvSpPr>
          <p:cNvPr id="480" name="rect_466_466"/>
          <p:cNvSpPr/>
          <p:nvPr/>
        </p:nvSpPr>
        <p:spPr>
          <a:xfrm>
            <a:off x="9148954" y="4331309"/>
            <a:ext cx="211354" cy="230003"/>
          </a:xfrm>
          <a:prstGeom prst="roundRect">
            <a:avLst/>
          </a:prstGeom>
          <a:solidFill>
            <a:srgbClr val="F7F7F7"/>
          </a:solidFill>
          <a:ln w="14626">
            <a:solidFill>
              <a:srgbClr val="33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1" name="rect_467_467"/>
          <p:cNvSpPr/>
          <p:nvPr/>
        </p:nvSpPr>
        <p:spPr>
          <a:xfrm>
            <a:off x="9198684" y="4300227"/>
            <a:ext cx="111893" cy="55946"/>
          </a:xfrm>
          <a:prstGeom prst="roundRect">
            <a:avLst/>
          </a:prstGeom>
          <a:solidFill>
            <a:srgbClr val="F1C85B"/>
          </a:solidFill>
          <a:ln w="10969">
            <a:solidFill>
              <a:srgbClr val="33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2" name="ellipse_468_468"/>
          <p:cNvSpPr/>
          <p:nvPr/>
        </p:nvSpPr>
        <p:spPr>
          <a:xfrm>
            <a:off x="9211117" y="4312660"/>
            <a:ext cx="18648" cy="18648"/>
          </a:xfrm>
          <a:prstGeom prst="ellipse">
            <a:avLst/>
          </a:prstGeom>
          <a:solidFill>
            <a:srgbClr val="5C9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3" name="ellipse_469_469"/>
          <p:cNvSpPr/>
          <p:nvPr/>
        </p:nvSpPr>
        <p:spPr>
          <a:xfrm>
            <a:off x="9254631" y="4312660"/>
            <a:ext cx="18648" cy="18648"/>
          </a:xfrm>
          <a:prstGeom prst="ellipse">
            <a:avLst/>
          </a:prstGeom>
          <a:solidFill>
            <a:srgbClr val="F3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4" name="ellipse_470_470"/>
          <p:cNvSpPr/>
          <p:nvPr/>
        </p:nvSpPr>
        <p:spPr>
          <a:xfrm>
            <a:off x="9298145" y="4312660"/>
            <a:ext cx="18648" cy="18648"/>
          </a:xfrm>
          <a:prstGeom prst="ellipse">
            <a:avLst/>
          </a:prstGeom>
          <a:solidFill>
            <a:srgbClr val="5C9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5" name="rect_471_471"/>
          <p:cNvSpPr/>
          <p:nvPr/>
        </p:nvSpPr>
        <p:spPr>
          <a:xfrm>
            <a:off x="9186252" y="4393472"/>
            <a:ext cx="24865" cy="24865"/>
          </a:xfrm>
          <a:prstGeom prst="rect">
            <a:avLst/>
          </a:prstGeom>
          <a:solidFill>
            <a:srgbClr val="76B4E8"/>
          </a:solidFill>
          <a:ln w="5850">
            <a:solidFill>
              <a:srgbClr val="33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6" name="line_472_472"/>
          <p:cNvCxnSpPr/>
          <p:nvPr/>
        </p:nvCxnSpPr>
        <p:spPr>
          <a:xfrm>
            <a:off x="9229766" y="4405905"/>
            <a:ext cx="99461" cy="0"/>
          </a:xfrm>
          <a:prstGeom prst="line">
            <a:avLst/>
          </a:prstGeom>
          <a:ln w="7313">
            <a:solidFill>
              <a:srgbClr val="334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7" name="rect_473_473"/>
          <p:cNvSpPr/>
          <p:nvPr/>
        </p:nvSpPr>
        <p:spPr>
          <a:xfrm>
            <a:off x="9186252" y="4443203"/>
            <a:ext cx="24865" cy="24865"/>
          </a:xfrm>
          <a:prstGeom prst="rect">
            <a:avLst/>
          </a:prstGeom>
          <a:solidFill>
            <a:srgbClr val="76B4E8"/>
          </a:solidFill>
          <a:ln w="5850">
            <a:solidFill>
              <a:srgbClr val="33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8" name="line_474_474"/>
          <p:cNvCxnSpPr/>
          <p:nvPr/>
        </p:nvCxnSpPr>
        <p:spPr>
          <a:xfrm>
            <a:off x="9229766" y="4455635"/>
            <a:ext cx="99461" cy="0"/>
          </a:xfrm>
          <a:prstGeom prst="line">
            <a:avLst/>
          </a:prstGeom>
          <a:ln w="7313">
            <a:solidFill>
              <a:srgbClr val="334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9" name="rect_475_475"/>
          <p:cNvSpPr/>
          <p:nvPr/>
        </p:nvSpPr>
        <p:spPr>
          <a:xfrm>
            <a:off x="9186252" y="4492933"/>
            <a:ext cx="24865" cy="24865"/>
          </a:xfrm>
          <a:prstGeom prst="rect">
            <a:avLst/>
          </a:prstGeom>
          <a:solidFill>
            <a:srgbClr val="76B4E8"/>
          </a:solidFill>
          <a:ln w="5850">
            <a:solidFill>
              <a:srgbClr val="33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0" name="line_476_476"/>
          <p:cNvCxnSpPr/>
          <p:nvPr/>
        </p:nvCxnSpPr>
        <p:spPr>
          <a:xfrm>
            <a:off x="9229766" y="4505366"/>
            <a:ext cx="99461" cy="0"/>
          </a:xfrm>
          <a:prstGeom prst="line">
            <a:avLst/>
          </a:prstGeom>
          <a:ln w="7313">
            <a:solidFill>
              <a:srgbClr val="334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1" name="text_477_477"/>
          <p:cNvSpPr txBox="1"/>
          <p:nvPr/>
        </p:nvSpPr>
        <p:spPr>
          <a:xfrm>
            <a:off x="8483442" y="4614700"/>
            <a:ext cx="1901461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111111"/>
                </a:solidFill>
                <a:latin typeface="Liberation Sans"/>
              </a:rPr>
              <a:t>MLLM Replanning</a:t>
            </a:r>
          </a:p>
        </p:txBody>
      </p:sp>
      <p:sp>
        <p:nvSpPr>
          <p:cNvPr id="492" name="ellipse_478_478"/>
          <p:cNvSpPr/>
          <p:nvPr/>
        </p:nvSpPr>
        <p:spPr>
          <a:xfrm>
            <a:off x="12286365" y="4285601"/>
            <a:ext cx="307159" cy="307159"/>
          </a:xfrm>
          <a:prstGeom prst="ellipse">
            <a:avLst/>
          </a:prstGeom>
          <a:solidFill>
            <a:srgbClr val="4CB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ellipse_479_479"/>
          <p:cNvSpPr/>
          <p:nvPr/>
        </p:nvSpPr>
        <p:spPr>
          <a:xfrm>
            <a:off x="12330245" y="4329481"/>
            <a:ext cx="219399" cy="219399"/>
          </a:xfrm>
          <a:prstGeom prst="ellipse">
            <a:avLst/>
          </a:prstGeom>
          <a:solidFill>
            <a:srgbClr val="234C71"/>
          </a:solidFill>
          <a:ln w="14626">
            <a:solidFill>
              <a:srgbClr val="F6D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4" name="line_480_480_segment_1"/>
          <p:cNvCxnSpPr/>
          <p:nvPr/>
        </p:nvCxnSpPr>
        <p:spPr>
          <a:xfrm flipV="1">
            <a:off x="12315618" y="4292914"/>
            <a:ext cx="73133" cy="51193"/>
          </a:xfrm>
          <a:prstGeom prst="line">
            <a:avLst/>
          </a:prstGeom>
          <a:ln w="21939">
            <a:solidFill>
              <a:srgbClr val="F47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5" name="line_480_480_segment_2"/>
          <p:cNvCxnSpPr/>
          <p:nvPr/>
        </p:nvCxnSpPr>
        <p:spPr>
          <a:xfrm>
            <a:off x="12388751" y="4292914"/>
            <a:ext cx="73133" cy="7313"/>
          </a:xfrm>
          <a:prstGeom prst="line">
            <a:avLst/>
          </a:prstGeom>
          <a:ln w="21939">
            <a:solidFill>
              <a:srgbClr val="F47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6" name="line_481_481_segment_1"/>
          <p:cNvCxnSpPr/>
          <p:nvPr/>
        </p:nvCxnSpPr>
        <p:spPr>
          <a:xfrm>
            <a:off x="12337558" y="4490373"/>
            <a:ext cx="65820" cy="51194"/>
          </a:xfrm>
          <a:prstGeom prst="line">
            <a:avLst/>
          </a:prstGeom>
          <a:ln w="14626">
            <a:solidFill>
              <a:srgbClr val="EE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7" name="line_481_481_segment_2"/>
          <p:cNvCxnSpPr/>
          <p:nvPr/>
        </p:nvCxnSpPr>
        <p:spPr>
          <a:xfrm flipV="1">
            <a:off x="12403378" y="4534253"/>
            <a:ext cx="87760" cy="7314"/>
          </a:xfrm>
          <a:prstGeom prst="line">
            <a:avLst/>
          </a:prstGeom>
          <a:ln w="14626">
            <a:solidFill>
              <a:srgbClr val="EE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8" name="line_482_482_segment_1"/>
          <p:cNvCxnSpPr/>
          <p:nvPr/>
        </p:nvCxnSpPr>
        <p:spPr>
          <a:xfrm flipV="1">
            <a:off x="12374125" y="4387987"/>
            <a:ext cx="43879" cy="29253"/>
          </a:xfrm>
          <a:prstGeom prst="line">
            <a:avLst/>
          </a:prstGeom>
          <a:ln w="10969">
            <a:solidFill>
              <a:srgbClr val="EE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9" name="line_482_482_segment_2"/>
          <p:cNvCxnSpPr/>
          <p:nvPr/>
        </p:nvCxnSpPr>
        <p:spPr>
          <a:xfrm>
            <a:off x="12418004" y="4387987"/>
            <a:ext cx="51194" cy="21940"/>
          </a:xfrm>
          <a:prstGeom prst="line">
            <a:avLst/>
          </a:prstGeom>
          <a:ln w="10969">
            <a:solidFill>
              <a:srgbClr val="EE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0" name="line_482_482_segment_3"/>
          <p:cNvCxnSpPr/>
          <p:nvPr/>
        </p:nvCxnSpPr>
        <p:spPr>
          <a:xfrm flipV="1">
            <a:off x="12469198" y="4387987"/>
            <a:ext cx="43880" cy="21940"/>
          </a:xfrm>
          <a:prstGeom prst="line">
            <a:avLst/>
          </a:prstGeom>
          <a:ln w="10969">
            <a:solidFill>
              <a:srgbClr val="EE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" name="text_483_483"/>
          <p:cNvSpPr txBox="1"/>
          <p:nvPr/>
        </p:nvSpPr>
        <p:spPr>
          <a:xfrm>
            <a:off x="11613540" y="4607386"/>
            <a:ext cx="1645495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111111"/>
                </a:solidFill>
                <a:latin typeface="Liberation Sans"/>
              </a:rPr>
              <a:t>VLM Reasoning</a:t>
            </a:r>
          </a:p>
        </p:txBody>
      </p:sp>
      <p:sp>
        <p:nvSpPr>
          <p:cNvPr id="502" name="ellipse_484_484"/>
          <p:cNvSpPr/>
          <p:nvPr/>
        </p:nvSpPr>
        <p:spPr>
          <a:xfrm>
            <a:off x="3963815" y="6940333"/>
            <a:ext cx="210623" cy="175519"/>
          </a:xfrm>
          <a:prstGeom prst="ellipse">
            <a:avLst/>
          </a:prstGeom>
          <a:solidFill>
            <a:srgbClr val="09A9E8"/>
          </a:solidFill>
          <a:ln w="10969">
            <a:solidFill>
              <a:srgbClr val="31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polygon_485_485"/>
          <p:cNvSpPr/>
          <p:nvPr/>
        </p:nvSpPr>
        <p:spPr>
          <a:xfrm>
            <a:off x="3981367" y="7080749"/>
            <a:ext cx="73130" cy="58504"/>
          </a:xfrm>
          <a:custGeom>
            <a:avLst/>
            <a:gdLst/>
            <a:ahLst/>
            <a:cxnLst/>
            <a:rect l="l" t="t" r="r" b="b"/>
            <a:pathLst>
              <a:path w="10" h="8">
                <a:moveTo>
                  <a:pt x="2" y="0"/>
                </a:moveTo>
                <a:lnTo>
                  <a:pt x="0" y="8"/>
                </a:lnTo>
                <a:lnTo>
                  <a:pt x="10" y="2"/>
                </a:lnTo>
                <a:close/>
              </a:path>
            </a:pathLst>
          </a:custGeom>
          <a:solidFill>
            <a:srgbClr val="09A9E8"/>
          </a:solidFill>
          <a:ln w="7313">
            <a:solidFill>
              <a:srgbClr val="31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4" name="ellipse_486_486"/>
          <p:cNvSpPr/>
          <p:nvPr/>
        </p:nvSpPr>
        <p:spPr>
          <a:xfrm>
            <a:off x="4121783" y="7033944"/>
            <a:ext cx="198922" cy="181370"/>
          </a:xfrm>
          <a:prstGeom prst="ellipse">
            <a:avLst/>
          </a:prstGeom>
          <a:solidFill>
            <a:srgbClr val="FFF5D6"/>
          </a:solidFill>
          <a:ln w="10969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5" name="polygon_487_487"/>
          <p:cNvSpPr/>
          <p:nvPr/>
        </p:nvSpPr>
        <p:spPr>
          <a:xfrm>
            <a:off x="4268049" y="7139255"/>
            <a:ext cx="43878" cy="65817"/>
          </a:xfrm>
          <a:custGeom>
            <a:avLst/>
            <a:gdLst/>
            <a:ahLst/>
            <a:cxnLst/>
            <a:rect l="l" t="t" r="r" b="b"/>
            <a:pathLst>
              <a:path w="6" h="9">
                <a:moveTo>
                  <a:pt x="0" y="4"/>
                </a:moveTo>
                <a:lnTo>
                  <a:pt x="6" y="9"/>
                </a:lnTo>
                <a:lnTo>
                  <a:pt x="5" y="0"/>
                </a:lnTo>
                <a:close/>
              </a:path>
            </a:pathLst>
          </a:custGeom>
          <a:solidFill>
            <a:srgbClr val="FFF5D6"/>
          </a:solidFill>
          <a:ln w="7313">
            <a:solidFill>
              <a:srgbClr val="8A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6" name="text_488_488"/>
          <p:cNvSpPr txBox="1"/>
          <p:nvPr/>
        </p:nvSpPr>
        <p:spPr>
          <a:xfrm>
            <a:off x="4010620" y="6952035"/>
            <a:ext cx="105311" cy="1287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1" i="0">
                <a:solidFill>
                  <a:srgbClr val="A61525"/>
                </a:solidFill>
                <a:latin typeface="Liberation Sans"/>
              </a:rPr>
              <a:t>?</a:t>
            </a:r>
          </a:p>
        </p:txBody>
      </p:sp>
      <p:sp>
        <p:nvSpPr>
          <p:cNvPr id="507" name="text_489_489"/>
          <p:cNvSpPr txBox="1"/>
          <p:nvPr/>
        </p:nvSpPr>
        <p:spPr>
          <a:xfrm>
            <a:off x="4168588" y="7039794"/>
            <a:ext cx="99461" cy="1287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5" b="1" i="0">
                <a:solidFill>
                  <a:srgbClr val="416776"/>
                </a:solidFill>
                <a:latin typeface="Liberation Sans"/>
              </a:rPr>
              <a:t>a</a:t>
            </a:r>
          </a:p>
        </p:txBody>
      </p:sp>
      <p:sp>
        <p:nvSpPr>
          <p:cNvPr id="508" name="text_490_490"/>
          <p:cNvSpPr txBox="1"/>
          <p:nvPr/>
        </p:nvSpPr>
        <p:spPr>
          <a:xfrm>
            <a:off x="3371437" y="7240179"/>
            <a:ext cx="1682061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111111"/>
                </a:solidFill>
                <a:latin typeface="Liberation Sans"/>
              </a:rPr>
              <a:t>MLLM Reflection</a:t>
            </a:r>
          </a:p>
        </p:txBody>
      </p:sp>
      <p:cxnSp>
        <p:nvCxnSpPr>
          <p:cNvPr id="509" name="line_491_491"/>
          <p:cNvCxnSpPr/>
          <p:nvPr/>
        </p:nvCxnSpPr>
        <p:spPr>
          <a:xfrm flipV="1">
            <a:off x="6446685" y="6988601"/>
            <a:ext cx="210623" cy="210624"/>
          </a:xfrm>
          <a:prstGeom prst="line">
            <a:avLst/>
          </a:prstGeom>
          <a:ln w="43879">
            <a:solidFill>
              <a:srgbClr val="238C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line_492_492"/>
          <p:cNvCxnSpPr/>
          <p:nvPr/>
        </p:nvCxnSpPr>
        <p:spPr>
          <a:xfrm>
            <a:off x="6479595" y="6975437"/>
            <a:ext cx="210623" cy="210624"/>
          </a:xfrm>
          <a:prstGeom prst="line">
            <a:avLst/>
          </a:prstGeom>
          <a:ln w="43879">
            <a:solidFill>
              <a:srgbClr val="F3B9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1" name="ellipse_493_493"/>
          <p:cNvSpPr/>
          <p:nvPr/>
        </p:nvSpPr>
        <p:spPr>
          <a:xfrm>
            <a:off x="6420357" y="7166315"/>
            <a:ext cx="59237" cy="59237"/>
          </a:xfrm>
          <a:prstGeom prst="ellipse">
            <a:avLst/>
          </a:prstGeom>
          <a:solidFill>
            <a:srgbClr val="DCECF7"/>
          </a:solidFill>
          <a:ln w="14626">
            <a:solidFill>
              <a:srgbClr val="31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2" name="ellipse_494_494"/>
          <p:cNvSpPr/>
          <p:nvPr/>
        </p:nvSpPr>
        <p:spPr>
          <a:xfrm>
            <a:off x="6644144" y="6962273"/>
            <a:ext cx="59237" cy="59237"/>
          </a:xfrm>
          <a:prstGeom prst="ellipse">
            <a:avLst/>
          </a:prstGeom>
          <a:solidFill>
            <a:srgbClr val="DCECF7"/>
          </a:solidFill>
          <a:ln w="14626">
            <a:solidFill>
              <a:srgbClr val="31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3" name="rect_495_495"/>
          <p:cNvSpPr/>
          <p:nvPr/>
        </p:nvSpPr>
        <p:spPr>
          <a:xfrm>
            <a:off x="6598070" y="7139987"/>
            <a:ext cx="111893" cy="52655"/>
          </a:xfrm>
          <a:prstGeom prst="roundRect">
            <a:avLst/>
          </a:prstGeom>
          <a:solidFill>
            <a:srgbClr val="DCECF7"/>
          </a:solidFill>
          <a:ln w="10969">
            <a:solidFill>
              <a:srgbClr val="315A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text_496_496"/>
          <p:cNvSpPr txBox="1"/>
          <p:nvPr/>
        </p:nvSpPr>
        <p:spPr>
          <a:xfrm>
            <a:off x="5945723" y="7240179"/>
            <a:ext cx="1389529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111111"/>
                </a:solidFill>
                <a:latin typeface="Liberation Sans"/>
              </a:rPr>
              <a:t>Tool Invoke</a:t>
            </a:r>
          </a:p>
        </p:txBody>
      </p:sp>
      <p:sp>
        <p:nvSpPr>
          <p:cNvPr id="515" name="rect_497_497"/>
          <p:cNvSpPr/>
          <p:nvPr/>
        </p:nvSpPr>
        <p:spPr>
          <a:xfrm>
            <a:off x="9148954" y="6956788"/>
            <a:ext cx="211354" cy="230003"/>
          </a:xfrm>
          <a:prstGeom prst="roundRect">
            <a:avLst/>
          </a:prstGeom>
          <a:solidFill>
            <a:srgbClr val="F7F7F7"/>
          </a:solidFill>
          <a:ln w="14626">
            <a:solidFill>
              <a:srgbClr val="33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6" name="rect_498_498"/>
          <p:cNvSpPr/>
          <p:nvPr/>
        </p:nvSpPr>
        <p:spPr>
          <a:xfrm>
            <a:off x="9198684" y="6925707"/>
            <a:ext cx="111893" cy="55946"/>
          </a:xfrm>
          <a:prstGeom prst="roundRect">
            <a:avLst/>
          </a:prstGeom>
          <a:solidFill>
            <a:srgbClr val="F1C85B"/>
          </a:solidFill>
          <a:ln w="10969">
            <a:solidFill>
              <a:srgbClr val="33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7" name="ellipse_499_499"/>
          <p:cNvSpPr/>
          <p:nvPr/>
        </p:nvSpPr>
        <p:spPr>
          <a:xfrm>
            <a:off x="9211117" y="6938139"/>
            <a:ext cx="18648" cy="18648"/>
          </a:xfrm>
          <a:prstGeom prst="ellipse">
            <a:avLst/>
          </a:prstGeom>
          <a:solidFill>
            <a:srgbClr val="5C9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8" name="ellipse_500_500"/>
          <p:cNvSpPr/>
          <p:nvPr/>
        </p:nvSpPr>
        <p:spPr>
          <a:xfrm>
            <a:off x="9254631" y="6938139"/>
            <a:ext cx="18648" cy="18648"/>
          </a:xfrm>
          <a:prstGeom prst="ellipse">
            <a:avLst/>
          </a:prstGeom>
          <a:solidFill>
            <a:srgbClr val="F3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9" name="ellipse_501_501"/>
          <p:cNvSpPr/>
          <p:nvPr/>
        </p:nvSpPr>
        <p:spPr>
          <a:xfrm>
            <a:off x="9298145" y="6938139"/>
            <a:ext cx="18648" cy="18648"/>
          </a:xfrm>
          <a:prstGeom prst="ellipse">
            <a:avLst/>
          </a:prstGeom>
          <a:solidFill>
            <a:srgbClr val="5C9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0" name="rect_502_502"/>
          <p:cNvSpPr/>
          <p:nvPr/>
        </p:nvSpPr>
        <p:spPr>
          <a:xfrm>
            <a:off x="9186252" y="7018951"/>
            <a:ext cx="24865" cy="24865"/>
          </a:xfrm>
          <a:prstGeom prst="rect">
            <a:avLst/>
          </a:prstGeom>
          <a:solidFill>
            <a:srgbClr val="76B4E8"/>
          </a:solidFill>
          <a:ln w="5850">
            <a:solidFill>
              <a:srgbClr val="33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1" name="line_503_503"/>
          <p:cNvCxnSpPr/>
          <p:nvPr/>
        </p:nvCxnSpPr>
        <p:spPr>
          <a:xfrm>
            <a:off x="9229766" y="7031384"/>
            <a:ext cx="99461" cy="0"/>
          </a:xfrm>
          <a:prstGeom prst="line">
            <a:avLst/>
          </a:prstGeom>
          <a:ln w="7313">
            <a:solidFill>
              <a:srgbClr val="334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2" name="rect_504_504"/>
          <p:cNvSpPr/>
          <p:nvPr/>
        </p:nvSpPr>
        <p:spPr>
          <a:xfrm>
            <a:off x="9186252" y="7068682"/>
            <a:ext cx="24865" cy="24865"/>
          </a:xfrm>
          <a:prstGeom prst="rect">
            <a:avLst/>
          </a:prstGeom>
          <a:solidFill>
            <a:srgbClr val="76B4E8"/>
          </a:solidFill>
          <a:ln w="5850">
            <a:solidFill>
              <a:srgbClr val="33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3" name="line_505_505"/>
          <p:cNvCxnSpPr/>
          <p:nvPr/>
        </p:nvCxnSpPr>
        <p:spPr>
          <a:xfrm>
            <a:off x="9229766" y="7081115"/>
            <a:ext cx="99461" cy="0"/>
          </a:xfrm>
          <a:prstGeom prst="line">
            <a:avLst/>
          </a:prstGeom>
          <a:ln w="7313">
            <a:solidFill>
              <a:srgbClr val="334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4" name="rect_506_506"/>
          <p:cNvSpPr/>
          <p:nvPr/>
        </p:nvSpPr>
        <p:spPr>
          <a:xfrm>
            <a:off x="9186252" y="7118412"/>
            <a:ext cx="24865" cy="24865"/>
          </a:xfrm>
          <a:prstGeom prst="rect">
            <a:avLst/>
          </a:prstGeom>
          <a:solidFill>
            <a:srgbClr val="76B4E8"/>
          </a:solidFill>
          <a:ln w="5850">
            <a:solidFill>
              <a:srgbClr val="3348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5" name="line_507_507"/>
          <p:cNvCxnSpPr/>
          <p:nvPr/>
        </p:nvCxnSpPr>
        <p:spPr>
          <a:xfrm>
            <a:off x="9229766" y="7130845"/>
            <a:ext cx="99461" cy="0"/>
          </a:xfrm>
          <a:prstGeom prst="line">
            <a:avLst/>
          </a:prstGeom>
          <a:ln w="7313">
            <a:solidFill>
              <a:srgbClr val="3348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6" name="text_508_508"/>
          <p:cNvSpPr txBox="1"/>
          <p:nvPr/>
        </p:nvSpPr>
        <p:spPr>
          <a:xfrm>
            <a:off x="8483442" y="7240179"/>
            <a:ext cx="1901461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111111"/>
                </a:solidFill>
                <a:latin typeface="Liberation Sans"/>
              </a:rPr>
              <a:t>MLLM Replanning</a:t>
            </a:r>
          </a:p>
        </p:txBody>
      </p:sp>
      <p:sp>
        <p:nvSpPr>
          <p:cNvPr id="527" name="ellipse_509_509"/>
          <p:cNvSpPr/>
          <p:nvPr/>
        </p:nvSpPr>
        <p:spPr>
          <a:xfrm>
            <a:off x="12286365" y="6918393"/>
            <a:ext cx="307159" cy="307159"/>
          </a:xfrm>
          <a:prstGeom prst="ellipse">
            <a:avLst/>
          </a:prstGeom>
          <a:solidFill>
            <a:srgbClr val="4CB4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ellipse_510_510"/>
          <p:cNvSpPr/>
          <p:nvPr/>
        </p:nvSpPr>
        <p:spPr>
          <a:xfrm>
            <a:off x="12330245" y="6962273"/>
            <a:ext cx="219399" cy="219399"/>
          </a:xfrm>
          <a:prstGeom prst="ellipse">
            <a:avLst/>
          </a:prstGeom>
          <a:solidFill>
            <a:srgbClr val="234C71"/>
          </a:solidFill>
          <a:ln w="14626">
            <a:solidFill>
              <a:srgbClr val="F6D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29" name="line_511_511_segment_1"/>
          <p:cNvCxnSpPr/>
          <p:nvPr/>
        </p:nvCxnSpPr>
        <p:spPr>
          <a:xfrm flipV="1">
            <a:off x="12315618" y="6925707"/>
            <a:ext cx="73133" cy="51193"/>
          </a:xfrm>
          <a:prstGeom prst="line">
            <a:avLst/>
          </a:prstGeom>
          <a:ln w="21939">
            <a:solidFill>
              <a:srgbClr val="F47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0" name="line_511_511_segment_2"/>
          <p:cNvCxnSpPr/>
          <p:nvPr/>
        </p:nvCxnSpPr>
        <p:spPr>
          <a:xfrm>
            <a:off x="12388751" y="6925707"/>
            <a:ext cx="73133" cy="7313"/>
          </a:xfrm>
          <a:prstGeom prst="line">
            <a:avLst/>
          </a:prstGeom>
          <a:ln w="21939">
            <a:solidFill>
              <a:srgbClr val="F47A2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1" name="line_512_512_segment_1"/>
          <p:cNvCxnSpPr/>
          <p:nvPr/>
        </p:nvCxnSpPr>
        <p:spPr>
          <a:xfrm>
            <a:off x="12337558" y="7123166"/>
            <a:ext cx="65820" cy="51193"/>
          </a:xfrm>
          <a:prstGeom prst="line">
            <a:avLst/>
          </a:prstGeom>
          <a:ln w="14626">
            <a:solidFill>
              <a:srgbClr val="EE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2" name="line_512_512_segment_2"/>
          <p:cNvCxnSpPr/>
          <p:nvPr/>
        </p:nvCxnSpPr>
        <p:spPr>
          <a:xfrm flipV="1">
            <a:off x="12403378" y="7167046"/>
            <a:ext cx="87760" cy="7313"/>
          </a:xfrm>
          <a:prstGeom prst="line">
            <a:avLst/>
          </a:prstGeom>
          <a:ln w="14626">
            <a:solidFill>
              <a:srgbClr val="EE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3" name="line_513_513_segment_1"/>
          <p:cNvCxnSpPr/>
          <p:nvPr/>
        </p:nvCxnSpPr>
        <p:spPr>
          <a:xfrm flipV="1">
            <a:off x="12374125" y="7020780"/>
            <a:ext cx="43879" cy="29253"/>
          </a:xfrm>
          <a:prstGeom prst="line">
            <a:avLst/>
          </a:prstGeom>
          <a:ln w="10969">
            <a:solidFill>
              <a:srgbClr val="EE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4" name="line_513_513_segment_2"/>
          <p:cNvCxnSpPr/>
          <p:nvPr/>
        </p:nvCxnSpPr>
        <p:spPr>
          <a:xfrm>
            <a:off x="12418004" y="7020780"/>
            <a:ext cx="51194" cy="21940"/>
          </a:xfrm>
          <a:prstGeom prst="line">
            <a:avLst/>
          </a:prstGeom>
          <a:ln w="10969">
            <a:solidFill>
              <a:srgbClr val="EE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5" name="line_513_513_segment_3"/>
          <p:cNvCxnSpPr/>
          <p:nvPr/>
        </p:nvCxnSpPr>
        <p:spPr>
          <a:xfrm flipV="1">
            <a:off x="12469198" y="7020780"/>
            <a:ext cx="43880" cy="21940"/>
          </a:xfrm>
          <a:prstGeom prst="line">
            <a:avLst/>
          </a:prstGeom>
          <a:ln w="10969">
            <a:solidFill>
              <a:srgbClr val="EEF2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6" name="text_514_514"/>
          <p:cNvSpPr txBox="1"/>
          <p:nvPr/>
        </p:nvSpPr>
        <p:spPr>
          <a:xfrm>
            <a:off x="11613540" y="7240179"/>
            <a:ext cx="1645495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0" i="0">
                <a:solidFill>
                  <a:srgbClr val="111111"/>
                </a:solidFill>
                <a:latin typeface="Liberation Sans"/>
              </a:rPr>
              <a:t>VLM Reasoning</a:t>
            </a:r>
          </a:p>
        </p:txBody>
      </p:sp>
      <p:pic>
        <p:nvPicPr>
          <p:cNvPr id="537" name="panda_final_515" descr="panda_final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500375" y="6596608"/>
            <a:ext cx="672824" cy="848344"/>
          </a:xfrm>
          <a:prstGeom prst="rect">
            <a:avLst/>
          </a:prstGeom>
        </p:spPr>
      </p:pic>
      <p:sp>
        <p:nvSpPr>
          <p:cNvPr id="538" name="rect_516_516"/>
          <p:cNvSpPr/>
          <p:nvPr/>
        </p:nvSpPr>
        <p:spPr>
          <a:xfrm>
            <a:off x="2925325" y="4834099"/>
            <a:ext cx="2376826" cy="1630868"/>
          </a:xfrm>
          <a:prstGeom prst="roundRect">
            <a:avLst/>
          </a:prstGeom>
          <a:solidFill>
            <a:srgbClr val="FFF5D3"/>
          </a:solidFill>
          <a:ln w="29253">
            <a:solidFill>
              <a:srgbClr val="A7AAA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9" name="rect_517_517"/>
          <p:cNvSpPr/>
          <p:nvPr/>
        </p:nvSpPr>
        <p:spPr>
          <a:xfrm>
            <a:off x="5360658" y="4826786"/>
            <a:ext cx="2859505" cy="1645495"/>
          </a:xfrm>
          <a:prstGeom prst="roundRect">
            <a:avLst/>
          </a:prstGeom>
          <a:solidFill>
            <a:srgbClr val="F1EED7"/>
          </a:solidFill>
          <a:ln w="29253">
            <a:solidFill>
              <a:srgbClr val="A7AAA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0" name="rect_518_518"/>
          <p:cNvSpPr/>
          <p:nvPr/>
        </p:nvSpPr>
        <p:spPr>
          <a:xfrm>
            <a:off x="8249416" y="4826786"/>
            <a:ext cx="2193993" cy="1645495"/>
          </a:xfrm>
          <a:prstGeom prst="roundRect">
            <a:avLst/>
          </a:prstGeom>
          <a:solidFill>
            <a:srgbClr val="EAF2C8"/>
          </a:solidFill>
          <a:ln w="29253">
            <a:solidFill>
              <a:srgbClr val="A7AAA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1" name="text_519_519"/>
          <p:cNvSpPr txBox="1"/>
          <p:nvPr/>
        </p:nvSpPr>
        <p:spPr>
          <a:xfrm>
            <a:off x="2947265" y="4863352"/>
            <a:ext cx="2332946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1" i="0">
                <a:solidFill>
                  <a:srgbClr val="111111"/>
                </a:solidFill>
                <a:latin typeface="Liberation Sans"/>
              </a:rPr>
              <a:t>Self-Reflection</a:t>
            </a:r>
          </a:p>
        </p:txBody>
      </p:sp>
      <p:sp>
        <p:nvSpPr>
          <p:cNvPr id="542" name="text_520_520"/>
          <p:cNvSpPr txBox="1"/>
          <p:nvPr/>
        </p:nvSpPr>
        <p:spPr>
          <a:xfrm>
            <a:off x="3005771" y="5141258"/>
            <a:ext cx="2193993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1" i="0">
                <a:solidFill>
                  <a:srgbClr val="111111"/>
                </a:solidFill>
                <a:latin typeface="Liberation Sans"/>
              </a:rPr>
              <a:t>Reason Analysis</a:t>
            </a:r>
          </a:p>
        </p:txBody>
      </p:sp>
      <p:sp>
        <p:nvSpPr>
          <p:cNvPr id="543" name="text_521_521"/>
          <p:cNvSpPr txBox="1"/>
          <p:nvPr/>
        </p:nvSpPr>
        <p:spPr>
          <a:xfrm>
            <a:off x="3005771" y="5338718"/>
            <a:ext cx="2164740" cy="5996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111111"/>
                </a:solidFill>
                <a:latin typeface="Liberation Sans"/>
              </a:rPr>
              <a:t>•  Need for further enhancement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111111"/>
                </a:solidFill>
                <a:latin typeface="Liberation Sans"/>
              </a:rPr>
              <a:t>   of image details and semantic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111111"/>
                </a:solidFill>
                <a:latin typeface="Liberation Sans"/>
              </a:rPr>
              <a:t>   information.</a:t>
            </a:r>
          </a:p>
        </p:txBody>
      </p:sp>
      <p:sp>
        <p:nvSpPr>
          <p:cNvPr id="544" name="text_522_522"/>
          <p:cNvSpPr txBox="1"/>
          <p:nvPr/>
        </p:nvSpPr>
        <p:spPr>
          <a:xfrm>
            <a:off x="3005771" y="5931096"/>
            <a:ext cx="2193993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1" i="0">
                <a:solidFill>
                  <a:srgbClr val="111111"/>
                </a:solidFill>
                <a:latin typeface="Liberation Sans"/>
              </a:rPr>
              <a:t>Tools to use</a:t>
            </a:r>
          </a:p>
        </p:txBody>
      </p:sp>
      <p:sp>
        <p:nvSpPr>
          <p:cNvPr id="545" name="text_523_523"/>
          <p:cNvSpPr txBox="1"/>
          <p:nvPr/>
        </p:nvSpPr>
        <p:spPr>
          <a:xfrm>
            <a:off x="3005771" y="6121242"/>
            <a:ext cx="2193993" cy="3583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111111"/>
                </a:solidFill>
                <a:latin typeface="Liberation Sans"/>
              </a:rPr>
              <a:t>•  Image Super-resolution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111111"/>
                </a:solidFill>
                <a:latin typeface="Liberation Sans"/>
              </a:rPr>
              <a:t>•  Object Detection</a:t>
            </a:r>
          </a:p>
        </p:txBody>
      </p:sp>
      <p:sp>
        <p:nvSpPr>
          <p:cNvPr id="546" name="text_524_524"/>
          <p:cNvSpPr txBox="1"/>
          <p:nvPr/>
        </p:nvSpPr>
        <p:spPr>
          <a:xfrm>
            <a:off x="8315236" y="4863352"/>
            <a:ext cx="2062354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2" b="1" i="0">
                <a:solidFill>
                  <a:srgbClr val="111111"/>
                </a:solidFill>
                <a:latin typeface="Liberation Sans"/>
              </a:rPr>
              <a:t>Detection Strategy Update</a:t>
            </a:r>
          </a:p>
        </p:txBody>
      </p:sp>
      <p:sp>
        <p:nvSpPr>
          <p:cNvPr id="547" name="text_525_525"/>
          <p:cNvSpPr txBox="1"/>
          <p:nvPr/>
        </p:nvSpPr>
        <p:spPr>
          <a:xfrm>
            <a:off x="8322549" y="5148572"/>
            <a:ext cx="1974594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1" i="0">
                <a:solidFill>
                  <a:srgbClr val="111111"/>
                </a:solidFill>
                <a:latin typeface="Liberation Sans"/>
              </a:rPr>
              <a:t>New Anomaly Rules</a:t>
            </a:r>
          </a:p>
        </p:txBody>
      </p:sp>
      <p:sp>
        <p:nvSpPr>
          <p:cNvPr id="548" name="text_526_526"/>
          <p:cNvSpPr txBox="1"/>
          <p:nvPr/>
        </p:nvSpPr>
        <p:spPr>
          <a:xfrm>
            <a:off x="8322549" y="5346031"/>
            <a:ext cx="2033100" cy="41685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6" b="0" i="0">
                <a:solidFill>
                  <a:srgbClr val="111111"/>
                </a:solidFill>
                <a:latin typeface="Liberation Sans"/>
              </a:rPr>
              <a:t>•  Customers repeatedly pick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6" b="0" i="0">
                <a:solidFill>
                  <a:srgbClr val="111111"/>
                </a:solidFill>
                <a:latin typeface="Liberation Sans"/>
              </a:rPr>
              <a:t>   up items and look around...</a:t>
            </a:r>
          </a:p>
        </p:txBody>
      </p:sp>
      <p:sp>
        <p:nvSpPr>
          <p:cNvPr id="549" name="text_527_527"/>
          <p:cNvSpPr txBox="1"/>
          <p:nvPr/>
        </p:nvSpPr>
        <p:spPr>
          <a:xfrm>
            <a:off x="8322549" y="5777517"/>
            <a:ext cx="2011160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1" i="0">
                <a:solidFill>
                  <a:srgbClr val="111111"/>
                </a:solidFill>
                <a:latin typeface="Liberation Sans"/>
              </a:rPr>
              <a:t>New Heuristic Prompt</a:t>
            </a:r>
          </a:p>
        </p:txBody>
      </p:sp>
      <p:sp>
        <p:nvSpPr>
          <p:cNvPr id="550" name="text_528_528"/>
          <p:cNvSpPr txBox="1"/>
          <p:nvPr/>
        </p:nvSpPr>
        <p:spPr>
          <a:xfrm>
            <a:off x="8322549" y="5974976"/>
            <a:ext cx="2011160" cy="3949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6" b="0" i="0">
                <a:solidFill>
                  <a:srgbClr val="111111"/>
                </a:solidFill>
                <a:latin typeface="Liberation Sans"/>
              </a:rPr>
              <a:t>•  Focusing on customer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6" b="0" i="0">
                <a:solidFill>
                  <a:srgbClr val="111111"/>
                </a:solidFill>
                <a:latin typeface="Liberation Sans"/>
              </a:rPr>
              <a:t>   behavior in the store...</a:t>
            </a:r>
          </a:p>
        </p:txBody>
      </p:sp>
      <p:pic>
        <p:nvPicPr>
          <p:cNvPr id="551" name="superres_before_1_529" descr="frame_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1104" y="5177825"/>
            <a:ext cx="263279" cy="314472"/>
          </a:xfrm>
          <a:prstGeom prst="rect">
            <a:avLst/>
          </a:prstGeom>
        </p:spPr>
      </p:pic>
      <p:pic>
        <p:nvPicPr>
          <p:cNvPr id="552" name="superres_before_2_530" descr="frame_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491" y="5155885"/>
            <a:ext cx="263279" cy="314472"/>
          </a:xfrm>
          <a:prstGeom prst="rect">
            <a:avLst/>
          </a:prstGeom>
        </p:spPr>
      </p:pic>
      <p:pic>
        <p:nvPicPr>
          <p:cNvPr id="553" name="superres_before_3_531" descr="frame_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45877" y="5133945"/>
            <a:ext cx="263279" cy="314472"/>
          </a:xfrm>
          <a:prstGeom prst="rect">
            <a:avLst/>
          </a:prstGeom>
        </p:spPr>
      </p:pic>
      <p:pic>
        <p:nvPicPr>
          <p:cNvPr id="554" name="superres_before_4_532" descr="frame_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8263" y="5112005"/>
            <a:ext cx="263279" cy="314472"/>
          </a:xfrm>
          <a:prstGeom prst="rect">
            <a:avLst/>
          </a:prstGeom>
        </p:spPr>
      </p:pic>
      <p:pic>
        <p:nvPicPr>
          <p:cNvPr id="555" name="superres_after_1_533" descr="frame_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8085" y="5177825"/>
            <a:ext cx="263279" cy="314472"/>
          </a:xfrm>
          <a:prstGeom prst="rect">
            <a:avLst/>
          </a:prstGeom>
        </p:spPr>
      </p:pic>
      <p:pic>
        <p:nvPicPr>
          <p:cNvPr id="556" name="superres_after_2_534" descr="frame_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471" y="5155885"/>
            <a:ext cx="263279" cy="314472"/>
          </a:xfrm>
          <a:prstGeom prst="rect">
            <a:avLst/>
          </a:prstGeom>
        </p:spPr>
      </p:pic>
      <p:pic>
        <p:nvPicPr>
          <p:cNvPr id="557" name="superres_after_3_535" descr="frame_0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22858" y="5133945"/>
            <a:ext cx="263279" cy="314472"/>
          </a:xfrm>
          <a:prstGeom prst="rect">
            <a:avLst/>
          </a:prstGeom>
        </p:spPr>
      </p:pic>
      <p:pic>
        <p:nvPicPr>
          <p:cNvPr id="558" name="superres_after_4_536" descr="frame_0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25244" y="5112005"/>
            <a:ext cx="263279" cy="314472"/>
          </a:xfrm>
          <a:prstGeom prst="rect">
            <a:avLst/>
          </a:prstGeom>
        </p:spPr>
      </p:pic>
      <p:sp>
        <p:nvSpPr>
          <p:cNvPr id="559" name="text_537_537"/>
          <p:cNvSpPr txBox="1"/>
          <p:nvPr/>
        </p:nvSpPr>
        <p:spPr>
          <a:xfrm>
            <a:off x="5982289" y="5163198"/>
            <a:ext cx="1477289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6" b="0" i="0">
                <a:solidFill>
                  <a:srgbClr val="111111"/>
                </a:solidFill>
                <a:latin typeface="Liberation Sans"/>
              </a:rPr>
              <a:t>Image Super-resolution</a:t>
            </a:r>
          </a:p>
        </p:txBody>
      </p:sp>
      <p:cxnSp>
        <p:nvCxnSpPr>
          <p:cNvPr id="560" name="line_538_538"/>
          <p:cNvCxnSpPr/>
          <p:nvPr/>
        </p:nvCxnSpPr>
        <p:spPr>
          <a:xfrm>
            <a:off x="6062736" y="5426478"/>
            <a:ext cx="1082370" cy="0"/>
          </a:xfrm>
          <a:prstGeom prst="line">
            <a:avLst/>
          </a:prstGeom>
          <a:ln w="14626">
            <a:solidFill>
              <a:srgbClr val="47A1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1" name="object_detection_input_539" descr="frame_0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63044" y="5792143"/>
            <a:ext cx="555811" cy="321785"/>
          </a:xfrm>
          <a:prstGeom prst="rect">
            <a:avLst/>
          </a:prstGeom>
        </p:spPr>
      </p:pic>
      <p:pic>
        <p:nvPicPr>
          <p:cNvPr id="562" name="object_detection_output_540" descr="frame_0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61965" y="5792143"/>
            <a:ext cx="555811" cy="321785"/>
          </a:xfrm>
          <a:prstGeom prst="rect">
            <a:avLst/>
          </a:prstGeom>
        </p:spPr>
      </p:pic>
      <p:sp>
        <p:nvSpPr>
          <p:cNvPr id="563" name="rect_541_541"/>
          <p:cNvSpPr/>
          <p:nvPr/>
        </p:nvSpPr>
        <p:spPr>
          <a:xfrm>
            <a:off x="7781364" y="5828710"/>
            <a:ext cx="212086" cy="234026"/>
          </a:xfrm>
          <a:prstGeom prst="rect">
            <a:avLst/>
          </a:prstGeom>
          <a:noFill/>
          <a:ln w="18283">
            <a:solidFill>
              <a:srgbClr val="FF1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4" name="text_542_542"/>
          <p:cNvSpPr txBox="1"/>
          <p:nvPr/>
        </p:nvSpPr>
        <p:spPr>
          <a:xfrm>
            <a:off x="6106616" y="5799456"/>
            <a:ext cx="1389529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6" b="0" i="0">
                <a:solidFill>
                  <a:srgbClr val="111111"/>
                </a:solidFill>
                <a:latin typeface="Liberation Sans"/>
              </a:rPr>
              <a:t>Object Detection</a:t>
            </a:r>
          </a:p>
        </p:txBody>
      </p:sp>
      <p:cxnSp>
        <p:nvCxnSpPr>
          <p:cNvPr id="565" name="line_543_543"/>
          <p:cNvCxnSpPr/>
          <p:nvPr/>
        </p:nvCxnSpPr>
        <p:spPr>
          <a:xfrm>
            <a:off x="6216315" y="6018856"/>
            <a:ext cx="936104" cy="0"/>
          </a:xfrm>
          <a:prstGeom prst="line">
            <a:avLst/>
          </a:prstGeom>
          <a:ln w="14626">
            <a:solidFill>
              <a:srgbClr val="47A1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6" name="rect_544_544"/>
          <p:cNvSpPr/>
          <p:nvPr/>
        </p:nvSpPr>
        <p:spPr>
          <a:xfrm>
            <a:off x="10911462" y="4834099"/>
            <a:ext cx="2961891" cy="255965"/>
          </a:xfrm>
          <a:prstGeom prst="rect">
            <a:avLst/>
          </a:prstGeom>
          <a:solidFill>
            <a:srgbClr val="F1F1F1"/>
          </a:solidFill>
          <a:ln w="21939">
            <a:solidFill>
              <a:srgbClr val="BFC2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7" name="rect_545_545"/>
          <p:cNvSpPr/>
          <p:nvPr/>
        </p:nvSpPr>
        <p:spPr>
          <a:xfrm>
            <a:off x="10911462" y="5148572"/>
            <a:ext cx="2961891" cy="1155503"/>
          </a:xfrm>
          <a:prstGeom prst="rect">
            <a:avLst/>
          </a:prstGeom>
          <a:solidFill>
            <a:srgbClr val="F8E4D8"/>
          </a:solidFill>
          <a:ln w="21939">
            <a:solidFill>
              <a:srgbClr val="BFC2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text_546_546"/>
          <p:cNvSpPr txBox="1"/>
          <p:nvPr/>
        </p:nvSpPr>
        <p:spPr>
          <a:xfrm>
            <a:off x="10933402" y="4863352"/>
            <a:ext cx="2918011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2" b="1" i="0">
                <a:solidFill>
                  <a:srgbClr val="111111"/>
                </a:solidFill>
                <a:latin typeface="Liberation Sans"/>
              </a:rPr>
              <a:t>Refined Reasoning Results</a:t>
            </a:r>
          </a:p>
        </p:txBody>
      </p:sp>
      <p:sp>
        <p:nvSpPr>
          <p:cNvPr id="569" name="richtext_547_547"/>
          <p:cNvSpPr txBox="1"/>
          <p:nvPr/>
        </p:nvSpPr>
        <p:spPr>
          <a:xfrm>
            <a:off x="11006535" y="5185138"/>
            <a:ext cx="2757118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5" b="0">
                <a:solidFill>
                  <a:srgbClr val="111111"/>
                </a:solidFill>
                <a:latin typeface="Liberation Sans"/>
              </a:rPr>
              <a:t>Status: </a:t>
            </a:r>
            <a:r>
              <a:rPr sz="1065" b="0">
                <a:solidFill>
                  <a:srgbClr val="BFC2C4"/>
                </a:solidFill>
                <a:latin typeface="Liberation Sans"/>
              </a:rPr>
              <a:t>Normal / Abnormal / </a:t>
            </a:r>
            <a:r>
              <a:rPr sz="1065" b="0">
                <a:solidFill>
                  <a:srgbClr val="47A1DC"/>
                </a:solidFill>
                <a:latin typeface="Liberation Sans"/>
              </a:rPr>
              <a:t>Insufficient</a:t>
            </a:r>
          </a:p>
        </p:txBody>
      </p:sp>
      <p:sp>
        <p:nvSpPr>
          <p:cNvPr id="570" name="text_548_548"/>
          <p:cNvSpPr txBox="1"/>
          <p:nvPr/>
        </p:nvSpPr>
        <p:spPr>
          <a:xfrm>
            <a:off x="11006535" y="5382598"/>
            <a:ext cx="2632792" cy="1828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111111"/>
                </a:solidFill>
                <a:latin typeface="Liberation Sans"/>
              </a:rPr>
              <a:t>Score: 0.6</a:t>
            </a:r>
          </a:p>
        </p:txBody>
      </p:sp>
      <p:sp>
        <p:nvSpPr>
          <p:cNvPr id="571" name="text_549_549"/>
          <p:cNvSpPr txBox="1"/>
          <p:nvPr/>
        </p:nvSpPr>
        <p:spPr>
          <a:xfrm>
            <a:off x="11006535" y="5572744"/>
            <a:ext cx="585065" cy="1828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111111"/>
                </a:solidFill>
                <a:latin typeface="Liberation Sans"/>
              </a:rPr>
              <a:t>Reason:</a:t>
            </a:r>
          </a:p>
        </p:txBody>
      </p:sp>
      <p:sp>
        <p:nvSpPr>
          <p:cNvPr id="572" name="text_550_550"/>
          <p:cNvSpPr txBox="1"/>
          <p:nvPr/>
        </p:nvSpPr>
        <p:spPr>
          <a:xfrm>
            <a:off x="11591600" y="5572744"/>
            <a:ext cx="2150113" cy="1828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6" b="0" i="0">
                <a:solidFill>
                  <a:srgbClr val="47A1DC"/>
                </a:solidFill>
                <a:latin typeface="Liberation Sans"/>
              </a:rPr>
              <a:t>The woman is browsing the</a:t>
            </a:r>
          </a:p>
        </p:txBody>
      </p:sp>
      <p:sp>
        <p:nvSpPr>
          <p:cNvPr id="573" name="text_551_551"/>
          <p:cNvSpPr txBox="1"/>
          <p:nvPr/>
        </p:nvSpPr>
        <p:spPr>
          <a:xfrm>
            <a:off x="11006535" y="5740950"/>
            <a:ext cx="2735178" cy="50461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6" b="0" i="0">
                <a:solidFill>
                  <a:srgbClr val="47A1DC"/>
                </a:solidFill>
                <a:latin typeface="Liberation Sans"/>
              </a:rPr>
              <a:t>items with suspicious behavior, but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6" b="0" i="0">
                <a:solidFill>
                  <a:srgbClr val="47A1DC"/>
                </a:solidFill>
                <a:latin typeface="Liberation Sans"/>
              </a:rPr>
              <a:t>based on the current clip it is not clear if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6" b="0" i="0">
                <a:solidFill>
                  <a:srgbClr val="47A1DC"/>
                </a:solidFill>
                <a:latin typeface="Liberation Sans"/>
              </a:rPr>
              <a:t>there is a shoplifting anomaly.</a:t>
            </a:r>
          </a:p>
        </p:txBody>
      </p:sp>
      <p:sp>
        <p:nvSpPr>
          <p:cNvPr id="574" name="rect_552_552"/>
          <p:cNvSpPr/>
          <p:nvPr/>
        </p:nvSpPr>
        <p:spPr>
          <a:xfrm>
            <a:off x="2903385" y="7437639"/>
            <a:ext cx="2384139" cy="1682061"/>
          </a:xfrm>
          <a:prstGeom prst="roundRect">
            <a:avLst/>
          </a:prstGeom>
          <a:solidFill>
            <a:srgbClr val="FFF5D3"/>
          </a:solidFill>
          <a:ln w="29253">
            <a:solidFill>
              <a:srgbClr val="A7AAA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rect_553_553"/>
          <p:cNvSpPr/>
          <p:nvPr/>
        </p:nvSpPr>
        <p:spPr>
          <a:xfrm>
            <a:off x="5353344" y="7437639"/>
            <a:ext cx="2866818" cy="1682061"/>
          </a:xfrm>
          <a:prstGeom prst="roundRect">
            <a:avLst/>
          </a:prstGeom>
          <a:solidFill>
            <a:srgbClr val="F1EED7"/>
          </a:solidFill>
          <a:ln w="29253">
            <a:solidFill>
              <a:srgbClr val="A7AAA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rect_554_554"/>
          <p:cNvSpPr/>
          <p:nvPr/>
        </p:nvSpPr>
        <p:spPr>
          <a:xfrm>
            <a:off x="8249416" y="7437639"/>
            <a:ext cx="2193993" cy="1682061"/>
          </a:xfrm>
          <a:prstGeom prst="roundRect">
            <a:avLst/>
          </a:prstGeom>
          <a:solidFill>
            <a:srgbClr val="EAF2C8"/>
          </a:solidFill>
          <a:ln w="29253">
            <a:solidFill>
              <a:srgbClr val="A7AAAC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text_555_555"/>
          <p:cNvSpPr txBox="1"/>
          <p:nvPr/>
        </p:nvSpPr>
        <p:spPr>
          <a:xfrm>
            <a:off x="2925325" y="7459578"/>
            <a:ext cx="2340260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1" i="0">
                <a:solidFill>
                  <a:srgbClr val="111111"/>
                </a:solidFill>
                <a:latin typeface="Liberation Sans"/>
              </a:rPr>
              <a:t>Self-Reflection</a:t>
            </a:r>
          </a:p>
        </p:txBody>
      </p:sp>
      <p:sp>
        <p:nvSpPr>
          <p:cNvPr id="578" name="text_556_556"/>
          <p:cNvSpPr txBox="1"/>
          <p:nvPr/>
        </p:nvSpPr>
        <p:spPr>
          <a:xfrm>
            <a:off x="2991144" y="7737484"/>
            <a:ext cx="2193993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1" i="0">
                <a:solidFill>
                  <a:srgbClr val="111111"/>
                </a:solidFill>
                <a:latin typeface="Liberation Sans"/>
              </a:rPr>
              <a:t>Reason Analysis</a:t>
            </a:r>
          </a:p>
        </p:txBody>
      </p:sp>
      <p:sp>
        <p:nvSpPr>
          <p:cNvPr id="579" name="text_557_557"/>
          <p:cNvSpPr txBox="1"/>
          <p:nvPr/>
        </p:nvSpPr>
        <p:spPr>
          <a:xfrm>
            <a:off x="2991144" y="7934944"/>
            <a:ext cx="2193993" cy="6216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111111"/>
                </a:solidFill>
                <a:latin typeface="Liberation Sans"/>
              </a:rPr>
              <a:t>•  More information is needed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111111"/>
                </a:solidFill>
                <a:latin typeface="Liberation Sans"/>
              </a:rPr>
              <a:t>   to determine if the woman's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111111"/>
                </a:solidFill>
                <a:latin typeface="Liberation Sans"/>
              </a:rPr>
              <a:t>   behavior...</a:t>
            </a:r>
          </a:p>
        </p:txBody>
      </p:sp>
      <p:sp>
        <p:nvSpPr>
          <p:cNvPr id="580" name="text_558_558"/>
          <p:cNvSpPr txBox="1"/>
          <p:nvPr/>
        </p:nvSpPr>
        <p:spPr>
          <a:xfrm>
            <a:off x="2991144" y="8520009"/>
            <a:ext cx="2193993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1" i="0">
                <a:solidFill>
                  <a:srgbClr val="111111"/>
                </a:solidFill>
                <a:latin typeface="Liberation Sans"/>
              </a:rPr>
              <a:t>Tools to use</a:t>
            </a:r>
          </a:p>
        </p:txBody>
      </p:sp>
      <p:sp>
        <p:nvSpPr>
          <p:cNvPr id="581" name="text_559_559"/>
          <p:cNvSpPr txBox="1"/>
          <p:nvPr/>
        </p:nvSpPr>
        <p:spPr>
          <a:xfrm>
            <a:off x="2991144" y="8717468"/>
            <a:ext cx="2193993" cy="37297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111111"/>
                </a:solidFill>
                <a:latin typeface="Liberation Sans"/>
              </a:rPr>
              <a:t>•  Image Retrive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111111"/>
                </a:solidFill>
                <a:latin typeface="Liberation Sans"/>
              </a:rPr>
              <a:t>•  Web Search</a:t>
            </a:r>
          </a:p>
        </p:txBody>
      </p:sp>
      <p:sp>
        <p:nvSpPr>
          <p:cNvPr id="582" name="text_560_560"/>
          <p:cNvSpPr txBox="1"/>
          <p:nvPr/>
        </p:nvSpPr>
        <p:spPr>
          <a:xfrm>
            <a:off x="8315236" y="7466892"/>
            <a:ext cx="2062354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2" b="1" i="0">
                <a:solidFill>
                  <a:srgbClr val="111111"/>
                </a:solidFill>
                <a:latin typeface="Liberation Sans"/>
              </a:rPr>
              <a:t>Detection Strategy Update</a:t>
            </a:r>
          </a:p>
        </p:txBody>
      </p:sp>
      <p:sp>
        <p:nvSpPr>
          <p:cNvPr id="583" name="text_561_561"/>
          <p:cNvSpPr txBox="1"/>
          <p:nvPr/>
        </p:nvSpPr>
        <p:spPr>
          <a:xfrm>
            <a:off x="8322549" y="7744798"/>
            <a:ext cx="1974594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1" i="0">
                <a:solidFill>
                  <a:srgbClr val="111111"/>
                </a:solidFill>
                <a:latin typeface="Liberation Sans"/>
              </a:rPr>
              <a:t>New Anomaly Rules</a:t>
            </a:r>
          </a:p>
        </p:txBody>
      </p:sp>
      <p:sp>
        <p:nvSpPr>
          <p:cNvPr id="584" name="text_562_562"/>
          <p:cNvSpPr txBox="1"/>
          <p:nvPr/>
        </p:nvSpPr>
        <p:spPr>
          <a:xfrm>
            <a:off x="8322549" y="7942257"/>
            <a:ext cx="2011160" cy="4241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6" b="0" i="0">
                <a:solidFill>
                  <a:srgbClr val="111111"/>
                </a:solidFill>
                <a:latin typeface="Liberation Sans"/>
              </a:rPr>
              <a:t>•  Customers taking 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6" b="0" i="0">
                <a:solidFill>
                  <a:srgbClr val="111111"/>
                </a:solidFill>
                <a:latin typeface="Liberation Sans"/>
              </a:rPr>
              <a:t>   without paying...</a:t>
            </a:r>
          </a:p>
        </p:txBody>
      </p:sp>
      <p:sp>
        <p:nvSpPr>
          <p:cNvPr id="585" name="text_563_563"/>
          <p:cNvSpPr txBox="1"/>
          <p:nvPr/>
        </p:nvSpPr>
        <p:spPr>
          <a:xfrm>
            <a:off x="8322549" y="8373743"/>
            <a:ext cx="2011160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1" b="1" i="0">
                <a:solidFill>
                  <a:srgbClr val="111111"/>
                </a:solidFill>
                <a:latin typeface="Liberation Sans"/>
              </a:rPr>
              <a:t>New Heuristic Prompt</a:t>
            </a:r>
          </a:p>
        </p:txBody>
      </p:sp>
      <p:sp>
        <p:nvSpPr>
          <p:cNvPr id="586" name="text_564_564"/>
          <p:cNvSpPr txBox="1"/>
          <p:nvPr/>
        </p:nvSpPr>
        <p:spPr>
          <a:xfrm>
            <a:off x="8322549" y="8571202"/>
            <a:ext cx="2018474" cy="49730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7" b="0" i="0">
                <a:solidFill>
                  <a:srgbClr val="111111"/>
                </a:solidFill>
                <a:latin typeface="Liberation Sans"/>
              </a:rPr>
              <a:t>•  Focusing on the woman's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7" b="0" i="0">
                <a:solidFill>
                  <a:srgbClr val="111111"/>
                </a:solidFill>
                <a:latin typeface="Liberation Sans"/>
              </a:rPr>
              <a:t>   interaction behavior with the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7" b="0" i="0">
                <a:solidFill>
                  <a:srgbClr val="111111"/>
                </a:solidFill>
                <a:latin typeface="Liberation Sans"/>
              </a:rPr>
              <a:t>   items...</a:t>
            </a:r>
          </a:p>
        </p:txBody>
      </p:sp>
      <p:sp>
        <p:nvSpPr>
          <p:cNvPr id="587" name="rect_565_565"/>
          <p:cNvSpPr/>
          <p:nvPr/>
        </p:nvSpPr>
        <p:spPr>
          <a:xfrm>
            <a:off x="5455731" y="7613158"/>
            <a:ext cx="277905" cy="277905"/>
          </a:xfrm>
          <a:prstGeom prst="rect">
            <a:avLst/>
          </a:prstGeom>
          <a:solidFill>
            <a:srgbClr val="55C5CE"/>
          </a:solidFill>
          <a:ln w="14626">
            <a:solidFill>
              <a:srgbClr val="304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8" name="rect_566_566"/>
          <p:cNvSpPr/>
          <p:nvPr/>
        </p:nvSpPr>
        <p:spPr>
          <a:xfrm>
            <a:off x="5426478" y="7583905"/>
            <a:ext cx="36566" cy="343725"/>
          </a:xfrm>
          <a:prstGeom prst="rect">
            <a:avLst/>
          </a:prstGeom>
          <a:solidFill>
            <a:srgbClr val="304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9" name="rect_567_567"/>
          <p:cNvSpPr/>
          <p:nvPr/>
        </p:nvSpPr>
        <p:spPr>
          <a:xfrm>
            <a:off x="5733637" y="7583905"/>
            <a:ext cx="36566" cy="343725"/>
          </a:xfrm>
          <a:prstGeom prst="rect">
            <a:avLst/>
          </a:prstGeom>
          <a:solidFill>
            <a:srgbClr val="304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0" name="ellipse_568_568"/>
          <p:cNvSpPr/>
          <p:nvPr/>
        </p:nvSpPr>
        <p:spPr>
          <a:xfrm>
            <a:off x="5543491" y="7686291"/>
            <a:ext cx="102386" cy="102386"/>
          </a:xfrm>
          <a:prstGeom prst="ellipse">
            <a:avLst/>
          </a:prstGeom>
          <a:solidFill>
            <a:srgbClr val="FFFFFF"/>
          </a:solidFill>
          <a:ln w="7313">
            <a:solidFill>
              <a:srgbClr val="365B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polygon_569_569"/>
          <p:cNvSpPr/>
          <p:nvPr/>
        </p:nvSpPr>
        <p:spPr>
          <a:xfrm>
            <a:off x="5572744" y="7715544"/>
            <a:ext cx="51191" cy="58504"/>
          </a:xfrm>
          <a:custGeom>
            <a:avLst/>
            <a:gdLst/>
            <a:ahLst/>
            <a:cxnLst/>
            <a:rect l="l" t="t" r="r" b="b"/>
            <a:pathLst>
              <a:path w="7" h="8">
                <a:moveTo>
                  <a:pt x="0" y="0"/>
                </a:moveTo>
                <a:lnTo>
                  <a:pt x="0" y="8"/>
                </a:lnTo>
                <a:lnTo>
                  <a:pt x="7" y="4"/>
                </a:lnTo>
                <a:close/>
              </a:path>
            </a:pathLst>
          </a:custGeom>
          <a:solidFill>
            <a:srgbClr val="FF17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2" name="rect_570_570"/>
          <p:cNvSpPr/>
          <p:nvPr/>
        </p:nvSpPr>
        <p:spPr>
          <a:xfrm>
            <a:off x="6030557" y="7569278"/>
            <a:ext cx="147363" cy="180638"/>
          </a:xfrm>
          <a:prstGeom prst="rect">
            <a:avLst/>
          </a:prstGeom>
          <a:solidFill>
            <a:srgbClr val="F8EFF9"/>
          </a:solidFill>
          <a:ln w="14626">
            <a:solidFill>
              <a:srgbClr val="6554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3" name="ellipse_571_571"/>
          <p:cNvSpPr/>
          <p:nvPr/>
        </p:nvSpPr>
        <p:spPr>
          <a:xfrm>
            <a:off x="6063833" y="7607307"/>
            <a:ext cx="85565" cy="85565"/>
          </a:xfrm>
          <a:prstGeom prst="ellipse">
            <a:avLst/>
          </a:prstGeom>
          <a:solidFill>
            <a:srgbClr val="E98ED3"/>
          </a:solidFill>
          <a:ln w="14626">
            <a:solidFill>
              <a:srgbClr val="7651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4" name="line_572_572"/>
          <p:cNvCxnSpPr/>
          <p:nvPr/>
        </p:nvCxnSpPr>
        <p:spPr>
          <a:xfrm>
            <a:off x="6139891" y="7688119"/>
            <a:ext cx="42783" cy="52291"/>
          </a:xfrm>
          <a:prstGeom prst="line">
            <a:avLst/>
          </a:prstGeom>
          <a:ln w="29253">
            <a:solidFill>
              <a:srgbClr val="76518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5" name="text_573_573"/>
          <p:cNvSpPr txBox="1"/>
          <p:nvPr/>
        </p:nvSpPr>
        <p:spPr>
          <a:xfrm>
            <a:off x="6238255" y="7583905"/>
            <a:ext cx="1170130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6" b="0" i="0">
                <a:solidFill>
                  <a:srgbClr val="111111"/>
                </a:solidFill>
                <a:latin typeface="Liberation Sans"/>
              </a:rPr>
              <a:t>Image Retrive</a:t>
            </a:r>
          </a:p>
        </p:txBody>
      </p:sp>
      <p:cxnSp>
        <p:nvCxnSpPr>
          <p:cNvPr id="596" name="line_574_574"/>
          <p:cNvCxnSpPr/>
          <p:nvPr/>
        </p:nvCxnSpPr>
        <p:spPr>
          <a:xfrm>
            <a:off x="6121242" y="7810617"/>
            <a:ext cx="884911" cy="0"/>
          </a:xfrm>
          <a:prstGeom prst="line">
            <a:avLst/>
          </a:prstGeom>
          <a:ln w="14626">
            <a:solidFill>
              <a:srgbClr val="47A1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97" name="retrieved_frame_1_575" descr="frame_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565" y="7605845"/>
            <a:ext cx="321785" cy="343725"/>
          </a:xfrm>
          <a:prstGeom prst="rect">
            <a:avLst/>
          </a:prstGeom>
        </p:spPr>
      </p:pic>
      <p:pic>
        <p:nvPicPr>
          <p:cNvPr id="598" name="retrieved_frame_2_576" descr="frame_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8832" y="7583905"/>
            <a:ext cx="321785" cy="343725"/>
          </a:xfrm>
          <a:prstGeom prst="rect">
            <a:avLst/>
          </a:prstGeom>
        </p:spPr>
      </p:pic>
      <p:pic>
        <p:nvPicPr>
          <p:cNvPr id="599" name="retrieved_frame_3_577" descr="frame_0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5098" y="7561965"/>
            <a:ext cx="321785" cy="343725"/>
          </a:xfrm>
          <a:prstGeom prst="rect">
            <a:avLst/>
          </a:prstGeom>
        </p:spPr>
      </p:pic>
      <p:pic>
        <p:nvPicPr>
          <p:cNvPr id="600" name="retrieved_frame_4_578" descr="frame_0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81364" y="7540025"/>
            <a:ext cx="321785" cy="343725"/>
          </a:xfrm>
          <a:prstGeom prst="rect">
            <a:avLst/>
          </a:prstGeom>
        </p:spPr>
      </p:pic>
      <p:sp>
        <p:nvSpPr>
          <p:cNvPr id="601" name="text_579_579"/>
          <p:cNvSpPr txBox="1"/>
          <p:nvPr/>
        </p:nvSpPr>
        <p:spPr>
          <a:xfrm>
            <a:off x="5601997" y="7934944"/>
            <a:ext cx="2435333" cy="35103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111111"/>
                </a:solidFill>
                <a:latin typeface="Liberation Sans"/>
              </a:rPr>
              <a:t>Retrieve query: A woman is suspiciously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111111"/>
                </a:solidFill>
                <a:latin typeface="Liberation Sans"/>
              </a:rPr>
              <a:t>browsing items in the store.</a:t>
            </a:r>
          </a:p>
        </p:txBody>
      </p:sp>
      <p:sp>
        <p:nvSpPr>
          <p:cNvPr id="602" name="ellipse_580_580"/>
          <p:cNvSpPr/>
          <p:nvPr/>
        </p:nvSpPr>
        <p:spPr>
          <a:xfrm>
            <a:off x="5988579" y="8338931"/>
            <a:ext cx="140561" cy="140561"/>
          </a:xfrm>
          <a:prstGeom prst="ellipse">
            <a:avLst/>
          </a:prstGeom>
          <a:solidFill>
            <a:srgbClr val="E8F5F9"/>
          </a:solidFill>
          <a:ln w="21939">
            <a:solidFill>
              <a:srgbClr val="4662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03" name="line_581_581"/>
          <p:cNvCxnSpPr/>
          <p:nvPr/>
        </p:nvCxnSpPr>
        <p:spPr>
          <a:xfrm>
            <a:off x="6101935" y="8461356"/>
            <a:ext cx="63480" cy="58945"/>
          </a:xfrm>
          <a:prstGeom prst="line">
            <a:avLst/>
          </a:prstGeom>
          <a:ln w="43879">
            <a:solidFill>
              <a:srgbClr val="27A7D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4" name="line_582_582"/>
          <p:cNvCxnSpPr/>
          <p:nvPr/>
        </p:nvCxnSpPr>
        <p:spPr>
          <a:xfrm>
            <a:off x="6029387" y="8338931"/>
            <a:ext cx="0" cy="140562"/>
          </a:xfrm>
          <a:prstGeom prst="line">
            <a:avLst/>
          </a:prstGeom>
          <a:ln w="7313">
            <a:solidFill>
              <a:srgbClr val="6AA2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line_583_583"/>
          <p:cNvCxnSpPr/>
          <p:nvPr/>
        </p:nvCxnSpPr>
        <p:spPr>
          <a:xfrm>
            <a:off x="5988579" y="8406945"/>
            <a:ext cx="140562" cy="0"/>
          </a:xfrm>
          <a:prstGeom prst="line">
            <a:avLst/>
          </a:prstGeom>
          <a:ln w="7313">
            <a:solidFill>
              <a:srgbClr val="6AA2A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6" name="text_584_584"/>
          <p:cNvSpPr txBox="1"/>
          <p:nvPr/>
        </p:nvSpPr>
        <p:spPr>
          <a:xfrm>
            <a:off x="6230942" y="8329863"/>
            <a:ext cx="1133563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6" b="0" i="0">
                <a:solidFill>
                  <a:srgbClr val="111111"/>
                </a:solidFill>
                <a:latin typeface="Liberation Sans"/>
              </a:rPr>
              <a:t>Web Search</a:t>
            </a:r>
          </a:p>
        </p:txBody>
      </p:sp>
      <p:cxnSp>
        <p:nvCxnSpPr>
          <p:cNvPr id="607" name="line_585_585"/>
          <p:cNvCxnSpPr/>
          <p:nvPr/>
        </p:nvCxnSpPr>
        <p:spPr>
          <a:xfrm>
            <a:off x="6223629" y="8563889"/>
            <a:ext cx="987297" cy="0"/>
          </a:xfrm>
          <a:prstGeom prst="line">
            <a:avLst/>
          </a:prstGeom>
          <a:ln w="14626">
            <a:solidFill>
              <a:srgbClr val="47A1D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8" name="text_586_586"/>
          <p:cNvSpPr txBox="1"/>
          <p:nvPr/>
        </p:nvSpPr>
        <p:spPr>
          <a:xfrm>
            <a:off x="5872590" y="8622395"/>
            <a:ext cx="1294456" cy="4607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111111"/>
                </a:solidFill>
                <a:latin typeface="Liberation Sans"/>
              </a:rPr>
              <a:t>Search query: What are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111111"/>
                </a:solidFill>
                <a:latin typeface="Liberation Sans"/>
              </a:rPr>
              <a:t>typical shoplifting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2" b="0" i="0">
                <a:solidFill>
                  <a:srgbClr val="111111"/>
                </a:solidFill>
                <a:latin typeface="Liberation Sans"/>
              </a:rPr>
              <a:t>behaviors in a store?</a:t>
            </a:r>
          </a:p>
        </p:txBody>
      </p:sp>
      <p:sp>
        <p:nvSpPr>
          <p:cNvPr id="609" name="rect_587_587"/>
          <p:cNvSpPr/>
          <p:nvPr/>
        </p:nvSpPr>
        <p:spPr>
          <a:xfrm>
            <a:off x="7218239" y="8271356"/>
            <a:ext cx="870284" cy="767897"/>
          </a:xfrm>
          <a:prstGeom prst="roundRect">
            <a:avLst/>
          </a:prstGeom>
          <a:solidFill>
            <a:srgbClr val="D7EAF8"/>
          </a:solidFill>
          <a:ln w="10969">
            <a:solidFill>
              <a:srgbClr val="287D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0" name="text_588_588"/>
          <p:cNvSpPr txBox="1"/>
          <p:nvPr/>
        </p:nvSpPr>
        <p:spPr>
          <a:xfrm>
            <a:off x="7305999" y="8351803"/>
            <a:ext cx="724017" cy="64357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7" b="0" i="0">
                <a:solidFill>
                  <a:srgbClr val="111111"/>
                </a:solidFill>
                <a:latin typeface="Liberation Sans"/>
              </a:rPr>
              <a:t>1. Customers put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7" b="0" i="0">
                <a:solidFill>
                  <a:srgbClr val="111111"/>
                </a:solidFill>
                <a:latin typeface="Liberation Sans"/>
              </a:rPr>
              <a:t>   unpaid items 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7" b="0" i="0">
                <a:solidFill>
                  <a:srgbClr val="111111"/>
                </a:solidFill>
                <a:latin typeface="Liberation Sans"/>
              </a:rPr>
              <a:t>   their bags...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7" b="0" i="0">
                <a:solidFill>
                  <a:srgbClr val="111111"/>
                </a:solidFill>
                <a:latin typeface="Liberation Sans"/>
              </a:rPr>
              <a:t>2. Customers...</a:t>
            </a:r>
          </a:p>
        </p:txBody>
      </p:sp>
      <p:sp>
        <p:nvSpPr>
          <p:cNvPr id="611" name="rect_589_589"/>
          <p:cNvSpPr/>
          <p:nvPr/>
        </p:nvSpPr>
        <p:spPr>
          <a:xfrm>
            <a:off x="10911462" y="7532712"/>
            <a:ext cx="2961891" cy="255965"/>
          </a:xfrm>
          <a:prstGeom prst="rect">
            <a:avLst/>
          </a:prstGeom>
          <a:solidFill>
            <a:srgbClr val="F1F1F1"/>
          </a:solidFill>
          <a:ln w="21939">
            <a:solidFill>
              <a:srgbClr val="BFC2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2" name="rect_590_590"/>
          <p:cNvSpPr/>
          <p:nvPr/>
        </p:nvSpPr>
        <p:spPr>
          <a:xfrm>
            <a:off x="10911462" y="7847184"/>
            <a:ext cx="2961891" cy="1170130"/>
          </a:xfrm>
          <a:prstGeom prst="rect">
            <a:avLst/>
          </a:prstGeom>
          <a:solidFill>
            <a:srgbClr val="F8E4D8"/>
          </a:solidFill>
          <a:ln w="21939">
            <a:solidFill>
              <a:srgbClr val="BFC2C4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3" name="text_591_591"/>
          <p:cNvSpPr txBox="1"/>
          <p:nvPr/>
        </p:nvSpPr>
        <p:spPr>
          <a:xfrm>
            <a:off x="10933402" y="7561965"/>
            <a:ext cx="2918011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2" b="1" i="0">
                <a:solidFill>
                  <a:srgbClr val="111111"/>
                </a:solidFill>
                <a:latin typeface="Liberation Sans"/>
              </a:rPr>
              <a:t>Refined Reasoning Results</a:t>
            </a:r>
          </a:p>
        </p:txBody>
      </p:sp>
      <p:sp>
        <p:nvSpPr>
          <p:cNvPr id="614" name="richtext_592_592"/>
          <p:cNvSpPr txBox="1"/>
          <p:nvPr/>
        </p:nvSpPr>
        <p:spPr>
          <a:xfrm>
            <a:off x="11006535" y="7891064"/>
            <a:ext cx="2757118" cy="2047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65" b="0">
                <a:solidFill>
                  <a:srgbClr val="111111"/>
                </a:solidFill>
                <a:latin typeface="Liberation Sans"/>
              </a:rPr>
              <a:t>Status: </a:t>
            </a:r>
            <a:r>
              <a:rPr sz="1065" b="0">
                <a:solidFill>
                  <a:srgbClr val="BFC2C4"/>
                </a:solidFill>
                <a:latin typeface="Liberation Sans"/>
              </a:rPr>
              <a:t>Normal / </a:t>
            </a:r>
            <a:r>
              <a:rPr sz="1065" b="0">
                <a:solidFill>
                  <a:srgbClr val="FF1717"/>
                </a:solidFill>
                <a:latin typeface="Liberation Sans"/>
              </a:rPr>
              <a:t>Abnormal</a:t>
            </a:r>
            <a:r>
              <a:rPr sz="1065" b="0">
                <a:solidFill>
                  <a:srgbClr val="BFC2C4"/>
                </a:solidFill>
                <a:latin typeface="Liberation Sans"/>
              </a:rPr>
              <a:t> / Insufficient</a:t>
            </a:r>
          </a:p>
        </p:txBody>
      </p:sp>
      <p:sp>
        <p:nvSpPr>
          <p:cNvPr id="615" name="text_593_593"/>
          <p:cNvSpPr txBox="1"/>
          <p:nvPr/>
        </p:nvSpPr>
        <p:spPr>
          <a:xfrm>
            <a:off x="11006535" y="8088523"/>
            <a:ext cx="2632792" cy="1828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111111"/>
                </a:solidFill>
                <a:latin typeface="Liberation Sans"/>
              </a:rPr>
              <a:t>Score: 0.9</a:t>
            </a:r>
          </a:p>
        </p:txBody>
      </p:sp>
      <p:sp>
        <p:nvSpPr>
          <p:cNvPr id="616" name="text_594_594"/>
          <p:cNvSpPr txBox="1"/>
          <p:nvPr/>
        </p:nvSpPr>
        <p:spPr>
          <a:xfrm>
            <a:off x="11006535" y="8278669"/>
            <a:ext cx="585065" cy="1828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111111"/>
                </a:solidFill>
                <a:latin typeface="Liberation Sans"/>
              </a:rPr>
              <a:t>Reason:</a:t>
            </a:r>
          </a:p>
        </p:txBody>
      </p:sp>
      <p:sp>
        <p:nvSpPr>
          <p:cNvPr id="617" name="text_595_595"/>
          <p:cNvSpPr txBox="1"/>
          <p:nvPr/>
        </p:nvSpPr>
        <p:spPr>
          <a:xfrm>
            <a:off x="11591600" y="8278669"/>
            <a:ext cx="2150113" cy="1828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6" b="0" i="0">
                <a:solidFill>
                  <a:srgbClr val="FF1717"/>
                </a:solidFill>
                <a:latin typeface="Liberation Sans"/>
              </a:rPr>
              <a:t>The woman carrying the bag on</a:t>
            </a:r>
          </a:p>
        </p:txBody>
      </p:sp>
      <p:sp>
        <p:nvSpPr>
          <p:cNvPr id="618" name="text_596_596"/>
          <p:cNvSpPr txBox="1"/>
          <p:nvPr/>
        </p:nvSpPr>
        <p:spPr>
          <a:xfrm>
            <a:off x="11006535" y="8446876"/>
            <a:ext cx="2735178" cy="3583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6" b="0" i="0">
                <a:solidFill>
                  <a:srgbClr val="FF1717"/>
                </a:solidFill>
                <a:latin typeface="Liberation Sans"/>
              </a:rPr>
              <a:t>her back without paying, which is 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6" b="0" i="0">
                <a:solidFill>
                  <a:srgbClr val="FF1717"/>
                </a:solidFill>
                <a:latin typeface="Liberation Sans"/>
              </a:rPr>
              <a:t>typical shoplifting event.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PANDA Towards Generalist Video Anomaly Detection via Agentic AI Engineer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173200" cy="924402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