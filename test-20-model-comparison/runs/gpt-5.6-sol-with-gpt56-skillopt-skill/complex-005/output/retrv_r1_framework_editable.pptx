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3716000" cy="7024061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anvas"/>
          <p:cNvSpPr/>
          <p:nvPr/>
        </p:nvSpPr>
        <p:spPr>
          <a:xfrm>
            <a:off x="0" y="0"/>
            <a:ext cx="13716000" cy="7024061"/>
          </a:xfrm>
          <a:prstGeom prst="rect">
            <a:avLst/>
          </a:prstGeom>
          <a:solidFill>
            <a:srgbClr val="FFFDF8"/>
          </a:solidFill>
          <a:ln>
            <a:solidFill>
              <a:srgbClr val="FFFDF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panel-a"/>
          <p:cNvSpPr/>
          <p:nvPr/>
        </p:nvSpPr>
        <p:spPr>
          <a:xfrm>
            <a:off x="113063" y="197860"/>
            <a:ext cx="7038194" cy="4586132"/>
          </a:xfrm>
          <a:prstGeom prst="rect">
            <a:avLst/>
          </a:prstGeom>
          <a:solidFill>
            <a:srgbClr val="FBF4FF"/>
          </a:solidFill>
          <a:ln w="28265">
            <a:solidFill>
              <a:srgbClr val="0B111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panel-b"/>
          <p:cNvSpPr/>
          <p:nvPr/>
        </p:nvSpPr>
        <p:spPr>
          <a:xfrm>
            <a:off x="113063" y="4974788"/>
            <a:ext cx="7038194" cy="2013941"/>
          </a:xfrm>
          <a:prstGeom prst="rect">
            <a:avLst/>
          </a:prstGeom>
          <a:solidFill>
            <a:srgbClr val="ECFBF6"/>
          </a:solidFill>
          <a:ln w="28265">
            <a:solidFill>
              <a:srgbClr val="0B111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panel-c"/>
          <p:cNvSpPr/>
          <p:nvPr/>
        </p:nvSpPr>
        <p:spPr>
          <a:xfrm>
            <a:off x="7264321" y="197860"/>
            <a:ext cx="6388080" cy="6790868"/>
          </a:xfrm>
          <a:prstGeom prst="rect">
            <a:avLst/>
          </a:prstGeom>
          <a:solidFill>
            <a:srgbClr val="FFFDF8"/>
          </a:solidFill>
          <a:ln w="28265">
            <a:solidFill>
              <a:srgbClr val="0B1114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itle-a"/>
          <p:cNvSpPr txBox="1"/>
          <p:nvPr/>
        </p:nvSpPr>
        <p:spPr>
          <a:xfrm>
            <a:off x="155462" y="219060"/>
            <a:ext cx="2473261" cy="2402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9" b="1" i="0">
                <a:solidFill>
                  <a:srgbClr val="000000"/>
                </a:solidFill>
                <a:latin typeface="Liberation Sans"/>
              </a:rPr>
              <a:t>(A) Overall Pipeline</a:t>
            </a:r>
          </a:p>
        </p:txBody>
      </p:sp>
      <p:sp>
        <p:nvSpPr>
          <p:cNvPr id="7" name="query-title"/>
          <p:cNvSpPr txBox="1"/>
          <p:nvPr/>
        </p:nvSpPr>
        <p:spPr>
          <a:xfrm>
            <a:off x="586516" y="459319"/>
            <a:ext cx="1130633" cy="219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9" b="0" i="0">
                <a:solidFill>
                  <a:srgbClr val="000000"/>
                </a:solidFill>
                <a:latin typeface="Liberation Sans"/>
              </a:rPr>
              <a:t>Query</a:t>
            </a:r>
          </a:p>
        </p:txBody>
      </p:sp>
      <p:sp>
        <p:nvSpPr>
          <p:cNvPr id="8" name="query-frame"/>
          <p:cNvSpPr/>
          <p:nvPr/>
        </p:nvSpPr>
        <p:spPr>
          <a:xfrm>
            <a:off x="176661" y="466386"/>
            <a:ext cx="1964476" cy="2374330"/>
          </a:xfrm>
          <a:prstGeom prst="rect">
            <a:avLst/>
          </a:prstGeom>
          <a:solidFill>
            <a:srgbClr val="FFFFFF"/>
          </a:solidFill>
          <a:ln w="21199">
            <a:solidFill>
              <a:srgbClr val="F4C8CC"/>
            </a:solidFill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9" name="query-image" descr="asset_que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259" y="678380"/>
            <a:ext cx="1844346" cy="1243697"/>
          </a:xfrm>
          <a:prstGeom prst="rect">
            <a:avLst/>
          </a:prstGeom>
        </p:spPr>
      </p:pic>
      <p:sp>
        <p:nvSpPr>
          <p:cNvPr id="10" name="query-text"/>
          <p:cNvSpPr txBox="1"/>
          <p:nvPr/>
        </p:nvSpPr>
        <p:spPr>
          <a:xfrm>
            <a:off x="226126" y="1999808"/>
            <a:ext cx="1865545" cy="79144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3" b="0" i="0">
                <a:solidFill>
                  <a:srgbClr val="000000"/>
                </a:solidFill>
                <a:latin typeface="Liberation Sans"/>
              </a:rPr>
              <a:t>Find an image with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3" b="0" i="0">
                <a:solidFill>
                  <a:srgbClr val="000000"/>
                </a:solidFill>
                <a:latin typeface="Liberation Sans"/>
              </a:rPr>
              <a:t>a  different  animal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3" b="0" i="0">
                <a:solidFill>
                  <a:srgbClr val="000000"/>
                </a:solidFill>
                <a:latin typeface="Liberation Sans"/>
              </a:rPr>
              <a:t>but the same style.</a:t>
            </a:r>
          </a:p>
        </p:txBody>
      </p:sp>
      <p:sp>
        <p:nvSpPr>
          <p:cNvPr id="11" name="cand1-title"/>
          <p:cNvSpPr txBox="1"/>
          <p:nvPr/>
        </p:nvSpPr>
        <p:spPr>
          <a:xfrm>
            <a:off x="2381397" y="473452"/>
            <a:ext cx="1243697" cy="219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9" b="0" i="0">
                <a:solidFill>
                  <a:srgbClr val="000000"/>
                </a:solidFill>
                <a:latin typeface="Liberation Sans"/>
              </a:rPr>
              <a:t>Candidate 1</a:t>
            </a:r>
          </a:p>
        </p:txBody>
      </p:sp>
      <p:sp>
        <p:nvSpPr>
          <p:cNvPr id="12" name="cand2-title"/>
          <p:cNvSpPr txBox="1"/>
          <p:nvPr/>
        </p:nvSpPr>
        <p:spPr>
          <a:xfrm>
            <a:off x="3872420" y="473452"/>
            <a:ext cx="1250763" cy="219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9" b="0" i="0">
                <a:solidFill>
                  <a:srgbClr val="000000"/>
                </a:solidFill>
                <a:latin typeface="Liberation Sans"/>
              </a:rPr>
              <a:t>Candidate 2</a:t>
            </a:r>
          </a:p>
        </p:txBody>
      </p:sp>
      <p:sp>
        <p:nvSpPr>
          <p:cNvPr id="13" name="candk-title"/>
          <p:cNvSpPr txBox="1"/>
          <p:nvPr/>
        </p:nvSpPr>
        <p:spPr>
          <a:xfrm>
            <a:off x="5737965" y="473452"/>
            <a:ext cx="1300228" cy="219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9" b="0" i="0">
                <a:solidFill>
                  <a:srgbClr val="000000"/>
                </a:solidFill>
                <a:latin typeface="Liberation Sans"/>
              </a:rPr>
              <a:t>Candidate K</a:t>
            </a:r>
          </a:p>
        </p:txBody>
      </p:sp>
      <p:pic>
        <p:nvPicPr>
          <p:cNvPr id="14" name="candidate-1-image" descr="asset_can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200" y="678380"/>
            <a:ext cx="1349693" cy="904506"/>
          </a:xfrm>
          <a:prstGeom prst="rect">
            <a:avLst/>
          </a:prstGeom>
        </p:spPr>
      </p:pic>
      <p:pic>
        <p:nvPicPr>
          <p:cNvPr id="15" name="candidate-2-image" descr="asset_cand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59357" y="678380"/>
            <a:ext cx="1349693" cy="904506"/>
          </a:xfrm>
          <a:prstGeom prst="rect">
            <a:avLst/>
          </a:prstGeom>
        </p:spPr>
      </p:pic>
      <p:pic>
        <p:nvPicPr>
          <p:cNvPr id="16" name="candidate-k-image" descr="asset_cand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88500" y="678380"/>
            <a:ext cx="1349693" cy="904506"/>
          </a:xfrm>
          <a:prstGeom prst="rect">
            <a:avLst/>
          </a:prstGeom>
        </p:spPr>
      </p:pic>
      <p:sp>
        <p:nvSpPr>
          <p:cNvPr id="17" name="candidate-1-tokens-group"/>
          <p:cNvSpPr/>
          <p:nvPr/>
        </p:nvSpPr>
        <p:spPr>
          <a:xfrm>
            <a:off x="2197669" y="1604086"/>
            <a:ext cx="1441557" cy="685446"/>
          </a:xfrm>
          <a:prstGeom prst="rect">
            <a:avLst/>
          </a:prstGeom>
          <a:solidFill>
            <a:srgbClr val="FFFFFF"/>
          </a:solidFill>
          <a:ln w="23319">
            <a:solidFill>
              <a:srgbClr val="ADD1B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candidate-1-tokens-token-1"/>
          <p:cNvSpPr/>
          <p:nvPr/>
        </p:nvSpPr>
        <p:spPr>
          <a:xfrm>
            <a:off x="2254200" y="1681817"/>
            <a:ext cx="296791" cy="296791"/>
          </a:xfrm>
          <a:prstGeom prst="rect">
            <a:avLst/>
          </a:prstGeom>
          <a:solidFill>
            <a:srgbClr val="A9CEB8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candidate-1-tokens-token-2"/>
          <p:cNvSpPr/>
          <p:nvPr/>
        </p:nvSpPr>
        <p:spPr>
          <a:xfrm>
            <a:off x="2664055" y="1681817"/>
            <a:ext cx="296791" cy="296791"/>
          </a:xfrm>
          <a:prstGeom prst="rect">
            <a:avLst/>
          </a:prstGeom>
          <a:solidFill>
            <a:srgbClr val="A9CEB8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candidate-1-tokens-token-3"/>
          <p:cNvSpPr/>
          <p:nvPr/>
        </p:nvSpPr>
        <p:spPr>
          <a:xfrm>
            <a:off x="3292970" y="1681817"/>
            <a:ext cx="296791" cy="296791"/>
          </a:xfrm>
          <a:prstGeom prst="rect">
            <a:avLst/>
          </a:prstGeom>
          <a:solidFill>
            <a:srgbClr val="A9CEB8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candidate-1-tokens-ellipsis"/>
          <p:cNvSpPr txBox="1"/>
          <p:nvPr/>
        </p:nvSpPr>
        <p:spPr>
          <a:xfrm>
            <a:off x="2982046" y="1695950"/>
            <a:ext cx="268525" cy="2119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1" b="1" i="0">
                <a:solidFill>
                  <a:srgbClr val="000000"/>
                </a:solidFill>
                <a:latin typeface="Liberation Sans"/>
              </a:rPr>
              <a:t>...</a:t>
            </a:r>
          </a:p>
        </p:txBody>
      </p:sp>
      <p:sp>
        <p:nvSpPr>
          <p:cNvPr id="22" name="candidate-1-tokens-label"/>
          <p:cNvSpPr txBox="1"/>
          <p:nvPr/>
        </p:nvSpPr>
        <p:spPr>
          <a:xfrm>
            <a:off x="2840717" y="1950343"/>
            <a:ext cx="108823" cy="2473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7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23" name="candidate-1-tokens-label-sub"/>
          <p:cNvSpPr txBox="1"/>
          <p:nvPr/>
        </p:nvSpPr>
        <p:spPr>
          <a:xfrm>
            <a:off x="2942474" y="2053230"/>
            <a:ext cx="169595" cy="1483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1">
                <a:solidFill>
                  <a:srgbClr val="000000"/>
                </a:solidFill>
                <a:latin typeface="Liberation Serif"/>
              </a:rPr>
              <a:t>c1</a:t>
            </a:r>
          </a:p>
        </p:txBody>
      </p:sp>
      <p:sp>
        <p:nvSpPr>
          <p:cNvPr id="24" name="candidate-2-tokens-group"/>
          <p:cNvSpPr/>
          <p:nvPr/>
        </p:nvSpPr>
        <p:spPr>
          <a:xfrm>
            <a:off x="3702825" y="1604086"/>
            <a:ext cx="1441557" cy="685446"/>
          </a:xfrm>
          <a:prstGeom prst="rect">
            <a:avLst/>
          </a:prstGeom>
          <a:solidFill>
            <a:srgbClr val="FFFFFF"/>
          </a:solidFill>
          <a:ln w="23319">
            <a:solidFill>
              <a:srgbClr val="B8D9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candidate-2-tokens-token-1"/>
          <p:cNvSpPr/>
          <p:nvPr/>
        </p:nvSpPr>
        <p:spPr>
          <a:xfrm>
            <a:off x="3759357" y="1681817"/>
            <a:ext cx="296791" cy="296791"/>
          </a:xfrm>
          <a:prstGeom prst="rect">
            <a:avLst/>
          </a:prstGeom>
          <a:solidFill>
            <a:srgbClr val="A7CBE2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candidate-2-tokens-token-2"/>
          <p:cNvSpPr/>
          <p:nvPr/>
        </p:nvSpPr>
        <p:spPr>
          <a:xfrm>
            <a:off x="4169211" y="1681817"/>
            <a:ext cx="296791" cy="296791"/>
          </a:xfrm>
          <a:prstGeom prst="rect">
            <a:avLst/>
          </a:prstGeom>
          <a:solidFill>
            <a:srgbClr val="A7CBE2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candidate-2-tokens-token-3"/>
          <p:cNvSpPr/>
          <p:nvPr/>
        </p:nvSpPr>
        <p:spPr>
          <a:xfrm>
            <a:off x="4798126" y="1681817"/>
            <a:ext cx="296791" cy="296791"/>
          </a:xfrm>
          <a:prstGeom prst="rect">
            <a:avLst/>
          </a:prstGeom>
          <a:solidFill>
            <a:srgbClr val="A7CBE2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candidate-2-tokens-ellipsis"/>
          <p:cNvSpPr txBox="1"/>
          <p:nvPr/>
        </p:nvSpPr>
        <p:spPr>
          <a:xfrm>
            <a:off x="4487202" y="1695950"/>
            <a:ext cx="268525" cy="2119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1" b="1" i="0">
                <a:solidFill>
                  <a:srgbClr val="000000"/>
                </a:solidFill>
                <a:latin typeface="Liberation Sans"/>
              </a:rPr>
              <a:t>...</a:t>
            </a:r>
          </a:p>
        </p:txBody>
      </p:sp>
      <p:sp>
        <p:nvSpPr>
          <p:cNvPr id="29" name="candidate-2-tokens-label"/>
          <p:cNvSpPr txBox="1"/>
          <p:nvPr/>
        </p:nvSpPr>
        <p:spPr>
          <a:xfrm>
            <a:off x="4345873" y="1950343"/>
            <a:ext cx="108823" cy="2473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7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30" name="candidate-2-tokens-label-sub"/>
          <p:cNvSpPr txBox="1"/>
          <p:nvPr/>
        </p:nvSpPr>
        <p:spPr>
          <a:xfrm>
            <a:off x="4447630" y="2053230"/>
            <a:ext cx="169595" cy="1483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1">
                <a:solidFill>
                  <a:srgbClr val="000000"/>
                </a:solidFill>
                <a:latin typeface="Liberation Serif"/>
              </a:rPr>
              <a:t>c2</a:t>
            </a:r>
          </a:p>
        </p:txBody>
      </p:sp>
      <p:sp>
        <p:nvSpPr>
          <p:cNvPr id="31" name="candidate-k-tokens-group"/>
          <p:cNvSpPr/>
          <p:nvPr/>
        </p:nvSpPr>
        <p:spPr>
          <a:xfrm>
            <a:off x="5624902" y="1604086"/>
            <a:ext cx="1441557" cy="685446"/>
          </a:xfrm>
          <a:prstGeom prst="rect">
            <a:avLst/>
          </a:prstGeom>
          <a:solidFill>
            <a:srgbClr val="FFFFFF"/>
          </a:solidFill>
          <a:ln w="23319">
            <a:solidFill>
              <a:srgbClr val="C2B2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candidate-k-tokens-token-1"/>
          <p:cNvSpPr/>
          <p:nvPr/>
        </p:nvSpPr>
        <p:spPr>
          <a:xfrm>
            <a:off x="5681434" y="1681817"/>
            <a:ext cx="296791" cy="296791"/>
          </a:xfrm>
          <a:prstGeom prst="rect">
            <a:avLst/>
          </a:prstGeom>
          <a:solidFill>
            <a:srgbClr val="AB99B6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candidate-k-tokens-token-2"/>
          <p:cNvSpPr/>
          <p:nvPr/>
        </p:nvSpPr>
        <p:spPr>
          <a:xfrm>
            <a:off x="6091289" y="1681817"/>
            <a:ext cx="296791" cy="296791"/>
          </a:xfrm>
          <a:prstGeom prst="rect">
            <a:avLst/>
          </a:prstGeom>
          <a:solidFill>
            <a:srgbClr val="AB99B6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candidate-k-tokens-token-3"/>
          <p:cNvSpPr/>
          <p:nvPr/>
        </p:nvSpPr>
        <p:spPr>
          <a:xfrm>
            <a:off x="6720204" y="1681817"/>
            <a:ext cx="296791" cy="296791"/>
          </a:xfrm>
          <a:prstGeom prst="rect">
            <a:avLst/>
          </a:prstGeom>
          <a:solidFill>
            <a:srgbClr val="AB99B6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candidate-k-tokens-ellipsis"/>
          <p:cNvSpPr txBox="1"/>
          <p:nvPr/>
        </p:nvSpPr>
        <p:spPr>
          <a:xfrm>
            <a:off x="6409279" y="1695950"/>
            <a:ext cx="268525" cy="2119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1" b="1" i="0">
                <a:solidFill>
                  <a:srgbClr val="000000"/>
                </a:solidFill>
                <a:latin typeface="Liberation Sans"/>
              </a:rPr>
              <a:t>...</a:t>
            </a:r>
          </a:p>
        </p:txBody>
      </p:sp>
      <p:sp>
        <p:nvSpPr>
          <p:cNvPr id="36" name="candidate-k-tokens-label"/>
          <p:cNvSpPr txBox="1"/>
          <p:nvPr/>
        </p:nvSpPr>
        <p:spPr>
          <a:xfrm>
            <a:off x="6267950" y="1950343"/>
            <a:ext cx="108823" cy="2473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7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37" name="candidate-k-tokens-label-sub"/>
          <p:cNvSpPr txBox="1"/>
          <p:nvPr/>
        </p:nvSpPr>
        <p:spPr>
          <a:xfrm>
            <a:off x="6369707" y="2053230"/>
            <a:ext cx="169595" cy="1483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1">
                <a:solidFill>
                  <a:srgbClr val="000000"/>
                </a:solidFill>
                <a:latin typeface="Liberation Serif"/>
              </a:rPr>
              <a:t>cK</a:t>
            </a:r>
          </a:p>
        </p:txBody>
      </p:sp>
      <p:sp>
        <p:nvSpPr>
          <p:cNvPr id="38" name="candidate-ellipsis"/>
          <p:cNvSpPr txBox="1"/>
          <p:nvPr/>
        </p:nvSpPr>
        <p:spPr>
          <a:xfrm>
            <a:off x="5215047" y="1752482"/>
            <a:ext cx="332123" cy="3179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9" b="1" i="0">
                <a:solidFill>
                  <a:srgbClr val="000000"/>
                </a:solidFill>
                <a:latin typeface="Liberation Sans"/>
              </a:rPr>
              <a:t>...</a:t>
            </a:r>
          </a:p>
        </p:txBody>
      </p:sp>
      <p:sp>
        <p:nvSpPr>
          <p:cNvPr id="39" name="query-tokens-group"/>
          <p:cNvSpPr/>
          <p:nvPr/>
        </p:nvSpPr>
        <p:spPr>
          <a:xfrm>
            <a:off x="176661" y="2904315"/>
            <a:ext cx="1441557" cy="480519"/>
          </a:xfrm>
          <a:prstGeom prst="rect">
            <a:avLst/>
          </a:prstGeom>
          <a:solidFill>
            <a:srgbClr val="FFFFFF"/>
          </a:solidFill>
          <a:ln w="23319">
            <a:solidFill>
              <a:srgbClr val="F4C8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query-tokens-token-1"/>
          <p:cNvSpPr/>
          <p:nvPr/>
        </p:nvSpPr>
        <p:spPr>
          <a:xfrm>
            <a:off x="233193" y="2982046"/>
            <a:ext cx="296791" cy="296791"/>
          </a:xfrm>
          <a:prstGeom prst="rect">
            <a:avLst/>
          </a:prstGeom>
          <a:solidFill>
            <a:srgbClr val="F4C1C4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query-tokens-token-2"/>
          <p:cNvSpPr/>
          <p:nvPr/>
        </p:nvSpPr>
        <p:spPr>
          <a:xfrm>
            <a:off x="643047" y="2982046"/>
            <a:ext cx="296791" cy="296791"/>
          </a:xfrm>
          <a:prstGeom prst="rect">
            <a:avLst/>
          </a:prstGeom>
          <a:solidFill>
            <a:srgbClr val="F4C1C4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query-tokens-token-3"/>
          <p:cNvSpPr/>
          <p:nvPr/>
        </p:nvSpPr>
        <p:spPr>
          <a:xfrm>
            <a:off x="1271962" y="2982046"/>
            <a:ext cx="296791" cy="296791"/>
          </a:xfrm>
          <a:prstGeom prst="rect">
            <a:avLst/>
          </a:prstGeom>
          <a:solidFill>
            <a:srgbClr val="F4C1C4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query-tokens-ellipsis"/>
          <p:cNvSpPr txBox="1"/>
          <p:nvPr/>
        </p:nvSpPr>
        <p:spPr>
          <a:xfrm>
            <a:off x="961038" y="2996179"/>
            <a:ext cx="268525" cy="2119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1" b="1" i="0">
                <a:solidFill>
                  <a:srgbClr val="000000"/>
                </a:solidFill>
                <a:latin typeface="Liberation Sans"/>
              </a:rPr>
              <a:t>...</a:t>
            </a:r>
          </a:p>
        </p:txBody>
      </p:sp>
      <p:sp>
        <p:nvSpPr>
          <p:cNvPr id="44" name="query-tokens-label"/>
          <p:cNvSpPr txBox="1"/>
          <p:nvPr/>
        </p:nvSpPr>
        <p:spPr>
          <a:xfrm>
            <a:off x="819709" y="3172840"/>
            <a:ext cx="108823" cy="2473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7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45" name="query-tokens-label-sub"/>
          <p:cNvSpPr txBox="1"/>
          <p:nvPr/>
        </p:nvSpPr>
        <p:spPr>
          <a:xfrm>
            <a:off x="921466" y="3275728"/>
            <a:ext cx="169595" cy="1483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1">
                <a:solidFill>
                  <a:srgbClr val="000000"/>
                </a:solidFill>
                <a:latin typeface="Liberation Serif"/>
              </a:rPr>
              <a:t>q</a:t>
            </a:r>
          </a:p>
        </p:txBody>
      </p:sp>
      <p:cxnSp>
        <p:nvCxnSpPr>
          <p:cNvPr id="46" name="candidate-to-icm-421-1"/>
          <p:cNvCxnSpPr/>
          <p:nvPr/>
        </p:nvCxnSpPr>
        <p:spPr>
          <a:xfrm>
            <a:off x="2974979" y="2289533"/>
            <a:ext cx="0" cy="169595"/>
          </a:xfrm>
          <a:prstGeom prst="line">
            <a:avLst/>
          </a:prstGeom>
          <a:ln w="16959">
            <a:solidFill>
              <a:srgbClr val="0B1114"/>
            </a:solidFill>
            <a:tailEnd type="triangle" w="sm" len="sm"/>
          </a:ln>
        </p:spPr>
      </p:cxnSp>
      <p:cxnSp>
        <p:nvCxnSpPr>
          <p:cNvPr id="47" name="icm-to-compressed-421-1"/>
          <p:cNvCxnSpPr/>
          <p:nvPr/>
        </p:nvCxnSpPr>
        <p:spPr>
          <a:xfrm>
            <a:off x="2974979" y="2748853"/>
            <a:ext cx="0" cy="155462"/>
          </a:xfrm>
          <a:prstGeom prst="line">
            <a:avLst/>
          </a:prstGeom>
          <a:ln w="16959">
            <a:solidFill>
              <a:srgbClr val="0B1114"/>
            </a:solidFill>
            <a:tailEnd type="triangle" w="sm" len="sm"/>
          </a:ln>
        </p:spPr>
      </p:cxnSp>
      <p:cxnSp>
        <p:nvCxnSpPr>
          <p:cNvPr id="48" name="candidate-to-icm-636-1"/>
          <p:cNvCxnSpPr/>
          <p:nvPr/>
        </p:nvCxnSpPr>
        <p:spPr>
          <a:xfrm>
            <a:off x="4494268" y="2289533"/>
            <a:ext cx="0" cy="169595"/>
          </a:xfrm>
          <a:prstGeom prst="line">
            <a:avLst/>
          </a:prstGeom>
          <a:ln w="16959">
            <a:solidFill>
              <a:srgbClr val="0B1114"/>
            </a:solidFill>
            <a:tailEnd type="triangle" w="sm" len="sm"/>
          </a:ln>
        </p:spPr>
      </p:cxnSp>
      <p:cxnSp>
        <p:nvCxnSpPr>
          <p:cNvPr id="49" name="icm-to-compressed-636-1"/>
          <p:cNvCxnSpPr/>
          <p:nvPr/>
        </p:nvCxnSpPr>
        <p:spPr>
          <a:xfrm>
            <a:off x="4494268" y="2748853"/>
            <a:ext cx="0" cy="155462"/>
          </a:xfrm>
          <a:prstGeom prst="line">
            <a:avLst/>
          </a:prstGeom>
          <a:ln w="16959">
            <a:solidFill>
              <a:srgbClr val="0B1114"/>
            </a:solidFill>
            <a:tailEnd type="triangle" w="sm" len="sm"/>
          </a:ln>
        </p:spPr>
      </p:cxnSp>
      <p:cxnSp>
        <p:nvCxnSpPr>
          <p:cNvPr id="50" name="candidate-to-icm-907-1"/>
          <p:cNvCxnSpPr/>
          <p:nvPr/>
        </p:nvCxnSpPr>
        <p:spPr>
          <a:xfrm>
            <a:off x="6409279" y="2289533"/>
            <a:ext cx="0" cy="169595"/>
          </a:xfrm>
          <a:prstGeom prst="line">
            <a:avLst/>
          </a:prstGeom>
          <a:ln w="16959">
            <a:solidFill>
              <a:srgbClr val="0B1114"/>
            </a:solidFill>
            <a:tailEnd type="triangle" w="sm" len="sm"/>
          </a:ln>
        </p:spPr>
      </p:cxnSp>
      <p:cxnSp>
        <p:nvCxnSpPr>
          <p:cNvPr id="51" name="icm-to-compressed-907-1"/>
          <p:cNvCxnSpPr/>
          <p:nvPr/>
        </p:nvCxnSpPr>
        <p:spPr>
          <a:xfrm>
            <a:off x="6409279" y="2748853"/>
            <a:ext cx="0" cy="155462"/>
          </a:xfrm>
          <a:prstGeom prst="line">
            <a:avLst/>
          </a:prstGeom>
          <a:ln w="16959">
            <a:solidFill>
              <a:srgbClr val="0B1114"/>
            </a:solidFill>
            <a:tailEnd type="triangle" w="sm" len="sm"/>
          </a:ln>
        </p:spPr>
      </p:cxnSp>
      <p:cxnSp>
        <p:nvCxnSpPr>
          <p:cNvPr id="52" name="compressed-to-llm-1"/>
          <p:cNvCxnSpPr/>
          <p:nvPr/>
        </p:nvCxnSpPr>
        <p:spPr>
          <a:xfrm>
            <a:off x="3688692" y="3384834"/>
            <a:ext cx="0" cy="141329"/>
          </a:xfrm>
          <a:prstGeom prst="line">
            <a:avLst/>
          </a:prstGeom>
          <a:ln w="16959">
            <a:solidFill>
              <a:srgbClr val="0B1114"/>
            </a:solidFill>
            <a:tailEnd type="triangle" w="sm" len="sm"/>
          </a:ln>
        </p:spPr>
      </p:cxnSp>
      <p:cxnSp>
        <p:nvCxnSpPr>
          <p:cNvPr id="53" name="llm-to-answer-1"/>
          <p:cNvCxnSpPr/>
          <p:nvPr/>
        </p:nvCxnSpPr>
        <p:spPr>
          <a:xfrm>
            <a:off x="3688692" y="3872420"/>
            <a:ext cx="0" cy="127196"/>
          </a:xfrm>
          <a:prstGeom prst="line">
            <a:avLst/>
          </a:prstGeom>
          <a:ln w="16959">
            <a:solidFill>
              <a:srgbClr val="0B1114"/>
            </a:solidFill>
            <a:tailEnd type="triangle" w="sm" len="sm"/>
          </a:ln>
        </p:spPr>
      </p:cxnSp>
      <p:sp>
        <p:nvSpPr>
          <p:cNvPr id="54" name="icm-bar-a"/>
          <p:cNvSpPr/>
          <p:nvPr/>
        </p:nvSpPr>
        <p:spPr>
          <a:xfrm>
            <a:off x="2190602" y="2459128"/>
            <a:ext cx="4889990" cy="289724"/>
          </a:xfrm>
          <a:prstGeom prst="roundRect">
            <a:avLst/>
          </a:prstGeom>
          <a:solidFill>
            <a:srgbClr val="DDF5F1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icm-bar-a-text"/>
          <p:cNvSpPr txBox="1"/>
          <p:nvPr/>
        </p:nvSpPr>
        <p:spPr>
          <a:xfrm>
            <a:off x="2331931" y="2473261"/>
            <a:ext cx="4600265" cy="2614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0" b="0" i="0">
                <a:solidFill>
                  <a:srgbClr val="000000"/>
                </a:solidFill>
                <a:latin typeface="Liberation Sans"/>
              </a:rPr>
              <a:t>Information Compression Module (ICM)</a:t>
            </a:r>
          </a:p>
        </p:txBody>
      </p:sp>
      <p:sp>
        <p:nvSpPr>
          <p:cNvPr id="56" name="c1-concept-token"/>
          <p:cNvSpPr/>
          <p:nvPr/>
        </p:nvSpPr>
        <p:spPr>
          <a:xfrm>
            <a:off x="2254200" y="2982046"/>
            <a:ext cx="296791" cy="296791"/>
          </a:xfrm>
          <a:prstGeom prst="rect">
            <a:avLst/>
          </a:prstGeom>
          <a:solidFill>
            <a:srgbClr val="A9CEB8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c1-concept-label"/>
          <p:cNvSpPr txBox="1"/>
          <p:nvPr/>
        </p:nvSpPr>
        <p:spPr>
          <a:xfrm>
            <a:off x="2579258" y="2974979"/>
            <a:ext cx="104936" cy="2384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2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58" name="c1-concept-label-sup"/>
          <p:cNvSpPr txBox="1"/>
          <p:nvPr/>
        </p:nvSpPr>
        <p:spPr>
          <a:xfrm>
            <a:off x="2677128" y="2925514"/>
            <a:ext cx="133556" cy="1335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1" b="0" i="1">
                <a:solidFill>
                  <a:srgbClr val="000000"/>
                </a:solidFill>
                <a:latin typeface="Liberation Serif"/>
              </a:rPr>
              <a:t>c1</a:t>
            </a:r>
          </a:p>
        </p:txBody>
      </p:sp>
      <p:sp>
        <p:nvSpPr>
          <p:cNvPr id="59" name="c1-concept-label-sub"/>
          <p:cNvSpPr txBox="1"/>
          <p:nvPr/>
        </p:nvSpPr>
        <p:spPr>
          <a:xfrm>
            <a:off x="2677128" y="3074193"/>
            <a:ext cx="217505" cy="1430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1" b="0" i="1">
                <a:solidFill>
                  <a:srgbClr val="000000"/>
                </a:solidFill>
                <a:latin typeface="Liberation Serif"/>
              </a:rPr>
              <a:t>con</a:t>
            </a:r>
          </a:p>
        </p:txBody>
      </p:sp>
      <p:sp>
        <p:nvSpPr>
          <p:cNvPr id="60" name="c1-relation-token"/>
          <p:cNvSpPr/>
          <p:nvPr/>
        </p:nvSpPr>
        <p:spPr>
          <a:xfrm>
            <a:off x="3010312" y="2982046"/>
            <a:ext cx="296791" cy="296791"/>
          </a:xfrm>
          <a:prstGeom prst="rect">
            <a:avLst/>
          </a:prstGeom>
          <a:solidFill>
            <a:srgbClr val="A9CEB8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c1-relation-label"/>
          <p:cNvSpPr txBox="1"/>
          <p:nvPr/>
        </p:nvSpPr>
        <p:spPr>
          <a:xfrm>
            <a:off x="3321236" y="2974979"/>
            <a:ext cx="104936" cy="2384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2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62" name="c1-relation-label-sup"/>
          <p:cNvSpPr txBox="1"/>
          <p:nvPr/>
        </p:nvSpPr>
        <p:spPr>
          <a:xfrm>
            <a:off x="3419106" y="2925514"/>
            <a:ext cx="133556" cy="1335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1" b="0" i="1">
                <a:solidFill>
                  <a:srgbClr val="000000"/>
                </a:solidFill>
                <a:latin typeface="Liberation Serif"/>
              </a:rPr>
              <a:t>c1</a:t>
            </a:r>
          </a:p>
        </p:txBody>
      </p:sp>
      <p:sp>
        <p:nvSpPr>
          <p:cNvPr id="63" name="c1-relation-label-sub"/>
          <p:cNvSpPr txBox="1"/>
          <p:nvPr/>
        </p:nvSpPr>
        <p:spPr>
          <a:xfrm>
            <a:off x="3419106" y="3074193"/>
            <a:ext cx="217505" cy="1430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1" b="0" i="1">
                <a:solidFill>
                  <a:srgbClr val="000000"/>
                </a:solidFill>
                <a:latin typeface="Liberation Serif"/>
              </a:rPr>
              <a:t>rel</a:t>
            </a:r>
          </a:p>
        </p:txBody>
      </p:sp>
      <p:sp>
        <p:nvSpPr>
          <p:cNvPr id="64" name="c2-concept-token"/>
          <p:cNvSpPr/>
          <p:nvPr/>
        </p:nvSpPr>
        <p:spPr>
          <a:xfrm>
            <a:off x="3759357" y="2982046"/>
            <a:ext cx="296791" cy="296791"/>
          </a:xfrm>
          <a:prstGeom prst="rect">
            <a:avLst/>
          </a:prstGeom>
          <a:solidFill>
            <a:srgbClr val="A7CBE2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c2-concept-label"/>
          <p:cNvSpPr txBox="1"/>
          <p:nvPr/>
        </p:nvSpPr>
        <p:spPr>
          <a:xfrm>
            <a:off x="4084414" y="2974979"/>
            <a:ext cx="104936" cy="2384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2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66" name="c2-concept-label-sup"/>
          <p:cNvSpPr txBox="1"/>
          <p:nvPr/>
        </p:nvSpPr>
        <p:spPr>
          <a:xfrm>
            <a:off x="4182284" y="2925514"/>
            <a:ext cx="133556" cy="1335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1" b="0" i="1">
                <a:solidFill>
                  <a:srgbClr val="000000"/>
                </a:solidFill>
                <a:latin typeface="Liberation Serif"/>
              </a:rPr>
              <a:t>c2</a:t>
            </a:r>
          </a:p>
        </p:txBody>
      </p:sp>
      <p:sp>
        <p:nvSpPr>
          <p:cNvPr id="67" name="c2-concept-label-sub"/>
          <p:cNvSpPr txBox="1"/>
          <p:nvPr/>
        </p:nvSpPr>
        <p:spPr>
          <a:xfrm>
            <a:off x="4182284" y="3074193"/>
            <a:ext cx="217505" cy="1430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1" b="0" i="1">
                <a:solidFill>
                  <a:srgbClr val="000000"/>
                </a:solidFill>
                <a:latin typeface="Liberation Serif"/>
              </a:rPr>
              <a:t>con</a:t>
            </a:r>
          </a:p>
        </p:txBody>
      </p:sp>
      <p:sp>
        <p:nvSpPr>
          <p:cNvPr id="68" name="c2-relation-token"/>
          <p:cNvSpPr/>
          <p:nvPr/>
        </p:nvSpPr>
        <p:spPr>
          <a:xfrm>
            <a:off x="4515468" y="2982046"/>
            <a:ext cx="296791" cy="296791"/>
          </a:xfrm>
          <a:prstGeom prst="rect">
            <a:avLst/>
          </a:prstGeom>
          <a:solidFill>
            <a:srgbClr val="A7CBE2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9" name="c2-relation-label"/>
          <p:cNvSpPr txBox="1"/>
          <p:nvPr/>
        </p:nvSpPr>
        <p:spPr>
          <a:xfrm>
            <a:off x="4826392" y="2974979"/>
            <a:ext cx="104936" cy="2384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2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70" name="c2-relation-label-sup"/>
          <p:cNvSpPr txBox="1"/>
          <p:nvPr/>
        </p:nvSpPr>
        <p:spPr>
          <a:xfrm>
            <a:off x="4924263" y="2925514"/>
            <a:ext cx="133556" cy="1335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1" b="0" i="1">
                <a:solidFill>
                  <a:srgbClr val="000000"/>
                </a:solidFill>
                <a:latin typeface="Liberation Serif"/>
              </a:rPr>
              <a:t>c2</a:t>
            </a:r>
          </a:p>
        </p:txBody>
      </p:sp>
      <p:sp>
        <p:nvSpPr>
          <p:cNvPr id="71" name="c2-relation-label-sub"/>
          <p:cNvSpPr txBox="1"/>
          <p:nvPr/>
        </p:nvSpPr>
        <p:spPr>
          <a:xfrm>
            <a:off x="4924263" y="3074193"/>
            <a:ext cx="217505" cy="1430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1" b="0" i="1">
                <a:solidFill>
                  <a:srgbClr val="000000"/>
                </a:solidFill>
                <a:latin typeface="Liberation Serif"/>
              </a:rPr>
              <a:t>rel</a:t>
            </a:r>
          </a:p>
        </p:txBody>
      </p:sp>
      <p:sp>
        <p:nvSpPr>
          <p:cNvPr id="72" name="cK-concept-token"/>
          <p:cNvSpPr/>
          <p:nvPr/>
        </p:nvSpPr>
        <p:spPr>
          <a:xfrm>
            <a:off x="5681434" y="2982046"/>
            <a:ext cx="296791" cy="296791"/>
          </a:xfrm>
          <a:prstGeom prst="rect">
            <a:avLst/>
          </a:prstGeom>
          <a:solidFill>
            <a:srgbClr val="AB99B6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3" name="cK-concept-label"/>
          <p:cNvSpPr txBox="1"/>
          <p:nvPr/>
        </p:nvSpPr>
        <p:spPr>
          <a:xfrm>
            <a:off x="6006491" y="2974979"/>
            <a:ext cx="104936" cy="2384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2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74" name="cK-concept-label-sup"/>
          <p:cNvSpPr txBox="1"/>
          <p:nvPr/>
        </p:nvSpPr>
        <p:spPr>
          <a:xfrm>
            <a:off x="6104361" y="2925514"/>
            <a:ext cx="133556" cy="1335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1" b="0" i="1">
                <a:solidFill>
                  <a:srgbClr val="000000"/>
                </a:solidFill>
                <a:latin typeface="Liberation Serif"/>
              </a:rPr>
              <a:t>cK</a:t>
            </a:r>
          </a:p>
        </p:txBody>
      </p:sp>
      <p:sp>
        <p:nvSpPr>
          <p:cNvPr id="75" name="cK-concept-label-sub"/>
          <p:cNvSpPr txBox="1"/>
          <p:nvPr/>
        </p:nvSpPr>
        <p:spPr>
          <a:xfrm>
            <a:off x="6104361" y="3074193"/>
            <a:ext cx="217505" cy="1430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1" b="0" i="1">
                <a:solidFill>
                  <a:srgbClr val="000000"/>
                </a:solidFill>
                <a:latin typeface="Liberation Serif"/>
              </a:rPr>
              <a:t>con</a:t>
            </a:r>
          </a:p>
        </p:txBody>
      </p:sp>
      <p:sp>
        <p:nvSpPr>
          <p:cNvPr id="76" name="cK-relation-token"/>
          <p:cNvSpPr/>
          <p:nvPr/>
        </p:nvSpPr>
        <p:spPr>
          <a:xfrm>
            <a:off x="6437545" y="2982046"/>
            <a:ext cx="296791" cy="296791"/>
          </a:xfrm>
          <a:prstGeom prst="rect">
            <a:avLst/>
          </a:prstGeom>
          <a:solidFill>
            <a:srgbClr val="AB99B6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7" name="cK-relation-label"/>
          <p:cNvSpPr txBox="1"/>
          <p:nvPr/>
        </p:nvSpPr>
        <p:spPr>
          <a:xfrm>
            <a:off x="6748469" y="2974979"/>
            <a:ext cx="104936" cy="2384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2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78" name="cK-relation-label-sup"/>
          <p:cNvSpPr txBox="1"/>
          <p:nvPr/>
        </p:nvSpPr>
        <p:spPr>
          <a:xfrm>
            <a:off x="6846340" y="2925514"/>
            <a:ext cx="133556" cy="13355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1" b="0" i="1">
                <a:solidFill>
                  <a:srgbClr val="000000"/>
                </a:solidFill>
                <a:latin typeface="Liberation Serif"/>
              </a:rPr>
              <a:t>cK</a:t>
            </a:r>
          </a:p>
        </p:txBody>
      </p:sp>
      <p:sp>
        <p:nvSpPr>
          <p:cNvPr id="79" name="cK-relation-label-sub"/>
          <p:cNvSpPr txBox="1"/>
          <p:nvPr/>
        </p:nvSpPr>
        <p:spPr>
          <a:xfrm>
            <a:off x="6846340" y="3074193"/>
            <a:ext cx="217505" cy="1430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1" b="0" i="1">
                <a:solidFill>
                  <a:srgbClr val="000000"/>
                </a:solidFill>
                <a:latin typeface="Liberation Serif"/>
              </a:rPr>
              <a:t>rel</a:t>
            </a:r>
          </a:p>
        </p:txBody>
      </p:sp>
      <p:sp>
        <p:nvSpPr>
          <p:cNvPr id="80" name="compressed-ellipsis"/>
          <p:cNvSpPr txBox="1"/>
          <p:nvPr/>
        </p:nvSpPr>
        <p:spPr>
          <a:xfrm>
            <a:off x="5207981" y="3003245"/>
            <a:ext cx="339190" cy="2402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3" b="1" i="0">
                <a:solidFill>
                  <a:srgbClr val="000000"/>
                </a:solidFill>
                <a:latin typeface="Liberation Sans"/>
              </a:rPr>
              <a:t>...</a:t>
            </a:r>
          </a:p>
        </p:txBody>
      </p:sp>
      <p:sp>
        <p:nvSpPr>
          <p:cNvPr id="81" name="llm-bar-a"/>
          <p:cNvSpPr/>
          <p:nvPr/>
        </p:nvSpPr>
        <p:spPr>
          <a:xfrm>
            <a:off x="176661" y="3526163"/>
            <a:ext cx="6903931" cy="346256"/>
          </a:xfrm>
          <a:prstGeom prst="roundRect">
            <a:avLst/>
          </a:prstGeom>
          <a:solidFill>
            <a:srgbClr val="FFF4E3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2" name="llm-icon-a-body"/>
          <p:cNvSpPr/>
          <p:nvPr/>
        </p:nvSpPr>
        <p:spPr>
          <a:xfrm>
            <a:off x="2416729" y="3610961"/>
            <a:ext cx="155462" cy="183727"/>
          </a:xfrm>
          <a:prstGeom prst="roundRect">
            <a:avLst/>
          </a:prstGeom>
          <a:solidFill>
            <a:srgbClr val="E7F2F1"/>
          </a:solidFill>
          <a:ln w="12012">
            <a:solidFill>
              <a:srgbClr val="4566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3" name="llm-icon-a-screen"/>
          <p:cNvSpPr/>
          <p:nvPr/>
        </p:nvSpPr>
        <p:spPr>
          <a:xfrm>
            <a:off x="2452061" y="3646293"/>
            <a:ext cx="84797" cy="63598"/>
          </a:xfrm>
          <a:prstGeom prst="rect">
            <a:avLst/>
          </a:prstGeom>
          <a:solidFill>
            <a:srgbClr val="B7D7DA"/>
          </a:solidFill>
          <a:ln w="7773">
            <a:solidFill>
              <a:srgbClr val="4566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4" name="llm-icon-a-dot-1"/>
          <p:cNvSpPr/>
          <p:nvPr/>
        </p:nvSpPr>
        <p:spPr>
          <a:xfrm>
            <a:off x="2452061" y="3738157"/>
            <a:ext cx="21199" cy="21199"/>
          </a:xfrm>
          <a:prstGeom prst="ellipse">
            <a:avLst/>
          </a:prstGeom>
          <a:solidFill>
            <a:srgbClr val="456675"/>
          </a:solidFill>
          <a:ln w="3533">
            <a:solidFill>
              <a:srgbClr val="45667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5" name="llm-icon-a-dot-2"/>
          <p:cNvSpPr/>
          <p:nvPr/>
        </p:nvSpPr>
        <p:spPr>
          <a:xfrm>
            <a:off x="2508593" y="3738157"/>
            <a:ext cx="21199" cy="21199"/>
          </a:xfrm>
          <a:prstGeom prst="ellipse">
            <a:avLst/>
          </a:prstGeom>
          <a:solidFill>
            <a:srgbClr val="456675"/>
          </a:solidFill>
          <a:ln w="3533">
            <a:solidFill>
              <a:srgbClr val="456675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86" name="llm-icon-a-pin-l-0-1"/>
          <p:cNvCxnSpPr/>
          <p:nvPr/>
        </p:nvCxnSpPr>
        <p:spPr>
          <a:xfrm>
            <a:off x="2388463" y="3639227"/>
            <a:ext cx="28266" cy="0"/>
          </a:xfrm>
          <a:prstGeom prst="line">
            <a:avLst/>
          </a:prstGeom>
          <a:ln w="9893">
            <a:solidFill>
              <a:srgbClr val="456675"/>
            </a:solidFill>
          </a:ln>
        </p:spPr>
      </p:cxnSp>
      <p:cxnSp>
        <p:nvCxnSpPr>
          <p:cNvPr id="87" name="llm-icon-a-pin-r-0-1"/>
          <p:cNvCxnSpPr/>
          <p:nvPr/>
        </p:nvCxnSpPr>
        <p:spPr>
          <a:xfrm>
            <a:off x="2572191" y="3639227"/>
            <a:ext cx="28266" cy="0"/>
          </a:xfrm>
          <a:prstGeom prst="line">
            <a:avLst/>
          </a:prstGeom>
          <a:ln w="9893">
            <a:solidFill>
              <a:srgbClr val="456675"/>
            </a:solidFill>
          </a:ln>
        </p:spPr>
      </p:cxnSp>
      <p:cxnSp>
        <p:nvCxnSpPr>
          <p:cNvPr id="88" name="llm-icon-a-pin-l-1-1"/>
          <p:cNvCxnSpPr/>
          <p:nvPr/>
        </p:nvCxnSpPr>
        <p:spPr>
          <a:xfrm>
            <a:off x="2388463" y="3688692"/>
            <a:ext cx="28266" cy="0"/>
          </a:xfrm>
          <a:prstGeom prst="line">
            <a:avLst/>
          </a:prstGeom>
          <a:ln w="9893">
            <a:solidFill>
              <a:srgbClr val="456675"/>
            </a:solidFill>
          </a:ln>
        </p:spPr>
      </p:cxnSp>
      <p:cxnSp>
        <p:nvCxnSpPr>
          <p:cNvPr id="89" name="llm-icon-a-pin-r-1-1"/>
          <p:cNvCxnSpPr/>
          <p:nvPr/>
        </p:nvCxnSpPr>
        <p:spPr>
          <a:xfrm>
            <a:off x="2572191" y="3688692"/>
            <a:ext cx="28266" cy="0"/>
          </a:xfrm>
          <a:prstGeom prst="line">
            <a:avLst/>
          </a:prstGeom>
          <a:ln w="9893">
            <a:solidFill>
              <a:srgbClr val="456675"/>
            </a:solidFill>
          </a:ln>
        </p:spPr>
      </p:cxnSp>
      <p:cxnSp>
        <p:nvCxnSpPr>
          <p:cNvPr id="90" name="llm-icon-a-pin-l-2-1"/>
          <p:cNvCxnSpPr/>
          <p:nvPr/>
        </p:nvCxnSpPr>
        <p:spPr>
          <a:xfrm>
            <a:off x="2388463" y="3752290"/>
            <a:ext cx="28266" cy="0"/>
          </a:xfrm>
          <a:prstGeom prst="line">
            <a:avLst/>
          </a:prstGeom>
          <a:ln w="9893">
            <a:solidFill>
              <a:srgbClr val="456675"/>
            </a:solidFill>
          </a:ln>
        </p:spPr>
      </p:cxnSp>
      <p:cxnSp>
        <p:nvCxnSpPr>
          <p:cNvPr id="91" name="llm-icon-a-pin-r-2-1"/>
          <p:cNvCxnSpPr/>
          <p:nvPr/>
        </p:nvCxnSpPr>
        <p:spPr>
          <a:xfrm>
            <a:off x="2572191" y="3752290"/>
            <a:ext cx="28266" cy="0"/>
          </a:xfrm>
          <a:prstGeom prst="line">
            <a:avLst/>
          </a:prstGeom>
          <a:ln w="9893">
            <a:solidFill>
              <a:srgbClr val="456675"/>
            </a:solidFill>
          </a:ln>
        </p:spPr>
      </p:cxnSp>
      <p:sp>
        <p:nvSpPr>
          <p:cNvPr id="92" name="llm-bar-a-text"/>
          <p:cNvSpPr txBox="1"/>
          <p:nvPr/>
        </p:nvSpPr>
        <p:spPr>
          <a:xfrm>
            <a:off x="2755919" y="3547363"/>
            <a:ext cx="3533230" cy="29679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36" b="0" i="0">
                <a:solidFill>
                  <a:srgbClr val="000000"/>
                </a:solidFill>
                <a:latin typeface="Liberation Sans"/>
              </a:rPr>
              <a:t>Large Language Model</a:t>
            </a:r>
          </a:p>
        </p:txBody>
      </p:sp>
      <p:sp>
        <p:nvSpPr>
          <p:cNvPr id="93" name="reasoning-output"/>
          <p:cNvSpPr/>
          <p:nvPr/>
        </p:nvSpPr>
        <p:spPr>
          <a:xfrm>
            <a:off x="176661" y="3999616"/>
            <a:ext cx="6903931" cy="586516"/>
          </a:xfrm>
          <a:prstGeom prst="roundRect">
            <a:avLst/>
          </a:prstGeom>
          <a:solidFill>
            <a:srgbClr val="F5F6F7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4" name="reasoning-line-1"/>
          <p:cNvSpPr txBox="1"/>
          <p:nvPr/>
        </p:nvSpPr>
        <p:spPr>
          <a:xfrm>
            <a:off x="268525" y="4049081"/>
            <a:ext cx="5045452" cy="2402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9" b="0" i="0">
                <a:solidFill>
                  <a:srgbClr val="000000"/>
                </a:solidFill>
                <a:latin typeface="Liberation Sans"/>
              </a:rPr>
              <a:t>&lt;think&gt; ... &lt;inspection-index-start&gt;2&lt;inspection-index-end&gt;</a:t>
            </a:r>
          </a:p>
        </p:txBody>
      </p:sp>
      <p:sp>
        <p:nvSpPr>
          <p:cNvPr id="95" name="reasoning-tc2"/>
          <p:cNvSpPr txBox="1"/>
          <p:nvPr/>
        </p:nvSpPr>
        <p:spPr>
          <a:xfrm>
            <a:off x="5313978" y="4027882"/>
            <a:ext cx="98930" cy="2119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5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96" name="reasoning-tc2-sub"/>
          <p:cNvSpPr txBox="1"/>
          <p:nvPr/>
        </p:nvSpPr>
        <p:spPr>
          <a:xfrm>
            <a:off x="5405842" y="4116071"/>
            <a:ext cx="169595" cy="1271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4" b="0" i="1">
                <a:solidFill>
                  <a:srgbClr val="000000"/>
                </a:solidFill>
                <a:latin typeface="Liberation Serif"/>
              </a:rPr>
              <a:t>c2</a:t>
            </a:r>
          </a:p>
        </p:txBody>
      </p:sp>
      <p:sp>
        <p:nvSpPr>
          <p:cNvPr id="97" name="reasoning-line-1b"/>
          <p:cNvSpPr txBox="1"/>
          <p:nvPr/>
        </p:nvSpPr>
        <p:spPr>
          <a:xfrm>
            <a:off x="5631969" y="4049081"/>
            <a:ext cx="1321428" cy="2402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9" b="0" i="0">
                <a:solidFill>
                  <a:srgbClr val="000000"/>
                </a:solidFill>
                <a:latin typeface="Liberation Sans"/>
              </a:rPr>
              <a:t>... &lt;inspection-</a:t>
            </a:r>
          </a:p>
        </p:txBody>
      </p:sp>
      <p:sp>
        <p:nvSpPr>
          <p:cNvPr id="98" name="reasoning-line-2a"/>
          <p:cNvSpPr txBox="1"/>
          <p:nvPr/>
        </p:nvSpPr>
        <p:spPr>
          <a:xfrm>
            <a:off x="268525" y="4324673"/>
            <a:ext cx="3144574" cy="2402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9" b="0" i="0">
                <a:solidFill>
                  <a:srgbClr val="000000"/>
                </a:solidFill>
                <a:latin typeface="Liberation Sans"/>
              </a:rPr>
              <a:t>index-start&gt;K&lt;inspection-index-end&gt;</a:t>
            </a:r>
          </a:p>
        </p:txBody>
      </p:sp>
      <p:sp>
        <p:nvSpPr>
          <p:cNvPr id="99" name="reasoning-tck"/>
          <p:cNvSpPr txBox="1"/>
          <p:nvPr/>
        </p:nvSpPr>
        <p:spPr>
          <a:xfrm>
            <a:off x="3413100" y="4303474"/>
            <a:ext cx="98930" cy="2119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5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100" name="reasoning-tck-sub"/>
          <p:cNvSpPr txBox="1"/>
          <p:nvPr/>
        </p:nvSpPr>
        <p:spPr>
          <a:xfrm>
            <a:off x="3504964" y="4391663"/>
            <a:ext cx="169595" cy="12719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774" b="0" i="1">
                <a:solidFill>
                  <a:srgbClr val="000000"/>
                </a:solidFill>
                <a:latin typeface="Liberation Serif"/>
              </a:rPr>
              <a:t>cK</a:t>
            </a:r>
          </a:p>
        </p:txBody>
      </p:sp>
      <p:sp>
        <p:nvSpPr>
          <p:cNvPr id="101" name="reasoning-line-2b"/>
          <p:cNvSpPr txBox="1"/>
          <p:nvPr/>
        </p:nvSpPr>
        <p:spPr>
          <a:xfrm>
            <a:off x="3745224" y="4324673"/>
            <a:ext cx="3144574" cy="2402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9" b="0" i="0">
                <a:solidFill>
                  <a:srgbClr val="000000"/>
                </a:solidFill>
                <a:latin typeface="Liberation Sans"/>
              </a:rPr>
              <a:t>... &lt;/think&gt; &lt;answer&gt;2&lt;/answer&gt;</a:t>
            </a:r>
          </a:p>
        </p:txBody>
      </p:sp>
      <p:sp>
        <p:nvSpPr>
          <p:cNvPr id="102" name="title-b"/>
          <p:cNvSpPr txBox="1"/>
          <p:nvPr/>
        </p:nvSpPr>
        <p:spPr>
          <a:xfrm>
            <a:off x="169595" y="5017187"/>
            <a:ext cx="4522534" cy="2402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3" b="1" i="0">
                <a:solidFill>
                  <a:srgbClr val="000000"/>
                </a:solidFill>
                <a:latin typeface="Liberation Sans"/>
              </a:rPr>
              <a:t>(B) Information Compression Module (ICM)</a:t>
            </a:r>
          </a:p>
        </p:txBody>
      </p:sp>
      <p:sp>
        <p:nvSpPr>
          <p:cNvPr id="103" name="b-left-input"/>
          <p:cNvSpPr/>
          <p:nvPr/>
        </p:nvSpPr>
        <p:spPr>
          <a:xfrm>
            <a:off x="176661" y="5250380"/>
            <a:ext cx="2522726" cy="685446"/>
          </a:xfrm>
          <a:prstGeom prst="rect">
            <a:avLst/>
          </a:prstGeom>
          <a:solidFill>
            <a:srgbClr val="F8FEFB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4" name="b-econ-token"/>
          <p:cNvSpPr/>
          <p:nvPr/>
        </p:nvSpPr>
        <p:spPr>
          <a:xfrm>
            <a:off x="240259" y="5455307"/>
            <a:ext cx="296791" cy="296791"/>
          </a:xfrm>
          <a:prstGeom prst="rect">
            <a:avLst/>
          </a:prstGeom>
          <a:solidFill>
            <a:srgbClr val="C8CBCD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5" name="b-econ-label"/>
          <p:cNvSpPr txBox="1"/>
          <p:nvPr/>
        </p:nvSpPr>
        <p:spPr>
          <a:xfrm>
            <a:off x="558250" y="5483573"/>
            <a:ext cx="104936" cy="2384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2" b="0" i="1">
                <a:solidFill>
                  <a:srgbClr val="000000"/>
                </a:solidFill>
                <a:latin typeface="Liberation Serif"/>
              </a:rPr>
              <a:t>e</a:t>
            </a:r>
          </a:p>
        </p:txBody>
      </p:sp>
      <p:sp>
        <p:nvSpPr>
          <p:cNvPr id="106" name="b-econ-label-sub"/>
          <p:cNvSpPr txBox="1"/>
          <p:nvPr/>
        </p:nvSpPr>
        <p:spPr>
          <a:xfrm>
            <a:off x="656120" y="5582786"/>
            <a:ext cx="217505" cy="1430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1" b="0" i="1">
                <a:solidFill>
                  <a:srgbClr val="000000"/>
                </a:solidFill>
                <a:latin typeface="Liberation Serif"/>
              </a:rPr>
              <a:t>con</a:t>
            </a:r>
          </a:p>
        </p:txBody>
      </p:sp>
      <p:sp>
        <p:nvSpPr>
          <p:cNvPr id="107" name="b-left-tc-group"/>
          <p:cNvSpPr/>
          <p:nvPr/>
        </p:nvSpPr>
        <p:spPr>
          <a:xfrm>
            <a:off x="975171" y="5335177"/>
            <a:ext cx="1441557" cy="480519"/>
          </a:xfrm>
          <a:prstGeom prst="rect">
            <a:avLst/>
          </a:prstGeom>
          <a:solidFill>
            <a:srgbClr val="FFFFFF"/>
          </a:solidFill>
          <a:ln w="23319">
            <a:solidFill>
              <a:srgbClr val="B8D9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8" name="b-left-tc-token-1"/>
          <p:cNvSpPr/>
          <p:nvPr/>
        </p:nvSpPr>
        <p:spPr>
          <a:xfrm>
            <a:off x="1031703" y="5412908"/>
            <a:ext cx="296791" cy="296791"/>
          </a:xfrm>
          <a:prstGeom prst="rect">
            <a:avLst/>
          </a:prstGeom>
          <a:solidFill>
            <a:srgbClr val="A7CBE2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9" name="b-left-tc-token-2"/>
          <p:cNvSpPr/>
          <p:nvPr/>
        </p:nvSpPr>
        <p:spPr>
          <a:xfrm>
            <a:off x="1441557" y="5412908"/>
            <a:ext cx="296791" cy="296791"/>
          </a:xfrm>
          <a:prstGeom prst="rect">
            <a:avLst/>
          </a:prstGeom>
          <a:solidFill>
            <a:srgbClr val="A7CBE2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0" name="b-left-tc-token-3"/>
          <p:cNvSpPr/>
          <p:nvPr/>
        </p:nvSpPr>
        <p:spPr>
          <a:xfrm>
            <a:off x="2070472" y="5412908"/>
            <a:ext cx="296791" cy="296791"/>
          </a:xfrm>
          <a:prstGeom prst="rect">
            <a:avLst/>
          </a:prstGeom>
          <a:solidFill>
            <a:srgbClr val="A7CBE2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1" name="b-left-tc-ellipsis"/>
          <p:cNvSpPr txBox="1"/>
          <p:nvPr/>
        </p:nvSpPr>
        <p:spPr>
          <a:xfrm>
            <a:off x="1759548" y="5427041"/>
            <a:ext cx="268525" cy="2119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1" b="1" i="0">
                <a:solidFill>
                  <a:srgbClr val="000000"/>
                </a:solidFill>
                <a:latin typeface="Liberation Sans"/>
              </a:rPr>
              <a:t>...</a:t>
            </a:r>
          </a:p>
        </p:txBody>
      </p:sp>
      <p:sp>
        <p:nvSpPr>
          <p:cNvPr id="112" name="b-left-tc-label"/>
          <p:cNvSpPr txBox="1"/>
          <p:nvPr/>
        </p:nvSpPr>
        <p:spPr>
          <a:xfrm>
            <a:off x="1618219" y="5603703"/>
            <a:ext cx="108823" cy="2473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7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113" name="b-left-tc-label-sub"/>
          <p:cNvSpPr txBox="1"/>
          <p:nvPr/>
        </p:nvSpPr>
        <p:spPr>
          <a:xfrm>
            <a:off x="1719976" y="5706590"/>
            <a:ext cx="169595" cy="1483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1">
                <a:solidFill>
                  <a:srgbClr val="000000"/>
                </a:solidFill>
                <a:latin typeface="Liberation Serif"/>
              </a:rPr>
              <a:t>c</a:t>
            </a:r>
          </a:p>
        </p:txBody>
      </p:sp>
      <p:cxnSp>
        <p:nvCxnSpPr>
          <p:cNvPr id="114" name="b-left-down-1"/>
          <p:cNvCxnSpPr/>
          <p:nvPr/>
        </p:nvCxnSpPr>
        <p:spPr>
          <a:xfrm>
            <a:off x="1469823" y="5935826"/>
            <a:ext cx="0" cy="268526"/>
          </a:xfrm>
          <a:prstGeom prst="line">
            <a:avLst/>
          </a:prstGeom>
          <a:ln w="16959">
            <a:solidFill>
              <a:srgbClr val="0B1114"/>
            </a:solidFill>
            <a:tailEnd type="triangle" w="sm" len="sm"/>
          </a:ln>
        </p:spPr>
      </p:cxnSp>
      <p:sp>
        <p:nvSpPr>
          <p:cNvPr id="115" name="b-att1-left"/>
          <p:cNvSpPr/>
          <p:nvPr/>
        </p:nvSpPr>
        <p:spPr>
          <a:xfrm>
            <a:off x="1109434" y="6204352"/>
            <a:ext cx="706646" cy="529984"/>
          </a:xfrm>
          <a:prstGeom prst="roundRect">
            <a:avLst/>
          </a:prstGeom>
          <a:solidFill>
            <a:srgbClr val="E7E6F5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6" name="b-att1-left-text"/>
          <p:cNvSpPr txBox="1"/>
          <p:nvPr/>
        </p:nvSpPr>
        <p:spPr>
          <a:xfrm>
            <a:off x="1173032" y="6303282"/>
            <a:ext cx="579449" cy="3179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9" b="0" i="0">
                <a:solidFill>
                  <a:srgbClr val="000000"/>
                </a:solidFill>
                <a:latin typeface="Liberation Sans"/>
              </a:rPr>
              <a:t>ATT 1</a:t>
            </a:r>
          </a:p>
        </p:txBody>
      </p:sp>
      <p:cxnSp>
        <p:nvCxnSpPr>
          <p:cNvPr id="117" name="b-att1-left-out-1"/>
          <p:cNvCxnSpPr/>
          <p:nvPr/>
        </p:nvCxnSpPr>
        <p:spPr>
          <a:xfrm>
            <a:off x="1816080" y="6465811"/>
            <a:ext cx="261459" cy="0"/>
          </a:xfrm>
          <a:prstGeom prst="line">
            <a:avLst/>
          </a:prstGeom>
          <a:ln w="16959">
            <a:solidFill>
              <a:srgbClr val="0B1114"/>
            </a:solidFill>
            <a:tailEnd type="triangle" w="sm" len="sm"/>
          </a:ln>
        </p:spPr>
      </p:cxnSp>
      <p:sp>
        <p:nvSpPr>
          <p:cNvPr id="118" name="b-tcon-token"/>
          <p:cNvSpPr/>
          <p:nvPr/>
        </p:nvSpPr>
        <p:spPr>
          <a:xfrm>
            <a:off x="2084605" y="6296216"/>
            <a:ext cx="296791" cy="296791"/>
          </a:xfrm>
          <a:prstGeom prst="rect">
            <a:avLst/>
          </a:prstGeom>
          <a:solidFill>
            <a:srgbClr val="A7CBE2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9" name="b-tcon-label"/>
          <p:cNvSpPr txBox="1"/>
          <p:nvPr/>
        </p:nvSpPr>
        <p:spPr>
          <a:xfrm>
            <a:off x="2070472" y="6571808"/>
            <a:ext cx="104936" cy="2384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2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120" name="b-tcon-label-sub"/>
          <p:cNvSpPr txBox="1"/>
          <p:nvPr/>
        </p:nvSpPr>
        <p:spPr>
          <a:xfrm>
            <a:off x="2168343" y="6671021"/>
            <a:ext cx="217505" cy="1430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1" b="0" i="1">
                <a:solidFill>
                  <a:srgbClr val="000000"/>
                </a:solidFill>
                <a:latin typeface="Liberation Serif"/>
              </a:rPr>
              <a:t>con</a:t>
            </a:r>
          </a:p>
        </p:txBody>
      </p:sp>
      <p:sp>
        <p:nvSpPr>
          <p:cNvPr id="121" name="b-right-input"/>
          <p:cNvSpPr/>
          <p:nvPr/>
        </p:nvSpPr>
        <p:spPr>
          <a:xfrm>
            <a:off x="3031511" y="5250380"/>
            <a:ext cx="4049081" cy="685446"/>
          </a:xfrm>
          <a:prstGeom prst="rect">
            <a:avLst/>
          </a:prstGeom>
          <a:solidFill>
            <a:srgbClr val="F8FEFB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2" name="b-right-tc-group"/>
          <p:cNvSpPr/>
          <p:nvPr/>
        </p:nvSpPr>
        <p:spPr>
          <a:xfrm>
            <a:off x="3300037" y="5335177"/>
            <a:ext cx="1441557" cy="480519"/>
          </a:xfrm>
          <a:prstGeom prst="rect">
            <a:avLst/>
          </a:prstGeom>
          <a:solidFill>
            <a:srgbClr val="FFFFFF"/>
          </a:solidFill>
          <a:ln w="23319">
            <a:solidFill>
              <a:srgbClr val="B8D9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3" name="b-right-tc-token-1"/>
          <p:cNvSpPr/>
          <p:nvPr/>
        </p:nvSpPr>
        <p:spPr>
          <a:xfrm>
            <a:off x="3356568" y="5412908"/>
            <a:ext cx="296791" cy="296791"/>
          </a:xfrm>
          <a:prstGeom prst="rect">
            <a:avLst/>
          </a:prstGeom>
          <a:solidFill>
            <a:srgbClr val="A7CBE2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4" name="b-right-tc-token-2"/>
          <p:cNvSpPr/>
          <p:nvPr/>
        </p:nvSpPr>
        <p:spPr>
          <a:xfrm>
            <a:off x="3766423" y="5412908"/>
            <a:ext cx="296791" cy="296791"/>
          </a:xfrm>
          <a:prstGeom prst="rect">
            <a:avLst/>
          </a:prstGeom>
          <a:solidFill>
            <a:srgbClr val="A7CBE2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5" name="b-right-tc-token-3"/>
          <p:cNvSpPr/>
          <p:nvPr/>
        </p:nvSpPr>
        <p:spPr>
          <a:xfrm>
            <a:off x="4395338" y="5412908"/>
            <a:ext cx="296791" cy="296791"/>
          </a:xfrm>
          <a:prstGeom prst="rect">
            <a:avLst/>
          </a:prstGeom>
          <a:solidFill>
            <a:srgbClr val="A7CBE2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6" name="b-right-tc-ellipsis"/>
          <p:cNvSpPr txBox="1"/>
          <p:nvPr/>
        </p:nvSpPr>
        <p:spPr>
          <a:xfrm>
            <a:off x="4084414" y="5427041"/>
            <a:ext cx="268525" cy="2119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1" b="1" i="0">
                <a:solidFill>
                  <a:srgbClr val="000000"/>
                </a:solidFill>
                <a:latin typeface="Liberation Sans"/>
              </a:rPr>
              <a:t>...</a:t>
            </a:r>
          </a:p>
        </p:txBody>
      </p:sp>
      <p:sp>
        <p:nvSpPr>
          <p:cNvPr id="127" name="b-right-tc-label"/>
          <p:cNvSpPr txBox="1"/>
          <p:nvPr/>
        </p:nvSpPr>
        <p:spPr>
          <a:xfrm>
            <a:off x="3943085" y="5603703"/>
            <a:ext cx="108823" cy="2473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7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128" name="b-right-tc-label-sub"/>
          <p:cNvSpPr txBox="1"/>
          <p:nvPr/>
        </p:nvSpPr>
        <p:spPr>
          <a:xfrm>
            <a:off x="4044842" y="5706590"/>
            <a:ext cx="169595" cy="1483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1">
                <a:solidFill>
                  <a:srgbClr val="000000"/>
                </a:solidFill>
                <a:latin typeface="Liberation Serif"/>
              </a:rPr>
              <a:t>c</a:t>
            </a:r>
          </a:p>
        </p:txBody>
      </p:sp>
      <p:sp>
        <p:nvSpPr>
          <p:cNvPr id="129" name="b-right-tq-group"/>
          <p:cNvSpPr/>
          <p:nvPr/>
        </p:nvSpPr>
        <p:spPr>
          <a:xfrm>
            <a:off x="5165582" y="5335177"/>
            <a:ext cx="1441557" cy="480519"/>
          </a:xfrm>
          <a:prstGeom prst="rect">
            <a:avLst/>
          </a:prstGeom>
          <a:solidFill>
            <a:srgbClr val="FFFFFF"/>
          </a:solidFill>
          <a:ln w="23319">
            <a:solidFill>
              <a:srgbClr val="F4C8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0" name="b-right-tq-token-1"/>
          <p:cNvSpPr/>
          <p:nvPr/>
        </p:nvSpPr>
        <p:spPr>
          <a:xfrm>
            <a:off x="5222114" y="5412908"/>
            <a:ext cx="296791" cy="296791"/>
          </a:xfrm>
          <a:prstGeom prst="rect">
            <a:avLst/>
          </a:prstGeom>
          <a:solidFill>
            <a:srgbClr val="F4C1C4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1" name="b-right-tq-token-2"/>
          <p:cNvSpPr/>
          <p:nvPr/>
        </p:nvSpPr>
        <p:spPr>
          <a:xfrm>
            <a:off x="5631969" y="5412908"/>
            <a:ext cx="296791" cy="296791"/>
          </a:xfrm>
          <a:prstGeom prst="rect">
            <a:avLst/>
          </a:prstGeom>
          <a:solidFill>
            <a:srgbClr val="F4C1C4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2" name="b-right-tq-token-3"/>
          <p:cNvSpPr/>
          <p:nvPr/>
        </p:nvSpPr>
        <p:spPr>
          <a:xfrm>
            <a:off x="6260884" y="5412908"/>
            <a:ext cx="296791" cy="296791"/>
          </a:xfrm>
          <a:prstGeom prst="rect">
            <a:avLst/>
          </a:prstGeom>
          <a:solidFill>
            <a:srgbClr val="F4C1C4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3" name="b-right-tq-ellipsis"/>
          <p:cNvSpPr txBox="1"/>
          <p:nvPr/>
        </p:nvSpPr>
        <p:spPr>
          <a:xfrm>
            <a:off x="5949959" y="5427041"/>
            <a:ext cx="268525" cy="2119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1" b="1" i="0">
                <a:solidFill>
                  <a:srgbClr val="000000"/>
                </a:solidFill>
                <a:latin typeface="Liberation Sans"/>
              </a:rPr>
              <a:t>...</a:t>
            </a:r>
          </a:p>
        </p:txBody>
      </p:sp>
      <p:sp>
        <p:nvSpPr>
          <p:cNvPr id="134" name="b-right-tq-label"/>
          <p:cNvSpPr txBox="1"/>
          <p:nvPr/>
        </p:nvSpPr>
        <p:spPr>
          <a:xfrm>
            <a:off x="5808630" y="5603703"/>
            <a:ext cx="108823" cy="2473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7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135" name="b-right-tq-label-sub"/>
          <p:cNvSpPr txBox="1"/>
          <p:nvPr/>
        </p:nvSpPr>
        <p:spPr>
          <a:xfrm>
            <a:off x="5910387" y="5706590"/>
            <a:ext cx="169595" cy="1483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1">
                <a:solidFill>
                  <a:srgbClr val="000000"/>
                </a:solidFill>
                <a:latin typeface="Liberation Serif"/>
              </a:rPr>
              <a:t>q</a:t>
            </a:r>
          </a:p>
        </p:txBody>
      </p:sp>
      <p:cxnSp>
        <p:nvCxnSpPr>
          <p:cNvPr id="136" name="b-right-down-1"/>
          <p:cNvCxnSpPr/>
          <p:nvPr/>
        </p:nvCxnSpPr>
        <p:spPr>
          <a:xfrm>
            <a:off x="3377768" y="5935826"/>
            <a:ext cx="0" cy="268526"/>
          </a:xfrm>
          <a:prstGeom prst="line">
            <a:avLst/>
          </a:prstGeom>
          <a:ln w="16959">
            <a:solidFill>
              <a:srgbClr val="0B1114"/>
            </a:solidFill>
            <a:tailEnd type="triangle" w="sm" len="sm"/>
          </a:ln>
        </p:spPr>
      </p:cxnSp>
      <p:sp>
        <p:nvSpPr>
          <p:cNvPr id="137" name="b-att2"/>
          <p:cNvSpPr/>
          <p:nvPr/>
        </p:nvSpPr>
        <p:spPr>
          <a:xfrm>
            <a:off x="3024445" y="6204352"/>
            <a:ext cx="713712" cy="529984"/>
          </a:xfrm>
          <a:prstGeom prst="roundRect">
            <a:avLst/>
          </a:prstGeom>
          <a:solidFill>
            <a:srgbClr val="E7E6F5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8" name="b-att2-text"/>
          <p:cNvSpPr txBox="1"/>
          <p:nvPr/>
        </p:nvSpPr>
        <p:spPr>
          <a:xfrm>
            <a:off x="3088043" y="6303282"/>
            <a:ext cx="586516" cy="3179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3" b="0" i="0">
                <a:solidFill>
                  <a:srgbClr val="000000"/>
                </a:solidFill>
                <a:latin typeface="Liberation Sans"/>
              </a:rPr>
              <a:t>ATT 2</a:t>
            </a:r>
          </a:p>
        </p:txBody>
      </p:sp>
      <p:cxnSp>
        <p:nvCxnSpPr>
          <p:cNvPr id="139" name="b-att2-out-1"/>
          <p:cNvCxnSpPr/>
          <p:nvPr/>
        </p:nvCxnSpPr>
        <p:spPr>
          <a:xfrm>
            <a:off x="3738157" y="6465811"/>
            <a:ext cx="190795" cy="0"/>
          </a:xfrm>
          <a:prstGeom prst="line">
            <a:avLst/>
          </a:prstGeom>
          <a:ln w="16959">
            <a:solidFill>
              <a:srgbClr val="0B1114"/>
            </a:solidFill>
            <a:tailEnd type="triangle" w="sm" len="sm"/>
          </a:ln>
        </p:spPr>
      </p:cxnSp>
      <p:sp>
        <p:nvSpPr>
          <p:cNvPr id="140" name="b-relation-outer"/>
          <p:cNvSpPr/>
          <p:nvPr/>
        </p:nvSpPr>
        <p:spPr>
          <a:xfrm>
            <a:off x="3801755" y="6048890"/>
            <a:ext cx="2013941" cy="819709"/>
          </a:xfrm>
          <a:prstGeom prst="rect">
            <a:avLst/>
          </a:prstGeom>
          <a:solidFill>
            <a:srgbClr val="F8FEFB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1" name="b-relation-inner"/>
          <p:cNvSpPr/>
          <p:nvPr/>
        </p:nvSpPr>
        <p:spPr>
          <a:xfrm>
            <a:off x="3928952" y="6147820"/>
            <a:ext cx="1455690" cy="720778"/>
          </a:xfrm>
          <a:prstGeom prst="rect">
            <a:avLst/>
          </a:prstGeom>
          <a:solidFill>
            <a:srgbClr val="FFFFFF"/>
          </a:solidFill>
          <a:ln w="22612">
            <a:solidFill>
              <a:srgbClr val="B8D9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2" name="b-relation-token-0"/>
          <p:cNvSpPr/>
          <p:nvPr/>
        </p:nvSpPr>
        <p:spPr>
          <a:xfrm>
            <a:off x="3978417" y="6232618"/>
            <a:ext cx="296791" cy="296791"/>
          </a:xfrm>
          <a:prstGeom prst="rect">
            <a:avLst/>
          </a:prstGeom>
          <a:solidFill>
            <a:srgbClr val="A7CBE2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3" name="b-relation-token-1"/>
          <p:cNvSpPr/>
          <p:nvPr/>
        </p:nvSpPr>
        <p:spPr>
          <a:xfrm>
            <a:off x="4395338" y="6232618"/>
            <a:ext cx="296791" cy="296791"/>
          </a:xfrm>
          <a:prstGeom prst="rect">
            <a:avLst/>
          </a:prstGeom>
          <a:solidFill>
            <a:srgbClr val="A7CBE2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4" name="b-relation-token-2"/>
          <p:cNvSpPr/>
          <p:nvPr/>
        </p:nvSpPr>
        <p:spPr>
          <a:xfrm>
            <a:off x="5024253" y="6232618"/>
            <a:ext cx="296791" cy="296791"/>
          </a:xfrm>
          <a:prstGeom prst="rect">
            <a:avLst/>
          </a:prstGeom>
          <a:solidFill>
            <a:srgbClr val="A7CBE2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5" name="b-relation-ellipsis"/>
          <p:cNvSpPr txBox="1"/>
          <p:nvPr/>
        </p:nvSpPr>
        <p:spPr>
          <a:xfrm>
            <a:off x="4720395" y="6275017"/>
            <a:ext cx="268525" cy="211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1" b="1" i="0">
                <a:solidFill>
                  <a:srgbClr val="000000"/>
                </a:solidFill>
                <a:latin typeface="Liberation Sans"/>
              </a:rPr>
              <a:t>...</a:t>
            </a:r>
          </a:p>
        </p:txBody>
      </p:sp>
      <p:sp>
        <p:nvSpPr>
          <p:cNvPr id="146" name="b-relation-label"/>
          <p:cNvSpPr txBox="1"/>
          <p:nvPr/>
        </p:nvSpPr>
        <p:spPr>
          <a:xfrm>
            <a:off x="4607332" y="6550608"/>
            <a:ext cx="104936" cy="2384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2" b="0" i="1">
                <a:solidFill>
                  <a:srgbClr val="000000"/>
                </a:solidFill>
                <a:latin typeface="Liberation Serif"/>
              </a:rPr>
              <a:t>R</a:t>
            </a:r>
          </a:p>
        </p:txBody>
      </p:sp>
      <p:sp>
        <p:nvSpPr>
          <p:cNvPr id="147" name="b-relation-label-sub"/>
          <p:cNvSpPr txBox="1"/>
          <p:nvPr/>
        </p:nvSpPr>
        <p:spPr>
          <a:xfrm>
            <a:off x="4705202" y="6649822"/>
            <a:ext cx="217505" cy="1430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1" b="0" i="1">
                <a:solidFill>
                  <a:srgbClr val="000000"/>
                </a:solidFill>
                <a:latin typeface="Liberation Serif"/>
              </a:rPr>
              <a:t>q,c</a:t>
            </a:r>
          </a:p>
        </p:txBody>
      </p:sp>
      <p:sp>
        <p:nvSpPr>
          <p:cNvPr id="148" name="b-relation-econ-token"/>
          <p:cNvSpPr/>
          <p:nvPr/>
        </p:nvSpPr>
        <p:spPr>
          <a:xfrm>
            <a:off x="5434108" y="6147820"/>
            <a:ext cx="296791" cy="296791"/>
          </a:xfrm>
          <a:prstGeom prst="rect">
            <a:avLst/>
          </a:prstGeom>
          <a:solidFill>
            <a:srgbClr val="C8CBCD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9" name="b-relation-econ-label"/>
          <p:cNvSpPr txBox="1"/>
          <p:nvPr/>
        </p:nvSpPr>
        <p:spPr>
          <a:xfrm>
            <a:off x="5419975" y="6543542"/>
            <a:ext cx="104936" cy="2384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2" b="0" i="1">
                <a:solidFill>
                  <a:srgbClr val="000000"/>
                </a:solidFill>
                <a:latin typeface="Liberation Serif"/>
              </a:rPr>
              <a:t>e</a:t>
            </a:r>
          </a:p>
        </p:txBody>
      </p:sp>
      <p:sp>
        <p:nvSpPr>
          <p:cNvPr id="150" name="b-relation-econ-label-sub"/>
          <p:cNvSpPr txBox="1"/>
          <p:nvPr/>
        </p:nvSpPr>
        <p:spPr>
          <a:xfrm>
            <a:off x="5517845" y="6642755"/>
            <a:ext cx="217505" cy="1430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1" b="0" i="1">
                <a:solidFill>
                  <a:srgbClr val="000000"/>
                </a:solidFill>
                <a:latin typeface="Liberation Serif"/>
              </a:rPr>
              <a:t>con</a:t>
            </a:r>
          </a:p>
        </p:txBody>
      </p:sp>
      <p:cxnSp>
        <p:nvCxnSpPr>
          <p:cNvPr id="151" name="b-relation-to-att1-1"/>
          <p:cNvCxnSpPr/>
          <p:nvPr/>
        </p:nvCxnSpPr>
        <p:spPr>
          <a:xfrm>
            <a:off x="5815697" y="6465811"/>
            <a:ext cx="113063" cy="0"/>
          </a:xfrm>
          <a:prstGeom prst="line">
            <a:avLst/>
          </a:prstGeom>
          <a:ln w="16959">
            <a:solidFill>
              <a:srgbClr val="0B1114"/>
            </a:solidFill>
            <a:tailEnd type="triangle" w="sm" len="sm"/>
          </a:ln>
        </p:spPr>
      </p:cxnSp>
      <p:sp>
        <p:nvSpPr>
          <p:cNvPr id="152" name="b-att1-right"/>
          <p:cNvSpPr/>
          <p:nvPr/>
        </p:nvSpPr>
        <p:spPr>
          <a:xfrm>
            <a:off x="5928760" y="6204352"/>
            <a:ext cx="713712" cy="529984"/>
          </a:xfrm>
          <a:prstGeom prst="roundRect">
            <a:avLst/>
          </a:prstGeom>
          <a:solidFill>
            <a:srgbClr val="E7E6F5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3" name="b-att1-right-text"/>
          <p:cNvSpPr txBox="1"/>
          <p:nvPr/>
        </p:nvSpPr>
        <p:spPr>
          <a:xfrm>
            <a:off x="5992358" y="6303282"/>
            <a:ext cx="586516" cy="3179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3" b="0" i="0">
                <a:solidFill>
                  <a:srgbClr val="000000"/>
                </a:solidFill>
                <a:latin typeface="Liberation Sans"/>
              </a:rPr>
              <a:t>ATT 1</a:t>
            </a:r>
          </a:p>
        </p:txBody>
      </p:sp>
      <p:cxnSp>
        <p:nvCxnSpPr>
          <p:cNvPr id="154" name="b-att1-right-out-1"/>
          <p:cNvCxnSpPr/>
          <p:nvPr/>
        </p:nvCxnSpPr>
        <p:spPr>
          <a:xfrm>
            <a:off x="6642472" y="6465811"/>
            <a:ext cx="120130" cy="0"/>
          </a:xfrm>
          <a:prstGeom prst="line">
            <a:avLst/>
          </a:prstGeom>
          <a:ln w="16959">
            <a:solidFill>
              <a:srgbClr val="0B1114"/>
            </a:solidFill>
            <a:tailEnd type="triangle" w="sm" len="sm"/>
          </a:ln>
        </p:spPr>
      </p:cxnSp>
      <p:sp>
        <p:nvSpPr>
          <p:cNvPr id="155" name="b-trel-token"/>
          <p:cNvSpPr/>
          <p:nvPr/>
        </p:nvSpPr>
        <p:spPr>
          <a:xfrm>
            <a:off x="6769669" y="6296216"/>
            <a:ext cx="296791" cy="296791"/>
          </a:xfrm>
          <a:prstGeom prst="rect">
            <a:avLst/>
          </a:prstGeom>
          <a:solidFill>
            <a:srgbClr val="A7CBE2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6" name="b-trel-label"/>
          <p:cNvSpPr txBox="1"/>
          <p:nvPr/>
        </p:nvSpPr>
        <p:spPr>
          <a:xfrm>
            <a:off x="6755536" y="6571808"/>
            <a:ext cx="104936" cy="2384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2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157" name="b-trel-label-sub"/>
          <p:cNvSpPr txBox="1"/>
          <p:nvPr/>
        </p:nvSpPr>
        <p:spPr>
          <a:xfrm>
            <a:off x="6853406" y="6671021"/>
            <a:ext cx="217505" cy="1430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1" b="0" i="1">
                <a:solidFill>
                  <a:srgbClr val="000000"/>
                </a:solidFill>
                <a:latin typeface="Liberation Serif"/>
              </a:rPr>
              <a:t>rel</a:t>
            </a:r>
          </a:p>
        </p:txBody>
      </p:sp>
      <p:sp>
        <p:nvSpPr>
          <p:cNvPr id="158" name="title-c"/>
          <p:cNvSpPr txBox="1"/>
          <p:nvPr/>
        </p:nvSpPr>
        <p:spPr>
          <a:xfrm>
            <a:off x="7384451" y="233193"/>
            <a:ext cx="3886553" cy="2402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69" b="1" i="0">
                <a:solidFill>
                  <a:srgbClr val="000000"/>
                </a:solidFill>
                <a:latin typeface="Liberation Sans"/>
              </a:rPr>
              <a:t>(C) Overall Training Process</a:t>
            </a:r>
          </a:p>
        </p:txBody>
      </p:sp>
      <p:sp>
        <p:nvSpPr>
          <p:cNvPr id="159" name="stage1-title"/>
          <p:cNvSpPr txBox="1"/>
          <p:nvPr/>
        </p:nvSpPr>
        <p:spPr>
          <a:xfrm>
            <a:off x="7391517" y="529984"/>
            <a:ext cx="4805193" cy="240259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3" b="0" i="0">
                <a:solidFill>
                  <a:srgbClr val="000000"/>
                </a:solidFill>
                <a:latin typeface="Liberation Sans"/>
              </a:rPr>
              <a:t>Stage 1: Self-Alignment for Pretraining ICM</a:t>
            </a:r>
          </a:p>
        </p:txBody>
      </p:sp>
      <p:sp>
        <p:nvSpPr>
          <p:cNvPr id="160" name="stage1-input"/>
          <p:cNvSpPr/>
          <p:nvPr/>
        </p:nvSpPr>
        <p:spPr>
          <a:xfrm>
            <a:off x="7370318" y="826775"/>
            <a:ext cx="1794880" cy="1222497"/>
          </a:xfrm>
          <a:prstGeom prst="rect">
            <a:avLst/>
          </a:prstGeom>
          <a:solidFill>
            <a:srgbClr val="FFFFFF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1" name="stage1-tq-group"/>
          <p:cNvSpPr/>
          <p:nvPr/>
        </p:nvSpPr>
        <p:spPr>
          <a:xfrm>
            <a:off x="7440982" y="911573"/>
            <a:ext cx="1441557" cy="487585"/>
          </a:xfrm>
          <a:prstGeom prst="rect">
            <a:avLst/>
          </a:prstGeom>
          <a:solidFill>
            <a:srgbClr val="FFFFFF"/>
          </a:solidFill>
          <a:ln w="23319">
            <a:solidFill>
              <a:srgbClr val="F4C8C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2" name="stage1-tq-token-1"/>
          <p:cNvSpPr/>
          <p:nvPr/>
        </p:nvSpPr>
        <p:spPr>
          <a:xfrm>
            <a:off x="7497514" y="989304"/>
            <a:ext cx="296791" cy="296791"/>
          </a:xfrm>
          <a:prstGeom prst="rect">
            <a:avLst/>
          </a:prstGeom>
          <a:solidFill>
            <a:srgbClr val="F4C1C4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3" name="stage1-tq-token-2"/>
          <p:cNvSpPr/>
          <p:nvPr/>
        </p:nvSpPr>
        <p:spPr>
          <a:xfrm>
            <a:off x="7907369" y="989304"/>
            <a:ext cx="296791" cy="296791"/>
          </a:xfrm>
          <a:prstGeom prst="rect">
            <a:avLst/>
          </a:prstGeom>
          <a:solidFill>
            <a:srgbClr val="F4C1C4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4" name="stage1-tq-token-3"/>
          <p:cNvSpPr/>
          <p:nvPr/>
        </p:nvSpPr>
        <p:spPr>
          <a:xfrm>
            <a:off x="8536284" y="989304"/>
            <a:ext cx="296791" cy="296791"/>
          </a:xfrm>
          <a:prstGeom prst="rect">
            <a:avLst/>
          </a:prstGeom>
          <a:solidFill>
            <a:srgbClr val="F4C1C4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5" name="stage1-tq-ellipsis"/>
          <p:cNvSpPr txBox="1"/>
          <p:nvPr/>
        </p:nvSpPr>
        <p:spPr>
          <a:xfrm>
            <a:off x="8225360" y="1003437"/>
            <a:ext cx="268525" cy="2119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1" b="1" i="0">
                <a:solidFill>
                  <a:srgbClr val="000000"/>
                </a:solidFill>
                <a:latin typeface="Liberation Sans"/>
              </a:rPr>
              <a:t>...</a:t>
            </a:r>
          </a:p>
        </p:txBody>
      </p:sp>
      <p:sp>
        <p:nvSpPr>
          <p:cNvPr id="166" name="stage1-tq-label"/>
          <p:cNvSpPr txBox="1"/>
          <p:nvPr/>
        </p:nvSpPr>
        <p:spPr>
          <a:xfrm>
            <a:off x="8084030" y="1180098"/>
            <a:ext cx="108823" cy="2473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7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167" name="stage1-tq-label-sub"/>
          <p:cNvSpPr txBox="1"/>
          <p:nvPr/>
        </p:nvSpPr>
        <p:spPr>
          <a:xfrm>
            <a:off x="8185787" y="1282986"/>
            <a:ext cx="169595" cy="1483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1">
                <a:solidFill>
                  <a:srgbClr val="000000"/>
                </a:solidFill>
                <a:latin typeface="Liberation Serif"/>
              </a:rPr>
              <a:t>q</a:t>
            </a:r>
          </a:p>
        </p:txBody>
      </p:sp>
      <p:sp>
        <p:nvSpPr>
          <p:cNvPr id="168" name="stage1-tc-group"/>
          <p:cNvSpPr/>
          <p:nvPr/>
        </p:nvSpPr>
        <p:spPr>
          <a:xfrm>
            <a:off x="7440982" y="1441557"/>
            <a:ext cx="1441557" cy="487585"/>
          </a:xfrm>
          <a:prstGeom prst="rect">
            <a:avLst/>
          </a:prstGeom>
          <a:solidFill>
            <a:srgbClr val="FFFFFF"/>
          </a:solidFill>
          <a:ln w="23319">
            <a:solidFill>
              <a:srgbClr val="B8D9EA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9" name="stage1-tc-token-1"/>
          <p:cNvSpPr/>
          <p:nvPr/>
        </p:nvSpPr>
        <p:spPr>
          <a:xfrm>
            <a:off x="7497514" y="1519289"/>
            <a:ext cx="296791" cy="296791"/>
          </a:xfrm>
          <a:prstGeom prst="rect">
            <a:avLst/>
          </a:prstGeom>
          <a:solidFill>
            <a:srgbClr val="A7CBE2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0" name="stage1-tc-token-2"/>
          <p:cNvSpPr/>
          <p:nvPr/>
        </p:nvSpPr>
        <p:spPr>
          <a:xfrm>
            <a:off x="7907369" y="1519289"/>
            <a:ext cx="296791" cy="296791"/>
          </a:xfrm>
          <a:prstGeom prst="rect">
            <a:avLst/>
          </a:prstGeom>
          <a:solidFill>
            <a:srgbClr val="A7CBE2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1" name="stage1-tc-token-3"/>
          <p:cNvSpPr/>
          <p:nvPr/>
        </p:nvSpPr>
        <p:spPr>
          <a:xfrm>
            <a:off x="8536284" y="1519289"/>
            <a:ext cx="296791" cy="296791"/>
          </a:xfrm>
          <a:prstGeom prst="rect">
            <a:avLst/>
          </a:prstGeom>
          <a:solidFill>
            <a:srgbClr val="A7CBE2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2" name="stage1-tc-ellipsis"/>
          <p:cNvSpPr txBox="1"/>
          <p:nvPr/>
        </p:nvSpPr>
        <p:spPr>
          <a:xfrm>
            <a:off x="8225360" y="1533421"/>
            <a:ext cx="268525" cy="2119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1" b="1" i="0">
                <a:solidFill>
                  <a:srgbClr val="000000"/>
                </a:solidFill>
                <a:latin typeface="Liberation Sans"/>
              </a:rPr>
              <a:t>...</a:t>
            </a:r>
          </a:p>
        </p:txBody>
      </p:sp>
      <p:sp>
        <p:nvSpPr>
          <p:cNvPr id="173" name="stage1-tc-label"/>
          <p:cNvSpPr txBox="1"/>
          <p:nvPr/>
        </p:nvSpPr>
        <p:spPr>
          <a:xfrm>
            <a:off x="8084030" y="1710083"/>
            <a:ext cx="108823" cy="2473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7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174" name="stage1-tc-label-sub"/>
          <p:cNvSpPr txBox="1"/>
          <p:nvPr/>
        </p:nvSpPr>
        <p:spPr>
          <a:xfrm>
            <a:off x="8185787" y="1812971"/>
            <a:ext cx="169595" cy="1483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3" b="0" i="1">
                <a:solidFill>
                  <a:srgbClr val="000000"/>
                </a:solidFill>
                <a:latin typeface="Liberation Serif"/>
              </a:rPr>
              <a:t>c</a:t>
            </a:r>
          </a:p>
        </p:txBody>
      </p:sp>
      <p:cxnSp>
        <p:nvCxnSpPr>
          <p:cNvPr id="175" name="stage1-input-to-icm-1"/>
          <p:cNvCxnSpPr/>
          <p:nvPr/>
        </p:nvCxnSpPr>
        <p:spPr>
          <a:xfrm>
            <a:off x="8317224" y="1929143"/>
            <a:ext cx="0" cy="219061"/>
          </a:xfrm>
          <a:prstGeom prst="line">
            <a:avLst/>
          </a:prstGeom>
          <a:ln w="16959">
            <a:solidFill>
              <a:srgbClr val="0B1114"/>
            </a:solidFill>
            <a:tailEnd type="triangle" w="sm" len="sm"/>
          </a:ln>
        </p:spPr>
      </p:cxnSp>
      <p:sp>
        <p:nvSpPr>
          <p:cNvPr id="176" name="stage1-icm"/>
          <p:cNvSpPr/>
          <p:nvPr/>
        </p:nvSpPr>
        <p:spPr>
          <a:xfrm>
            <a:off x="7356185" y="2148204"/>
            <a:ext cx="1809013" cy="310924"/>
          </a:xfrm>
          <a:prstGeom prst="roundRect">
            <a:avLst/>
          </a:prstGeom>
          <a:solidFill>
            <a:srgbClr val="DDF5F1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7" name="stage1-flame"/>
          <p:cNvSpPr/>
          <p:nvPr/>
        </p:nvSpPr>
        <p:spPr>
          <a:xfrm>
            <a:off x="7440982" y="2190602"/>
            <a:ext cx="137796" cy="219061"/>
          </a:xfrm>
          <a:custGeom>
            <a:avLst/>
            <a:gdLst/>
            <a:ahLst/>
            <a:cxnLst/>
            <a:rect l="l" t="t" r="r" b="b"/>
            <a:pathLst>
              <a:path w="137796" h="219061">
                <a:moveTo>
                  <a:pt x="67132" y="219061"/>
                </a:moveTo>
                <a:lnTo>
                  <a:pt x="0" y="175249"/>
                </a:lnTo>
                <a:lnTo>
                  <a:pt x="22966" y="98577"/>
                </a:lnTo>
                <a:lnTo>
                  <a:pt x="54766" y="0"/>
                </a:lnTo>
                <a:lnTo>
                  <a:pt x="83031" y="94196"/>
                </a:lnTo>
                <a:lnTo>
                  <a:pt x="116597" y="52575"/>
                </a:lnTo>
                <a:lnTo>
                  <a:pt x="137796" y="142389"/>
                </a:lnTo>
                <a:lnTo>
                  <a:pt x="111297" y="197155"/>
                </a:lnTo>
                <a:close/>
              </a:path>
            </a:pathLst>
          </a:custGeom>
          <a:solidFill>
            <a:srgbClr val="FF512F"/>
          </a:solidFill>
          <a:ln w="5080">
            <a:solidFill>
              <a:srgbClr val="FF51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8" name="stage1-icm-text"/>
          <p:cNvSpPr txBox="1"/>
          <p:nvPr/>
        </p:nvSpPr>
        <p:spPr>
          <a:xfrm>
            <a:off x="7843771" y="2169403"/>
            <a:ext cx="1059969" cy="26852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80" b="0" i="0">
                <a:solidFill>
                  <a:srgbClr val="000000"/>
                </a:solidFill>
                <a:latin typeface="Liberation Sans"/>
              </a:rPr>
              <a:t>ICM</a:t>
            </a:r>
          </a:p>
        </p:txBody>
      </p:sp>
      <p:cxnSp>
        <p:nvCxnSpPr>
          <p:cNvPr id="179" name="stage1-icm-output-1"/>
          <p:cNvCxnSpPr/>
          <p:nvPr/>
        </p:nvCxnSpPr>
        <p:spPr>
          <a:xfrm>
            <a:off x="8317224" y="2459128"/>
            <a:ext cx="0" cy="148395"/>
          </a:xfrm>
          <a:prstGeom prst="line">
            <a:avLst/>
          </a:prstGeom>
          <a:ln w="16959">
            <a:solidFill>
              <a:srgbClr val="0B1114"/>
            </a:solidFill>
            <a:tailEnd type="triangle" w="sm" len="sm"/>
          </a:ln>
        </p:spPr>
      </p:cxnSp>
      <p:sp>
        <p:nvSpPr>
          <p:cNvPr id="180" name="stage1-tcon-token"/>
          <p:cNvSpPr/>
          <p:nvPr/>
        </p:nvSpPr>
        <p:spPr>
          <a:xfrm>
            <a:off x="7773106" y="2543925"/>
            <a:ext cx="296791" cy="296791"/>
          </a:xfrm>
          <a:prstGeom prst="rect">
            <a:avLst/>
          </a:prstGeom>
          <a:solidFill>
            <a:srgbClr val="A7CBE2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1" name="stage1-tcon-label"/>
          <p:cNvSpPr txBox="1"/>
          <p:nvPr/>
        </p:nvSpPr>
        <p:spPr>
          <a:xfrm>
            <a:off x="7405650" y="2543925"/>
            <a:ext cx="104936" cy="2384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2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182" name="stage1-tcon-label-sub"/>
          <p:cNvSpPr txBox="1"/>
          <p:nvPr/>
        </p:nvSpPr>
        <p:spPr>
          <a:xfrm>
            <a:off x="7503521" y="2643138"/>
            <a:ext cx="217505" cy="1430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1" b="0" i="1">
                <a:solidFill>
                  <a:srgbClr val="000000"/>
                </a:solidFill>
                <a:latin typeface="Liberation Serif"/>
              </a:rPr>
              <a:t>con</a:t>
            </a:r>
          </a:p>
        </p:txBody>
      </p:sp>
      <p:sp>
        <p:nvSpPr>
          <p:cNvPr id="183" name="stage1-trel-token"/>
          <p:cNvSpPr/>
          <p:nvPr/>
        </p:nvSpPr>
        <p:spPr>
          <a:xfrm>
            <a:off x="8578683" y="2543925"/>
            <a:ext cx="296791" cy="296791"/>
          </a:xfrm>
          <a:prstGeom prst="rect">
            <a:avLst/>
          </a:prstGeom>
          <a:solidFill>
            <a:srgbClr val="A7CBE2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4" name="stage1-trel-label"/>
          <p:cNvSpPr txBox="1"/>
          <p:nvPr/>
        </p:nvSpPr>
        <p:spPr>
          <a:xfrm>
            <a:off x="8854275" y="2543925"/>
            <a:ext cx="104936" cy="238493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2" b="0" i="1">
                <a:solidFill>
                  <a:srgbClr val="000000"/>
                </a:solidFill>
                <a:latin typeface="Liberation Serif"/>
              </a:rPr>
              <a:t>t</a:t>
            </a:r>
          </a:p>
        </p:txBody>
      </p:sp>
      <p:sp>
        <p:nvSpPr>
          <p:cNvPr id="185" name="stage1-trel-label-sub"/>
          <p:cNvSpPr txBox="1"/>
          <p:nvPr/>
        </p:nvSpPr>
        <p:spPr>
          <a:xfrm>
            <a:off x="8952145" y="2643138"/>
            <a:ext cx="217505" cy="1430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71" b="0" i="1">
                <a:solidFill>
                  <a:srgbClr val="000000"/>
                </a:solidFill>
                <a:latin typeface="Liberation Serif"/>
              </a:rPr>
              <a:t>rel</a:t>
            </a:r>
          </a:p>
        </p:txBody>
      </p:sp>
      <p:cxnSp>
        <p:nvCxnSpPr>
          <p:cNvPr id="186" name="tq-to-relation-prompt-1"/>
          <p:cNvCxnSpPr/>
          <p:nvPr/>
        </p:nvCxnSpPr>
        <p:spPr>
          <a:xfrm>
            <a:off x="9165199" y="1151833"/>
            <a:ext cx="254392" cy="0"/>
          </a:xfrm>
          <a:prstGeom prst="line">
            <a:avLst/>
          </a:prstGeom>
          <a:ln w="19079">
            <a:solidFill>
              <a:srgbClr val="4670B8"/>
            </a:solidFill>
            <a:tailEnd type="triangle" w="sm" len="sm"/>
          </a:ln>
        </p:spPr>
      </p:cxnSp>
      <p:cxnSp>
        <p:nvCxnSpPr>
          <p:cNvPr id="187" name="tc-to-content-prompt-1"/>
          <p:cNvCxnSpPr/>
          <p:nvPr/>
        </p:nvCxnSpPr>
        <p:spPr>
          <a:xfrm>
            <a:off x="9066268" y="1667684"/>
            <a:ext cx="105997" cy="0"/>
          </a:xfrm>
          <a:prstGeom prst="line">
            <a:avLst/>
          </a:prstGeom>
          <a:ln w="19079">
            <a:solidFill>
              <a:srgbClr val="9A86A4"/>
            </a:solidFill>
          </a:ln>
        </p:spPr>
      </p:cxnSp>
      <p:cxnSp>
        <p:nvCxnSpPr>
          <p:cNvPr id="188" name="tc-to-content-prompt-2"/>
          <p:cNvCxnSpPr/>
          <p:nvPr/>
        </p:nvCxnSpPr>
        <p:spPr>
          <a:xfrm>
            <a:off x="9172265" y="1667684"/>
            <a:ext cx="0" cy="586516"/>
          </a:xfrm>
          <a:prstGeom prst="line">
            <a:avLst/>
          </a:prstGeom>
          <a:ln w="19079">
            <a:solidFill>
              <a:srgbClr val="9A86A4"/>
            </a:solidFill>
          </a:ln>
        </p:spPr>
      </p:cxnSp>
      <p:cxnSp>
        <p:nvCxnSpPr>
          <p:cNvPr id="189" name="tc-to-content-prompt-3"/>
          <p:cNvCxnSpPr/>
          <p:nvPr/>
        </p:nvCxnSpPr>
        <p:spPr>
          <a:xfrm>
            <a:off x="9172265" y="2254200"/>
            <a:ext cx="240260" cy="0"/>
          </a:xfrm>
          <a:prstGeom prst="line">
            <a:avLst/>
          </a:prstGeom>
          <a:ln w="19079">
            <a:solidFill>
              <a:srgbClr val="9A86A4"/>
            </a:solidFill>
            <a:tailEnd type="triangle" w="sm" len="sm"/>
          </a:ln>
        </p:spPr>
      </p:cxnSp>
      <p:cxnSp>
        <p:nvCxnSpPr>
          <p:cNvPr id="190" name="tcon-to-relation-prompt-1"/>
          <p:cNvCxnSpPr/>
          <p:nvPr/>
        </p:nvCxnSpPr>
        <p:spPr>
          <a:xfrm>
            <a:off x="8069897" y="2692321"/>
            <a:ext cx="1173033" cy="0"/>
          </a:xfrm>
          <a:prstGeom prst="line">
            <a:avLst/>
          </a:prstGeom>
          <a:ln w="19079">
            <a:solidFill>
              <a:srgbClr val="B4AA9A"/>
            </a:solidFill>
          </a:ln>
        </p:spPr>
      </p:cxnSp>
      <p:cxnSp>
        <p:nvCxnSpPr>
          <p:cNvPr id="191" name="tcon-to-relation-prompt-2"/>
          <p:cNvCxnSpPr/>
          <p:nvPr/>
        </p:nvCxnSpPr>
        <p:spPr>
          <a:xfrm flipV="1">
            <a:off x="9242930" y="1399159"/>
            <a:ext cx="0" cy="1293162"/>
          </a:xfrm>
          <a:prstGeom prst="line">
            <a:avLst/>
          </a:prstGeom>
          <a:ln w="19079">
            <a:solidFill>
              <a:srgbClr val="B4AA9A"/>
            </a:solidFill>
          </a:ln>
        </p:spPr>
      </p:cxnSp>
      <p:cxnSp>
        <p:nvCxnSpPr>
          <p:cNvPr id="192" name="tcon-to-relation-prompt-3"/>
          <p:cNvCxnSpPr/>
          <p:nvPr/>
        </p:nvCxnSpPr>
        <p:spPr>
          <a:xfrm>
            <a:off x="9242930" y="1399159"/>
            <a:ext cx="176661" cy="0"/>
          </a:xfrm>
          <a:prstGeom prst="line">
            <a:avLst/>
          </a:prstGeom>
          <a:ln w="19079">
            <a:solidFill>
              <a:srgbClr val="B4AA9A"/>
            </a:solidFill>
            <a:tailEnd type="triangle" w="sm" len="sm"/>
          </a:ln>
        </p:spPr>
      </p:cxnSp>
      <p:cxnSp>
        <p:nvCxnSpPr>
          <p:cNvPr id="193" name="tcon-to-content-prompt-1"/>
          <p:cNvCxnSpPr/>
          <p:nvPr/>
        </p:nvCxnSpPr>
        <p:spPr>
          <a:xfrm>
            <a:off x="8069897" y="2854850"/>
            <a:ext cx="0" cy="70664"/>
          </a:xfrm>
          <a:prstGeom prst="line">
            <a:avLst/>
          </a:prstGeom>
          <a:ln w="19079">
            <a:solidFill>
              <a:srgbClr val="B4CCAC"/>
            </a:solidFill>
          </a:ln>
        </p:spPr>
      </p:cxnSp>
      <p:cxnSp>
        <p:nvCxnSpPr>
          <p:cNvPr id="194" name="tcon-to-content-prompt-2"/>
          <p:cNvCxnSpPr/>
          <p:nvPr/>
        </p:nvCxnSpPr>
        <p:spPr>
          <a:xfrm>
            <a:off x="8069897" y="2925514"/>
            <a:ext cx="2741787" cy="0"/>
          </a:xfrm>
          <a:prstGeom prst="line">
            <a:avLst/>
          </a:prstGeom>
          <a:ln w="19079">
            <a:solidFill>
              <a:srgbClr val="B4CCAC"/>
            </a:solidFill>
          </a:ln>
        </p:spPr>
      </p:cxnSp>
      <p:cxnSp>
        <p:nvCxnSpPr>
          <p:cNvPr id="195" name="tcon-to-content-prompt-3"/>
          <p:cNvCxnSpPr/>
          <p:nvPr/>
        </p:nvCxnSpPr>
        <p:spPr>
          <a:xfrm flipV="1">
            <a:off x="10811684" y="2649922"/>
            <a:ext cx="0" cy="275592"/>
          </a:xfrm>
          <a:prstGeom prst="line">
            <a:avLst/>
          </a:prstGeom>
          <a:ln w="19079">
            <a:solidFill>
              <a:srgbClr val="B4CCAC"/>
            </a:solidFill>
            <a:tailEnd type="triangle" w="sm" len="sm"/>
          </a:ln>
        </p:spPr>
      </p:cxnSp>
      <p:cxnSp>
        <p:nvCxnSpPr>
          <p:cNvPr id="196" name="trel-to-content-prompt-1"/>
          <p:cNvCxnSpPr/>
          <p:nvPr/>
        </p:nvCxnSpPr>
        <p:spPr>
          <a:xfrm>
            <a:off x="8875474" y="2692321"/>
            <a:ext cx="438121" cy="0"/>
          </a:xfrm>
          <a:prstGeom prst="line">
            <a:avLst/>
          </a:prstGeom>
          <a:ln w="19079">
            <a:solidFill>
              <a:srgbClr val="9A86A4"/>
            </a:solidFill>
          </a:ln>
        </p:spPr>
      </p:cxnSp>
      <p:cxnSp>
        <p:nvCxnSpPr>
          <p:cNvPr id="197" name="trel-to-content-prompt-2"/>
          <p:cNvCxnSpPr/>
          <p:nvPr/>
        </p:nvCxnSpPr>
        <p:spPr>
          <a:xfrm flipV="1">
            <a:off x="9313595" y="1950343"/>
            <a:ext cx="0" cy="741978"/>
          </a:xfrm>
          <a:prstGeom prst="line">
            <a:avLst/>
          </a:prstGeom>
          <a:ln w="19079">
            <a:solidFill>
              <a:srgbClr val="9A86A4"/>
            </a:solidFill>
          </a:ln>
        </p:spPr>
      </p:cxnSp>
      <p:cxnSp>
        <p:nvCxnSpPr>
          <p:cNvPr id="198" name="trel-to-content-prompt-3"/>
          <p:cNvCxnSpPr/>
          <p:nvPr/>
        </p:nvCxnSpPr>
        <p:spPr>
          <a:xfrm>
            <a:off x="9313595" y="1950343"/>
            <a:ext cx="98930" cy="0"/>
          </a:xfrm>
          <a:prstGeom prst="line">
            <a:avLst/>
          </a:prstGeom>
          <a:ln w="19079">
            <a:solidFill>
              <a:srgbClr val="9A86A4"/>
            </a:solidFill>
            <a:tailEnd type="triangle" w="sm" len="sm"/>
          </a:ln>
        </p:spPr>
      </p:cxnSp>
      <p:sp>
        <p:nvSpPr>
          <p:cNvPr id="199" name="relationship-prompt"/>
          <p:cNvSpPr/>
          <p:nvPr/>
        </p:nvSpPr>
        <p:spPr>
          <a:xfrm>
            <a:off x="9419591" y="819709"/>
            <a:ext cx="2777119" cy="1158899"/>
          </a:xfrm>
          <a:prstGeom prst="roundRect">
            <a:avLst/>
          </a:prstGeom>
          <a:solidFill>
            <a:srgbClr val="F5F6F7"/>
          </a:solidFill>
          <a:ln w="19079">
            <a:solidFill>
              <a:srgbClr val="17323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0" name="relationship-prompt-title"/>
          <p:cNvSpPr txBox="1"/>
          <p:nvPr/>
        </p:nvSpPr>
        <p:spPr>
          <a:xfrm>
            <a:off x="9476123" y="862108"/>
            <a:ext cx="2579258" cy="19079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9" b="1" i="0">
                <a:solidFill>
                  <a:srgbClr val="000000"/>
                </a:solidFill>
                <a:latin typeface="Liberation Sans"/>
              </a:rPr>
              <a:t>Relationship    Prompt    Template:</a:t>
            </a:r>
          </a:p>
        </p:txBody>
      </p:sp>
      <p:sp>
        <p:nvSpPr>
          <p:cNvPr id="201" name="relationship-prompt-body"/>
          <p:cNvSpPr txBox="1"/>
          <p:nvPr/>
        </p:nvSpPr>
        <p:spPr>
          <a:xfrm>
            <a:off x="9476123" y="1088234"/>
            <a:ext cx="2558058" cy="812642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 i="0">
                <a:solidFill>
                  <a:srgbClr val="000000"/>
                </a:solidFill>
                <a:latin typeface="Liberation Sans"/>
              </a:rPr>
              <a:t>According  to  &lt;rel&gt;,  describe  the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 i="0">
                <a:solidFill>
                  <a:srgbClr val="000000"/>
                </a:solidFill>
                <a:latin typeface="Liberation Sans"/>
              </a:rPr>
              <a:t>similarity,  difference  and  any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 i="0">
                <a:solidFill>
                  <a:srgbClr val="000000"/>
                </a:solidFill>
                <a:latin typeface="Liberation Sans"/>
              </a:rPr>
              <a:t>potential relationship between the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 i="0">
                <a:solidFill>
                  <a:srgbClr val="000000"/>
                </a:solidFill>
                <a:latin typeface="Liberation Sans"/>
              </a:rPr>
              <a:t>pair in detail.</a:t>
            </a:r>
          </a:p>
        </p:txBody>
      </p:sp>
      <p:sp>
        <p:nvSpPr>
          <p:cNvPr id="202" name="content-prompt"/>
          <p:cNvSpPr/>
          <p:nvPr/>
        </p:nvSpPr>
        <p:spPr>
          <a:xfrm>
            <a:off x="9412525" y="2134071"/>
            <a:ext cx="2762986" cy="515851"/>
          </a:xfrm>
          <a:prstGeom prst="roundRect">
            <a:avLst/>
          </a:prstGeom>
          <a:solidFill>
            <a:srgbClr val="F5F6F7"/>
          </a:solidFill>
          <a:ln w="19079">
            <a:solidFill>
              <a:srgbClr val="17323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3" name="content-prompt-title"/>
          <p:cNvSpPr txBox="1"/>
          <p:nvPr/>
        </p:nvSpPr>
        <p:spPr>
          <a:xfrm>
            <a:off x="9469057" y="2162336"/>
            <a:ext cx="2543925" cy="1978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9" b="1" i="0">
                <a:solidFill>
                  <a:srgbClr val="000000"/>
                </a:solidFill>
                <a:latin typeface="Liberation Sans"/>
              </a:rPr>
              <a:t>Content Prompt Template:</a:t>
            </a:r>
          </a:p>
        </p:txBody>
      </p:sp>
      <p:sp>
        <p:nvSpPr>
          <p:cNvPr id="204" name="content-prompt-body"/>
          <p:cNvSpPr txBox="1"/>
          <p:nvPr/>
        </p:nvSpPr>
        <p:spPr>
          <a:xfrm>
            <a:off x="9469057" y="2388463"/>
            <a:ext cx="2614590" cy="211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 i="0">
                <a:solidFill>
                  <a:srgbClr val="000000"/>
                </a:solidFill>
                <a:latin typeface="Liberation Sans"/>
              </a:rPr>
              <a:t>Describe the content of &lt;c&gt; in detail.</a:t>
            </a:r>
          </a:p>
        </p:txBody>
      </p:sp>
      <p:cxnSp>
        <p:nvCxnSpPr>
          <p:cNvPr id="205" name="relation-prompt-to-llm-blue-1"/>
          <p:cNvCxnSpPr/>
          <p:nvPr/>
        </p:nvCxnSpPr>
        <p:spPr>
          <a:xfrm>
            <a:off x="12196710" y="1130633"/>
            <a:ext cx="261460" cy="0"/>
          </a:xfrm>
          <a:prstGeom prst="line">
            <a:avLst/>
          </a:prstGeom>
          <a:ln w="19079">
            <a:solidFill>
              <a:srgbClr val="4670B8"/>
            </a:solidFill>
            <a:tailEnd type="triangle" w="sm" len="sm"/>
          </a:ln>
        </p:spPr>
      </p:cxnSp>
      <p:cxnSp>
        <p:nvCxnSpPr>
          <p:cNvPr id="206" name="relation-prompt-to-llm-beige-1"/>
          <p:cNvCxnSpPr/>
          <p:nvPr/>
        </p:nvCxnSpPr>
        <p:spPr>
          <a:xfrm>
            <a:off x="12196710" y="1399159"/>
            <a:ext cx="261460" cy="0"/>
          </a:xfrm>
          <a:prstGeom prst="line">
            <a:avLst/>
          </a:prstGeom>
          <a:ln w="19079">
            <a:solidFill>
              <a:srgbClr val="B4AA9A"/>
            </a:solidFill>
            <a:tailEnd type="triangle" w="sm" len="sm"/>
          </a:ln>
        </p:spPr>
      </p:cxnSp>
      <p:cxnSp>
        <p:nvCxnSpPr>
          <p:cNvPr id="207" name="content-prompt-to-llm-purple-1"/>
          <p:cNvCxnSpPr/>
          <p:nvPr/>
        </p:nvCxnSpPr>
        <p:spPr>
          <a:xfrm>
            <a:off x="12175511" y="2240068"/>
            <a:ext cx="282659" cy="0"/>
          </a:xfrm>
          <a:prstGeom prst="line">
            <a:avLst/>
          </a:prstGeom>
          <a:ln w="19079">
            <a:solidFill>
              <a:srgbClr val="9A86A4"/>
            </a:solidFill>
            <a:tailEnd type="triangle" w="sm" len="sm"/>
          </a:ln>
        </p:spPr>
      </p:cxnSp>
      <p:cxnSp>
        <p:nvCxnSpPr>
          <p:cNvPr id="208" name="content-prompt-to-llm-green-1"/>
          <p:cNvCxnSpPr/>
          <p:nvPr/>
        </p:nvCxnSpPr>
        <p:spPr>
          <a:xfrm>
            <a:off x="12175511" y="2501527"/>
            <a:ext cx="282659" cy="0"/>
          </a:xfrm>
          <a:prstGeom prst="line">
            <a:avLst/>
          </a:prstGeom>
          <a:ln w="19079">
            <a:solidFill>
              <a:srgbClr val="B4CCAC"/>
            </a:solidFill>
            <a:tailEnd type="triangle" w="sm" len="sm"/>
          </a:ln>
        </p:spPr>
      </p:cxnSp>
      <p:sp>
        <p:nvSpPr>
          <p:cNvPr id="209" name="stage1-llm"/>
          <p:cNvSpPr/>
          <p:nvPr/>
        </p:nvSpPr>
        <p:spPr>
          <a:xfrm>
            <a:off x="12458170" y="819709"/>
            <a:ext cx="339190" cy="1830213"/>
          </a:xfrm>
          <a:prstGeom prst="roundRect">
            <a:avLst/>
          </a:prstGeom>
          <a:solidFill>
            <a:srgbClr val="FFF4E3"/>
          </a:solidFill>
          <a:ln w="19079">
            <a:solidFill>
              <a:srgbClr val="17323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0" name="stage1-llm-text"/>
          <p:cNvSpPr txBox="1"/>
          <p:nvPr/>
        </p:nvSpPr>
        <p:spPr>
          <a:xfrm rot="16200000">
            <a:off x="12486435" y="953972"/>
            <a:ext cx="282658" cy="1385026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7" b="0" i="0">
                <a:solidFill>
                  <a:srgbClr val="000000"/>
                </a:solidFill>
                <a:latin typeface="Liberation Sans"/>
              </a:rPr>
              <a:t>LLM</a:t>
            </a:r>
          </a:p>
        </p:txBody>
      </p:sp>
      <p:cxnSp>
        <p:nvCxnSpPr>
          <p:cNvPr id="211" name="stage1-frozen-arm-0-1"/>
          <p:cNvCxnSpPr/>
          <p:nvPr/>
        </p:nvCxnSpPr>
        <p:spPr>
          <a:xfrm>
            <a:off x="12557100" y="2452061"/>
            <a:ext cx="141329" cy="0"/>
          </a:xfrm>
          <a:prstGeom prst="line">
            <a:avLst/>
          </a:prstGeom>
          <a:ln w="12719">
            <a:solidFill>
              <a:srgbClr val="6DC8EC"/>
            </a:solidFill>
          </a:ln>
        </p:spPr>
      </p:cxnSp>
      <p:cxnSp>
        <p:nvCxnSpPr>
          <p:cNvPr id="212" name="stage1-frozen-arm-1-1"/>
          <p:cNvCxnSpPr/>
          <p:nvPr/>
        </p:nvCxnSpPr>
        <p:spPr>
          <a:xfrm>
            <a:off x="12592432" y="2390864"/>
            <a:ext cx="70665" cy="122395"/>
          </a:xfrm>
          <a:prstGeom prst="line">
            <a:avLst/>
          </a:prstGeom>
          <a:ln w="12719">
            <a:solidFill>
              <a:srgbClr val="6DC8EC"/>
            </a:solidFill>
          </a:ln>
        </p:spPr>
      </p:cxnSp>
      <p:cxnSp>
        <p:nvCxnSpPr>
          <p:cNvPr id="213" name="stage1-frozen-arm-2-1"/>
          <p:cNvCxnSpPr/>
          <p:nvPr/>
        </p:nvCxnSpPr>
        <p:spPr>
          <a:xfrm flipH="1">
            <a:off x="12592432" y="2390864"/>
            <a:ext cx="70665" cy="122395"/>
          </a:xfrm>
          <a:prstGeom prst="line">
            <a:avLst/>
          </a:prstGeom>
          <a:ln w="12719">
            <a:solidFill>
              <a:srgbClr val="6DC8EC"/>
            </a:solidFill>
          </a:ln>
        </p:spPr>
      </p:cxnSp>
      <p:cxnSp>
        <p:nvCxnSpPr>
          <p:cNvPr id="214" name="llm-to-loss-top-blue-1"/>
          <p:cNvCxnSpPr/>
          <p:nvPr/>
        </p:nvCxnSpPr>
        <p:spPr>
          <a:xfrm>
            <a:off x="12797360" y="1130633"/>
            <a:ext cx="268525" cy="0"/>
          </a:xfrm>
          <a:prstGeom prst="line">
            <a:avLst/>
          </a:prstGeom>
          <a:ln w="19079">
            <a:solidFill>
              <a:srgbClr val="4670B8"/>
            </a:solidFill>
            <a:tailEnd type="triangle" w="sm" len="sm"/>
          </a:ln>
        </p:spPr>
      </p:cxnSp>
      <p:cxnSp>
        <p:nvCxnSpPr>
          <p:cNvPr id="215" name="llm-to-loss-top-beige-1"/>
          <p:cNvCxnSpPr/>
          <p:nvPr/>
        </p:nvCxnSpPr>
        <p:spPr>
          <a:xfrm>
            <a:off x="12797360" y="1399159"/>
            <a:ext cx="268525" cy="0"/>
          </a:xfrm>
          <a:prstGeom prst="line">
            <a:avLst/>
          </a:prstGeom>
          <a:ln w="19079">
            <a:solidFill>
              <a:srgbClr val="B4AA9A"/>
            </a:solidFill>
            <a:tailEnd type="triangle" w="sm" len="sm"/>
          </a:ln>
        </p:spPr>
      </p:cxnSp>
      <p:cxnSp>
        <p:nvCxnSpPr>
          <p:cNvPr id="216" name="llm-to-loss-bottom-purple-1"/>
          <p:cNvCxnSpPr/>
          <p:nvPr/>
        </p:nvCxnSpPr>
        <p:spPr>
          <a:xfrm>
            <a:off x="12797360" y="2240068"/>
            <a:ext cx="268525" cy="0"/>
          </a:xfrm>
          <a:prstGeom prst="line">
            <a:avLst/>
          </a:prstGeom>
          <a:ln w="19079">
            <a:solidFill>
              <a:srgbClr val="9A86A4"/>
            </a:solidFill>
            <a:tailEnd type="triangle" w="sm" len="sm"/>
          </a:ln>
        </p:spPr>
      </p:cxnSp>
      <p:cxnSp>
        <p:nvCxnSpPr>
          <p:cNvPr id="217" name="llm-to-loss-bottom-green-1"/>
          <p:cNvCxnSpPr/>
          <p:nvPr/>
        </p:nvCxnSpPr>
        <p:spPr>
          <a:xfrm>
            <a:off x="12797360" y="2501527"/>
            <a:ext cx="268525" cy="0"/>
          </a:xfrm>
          <a:prstGeom prst="line">
            <a:avLst/>
          </a:prstGeom>
          <a:ln w="19079">
            <a:solidFill>
              <a:srgbClr val="B4CCAC"/>
            </a:solidFill>
            <a:tailEnd type="triangle" w="sm" len="sm"/>
          </a:ln>
        </p:spPr>
      </p:cxnSp>
      <p:sp>
        <p:nvSpPr>
          <p:cNvPr id="218" name="ce-loss-top"/>
          <p:cNvSpPr/>
          <p:nvPr/>
        </p:nvSpPr>
        <p:spPr>
          <a:xfrm>
            <a:off x="13065885" y="996370"/>
            <a:ext cx="487585" cy="515851"/>
          </a:xfrm>
          <a:prstGeom prst="roundRect">
            <a:avLst/>
          </a:prstGeom>
          <a:solidFill>
            <a:srgbClr val="B6E1E9"/>
          </a:solidFill>
          <a:ln w="19079">
            <a:solidFill>
              <a:srgbClr val="17323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9" name="ce-loss-top-text"/>
          <p:cNvSpPr txBox="1"/>
          <p:nvPr/>
        </p:nvSpPr>
        <p:spPr>
          <a:xfrm>
            <a:off x="13108284" y="1052902"/>
            <a:ext cx="402788" cy="4098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5" b="0" i="0">
                <a:solidFill>
                  <a:srgbClr val="000000"/>
                </a:solidFill>
                <a:latin typeface="Liberation Sans"/>
              </a:rPr>
              <a:t>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5" b="0" i="0">
                <a:solidFill>
                  <a:srgbClr val="000000"/>
                </a:solidFill>
                <a:latin typeface="Liberation Sans"/>
              </a:rPr>
              <a:t>Loss</a:t>
            </a:r>
          </a:p>
        </p:txBody>
      </p:sp>
      <p:sp>
        <p:nvSpPr>
          <p:cNvPr id="220" name="ce-loss-bottom"/>
          <p:cNvSpPr/>
          <p:nvPr/>
        </p:nvSpPr>
        <p:spPr>
          <a:xfrm>
            <a:off x="13065885" y="2098738"/>
            <a:ext cx="487585" cy="529984"/>
          </a:xfrm>
          <a:prstGeom prst="roundRect">
            <a:avLst/>
          </a:prstGeom>
          <a:solidFill>
            <a:srgbClr val="B6E1E9"/>
          </a:solidFill>
          <a:ln w="19079">
            <a:solidFill>
              <a:srgbClr val="17323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1" name="ce-loss-bottom-text"/>
          <p:cNvSpPr txBox="1"/>
          <p:nvPr/>
        </p:nvSpPr>
        <p:spPr>
          <a:xfrm>
            <a:off x="13108284" y="2155270"/>
            <a:ext cx="402788" cy="40985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5" b="0" i="0">
                <a:solidFill>
                  <a:srgbClr val="000000"/>
                </a:solidFill>
                <a:latin typeface="Liberation Sans"/>
              </a:rPr>
              <a:t>CE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5" b="0" i="0">
                <a:solidFill>
                  <a:srgbClr val="000000"/>
                </a:solidFill>
                <a:latin typeface="Liberation Sans"/>
              </a:rPr>
              <a:t>Loss</a:t>
            </a:r>
          </a:p>
        </p:txBody>
      </p:sp>
      <p:sp>
        <p:nvSpPr>
          <p:cNvPr id="222" name="stage2-title"/>
          <p:cNvSpPr txBox="1"/>
          <p:nvPr/>
        </p:nvSpPr>
        <p:spPr>
          <a:xfrm>
            <a:off x="7391517" y="3095109"/>
            <a:ext cx="5476506" cy="268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3" b="0" i="0">
                <a:solidFill>
                  <a:srgbClr val="000000"/>
                </a:solidFill>
                <a:latin typeface="Liberation Sans"/>
              </a:rPr>
              <a:t>Stage 2: SFT with Synthetic Dataset for Activation</a:t>
            </a:r>
          </a:p>
        </p:txBody>
      </p:sp>
      <p:sp>
        <p:nvSpPr>
          <p:cNvPr id="223" name="annotation-mllm-head"/>
          <p:cNvSpPr/>
          <p:nvPr/>
        </p:nvSpPr>
        <p:spPr>
          <a:xfrm>
            <a:off x="7452783" y="3633927"/>
            <a:ext cx="500376" cy="390704"/>
          </a:xfrm>
          <a:prstGeom prst="roundRect">
            <a:avLst/>
          </a:prstGeom>
          <a:solidFill>
            <a:srgbClr val="89C9ED"/>
          </a:solidFill>
          <a:ln w="2119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4" name="annotation-mllm-body"/>
          <p:cNvSpPr/>
          <p:nvPr/>
        </p:nvSpPr>
        <p:spPr>
          <a:xfrm>
            <a:off x="7514474" y="4031486"/>
            <a:ext cx="383850" cy="150798"/>
          </a:xfrm>
          <a:prstGeom prst="roundRect">
            <a:avLst/>
          </a:prstGeom>
          <a:solidFill>
            <a:srgbClr val="A9D8F2"/>
          </a:solidFill>
          <a:ln w="17666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5" name="annotation-mllm-ear-l"/>
          <p:cNvSpPr/>
          <p:nvPr/>
        </p:nvSpPr>
        <p:spPr>
          <a:xfrm>
            <a:off x="7404802" y="3729889"/>
            <a:ext cx="75399" cy="185070"/>
          </a:xfrm>
          <a:prstGeom prst="roundRect">
            <a:avLst/>
          </a:prstGeom>
          <a:solidFill>
            <a:srgbClr val="5EAAD6"/>
          </a:solidFill>
          <a:ln w="17666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6" name="annotation-mllm-ear-r"/>
          <p:cNvSpPr/>
          <p:nvPr/>
        </p:nvSpPr>
        <p:spPr>
          <a:xfrm>
            <a:off x="7939451" y="3729889"/>
            <a:ext cx="75399" cy="185070"/>
          </a:xfrm>
          <a:prstGeom prst="roundRect">
            <a:avLst/>
          </a:prstGeom>
          <a:solidFill>
            <a:srgbClr val="5EAAD6"/>
          </a:solidFill>
          <a:ln w="17666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7" name="annotation-mllm-eye-l"/>
          <p:cNvSpPr/>
          <p:nvPr/>
        </p:nvSpPr>
        <p:spPr>
          <a:xfrm>
            <a:off x="7583018" y="3771016"/>
            <a:ext cx="41126" cy="54835"/>
          </a:xfrm>
          <a:prstGeom prst="ellipse">
            <a:avLst/>
          </a:prstGeom>
          <a:solidFill>
            <a:srgbClr val="0B1114"/>
          </a:solidFill>
          <a:ln w="7066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8" name="annotation-mllm-eye-r"/>
          <p:cNvSpPr/>
          <p:nvPr/>
        </p:nvSpPr>
        <p:spPr>
          <a:xfrm>
            <a:off x="7788652" y="3771016"/>
            <a:ext cx="41126" cy="54835"/>
          </a:xfrm>
          <a:prstGeom prst="ellipse">
            <a:avLst/>
          </a:prstGeom>
          <a:solidFill>
            <a:srgbClr val="0B1114"/>
          </a:solidFill>
          <a:ln w="7066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29" name="annotation-mllm-smile-1"/>
          <p:cNvCxnSpPr/>
          <p:nvPr/>
        </p:nvCxnSpPr>
        <p:spPr>
          <a:xfrm>
            <a:off x="7651563" y="3894397"/>
            <a:ext cx="61690" cy="34272"/>
          </a:xfrm>
          <a:prstGeom prst="line">
            <a:avLst/>
          </a:prstGeom>
          <a:ln w="16252">
            <a:solidFill>
              <a:srgbClr val="0B1114"/>
            </a:solidFill>
          </a:ln>
        </p:spPr>
      </p:cxnSp>
      <p:cxnSp>
        <p:nvCxnSpPr>
          <p:cNvPr id="230" name="annotation-mllm-smile-2"/>
          <p:cNvCxnSpPr/>
          <p:nvPr/>
        </p:nvCxnSpPr>
        <p:spPr>
          <a:xfrm flipV="1">
            <a:off x="7713253" y="3894397"/>
            <a:ext cx="61690" cy="34272"/>
          </a:xfrm>
          <a:prstGeom prst="line">
            <a:avLst/>
          </a:prstGeom>
          <a:ln w="16252">
            <a:solidFill>
              <a:srgbClr val="0B1114"/>
            </a:solidFill>
          </a:ln>
        </p:spPr>
      </p:cxnSp>
      <p:sp>
        <p:nvSpPr>
          <p:cNvPr id="231" name="annotation-mllm-cap"/>
          <p:cNvSpPr/>
          <p:nvPr/>
        </p:nvSpPr>
        <p:spPr>
          <a:xfrm>
            <a:off x="7432220" y="3476274"/>
            <a:ext cx="589484" cy="198780"/>
          </a:xfrm>
          <a:custGeom>
            <a:avLst/>
            <a:gdLst/>
            <a:ahLst/>
            <a:cxnLst/>
            <a:rect l="l" t="t" r="r" b="b"/>
            <a:pathLst>
              <a:path w="589484" h="198780">
                <a:moveTo>
                  <a:pt x="0" y="109672"/>
                </a:moveTo>
                <a:lnTo>
                  <a:pt x="294742" y="0"/>
                </a:lnTo>
                <a:lnTo>
                  <a:pt x="589484" y="109672"/>
                </a:lnTo>
                <a:lnTo>
                  <a:pt x="294742" y="198780"/>
                </a:lnTo>
                <a:close/>
              </a:path>
            </a:pathLst>
          </a:custGeom>
          <a:solidFill>
            <a:srgbClr val="21304A"/>
          </a:solidFill>
          <a:ln w="17666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2" name="annotation-mllm-cap-band"/>
          <p:cNvSpPr/>
          <p:nvPr/>
        </p:nvSpPr>
        <p:spPr>
          <a:xfrm>
            <a:off x="7576164" y="3606509"/>
            <a:ext cx="301596" cy="68544"/>
          </a:xfrm>
          <a:prstGeom prst="rect">
            <a:avLst/>
          </a:prstGeom>
          <a:solidFill>
            <a:srgbClr val="21304A"/>
          </a:solidFill>
          <a:ln w="1059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3" name="annotation-label"/>
          <p:cNvSpPr txBox="1"/>
          <p:nvPr/>
        </p:nvSpPr>
        <p:spPr>
          <a:xfrm>
            <a:off x="7327919" y="4232809"/>
            <a:ext cx="819709" cy="45225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9" b="0" i="0">
                <a:solidFill>
                  <a:srgbClr val="000000"/>
                </a:solidFill>
                <a:latin typeface="Liberation Sans"/>
              </a:rPr>
              <a:t>Annotation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9" b="0" i="0">
                <a:solidFill>
                  <a:srgbClr val="000000"/>
                </a:solidFill>
                <a:latin typeface="Liberation Sans"/>
              </a:rPr>
              <a:t>MLLM</a:t>
            </a:r>
          </a:p>
        </p:txBody>
      </p:sp>
      <p:cxnSp>
        <p:nvCxnSpPr>
          <p:cNvPr id="234" name="annotation-to-dataset-1"/>
          <p:cNvCxnSpPr/>
          <p:nvPr/>
        </p:nvCxnSpPr>
        <p:spPr>
          <a:xfrm>
            <a:off x="8027499" y="3872420"/>
            <a:ext cx="268525" cy="0"/>
          </a:xfrm>
          <a:prstGeom prst="line">
            <a:avLst/>
          </a:prstGeom>
          <a:ln w="16959">
            <a:solidFill>
              <a:srgbClr val="0B1114"/>
            </a:solidFill>
            <a:tailEnd type="triangle" w="sm" len="sm"/>
          </a:ln>
        </p:spPr>
      </p:cxnSp>
      <p:sp>
        <p:nvSpPr>
          <p:cNvPr id="235" name="synthetic-dataset"/>
          <p:cNvSpPr/>
          <p:nvPr/>
        </p:nvSpPr>
        <p:spPr>
          <a:xfrm>
            <a:off x="8296024" y="3420166"/>
            <a:ext cx="911573" cy="925706"/>
          </a:xfrm>
          <a:prstGeom prst="roundRect">
            <a:avLst/>
          </a:prstGeom>
          <a:solidFill>
            <a:srgbClr val="FFFFFF"/>
          </a:solidFill>
          <a:ln w="35332">
            <a:solidFill>
              <a:srgbClr val="287FD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6" name="synthetic-doc-1-page"/>
          <p:cNvSpPr/>
          <p:nvPr/>
        </p:nvSpPr>
        <p:spPr>
          <a:xfrm>
            <a:off x="8409088" y="3512030"/>
            <a:ext cx="282658" cy="367455"/>
          </a:xfrm>
          <a:prstGeom prst="roundRect">
            <a:avLst/>
          </a:prstGeom>
          <a:solidFill>
            <a:srgbClr val="1687DD"/>
          </a:solidFill>
          <a:ln w="9893">
            <a:solidFill>
              <a:srgbClr val="1687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7" name="synthetic-doc-1-fold"/>
          <p:cNvSpPr/>
          <p:nvPr/>
        </p:nvSpPr>
        <p:spPr>
          <a:xfrm>
            <a:off x="8606948" y="3512030"/>
            <a:ext cx="84798" cy="84798"/>
          </a:xfrm>
          <a:custGeom>
            <a:avLst/>
            <a:gdLst/>
            <a:ahLst/>
            <a:cxnLst/>
            <a:rect l="l" t="t" r="r" b="b"/>
            <a:pathLst>
              <a:path w="84798" h="84798">
                <a:moveTo>
                  <a:pt x="0" y="0"/>
                </a:moveTo>
                <a:lnTo>
                  <a:pt x="84798" y="84798"/>
                </a:lnTo>
                <a:lnTo>
                  <a:pt x="0" y="84798"/>
                </a:lnTo>
                <a:close/>
              </a:path>
            </a:pathLst>
          </a:custGeom>
          <a:solidFill>
            <a:srgbClr val="FFFFFF"/>
          </a:solidFill>
          <a:ln w="353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38" name="synthetic-doc-1-line-1-1"/>
          <p:cNvCxnSpPr/>
          <p:nvPr/>
        </p:nvCxnSpPr>
        <p:spPr>
          <a:xfrm>
            <a:off x="8465619" y="3666362"/>
            <a:ext cx="169595" cy="0"/>
          </a:xfrm>
          <a:prstGeom prst="line">
            <a:avLst/>
          </a:prstGeom>
          <a:ln w="14132">
            <a:solidFill>
              <a:srgbClr val="FFFFFF"/>
            </a:solidFill>
          </a:ln>
        </p:spPr>
      </p:cxnSp>
      <p:cxnSp>
        <p:nvCxnSpPr>
          <p:cNvPr id="239" name="synthetic-doc-1-line-2-1"/>
          <p:cNvCxnSpPr/>
          <p:nvPr/>
        </p:nvCxnSpPr>
        <p:spPr>
          <a:xfrm>
            <a:off x="8465619" y="3725155"/>
            <a:ext cx="169595" cy="0"/>
          </a:xfrm>
          <a:prstGeom prst="line">
            <a:avLst/>
          </a:prstGeom>
          <a:ln w="14132">
            <a:solidFill>
              <a:srgbClr val="FFFFFF"/>
            </a:solidFill>
          </a:ln>
        </p:spPr>
      </p:cxnSp>
      <p:cxnSp>
        <p:nvCxnSpPr>
          <p:cNvPr id="240" name="synthetic-doc-1-line-3-1"/>
          <p:cNvCxnSpPr/>
          <p:nvPr/>
        </p:nvCxnSpPr>
        <p:spPr>
          <a:xfrm>
            <a:off x="8465619" y="3776599"/>
            <a:ext cx="169595" cy="0"/>
          </a:xfrm>
          <a:prstGeom prst="line">
            <a:avLst/>
          </a:prstGeom>
          <a:ln w="14132">
            <a:solidFill>
              <a:srgbClr val="FFFFFF"/>
            </a:solidFill>
          </a:ln>
        </p:spPr>
      </p:cxnSp>
      <p:sp>
        <p:nvSpPr>
          <p:cNvPr id="241" name="synthetic-doc-2-page"/>
          <p:cNvSpPr/>
          <p:nvPr/>
        </p:nvSpPr>
        <p:spPr>
          <a:xfrm>
            <a:off x="8804809" y="3512030"/>
            <a:ext cx="282658" cy="367455"/>
          </a:xfrm>
          <a:prstGeom prst="roundRect">
            <a:avLst/>
          </a:prstGeom>
          <a:solidFill>
            <a:srgbClr val="1687DD"/>
          </a:solidFill>
          <a:ln w="9893">
            <a:solidFill>
              <a:srgbClr val="1687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2" name="synthetic-doc-2-fold"/>
          <p:cNvSpPr/>
          <p:nvPr/>
        </p:nvSpPr>
        <p:spPr>
          <a:xfrm>
            <a:off x="9002670" y="3512030"/>
            <a:ext cx="84798" cy="84798"/>
          </a:xfrm>
          <a:custGeom>
            <a:avLst/>
            <a:gdLst/>
            <a:ahLst/>
            <a:cxnLst/>
            <a:rect l="l" t="t" r="r" b="b"/>
            <a:pathLst>
              <a:path w="84798" h="84798">
                <a:moveTo>
                  <a:pt x="0" y="0"/>
                </a:moveTo>
                <a:lnTo>
                  <a:pt x="84798" y="84798"/>
                </a:lnTo>
                <a:lnTo>
                  <a:pt x="0" y="84798"/>
                </a:lnTo>
                <a:close/>
              </a:path>
            </a:pathLst>
          </a:custGeom>
          <a:solidFill>
            <a:srgbClr val="FFFFFF"/>
          </a:solidFill>
          <a:ln w="353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43" name="synthetic-doc-2-line-1-1"/>
          <p:cNvCxnSpPr/>
          <p:nvPr/>
        </p:nvCxnSpPr>
        <p:spPr>
          <a:xfrm>
            <a:off x="8861341" y="3666362"/>
            <a:ext cx="169595" cy="0"/>
          </a:xfrm>
          <a:prstGeom prst="line">
            <a:avLst/>
          </a:prstGeom>
          <a:ln w="14132">
            <a:solidFill>
              <a:srgbClr val="FFFFFF"/>
            </a:solidFill>
          </a:ln>
        </p:spPr>
      </p:cxnSp>
      <p:cxnSp>
        <p:nvCxnSpPr>
          <p:cNvPr id="244" name="synthetic-doc-2-line-2-1"/>
          <p:cNvCxnSpPr/>
          <p:nvPr/>
        </p:nvCxnSpPr>
        <p:spPr>
          <a:xfrm>
            <a:off x="8861341" y="3725155"/>
            <a:ext cx="169595" cy="0"/>
          </a:xfrm>
          <a:prstGeom prst="line">
            <a:avLst/>
          </a:prstGeom>
          <a:ln w="14132">
            <a:solidFill>
              <a:srgbClr val="FFFFFF"/>
            </a:solidFill>
          </a:ln>
        </p:spPr>
      </p:cxnSp>
      <p:cxnSp>
        <p:nvCxnSpPr>
          <p:cNvPr id="245" name="synthetic-doc-2-line-3-1"/>
          <p:cNvCxnSpPr/>
          <p:nvPr/>
        </p:nvCxnSpPr>
        <p:spPr>
          <a:xfrm>
            <a:off x="8861341" y="3776599"/>
            <a:ext cx="169595" cy="0"/>
          </a:xfrm>
          <a:prstGeom prst="line">
            <a:avLst/>
          </a:prstGeom>
          <a:ln w="14132">
            <a:solidFill>
              <a:srgbClr val="FFFFFF"/>
            </a:solidFill>
          </a:ln>
        </p:spPr>
      </p:cxnSp>
      <p:sp>
        <p:nvSpPr>
          <p:cNvPr id="246" name="synthetic-doc-3-page"/>
          <p:cNvSpPr/>
          <p:nvPr/>
        </p:nvSpPr>
        <p:spPr>
          <a:xfrm>
            <a:off x="8606948" y="3943085"/>
            <a:ext cx="282658" cy="367455"/>
          </a:xfrm>
          <a:prstGeom prst="roundRect">
            <a:avLst/>
          </a:prstGeom>
          <a:solidFill>
            <a:srgbClr val="1687DD"/>
          </a:solidFill>
          <a:ln w="9893">
            <a:solidFill>
              <a:srgbClr val="1687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7" name="synthetic-doc-3-fold"/>
          <p:cNvSpPr/>
          <p:nvPr/>
        </p:nvSpPr>
        <p:spPr>
          <a:xfrm>
            <a:off x="8804809" y="3943085"/>
            <a:ext cx="84798" cy="84797"/>
          </a:xfrm>
          <a:custGeom>
            <a:avLst/>
            <a:gdLst/>
            <a:ahLst/>
            <a:cxnLst/>
            <a:rect l="l" t="t" r="r" b="b"/>
            <a:pathLst>
              <a:path w="84798" h="84797">
                <a:moveTo>
                  <a:pt x="0" y="0"/>
                </a:moveTo>
                <a:lnTo>
                  <a:pt x="84798" y="84797"/>
                </a:lnTo>
                <a:lnTo>
                  <a:pt x="0" y="84797"/>
                </a:lnTo>
                <a:close/>
              </a:path>
            </a:pathLst>
          </a:custGeom>
          <a:solidFill>
            <a:srgbClr val="FFFFFF"/>
          </a:solidFill>
          <a:ln w="353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48" name="synthetic-doc-3-line-1-1"/>
          <p:cNvCxnSpPr/>
          <p:nvPr/>
        </p:nvCxnSpPr>
        <p:spPr>
          <a:xfrm>
            <a:off x="8663480" y="4097416"/>
            <a:ext cx="169595" cy="0"/>
          </a:xfrm>
          <a:prstGeom prst="line">
            <a:avLst/>
          </a:prstGeom>
          <a:ln w="14132">
            <a:solidFill>
              <a:srgbClr val="FFFFFF"/>
            </a:solidFill>
          </a:ln>
        </p:spPr>
      </p:cxnSp>
      <p:cxnSp>
        <p:nvCxnSpPr>
          <p:cNvPr id="249" name="synthetic-doc-3-line-2-1"/>
          <p:cNvCxnSpPr/>
          <p:nvPr/>
        </p:nvCxnSpPr>
        <p:spPr>
          <a:xfrm>
            <a:off x="8663480" y="4156209"/>
            <a:ext cx="169595" cy="0"/>
          </a:xfrm>
          <a:prstGeom prst="line">
            <a:avLst/>
          </a:prstGeom>
          <a:ln w="14132">
            <a:solidFill>
              <a:srgbClr val="FFFFFF"/>
            </a:solidFill>
          </a:ln>
        </p:spPr>
      </p:cxnSp>
      <p:cxnSp>
        <p:nvCxnSpPr>
          <p:cNvPr id="250" name="synthetic-doc-3-line-3-1"/>
          <p:cNvCxnSpPr/>
          <p:nvPr/>
        </p:nvCxnSpPr>
        <p:spPr>
          <a:xfrm>
            <a:off x="8663480" y="4207653"/>
            <a:ext cx="169595" cy="0"/>
          </a:xfrm>
          <a:prstGeom prst="line">
            <a:avLst/>
          </a:prstGeom>
          <a:ln w="14132">
            <a:solidFill>
              <a:srgbClr val="FFFFFF"/>
            </a:solidFill>
          </a:ln>
        </p:spPr>
      </p:cxnSp>
      <p:sp>
        <p:nvSpPr>
          <p:cNvPr id="251" name="synthetic-label"/>
          <p:cNvSpPr txBox="1"/>
          <p:nvPr/>
        </p:nvSpPr>
        <p:spPr>
          <a:xfrm>
            <a:off x="8197094" y="4374139"/>
            <a:ext cx="1095301" cy="409854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9" b="0" i="0">
                <a:solidFill>
                  <a:srgbClr val="000000"/>
                </a:solidFill>
                <a:latin typeface="Liberation Sans"/>
              </a:rPr>
              <a:t>Synthetic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9" b="0" i="0">
                <a:solidFill>
                  <a:srgbClr val="000000"/>
                </a:solidFill>
                <a:latin typeface="Liberation Sans"/>
              </a:rPr>
              <a:t>CoT Dataset</a:t>
            </a:r>
          </a:p>
        </p:txBody>
      </p:sp>
      <p:sp>
        <p:nvSpPr>
          <p:cNvPr id="252" name="sft-label"/>
          <p:cNvSpPr txBox="1"/>
          <p:nvPr/>
        </p:nvSpPr>
        <p:spPr>
          <a:xfrm>
            <a:off x="9235863" y="3702825"/>
            <a:ext cx="317990" cy="211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9" b="0" i="0">
                <a:solidFill>
                  <a:srgbClr val="000000"/>
                </a:solidFill>
                <a:latin typeface="Liberation Sans"/>
              </a:rPr>
              <a:t>SFT</a:t>
            </a:r>
          </a:p>
        </p:txBody>
      </p:sp>
      <p:cxnSp>
        <p:nvCxnSpPr>
          <p:cNvPr id="253" name="dataset-to-llm-1"/>
          <p:cNvCxnSpPr/>
          <p:nvPr/>
        </p:nvCxnSpPr>
        <p:spPr>
          <a:xfrm>
            <a:off x="9207598" y="3872420"/>
            <a:ext cx="353323" cy="0"/>
          </a:xfrm>
          <a:prstGeom prst="line">
            <a:avLst/>
          </a:prstGeom>
          <a:ln w="16959">
            <a:solidFill>
              <a:srgbClr val="0B1114"/>
            </a:solidFill>
            <a:tailEnd type="triangle" w="sm" len="sm"/>
          </a:ln>
        </p:spPr>
      </p:cxnSp>
      <p:sp>
        <p:nvSpPr>
          <p:cNvPr id="254" name="stage2-llm"/>
          <p:cNvSpPr/>
          <p:nvPr/>
        </p:nvSpPr>
        <p:spPr>
          <a:xfrm>
            <a:off x="9560921" y="3377768"/>
            <a:ext cx="346256" cy="989304"/>
          </a:xfrm>
          <a:prstGeom prst="roundRect">
            <a:avLst/>
          </a:prstGeom>
          <a:solidFill>
            <a:srgbClr val="FFF4E3"/>
          </a:solidFill>
          <a:ln w="19079">
            <a:solidFill>
              <a:srgbClr val="17323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5" name="stage2-llm-text"/>
          <p:cNvSpPr txBox="1"/>
          <p:nvPr/>
        </p:nvSpPr>
        <p:spPr>
          <a:xfrm rot="16200000">
            <a:off x="9589187" y="3455499"/>
            <a:ext cx="289724" cy="73491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7" b="0" i="0">
                <a:solidFill>
                  <a:srgbClr val="000000"/>
                </a:solidFill>
                <a:latin typeface="Liberation Sans"/>
              </a:rPr>
              <a:t>LLM</a:t>
            </a:r>
          </a:p>
        </p:txBody>
      </p:sp>
      <p:sp>
        <p:nvSpPr>
          <p:cNvPr id="256" name="stage2-flame"/>
          <p:cNvSpPr/>
          <p:nvPr/>
        </p:nvSpPr>
        <p:spPr>
          <a:xfrm>
            <a:off x="9673136" y="4140945"/>
            <a:ext cx="132284" cy="211994"/>
          </a:xfrm>
          <a:custGeom>
            <a:avLst/>
            <a:gdLst/>
            <a:ahLst/>
            <a:cxnLst/>
            <a:rect l="l" t="t" r="r" b="b"/>
            <a:pathLst>
              <a:path w="132284" h="211994">
                <a:moveTo>
                  <a:pt x="64446" y="211994"/>
                </a:moveTo>
                <a:lnTo>
                  <a:pt x="0" y="169595"/>
                </a:lnTo>
                <a:lnTo>
                  <a:pt x="22047" y="95398"/>
                </a:lnTo>
                <a:lnTo>
                  <a:pt x="52575" y="0"/>
                </a:lnTo>
                <a:lnTo>
                  <a:pt x="79710" y="91158"/>
                </a:lnTo>
                <a:lnTo>
                  <a:pt x="111933" y="50879"/>
                </a:lnTo>
                <a:lnTo>
                  <a:pt x="132284" y="137796"/>
                </a:lnTo>
                <a:lnTo>
                  <a:pt x="106845" y="190795"/>
                </a:lnTo>
                <a:close/>
              </a:path>
            </a:pathLst>
          </a:custGeom>
          <a:solidFill>
            <a:srgbClr val="FF512F"/>
          </a:solidFill>
          <a:ln w="5080">
            <a:solidFill>
              <a:srgbClr val="FF512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7" name="stage2-output"/>
          <p:cNvSpPr/>
          <p:nvPr/>
        </p:nvSpPr>
        <p:spPr>
          <a:xfrm>
            <a:off x="9984908" y="3377768"/>
            <a:ext cx="3575629" cy="1003437"/>
          </a:xfrm>
          <a:prstGeom prst="roundRect">
            <a:avLst/>
          </a:prstGeom>
          <a:solidFill>
            <a:srgbClr val="F5F6F7"/>
          </a:solidFill>
          <a:ln w="19079">
            <a:solidFill>
              <a:srgbClr val="17323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8" name="stage2-output-doc-page"/>
          <p:cNvSpPr/>
          <p:nvPr/>
        </p:nvSpPr>
        <p:spPr>
          <a:xfrm>
            <a:off x="10069706" y="3483765"/>
            <a:ext cx="282658" cy="367455"/>
          </a:xfrm>
          <a:prstGeom prst="roundRect">
            <a:avLst/>
          </a:prstGeom>
          <a:solidFill>
            <a:srgbClr val="1687DD"/>
          </a:solidFill>
          <a:ln w="9893">
            <a:solidFill>
              <a:srgbClr val="1687D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9" name="stage2-output-doc-fold"/>
          <p:cNvSpPr/>
          <p:nvPr/>
        </p:nvSpPr>
        <p:spPr>
          <a:xfrm>
            <a:off x="10267567" y="3483765"/>
            <a:ext cx="84797" cy="84797"/>
          </a:xfrm>
          <a:custGeom>
            <a:avLst/>
            <a:gdLst/>
            <a:ahLst/>
            <a:cxnLst/>
            <a:rect l="l" t="t" r="r" b="b"/>
            <a:pathLst>
              <a:path w="84797" h="84797">
                <a:moveTo>
                  <a:pt x="0" y="0"/>
                </a:moveTo>
                <a:lnTo>
                  <a:pt x="84797" y="84797"/>
                </a:lnTo>
                <a:lnTo>
                  <a:pt x="0" y="84797"/>
                </a:lnTo>
                <a:close/>
              </a:path>
            </a:pathLst>
          </a:custGeom>
          <a:solidFill>
            <a:srgbClr val="FFFFFF"/>
          </a:solidFill>
          <a:ln w="3533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60" name="stage2-output-doc-line-1-1"/>
          <p:cNvCxnSpPr/>
          <p:nvPr/>
        </p:nvCxnSpPr>
        <p:spPr>
          <a:xfrm>
            <a:off x="10126238" y="3638096"/>
            <a:ext cx="169595" cy="0"/>
          </a:xfrm>
          <a:prstGeom prst="line">
            <a:avLst/>
          </a:prstGeom>
          <a:ln w="14132">
            <a:solidFill>
              <a:srgbClr val="FFFFFF"/>
            </a:solidFill>
          </a:ln>
        </p:spPr>
      </p:cxnSp>
      <p:cxnSp>
        <p:nvCxnSpPr>
          <p:cNvPr id="261" name="stage2-output-doc-line-2-1"/>
          <p:cNvCxnSpPr/>
          <p:nvPr/>
        </p:nvCxnSpPr>
        <p:spPr>
          <a:xfrm>
            <a:off x="10126238" y="3696889"/>
            <a:ext cx="169595" cy="0"/>
          </a:xfrm>
          <a:prstGeom prst="line">
            <a:avLst/>
          </a:prstGeom>
          <a:ln w="14132">
            <a:solidFill>
              <a:srgbClr val="FFFFFF"/>
            </a:solidFill>
          </a:ln>
        </p:spPr>
      </p:cxnSp>
      <p:cxnSp>
        <p:nvCxnSpPr>
          <p:cNvPr id="262" name="stage2-output-doc-line-3-1"/>
          <p:cNvCxnSpPr/>
          <p:nvPr/>
        </p:nvCxnSpPr>
        <p:spPr>
          <a:xfrm>
            <a:off x="10126238" y="3748333"/>
            <a:ext cx="169595" cy="0"/>
          </a:xfrm>
          <a:prstGeom prst="line">
            <a:avLst/>
          </a:prstGeom>
          <a:ln w="14132">
            <a:solidFill>
              <a:srgbClr val="FFFFFF"/>
            </a:solidFill>
          </a:ln>
        </p:spPr>
      </p:cxnSp>
      <p:sp>
        <p:nvSpPr>
          <p:cNvPr id="263" name="stage2-output-text"/>
          <p:cNvSpPr txBox="1"/>
          <p:nvPr/>
        </p:nvSpPr>
        <p:spPr>
          <a:xfrm>
            <a:off x="10331165" y="3434299"/>
            <a:ext cx="3144574" cy="883307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 i="0">
                <a:solidFill>
                  <a:srgbClr val="000000"/>
                </a:solidFill>
                <a:latin typeface="Liberation Sans"/>
              </a:rPr>
              <a:t>· (1): Retrieval result speculation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 i="0">
                <a:solidFill>
                  <a:srgbClr val="000000"/>
                </a:solidFill>
                <a:latin typeface="Liberation Sans"/>
              </a:rPr>
              <a:t>· (2): Quick verification for negative samples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 i="0">
                <a:solidFill>
                  <a:srgbClr val="000000"/>
                </a:solidFill>
                <a:latin typeface="Liberation Sans"/>
              </a:rPr>
              <a:t>(3): Refined verification for positive samples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24" b="0" i="0">
                <a:solidFill>
                  <a:srgbClr val="000000"/>
                </a:solidFill>
                <a:latin typeface="Liberation Sans"/>
              </a:rPr>
              <a:t>(4): Retrieval result generation</a:t>
            </a:r>
          </a:p>
        </p:txBody>
      </p:sp>
      <p:sp>
        <p:nvSpPr>
          <p:cNvPr id="264" name="stage3-title"/>
          <p:cNvSpPr txBox="1"/>
          <p:nvPr/>
        </p:nvSpPr>
        <p:spPr>
          <a:xfrm>
            <a:off x="7391517" y="4861724"/>
            <a:ext cx="5582503" cy="268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3" b="0" i="0">
                <a:solidFill>
                  <a:srgbClr val="000000"/>
                </a:solidFill>
                <a:latin typeface="Liberation Sans"/>
              </a:rPr>
              <a:t>Stage 3: RL with Curriculum Reward for Enhancement</a:t>
            </a:r>
          </a:p>
        </p:txBody>
      </p:sp>
      <p:sp>
        <p:nvSpPr>
          <p:cNvPr id="265" name="stage3-llm"/>
          <p:cNvSpPr/>
          <p:nvPr/>
        </p:nvSpPr>
        <p:spPr>
          <a:xfrm>
            <a:off x="7440982" y="5229180"/>
            <a:ext cx="339190" cy="1293162"/>
          </a:xfrm>
          <a:prstGeom prst="roundRect">
            <a:avLst/>
          </a:prstGeom>
          <a:solidFill>
            <a:srgbClr val="FFF4E3"/>
          </a:solidFill>
          <a:ln w="19079">
            <a:solidFill>
              <a:srgbClr val="17323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6" name="stage3-llm-text"/>
          <p:cNvSpPr txBox="1"/>
          <p:nvPr/>
        </p:nvSpPr>
        <p:spPr>
          <a:xfrm rot="16200000">
            <a:off x="7469248" y="5342244"/>
            <a:ext cx="282658" cy="93983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57" b="0" i="0">
                <a:solidFill>
                  <a:srgbClr val="000000"/>
                </a:solidFill>
                <a:latin typeface="Liberation Sans"/>
              </a:rPr>
              <a:t>LLM</a:t>
            </a:r>
          </a:p>
        </p:txBody>
      </p:sp>
      <p:sp>
        <p:nvSpPr>
          <p:cNvPr id="267" name="stage3-flame"/>
          <p:cNvSpPr/>
          <p:nvPr/>
        </p:nvSpPr>
        <p:spPr>
          <a:xfrm>
            <a:off x="7553198" y="6303282"/>
            <a:ext cx="132284" cy="204928"/>
          </a:xfrm>
          <a:custGeom>
            <a:avLst/>
            <a:gdLst/>
            <a:ahLst/>
            <a:cxnLst/>
            <a:rect l="l" t="t" r="r" b="b"/>
            <a:pathLst>
              <a:path w="132284" h="204928">
                <a:moveTo>
                  <a:pt x="64446" y="204928"/>
                </a:moveTo>
                <a:lnTo>
                  <a:pt x="0" y="163942"/>
                </a:lnTo>
                <a:lnTo>
                  <a:pt x="22047" y="92218"/>
                </a:lnTo>
                <a:lnTo>
                  <a:pt x="52574" y="0"/>
                </a:lnTo>
                <a:lnTo>
                  <a:pt x="79710" y="88119"/>
                </a:lnTo>
                <a:lnTo>
                  <a:pt x="111933" y="49183"/>
                </a:lnTo>
                <a:lnTo>
                  <a:pt x="132284" y="133203"/>
                </a:lnTo>
                <a:lnTo>
                  <a:pt x="106845" y="184435"/>
                </a:lnTo>
                <a:close/>
              </a:path>
            </a:pathLst>
          </a:custGeom>
          <a:solidFill>
            <a:srgbClr val="FF512F"/>
          </a:solidFill>
          <a:ln w="5080">
            <a:solidFill>
              <a:srgbClr val="FF512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68" name="llm-to-rollout-1"/>
          <p:cNvCxnSpPr/>
          <p:nvPr/>
        </p:nvCxnSpPr>
        <p:spPr>
          <a:xfrm>
            <a:off x="7780173" y="5865162"/>
            <a:ext cx="211993" cy="0"/>
          </a:xfrm>
          <a:prstGeom prst="line">
            <a:avLst/>
          </a:prstGeom>
          <a:ln w="16959">
            <a:solidFill>
              <a:srgbClr val="0B1114"/>
            </a:solidFill>
            <a:tailEnd type="triangle" w="sm" len="sm"/>
          </a:ln>
        </p:spPr>
      </p:cxnSp>
      <p:sp>
        <p:nvSpPr>
          <p:cNvPr id="269" name="rollout-group"/>
          <p:cNvSpPr/>
          <p:nvPr/>
        </p:nvSpPr>
        <p:spPr>
          <a:xfrm>
            <a:off x="7992166" y="5229180"/>
            <a:ext cx="572383" cy="1293162"/>
          </a:xfrm>
          <a:prstGeom prst="rect">
            <a:avLst/>
          </a:prstGeom>
          <a:solidFill>
            <a:srgbClr val="F3F3F1"/>
          </a:solidFill>
          <a:ln w="21199">
            <a:solidFill>
              <a:srgbClr val="7A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0" name="rollout-o-1"/>
          <p:cNvSpPr/>
          <p:nvPr/>
        </p:nvSpPr>
        <p:spPr>
          <a:xfrm>
            <a:off x="8048698" y="5313978"/>
            <a:ext cx="445187" cy="261459"/>
          </a:xfrm>
          <a:prstGeom prst="roundRect">
            <a:avLst/>
          </a:prstGeom>
          <a:solidFill>
            <a:srgbClr val="FFFFFF"/>
          </a:solidFill>
          <a:ln w="17666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1" name="rollout-o-1-text"/>
          <p:cNvSpPr txBox="1"/>
          <p:nvPr/>
        </p:nvSpPr>
        <p:spPr>
          <a:xfrm>
            <a:off x="8204160" y="5321044"/>
            <a:ext cx="101050" cy="2296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6" b="0" i="1">
                <a:solidFill>
                  <a:srgbClr val="000000"/>
                </a:solidFill>
                <a:latin typeface="Liberation Serif"/>
              </a:rPr>
              <a:t>o</a:t>
            </a:r>
          </a:p>
        </p:txBody>
      </p:sp>
      <p:sp>
        <p:nvSpPr>
          <p:cNvPr id="272" name="rollout-o-1-text-sub"/>
          <p:cNvSpPr txBox="1"/>
          <p:nvPr/>
        </p:nvSpPr>
        <p:spPr>
          <a:xfrm>
            <a:off x="8298144" y="5416583"/>
            <a:ext cx="169595" cy="1377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1">
                <a:solidFill>
                  <a:srgbClr val="000000"/>
                </a:solidFill>
                <a:latin typeface="Liberation Serif"/>
              </a:rPr>
              <a:t>1</a:t>
            </a:r>
          </a:p>
        </p:txBody>
      </p:sp>
      <p:sp>
        <p:nvSpPr>
          <p:cNvPr id="273" name="rollout-o-2"/>
          <p:cNvSpPr/>
          <p:nvPr/>
        </p:nvSpPr>
        <p:spPr>
          <a:xfrm>
            <a:off x="8048698" y="5653168"/>
            <a:ext cx="445187" cy="261459"/>
          </a:xfrm>
          <a:prstGeom prst="roundRect">
            <a:avLst/>
          </a:prstGeom>
          <a:solidFill>
            <a:srgbClr val="FFFFFF"/>
          </a:solidFill>
          <a:ln w="17666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4" name="rollout-o-2-text"/>
          <p:cNvSpPr txBox="1"/>
          <p:nvPr/>
        </p:nvSpPr>
        <p:spPr>
          <a:xfrm>
            <a:off x="8204160" y="5660234"/>
            <a:ext cx="101050" cy="2296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6" b="0" i="1">
                <a:solidFill>
                  <a:srgbClr val="000000"/>
                </a:solidFill>
                <a:latin typeface="Liberation Serif"/>
              </a:rPr>
              <a:t>o</a:t>
            </a:r>
          </a:p>
        </p:txBody>
      </p:sp>
      <p:sp>
        <p:nvSpPr>
          <p:cNvPr id="275" name="rollout-o-2-text-sub"/>
          <p:cNvSpPr txBox="1"/>
          <p:nvPr/>
        </p:nvSpPr>
        <p:spPr>
          <a:xfrm>
            <a:off x="8298144" y="5755773"/>
            <a:ext cx="169595" cy="1377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1">
                <a:solidFill>
                  <a:srgbClr val="000000"/>
                </a:solidFill>
                <a:latin typeface="Liberation Serif"/>
              </a:rPr>
              <a:t>2</a:t>
            </a:r>
          </a:p>
        </p:txBody>
      </p:sp>
      <p:sp>
        <p:nvSpPr>
          <p:cNvPr id="276" name="rollout-o-G"/>
          <p:cNvSpPr/>
          <p:nvPr/>
        </p:nvSpPr>
        <p:spPr>
          <a:xfrm>
            <a:off x="8048698" y="6204352"/>
            <a:ext cx="445187" cy="261459"/>
          </a:xfrm>
          <a:prstGeom prst="roundRect">
            <a:avLst/>
          </a:prstGeom>
          <a:solidFill>
            <a:srgbClr val="FFFFFF"/>
          </a:solidFill>
          <a:ln w="17666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7" name="rollout-o-G-text"/>
          <p:cNvSpPr txBox="1"/>
          <p:nvPr/>
        </p:nvSpPr>
        <p:spPr>
          <a:xfrm>
            <a:off x="8204160" y="6211418"/>
            <a:ext cx="101050" cy="2296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6" b="0" i="1">
                <a:solidFill>
                  <a:srgbClr val="000000"/>
                </a:solidFill>
                <a:latin typeface="Liberation Serif"/>
              </a:rPr>
              <a:t>o</a:t>
            </a:r>
          </a:p>
        </p:txBody>
      </p:sp>
      <p:sp>
        <p:nvSpPr>
          <p:cNvPr id="278" name="rollout-o-G-text-sub"/>
          <p:cNvSpPr txBox="1"/>
          <p:nvPr/>
        </p:nvSpPr>
        <p:spPr>
          <a:xfrm>
            <a:off x="8298144" y="6306957"/>
            <a:ext cx="169595" cy="1377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1">
                <a:solidFill>
                  <a:srgbClr val="000000"/>
                </a:solidFill>
                <a:latin typeface="Liberation Serif"/>
              </a:rPr>
              <a:t>G</a:t>
            </a:r>
          </a:p>
        </p:txBody>
      </p:sp>
      <p:sp>
        <p:nvSpPr>
          <p:cNvPr id="279" name="rollout-ellipsis"/>
          <p:cNvSpPr txBox="1"/>
          <p:nvPr/>
        </p:nvSpPr>
        <p:spPr>
          <a:xfrm>
            <a:off x="8133496" y="5900494"/>
            <a:ext cx="275591" cy="1978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1" b="1" i="0">
                <a:solidFill>
                  <a:srgbClr val="000000"/>
                </a:solidFill>
                <a:latin typeface="Liberation Sans"/>
              </a:rPr>
              <a:t>...</a:t>
            </a:r>
          </a:p>
        </p:txBody>
      </p:sp>
      <p:sp>
        <p:nvSpPr>
          <p:cNvPr id="280" name="rollout-label"/>
          <p:cNvSpPr txBox="1"/>
          <p:nvPr/>
        </p:nvSpPr>
        <p:spPr>
          <a:xfrm>
            <a:off x="7893236" y="6543542"/>
            <a:ext cx="826775" cy="219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5" b="0" i="0">
                <a:solidFill>
                  <a:srgbClr val="000000"/>
                </a:solidFill>
                <a:latin typeface="Liberation Sans"/>
              </a:rPr>
              <a:t>Rollout</a:t>
            </a:r>
          </a:p>
        </p:txBody>
      </p:sp>
      <p:cxnSp>
        <p:nvCxnSpPr>
          <p:cNvPr id="281" name="rollout-to-reward-calc-1"/>
          <p:cNvCxnSpPr/>
          <p:nvPr/>
        </p:nvCxnSpPr>
        <p:spPr>
          <a:xfrm>
            <a:off x="8564550" y="5865162"/>
            <a:ext cx="197861" cy="0"/>
          </a:xfrm>
          <a:prstGeom prst="line">
            <a:avLst/>
          </a:prstGeom>
          <a:ln w="16959">
            <a:solidFill>
              <a:srgbClr val="0B1114"/>
            </a:solidFill>
            <a:tailEnd type="triangle" w="sm" len="sm"/>
          </a:ln>
        </p:spPr>
      </p:cxnSp>
      <p:sp>
        <p:nvSpPr>
          <p:cNvPr id="282" name="reward-calc"/>
          <p:cNvSpPr/>
          <p:nvPr/>
        </p:nvSpPr>
        <p:spPr>
          <a:xfrm>
            <a:off x="8762411" y="5222114"/>
            <a:ext cx="2727653" cy="1300228"/>
          </a:xfrm>
          <a:prstGeom prst="roundRect">
            <a:avLst/>
          </a:prstGeom>
          <a:solidFill>
            <a:srgbClr val="F7F7F7"/>
          </a:solidFill>
          <a:ln w="1907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3" name="reward-title"/>
          <p:cNvSpPr txBox="1"/>
          <p:nvPr/>
        </p:nvSpPr>
        <p:spPr>
          <a:xfrm>
            <a:off x="9242930" y="5271579"/>
            <a:ext cx="1752482" cy="211993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6" b="1" i="0">
                <a:solidFill>
                  <a:srgbClr val="000000"/>
                </a:solidFill>
                <a:latin typeface="Liberation Sans"/>
              </a:rPr>
              <a:t>Reward Calculation</a:t>
            </a:r>
          </a:p>
        </p:txBody>
      </p:sp>
      <p:sp>
        <p:nvSpPr>
          <p:cNvPr id="284" name="reward-format-label"/>
          <p:cNvSpPr txBox="1"/>
          <p:nvPr/>
        </p:nvSpPr>
        <p:spPr>
          <a:xfrm>
            <a:off x="8903740" y="5582503"/>
            <a:ext cx="777310" cy="219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9" b="0" i="0">
                <a:solidFill>
                  <a:srgbClr val="000000"/>
                </a:solidFill>
                <a:latin typeface="Liberation Sans"/>
              </a:rPr>
              <a:t>Format</a:t>
            </a:r>
          </a:p>
        </p:txBody>
      </p:sp>
      <p:sp>
        <p:nvSpPr>
          <p:cNvPr id="285" name="reward-result-label"/>
          <p:cNvSpPr txBox="1"/>
          <p:nvPr/>
        </p:nvSpPr>
        <p:spPr>
          <a:xfrm>
            <a:off x="9765848" y="5582503"/>
            <a:ext cx="777310" cy="219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9" b="0" i="0">
                <a:solidFill>
                  <a:srgbClr val="000000"/>
                </a:solidFill>
                <a:latin typeface="Liberation Sans"/>
              </a:rPr>
              <a:t>Result</a:t>
            </a:r>
          </a:p>
        </p:txBody>
      </p:sp>
      <p:sp>
        <p:nvSpPr>
          <p:cNvPr id="286" name="reward-efficiency-label"/>
          <p:cNvSpPr txBox="1"/>
          <p:nvPr/>
        </p:nvSpPr>
        <p:spPr>
          <a:xfrm>
            <a:off x="10606757" y="5582503"/>
            <a:ext cx="791443" cy="219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79" b="0" i="0">
                <a:solidFill>
                  <a:srgbClr val="000000"/>
                </a:solidFill>
                <a:latin typeface="Liberation Sans"/>
              </a:rPr>
              <a:t>Efficiency</a:t>
            </a:r>
          </a:p>
        </p:txBody>
      </p:sp>
      <p:sp>
        <p:nvSpPr>
          <p:cNvPr id="287" name="format-document"/>
          <p:cNvSpPr/>
          <p:nvPr/>
        </p:nvSpPr>
        <p:spPr>
          <a:xfrm>
            <a:off x="8953205" y="5858095"/>
            <a:ext cx="339190" cy="508785"/>
          </a:xfrm>
          <a:prstGeom prst="roundRect">
            <a:avLst/>
          </a:prstGeom>
          <a:solidFill>
            <a:srgbClr val="FFF5DC"/>
          </a:solidFill>
          <a:ln w="14839">
            <a:solidFill>
              <a:srgbClr val="7A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8" name="format-fold"/>
          <p:cNvSpPr/>
          <p:nvPr/>
        </p:nvSpPr>
        <p:spPr>
          <a:xfrm>
            <a:off x="9193465" y="5858095"/>
            <a:ext cx="98930" cy="105997"/>
          </a:xfrm>
          <a:custGeom>
            <a:avLst/>
            <a:gdLst/>
            <a:ahLst/>
            <a:cxnLst/>
            <a:rect l="l" t="t" r="r" b="b"/>
            <a:pathLst>
              <a:path w="98930" h="105997">
                <a:moveTo>
                  <a:pt x="0" y="0"/>
                </a:moveTo>
                <a:lnTo>
                  <a:pt x="98930" y="105997"/>
                </a:lnTo>
                <a:lnTo>
                  <a:pt x="0" y="105997"/>
                </a:lnTo>
                <a:close/>
              </a:path>
            </a:pathLst>
          </a:custGeom>
          <a:solidFill>
            <a:srgbClr val="E8ECE7"/>
          </a:solidFill>
          <a:ln w="10599">
            <a:solidFill>
              <a:srgbClr val="7A7A78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89" name="format-text-0-1"/>
          <p:cNvCxnSpPr/>
          <p:nvPr/>
        </p:nvCxnSpPr>
        <p:spPr>
          <a:xfrm>
            <a:off x="9016803" y="6013557"/>
            <a:ext cx="169595" cy="0"/>
          </a:xfrm>
          <a:prstGeom prst="line">
            <a:avLst/>
          </a:prstGeom>
          <a:ln w="14132">
            <a:solidFill>
              <a:srgbClr val="7A7A78"/>
            </a:solidFill>
          </a:ln>
        </p:spPr>
      </p:cxnSp>
      <p:cxnSp>
        <p:nvCxnSpPr>
          <p:cNvPr id="290" name="format-text-1-1"/>
          <p:cNvCxnSpPr/>
          <p:nvPr/>
        </p:nvCxnSpPr>
        <p:spPr>
          <a:xfrm>
            <a:off x="9016803" y="6084222"/>
            <a:ext cx="169595" cy="0"/>
          </a:xfrm>
          <a:prstGeom prst="line">
            <a:avLst/>
          </a:prstGeom>
          <a:ln w="14132">
            <a:solidFill>
              <a:srgbClr val="7A7A78"/>
            </a:solidFill>
          </a:ln>
        </p:spPr>
      </p:cxnSp>
      <p:cxnSp>
        <p:nvCxnSpPr>
          <p:cNvPr id="291" name="format-text-2-1"/>
          <p:cNvCxnSpPr/>
          <p:nvPr/>
        </p:nvCxnSpPr>
        <p:spPr>
          <a:xfrm>
            <a:off x="9016803" y="6154887"/>
            <a:ext cx="169595" cy="0"/>
          </a:xfrm>
          <a:prstGeom prst="line">
            <a:avLst/>
          </a:prstGeom>
          <a:ln w="14132">
            <a:solidFill>
              <a:srgbClr val="7A7A78"/>
            </a:solidFill>
          </a:ln>
        </p:spPr>
      </p:cxnSp>
      <p:cxnSp>
        <p:nvCxnSpPr>
          <p:cNvPr id="292" name="format-text-3-1"/>
          <p:cNvCxnSpPr/>
          <p:nvPr/>
        </p:nvCxnSpPr>
        <p:spPr>
          <a:xfrm>
            <a:off x="9016803" y="6225551"/>
            <a:ext cx="169595" cy="0"/>
          </a:xfrm>
          <a:prstGeom prst="line">
            <a:avLst/>
          </a:prstGeom>
          <a:ln w="14132">
            <a:solidFill>
              <a:srgbClr val="7A7A78"/>
            </a:solidFill>
          </a:ln>
        </p:spPr>
      </p:cxnSp>
      <p:sp>
        <p:nvSpPr>
          <p:cNvPr id="293" name="format-lens"/>
          <p:cNvSpPr/>
          <p:nvPr/>
        </p:nvSpPr>
        <p:spPr>
          <a:xfrm>
            <a:off x="9144000" y="6140754"/>
            <a:ext cx="296791" cy="296791"/>
          </a:xfrm>
          <a:prstGeom prst="ellipse">
            <a:avLst/>
          </a:prstGeom>
          <a:solidFill>
            <a:srgbClr val="72B7AD"/>
          </a:solidFill>
          <a:ln w="16959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294" name="format-handle-1"/>
          <p:cNvCxnSpPr/>
          <p:nvPr/>
        </p:nvCxnSpPr>
        <p:spPr>
          <a:xfrm>
            <a:off x="9355993" y="6388080"/>
            <a:ext cx="91864" cy="91864"/>
          </a:xfrm>
          <a:prstGeom prst="line">
            <a:avLst/>
          </a:prstGeom>
          <a:ln w="35332">
            <a:solidFill>
              <a:srgbClr val="0B1114"/>
            </a:solidFill>
          </a:ln>
        </p:spPr>
      </p:cxnSp>
      <p:cxnSp>
        <p:nvCxnSpPr>
          <p:cNvPr id="295" name="format-check-1"/>
          <p:cNvCxnSpPr/>
          <p:nvPr/>
        </p:nvCxnSpPr>
        <p:spPr>
          <a:xfrm>
            <a:off x="9221731" y="6282083"/>
            <a:ext cx="56531" cy="56532"/>
          </a:xfrm>
          <a:prstGeom prst="line">
            <a:avLst/>
          </a:prstGeom>
          <a:ln w="24732">
            <a:solidFill>
              <a:srgbClr val="FFF4DA"/>
            </a:solidFill>
          </a:ln>
        </p:spPr>
      </p:cxnSp>
      <p:cxnSp>
        <p:nvCxnSpPr>
          <p:cNvPr id="296" name="format-check-2"/>
          <p:cNvCxnSpPr/>
          <p:nvPr/>
        </p:nvCxnSpPr>
        <p:spPr>
          <a:xfrm flipV="1">
            <a:off x="9278262" y="6239684"/>
            <a:ext cx="77731" cy="98931"/>
          </a:xfrm>
          <a:prstGeom prst="line">
            <a:avLst/>
          </a:prstGeom>
          <a:ln w="24732">
            <a:solidFill>
              <a:srgbClr val="FFF4DA"/>
            </a:solidFill>
          </a:ln>
        </p:spPr>
      </p:cxnSp>
      <p:sp>
        <p:nvSpPr>
          <p:cNvPr id="297" name="result-photo-0"/>
          <p:cNvSpPr/>
          <p:nvPr/>
        </p:nvSpPr>
        <p:spPr>
          <a:xfrm>
            <a:off x="9850646" y="5900494"/>
            <a:ext cx="211993" cy="176661"/>
          </a:xfrm>
          <a:prstGeom prst="rect">
            <a:avLst/>
          </a:prstGeom>
          <a:solidFill>
            <a:srgbClr val="DCE9ED"/>
          </a:solidFill>
          <a:ln w="10599">
            <a:solidFill>
              <a:srgbClr val="7A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8" name="result-mountain-0"/>
          <p:cNvSpPr/>
          <p:nvPr/>
        </p:nvSpPr>
        <p:spPr>
          <a:xfrm>
            <a:off x="9871845" y="5964092"/>
            <a:ext cx="162529" cy="84798"/>
          </a:xfrm>
          <a:custGeom>
            <a:avLst/>
            <a:gdLst/>
            <a:ahLst/>
            <a:cxnLst/>
            <a:rect l="l" t="t" r="r" b="b"/>
            <a:pathLst>
              <a:path w="162529" h="84798">
                <a:moveTo>
                  <a:pt x="0" y="84798"/>
                </a:moveTo>
                <a:lnTo>
                  <a:pt x="70665" y="0"/>
                </a:lnTo>
                <a:lnTo>
                  <a:pt x="162529" y="84798"/>
                </a:lnTo>
                <a:close/>
              </a:path>
            </a:pathLst>
          </a:custGeom>
          <a:solidFill>
            <a:srgbClr val="7D9EAC"/>
          </a:solidFill>
          <a:ln w="7066">
            <a:solidFill>
              <a:srgbClr val="7D9E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9" name="result-sun-0"/>
          <p:cNvSpPr/>
          <p:nvPr/>
        </p:nvSpPr>
        <p:spPr>
          <a:xfrm>
            <a:off x="9893044" y="5935826"/>
            <a:ext cx="35332" cy="35332"/>
          </a:xfrm>
          <a:prstGeom prst="ellipse">
            <a:avLst/>
          </a:prstGeom>
          <a:solidFill>
            <a:srgbClr val="D0B459"/>
          </a:solidFill>
          <a:ln w="7066">
            <a:solidFill>
              <a:srgbClr val="D0B4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0" name="result-photo-1"/>
          <p:cNvSpPr/>
          <p:nvPr/>
        </p:nvSpPr>
        <p:spPr>
          <a:xfrm>
            <a:off x="10119171" y="5900494"/>
            <a:ext cx="211993" cy="176661"/>
          </a:xfrm>
          <a:prstGeom prst="rect">
            <a:avLst/>
          </a:prstGeom>
          <a:solidFill>
            <a:srgbClr val="DCE9ED"/>
          </a:solidFill>
          <a:ln w="10599">
            <a:solidFill>
              <a:srgbClr val="7A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1" name="result-mountain-1"/>
          <p:cNvSpPr/>
          <p:nvPr/>
        </p:nvSpPr>
        <p:spPr>
          <a:xfrm>
            <a:off x="10140370" y="5964092"/>
            <a:ext cx="162529" cy="84798"/>
          </a:xfrm>
          <a:custGeom>
            <a:avLst/>
            <a:gdLst/>
            <a:ahLst/>
            <a:cxnLst/>
            <a:rect l="l" t="t" r="r" b="b"/>
            <a:pathLst>
              <a:path w="162529" h="84798">
                <a:moveTo>
                  <a:pt x="0" y="84798"/>
                </a:moveTo>
                <a:lnTo>
                  <a:pt x="70665" y="0"/>
                </a:lnTo>
                <a:lnTo>
                  <a:pt x="162529" y="84798"/>
                </a:lnTo>
                <a:close/>
              </a:path>
            </a:pathLst>
          </a:custGeom>
          <a:solidFill>
            <a:srgbClr val="7D9EAC"/>
          </a:solidFill>
          <a:ln w="7066">
            <a:solidFill>
              <a:srgbClr val="7D9E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2" name="result-sun-1"/>
          <p:cNvSpPr/>
          <p:nvPr/>
        </p:nvSpPr>
        <p:spPr>
          <a:xfrm>
            <a:off x="10161570" y="5935826"/>
            <a:ext cx="35332" cy="35332"/>
          </a:xfrm>
          <a:prstGeom prst="ellipse">
            <a:avLst/>
          </a:prstGeom>
          <a:solidFill>
            <a:srgbClr val="D0B459"/>
          </a:solidFill>
          <a:ln w="7066">
            <a:solidFill>
              <a:srgbClr val="D0B4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3" name="result-photo-2"/>
          <p:cNvSpPr/>
          <p:nvPr/>
        </p:nvSpPr>
        <p:spPr>
          <a:xfrm>
            <a:off x="9850646" y="6140754"/>
            <a:ext cx="211993" cy="176661"/>
          </a:xfrm>
          <a:prstGeom prst="rect">
            <a:avLst/>
          </a:prstGeom>
          <a:solidFill>
            <a:srgbClr val="DCE9ED"/>
          </a:solidFill>
          <a:ln w="10599">
            <a:solidFill>
              <a:srgbClr val="7A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4" name="result-mountain-2"/>
          <p:cNvSpPr/>
          <p:nvPr/>
        </p:nvSpPr>
        <p:spPr>
          <a:xfrm>
            <a:off x="9871845" y="6204352"/>
            <a:ext cx="162529" cy="84797"/>
          </a:xfrm>
          <a:custGeom>
            <a:avLst/>
            <a:gdLst/>
            <a:ahLst/>
            <a:cxnLst/>
            <a:rect l="l" t="t" r="r" b="b"/>
            <a:pathLst>
              <a:path w="162529" h="84797">
                <a:moveTo>
                  <a:pt x="0" y="84797"/>
                </a:moveTo>
                <a:lnTo>
                  <a:pt x="70665" y="0"/>
                </a:lnTo>
                <a:lnTo>
                  <a:pt x="162529" y="84797"/>
                </a:lnTo>
                <a:close/>
              </a:path>
            </a:pathLst>
          </a:custGeom>
          <a:solidFill>
            <a:srgbClr val="7D9EAC"/>
          </a:solidFill>
          <a:ln w="7066">
            <a:solidFill>
              <a:srgbClr val="7D9E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5" name="result-sun-2"/>
          <p:cNvSpPr/>
          <p:nvPr/>
        </p:nvSpPr>
        <p:spPr>
          <a:xfrm>
            <a:off x="9893044" y="6176086"/>
            <a:ext cx="35332" cy="35332"/>
          </a:xfrm>
          <a:prstGeom prst="ellipse">
            <a:avLst/>
          </a:prstGeom>
          <a:solidFill>
            <a:srgbClr val="D0B459"/>
          </a:solidFill>
          <a:ln w="7066">
            <a:solidFill>
              <a:srgbClr val="D0B459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6" name="result-photo-3"/>
          <p:cNvSpPr/>
          <p:nvPr/>
        </p:nvSpPr>
        <p:spPr>
          <a:xfrm>
            <a:off x="10119171" y="6140754"/>
            <a:ext cx="211993" cy="176661"/>
          </a:xfrm>
          <a:prstGeom prst="rect">
            <a:avLst/>
          </a:prstGeom>
          <a:solidFill>
            <a:srgbClr val="DCE9ED"/>
          </a:solidFill>
          <a:ln w="10599">
            <a:solidFill>
              <a:srgbClr val="7A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7" name="result-mountain-3"/>
          <p:cNvSpPr/>
          <p:nvPr/>
        </p:nvSpPr>
        <p:spPr>
          <a:xfrm>
            <a:off x="10140370" y="6204352"/>
            <a:ext cx="162529" cy="84797"/>
          </a:xfrm>
          <a:custGeom>
            <a:avLst/>
            <a:gdLst/>
            <a:ahLst/>
            <a:cxnLst/>
            <a:rect l="l" t="t" r="r" b="b"/>
            <a:pathLst>
              <a:path w="162529" h="84797">
                <a:moveTo>
                  <a:pt x="0" y="84797"/>
                </a:moveTo>
                <a:lnTo>
                  <a:pt x="70665" y="0"/>
                </a:lnTo>
                <a:lnTo>
                  <a:pt x="162529" y="84797"/>
                </a:lnTo>
                <a:close/>
              </a:path>
            </a:pathLst>
          </a:custGeom>
          <a:solidFill>
            <a:srgbClr val="7D9EAC"/>
          </a:solidFill>
          <a:ln w="7066">
            <a:solidFill>
              <a:srgbClr val="7D9EA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8" name="result-sun-3"/>
          <p:cNvSpPr/>
          <p:nvPr/>
        </p:nvSpPr>
        <p:spPr>
          <a:xfrm>
            <a:off x="10161570" y="6176086"/>
            <a:ext cx="35332" cy="35332"/>
          </a:xfrm>
          <a:prstGeom prst="ellipse">
            <a:avLst/>
          </a:prstGeom>
          <a:solidFill>
            <a:srgbClr val="D0B459"/>
          </a:solidFill>
          <a:ln w="7066">
            <a:solidFill>
              <a:srgbClr val="D0B459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09" name="result-cycle-a-1"/>
          <p:cNvCxnSpPr/>
          <p:nvPr/>
        </p:nvCxnSpPr>
        <p:spPr>
          <a:xfrm>
            <a:off x="9949576" y="6359814"/>
            <a:ext cx="77731" cy="56532"/>
          </a:xfrm>
          <a:prstGeom prst="line">
            <a:avLst/>
          </a:prstGeom>
          <a:ln w="14132">
            <a:solidFill>
              <a:srgbClr val="7A7A78"/>
            </a:solidFill>
          </a:ln>
        </p:spPr>
      </p:cxnSp>
      <p:cxnSp>
        <p:nvCxnSpPr>
          <p:cNvPr id="310" name="result-cycle-a-2"/>
          <p:cNvCxnSpPr/>
          <p:nvPr/>
        </p:nvCxnSpPr>
        <p:spPr>
          <a:xfrm flipH="1">
            <a:off x="9949576" y="6416346"/>
            <a:ext cx="77731" cy="35332"/>
          </a:xfrm>
          <a:prstGeom prst="line">
            <a:avLst/>
          </a:prstGeom>
          <a:ln w="14132">
            <a:solidFill>
              <a:srgbClr val="7A7A78"/>
            </a:solidFill>
          </a:ln>
        </p:spPr>
      </p:cxnSp>
      <p:sp>
        <p:nvSpPr>
          <p:cNvPr id="311" name="result-lens"/>
          <p:cNvSpPr/>
          <p:nvPr/>
        </p:nvSpPr>
        <p:spPr>
          <a:xfrm>
            <a:off x="10041440" y="6091289"/>
            <a:ext cx="325057" cy="325057"/>
          </a:xfrm>
          <a:prstGeom prst="ellipse">
            <a:avLst/>
          </a:prstGeom>
          <a:solidFill>
            <a:srgbClr val="FFFFFF"/>
          </a:solidFill>
          <a:ln w="21199">
            <a:solidFill>
              <a:srgbClr val="7A7A78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12" name="result-handle-1"/>
          <p:cNvCxnSpPr/>
          <p:nvPr/>
        </p:nvCxnSpPr>
        <p:spPr>
          <a:xfrm>
            <a:off x="10281700" y="6345681"/>
            <a:ext cx="98930" cy="120130"/>
          </a:xfrm>
          <a:prstGeom prst="line">
            <a:avLst/>
          </a:prstGeom>
          <a:ln w="35332">
            <a:solidFill>
              <a:srgbClr val="7A7A78"/>
            </a:solidFill>
          </a:ln>
        </p:spPr>
      </p:cxnSp>
      <p:sp>
        <p:nvSpPr>
          <p:cNvPr id="313" name="result-focus"/>
          <p:cNvSpPr/>
          <p:nvPr/>
        </p:nvSpPr>
        <p:spPr>
          <a:xfrm>
            <a:off x="10126238" y="6176086"/>
            <a:ext cx="148395" cy="127196"/>
          </a:xfrm>
          <a:prstGeom prst="rect">
            <a:avLst/>
          </a:prstGeom>
          <a:solidFill>
            <a:srgbClr val="DCE9ED"/>
          </a:solidFill>
          <a:ln w="8479">
            <a:solidFill>
              <a:srgbClr val="7A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4" name="eff-device"/>
          <p:cNvSpPr/>
          <p:nvPr/>
        </p:nvSpPr>
        <p:spPr>
          <a:xfrm>
            <a:off x="10741020" y="5872228"/>
            <a:ext cx="275591" cy="487585"/>
          </a:xfrm>
          <a:prstGeom prst="roundRect">
            <a:avLst/>
          </a:prstGeom>
          <a:solidFill>
            <a:srgbClr val="D7E4DB"/>
          </a:solidFill>
          <a:ln w="16252">
            <a:solidFill>
              <a:srgbClr val="7A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5" name="eff-photo-0"/>
          <p:cNvSpPr/>
          <p:nvPr/>
        </p:nvSpPr>
        <p:spPr>
          <a:xfrm>
            <a:off x="10797551" y="5928760"/>
            <a:ext cx="162528" cy="169595"/>
          </a:xfrm>
          <a:prstGeom prst="roundRect">
            <a:avLst/>
          </a:prstGeom>
          <a:solidFill>
            <a:srgbClr val="8EBDB0"/>
          </a:solidFill>
          <a:ln w="8479">
            <a:solidFill>
              <a:srgbClr val="7A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eff-mountain-0"/>
          <p:cNvSpPr/>
          <p:nvPr/>
        </p:nvSpPr>
        <p:spPr>
          <a:xfrm>
            <a:off x="10811684" y="5971159"/>
            <a:ext cx="127196" cy="98930"/>
          </a:xfrm>
          <a:custGeom>
            <a:avLst/>
            <a:gdLst/>
            <a:ahLst/>
            <a:cxnLst/>
            <a:rect l="l" t="t" r="r" b="b"/>
            <a:pathLst>
              <a:path w="127196" h="98930">
                <a:moveTo>
                  <a:pt x="0" y="98930"/>
                </a:moveTo>
                <a:lnTo>
                  <a:pt x="70665" y="0"/>
                </a:lnTo>
                <a:lnTo>
                  <a:pt x="127196" y="98930"/>
                </a:lnTo>
                <a:close/>
              </a:path>
            </a:pathLst>
          </a:custGeom>
          <a:solidFill>
            <a:srgbClr val="477B6F"/>
          </a:solidFill>
          <a:ln w="7066">
            <a:solidFill>
              <a:srgbClr val="477B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7" name="eff-sun-0"/>
          <p:cNvSpPr/>
          <p:nvPr/>
        </p:nvSpPr>
        <p:spPr>
          <a:xfrm>
            <a:off x="10839950" y="5964092"/>
            <a:ext cx="28265" cy="28265"/>
          </a:xfrm>
          <a:prstGeom prst="ellipse">
            <a:avLst/>
          </a:prstGeom>
          <a:solidFill>
            <a:srgbClr val="D6B457"/>
          </a:solidFill>
          <a:ln w="7066">
            <a:solidFill>
              <a:srgbClr val="D6B4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8" name="eff-photo-1"/>
          <p:cNvSpPr/>
          <p:nvPr/>
        </p:nvSpPr>
        <p:spPr>
          <a:xfrm>
            <a:off x="10797551" y="6133687"/>
            <a:ext cx="162528" cy="169595"/>
          </a:xfrm>
          <a:prstGeom prst="roundRect">
            <a:avLst/>
          </a:prstGeom>
          <a:solidFill>
            <a:srgbClr val="8EBDB0"/>
          </a:solidFill>
          <a:ln w="8479">
            <a:solidFill>
              <a:srgbClr val="7A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eff-mountain-1"/>
          <p:cNvSpPr/>
          <p:nvPr/>
        </p:nvSpPr>
        <p:spPr>
          <a:xfrm>
            <a:off x="10811684" y="6176086"/>
            <a:ext cx="127196" cy="98931"/>
          </a:xfrm>
          <a:custGeom>
            <a:avLst/>
            <a:gdLst/>
            <a:ahLst/>
            <a:cxnLst/>
            <a:rect l="l" t="t" r="r" b="b"/>
            <a:pathLst>
              <a:path w="127196" h="98931">
                <a:moveTo>
                  <a:pt x="0" y="98931"/>
                </a:moveTo>
                <a:lnTo>
                  <a:pt x="70665" y="0"/>
                </a:lnTo>
                <a:lnTo>
                  <a:pt x="127196" y="98931"/>
                </a:lnTo>
                <a:close/>
              </a:path>
            </a:pathLst>
          </a:custGeom>
          <a:solidFill>
            <a:srgbClr val="477B6F"/>
          </a:solidFill>
          <a:ln w="7066">
            <a:solidFill>
              <a:srgbClr val="477B6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0" name="eff-sun-1"/>
          <p:cNvSpPr/>
          <p:nvPr/>
        </p:nvSpPr>
        <p:spPr>
          <a:xfrm>
            <a:off x="10839950" y="6169020"/>
            <a:ext cx="28265" cy="28265"/>
          </a:xfrm>
          <a:prstGeom prst="ellipse">
            <a:avLst/>
          </a:prstGeom>
          <a:solidFill>
            <a:srgbClr val="D6B457"/>
          </a:solidFill>
          <a:ln w="7066">
            <a:solidFill>
              <a:srgbClr val="D6B45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1" name="eff-blur-0"/>
          <p:cNvSpPr/>
          <p:nvPr/>
        </p:nvSpPr>
        <p:spPr>
          <a:xfrm>
            <a:off x="11108476" y="5921693"/>
            <a:ext cx="219060" cy="197860"/>
          </a:xfrm>
          <a:prstGeom prst="roundRect">
            <a:avLst/>
          </a:prstGeom>
          <a:solidFill>
            <a:srgbClr val="E7ECE8"/>
          </a:solidFill>
          <a:ln w="7066">
            <a:solidFill>
              <a:srgbClr val="E7ECE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eff-blur-1"/>
          <p:cNvSpPr/>
          <p:nvPr/>
        </p:nvSpPr>
        <p:spPr>
          <a:xfrm>
            <a:off x="11108476" y="6161953"/>
            <a:ext cx="219060" cy="197860"/>
          </a:xfrm>
          <a:prstGeom prst="roundRect">
            <a:avLst/>
          </a:prstGeom>
          <a:solidFill>
            <a:srgbClr val="E7ECE8"/>
          </a:solidFill>
          <a:ln w="7066">
            <a:solidFill>
              <a:srgbClr val="E7ECE8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23" name="reward-calc-to-reward-1"/>
          <p:cNvCxnSpPr/>
          <p:nvPr/>
        </p:nvCxnSpPr>
        <p:spPr>
          <a:xfrm>
            <a:off x="11490064" y="5865162"/>
            <a:ext cx="254393" cy="0"/>
          </a:xfrm>
          <a:prstGeom prst="line">
            <a:avLst/>
          </a:prstGeom>
          <a:ln w="16959">
            <a:solidFill>
              <a:srgbClr val="0B1114"/>
            </a:solidFill>
            <a:tailEnd type="triangle" w="sm" len="sm"/>
          </a:ln>
        </p:spPr>
      </p:cxnSp>
      <p:sp>
        <p:nvSpPr>
          <p:cNvPr id="324" name="reward-group"/>
          <p:cNvSpPr/>
          <p:nvPr/>
        </p:nvSpPr>
        <p:spPr>
          <a:xfrm>
            <a:off x="11744457" y="5229180"/>
            <a:ext cx="565316" cy="1300228"/>
          </a:xfrm>
          <a:prstGeom prst="rect">
            <a:avLst/>
          </a:prstGeom>
          <a:solidFill>
            <a:srgbClr val="F3F3F1"/>
          </a:solidFill>
          <a:ln w="21199">
            <a:solidFill>
              <a:srgbClr val="7A7A78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reward-r-1"/>
          <p:cNvSpPr/>
          <p:nvPr/>
        </p:nvSpPr>
        <p:spPr>
          <a:xfrm>
            <a:off x="11800989" y="5313978"/>
            <a:ext cx="445187" cy="261459"/>
          </a:xfrm>
          <a:prstGeom prst="roundRect">
            <a:avLst/>
          </a:prstGeom>
          <a:solidFill>
            <a:srgbClr val="FFFFFF"/>
          </a:solidFill>
          <a:ln w="17666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reward-r-1-text"/>
          <p:cNvSpPr txBox="1"/>
          <p:nvPr/>
        </p:nvSpPr>
        <p:spPr>
          <a:xfrm>
            <a:off x="11956451" y="5321044"/>
            <a:ext cx="101050" cy="2296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6" b="0" i="1">
                <a:solidFill>
                  <a:srgbClr val="000000"/>
                </a:solidFill>
                <a:latin typeface="Liberation Serif"/>
              </a:rPr>
              <a:t>r</a:t>
            </a:r>
          </a:p>
        </p:txBody>
      </p:sp>
      <p:sp>
        <p:nvSpPr>
          <p:cNvPr id="327" name="reward-r-1-text-sub"/>
          <p:cNvSpPr txBox="1"/>
          <p:nvPr/>
        </p:nvSpPr>
        <p:spPr>
          <a:xfrm>
            <a:off x="12050435" y="5416583"/>
            <a:ext cx="169595" cy="1377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1">
                <a:solidFill>
                  <a:srgbClr val="000000"/>
                </a:solidFill>
                <a:latin typeface="Liberation Serif"/>
              </a:rPr>
              <a:t>1</a:t>
            </a:r>
          </a:p>
        </p:txBody>
      </p:sp>
      <p:sp>
        <p:nvSpPr>
          <p:cNvPr id="328" name="reward-r-2"/>
          <p:cNvSpPr/>
          <p:nvPr/>
        </p:nvSpPr>
        <p:spPr>
          <a:xfrm>
            <a:off x="11800989" y="5653168"/>
            <a:ext cx="445187" cy="261459"/>
          </a:xfrm>
          <a:prstGeom prst="roundRect">
            <a:avLst/>
          </a:prstGeom>
          <a:solidFill>
            <a:srgbClr val="FFFFFF"/>
          </a:solidFill>
          <a:ln w="17666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9" name="reward-r-2-text"/>
          <p:cNvSpPr txBox="1"/>
          <p:nvPr/>
        </p:nvSpPr>
        <p:spPr>
          <a:xfrm>
            <a:off x="11956451" y="5660234"/>
            <a:ext cx="101050" cy="2296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6" b="0" i="1">
                <a:solidFill>
                  <a:srgbClr val="000000"/>
                </a:solidFill>
                <a:latin typeface="Liberation Serif"/>
              </a:rPr>
              <a:t>r</a:t>
            </a:r>
          </a:p>
        </p:txBody>
      </p:sp>
      <p:sp>
        <p:nvSpPr>
          <p:cNvPr id="330" name="reward-r-2-text-sub"/>
          <p:cNvSpPr txBox="1"/>
          <p:nvPr/>
        </p:nvSpPr>
        <p:spPr>
          <a:xfrm>
            <a:off x="12050435" y="5755773"/>
            <a:ext cx="169595" cy="1377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1">
                <a:solidFill>
                  <a:srgbClr val="000000"/>
                </a:solidFill>
                <a:latin typeface="Liberation Serif"/>
              </a:rPr>
              <a:t>2</a:t>
            </a:r>
          </a:p>
        </p:txBody>
      </p:sp>
      <p:sp>
        <p:nvSpPr>
          <p:cNvPr id="331" name="reward-r-G"/>
          <p:cNvSpPr/>
          <p:nvPr/>
        </p:nvSpPr>
        <p:spPr>
          <a:xfrm>
            <a:off x="11800989" y="6204352"/>
            <a:ext cx="445187" cy="261459"/>
          </a:xfrm>
          <a:prstGeom prst="roundRect">
            <a:avLst/>
          </a:prstGeom>
          <a:solidFill>
            <a:srgbClr val="FFFFFF"/>
          </a:solidFill>
          <a:ln w="17666">
            <a:solidFill>
              <a:srgbClr val="0B111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2" name="reward-r-G-text"/>
          <p:cNvSpPr txBox="1"/>
          <p:nvPr/>
        </p:nvSpPr>
        <p:spPr>
          <a:xfrm>
            <a:off x="11956451" y="6211418"/>
            <a:ext cx="101050" cy="229659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46" b="0" i="1">
                <a:solidFill>
                  <a:srgbClr val="000000"/>
                </a:solidFill>
                <a:latin typeface="Liberation Serif"/>
              </a:rPr>
              <a:t>r</a:t>
            </a:r>
          </a:p>
        </p:txBody>
      </p:sp>
      <p:sp>
        <p:nvSpPr>
          <p:cNvPr id="333" name="reward-r-G-text-sub"/>
          <p:cNvSpPr txBox="1"/>
          <p:nvPr/>
        </p:nvSpPr>
        <p:spPr>
          <a:xfrm>
            <a:off x="12050435" y="6306957"/>
            <a:ext cx="169595" cy="13779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839" b="0" i="1">
                <a:solidFill>
                  <a:srgbClr val="000000"/>
                </a:solidFill>
                <a:latin typeface="Liberation Serif"/>
              </a:rPr>
              <a:t>G</a:t>
            </a:r>
          </a:p>
        </p:txBody>
      </p:sp>
      <p:sp>
        <p:nvSpPr>
          <p:cNvPr id="334" name="reward-ellipsis"/>
          <p:cNvSpPr txBox="1"/>
          <p:nvPr/>
        </p:nvSpPr>
        <p:spPr>
          <a:xfrm>
            <a:off x="11885786" y="5900494"/>
            <a:ext cx="275591" cy="1978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91" b="1" i="0">
                <a:solidFill>
                  <a:srgbClr val="000000"/>
                </a:solidFill>
                <a:latin typeface="Liberation Sans"/>
              </a:rPr>
              <a:t>...</a:t>
            </a:r>
          </a:p>
        </p:txBody>
      </p:sp>
      <p:sp>
        <p:nvSpPr>
          <p:cNvPr id="335" name="reward-label"/>
          <p:cNvSpPr txBox="1"/>
          <p:nvPr/>
        </p:nvSpPr>
        <p:spPr>
          <a:xfrm>
            <a:off x="11673792" y="6543542"/>
            <a:ext cx="734911" cy="21906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35" b="0" i="0">
                <a:solidFill>
                  <a:srgbClr val="000000"/>
                </a:solidFill>
                <a:latin typeface="Liberation Sans"/>
              </a:rPr>
              <a:t>Reward</a:t>
            </a:r>
          </a:p>
        </p:txBody>
      </p:sp>
      <p:cxnSp>
        <p:nvCxnSpPr>
          <p:cNvPr id="336" name="reward-to-grpo-1"/>
          <p:cNvCxnSpPr/>
          <p:nvPr/>
        </p:nvCxnSpPr>
        <p:spPr>
          <a:xfrm>
            <a:off x="12309774" y="5865162"/>
            <a:ext cx="197861" cy="0"/>
          </a:xfrm>
          <a:prstGeom prst="line">
            <a:avLst/>
          </a:prstGeom>
          <a:ln w="16959">
            <a:solidFill>
              <a:srgbClr val="0B1114"/>
            </a:solidFill>
            <a:tailEnd type="triangle" w="sm" len="sm"/>
          </a:ln>
        </p:spPr>
      </p:cxnSp>
      <p:sp>
        <p:nvSpPr>
          <p:cNvPr id="337" name="grpo"/>
          <p:cNvSpPr/>
          <p:nvPr/>
        </p:nvSpPr>
        <p:spPr>
          <a:xfrm>
            <a:off x="12507635" y="5589570"/>
            <a:ext cx="713712" cy="515851"/>
          </a:xfrm>
          <a:prstGeom prst="roundRect">
            <a:avLst/>
          </a:prstGeom>
          <a:solidFill>
            <a:srgbClr val="B6E1E9"/>
          </a:solidFill>
          <a:ln w="19079">
            <a:solidFill>
              <a:srgbClr val="17323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grpo-text"/>
          <p:cNvSpPr txBox="1"/>
          <p:nvPr/>
        </p:nvSpPr>
        <p:spPr>
          <a:xfrm>
            <a:off x="12557100" y="5688500"/>
            <a:ext cx="614782" cy="3179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13" b="0" i="0">
                <a:solidFill>
                  <a:srgbClr val="000000"/>
                </a:solidFill>
                <a:latin typeface="Liberation Sans"/>
              </a:rPr>
              <a:t>GRPO</a:t>
            </a:r>
          </a:p>
        </p:txBody>
      </p:sp>
      <p:cxnSp>
        <p:nvCxnSpPr>
          <p:cNvPr id="339" name="optimization-feedback-1"/>
          <p:cNvCxnSpPr/>
          <p:nvPr/>
        </p:nvCxnSpPr>
        <p:spPr>
          <a:xfrm>
            <a:off x="13221347" y="5843962"/>
            <a:ext cx="268526" cy="0"/>
          </a:xfrm>
          <a:prstGeom prst="line">
            <a:avLst/>
          </a:prstGeom>
          <a:ln w="19079">
            <a:solidFill>
              <a:srgbClr val="0B1114"/>
            </a:solidFill>
          </a:ln>
        </p:spPr>
      </p:cxnSp>
      <p:cxnSp>
        <p:nvCxnSpPr>
          <p:cNvPr id="340" name="optimization-feedback-2"/>
          <p:cNvCxnSpPr/>
          <p:nvPr/>
        </p:nvCxnSpPr>
        <p:spPr>
          <a:xfrm>
            <a:off x="13489873" y="5843962"/>
            <a:ext cx="0" cy="1010504"/>
          </a:xfrm>
          <a:prstGeom prst="line">
            <a:avLst/>
          </a:prstGeom>
          <a:ln w="19079">
            <a:solidFill>
              <a:srgbClr val="0B1114"/>
            </a:solidFill>
          </a:ln>
        </p:spPr>
      </p:cxnSp>
      <p:cxnSp>
        <p:nvCxnSpPr>
          <p:cNvPr id="341" name="optimization-feedback-3"/>
          <p:cNvCxnSpPr/>
          <p:nvPr/>
        </p:nvCxnSpPr>
        <p:spPr>
          <a:xfrm flipH="1">
            <a:off x="7610578" y="6854466"/>
            <a:ext cx="5879295" cy="0"/>
          </a:xfrm>
          <a:prstGeom prst="line">
            <a:avLst/>
          </a:prstGeom>
          <a:ln w="19079">
            <a:solidFill>
              <a:srgbClr val="0B1114"/>
            </a:solidFill>
          </a:ln>
        </p:spPr>
      </p:cxnSp>
      <p:cxnSp>
        <p:nvCxnSpPr>
          <p:cNvPr id="342" name="optimization-feedback-4"/>
          <p:cNvCxnSpPr/>
          <p:nvPr/>
        </p:nvCxnSpPr>
        <p:spPr>
          <a:xfrm flipV="1">
            <a:off x="7610578" y="6522343"/>
            <a:ext cx="0" cy="332123"/>
          </a:xfrm>
          <a:prstGeom prst="line">
            <a:avLst/>
          </a:prstGeom>
          <a:ln w="19079">
            <a:solidFill>
              <a:srgbClr val="0B1114"/>
            </a:solidFill>
            <a:tailEnd type="triangle" w="sm" len="sm"/>
          </a:ln>
        </p:spPr>
      </p:cxnSp>
      <p:sp>
        <p:nvSpPr>
          <p:cNvPr id="343" name="optimize-label"/>
          <p:cNvSpPr txBox="1"/>
          <p:nvPr/>
        </p:nvSpPr>
        <p:spPr>
          <a:xfrm>
            <a:off x="9822380" y="6600074"/>
            <a:ext cx="1766615" cy="268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2" b="0" i="0">
                <a:solidFill>
                  <a:srgbClr val="000000"/>
                </a:solidFill>
                <a:latin typeface="Liberation Sans"/>
              </a:rPr>
              <a:t>Optimize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REFERENCE_IMAGE_DO_NOT_EVALUATE" descr="Retrv-R1 A Reasoning-Driven MLLM Framework for Universal and Efficient Multimodal Retrieval_diagram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3715998" cy="702406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