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70225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0225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238"/>
            <a:ext cx="6677484" cy="4409056"/>
          </a:xfrm>
          <a:prstGeom prst="rect">
            <a:avLst/>
          </a:prstGeom>
          <a:solidFill>
            <a:srgbClr val="F4FAFA"/>
          </a:solidFill>
          <a:ln w="25559">
            <a:solidFill>
              <a:srgbClr val="62D8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87974"/>
            <a:ext cx="6690263" cy="2434565"/>
          </a:xfrm>
          <a:prstGeom prst="rect">
            <a:avLst/>
          </a:prstGeom>
          <a:solidFill>
            <a:srgbClr val="F6FBF0"/>
          </a:solidFill>
          <a:ln w="25559">
            <a:solidFill>
              <a:srgbClr val="258E8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79723" y="108628"/>
            <a:ext cx="5412276" cy="6913911"/>
          </a:xfrm>
          <a:prstGeom prst="rect">
            <a:avLst/>
          </a:prstGeom>
          <a:solidFill>
            <a:srgbClr val="FFF5EA"/>
          </a:solidFill>
          <a:ln w="25559">
            <a:solidFill>
              <a:srgbClr val="C456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1698" y="428125"/>
            <a:ext cx="6255748" cy="3974540"/>
          </a:xfrm>
          <a:prstGeom prst="roundRect">
            <a:avLst>
              <a:gd name="adj" fmla="val 2733"/>
            </a:avLst>
          </a:prstGeom>
          <a:solidFill>
            <a:srgbClr val="F3F8F8"/>
          </a:solidFill>
          <a:ln w="19169">
            <a:solidFill>
              <a:srgbClr val="8D99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5861" y="447295"/>
            <a:ext cx="1431345" cy="1246037"/>
          </a:xfrm>
          <a:prstGeom prst="roundRect">
            <a:avLst>
              <a:gd name="adj" fmla="val 8717"/>
            </a:avLst>
          </a:prstGeom>
          <a:solidFill>
            <a:srgbClr val="FFF0E2"/>
          </a:solidFill>
          <a:ln w="19169">
            <a:solidFill>
              <a:srgbClr val="F7A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57433" y="447295"/>
            <a:ext cx="2178968" cy="1246037"/>
          </a:xfrm>
          <a:prstGeom prst="roundRect">
            <a:avLst>
              <a:gd name="adj" fmla="val 8717"/>
            </a:avLst>
          </a:prstGeom>
          <a:solidFill>
            <a:srgbClr val="DCE6F6"/>
          </a:solidFill>
          <a:ln w="19169">
            <a:solidFill>
              <a:srgbClr val="9EA4A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5861" y="1795572"/>
            <a:ext cx="4607144" cy="1079899"/>
          </a:xfrm>
          <a:prstGeom prst="roundRect">
            <a:avLst>
              <a:gd name="adj" fmla="val 9467"/>
            </a:avLst>
          </a:prstGeom>
          <a:solidFill>
            <a:srgbClr val="F1F1F1"/>
          </a:solidFill>
          <a:ln w="19169">
            <a:solidFill>
              <a:srgbClr val="D0D0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5861" y="2958540"/>
            <a:ext cx="3086339" cy="1258817"/>
          </a:xfrm>
          <a:prstGeom prst="roundRect">
            <a:avLst>
              <a:gd name="adj" fmla="val 7614"/>
            </a:avLst>
          </a:prstGeom>
          <a:solidFill>
            <a:srgbClr val="E3F2D9"/>
          </a:solidFill>
          <a:ln w="19169">
            <a:solidFill>
              <a:srgbClr val="9FD4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5861" y="4351547"/>
            <a:ext cx="5175848" cy="2530415"/>
          </a:xfrm>
          <a:prstGeom prst="roundRect">
            <a:avLst>
              <a:gd name="adj" fmla="val 3787"/>
            </a:avLst>
          </a:prstGeom>
          <a:solidFill>
            <a:srgbClr val="F2F2F2"/>
          </a:solidFill>
          <a:ln w="19169">
            <a:solidFill>
              <a:srgbClr val="B8B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504002" y="1022240"/>
            <a:ext cx="447230" cy="255560"/>
          </a:xfrm>
          <a:custGeom>
            <a:avLst/>
            <a:gdLst/>
            <a:ahLst/>
            <a:cxnLst/>
            <a:rect l="l" t="t" r="r" b="b"/>
            <a:pathLst>
              <a:path w="70" h="40">
                <a:moveTo>
                  <a:pt x="0" y="11"/>
                </a:moveTo>
                <a:lnTo>
                  <a:pt x="43" y="11"/>
                </a:lnTo>
                <a:lnTo>
                  <a:pt x="43" y="0"/>
                </a:lnTo>
                <a:lnTo>
                  <a:pt x="70" y="20"/>
                </a:lnTo>
                <a:lnTo>
                  <a:pt x="43" y="40"/>
                </a:lnTo>
                <a:lnTo>
                  <a:pt x="43" y="29"/>
                </a:lnTo>
                <a:lnTo>
                  <a:pt x="0" y="29"/>
                </a:lnTo>
                <a:close/>
              </a:path>
            </a:pathLst>
          </a:custGeom>
          <a:solidFill>
            <a:srgbClr val="F7AB76"/>
          </a:solidFill>
          <a:ln w="6389">
            <a:solidFill>
              <a:srgbClr val="F7A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504002" y="3450060"/>
            <a:ext cx="447230" cy="255560"/>
          </a:xfrm>
          <a:custGeom>
            <a:avLst/>
            <a:gdLst/>
            <a:ahLst/>
            <a:cxnLst/>
            <a:rect l="l" t="t" r="r" b="b"/>
            <a:pathLst>
              <a:path w="70" h="40">
                <a:moveTo>
                  <a:pt x="0" y="11"/>
                </a:moveTo>
                <a:lnTo>
                  <a:pt x="43" y="11"/>
                </a:lnTo>
                <a:lnTo>
                  <a:pt x="43" y="0"/>
                </a:lnTo>
                <a:lnTo>
                  <a:pt x="70" y="20"/>
                </a:lnTo>
                <a:lnTo>
                  <a:pt x="43" y="40"/>
                </a:lnTo>
                <a:lnTo>
                  <a:pt x="43" y="29"/>
                </a:lnTo>
                <a:lnTo>
                  <a:pt x="0" y="29"/>
                </a:lnTo>
                <a:close/>
              </a:path>
            </a:pathLst>
          </a:custGeom>
          <a:solidFill>
            <a:srgbClr val="9FD486"/>
          </a:solidFill>
          <a:ln w="6389">
            <a:solidFill>
              <a:srgbClr val="9FD4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491224" y="5405094"/>
            <a:ext cx="402507" cy="255560"/>
          </a:xfrm>
          <a:custGeom>
            <a:avLst/>
            <a:gdLst/>
            <a:ahLst/>
            <a:cxnLst/>
            <a:rect l="l" t="t" r="r" b="b"/>
            <a:pathLst>
              <a:path w="63" h="40">
                <a:moveTo>
                  <a:pt x="63" y="11"/>
                </a:moveTo>
                <a:lnTo>
                  <a:pt x="24" y="11"/>
                </a:lnTo>
                <a:lnTo>
                  <a:pt x="24" y="0"/>
                </a:lnTo>
                <a:lnTo>
                  <a:pt x="0" y="20"/>
                </a:lnTo>
                <a:lnTo>
                  <a:pt x="24" y="40"/>
                </a:lnTo>
                <a:lnTo>
                  <a:pt x="24" y="29"/>
                </a:lnTo>
                <a:lnTo>
                  <a:pt x="63" y="29"/>
                </a:lnTo>
                <a:close/>
              </a:path>
            </a:pathLst>
          </a:custGeom>
          <a:solidFill>
            <a:srgbClr val="2256A5"/>
          </a:solidFill>
          <a:ln w="6389">
            <a:solidFill>
              <a:srgbClr val="2256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97484" y="153358"/>
            <a:ext cx="3578364" cy="28754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761" b="1" i="1">
                <a:solidFill>
                  <a:srgbClr val="050505"/>
                </a:solidFill>
                <a:latin typeface="Liberation Sans"/>
              </a:defRPr>
            </a:pPr>
            <a:r>
              <a:t>Logical Tree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3521" y="153358"/>
            <a:ext cx="3194968" cy="28754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761" b="1" i="1">
                <a:solidFill>
                  <a:srgbClr val="050505"/>
                </a:solidFill>
                <a:latin typeface="Liberation Sans"/>
              </a:defRPr>
            </a:pPr>
            <a:r>
              <a:t>Instantiation via 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496" y="760402"/>
            <a:ext cx="1859471" cy="2134238"/>
          </a:xfrm>
          <a:prstGeom prst="rect">
            <a:avLst/>
          </a:prstGeom>
          <a:solidFill>
            <a:srgbClr val="F7FCFB"/>
          </a:solidFill>
          <a:ln w="19169">
            <a:solidFill>
              <a:srgbClr val="219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4226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635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7044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8452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9861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270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2679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4088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35496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56905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78314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99723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21132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42540" y="81791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2566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3974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5383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6792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8201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9610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1018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52427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73836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95245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6654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738062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59471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80880" y="93293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4226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5635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7044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8452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9861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71270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2679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14088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35496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456905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578314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99723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821132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42540" y="104794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02566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23974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5383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66792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8201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09610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31018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52427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373836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495245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616654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738062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859471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980880" y="116296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64226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85635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07044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28452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49861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71270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2679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14088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35496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456905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578314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699723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21132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942540" y="127798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02566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23974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45383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66792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88201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09610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31018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252427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373836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495245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616654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738062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859471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980880" y="139300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64226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5635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07044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28452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49861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71270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092679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214088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335496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456905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578314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699723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821132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942540" y="1508025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02566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23974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45383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66792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88201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09610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31018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252427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373836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495245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616654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738062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859471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980880" y="162304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64226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85635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07044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28452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49861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71270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092679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214088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335496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456905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578314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699723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821132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942540" y="1738062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02566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23974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45383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66792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88201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09610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131018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252427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373836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495245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616654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738062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859471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980880" y="1853081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64226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85635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07044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28452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49861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71270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92679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214088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335496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456905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578314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699723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821132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942540" y="1968100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02566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23974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45383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66792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88201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09610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31018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52427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373836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495245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616654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738062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859471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980880" y="2083119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4226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85635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07044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28452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49861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71270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092679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14088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35496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456905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578314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699723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821132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942540" y="2198138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402566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523974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45383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66792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88201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9610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131018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252427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73836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495245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616654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738062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859471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980880" y="2313157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364226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85635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07044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28452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49861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71270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92679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214088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335496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456905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78314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699723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821132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942540" y="2428176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02566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523974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645383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766792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888201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09610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31018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252427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373836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495245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6654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738062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859471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980880" y="2543194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64226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485635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607044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28452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49861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71270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92679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214088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335496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456905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578314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699723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821132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942540" y="2658213"/>
            <a:ext cx="10862" cy="10862"/>
          </a:xfrm>
          <a:prstGeom prst="ellipse">
            <a:avLst/>
          </a:prstGeom>
          <a:solidFill>
            <a:srgbClr val="C9EDE9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6" name="Connector 255"/>
          <p:cNvCxnSpPr/>
          <p:nvPr/>
        </p:nvCxnSpPr>
        <p:spPr>
          <a:xfrm>
            <a:off x="319496" y="1188528"/>
            <a:ext cx="1859472" cy="0"/>
          </a:xfrm>
          <a:prstGeom prst="line">
            <a:avLst/>
          </a:prstGeom>
          <a:ln w="19169">
            <a:solidFill>
              <a:srgbClr val="21988F"/>
            </a:solidFill>
          </a:ln>
        </p:spPr>
      </p:cxnSp>
      <p:sp>
        <p:nvSpPr>
          <p:cNvPr id="257" name="TextBox 256"/>
          <p:cNvSpPr txBox="1"/>
          <p:nvPr/>
        </p:nvSpPr>
        <p:spPr>
          <a:xfrm>
            <a:off x="492025" y="913760"/>
            <a:ext cx="1501635" cy="24281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677"/>
              </a:lnSpc>
              <a:spcBef>
                <a:spcPts val="0"/>
              </a:spcBef>
              <a:spcAft>
                <a:spcPts val="0"/>
              </a:spcAft>
              <a:defRPr sz="1459" b="1" i="0">
                <a:solidFill>
                  <a:srgbClr val="050505"/>
                </a:solidFill>
                <a:latin typeface="Liberation Sans"/>
              </a:defRPr>
            </a:pPr>
            <a:r>
              <a:t>Logical Rules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453685" y="1284377"/>
            <a:ext cx="971270" cy="824301"/>
          </a:xfrm>
          <a:prstGeom prst="rect">
            <a:avLst/>
          </a:prstGeom>
          <a:solidFill>
            <a:srgbClr val="FFFFFF"/>
          </a:solidFill>
          <a:ln w="25559">
            <a:solidFill>
              <a:srgbClr val="62D8C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>
            <a:off x="453685" y="1533584"/>
            <a:ext cx="971270" cy="0"/>
          </a:xfrm>
          <a:prstGeom prst="line">
            <a:avLst/>
          </a:prstGeom>
          <a:ln w="25559">
            <a:solidFill>
              <a:srgbClr val="62D8CF"/>
            </a:solidFill>
          </a:ln>
        </p:spPr>
      </p:cxnSp>
      <p:sp>
        <p:nvSpPr>
          <p:cNvPr id="260" name="TextBox 259"/>
          <p:cNvSpPr txBox="1"/>
          <p:nvPr/>
        </p:nvSpPr>
        <p:spPr>
          <a:xfrm>
            <a:off x="536754" y="1322716"/>
            <a:ext cx="811521" cy="198088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050505"/>
                </a:solidFill>
                <a:latin typeface="Liberation Sans"/>
              </a:defRPr>
            </a:pPr>
            <a:r>
              <a:t>Syllogism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36754" y="1757232"/>
            <a:ext cx="281157" cy="191698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408" b="0" i="0">
                <a:solidFill>
                  <a:srgbClr val="050505"/>
                </a:solidFill>
                <a:latin typeface="Liberation Sans"/>
              </a:defRPr>
            </a:pPr>
            <a:r>
              <a:t>…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60402" y="1635823"/>
            <a:ext cx="932930" cy="811521"/>
          </a:xfrm>
          <a:prstGeom prst="rect">
            <a:avLst/>
          </a:prstGeom>
          <a:solidFill>
            <a:srgbClr val="FFFFFF"/>
          </a:solidFill>
          <a:ln w="25559">
            <a:solidFill>
              <a:srgbClr val="62D8C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>
            <a:off x="760402" y="1891421"/>
            <a:ext cx="932931" cy="0"/>
          </a:xfrm>
          <a:prstGeom prst="line">
            <a:avLst/>
          </a:prstGeom>
          <a:ln w="25559">
            <a:solidFill>
              <a:srgbClr val="62D8CF"/>
            </a:solidFill>
          </a:ln>
        </p:spPr>
      </p:cxnSp>
      <p:sp>
        <p:nvSpPr>
          <p:cNvPr id="264" name="TextBox 263"/>
          <p:cNvSpPr txBox="1"/>
          <p:nvPr/>
        </p:nvSpPr>
        <p:spPr>
          <a:xfrm>
            <a:off x="785962" y="1667773"/>
            <a:ext cx="875421" cy="191698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  <a:defRPr sz="1006" b="1" i="0">
                <a:solidFill>
                  <a:srgbClr val="050505"/>
                </a:solidFill>
                <a:latin typeface="Liberation Sans"/>
              </a:defRPr>
            </a:pPr>
            <a:r>
              <a:t>Instantiation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92352" y="2102289"/>
            <a:ext cx="268377" cy="191698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408" b="0" i="0">
                <a:solidFill>
                  <a:srgbClr val="050505"/>
                </a:solidFill>
                <a:latin typeface="Liberation Sans"/>
              </a:defRPr>
            </a:pPr>
            <a:r>
              <a:t>…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958490" y="1987270"/>
            <a:ext cx="1118238" cy="843471"/>
          </a:xfrm>
          <a:prstGeom prst="rect">
            <a:avLst/>
          </a:prstGeom>
          <a:solidFill>
            <a:srgbClr val="FFFFFF"/>
          </a:solidFill>
          <a:ln w="25559">
            <a:solidFill>
              <a:srgbClr val="62D8C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958490" y="2242867"/>
            <a:ext cx="1118239" cy="0"/>
          </a:xfrm>
          <a:prstGeom prst="line">
            <a:avLst/>
          </a:prstGeom>
          <a:ln w="25559">
            <a:solidFill>
              <a:srgbClr val="62D8CF"/>
            </a:solidFill>
          </a:ln>
        </p:spPr>
      </p:cxnSp>
      <p:sp>
        <p:nvSpPr>
          <p:cNvPr id="268" name="TextBox 267"/>
          <p:cNvSpPr txBox="1"/>
          <p:nvPr/>
        </p:nvSpPr>
        <p:spPr>
          <a:xfrm>
            <a:off x="1047949" y="2019220"/>
            <a:ext cx="958490" cy="191698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050505"/>
                </a:solidFill>
                <a:latin typeface="Liberation Sans"/>
              </a:defRPr>
            </a:pPr>
            <a:r>
              <a:t>Modus Ponens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150188" y="2319547"/>
            <a:ext cx="734842" cy="16613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099"/>
              </a:lnSpc>
              <a:spcBef>
                <a:spcPts val="0"/>
              </a:spcBef>
              <a:spcAft>
                <a:spcPts val="0"/>
              </a:spcAft>
              <a:defRPr sz="955" b="0" i="1">
                <a:solidFill>
                  <a:srgbClr val="050505"/>
                </a:solidFill>
                <a:latin typeface="Latin Modern Math"/>
              </a:defRPr>
            </a:pPr>
            <a:r>
              <a:t>ℱ    ℱ → 𝒢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1111849" y="2517635"/>
            <a:ext cx="754012" cy="0"/>
          </a:xfrm>
          <a:prstGeom prst="line">
            <a:avLst/>
          </a:prstGeom>
          <a:ln w="19169">
            <a:solidFill>
              <a:srgbClr val="050505"/>
            </a:solidFill>
          </a:ln>
        </p:spPr>
      </p:cxnSp>
      <p:sp>
        <p:nvSpPr>
          <p:cNvPr id="271" name="TextBox 270"/>
          <p:cNvSpPr txBox="1"/>
          <p:nvPr/>
        </p:nvSpPr>
        <p:spPr>
          <a:xfrm>
            <a:off x="1482465" y="2562364"/>
            <a:ext cx="498415" cy="15974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  <a:defRPr sz="1006" b="0" i="1">
                <a:solidFill>
                  <a:srgbClr val="050505"/>
                </a:solidFill>
                <a:latin typeface="Latin Modern Math"/>
              </a:defRPr>
            </a:pPr>
            <a:r>
              <a:t>𝒢</a:t>
            </a:r>
          </a:p>
        </p:txBody>
      </p:sp>
      <p:sp>
        <p:nvSpPr>
          <p:cNvPr id="272" name="Freeform 271"/>
          <p:cNvSpPr/>
          <p:nvPr/>
        </p:nvSpPr>
        <p:spPr>
          <a:xfrm>
            <a:off x="2018924" y="1578083"/>
            <a:ext cx="319450" cy="396118"/>
          </a:xfrm>
          <a:custGeom>
            <a:avLst/>
            <a:gdLst/>
            <a:ahLst/>
            <a:cxnLst/>
            <a:rect l="l" t="t" r="r" b="b"/>
            <a:pathLst>
              <a:path w="50" h="62">
                <a:moveTo>
                  <a:pt x="0" y="0"/>
                </a:moveTo>
                <a:lnTo>
                  <a:pt x="35" y="0"/>
                </a:lnTo>
                <a:lnTo>
                  <a:pt x="50" y="14"/>
                </a:lnTo>
                <a:lnTo>
                  <a:pt x="50" y="62"/>
                </a:lnTo>
                <a:lnTo>
                  <a:pt x="0" y="62"/>
                </a:lnTo>
                <a:close/>
              </a:path>
            </a:pathLst>
          </a:custGeom>
          <a:solidFill>
            <a:srgbClr val="FFFFFF"/>
          </a:solidFill>
          <a:ln w="14696">
            <a:solidFill>
              <a:srgbClr val="05050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242539" y="1578083"/>
            <a:ext cx="95835" cy="89446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0" y="0"/>
                </a:moveTo>
                <a:lnTo>
                  <a:pt x="0" y="14"/>
                </a:lnTo>
                <a:lnTo>
                  <a:pt x="15" y="14"/>
                </a:lnTo>
                <a:close/>
              </a:path>
            </a:pathLst>
          </a:custGeom>
          <a:solidFill>
            <a:srgbClr val="FFFFFF"/>
          </a:solidFill>
          <a:ln w="12779">
            <a:solidFill>
              <a:srgbClr val="05050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4" name="Connector 273"/>
          <p:cNvCxnSpPr/>
          <p:nvPr/>
        </p:nvCxnSpPr>
        <p:spPr>
          <a:xfrm>
            <a:off x="2102289" y="1718893"/>
            <a:ext cx="178918" cy="0"/>
          </a:xfrm>
          <a:prstGeom prst="line">
            <a:avLst/>
          </a:prstGeom>
          <a:ln w="10223">
            <a:solidFill>
              <a:srgbClr val="050505"/>
            </a:solidFill>
          </a:ln>
        </p:spPr>
      </p:cxnSp>
      <p:cxnSp>
        <p:nvCxnSpPr>
          <p:cNvPr id="275" name="Connector 274"/>
          <p:cNvCxnSpPr/>
          <p:nvPr/>
        </p:nvCxnSpPr>
        <p:spPr>
          <a:xfrm>
            <a:off x="2102289" y="1776402"/>
            <a:ext cx="198088" cy="0"/>
          </a:xfrm>
          <a:prstGeom prst="line">
            <a:avLst/>
          </a:prstGeom>
          <a:ln w="10223">
            <a:solidFill>
              <a:srgbClr val="050505"/>
            </a:solidFill>
          </a:ln>
        </p:spPr>
      </p:cxnSp>
      <p:cxnSp>
        <p:nvCxnSpPr>
          <p:cNvPr id="276" name="Connector 275"/>
          <p:cNvCxnSpPr/>
          <p:nvPr/>
        </p:nvCxnSpPr>
        <p:spPr>
          <a:xfrm>
            <a:off x="2102289" y="1833911"/>
            <a:ext cx="159748" cy="0"/>
          </a:xfrm>
          <a:prstGeom prst="line">
            <a:avLst/>
          </a:prstGeom>
          <a:ln w="10223">
            <a:solidFill>
              <a:srgbClr val="050505"/>
            </a:solidFill>
          </a:ln>
        </p:spPr>
      </p:cxnSp>
      <p:cxnSp>
        <p:nvCxnSpPr>
          <p:cNvPr id="277" name="Connector 276"/>
          <p:cNvCxnSpPr/>
          <p:nvPr/>
        </p:nvCxnSpPr>
        <p:spPr>
          <a:xfrm>
            <a:off x="2102289" y="1897811"/>
            <a:ext cx="198088" cy="0"/>
          </a:xfrm>
          <a:prstGeom prst="line">
            <a:avLst/>
          </a:prstGeom>
          <a:ln w="10223">
            <a:solidFill>
              <a:srgbClr val="050505"/>
            </a:solidFill>
          </a:ln>
        </p:spPr>
      </p:cxnSp>
      <p:sp>
        <p:nvSpPr>
          <p:cNvPr id="278" name="Oval 277"/>
          <p:cNvSpPr/>
          <p:nvPr/>
        </p:nvSpPr>
        <p:spPr>
          <a:xfrm>
            <a:off x="1929760" y="1680553"/>
            <a:ext cx="268377" cy="268377"/>
          </a:xfrm>
          <a:prstGeom prst="ellipse">
            <a:avLst/>
          </a:prstGeom>
          <a:solidFill>
            <a:srgbClr val="FFFFFF"/>
          </a:solidFill>
          <a:ln w="15974">
            <a:solidFill>
              <a:srgbClr val="05050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80880" y="1731672"/>
            <a:ext cx="166138" cy="140578"/>
          </a:xfrm>
          <a:prstGeom prst="ellipse">
            <a:avLst/>
          </a:prstGeom>
          <a:noFill/>
          <a:ln w="10862">
            <a:solidFill>
              <a:srgbClr val="05050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0" name="Connector 279"/>
          <p:cNvCxnSpPr/>
          <p:nvPr/>
        </p:nvCxnSpPr>
        <p:spPr>
          <a:xfrm>
            <a:off x="2127849" y="1897811"/>
            <a:ext cx="83069" cy="89459"/>
          </a:xfrm>
          <a:prstGeom prst="line">
            <a:avLst/>
          </a:prstGeom>
          <a:ln w="31949">
            <a:solidFill>
              <a:srgbClr val="050505"/>
            </a:solidFill>
          </a:ln>
        </p:spPr>
      </p:cxnSp>
      <p:cxnSp>
        <p:nvCxnSpPr>
          <p:cNvPr id="281" name="Connector 280"/>
          <p:cNvCxnSpPr/>
          <p:nvPr/>
        </p:nvCxnSpPr>
        <p:spPr>
          <a:xfrm>
            <a:off x="2012830" y="1776402"/>
            <a:ext cx="102239" cy="0"/>
          </a:xfrm>
          <a:prstGeom prst="line">
            <a:avLst/>
          </a:prstGeom>
          <a:ln w="10223">
            <a:solidFill>
              <a:srgbClr val="050505"/>
            </a:solidFill>
          </a:ln>
        </p:spPr>
      </p:cxnSp>
      <p:cxnSp>
        <p:nvCxnSpPr>
          <p:cNvPr id="282" name="Connector 281"/>
          <p:cNvCxnSpPr/>
          <p:nvPr/>
        </p:nvCxnSpPr>
        <p:spPr>
          <a:xfrm>
            <a:off x="2012830" y="1814742"/>
            <a:ext cx="89459" cy="0"/>
          </a:xfrm>
          <a:prstGeom prst="line">
            <a:avLst/>
          </a:prstGeom>
          <a:ln w="10223">
            <a:solidFill>
              <a:srgbClr val="050505"/>
            </a:solidFill>
          </a:ln>
        </p:spPr>
      </p:cxnSp>
      <p:sp>
        <p:nvSpPr>
          <p:cNvPr id="283" name="Rectangle 282"/>
          <p:cNvSpPr/>
          <p:nvPr/>
        </p:nvSpPr>
        <p:spPr>
          <a:xfrm>
            <a:off x="319496" y="3137459"/>
            <a:ext cx="1987270" cy="594264"/>
          </a:xfrm>
          <a:prstGeom prst="rect">
            <a:avLst/>
          </a:prstGeom>
          <a:solidFill>
            <a:srgbClr val="D6F3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389786" y="3226918"/>
            <a:ext cx="1840301" cy="440905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823"/>
              </a:lnSpc>
              <a:spcBef>
                <a:spcPts val="0"/>
              </a:spcBef>
              <a:spcAft>
                <a:spcPts val="0"/>
              </a:spcAft>
              <a:defRPr sz="1459" b="1" i="0">
                <a:solidFill>
                  <a:srgbClr val="050505"/>
                </a:solidFill>
                <a:latin typeface="Liberation Sans"/>
              </a:defRPr>
            </a:pPr>
            <a:r>
              <a:t>Search for</a:t>
            </a:r>
          </a:p>
          <a:p>
            <a:pPr algn="ctr" marL="0" indent="0" rtl="0">
              <a:lnSpc>
                <a:spcPts val="1823"/>
              </a:lnSpc>
              <a:spcBef>
                <a:spcPts val="0"/>
              </a:spcBef>
              <a:spcAft>
                <a:spcPts val="0"/>
              </a:spcAft>
              <a:defRPr sz="1459" b="1" i="0">
                <a:solidFill>
                  <a:srgbClr val="050505"/>
                </a:solidFill>
                <a:latin typeface="Liberation Sans"/>
              </a:defRPr>
            </a:pPr>
            <a:r>
              <a:t>Applicable Rules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2440955" y="645383"/>
            <a:ext cx="89459" cy="3610314"/>
          </a:xfrm>
          <a:prstGeom prst="rect">
            <a:avLst/>
          </a:prstGeom>
          <a:gradFill rotWithShape="1">
            <a:gsLst>
              <a:gs pos="0">
                <a:srgbClr val="2A9B93"/>
              </a:gs>
              <a:gs pos="100000">
                <a:srgbClr val="72E0D7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2389486" y="568621"/>
            <a:ext cx="191670" cy="89446"/>
          </a:xfrm>
          <a:custGeom>
            <a:avLst/>
            <a:gdLst/>
            <a:ahLst/>
            <a:cxnLst/>
            <a:rect l="l" t="t" r="r" b="b"/>
            <a:pathLst>
              <a:path w="30" h="14">
                <a:moveTo>
                  <a:pt x="0" y="14"/>
                </a:moveTo>
                <a:lnTo>
                  <a:pt x="15" y="0"/>
                </a:lnTo>
                <a:lnTo>
                  <a:pt x="30" y="14"/>
                </a:lnTo>
                <a:close/>
              </a:path>
            </a:pathLst>
          </a:custGeom>
          <a:gradFill rotWithShape="1">
            <a:gsLst>
              <a:gs pos="0">
                <a:srgbClr val="72E0D7"/>
              </a:gs>
              <a:gs pos="100000">
                <a:srgbClr val="72E0D7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2421786" y="3476125"/>
            <a:ext cx="817911" cy="370616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06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CE0000"/>
                </a:solidFill>
                <a:latin typeface="Liberation Sans"/>
              </a:defRPr>
            </a:pPr>
            <a:r>
              <a:t>Backward</a:t>
            </a:r>
          </a:p>
          <a:p>
            <a:pPr algn="l" marL="0" indent="0" rtl="0">
              <a:lnSpc>
                <a:spcPts val="1306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CE0000"/>
                </a:solidFill>
                <a:latin typeface="Liberation Sans"/>
              </a:defRPr>
            </a:pPr>
            <a:r>
              <a:t>Deduction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3035220" y="683723"/>
            <a:ext cx="1297157" cy="971270"/>
          </a:xfrm>
          <a:prstGeom prst="rect">
            <a:avLst/>
          </a:prstGeom>
          <a:noFill/>
          <a:ln w="25559">
            <a:solidFill>
              <a:srgbClr val="F0A9B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817962" y="1648603"/>
            <a:ext cx="1514415" cy="1686943"/>
          </a:xfrm>
          <a:prstGeom prst="rect">
            <a:avLst/>
          </a:prstGeom>
          <a:noFill/>
          <a:ln w="25559">
            <a:solidFill>
              <a:srgbClr val="F0A9B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4536855" y="1015999"/>
            <a:ext cx="1565534" cy="1833911"/>
          </a:xfrm>
          <a:prstGeom prst="rect">
            <a:avLst/>
          </a:prstGeom>
          <a:noFill/>
          <a:ln w="25559">
            <a:solidFill>
              <a:srgbClr val="F0A9B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4095949" y="2338716"/>
            <a:ext cx="1546364" cy="1571924"/>
          </a:xfrm>
          <a:prstGeom prst="rect">
            <a:avLst/>
          </a:prstGeom>
          <a:noFill/>
          <a:ln w="25559">
            <a:solidFill>
              <a:srgbClr val="F0A9B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3047999" y="492025"/>
            <a:ext cx="1322716" cy="20447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408" b="1" i="0">
                <a:solidFill>
                  <a:srgbClr val="050505"/>
                </a:solidFill>
                <a:latin typeface="Liberation Sans"/>
              </a:defRPr>
            </a:pPr>
            <a:r>
              <a:t>4. Instantiation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862742" y="817911"/>
            <a:ext cx="1214088" cy="20447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408" b="1" i="0">
                <a:solidFill>
                  <a:srgbClr val="050505"/>
                </a:solidFill>
                <a:latin typeface="Liberation Sans"/>
              </a:defRPr>
            </a:pPr>
            <a:r>
              <a:t>2. Syllogism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1484" y="3265257"/>
            <a:ext cx="741232" cy="428125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698"/>
              </a:lnSpc>
              <a:spcBef>
                <a:spcPts val="0"/>
              </a:spcBef>
              <a:spcAft>
                <a:spcPts val="0"/>
              </a:spcAft>
              <a:defRPr sz="1358" b="1" i="0">
                <a:solidFill>
                  <a:srgbClr val="050505"/>
                </a:solidFill>
                <a:latin typeface="Liberation Sans"/>
              </a:defRPr>
            </a:pPr>
            <a:r>
              <a:t>1. Modus</a:t>
            </a:r>
          </a:p>
          <a:p>
            <a:pPr algn="ctr" marL="0" indent="0" rtl="0">
              <a:lnSpc>
                <a:spcPts val="1698"/>
              </a:lnSpc>
              <a:spcBef>
                <a:spcPts val="0"/>
              </a:spcBef>
              <a:spcAft>
                <a:spcPts val="0"/>
              </a:spcAft>
              <a:defRPr sz="1358" b="1" i="0">
                <a:solidFill>
                  <a:srgbClr val="050505"/>
                </a:solidFill>
                <a:latin typeface="Liberation Sans"/>
              </a:defRPr>
            </a:pPr>
            <a:r>
              <a:t>Ponens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3629484" y="1086289"/>
            <a:ext cx="300327" cy="677333"/>
          </a:xfrm>
          <a:prstGeom prst="line">
            <a:avLst/>
          </a:prstGeom>
          <a:ln w="25559">
            <a:solidFill>
              <a:srgbClr val="A9A9A9"/>
            </a:solidFill>
          </a:ln>
        </p:spPr>
      </p:cxnSp>
      <p:cxnSp>
        <p:nvCxnSpPr>
          <p:cNvPr id="296" name="Connector 295"/>
          <p:cNvCxnSpPr/>
          <p:nvPr/>
        </p:nvCxnSpPr>
        <p:spPr>
          <a:xfrm>
            <a:off x="3929811" y="2025610"/>
            <a:ext cx="472855" cy="952100"/>
          </a:xfrm>
          <a:prstGeom prst="line">
            <a:avLst/>
          </a:prstGeom>
          <a:ln w="25559">
            <a:solidFill>
              <a:srgbClr val="A9A9A9"/>
            </a:solidFill>
          </a:ln>
        </p:spPr>
      </p:cxnSp>
      <p:cxnSp>
        <p:nvCxnSpPr>
          <p:cNvPr id="297" name="Connector 296"/>
          <p:cNvCxnSpPr/>
          <p:nvPr/>
        </p:nvCxnSpPr>
        <p:spPr>
          <a:xfrm>
            <a:off x="3425006" y="2607094"/>
            <a:ext cx="977660" cy="370616"/>
          </a:xfrm>
          <a:prstGeom prst="line">
            <a:avLst/>
          </a:prstGeom>
          <a:ln w="25559">
            <a:solidFill>
              <a:srgbClr val="A9A9A9"/>
            </a:solidFill>
          </a:ln>
        </p:spPr>
      </p:cxnSp>
      <p:cxnSp>
        <p:nvCxnSpPr>
          <p:cNvPr id="298" name="Connector 297"/>
          <p:cNvCxnSpPr/>
          <p:nvPr/>
        </p:nvCxnSpPr>
        <p:spPr>
          <a:xfrm>
            <a:off x="4920251" y="1386616"/>
            <a:ext cx="287547" cy="1067119"/>
          </a:xfrm>
          <a:prstGeom prst="line">
            <a:avLst/>
          </a:prstGeom>
          <a:ln w="25559">
            <a:solidFill>
              <a:srgbClr val="A9A9A9"/>
            </a:solidFill>
          </a:ln>
        </p:spPr>
      </p:cxnSp>
      <p:cxnSp>
        <p:nvCxnSpPr>
          <p:cNvPr id="299" name="Connector 298"/>
          <p:cNvCxnSpPr/>
          <p:nvPr/>
        </p:nvCxnSpPr>
        <p:spPr>
          <a:xfrm flipH="1">
            <a:off x="5207798" y="1987270"/>
            <a:ext cx="421736" cy="466465"/>
          </a:xfrm>
          <a:prstGeom prst="line">
            <a:avLst/>
          </a:prstGeom>
          <a:ln w="25559">
            <a:solidFill>
              <a:srgbClr val="A9A9A9"/>
            </a:solidFill>
          </a:ln>
        </p:spPr>
      </p:cxnSp>
      <p:cxnSp>
        <p:nvCxnSpPr>
          <p:cNvPr id="300" name="Connector 299"/>
          <p:cNvCxnSpPr/>
          <p:nvPr/>
        </p:nvCxnSpPr>
        <p:spPr>
          <a:xfrm flipH="1">
            <a:off x="4888301" y="2715723"/>
            <a:ext cx="319497" cy="830692"/>
          </a:xfrm>
          <a:prstGeom prst="line">
            <a:avLst/>
          </a:prstGeom>
          <a:ln w="25559">
            <a:solidFill>
              <a:srgbClr val="A9A9A9"/>
            </a:solidFill>
          </a:ln>
        </p:spPr>
      </p:cxnSp>
      <p:cxnSp>
        <p:nvCxnSpPr>
          <p:cNvPr id="301" name="Connector 300"/>
          <p:cNvCxnSpPr/>
          <p:nvPr/>
        </p:nvCxnSpPr>
        <p:spPr>
          <a:xfrm>
            <a:off x="4409056" y="3290817"/>
            <a:ext cx="479245" cy="255598"/>
          </a:xfrm>
          <a:prstGeom prst="line">
            <a:avLst/>
          </a:prstGeom>
          <a:ln w="25559">
            <a:solidFill>
              <a:srgbClr val="A9A9A9"/>
            </a:solidFill>
          </a:ln>
        </p:spPr>
      </p:cxnSp>
      <p:sp>
        <p:nvSpPr>
          <p:cNvPr id="302" name="Rectangle 301"/>
          <p:cNvSpPr/>
          <p:nvPr/>
        </p:nvSpPr>
        <p:spPr>
          <a:xfrm>
            <a:off x="3163018" y="824301"/>
            <a:ext cx="945710" cy="268377"/>
          </a:xfrm>
          <a:prstGeom prst="rect">
            <a:avLst/>
          </a:prstGeom>
          <a:solidFill>
            <a:srgbClr val="FFF9F4"/>
          </a:solidFill>
          <a:ln w="25559">
            <a:solidFill>
              <a:srgbClr val="F7A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3163018" y="837081"/>
            <a:ext cx="945710" cy="24920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1">
                <a:solidFill>
                  <a:srgbClr val="050505"/>
                </a:solidFill>
                <a:latin typeface="Latin Modern Math"/>
              </a:defRPr>
            </a:pPr>
            <a:r>
              <a:t>∀x (¬R(x))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674213" y="1757232"/>
            <a:ext cx="536754" cy="268377"/>
          </a:xfrm>
          <a:prstGeom prst="rect">
            <a:avLst/>
          </a:prstGeom>
          <a:solidFill>
            <a:srgbClr val="F8FFF8"/>
          </a:solidFill>
          <a:ln w="25559">
            <a:solidFill>
              <a:srgbClr val="9FD4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674213" y="1770012"/>
            <a:ext cx="536754" cy="24920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>
                <a:solidFill>
                  <a:srgbClr val="050505"/>
                </a:solidFill>
                <a:latin typeface="Latin Modern Math"/>
              </a:defRPr>
            </a:pPr>
            <a:r>
              <a:t>¬R(a)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2971320" y="2345106"/>
            <a:ext cx="894591" cy="268377"/>
          </a:xfrm>
          <a:prstGeom prst="rect">
            <a:avLst/>
          </a:prstGeom>
          <a:solidFill>
            <a:srgbClr val="FFF9F4"/>
          </a:solidFill>
          <a:ln w="25559">
            <a:solidFill>
              <a:srgbClr val="F7A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2971320" y="2357886"/>
            <a:ext cx="894591" cy="24920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1">
                <a:solidFill>
                  <a:srgbClr val="050505"/>
                </a:solidFill>
                <a:latin typeface="Latin Modern Math"/>
              </a:defRPr>
            </a:pPr>
            <a:r>
              <a:t>P ∨ (R(a))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236528" y="2977710"/>
            <a:ext cx="306716" cy="319496"/>
          </a:xfrm>
          <a:prstGeom prst="rect">
            <a:avLst/>
          </a:prstGeom>
          <a:solidFill>
            <a:srgbClr val="F8FFF8"/>
          </a:solidFill>
          <a:ln w="25559">
            <a:solidFill>
              <a:srgbClr val="9FD4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4236528" y="2990490"/>
            <a:ext cx="306716" cy="30032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446"/>
              </a:lnSpc>
              <a:spcBef>
                <a:spcPts val="0"/>
              </a:spcBef>
              <a:spcAft>
                <a:spcPts val="0"/>
              </a:spcAft>
              <a:defRPr sz="1257" b="1" i="1">
                <a:solidFill>
                  <a:srgbClr val="050505"/>
                </a:solidFill>
                <a:latin typeface="Latin Modern Math"/>
              </a:defRPr>
            </a:pPr>
            <a:r>
              <a:t>P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607144" y="1124628"/>
            <a:ext cx="632603" cy="268377"/>
          </a:xfrm>
          <a:prstGeom prst="rect">
            <a:avLst/>
          </a:prstGeom>
          <a:solidFill>
            <a:srgbClr val="FFF9F4"/>
          </a:solidFill>
          <a:ln w="25559">
            <a:solidFill>
              <a:srgbClr val="F7A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607144" y="1137408"/>
            <a:ext cx="632603" cy="24920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>
                <a:solidFill>
                  <a:srgbClr val="050505"/>
                </a:solidFill>
                <a:latin typeface="Latin Modern Math"/>
              </a:defRPr>
            </a:pPr>
            <a:r>
              <a:t>P → T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335597" y="1718893"/>
            <a:ext cx="575094" cy="281157"/>
          </a:xfrm>
          <a:prstGeom prst="rect">
            <a:avLst/>
          </a:prstGeom>
          <a:solidFill>
            <a:srgbClr val="FFF9F4"/>
          </a:solidFill>
          <a:ln w="25559">
            <a:solidFill>
              <a:srgbClr val="F7A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5335597" y="1731672"/>
            <a:ext cx="575094" cy="26198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>
                <a:solidFill>
                  <a:srgbClr val="050505"/>
                </a:solidFill>
                <a:latin typeface="Latin Modern Math"/>
              </a:defRPr>
            </a:pPr>
            <a:r>
              <a:t>T → Q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849962" y="2447345"/>
            <a:ext cx="702893" cy="268377"/>
          </a:xfrm>
          <a:prstGeom prst="rect">
            <a:avLst/>
          </a:prstGeom>
          <a:solidFill>
            <a:srgbClr val="F8FFF8"/>
          </a:solidFill>
          <a:ln w="25559">
            <a:solidFill>
              <a:srgbClr val="9FD4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4849962" y="2460125"/>
            <a:ext cx="702893" cy="24920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>
                <a:solidFill>
                  <a:srgbClr val="050505"/>
                </a:solidFill>
                <a:latin typeface="Latin Modern Math"/>
              </a:defRPr>
            </a:pPr>
            <a:r>
              <a:t>P → Q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722163" y="3546415"/>
            <a:ext cx="332276" cy="306716"/>
          </a:xfrm>
          <a:prstGeom prst="rect">
            <a:avLst/>
          </a:prstGeom>
          <a:solidFill>
            <a:srgbClr val="F8FFF8"/>
          </a:solidFill>
          <a:ln w="25559">
            <a:solidFill>
              <a:srgbClr val="00A9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4722163" y="3559194"/>
            <a:ext cx="332276" cy="28754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446"/>
              </a:lnSpc>
              <a:spcBef>
                <a:spcPts val="0"/>
              </a:spcBef>
              <a:spcAft>
                <a:spcPts val="0"/>
              </a:spcAft>
              <a:defRPr sz="1257" b="1" i="1">
                <a:solidFill>
                  <a:srgbClr val="050505"/>
                </a:solidFill>
                <a:latin typeface="Latin Modern Math"/>
              </a:defRPr>
            </a:pPr>
            <a:r>
              <a:t>Q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2824352" y="4102339"/>
            <a:ext cx="338666" cy="166138"/>
          </a:xfrm>
          <a:prstGeom prst="rect">
            <a:avLst/>
          </a:prstGeom>
          <a:solidFill>
            <a:srgbClr val="FFFFFF"/>
          </a:solidFill>
          <a:ln w="25559">
            <a:solidFill>
              <a:srgbClr val="00A9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3226918" y="4076779"/>
            <a:ext cx="862641" cy="21086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0">
                <a:solidFill>
                  <a:srgbClr val="050505"/>
                </a:solidFill>
                <a:latin typeface="Liberation Sans"/>
              </a:defRPr>
            </a:pPr>
            <a:r>
              <a:t>root node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089559" y="4102339"/>
            <a:ext cx="338666" cy="166138"/>
          </a:xfrm>
          <a:prstGeom prst="rect">
            <a:avLst/>
          </a:prstGeom>
          <a:solidFill>
            <a:srgbClr val="FFFFFF"/>
          </a:solidFill>
          <a:ln w="25559">
            <a:solidFill>
              <a:srgbClr val="9FD4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4492125" y="4076779"/>
            <a:ext cx="862641" cy="21086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0">
                <a:solidFill>
                  <a:srgbClr val="050505"/>
                </a:solidFill>
                <a:latin typeface="Liberation Sans"/>
              </a:defRPr>
            </a:pPr>
            <a:r>
              <a:t>inode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5086389" y="4102339"/>
            <a:ext cx="338666" cy="166138"/>
          </a:xfrm>
          <a:prstGeom prst="rect">
            <a:avLst/>
          </a:prstGeom>
          <a:solidFill>
            <a:srgbClr val="FFFFFF"/>
          </a:solidFill>
          <a:ln w="25559">
            <a:solidFill>
              <a:srgbClr val="F7A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5488955" y="4076779"/>
            <a:ext cx="862641" cy="21086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0">
                <a:solidFill>
                  <a:srgbClr val="050505"/>
                </a:solidFill>
                <a:latin typeface="Liberation Sans"/>
              </a:defRPr>
            </a:pPr>
            <a:r>
              <a:t>leaf node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086440" y="530364"/>
            <a:ext cx="1214088" cy="22364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408" b="1" i="0">
                <a:solidFill>
                  <a:srgbClr val="050505"/>
                </a:solidFill>
                <a:latin typeface="Liberation Sans"/>
              </a:defRPr>
            </a:pPr>
            <a:r>
              <a:t>Leaf Node List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7137559" y="849861"/>
            <a:ext cx="1131018" cy="19169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1">
                <a:solidFill>
                  <a:srgbClr val="050505"/>
                </a:solidFill>
                <a:latin typeface="Latin Modern Math"/>
              </a:defRPr>
            </a:pPr>
            <a:r>
              <a:t>∀x (¬R(x))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7137559" y="1047949"/>
            <a:ext cx="1131018" cy="19169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1">
                <a:solidFill>
                  <a:srgbClr val="050505"/>
                </a:solidFill>
                <a:latin typeface="Latin Modern Math"/>
              </a:defRPr>
            </a:pPr>
            <a:r>
              <a:t>P → T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7137559" y="1233257"/>
            <a:ext cx="1131018" cy="19169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1">
                <a:solidFill>
                  <a:srgbClr val="050505"/>
                </a:solidFill>
                <a:latin typeface="Latin Modern Math"/>
              </a:defRPr>
            </a:pPr>
            <a:r>
              <a:t>T → Q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7137559" y="1418566"/>
            <a:ext cx="1131018" cy="19169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1">
                <a:solidFill>
                  <a:srgbClr val="050505"/>
                </a:solidFill>
                <a:latin typeface="Latin Modern Math"/>
              </a:defRPr>
            </a:pPr>
            <a:r>
              <a:t>P ∨ (R(a))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9891622" y="549534"/>
            <a:ext cx="1341886" cy="21725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677"/>
              </a:lnSpc>
              <a:spcBef>
                <a:spcPts val="0"/>
              </a:spcBef>
              <a:spcAft>
                <a:spcPts val="0"/>
              </a:spcAft>
              <a:defRPr sz="1459" b="1" i="0">
                <a:solidFill>
                  <a:srgbClr val="050505"/>
                </a:solidFill>
                <a:latin typeface="Liberation Sans"/>
              </a:defRPr>
            </a:pPr>
            <a:r>
              <a:t>Diversity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9891622" y="792352"/>
            <a:ext cx="1833911" cy="357836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509"/>
              </a:lnSpc>
              <a:spcBef>
                <a:spcPts val="0"/>
              </a:spcBef>
              <a:spcAft>
                <a:spcPts val="0"/>
              </a:spcAft>
              <a:defRPr sz="1257" b="0" i="0">
                <a:solidFill>
                  <a:srgbClr val="050505"/>
                </a:solidFill>
                <a:latin typeface="Liberation Sans"/>
              </a:defRPr>
            </a:pPr>
            <a:r>
              <a:t>randomly select scenarios</a:t>
            </a:r>
          </a:p>
          <a:p>
            <a:pPr algn="l" marL="0" indent="0" rtl="0">
              <a:lnSpc>
                <a:spcPts val="1509"/>
              </a:lnSpc>
              <a:spcBef>
                <a:spcPts val="0"/>
              </a:spcBef>
              <a:spcAft>
                <a:spcPts val="0"/>
              </a:spcAft>
              <a:defRPr sz="1257" b="0" i="0">
                <a:solidFill>
                  <a:srgbClr val="050505"/>
                </a:solidFill>
                <a:latin typeface="Liberation Sans"/>
              </a:defRPr>
            </a:pPr>
            <a:r>
              <a:t>topics   (num=3)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9891622" y="1214088"/>
            <a:ext cx="140578" cy="17252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446"/>
              </a:lnSpc>
              <a:spcBef>
                <a:spcPts val="0"/>
              </a:spcBef>
              <a:spcAft>
                <a:spcPts val="0"/>
              </a:spcAft>
              <a:defRPr sz="1257" b="1" i="0">
                <a:solidFill>
                  <a:srgbClr val="D81216"/>
                </a:solidFill>
                <a:latin typeface="Liberation Sans"/>
              </a:defRPr>
            </a:pPr>
            <a:r>
              <a:t>•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0064150" y="1214088"/>
            <a:ext cx="1405786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446"/>
              </a:lnSpc>
              <a:spcBef>
                <a:spcPts val="0"/>
              </a:spcBef>
              <a:spcAft>
                <a:spcPts val="0"/>
              </a:spcAft>
              <a:defRPr sz="1257" b="1" i="0">
                <a:solidFill>
                  <a:srgbClr val="D81216"/>
                </a:solidFill>
                <a:latin typeface="Liberation Sans"/>
              </a:defRPr>
            </a:pPr>
            <a:r>
              <a:t>Public Health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9891622" y="1437735"/>
            <a:ext cx="140578" cy="17252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446"/>
              </a:lnSpc>
              <a:spcBef>
                <a:spcPts val="0"/>
              </a:spcBef>
              <a:spcAft>
                <a:spcPts val="0"/>
              </a:spcAft>
              <a:defRPr sz="1257" b="1" i="0">
                <a:solidFill>
                  <a:srgbClr val="050505"/>
                </a:solidFill>
                <a:latin typeface="Liberation Sans"/>
              </a:defRPr>
            </a:pPr>
            <a:r>
              <a:t>•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0064150" y="1437735"/>
            <a:ext cx="1086289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446"/>
              </a:lnSpc>
              <a:spcBef>
                <a:spcPts val="0"/>
              </a:spcBef>
              <a:spcAft>
                <a:spcPts val="0"/>
              </a:spcAft>
              <a:defRPr sz="1257" b="0" i="0">
                <a:solidFill>
                  <a:srgbClr val="050505"/>
                </a:solidFill>
                <a:latin typeface="Liberation Sans"/>
              </a:defRPr>
            </a:pPr>
            <a:r>
              <a:t>Economics</a:t>
            </a:r>
          </a:p>
        </p:txBody>
      </p:sp>
      <p:sp>
        <p:nvSpPr>
          <p:cNvPr id="335" name="Freeform 334"/>
          <p:cNvSpPr/>
          <p:nvPr/>
        </p:nvSpPr>
        <p:spPr>
          <a:xfrm>
            <a:off x="8804042" y="1015851"/>
            <a:ext cx="121391" cy="166114"/>
          </a:xfrm>
          <a:custGeom>
            <a:avLst/>
            <a:gdLst/>
            <a:ahLst/>
            <a:cxnLst/>
            <a:rect l="l" t="t" r="r" b="b"/>
            <a:pathLst>
              <a:path w="19" h="26">
                <a:moveTo>
                  <a:pt x="12" y="0"/>
                </a:moveTo>
                <a:lnTo>
                  <a:pt x="3" y="10"/>
                </a:lnTo>
                <a:lnTo>
                  <a:pt x="0" y="26"/>
                </a:lnTo>
                <a:lnTo>
                  <a:pt x="9" y="21"/>
                </a:lnTo>
                <a:lnTo>
                  <a:pt x="19" y="7"/>
                </a:lnTo>
                <a:close/>
              </a:path>
            </a:pathLst>
          </a:custGeom>
          <a:solidFill>
            <a:srgbClr val="CDE8F6"/>
          </a:solidFill>
          <a:ln w="7667">
            <a:solidFill>
              <a:srgbClr val="AFCF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9200160" y="1015851"/>
            <a:ext cx="127780" cy="159725"/>
          </a:xfrm>
          <a:custGeom>
            <a:avLst/>
            <a:gdLst/>
            <a:ahLst/>
            <a:cxnLst/>
            <a:rect l="l" t="t" r="r" b="b"/>
            <a:pathLst>
              <a:path w="20" h="25">
                <a:moveTo>
                  <a:pt x="6" y="0"/>
                </a:moveTo>
                <a:lnTo>
                  <a:pt x="17" y="9"/>
                </a:lnTo>
                <a:lnTo>
                  <a:pt x="20" y="25"/>
                </a:lnTo>
                <a:lnTo>
                  <a:pt x="11" y="20"/>
                </a:lnTo>
                <a:lnTo>
                  <a:pt x="0" y="7"/>
                </a:lnTo>
                <a:close/>
              </a:path>
            </a:pathLst>
          </a:custGeom>
          <a:solidFill>
            <a:srgbClr val="CDE8F6"/>
          </a:solidFill>
          <a:ln w="7667">
            <a:solidFill>
              <a:srgbClr val="AFCF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8952301" y="1143798"/>
            <a:ext cx="95849" cy="89459"/>
          </a:xfrm>
          <a:prstGeom prst="ellipse">
            <a:avLst/>
          </a:prstGeom>
          <a:solidFill>
            <a:srgbClr val="CDE8F6"/>
          </a:solidFill>
          <a:ln w="6389">
            <a:solidFill>
              <a:srgbClr val="AFCF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9099270" y="1143798"/>
            <a:ext cx="95849" cy="89459"/>
          </a:xfrm>
          <a:prstGeom prst="ellipse">
            <a:avLst/>
          </a:prstGeom>
          <a:solidFill>
            <a:srgbClr val="CDE8F6"/>
          </a:solidFill>
          <a:ln w="6389">
            <a:solidFill>
              <a:srgbClr val="AFCF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8926741" y="996830"/>
            <a:ext cx="300327" cy="236427"/>
          </a:xfrm>
          <a:prstGeom prst="ellipse">
            <a:avLst/>
          </a:prstGeom>
          <a:solidFill>
            <a:srgbClr val="BFDDED"/>
          </a:solidFill>
          <a:ln w="8945">
            <a:solidFill>
              <a:srgbClr val="91BA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9035370" y="1073509"/>
            <a:ext cx="83069" cy="83069"/>
          </a:xfrm>
          <a:prstGeom prst="ellipse">
            <a:avLst/>
          </a:prstGeom>
          <a:solidFill>
            <a:srgbClr val="1B47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Rounded Rectangle 340"/>
          <p:cNvSpPr/>
          <p:nvPr/>
        </p:nvSpPr>
        <p:spPr>
          <a:xfrm>
            <a:off x="8856452" y="805132"/>
            <a:ext cx="428125" cy="274767"/>
          </a:xfrm>
          <a:prstGeom prst="roundRect">
            <a:avLst>
              <a:gd name="adj" fmla="val 27906"/>
            </a:avLst>
          </a:prstGeom>
          <a:solidFill>
            <a:srgbClr val="D5EAF4"/>
          </a:solidFill>
          <a:ln w="10223">
            <a:solidFill>
              <a:srgbClr val="91A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Rounded Rectangle 341"/>
          <p:cNvSpPr/>
          <p:nvPr/>
        </p:nvSpPr>
        <p:spPr>
          <a:xfrm>
            <a:off x="8894792" y="843471"/>
            <a:ext cx="351446" cy="185308"/>
          </a:xfrm>
          <a:prstGeom prst="roundRect">
            <a:avLst>
              <a:gd name="adj" fmla="val 24137"/>
            </a:avLst>
          </a:prstGeom>
          <a:solidFill>
            <a:srgbClr val="12477D"/>
          </a:solidFill>
          <a:ln w="7667">
            <a:solidFill>
              <a:srgbClr val="0F3C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8939521" y="907371"/>
            <a:ext cx="51119" cy="51119"/>
          </a:xfrm>
          <a:prstGeom prst="ellipse">
            <a:avLst/>
          </a:prstGeom>
          <a:solidFill>
            <a:srgbClr val="20D7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9118440" y="907371"/>
            <a:ext cx="51119" cy="51119"/>
          </a:xfrm>
          <a:prstGeom prst="ellipse">
            <a:avLst/>
          </a:prstGeom>
          <a:solidFill>
            <a:srgbClr val="20D7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9002101" y="958350"/>
            <a:ext cx="108613" cy="25556"/>
          </a:xfrm>
          <a:custGeom>
            <a:avLst/>
            <a:gdLst/>
            <a:ahLst/>
            <a:cxnLst/>
            <a:rect l="l" t="t" r="r" b="b"/>
            <a:pathLst>
              <a:path w="17" h="4">
                <a:moveTo>
                  <a:pt x="0" y="0"/>
                </a:moveTo>
                <a:lnTo>
                  <a:pt x="1" y="1"/>
                </a:lnTo>
                <a:lnTo>
                  <a:pt x="1" y="1"/>
                </a:lnTo>
                <a:lnTo>
                  <a:pt x="2" y="2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4" y="3"/>
                </a:lnTo>
                <a:lnTo>
                  <a:pt x="5" y="4"/>
                </a:lnTo>
                <a:lnTo>
                  <a:pt x="6" y="4"/>
                </a:lnTo>
                <a:lnTo>
                  <a:pt x="6" y="4"/>
                </a:lnTo>
                <a:lnTo>
                  <a:pt x="7" y="4"/>
                </a:lnTo>
                <a:lnTo>
                  <a:pt x="8" y="4"/>
                </a:lnTo>
                <a:lnTo>
                  <a:pt x="8" y="4"/>
                </a:lnTo>
                <a:lnTo>
                  <a:pt x="9" y="4"/>
                </a:lnTo>
                <a:lnTo>
                  <a:pt x="9" y="4"/>
                </a:lnTo>
                <a:lnTo>
                  <a:pt x="10" y="4"/>
                </a:lnTo>
                <a:lnTo>
                  <a:pt x="11" y="4"/>
                </a:lnTo>
                <a:lnTo>
                  <a:pt x="11" y="4"/>
                </a:lnTo>
                <a:lnTo>
                  <a:pt x="12" y="4"/>
                </a:lnTo>
                <a:lnTo>
                  <a:pt x="12" y="4"/>
                </a:lnTo>
                <a:lnTo>
                  <a:pt x="13" y="3"/>
                </a:lnTo>
                <a:lnTo>
                  <a:pt x="14" y="3"/>
                </a:lnTo>
                <a:lnTo>
                  <a:pt x="14" y="3"/>
                </a:lnTo>
                <a:lnTo>
                  <a:pt x="15" y="2"/>
                </a:lnTo>
                <a:lnTo>
                  <a:pt x="15" y="2"/>
                </a:lnTo>
                <a:lnTo>
                  <a:pt x="16" y="1"/>
                </a:lnTo>
                <a:lnTo>
                  <a:pt x="16" y="1"/>
                </a:lnTo>
                <a:lnTo>
                  <a:pt x="17" y="0"/>
                </a:lnTo>
              </a:path>
            </a:pathLst>
          </a:custGeom>
          <a:noFill/>
          <a:ln w="14057">
            <a:solidFill>
              <a:srgbClr val="20D7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Rounded Rectangle 345"/>
          <p:cNvSpPr/>
          <p:nvPr/>
        </p:nvSpPr>
        <p:spPr>
          <a:xfrm>
            <a:off x="9156779" y="728452"/>
            <a:ext cx="255597" cy="217257"/>
          </a:xfrm>
          <a:prstGeom prst="roundRect">
            <a:avLst>
              <a:gd name="adj" fmla="val 11764"/>
            </a:avLst>
          </a:prstGeom>
          <a:solidFill>
            <a:srgbClr val="66C87B"/>
          </a:solidFill>
          <a:ln w="6389">
            <a:solidFill>
              <a:srgbClr val="66C87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7" name="Connector 346"/>
          <p:cNvCxnSpPr/>
          <p:nvPr/>
        </p:nvCxnSpPr>
        <p:spPr>
          <a:xfrm>
            <a:off x="9214289" y="792352"/>
            <a:ext cx="140578" cy="0"/>
          </a:xfrm>
          <a:prstGeom prst="line">
            <a:avLst/>
          </a:prstGeom>
          <a:ln w="12779">
            <a:solidFill>
              <a:srgbClr val="3E9D5E"/>
            </a:solidFill>
          </a:ln>
        </p:spPr>
      </p:cxnSp>
      <p:cxnSp>
        <p:nvCxnSpPr>
          <p:cNvPr id="348" name="Connector 347"/>
          <p:cNvCxnSpPr/>
          <p:nvPr/>
        </p:nvCxnSpPr>
        <p:spPr>
          <a:xfrm>
            <a:off x="9214289" y="837081"/>
            <a:ext cx="127798" cy="0"/>
          </a:xfrm>
          <a:prstGeom prst="line">
            <a:avLst/>
          </a:prstGeom>
          <a:ln w="12779">
            <a:solidFill>
              <a:srgbClr val="3E9D5E"/>
            </a:solidFill>
          </a:ln>
        </p:spPr>
      </p:cxnSp>
      <p:cxnSp>
        <p:nvCxnSpPr>
          <p:cNvPr id="349" name="Connector 348"/>
          <p:cNvCxnSpPr/>
          <p:nvPr/>
        </p:nvCxnSpPr>
        <p:spPr>
          <a:xfrm>
            <a:off x="9214289" y="881811"/>
            <a:ext cx="89459" cy="0"/>
          </a:xfrm>
          <a:prstGeom prst="line">
            <a:avLst/>
          </a:prstGeom>
          <a:ln w="12779">
            <a:solidFill>
              <a:srgbClr val="3E9D5E"/>
            </a:solidFill>
          </a:ln>
        </p:spPr>
      </p:cxnSp>
      <p:sp>
        <p:nvSpPr>
          <p:cNvPr id="350" name="Freeform 349"/>
          <p:cNvSpPr/>
          <p:nvPr/>
        </p:nvSpPr>
        <p:spPr>
          <a:xfrm>
            <a:off x="9180993" y="939183"/>
            <a:ext cx="44723" cy="44723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0"/>
                </a:moveTo>
                <a:lnTo>
                  <a:pt x="7" y="0"/>
                </a:lnTo>
                <a:lnTo>
                  <a:pt x="3" y="7"/>
                </a:lnTo>
                <a:close/>
              </a:path>
            </a:pathLst>
          </a:custGeom>
          <a:solidFill>
            <a:srgbClr val="66C87B"/>
          </a:solidFill>
          <a:ln w="6389">
            <a:solidFill>
              <a:srgbClr val="66C8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8369590" y="926405"/>
            <a:ext cx="421674" cy="191670"/>
          </a:xfrm>
          <a:custGeom>
            <a:avLst/>
            <a:gdLst/>
            <a:ahLst/>
            <a:cxnLst/>
            <a:rect l="l" t="t" r="r" b="b"/>
            <a:pathLst>
              <a:path w="66" h="30">
                <a:moveTo>
                  <a:pt x="0" y="8"/>
                </a:moveTo>
                <a:lnTo>
                  <a:pt x="41" y="8"/>
                </a:lnTo>
                <a:lnTo>
                  <a:pt x="41" y="0"/>
                </a:lnTo>
                <a:lnTo>
                  <a:pt x="66" y="15"/>
                </a:lnTo>
                <a:lnTo>
                  <a:pt x="41" y="30"/>
                </a:lnTo>
                <a:lnTo>
                  <a:pt x="41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FFDF2"/>
          </a:solidFill>
          <a:ln w="12779">
            <a:solidFill>
              <a:srgbClr val="2256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9347107" y="926405"/>
            <a:ext cx="408896" cy="191670"/>
          </a:xfrm>
          <a:custGeom>
            <a:avLst/>
            <a:gdLst/>
            <a:ahLst/>
            <a:cxnLst/>
            <a:rect l="l" t="t" r="r" b="b"/>
            <a:pathLst>
              <a:path w="64" h="30">
                <a:moveTo>
                  <a:pt x="64" y="8"/>
                </a:moveTo>
                <a:lnTo>
                  <a:pt x="24" y="8"/>
                </a:lnTo>
                <a:lnTo>
                  <a:pt x="24" y="0"/>
                </a:lnTo>
                <a:lnTo>
                  <a:pt x="0" y="15"/>
                </a:lnTo>
                <a:lnTo>
                  <a:pt x="24" y="30"/>
                </a:lnTo>
                <a:lnTo>
                  <a:pt x="24" y="22"/>
                </a:lnTo>
                <a:lnTo>
                  <a:pt x="64" y="22"/>
                </a:lnTo>
                <a:close/>
              </a:path>
            </a:pathLst>
          </a:custGeom>
          <a:solidFill>
            <a:srgbClr val="FFFDF2"/>
          </a:solidFill>
          <a:ln w="12779">
            <a:solidFill>
              <a:srgbClr val="2256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8963767" y="1367246"/>
            <a:ext cx="178892" cy="428063"/>
          </a:xfrm>
          <a:custGeom>
            <a:avLst/>
            <a:gdLst/>
            <a:ahLst/>
            <a:cxnLst/>
            <a:rect l="l" t="t" r="r" b="b"/>
            <a:pathLst>
              <a:path w="28" h="67">
                <a:moveTo>
                  <a:pt x="8" y="0"/>
                </a:moveTo>
                <a:lnTo>
                  <a:pt x="20" y="0"/>
                </a:lnTo>
                <a:lnTo>
                  <a:pt x="20" y="42"/>
                </a:lnTo>
                <a:lnTo>
                  <a:pt x="28" y="42"/>
                </a:lnTo>
                <a:lnTo>
                  <a:pt x="14" y="67"/>
                </a:lnTo>
                <a:lnTo>
                  <a:pt x="0" y="42"/>
                </a:lnTo>
                <a:lnTo>
                  <a:pt x="8" y="42"/>
                </a:lnTo>
                <a:close/>
              </a:path>
            </a:pathLst>
          </a:custGeom>
          <a:solidFill>
            <a:srgbClr val="FFFDF2"/>
          </a:solidFill>
          <a:ln w="12779">
            <a:solidFill>
              <a:srgbClr val="2256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9175949" y="1367446"/>
            <a:ext cx="472855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358" b="1" i="0">
                <a:solidFill>
                  <a:srgbClr val="D81216"/>
                </a:solidFill>
                <a:latin typeface="Liberation Sans"/>
              </a:defRPr>
            </a:pPr>
            <a:r>
              <a:t>Step</a:t>
            </a:r>
          </a:p>
        </p:txBody>
      </p:sp>
      <p:sp>
        <p:nvSpPr>
          <p:cNvPr id="355" name="Oval 354"/>
          <p:cNvSpPr/>
          <p:nvPr/>
        </p:nvSpPr>
        <p:spPr>
          <a:xfrm>
            <a:off x="9265408" y="1571924"/>
            <a:ext cx="178918" cy="178918"/>
          </a:xfrm>
          <a:prstGeom prst="ellipse">
            <a:avLst/>
          </a:prstGeom>
          <a:solidFill>
            <a:srgbClr val="FFFFFF"/>
          </a:solidFill>
          <a:ln w="12779">
            <a:solidFill>
              <a:srgbClr val="D812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9265408" y="1578314"/>
            <a:ext cx="178918" cy="172528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D81216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7137559" y="1916981"/>
            <a:ext cx="4153459" cy="21725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408" b="1" i="0">
                <a:solidFill>
                  <a:srgbClr val="050505"/>
                </a:solidFill>
                <a:latin typeface="Liberation Sans"/>
              </a:defRPr>
            </a:pPr>
            <a:r>
              <a:t>Instantiated Realistic Reasoning Scenarios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7137559" y="2159798"/>
            <a:ext cx="383396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050505"/>
                </a:solidFill>
                <a:latin typeface="Liberation Sans"/>
              </a:defRPr>
            </a:pPr>
            <a:r>
              <a:t>"P":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7635974" y="2159798"/>
            <a:ext cx="3763672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0" i="0">
                <a:solidFill>
                  <a:srgbClr val="050505"/>
                </a:solidFill>
                <a:latin typeface="Liberation Sans"/>
              </a:defRPr>
            </a:pPr>
            <a:r>
              <a:t>"The government initiated a nationwide vaccination campaign.",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7137559" y="2325937"/>
            <a:ext cx="383396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050505"/>
                </a:solidFill>
                <a:latin typeface="Liberation Sans"/>
              </a:defRPr>
            </a:pPr>
            <a:r>
              <a:t>"Q":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7635974" y="2325937"/>
            <a:ext cx="3763672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0" i="0">
                <a:solidFill>
                  <a:srgbClr val="050505"/>
                </a:solidFill>
                <a:latin typeface="Liberation Sans"/>
              </a:defRPr>
            </a:pPr>
            <a:r>
              <a:t>"The spread of the disease was effectively contained.",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7137559" y="2492075"/>
            <a:ext cx="383396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050505"/>
                </a:solidFill>
                <a:latin typeface="Liberation Sans"/>
              </a:defRPr>
            </a:pPr>
            <a:r>
              <a:t>“R(x)”: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7635974" y="2492075"/>
            <a:ext cx="3763672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0" i="0">
                <a:solidFill>
                  <a:srgbClr val="050505"/>
                </a:solidFill>
                <a:latin typeface="Liberation Sans"/>
              </a:defRPr>
            </a:pPr>
            <a:r>
              <a:t>“Region x has achieved full vaccination coverage.”,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7137559" y="2658213"/>
            <a:ext cx="383396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050505"/>
                </a:solidFill>
                <a:latin typeface="Liberation Sans"/>
              </a:defRPr>
            </a:pPr>
            <a:r>
              <a:t>"T":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7635974" y="2658213"/>
            <a:ext cx="3763672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0" i="0">
                <a:solidFill>
                  <a:srgbClr val="050505"/>
                </a:solidFill>
                <a:latin typeface="Liberation Sans"/>
              </a:defRPr>
            </a:pPr>
            <a:r>
              <a:t>"Vaccination rates across regions increased significantly."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7111999" y="3092729"/>
            <a:ext cx="2715723" cy="21725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408" b="1" i="0">
                <a:solidFill>
                  <a:srgbClr val="050505"/>
                </a:solidFill>
                <a:latin typeface="Liberation Sans"/>
              </a:defRPr>
            </a:pPr>
            <a:r>
              <a:t>Inode Sequence based on depth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7111999" y="3386666"/>
            <a:ext cx="504805" cy="17252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050505"/>
                </a:solidFill>
                <a:latin typeface="Liberation Sans"/>
              </a:defRPr>
            </a:pPr>
            <a:r>
              <a:t>Step1: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7635974" y="3380276"/>
            <a:ext cx="2204528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1">
                <a:solidFill>
                  <a:srgbClr val="050505"/>
                </a:solidFill>
                <a:latin typeface="Latin Modern Math"/>
              </a:defRPr>
            </a:pPr>
            <a:r>
              <a:t>(P → T), (T → Q)  ⊢  (P → Q)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7111999" y="3578364"/>
            <a:ext cx="504805" cy="17252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050505"/>
                </a:solidFill>
                <a:latin typeface="Liberation Sans"/>
              </a:defRPr>
            </a:pPr>
            <a:r>
              <a:t>Step2: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7635974" y="3571974"/>
            <a:ext cx="2204528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1">
                <a:solidFill>
                  <a:srgbClr val="050505"/>
                </a:solidFill>
                <a:latin typeface="Latin Modern Math"/>
              </a:defRPr>
            </a:pPr>
            <a:r>
              <a:t>∀x (¬R(x))  ⊢  ¬R(a)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7111999" y="3770062"/>
            <a:ext cx="504805" cy="17252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050505"/>
                </a:solidFill>
                <a:latin typeface="Liberation Sans"/>
              </a:defRPr>
            </a:pPr>
            <a:r>
              <a:t>Step3: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7635974" y="3763672"/>
            <a:ext cx="2204528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1">
                <a:solidFill>
                  <a:srgbClr val="050505"/>
                </a:solidFill>
                <a:latin typeface="Latin Modern Math"/>
              </a:defRPr>
            </a:pPr>
            <a:r>
              <a:t>(¬R(a) ∨ P), (¬R(a))  ⊢  P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7111999" y="3961760"/>
            <a:ext cx="504805" cy="17252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050505"/>
                </a:solidFill>
                <a:latin typeface="Liberation Sans"/>
              </a:defRPr>
            </a:pPr>
            <a:r>
              <a:t>Step4: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7635974" y="3955370"/>
            <a:ext cx="2204528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1">
                <a:solidFill>
                  <a:srgbClr val="050505"/>
                </a:solidFill>
                <a:latin typeface="Latin Modern Math"/>
              </a:defRPr>
            </a:pPr>
            <a:r>
              <a:t>P, (P → Q)  ⊢  P</a:t>
            </a:r>
          </a:p>
        </p:txBody>
      </p:sp>
      <p:sp>
        <p:nvSpPr>
          <p:cNvPr id="375" name="Freeform 374"/>
          <p:cNvSpPr/>
          <p:nvPr/>
        </p:nvSpPr>
        <p:spPr>
          <a:xfrm>
            <a:off x="10030730" y="3367003"/>
            <a:ext cx="428063" cy="198059"/>
          </a:xfrm>
          <a:custGeom>
            <a:avLst/>
            <a:gdLst/>
            <a:ahLst/>
            <a:cxnLst/>
            <a:rect l="l" t="t" r="r" b="b"/>
            <a:pathLst>
              <a:path w="67" h="31">
                <a:moveTo>
                  <a:pt x="0" y="9"/>
                </a:moveTo>
                <a:lnTo>
                  <a:pt x="42" y="9"/>
                </a:lnTo>
                <a:lnTo>
                  <a:pt x="42" y="0"/>
                </a:lnTo>
                <a:lnTo>
                  <a:pt x="67" y="15"/>
                </a:lnTo>
                <a:lnTo>
                  <a:pt x="42" y="31"/>
                </a:lnTo>
                <a:lnTo>
                  <a:pt x="42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FFDF2"/>
          </a:solidFill>
          <a:ln w="12779">
            <a:solidFill>
              <a:srgbClr val="2256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0605740" y="2932551"/>
            <a:ext cx="178892" cy="306672"/>
          </a:xfrm>
          <a:custGeom>
            <a:avLst/>
            <a:gdLst/>
            <a:ahLst/>
            <a:cxnLst/>
            <a:rect l="l" t="t" r="r" b="b"/>
            <a:pathLst>
              <a:path w="28" h="48">
                <a:moveTo>
                  <a:pt x="8" y="0"/>
                </a:moveTo>
                <a:lnTo>
                  <a:pt x="20" y="0"/>
                </a:lnTo>
                <a:lnTo>
                  <a:pt x="20" y="30"/>
                </a:lnTo>
                <a:lnTo>
                  <a:pt x="28" y="30"/>
                </a:lnTo>
                <a:lnTo>
                  <a:pt x="14" y="48"/>
                </a:lnTo>
                <a:lnTo>
                  <a:pt x="0" y="30"/>
                </a:lnTo>
                <a:lnTo>
                  <a:pt x="8" y="30"/>
                </a:lnTo>
                <a:close/>
              </a:path>
            </a:pathLst>
          </a:custGeom>
          <a:solidFill>
            <a:srgbClr val="FFFDF2"/>
          </a:solidFill>
          <a:ln w="12779">
            <a:solidFill>
              <a:srgbClr val="2256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10439626" y="3462838"/>
            <a:ext cx="108613" cy="153336"/>
          </a:xfrm>
          <a:custGeom>
            <a:avLst/>
            <a:gdLst/>
            <a:ahLst/>
            <a:cxnLst/>
            <a:rect l="l" t="t" r="r" b="b"/>
            <a:pathLst>
              <a:path w="17" h="24">
                <a:moveTo>
                  <a:pt x="11" y="0"/>
                </a:moveTo>
                <a:lnTo>
                  <a:pt x="3" y="9"/>
                </a:lnTo>
                <a:lnTo>
                  <a:pt x="0" y="24"/>
                </a:lnTo>
                <a:lnTo>
                  <a:pt x="8" y="19"/>
                </a:lnTo>
                <a:lnTo>
                  <a:pt x="17" y="7"/>
                </a:lnTo>
                <a:close/>
              </a:path>
            </a:pathLst>
          </a:custGeom>
          <a:solidFill>
            <a:srgbClr val="CDE8F6"/>
          </a:solidFill>
          <a:ln w="7054">
            <a:solidFill>
              <a:srgbClr val="AFCF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10803799" y="3462838"/>
            <a:ext cx="115002" cy="146947"/>
          </a:xfrm>
          <a:custGeom>
            <a:avLst/>
            <a:gdLst/>
            <a:ahLst/>
            <a:cxnLst/>
            <a:rect l="l" t="t" r="r" b="b"/>
            <a:pathLst>
              <a:path w="18" h="23">
                <a:moveTo>
                  <a:pt x="6" y="0"/>
                </a:moveTo>
                <a:lnTo>
                  <a:pt x="16" y="8"/>
                </a:lnTo>
                <a:lnTo>
                  <a:pt x="18" y="23"/>
                </a:lnTo>
                <a:lnTo>
                  <a:pt x="10" y="19"/>
                </a:lnTo>
                <a:lnTo>
                  <a:pt x="0" y="7"/>
                </a:lnTo>
                <a:close/>
              </a:path>
            </a:pathLst>
          </a:custGeom>
          <a:solidFill>
            <a:srgbClr val="CDE8F6"/>
          </a:solidFill>
          <a:ln w="7054">
            <a:solidFill>
              <a:srgbClr val="AFCF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0576368" y="3581943"/>
            <a:ext cx="88181" cy="82302"/>
          </a:xfrm>
          <a:prstGeom prst="ellipse">
            <a:avLst/>
          </a:prstGeom>
          <a:solidFill>
            <a:srgbClr val="CDE8F6"/>
          </a:solidFill>
          <a:ln w="5878">
            <a:solidFill>
              <a:srgbClr val="AFCF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10711579" y="3581943"/>
            <a:ext cx="88181" cy="82302"/>
          </a:xfrm>
          <a:prstGeom prst="ellipse">
            <a:avLst/>
          </a:prstGeom>
          <a:solidFill>
            <a:srgbClr val="CDE8F6"/>
          </a:solidFill>
          <a:ln w="5878">
            <a:solidFill>
              <a:srgbClr val="AFCF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0552853" y="3446731"/>
            <a:ext cx="276300" cy="217513"/>
          </a:xfrm>
          <a:prstGeom prst="ellipse">
            <a:avLst/>
          </a:prstGeom>
          <a:solidFill>
            <a:srgbClr val="BFDDED"/>
          </a:solidFill>
          <a:ln w="8230">
            <a:solidFill>
              <a:srgbClr val="91BA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652791" y="3517276"/>
            <a:ext cx="76423" cy="76423"/>
          </a:xfrm>
          <a:prstGeom prst="ellipse">
            <a:avLst/>
          </a:prstGeom>
          <a:solidFill>
            <a:srgbClr val="1B47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Rounded Rectangle 382"/>
          <p:cNvSpPr/>
          <p:nvPr/>
        </p:nvSpPr>
        <p:spPr>
          <a:xfrm>
            <a:off x="10488186" y="3270369"/>
            <a:ext cx="393875" cy="252785"/>
          </a:xfrm>
          <a:prstGeom prst="roundRect">
            <a:avLst>
              <a:gd name="adj" fmla="val 27906"/>
            </a:avLst>
          </a:prstGeom>
          <a:solidFill>
            <a:srgbClr val="D5EAF4"/>
          </a:solidFill>
          <a:ln w="9405">
            <a:solidFill>
              <a:srgbClr val="91A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Rounded Rectangle 383"/>
          <p:cNvSpPr/>
          <p:nvPr/>
        </p:nvSpPr>
        <p:spPr>
          <a:xfrm>
            <a:off x="10523459" y="3305642"/>
            <a:ext cx="323330" cy="170483"/>
          </a:xfrm>
          <a:prstGeom prst="roundRect">
            <a:avLst>
              <a:gd name="adj" fmla="val 24137"/>
            </a:avLst>
          </a:prstGeom>
          <a:solidFill>
            <a:srgbClr val="12477D"/>
          </a:solidFill>
          <a:ln w="7054">
            <a:solidFill>
              <a:srgbClr val="0F3C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564610" y="3364429"/>
            <a:ext cx="47029" cy="47029"/>
          </a:xfrm>
          <a:prstGeom prst="ellipse">
            <a:avLst/>
          </a:prstGeom>
          <a:solidFill>
            <a:srgbClr val="20D7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0729215" y="3364429"/>
            <a:ext cx="47029" cy="47029"/>
          </a:xfrm>
          <a:prstGeom prst="ellipse">
            <a:avLst/>
          </a:prstGeom>
          <a:solidFill>
            <a:srgbClr val="20D7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0624907" y="3411726"/>
            <a:ext cx="95835" cy="25556"/>
          </a:xfrm>
          <a:custGeom>
            <a:avLst/>
            <a:gdLst/>
            <a:ahLst/>
            <a:cxnLst/>
            <a:rect l="l" t="t" r="r" b="b"/>
            <a:pathLst>
              <a:path w="15" h="4">
                <a:moveTo>
                  <a:pt x="0" y="0"/>
                </a:moveTo>
                <a:lnTo>
                  <a:pt x="0" y="0"/>
                </a:lnTo>
                <a:lnTo>
                  <a:pt x="1" y="1"/>
                </a:lnTo>
                <a:lnTo>
                  <a:pt x="1" y="1"/>
                </a:lnTo>
                <a:lnTo>
                  <a:pt x="2" y="2"/>
                </a:lnTo>
                <a:lnTo>
                  <a:pt x="2" y="2"/>
                </a:lnTo>
                <a:lnTo>
                  <a:pt x="3" y="3"/>
                </a:lnTo>
                <a:lnTo>
                  <a:pt x="4" y="3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7" y="4"/>
                </a:lnTo>
                <a:lnTo>
                  <a:pt x="8" y="4"/>
                </a:lnTo>
                <a:lnTo>
                  <a:pt x="8" y="4"/>
                </a:lnTo>
                <a:lnTo>
                  <a:pt x="9" y="4"/>
                </a:lnTo>
                <a:lnTo>
                  <a:pt x="9" y="4"/>
                </a:lnTo>
                <a:lnTo>
                  <a:pt x="10" y="4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3"/>
                </a:lnTo>
                <a:lnTo>
                  <a:pt x="13" y="2"/>
                </a:lnTo>
                <a:lnTo>
                  <a:pt x="13" y="2"/>
                </a:lnTo>
                <a:lnTo>
                  <a:pt x="14" y="1"/>
                </a:lnTo>
                <a:lnTo>
                  <a:pt x="14" y="1"/>
                </a:lnTo>
                <a:lnTo>
                  <a:pt x="15" y="0"/>
                </a:lnTo>
                <a:lnTo>
                  <a:pt x="15" y="0"/>
                </a:lnTo>
              </a:path>
            </a:pathLst>
          </a:custGeom>
          <a:noFill/>
          <a:ln w="12933">
            <a:solidFill>
              <a:srgbClr val="20D7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Rounded Rectangle 387"/>
          <p:cNvSpPr/>
          <p:nvPr/>
        </p:nvSpPr>
        <p:spPr>
          <a:xfrm>
            <a:off x="10764487" y="3199824"/>
            <a:ext cx="235149" cy="199877"/>
          </a:xfrm>
          <a:prstGeom prst="roundRect">
            <a:avLst>
              <a:gd name="adj" fmla="val 11764"/>
            </a:avLst>
          </a:prstGeom>
          <a:solidFill>
            <a:srgbClr val="66C87B"/>
          </a:solidFill>
          <a:ln w="5878">
            <a:solidFill>
              <a:srgbClr val="66C87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>
            <a:off x="10817396" y="3258612"/>
            <a:ext cx="129332" cy="0"/>
          </a:xfrm>
          <a:prstGeom prst="line">
            <a:avLst/>
          </a:prstGeom>
          <a:ln w="11757">
            <a:solidFill>
              <a:srgbClr val="3E9D5E"/>
            </a:solidFill>
          </a:ln>
        </p:spPr>
      </p:cxnSp>
      <p:cxnSp>
        <p:nvCxnSpPr>
          <p:cNvPr id="390" name="Connector 389"/>
          <p:cNvCxnSpPr/>
          <p:nvPr/>
        </p:nvCxnSpPr>
        <p:spPr>
          <a:xfrm>
            <a:off x="10817396" y="3299763"/>
            <a:ext cx="117575" cy="0"/>
          </a:xfrm>
          <a:prstGeom prst="line">
            <a:avLst/>
          </a:prstGeom>
          <a:ln w="11757">
            <a:solidFill>
              <a:srgbClr val="3E9D5E"/>
            </a:solidFill>
          </a:ln>
        </p:spPr>
      </p:cxnSp>
      <p:cxnSp>
        <p:nvCxnSpPr>
          <p:cNvPr id="391" name="Connector 390"/>
          <p:cNvCxnSpPr/>
          <p:nvPr/>
        </p:nvCxnSpPr>
        <p:spPr>
          <a:xfrm>
            <a:off x="10817396" y="3340914"/>
            <a:ext cx="82302" cy="0"/>
          </a:xfrm>
          <a:prstGeom prst="line">
            <a:avLst/>
          </a:prstGeom>
          <a:ln w="11757">
            <a:solidFill>
              <a:srgbClr val="3E9D5E"/>
            </a:solidFill>
          </a:ln>
        </p:spPr>
      </p:cxnSp>
      <p:sp>
        <p:nvSpPr>
          <p:cNvPr id="392" name="Freeform 391"/>
          <p:cNvSpPr/>
          <p:nvPr/>
        </p:nvSpPr>
        <p:spPr>
          <a:xfrm>
            <a:off x="10784632" y="3392559"/>
            <a:ext cx="44723" cy="44723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0"/>
                </a:moveTo>
                <a:lnTo>
                  <a:pt x="7" y="0"/>
                </a:lnTo>
                <a:lnTo>
                  <a:pt x="3" y="7"/>
                </a:lnTo>
                <a:close/>
              </a:path>
            </a:pathLst>
          </a:custGeom>
          <a:solidFill>
            <a:srgbClr val="66C87B"/>
          </a:solidFill>
          <a:ln w="5878">
            <a:solidFill>
              <a:srgbClr val="66C8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10605740" y="3922846"/>
            <a:ext cx="185281" cy="428063"/>
          </a:xfrm>
          <a:custGeom>
            <a:avLst/>
            <a:gdLst/>
            <a:ahLst/>
            <a:cxnLst/>
            <a:rect l="l" t="t" r="r" b="b"/>
            <a:pathLst>
              <a:path w="29" h="67">
                <a:moveTo>
                  <a:pt x="8" y="0"/>
                </a:moveTo>
                <a:lnTo>
                  <a:pt x="21" y="0"/>
                </a:lnTo>
                <a:lnTo>
                  <a:pt x="21" y="42"/>
                </a:lnTo>
                <a:lnTo>
                  <a:pt x="29" y="42"/>
                </a:lnTo>
                <a:lnTo>
                  <a:pt x="14" y="67"/>
                </a:lnTo>
                <a:lnTo>
                  <a:pt x="0" y="42"/>
                </a:lnTo>
                <a:lnTo>
                  <a:pt x="8" y="42"/>
                </a:lnTo>
                <a:close/>
              </a:path>
            </a:pathLst>
          </a:custGeom>
          <a:solidFill>
            <a:srgbClr val="FFFDF2"/>
          </a:solidFill>
          <a:ln w="12779">
            <a:solidFill>
              <a:srgbClr val="2256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10830943" y="3897861"/>
            <a:ext cx="472855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358" b="1" i="0">
                <a:solidFill>
                  <a:srgbClr val="D81216"/>
                </a:solidFill>
                <a:latin typeface="Liberation Sans"/>
              </a:defRPr>
            </a:pPr>
            <a:r>
              <a:t>Step</a:t>
            </a:r>
          </a:p>
        </p:txBody>
      </p:sp>
      <p:sp>
        <p:nvSpPr>
          <p:cNvPr id="395" name="Oval 394"/>
          <p:cNvSpPr/>
          <p:nvPr/>
        </p:nvSpPr>
        <p:spPr>
          <a:xfrm>
            <a:off x="10939572" y="4121509"/>
            <a:ext cx="178918" cy="178918"/>
          </a:xfrm>
          <a:prstGeom prst="ellipse">
            <a:avLst/>
          </a:prstGeom>
          <a:solidFill>
            <a:srgbClr val="FFFFFF"/>
          </a:solidFill>
          <a:ln w="12779">
            <a:solidFill>
              <a:srgbClr val="D812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10939572" y="4127899"/>
            <a:ext cx="178918" cy="172528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056" b="1" i="0">
                <a:solidFill>
                  <a:srgbClr val="D81216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7092830" y="4441006"/>
            <a:ext cx="4600754" cy="23003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408" b="1" i="0">
                <a:solidFill>
                  <a:srgbClr val="050505"/>
                </a:solidFill>
                <a:latin typeface="Liberation Sans"/>
              </a:defRPr>
            </a:pPr>
            <a:r>
              <a:t>Natural Language Reasoning Processes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7080050" y="4696603"/>
            <a:ext cx="523974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050505"/>
                </a:solidFill>
                <a:latin typeface="Liberation Sans"/>
              </a:defRPr>
            </a:pPr>
            <a:r>
              <a:t>Step 1: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7616804" y="4696603"/>
            <a:ext cx="4345157" cy="638993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From rule (∀x ¬R(x)), we deduce that no region has achieved</a:t>
            </a:r>
          </a:p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full vaccination coverage. Therefore, City Z has not achieved full</a:t>
            </a:r>
          </a:p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vaccination coverage (~R(a)).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7080050" y="5335597"/>
            <a:ext cx="523974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050505"/>
                </a:solidFill>
                <a:latin typeface="Liberation Sans"/>
              </a:defRPr>
            </a:pPr>
            <a:r>
              <a:t>Step 2: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616804" y="5335597"/>
            <a:ext cx="4345157" cy="638993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Using rule (P → T) and rule (T → Q), we deduce that if the</a:t>
            </a:r>
          </a:p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government initiated a nationwide vaccination campaign (P), then</a:t>
            </a:r>
          </a:p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the spread of the disease was effectively contained (Q).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7080050" y="5974591"/>
            <a:ext cx="523974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050505"/>
                </a:solidFill>
                <a:latin typeface="Liberation Sans"/>
              </a:defRPr>
            </a:pPr>
            <a:r>
              <a:t>Step 3: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7616804" y="5974591"/>
            <a:ext cx="4345157" cy="638993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From rule (P ∨ R(a)) and step1 (~R(a)), we deduce that the</a:t>
            </a:r>
          </a:p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government initiated a nationwide vaccination campaign (P).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7080050" y="6447446"/>
            <a:ext cx="523974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050505"/>
                </a:solidFill>
                <a:latin typeface="Liberation Sans"/>
              </a:defRPr>
            </a:pPr>
            <a:r>
              <a:t>Step 4: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7616804" y="6447446"/>
            <a:ext cx="4345157" cy="638993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From step2 (P → Q) and step3 (P), we deduce that the spread</a:t>
            </a:r>
          </a:p>
          <a:p>
            <a:pPr algn="l" marL="0" indent="0" rtl="0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106" b="0" i="0">
                <a:solidFill>
                  <a:srgbClr val="050505"/>
                </a:solidFill>
                <a:latin typeface="DejaVu Sans Condensed"/>
              </a:defRPr>
            </a:pPr>
            <a:r>
              <a:t>of the disease was effectively contained (Q).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290767" y="4696603"/>
            <a:ext cx="4121509" cy="27476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ctr" marL="0" indent="0" rtl="0">
              <a:lnSpc>
                <a:spcPts val="1967"/>
              </a:lnSpc>
              <a:spcBef>
                <a:spcPts val="0"/>
              </a:spcBef>
              <a:spcAft>
                <a:spcPts val="0"/>
              </a:spcAft>
              <a:defRPr sz="1710" b="1" i="1">
                <a:solidFill>
                  <a:srgbClr val="050505"/>
                </a:solidFill>
                <a:latin typeface="Liberation Sans"/>
              </a:defRPr>
            </a:pPr>
            <a:r>
              <a:t>Synthetic Example Post-processing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85308" y="4952201"/>
            <a:ext cx="1277987" cy="21725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677"/>
              </a:lnSpc>
              <a:spcBef>
                <a:spcPts val="0"/>
              </a:spcBef>
              <a:spcAft>
                <a:spcPts val="0"/>
              </a:spcAft>
              <a:defRPr sz="1459" b="1" i="0">
                <a:solidFill>
                  <a:srgbClr val="050505"/>
                </a:solidFill>
                <a:latin typeface="Liberation Sans"/>
              </a:defRPr>
            </a:pPr>
            <a:r>
              <a:t>Premises: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85308" y="5195018"/>
            <a:ext cx="511194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0">
                <a:solidFill>
                  <a:srgbClr val="050505"/>
                </a:solidFill>
                <a:latin typeface="Liberation Sans"/>
              </a:defRPr>
            </a:pPr>
            <a:r>
              <a:t>"rule1":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773182" y="5195018"/>
            <a:ext cx="3603924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0" i="0">
                <a:solidFill>
                  <a:srgbClr val="050505"/>
                </a:solidFill>
                <a:latin typeface="Liberation Sans"/>
              </a:defRPr>
            </a:pPr>
            <a:r>
              <a:t>"No region has achieved full vaccination coverage."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4472955" y="5195018"/>
            <a:ext cx="511194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0">
                <a:solidFill>
                  <a:srgbClr val="050505"/>
                </a:solidFill>
                <a:latin typeface="Liberation Sans"/>
              </a:defRPr>
            </a:pPr>
            <a:r>
              <a:t>"rule2":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5086389" y="5195018"/>
            <a:ext cx="1450515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0" i="0">
                <a:solidFill>
                  <a:srgbClr val="050505"/>
                </a:solidFill>
                <a:latin typeface="Liberation Sans"/>
              </a:defRPr>
            </a:pPr>
            <a:r>
              <a:t>"If the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85308" y="5431446"/>
            <a:ext cx="6389936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0" i="0">
                <a:solidFill>
                  <a:srgbClr val="050505"/>
                </a:solidFill>
                <a:latin typeface="Liberation Sans"/>
              </a:defRPr>
            </a:pPr>
            <a:r>
              <a:t>government initiated a nationwide vaccination campaign, then vaccination rates across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85308" y="5706213"/>
            <a:ext cx="2293987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0" i="0">
                <a:solidFill>
                  <a:srgbClr val="050505"/>
                </a:solidFill>
                <a:latin typeface="Liberation Sans"/>
              </a:defRPr>
            </a:pPr>
            <a:r>
              <a:t>regions increased significantly."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2492075" y="5706213"/>
            <a:ext cx="511194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0">
                <a:solidFill>
                  <a:srgbClr val="050505"/>
                </a:solidFill>
                <a:latin typeface="Liberation Sans"/>
              </a:defRPr>
            </a:pPr>
            <a:r>
              <a:t>"rule3":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3067169" y="5706213"/>
            <a:ext cx="287547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0" i="0">
                <a:solidFill>
                  <a:srgbClr val="050505"/>
                </a:solidFill>
                <a:latin typeface="Liberation Sans"/>
              </a:defRPr>
            </a:pPr>
            <a:r>
              <a:t>…,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3418616" y="5706213"/>
            <a:ext cx="511194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1" i="0">
                <a:solidFill>
                  <a:srgbClr val="050505"/>
                </a:solidFill>
                <a:latin typeface="Liberation Sans"/>
              </a:defRPr>
            </a:pPr>
            <a:r>
              <a:t>"rule4":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3993710" y="5706213"/>
            <a:ext cx="287547" cy="19808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57" b="0" i="0">
                <a:solidFill>
                  <a:srgbClr val="050505"/>
                </a:solidFill>
                <a:latin typeface="Liberation Sans"/>
              </a:defRPr>
            </a:pPr>
            <a:r>
              <a:t>…,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85308" y="5968201"/>
            <a:ext cx="1597484" cy="217257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677"/>
              </a:lnSpc>
              <a:spcBef>
                <a:spcPts val="0"/>
              </a:spcBef>
              <a:spcAft>
                <a:spcPts val="0"/>
              </a:spcAft>
              <a:defRPr sz="1459" b="1" i="0">
                <a:solidFill>
                  <a:srgbClr val="050505"/>
                </a:solidFill>
                <a:latin typeface="Liberation Sans"/>
              </a:defRPr>
            </a:pPr>
            <a:r>
              <a:t>conclusions:</a:t>
            </a:r>
          </a:p>
        </p:txBody>
      </p:sp>
      <p:sp>
        <p:nvSpPr>
          <p:cNvPr id="419" name="Oval 418"/>
          <p:cNvSpPr/>
          <p:nvPr/>
        </p:nvSpPr>
        <p:spPr>
          <a:xfrm>
            <a:off x="198088" y="6287697"/>
            <a:ext cx="44729" cy="44729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389786" y="6217408"/>
            <a:ext cx="3993710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050505"/>
                </a:solidFill>
                <a:latin typeface="Liberation Sans Narrow"/>
              </a:defRPr>
            </a:pPr>
            <a:r>
              <a:t>"The spread of the disease was effectively contained."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4441006" y="6179069"/>
            <a:ext cx="760402" cy="223647"/>
          </a:xfrm>
          <a:prstGeom prst="rect">
            <a:avLst/>
          </a:prstGeom>
          <a:solidFill>
            <a:srgbClr val="A8D7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4441006" y="6185458"/>
            <a:ext cx="760402" cy="21725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446"/>
              </a:lnSpc>
              <a:spcBef>
                <a:spcPts val="0"/>
              </a:spcBef>
              <a:spcAft>
                <a:spcPts val="0"/>
              </a:spcAft>
              <a:defRPr sz="1257" b="1" i="0">
                <a:solidFill>
                  <a:srgbClr val="FFFFFF"/>
                </a:solidFill>
                <a:latin typeface="Liberation Sans"/>
              </a:defRPr>
            </a:pPr>
            <a:r>
              <a:t>True</a:t>
            </a:r>
          </a:p>
        </p:txBody>
      </p:sp>
      <p:sp>
        <p:nvSpPr>
          <p:cNvPr id="423" name="Oval 422"/>
          <p:cNvSpPr/>
          <p:nvPr/>
        </p:nvSpPr>
        <p:spPr>
          <a:xfrm>
            <a:off x="198088" y="6504955"/>
            <a:ext cx="44729" cy="44729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389786" y="6434666"/>
            <a:ext cx="5163069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050505"/>
                </a:solidFill>
                <a:latin typeface="Liberation Sans Narrow"/>
              </a:defRPr>
            </a:pPr>
            <a:r>
              <a:t>"Country a is making great efforts to develop the new energy vehicle industry."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5584804" y="6460226"/>
            <a:ext cx="926540" cy="19808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5584804" y="6466616"/>
            <a:ext cx="926540" cy="191698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FFFFFF"/>
                </a:solidFill>
                <a:latin typeface="Liberation Sans"/>
              </a:defRPr>
            </a:pPr>
            <a:r>
              <a:t>Uncertain</a:t>
            </a:r>
          </a:p>
        </p:txBody>
      </p:sp>
      <p:sp>
        <p:nvSpPr>
          <p:cNvPr id="427" name="Oval 426"/>
          <p:cNvSpPr/>
          <p:nvPr/>
        </p:nvSpPr>
        <p:spPr>
          <a:xfrm>
            <a:off x="198088" y="6728603"/>
            <a:ext cx="44729" cy="44729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389786" y="6658314"/>
            <a:ext cx="3520855" cy="185308"/>
          </a:xfrm>
          <a:prstGeom prst="rect">
            <a:avLst/>
          </a:prstGeom>
          <a:noFill/>
        </p:spPr>
        <p:txBody>
          <a:bodyPr wrap="none" lIns="0" rIns="0" tIns="0" bIns="0" anchorCtr="0" anchor="t">
            <a:noAutofit/>
          </a:bodyPr>
          <a:lstStyle/>
          <a:p>
            <a:pPr algn="l" marL="0" indent="0" rtl="0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1" i="0">
                <a:solidFill>
                  <a:srgbClr val="050505"/>
                </a:solidFill>
                <a:latin typeface="Liberation Sans Narrow"/>
              </a:defRPr>
            </a:pPr>
            <a:r>
              <a:t>"City Z has achieved full vaccination coverage."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3980930" y="6671094"/>
            <a:ext cx="754012" cy="217257"/>
          </a:xfrm>
          <a:prstGeom prst="rect">
            <a:avLst/>
          </a:prstGeom>
          <a:solidFill>
            <a:srgbClr val="F3A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3980930" y="6677484"/>
            <a:ext cx="754012" cy="210867"/>
          </a:xfrm>
          <a:prstGeom prst="rect">
            <a:avLst/>
          </a:prstGeom>
          <a:noFill/>
        </p:spPr>
        <p:txBody>
          <a:bodyPr wrap="none" lIns="0" rIns="0" tIns="0" bIns="0" anchorCtr="0" anchor="ctr">
            <a:noAutofit/>
          </a:bodyPr>
          <a:lstStyle/>
          <a:p>
            <a:pPr algn="ctr" marL="0" indent="0" rtl="0">
              <a:lnSpc>
                <a:spcPts val="1446"/>
              </a:lnSpc>
              <a:spcBef>
                <a:spcPts val="0"/>
              </a:spcBef>
              <a:spcAft>
                <a:spcPts val="0"/>
              </a:spcAft>
              <a:defRPr sz="1257" b="1" i="0">
                <a:solidFill>
                  <a:srgbClr val="FFFFFF"/>
                </a:solidFill>
                <a:latin typeface="Liberation Sans"/>
              </a:defRPr>
            </a:pPr>
            <a:r>
              <a:t>False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LogicTree Improving Complex Reasoning of LLMs via Instantiated Multi-step Synthetic Logical Data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7022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